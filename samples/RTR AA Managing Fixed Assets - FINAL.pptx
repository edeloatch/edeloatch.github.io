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2" r:id="rId4"/>
    <p:sldMasterId id="2147483673" r:id="rId5"/>
  </p:sldMasterIdLst>
  <p:notesMasterIdLst>
    <p:notesMasterId r:id="rId129"/>
  </p:notesMasterIdLst>
  <p:handoutMasterIdLst>
    <p:handoutMasterId r:id="rId130"/>
  </p:handoutMasterIdLst>
  <p:sldIdLst>
    <p:sldId id="277" r:id="rId6"/>
    <p:sldId id="696" r:id="rId7"/>
    <p:sldId id="655" r:id="rId8"/>
    <p:sldId id="759" r:id="rId9"/>
    <p:sldId id="698" r:id="rId10"/>
    <p:sldId id="916" r:id="rId11"/>
    <p:sldId id="700" r:id="rId12"/>
    <p:sldId id="782" r:id="rId13"/>
    <p:sldId id="701" r:id="rId14"/>
    <p:sldId id="792" r:id="rId15"/>
    <p:sldId id="762" r:id="rId16"/>
    <p:sldId id="773" r:id="rId17"/>
    <p:sldId id="774" r:id="rId18"/>
    <p:sldId id="715" r:id="rId19"/>
    <p:sldId id="716" r:id="rId20"/>
    <p:sldId id="915" r:id="rId21"/>
    <p:sldId id="717" r:id="rId22"/>
    <p:sldId id="878" r:id="rId23"/>
    <p:sldId id="881" r:id="rId24"/>
    <p:sldId id="879" r:id="rId25"/>
    <p:sldId id="880" r:id="rId26"/>
    <p:sldId id="882" r:id="rId27"/>
    <p:sldId id="883" r:id="rId28"/>
    <p:sldId id="884" r:id="rId29"/>
    <p:sldId id="736" r:id="rId30"/>
    <p:sldId id="786" r:id="rId31"/>
    <p:sldId id="738" r:id="rId32"/>
    <p:sldId id="740" r:id="rId33"/>
    <p:sldId id="808" r:id="rId34"/>
    <p:sldId id="872" r:id="rId35"/>
    <p:sldId id="809" r:id="rId36"/>
    <p:sldId id="810" r:id="rId37"/>
    <p:sldId id="811" r:id="rId38"/>
    <p:sldId id="812" r:id="rId39"/>
    <p:sldId id="813" r:id="rId40"/>
    <p:sldId id="814" r:id="rId41"/>
    <p:sldId id="815" r:id="rId42"/>
    <p:sldId id="816" r:id="rId43"/>
    <p:sldId id="914" r:id="rId44"/>
    <p:sldId id="819" r:id="rId45"/>
    <p:sldId id="800" r:id="rId46"/>
    <p:sldId id="801" r:id="rId47"/>
    <p:sldId id="864" r:id="rId48"/>
    <p:sldId id="802" r:id="rId49"/>
    <p:sldId id="805" r:id="rId50"/>
    <p:sldId id="865" r:id="rId51"/>
    <p:sldId id="807" r:id="rId52"/>
    <p:sldId id="826" r:id="rId53"/>
    <p:sldId id="866" r:id="rId54"/>
    <p:sldId id="827" r:id="rId55"/>
    <p:sldId id="821" r:id="rId56"/>
    <p:sldId id="822" r:id="rId57"/>
    <p:sldId id="823" r:id="rId58"/>
    <p:sldId id="824" r:id="rId59"/>
    <p:sldId id="825" r:id="rId60"/>
    <p:sldId id="913" r:id="rId61"/>
    <p:sldId id="832" r:id="rId62"/>
    <p:sldId id="794" r:id="rId63"/>
    <p:sldId id="873" r:id="rId64"/>
    <p:sldId id="795" r:id="rId65"/>
    <p:sldId id="797" r:id="rId66"/>
    <p:sldId id="833" r:id="rId67"/>
    <p:sldId id="867" r:id="rId68"/>
    <p:sldId id="835" r:id="rId69"/>
    <p:sldId id="843" r:id="rId70"/>
    <p:sldId id="846" r:id="rId71"/>
    <p:sldId id="845" r:id="rId72"/>
    <p:sldId id="847" r:id="rId73"/>
    <p:sldId id="868" r:id="rId74"/>
    <p:sldId id="849" r:id="rId75"/>
    <p:sldId id="840" r:id="rId76"/>
    <p:sldId id="841" r:id="rId77"/>
    <p:sldId id="870" r:id="rId78"/>
    <p:sldId id="842" r:id="rId79"/>
    <p:sldId id="858" r:id="rId80"/>
    <p:sldId id="859" r:id="rId81"/>
    <p:sldId id="820" r:id="rId82"/>
    <p:sldId id="863" r:id="rId83"/>
    <p:sldId id="857" r:id="rId84"/>
    <p:sldId id="850" r:id="rId85"/>
    <p:sldId id="851" r:id="rId86"/>
    <p:sldId id="888" r:id="rId87"/>
    <p:sldId id="871" r:id="rId88"/>
    <p:sldId id="854" r:id="rId89"/>
    <p:sldId id="885" r:id="rId90"/>
    <p:sldId id="886" r:id="rId91"/>
    <p:sldId id="887" r:id="rId92"/>
    <p:sldId id="889" r:id="rId93"/>
    <p:sldId id="890" r:id="rId94"/>
    <p:sldId id="891" r:id="rId95"/>
    <p:sldId id="892" r:id="rId96"/>
    <p:sldId id="893" r:id="rId97"/>
    <p:sldId id="894" r:id="rId98"/>
    <p:sldId id="895" r:id="rId99"/>
    <p:sldId id="896" r:id="rId100"/>
    <p:sldId id="897" r:id="rId101"/>
    <p:sldId id="898" r:id="rId102"/>
    <p:sldId id="899" r:id="rId103"/>
    <p:sldId id="900" r:id="rId104"/>
    <p:sldId id="901" r:id="rId105"/>
    <p:sldId id="902" r:id="rId106"/>
    <p:sldId id="903" r:id="rId107"/>
    <p:sldId id="904" r:id="rId108"/>
    <p:sldId id="905" r:id="rId109"/>
    <p:sldId id="906" r:id="rId110"/>
    <p:sldId id="907" r:id="rId111"/>
    <p:sldId id="908" r:id="rId112"/>
    <p:sldId id="909" r:id="rId113"/>
    <p:sldId id="910" r:id="rId114"/>
    <p:sldId id="911" r:id="rId115"/>
    <p:sldId id="912" r:id="rId116"/>
    <p:sldId id="860" r:id="rId117"/>
    <p:sldId id="861" r:id="rId118"/>
    <p:sldId id="855" r:id="rId119"/>
    <p:sldId id="869" r:id="rId120"/>
    <p:sldId id="862" r:id="rId121"/>
    <p:sldId id="874" r:id="rId122"/>
    <p:sldId id="875" r:id="rId123"/>
    <p:sldId id="876" r:id="rId124"/>
    <p:sldId id="749" r:id="rId125"/>
    <p:sldId id="751" r:id="rId126"/>
    <p:sldId id="752" r:id="rId127"/>
    <p:sldId id="753" r:id="rId128"/>
  </p:sldIdLst>
  <p:sldSz cx="13817600" cy="7772400"/>
  <p:notesSz cx="7010400" cy="9296400"/>
  <p:defaultTextStyle>
    <a:defPPr>
      <a:defRPr lang="en-US"/>
    </a:defPPr>
    <a:lvl1pPr marL="0" algn="l" defTabSz="1358130" rtl="0" eaLnBrk="1" latinLnBrk="0" hangingPunct="1">
      <a:defRPr sz="2673" kern="1200">
        <a:solidFill>
          <a:schemeClr val="tx1"/>
        </a:solidFill>
        <a:latin typeface="+mn-lt"/>
        <a:ea typeface="+mn-ea"/>
        <a:cs typeface="+mn-cs"/>
      </a:defRPr>
    </a:lvl1pPr>
    <a:lvl2pPr marL="679064" algn="l" defTabSz="1358130" rtl="0" eaLnBrk="1" latinLnBrk="0" hangingPunct="1">
      <a:defRPr sz="2673" kern="1200">
        <a:solidFill>
          <a:schemeClr val="tx1"/>
        </a:solidFill>
        <a:latin typeface="+mn-lt"/>
        <a:ea typeface="+mn-ea"/>
        <a:cs typeface="+mn-cs"/>
      </a:defRPr>
    </a:lvl2pPr>
    <a:lvl3pPr marL="1358130" algn="l" defTabSz="1358130" rtl="0" eaLnBrk="1" latinLnBrk="0" hangingPunct="1">
      <a:defRPr sz="2673" kern="1200">
        <a:solidFill>
          <a:schemeClr val="tx1"/>
        </a:solidFill>
        <a:latin typeface="+mn-lt"/>
        <a:ea typeface="+mn-ea"/>
        <a:cs typeface="+mn-cs"/>
      </a:defRPr>
    </a:lvl3pPr>
    <a:lvl4pPr marL="2037191" algn="l" defTabSz="1358130" rtl="0" eaLnBrk="1" latinLnBrk="0" hangingPunct="1">
      <a:defRPr sz="2673" kern="1200">
        <a:solidFill>
          <a:schemeClr val="tx1"/>
        </a:solidFill>
        <a:latin typeface="+mn-lt"/>
        <a:ea typeface="+mn-ea"/>
        <a:cs typeface="+mn-cs"/>
      </a:defRPr>
    </a:lvl4pPr>
    <a:lvl5pPr marL="2716256" algn="l" defTabSz="1358130" rtl="0" eaLnBrk="1" latinLnBrk="0" hangingPunct="1">
      <a:defRPr sz="2673" kern="1200">
        <a:solidFill>
          <a:schemeClr val="tx1"/>
        </a:solidFill>
        <a:latin typeface="+mn-lt"/>
        <a:ea typeface="+mn-ea"/>
        <a:cs typeface="+mn-cs"/>
      </a:defRPr>
    </a:lvl5pPr>
    <a:lvl6pPr marL="3395319" algn="l" defTabSz="1358130" rtl="0" eaLnBrk="1" latinLnBrk="0" hangingPunct="1">
      <a:defRPr sz="2673" kern="1200">
        <a:solidFill>
          <a:schemeClr val="tx1"/>
        </a:solidFill>
        <a:latin typeface="+mn-lt"/>
        <a:ea typeface="+mn-ea"/>
        <a:cs typeface="+mn-cs"/>
      </a:defRPr>
    </a:lvl6pPr>
    <a:lvl7pPr marL="4074384" algn="l" defTabSz="1358130" rtl="0" eaLnBrk="1" latinLnBrk="0" hangingPunct="1">
      <a:defRPr sz="2673" kern="1200">
        <a:solidFill>
          <a:schemeClr val="tx1"/>
        </a:solidFill>
        <a:latin typeface="+mn-lt"/>
        <a:ea typeface="+mn-ea"/>
        <a:cs typeface="+mn-cs"/>
      </a:defRPr>
    </a:lvl7pPr>
    <a:lvl8pPr marL="4753447" algn="l" defTabSz="1358130" rtl="0" eaLnBrk="1" latinLnBrk="0" hangingPunct="1">
      <a:defRPr sz="2673" kern="1200">
        <a:solidFill>
          <a:schemeClr val="tx1"/>
        </a:solidFill>
        <a:latin typeface="+mn-lt"/>
        <a:ea typeface="+mn-ea"/>
        <a:cs typeface="+mn-cs"/>
      </a:defRPr>
    </a:lvl8pPr>
    <a:lvl9pPr marL="5432512" algn="l" defTabSz="1358130" rtl="0" eaLnBrk="1" latinLnBrk="0" hangingPunct="1">
      <a:defRPr sz="2673"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4352" userDrawn="1">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eila Robinson" initials="SR" lastIdx="8" clrIdx="0"/>
  <p:cmAuthor id="2" name="Michelle Gardner" initials="MG" lastIdx="13" clrIdx="1">
    <p:extLst>
      <p:ext uri="{19B8F6BF-5375-455C-9EA6-DF929625EA0E}">
        <p15:presenceInfo xmlns:p15="http://schemas.microsoft.com/office/powerpoint/2012/main" userId="Michelle Gardn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DCDC"/>
    <a:srgbClr val="1F3261"/>
    <a:srgbClr val="8064A2"/>
    <a:srgbClr val="F4F4F3"/>
    <a:srgbClr val="537ABA"/>
    <a:srgbClr val="553278"/>
    <a:srgbClr val="95B3D7"/>
    <a:srgbClr val="002D73"/>
    <a:srgbClr val="FF9900"/>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C32960-10BE-4B6C-3B39-CC2A53343744}" v="139" dt="2021-04-07T08:42:54.686"/>
    <p1510:client id="{5B4BE2E1-FEC8-2960-7744-9F40C00E613C}" v="78" dt="2021-04-13T13:45:33.878"/>
    <p1510:client id="{E4E87F50-CBFD-FF1A-5784-2E92A551A74B}" v="420" dt="2021-04-05T15:33:56.22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8" autoAdjust="0"/>
    <p:restoredTop sz="92346" autoAdjust="0"/>
  </p:normalViewPr>
  <p:slideViewPr>
    <p:cSldViewPr snapToGrid="0">
      <p:cViewPr varScale="1">
        <p:scale>
          <a:sx n="47" d="100"/>
          <a:sy n="47" d="100"/>
        </p:scale>
        <p:origin x="1050" y="42"/>
      </p:cViewPr>
      <p:guideLst>
        <p:guide orient="horz" pos="2448"/>
        <p:guide pos="4352"/>
      </p:guideLst>
    </p:cSldViewPr>
  </p:slideViewPr>
  <p:outlineViewPr>
    <p:cViewPr>
      <p:scale>
        <a:sx n="33" d="100"/>
        <a:sy n="33" d="100"/>
      </p:scale>
      <p:origin x="0" y="-3570"/>
    </p:cViewPr>
  </p:outlineViewPr>
  <p:notesTextViewPr>
    <p:cViewPr>
      <p:scale>
        <a:sx n="1" d="1"/>
        <a:sy n="1" d="1"/>
      </p:scale>
      <p:origin x="0" y="0"/>
    </p:cViewPr>
  </p:notesTextViewPr>
  <p:sorterViewPr>
    <p:cViewPr varScale="1">
      <p:scale>
        <a:sx n="100" d="100"/>
        <a:sy n="100" d="100"/>
      </p:scale>
      <p:origin x="0" y="-15648"/>
    </p:cViewPr>
  </p:sorterViewPr>
  <p:notesViewPr>
    <p:cSldViewPr snapToGrid="0">
      <p:cViewPr varScale="1">
        <p:scale>
          <a:sx n="41" d="100"/>
          <a:sy n="41" d="100"/>
        </p:scale>
        <p:origin x="2892" y="42"/>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viewProps" Target="viewProps.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slide" Target="slides/slide121.xml"/><Relationship Id="rId134"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notesMaster" Target="notesMasters/notesMaster1.xml"/><Relationship Id="rId137"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handoutMaster" Target="handoutMasters/handoutMaster1.xml"/><Relationship Id="rId13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commentAuthors" Target="commentAuthors.xml"/><Relationship Id="rId136" Type="http://schemas.microsoft.com/office/2016/11/relationships/changesInfo" Target="changesInfos/changesInfo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hya, Lakkaraju" userId="S::lakkaraju.adithya@fujitsu.com::bce068dc-34e5-4f60-aaf5-84211ecdd3e2" providerId="AD" clId="Web-{5B4BE2E1-FEC8-2960-7744-9F40C00E613C}"/>
    <pc:docChg chg="modSld">
      <pc:chgData name="Adithya, Lakkaraju" userId="S::lakkaraju.adithya@fujitsu.com::bce068dc-34e5-4f60-aaf5-84211ecdd3e2" providerId="AD" clId="Web-{5B4BE2E1-FEC8-2960-7744-9F40C00E613C}" dt="2021-04-13T13:45:33.878" v="42" actId="20577"/>
      <pc:docMkLst>
        <pc:docMk/>
      </pc:docMkLst>
      <pc:sldChg chg="modSp">
        <pc:chgData name="Adithya, Lakkaraju" userId="S::lakkaraju.adithya@fujitsu.com::bce068dc-34e5-4f60-aaf5-84211ecdd3e2" providerId="AD" clId="Web-{5B4BE2E1-FEC8-2960-7744-9F40C00E613C}" dt="2021-04-13T13:40:48.654" v="6" actId="20577"/>
        <pc:sldMkLst>
          <pc:docMk/>
          <pc:sldMk cId="26557255" sldId="811"/>
        </pc:sldMkLst>
        <pc:spChg chg="mod">
          <ac:chgData name="Adithya, Lakkaraju" userId="S::lakkaraju.adithya@fujitsu.com::bce068dc-34e5-4f60-aaf5-84211ecdd3e2" providerId="AD" clId="Web-{5B4BE2E1-FEC8-2960-7744-9F40C00E613C}" dt="2021-04-13T13:40:48.654" v="6" actId="20577"/>
          <ac:spMkLst>
            <pc:docMk/>
            <pc:sldMk cId="26557255" sldId="811"/>
            <ac:spMk id="69637" creationId="{00000000-0000-0000-0000-000000000000}"/>
          </ac:spMkLst>
        </pc:spChg>
      </pc:sldChg>
      <pc:sldChg chg="modSp">
        <pc:chgData name="Adithya, Lakkaraju" userId="S::lakkaraju.adithya@fujitsu.com::bce068dc-34e5-4f60-aaf5-84211ecdd3e2" providerId="AD" clId="Web-{5B4BE2E1-FEC8-2960-7744-9F40C00E613C}" dt="2021-04-13T13:45:33.878" v="42" actId="20577"/>
        <pc:sldMkLst>
          <pc:docMk/>
          <pc:sldMk cId="1538803701" sldId="877"/>
        </pc:sldMkLst>
        <pc:spChg chg="mod">
          <ac:chgData name="Adithya, Lakkaraju" userId="S::lakkaraju.adithya@fujitsu.com::bce068dc-34e5-4f60-aaf5-84211ecdd3e2" providerId="AD" clId="Web-{5B4BE2E1-FEC8-2960-7744-9F40C00E613C}" dt="2021-04-13T13:45:33.878" v="42" actId="20577"/>
          <ac:spMkLst>
            <pc:docMk/>
            <pc:sldMk cId="1538803701" sldId="877"/>
            <ac:spMk id="3" creationId="{C7E111FF-7CCF-40C8-824D-4B4A0A6DF0E1}"/>
          </ac:spMkLst>
        </pc:spChg>
      </pc:sldChg>
    </pc:docChg>
  </pc:docChgLst>
  <pc:docChgLst>
    <pc:chgData name="Adithya, Lakkaraju" userId="S::lakkaraju.adithya@fujitsu.com::bce068dc-34e5-4f60-aaf5-84211ecdd3e2" providerId="AD" clId="Web-{E4E87F50-CBFD-FF1A-5784-2E92A551A74B}"/>
    <pc:docChg chg="addSld modSld">
      <pc:chgData name="Adithya, Lakkaraju" userId="S::lakkaraju.adithya@fujitsu.com::bce068dc-34e5-4f60-aaf5-84211ecdd3e2" providerId="AD" clId="Web-{E4E87F50-CBFD-FF1A-5784-2E92A551A74B}" dt="2021-04-05T15:33:56.226" v="219" actId="20577"/>
      <pc:docMkLst>
        <pc:docMk/>
      </pc:docMkLst>
      <pc:sldChg chg="modSp">
        <pc:chgData name="Adithya, Lakkaraju" userId="S::lakkaraju.adithya@fujitsu.com::bce068dc-34e5-4f60-aaf5-84211ecdd3e2" providerId="AD" clId="Web-{E4E87F50-CBFD-FF1A-5784-2E92A551A74B}" dt="2021-04-05T15:20:22.495" v="21" actId="20577"/>
        <pc:sldMkLst>
          <pc:docMk/>
          <pc:sldMk cId="3677684457" sldId="738"/>
        </pc:sldMkLst>
        <pc:spChg chg="mod">
          <ac:chgData name="Adithya, Lakkaraju" userId="S::lakkaraju.adithya@fujitsu.com::bce068dc-34e5-4f60-aaf5-84211ecdd3e2" providerId="AD" clId="Web-{E4E87F50-CBFD-FF1A-5784-2E92A551A74B}" dt="2021-04-05T15:20:22.495" v="21" actId="20577"/>
          <ac:spMkLst>
            <pc:docMk/>
            <pc:sldMk cId="3677684457" sldId="738"/>
            <ac:spMk id="79877" creationId="{00000000-0000-0000-0000-000000000000}"/>
          </ac:spMkLst>
        </pc:spChg>
      </pc:sldChg>
      <pc:sldChg chg="modSp">
        <pc:chgData name="Adithya, Lakkaraju" userId="S::lakkaraju.adithya@fujitsu.com::bce068dc-34e5-4f60-aaf5-84211ecdd3e2" providerId="AD" clId="Web-{E4E87F50-CBFD-FF1A-5784-2E92A551A74B}" dt="2021-04-05T15:18:54.399" v="5" actId="20577"/>
        <pc:sldMkLst>
          <pc:docMk/>
          <pc:sldMk cId="551553373" sldId="810"/>
        </pc:sldMkLst>
        <pc:spChg chg="mod">
          <ac:chgData name="Adithya, Lakkaraju" userId="S::lakkaraju.adithya@fujitsu.com::bce068dc-34e5-4f60-aaf5-84211ecdd3e2" providerId="AD" clId="Web-{E4E87F50-CBFD-FF1A-5784-2E92A551A74B}" dt="2021-04-05T15:18:54.399" v="5" actId="20577"/>
          <ac:spMkLst>
            <pc:docMk/>
            <pc:sldMk cId="551553373" sldId="810"/>
            <ac:spMk id="79877" creationId="{00000000-0000-0000-0000-000000000000}"/>
          </ac:spMkLst>
        </pc:spChg>
      </pc:sldChg>
      <pc:sldChg chg="modSp">
        <pc:chgData name="Adithya, Lakkaraju" userId="S::lakkaraju.adithya@fujitsu.com::bce068dc-34e5-4f60-aaf5-84211ecdd3e2" providerId="AD" clId="Web-{E4E87F50-CBFD-FF1A-5784-2E92A551A74B}" dt="2021-04-05T15:33:56.226" v="219" actId="20577"/>
        <pc:sldMkLst>
          <pc:docMk/>
          <pc:sldMk cId="2021457036" sldId="871"/>
        </pc:sldMkLst>
        <pc:spChg chg="mod">
          <ac:chgData name="Adithya, Lakkaraju" userId="S::lakkaraju.adithya@fujitsu.com::bce068dc-34e5-4f60-aaf5-84211ecdd3e2" providerId="AD" clId="Web-{E4E87F50-CBFD-FF1A-5784-2E92A551A74B}" dt="2021-04-05T15:33:56.226" v="219" actId="20577"/>
          <ac:spMkLst>
            <pc:docMk/>
            <pc:sldMk cId="2021457036" sldId="871"/>
            <ac:spMk id="79877" creationId="{00000000-0000-0000-0000-000000000000}"/>
          </ac:spMkLst>
        </pc:spChg>
      </pc:sldChg>
      <pc:sldChg chg="modSp">
        <pc:chgData name="Adithya, Lakkaraju" userId="S::lakkaraju.adithya@fujitsu.com::bce068dc-34e5-4f60-aaf5-84211ecdd3e2" providerId="AD" clId="Web-{E4E87F50-CBFD-FF1A-5784-2E92A551A74B}" dt="2021-04-05T15:20:50.183" v="26" actId="20577"/>
        <pc:sldMkLst>
          <pc:docMk/>
          <pc:sldMk cId="2603340603" sldId="872"/>
        </pc:sldMkLst>
        <pc:spChg chg="mod">
          <ac:chgData name="Adithya, Lakkaraju" userId="S::lakkaraju.adithya@fujitsu.com::bce068dc-34e5-4f60-aaf5-84211ecdd3e2" providerId="AD" clId="Web-{E4E87F50-CBFD-FF1A-5784-2E92A551A74B}" dt="2021-04-05T15:20:50.183" v="26" actId="20577"/>
          <ac:spMkLst>
            <pc:docMk/>
            <pc:sldMk cId="2603340603" sldId="872"/>
            <ac:spMk id="2" creationId="{00000000-0000-0000-0000-000000000000}"/>
          </ac:spMkLst>
        </pc:spChg>
      </pc:sldChg>
      <pc:sldChg chg="addSp modSp new">
        <pc:chgData name="Adithya, Lakkaraju" userId="S::lakkaraju.adithya@fujitsu.com::bce068dc-34e5-4f60-aaf5-84211ecdd3e2" providerId="AD" clId="Web-{E4E87F50-CBFD-FF1A-5784-2E92A551A74B}" dt="2021-04-05T15:27:49.592" v="217" actId="20577"/>
        <pc:sldMkLst>
          <pc:docMk/>
          <pc:sldMk cId="1538803701" sldId="877"/>
        </pc:sldMkLst>
        <pc:spChg chg="add mod">
          <ac:chgData name="Adithya, Lakkaraju" userId="S::lakkaraju.adithya@fujitsu.com::bce068dc-34e5-4f60-aaf5-84211ecdd3e2" providerId="AD" clId="Web-{E4E87F50-CBFD-FF1A-5784-2E92A551A74B}" dt="2021-04-05T15:27:49.592" v="217" actId="20577"/>
          <ac:spMkLst>
            <pc:docMk/>
            <pc:sldMk cId="1538803701" sldId="877"/>
            <ac:spMk id="3" creationId="{C7E111FF-7CCF-40C8-824D-4B4A0A6DF0E1}"/>
          </ac:spMkLst>
        </pc:spChg>
      </pc:sldChg>
    </pc:docChg>
  </pc:docChgLst>
  <pc:docChgLst>
    <pc:chgData name="Mali, Umesh" userId="S::umesh.mali@fujitsu.com::94d683ee-056b-4a7b-b8ff-9b7431e9e455" providerId="AD" clId="Web-{29C32960-10BE-4B6C-3B39-CC2A53343744}"/>
    <pc:docChg chg="modSld">
      <pc:chgData name="Mali, Umesh" userId="S::umesh.mali@fujitsu.com::94d683ee-056b-4a7b-b8ff-9b7431e9e455" providerId="AD" clId="Web-{29C32960-10BE-4B6C-3B39-CC2A53343744}" dt="2021-04-07T08:42:54.686" v="67" actId="20577"/>
      <pc:docMkLst>
        <pc:docMk/>
      </pc:docMkLst>
      <pc:sldChg chg="modSp">
        <pc:chgData name="Mali, Umesh" userId="S::umesh.mali@fujitsu.com::94d683ee-056b-4a7b-b8ff-9b7431e9e455" providerId="AD" clId="Web-{29C32960-10BE-4B6C-3B39-CC2A53343744}" dt="2021-04-07T08:42:54.686" v="67" actId="20577"/>
        <pc:sldMkLst>
          <pc:docMk/>
          <pc:sldMk cId="1538803701" sldId="877"/>
        </pc:sldMkLst>
        <pc:spChg chg="mod">
          <ac:chgData name="Mali, Umesh" userId="S::umesh.mali@fujitsu.com::94d683ee-056b-4a7b-b8ff-9b7431e9e455" providerId="AD" clId="Web-{29C32960-10BE-4B6C-3B39-CC2A53343744}" dt="2021-04-07T08:42:54.686" v="67" actId="20577"/>
          <ac:spMkLst>
            <pc:docMk/>
            <pc:sldMk cId="1538803701" sldId="877"/>
            <ac:spMk id="3" creationId="{C7E111FF-7CCF-40C8-824D-4B4A0A6DF0E1}"/>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0" dirty="0">
              <a:solidFill>
                <a:schemeClr val="bg1"/>
              </a:solidFill>
            </a:rPr>
            <a:t>Transferring</a:t>
          </a:r>
          <a:r>
            <a:rPr lang="en-US" b="1" dirty="0">
              <a:solidFill>
                <a:schemeClr val="bg1"/>
              </a:solidFill>
            </a:rPr>
            <a:t> </a:t>
          </a:r>
          <a:r>
            <a:rPr lang="en-US" b="0" dirty="0">
              <a:solidFill>
                <a:schemeClr val="bg1"/>
              </a:solidFill>
            </a:rPr>
            <a:t>Assets (Optional)</a:t>
          </a:r>
          <a:endParaRPr lang="en-US" b="0"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7799885-90EC-448B-A5E6-EF402A2B4455}" type="doc">
      <dgm:prSet loTypeId="urn:microsoft.com/office/officeart/2011/layout/CircleProcess" loCatId="process" qsTypeId="urn:microsoft.com/office/officeart/2005/8/quickstyle/simple1" qsCatId="simple" csTypeId="urn:microsoft.com/office/officeart/2005/8/colors/accent1_2" csCatId="accent1" phldr="1"/>
      <dgm:spPr/>
      <dgm:t>
        <a:bodyPr/>
        <a:lstStyle/>
        <a:p>
          <a:endParaRPr lang="en-US"/>
        </a:p>
      </dgm:t>
    </dgm:pt>
    <dgm:pt modelId="{73B533C0-8C15-4C19-BD96-9D21D3988BD5}">
      <dgm:prSet phldrT="[Text]"/>
      <dgm:spPr>
        <a:solidFill>
          <a:schemeClr val="bg1">
            <a:lumMod val="85000"/>
            <a:alpha val="89804"/>
          </a:schemeClr>
        </a:solidFill>
        <a:ln w="12700">
          <a:solidFill>
            <a:schemeClr val="tx1"/>
          </a:solidFill>
        </a:ln>
      </dgm:spPr>
      <dgm:t>
        <a:bodyPr/>
        <a:lstStyle/>
        <a:p>
          <a:r>
            <a:rPr lang="en-US" dirty="0">
              <a:latin typeface="+mn-lt"/>
            </a:rPr>
            <a:t>Procuring Assets (Needed)</a:t>
          </a:r>
        </a:p>
      </dgm:t>
    </dgm:pt>
    <dgm:pt modelId="{DF88C67E-A8C4-4033-8E86-B3F3B9095760}" type="parTrans" cxnId="{3A8C18B6-1BE6-4E6B-98B6-0CC4E5625D18}">
      <dgm:prSet/>
      <dgm:spPr/>
      <dgm:t>
        <a:bodyPr/>
        <a:lstStyle/>
        <a:p>
          <a:endParaRPr lang="en-US"/>
        </a:p>
      </dgm:t>
    </dgm:pt>
    <dgm:pt modelId="{C605212A-447D-44E7-82CE-D04C08348439}" type="sibTrans" cxnId="{3A8C18B6-1BE6-4E6B-98B6-0CC4E5625D18}">
      <dgm:prSet/>
      <dgm:spPr/>
      <dgm:t>
        <a:bodyPr/>
        <a:lstStyle/>
        <a:p>
          <a:endParaRPr lang="en-US"/>
        </a:p>
      </dgm:t>
    </dgm:pt>
    <dgm:pt modelId="{909A296E-D754-48F8-860D-6EE69996442F}">
      <dgm:prSet phldrT="[Text]"/>
      <dgm:spPr>
        <a:solidFill>
          <a:srgbClr val="F4DCDC">
            <a:alpha val="89804"/>
          </a:srgbClr>
        </a:solidFill>
        <a:ln w="12700">
          <a:solidFill>
            <a:srgbClr val="002D73"/>
          </a:solidFill>
        </a:ln>
      </dgm:spPr>
      <dgm:t>
        <a:bodyPr/>
        <a:lstStyle/>
        <a:p>
          <a:r>
            <a:rPr lang="en-US" dirty="0">
              <a:latin typeface="+mn-lt"/>
            </a:rPr>
            <a:t>Registering Assets (Needed)</a:t>
          </a:r>
        </a:p>
      </dgm:t>
    </dgm:pt>
    <dgm:pt modelId="{D31AABF4-3ACD-432D-B0F9-388309FE970F}" type="parTrans" cxnId="{B95D2A61-3C7F-4F30-BE7D-79B0196E9DDF}">
      <dgm:prSet/>
      <dgm:spPr/>
      <dgm:t>
        <a:bodyPr/>
        <a:lstStyle/>
        <a:p>
          <a:endParaRPr lang="en-US"/>
        </a:p>
      </dgm:t>
    </dgm:pt>
    <dgm:pt modelId="{143C2BE0-AC6B-4C22-A020-96F5B9FC1043}" type="sibTrans" cxnId="{B95D2A61-3C7F-4F30-BE7D-79B0196E9DDF}">
      <dgm:prSet/>
      <dgm:spPr/>
      <dgm:t>
        <a:bodyPr/>
        <a:lstStyle/>
        <a:p>
          <a:endParaRPr lang="en-US"/>
        </a:p>
      </dgm:t>
    </dgm:pt>
    <dgm:pt modelId="{4C8FD9CC-C9E1-4C2A-9A24-DEFDBAD349EF}">
      <dgm:prSet phldrT="[Text]"/>
      <dgm:spPr>
        <a:solidFill>
          <a:schemeClr val="accent2">
            <a:lumMod val="75000"/>
            <a:alpha val="89804"/>
          </a:schemeClr>
        </a:solidFill>
        <a:ln>
          <a:solidFill>
            <a:srgbClr val="002D73"/>
          </a:solidFill>
        </a:ln>
      </dgm:spPr>
      <dgm:t>
        <a:bodyPr/>
        <a:lstStyle/>
        <a:p>
          <a:r>
            <a:rPr lang="en-US" b="1" dirty="0">
              <a:solidFill>
                <a:schemeClr val="bg1"/>
              </a:solidFill>
            </a:rPr>
            <a:t>Transferring Assets (Optional)</a:t>
          </a:r>
          <a:endParaRPr lang="en-US" dirty="0">
            <a:solidFill>
              <a:schemeClr val="bg1"/>
            </a:solidFill>
            <a:latin typeface="+mn-lt"/>
          </a:endParaRPr>
        </a:p>
      </dgm:t>
    </dgm:pt>
    <dgm:pt modelId="{9011253C-D600-4247-AFB3-5C07F854DEC4}" type="parTrans" cxnId="{B5D90AA4-21C3-4438-AE1C-0BE8775FFE68}">
      <dgm:prSet/>
      <dgm:spPr/>
      <dgm:t>
        <a:bodyPr/>
        <a:lstStyle/>
        <a:p>
          <a:endParaRPr lang="en-US"/>
        </a:p>
      </dgm:t>
    </dgm:pt>
    <dgm:pt modelId="{D6182908-C37E-44FB-B4E3-CCAB86FB606F}" type="sibTrans" cxnId="{B5D90AA4-21C3-4438-AE1C-0BE8775FFE68}">
      <dgm:prSet/>
      <dgm:spPr/>
      <dgm:t>
        <a:bodyPr/>
        <a:lstStyle/>
        <a:p>
          <a:endParaRPr lang="en-US"/>
        </a:p>
      </dgm:t>
    </dgm:pt>
    <dgm:pt modelId="{0DFA0304-874C-4A65-B995-CBD988A4EA1D}">
      <dgm:prSet phldrT="[Text]"/>
      <dgm:spPr>
        <a:solidFill>
          <a:srgbClr val="FF0000"/>
        </a:solidFill>
        <a:ln w="12700">
          <a:solidFill>
            <a:srgbClr val="002D73"/>
          </a:solidFill>
        </a:ln>
      </dgm:spPr>
      <dgm:t>
        <a:bodyPr/>
        <a:lstStyle/>
        <a:p>
          <a:r>
            <a:rPr lang="en-US" dirty="0">
              <a:solidFill>
                <a:schemeClr val="bg1"/>
              </a:solidFill>
              <a:latin typeface="+mn-lt"/>
            </a:rPr>
            <a:t>Adjusting Assets (Optional)</a:t>
          </a:r>
        </a:p>
      </dgm:t>
    </dgm:pt>
    <dgm:pt modelId="{C1E6120F-647F-458C-AF8E-55F23B80F52F}" type="parTrans" cxnId="{571972C6-CAAF-4EEC-A9D6-318CE2ADBDD3}">
      <dgm:prSet/>
      <dgm:spPr/>
      <dgm:t>
        <a:bodyPr/>
        <a:lstStyle/>
        <a:p>
          <a:endParaRPr lang="en-US"/>
        </a:p>
      </dgm:t>
    </dgm:pt>
    <dgm:pt modelId="{32EF71EF-5D86-43FB-941B-865CC03A6A0C}" type="sibTrans" cxnId="{571972C6-CAAF-4EEC-A9D6-318CE2ADBDD3}">
      <dgm:prSet/>
      <dgm:spPr/>
      <dgm:t>
        <a:bodyPr/>
        <a:lstStyle/>
        <a:p>
          <a:endParaRPr lang="en-US"/>
        </a:p>
      </dgm:t>
    </dgm:pt>
    <dgm:pt modelId="{B0FCABA2-AA67-4284-A582-E04F8A7A2495}">
      <dgm:prSet phldrT="[Text]"/>
      <dgm:spPr>
        <a:solidFill>
          <a:schemeClr val="bg1">
            <a:lumMod val="85000"/>
            <a:alpha val="89804"/>
          </a:schemeClr>
        </a:solidFill>
        <a:ln w="12700">
          <a:solidFill>
            <a:schemeClr val="tx1"/>
          </a:solidFill>
        </a:ln>
      </dgm:spPr>
      <dgm:t>
        <a:bodyPr/>
        <a:lstStyle/>
        <a:p>
          <a:r>
            <a:rPr lang="en-US" dirty="0">
              <a:latin typeface="+mn-lt"/>
            </a:rPr>
            <a:t>Depreciating Assets (Needed)</a:t>
          </a:r>
        </a:p>
      </dgm:t>
    </dgm:pt>
    <dgm:pt modelId="{51E3E0F4-ED85-46AE-A477-C63A2EB51350}" type="parTrans" cxnId="{DFA8449F-2ABD-4AF7-91E5-03A127D982F6}">
      <dgm:prSet/>
      <dgm:spPr/>
      <dgm:t>
        <a:bodyPr/>
        <a:lstStyle/>
        <a:p>
          <a:endParaRPr lang="en-US"/>
        </a:p>
      </dgm:t>
    </dgm:pt>
    <dgm:pt modelId="{BE5DE984-1E8D-4ACE-BA8B-7DB8EAB88D02}" type="sibTrans" cxnId="{DFA8449F-2ABD-4AF7-91E5-03A127D982F6}">
      <dgm:prSet/>
      <dgm:spPr/>
      <dgm:t>
        <a:bodyPr/>
        <a:lstStyle/>
        <a:p>
          <a:endParaRPr lang="en-US"/>
        </a:p>
      </dgm:t>
    </dgm:pt>
    <dgm:pt modelId="{6C93C284-6A9F-47B1-A719-98CC44919719}">
      <dgm:prSet phldrT="[Text]"/>
      <dgm:spPr>
        <a:solidFill>
          <a:srgbClr val="FF0000"/>
        </a:solidFill>
        <a:ln w="12700">
          <a:solidFill>
            <a:srgbClr val="002D73"/>
          </a:solidFill>
        </a:ln>
      </dgm:spPr>
      <dgm:t>
        <a:bodyPr/>
        <a:lstStyle/>
        <a:p>
          <a:r>
            <a:rPr lang="en-US" dirty="0">
              <a:solidFill>
                <a:schemeClr val="bg1"/>
              </a:solidFill>
              <a:latin typeface="+mn-lt"/>
            </a:rPr>
            <a:t>Disposing Assets (Optional)</a:t>
          </a:r>
        </a:p>
      </dgm:t>
    </dgm:pt>
    <dgm:pt modelId="{8C6A0F2E-3B06-4561-BB45-2D01FD728408}" type="parTrans" cxnId="{E65098F7-A775-4539-8A68-72D587B81233}">
      <dgm:prSet/>
      <dgm:spPr/>
      <dgm:t>
        <a:bodyPr/>
        <a:lstStyle/>
        <a:p>
          <a:endParaRPr lang="en-US"/>
        </a:p>
      </dgm:t>
    </dgm:pt>
    <dgm:pt modelId="{DAAE66DB-2CCD-4C2E-91A5-DE7828F377DA}" type="sibTrans" cxnId="{E65098F7-A775-4539-8A68-72D587B81233}">
      <dgm:prSet/>
      <dgm:spPr/>
      <dgm:t>
        <a:bodyPr/>
        <a:lstStyle/>
        <a:p>
          <a:endParaRPr lang="en-US"/>
        </a:p>
      </dgm:t>
    </dgm:pt>
    <dgm:pt modelId="{EA46A26D-FC15-4FBA-AD8D-B2C03D9EC9F4}" type="pres">
      <dgm:prSet presAssocID="{B7799885-90EC-448B-A5E6-EF402A2B4455}" presName="Name0" presStyleCnt="0">
        <dgm:presLayoutVars>
          <dgm:chMax val="11"/>
          <dgm:chPref val="11"/>
          <dgm:dir/>
          <dgm:resizeHandles/>
        </dgm:presLayoutVars>
      </dgm:prSet>
      <dgm:spPr/>
      <dgm:t>
        <a:bodyPr/>
        <a:lstStyle/>
        <a:p>
          <a:endParaRPr lang="en-US"/>
        </a:p>
      </dgm:t>
    </dgm:pt>
    <dgm:pt modelId="{04B0591A-EDF3-4266-BF40-38488B847923}" type="pres">
      <dgm:prSet presAssocID="{6C93C284-6A9F-47B1-A719-98CC44919719}" presName="Accent6" presStyleCnt="0"/>
      <dgm:spPr/>
    </dgm:pt>
    <dgm:pt modelId="{985FC8B8-B9B5-4BD1-B390-F369E1E7CFA8}" type="pres">
      <dgm:prSet presAssocID="{6C93C284-6A9F-47B1-A719-98CC44919719}" presName="Accent" presStyleLbl="node1" presStyleIdx="0" presStyleCnt="6"/>
      <dgm:spPr/>
    </dgm:pt>
    <dgm:pt modelId="{6BE89CB0-884C-4A13-822F-B14E7DA1341E}" type="pres">
      <dgm:prSet presAssocID="{6C93C284-6A9F-47B1-A719-98CC44919719}" presName="ParentBackground6" presStyleCnt="0"/>
      <dgm:spPr/>
    </dgm:pt>
    <dgm:pt modelId="{DA43D44A-933F-4093-99E3-11ADA91DA87B}" type="pres">
      <dgm:prSet presAssocID="{6C93C284-6A9F-47B1-A719-98CC44919719}" presName="ParentBackground" presStyleLbl="fgAcc1" presStyleIdx="0" presStyleCnt="6"/>
      <dgm:spPr/>
      <dgm:t>
        <a:bodyPr/>
        <a:lstStyle/>
        <a:p>
          <a:endParaRPr lang="en-US"/>
        </a:p>
      </dgm:t>
    </dgm:pt>
    <dgm:pt modelId="{06CD2B19-55B7-430D-8EBE-AD111B33AC31}" type="pres">
      <dgm:prSet presAssocID="{6C93C284-6A9F-47B1-A719-98CC44919719}" presName="Parent6" presStyleLbl="revTx" presStyleIdx="0" presStyleCnt="0">
        <dgm:presLayoutVars>
          <dgm:chMax val="1"/>
          <dgm:chPref val="1"/>
          <dgm:bulletEnabled val="1"/>
        </dgm:presLayoutVars>
      </dgm:prSet>
      <dgm:spPr/>
      <dgm:t>
        <a:bodyPr/>
        <a:lstStyle/>
        <a:p>
          <a:endParaRPr lang="en-US"/>
        </a:p>
      </dgm:t>
    </dgm:pt>
    <dgm:pt modelId="{56264BB1-ED82-4F90-8CF3-175F1AE56A5D}" type="pres">
      <dgm:prSet presAssocID="{B0FCABA2-AA67-4284-A582-E04F8A7A2495}" presName="Accent5" presStyleCnt="0"/>
      <dgm:spPr/>
    </dgm:pt>
    <dgm:pt modelId="{F5BF9BC4-6BAB-4577-A90C-A74021483097}" type="pres">
      <dgm:prSet presAssocID="{B0FCABA2-AA67-4284-A582-E04F8A7A2495}" presName="Accent" presStyleLbl="node1" presStyleIdx="1" presStyleCnt="6"/>
      <dgm:spPr/>
    </dgm:pt>
    <dgm:pt modelId="{A29D1413-6E39-4052-B462-E74493969C80}" type="pres">
      <dgm:prSet presAssocID="{B0FCABA2-AA67-4284-A582-E04F8A7A2495}" presName="ParentBackground5" presStyleCnt="0"/>
      <dgm:spPr/>
    </dgm:pt>
    <dgm:pt modelId="{1BCF17FA-19B1-4BE6-9799-112FC038D689}" type="pres">
      <dgm:prSet presAssocID="{B0FCABA2-AA67-4284-A582-E04F8A7A2495}" presName="ParentBackground" presStyleLbl="fgAcc1" presStyleIdx="1" presStyleCnt="6"/>
      <dgm:spPr/>
      <dgm:t>
        <a:bodyPr/>
        <a:lstStyle/>
        <a:p>
          <a:endParaRPr lang="en-US"/>
        </a:p>
      </dgm:t>
    </dgm:pt>
    <dgm:pt modelId="{FFE42FB5-1618-4650-B8D1-3F4094546AE4}" type="pres">
      <dgm:prSet presAssocID="{B0FCABA2-AA67-4284-A582-E04F8A7A2495}" presName="Parent5" presStyleLbl="revTx" presStyleIdx="0" presStyleCnt="0">
        <dgm:presLayoutVars>
          <dgm:chMax val="1"/>
          <dgm:chPref val="1"/>
          <dgm:bulletEnabled val="1"/>
        </dgm:presLayoutVars>
      </dgm:prSet>
      <dgm:spPr/>
      <dgm:t>
        <a:bodyPr/>
        <a:lstStyle/>
        <a:p>
          <a:endParaRPr lang="en-US"/>
        </a:p>
      </dgm:t>
    </dgm:pt>
    <dgm:pt modelId="{ECD8EA84-F14D-4CDF-826C-624781F29B78}" type="pres">
      <dgm:prSet presAssocID="{4C8FD9CC-C9E1-4C2A-9A24-DEFDBAD349EF}" presName="Accent4" presStyleCnt="0"/>
      <dgm:spPr/>
    </dgm:pt>
    <dgm:pt modelId="{912B6635-5F98-4686-858B-65F2692317D9}" type="pres">
      <dgm:prSet presAssocID="{4C8FD9CC-C9E1-4C2A-9A24-DEFDBAD349EF}" presName="Accent" presStyleLbl="node1" presStyleIdx="2" presStyleCnt="6"/>
      <dgm:spPr>
        <a:noFill/>
        <a:ln w="28575">
          <a:solidFill>
            <a:schemeClr val="tx1"/>
          </a:solidFill>
        </a:ln>
      </dgm:spPr>
    </dgm:pt>
    <dgm:pt modelId="{4D898C36-F6D8-473C-A22B-581ABB0C809A}" type="pres">
      <dgm:prSet presAssocID="{4C8FD9CC-C9E1-4C2A-9A24-DEFDBAD349EF}" presName="ParentBackground4" presStyleCnt="0"/>
      <dgm:spPr/>
    </dgm:pt>
    <dgm:pt modelId="{C42AEE01-8096-42F3-A396-A4FC48EADBB4}" type="pres">
      <dgm:prSet presAssocID="{4C8FD9CC-C9E1-4C2A-9A24-DEFDBAD349EF}" presName="ParentBackground" presStyleLbl="fgAcc1" presStyleIdx="2" presStyleCnt="6"/>
      <dgm:spPr/>
      <dgm:t>
        <a:bodyPr/>
        <a:lstStyle/>
        <a:p>
          <a:endParaRPr lang="en-US"/>
        </a:p>
      </dgm:t>
    </dgm:pt>
    <dgm:pt modelId="{43E09396-D415-4C1D-8646-ED9BDE6564B3}" type="pres">
      <dgm:prSet presAssocID="{4C8FD9CC-C9E1-4C2A-9A24-DEFDBAD349EF}" presName="Parent4" presStyleLbl="revTx" presStyleIdx="0" presStyleCnt="0">
        <dgm:presLayoutVars>
          <dgm:chMax val="1"/>
          <dgm:chPref val="1"/>
          <dgm:bulletEnabled val="1"/>
        </dgm:presLayoutVars>
      </dgm:prSet>
      <dgm:spPr/>
      <dgm:t>
        <a:bodyPr/>
        <a:lstStyle/>
        <a:p>
          <a:endParaRPr lang="en-US"/>
        </a:p>
      </dgm:t>
    </dgm:pt>
    <dgm:pt modelId="{1F597770-BCF3-400A-8F1B-F352A56C3964}" type="pres">
      <dgm:prSet presAssocID="{0DFA0304-874C-4A65-B995-CBD988A4EA1D}" presName="Accent3" presStyleCnt="0"/>
      <dgm:spPr/>
    </dgm:pt>
    <dgm:pt modelId="{F3345FD4-D68E-4CC4-8A5E-DB56D2182E02}" type="pres">
      <dgm:prSet presAssocID="{0DFA0304-874C-4A65-B995-CBD988A4EA1D}" presName="Accent" presStyleLbl="node1" presStyleIdx="3" presStyleCnt="6"/>
      <dgm:spPr>
        <a:noFill/>
        <a:ln>
          <a:solidFill>
            <a:schemeClr val="tx1"/>
          </a:solidFill>
        </a:ln>
      </dgm:spPr>
    </dgm:pt>
    <dgm:pt modelId="{B85AFE10-4879-4EA2-A6CE-4AEE0BE79A46}" type="pres">
      <dgm:prSet presAssocID="{0DFA0304-874C-4A65-B995-CBD988A4EA1D}" presName="ParentBackground3" presStyleCnt="0"/>
      <dgm:spPr/>
    </dgm:pt>
    <dgm:pt modelId="{39E53DC8-941D-4DDE-AAD9-FCAFD3EC4023}" type="pres">
      <dgm:prSet presAssocID="{0DFA0304-874C-4A65-B995-CBD988A4EA1D}" presName="ParentBackground" presStyleLbl="fgAcc1" presStyleIdx="3" presStyleCnt="6"/>
      <dgm:spPr/>
      <dgm:t>
        <a:bodyPr/>
        <a:lstStyle/>
        <a:p>
          <a:endParaRPr lang="en-US"/>
        </a:p>
      </dgm:t>
    </dgm:pt>
    <dgm:pt modelId="{1F3219CD-F50B-4754-8F7D-0EDB92C55F23}" type="pres">
      <dgm:prSet presAssocID="{0DFA0304-874C-4A65-B995-CBD988A4EA1D}" presName="Parent3" presStyleLbl="revTx" presStyleIdx="0" presStyleCnt="0">
        <dgm:presLayoutVars>
          <dgm:chMax val="1"/>
          <dgm:chPref val="1"/>
          <dgm:bulletEnabled val="1"/>
        </dgm:presLayoutVars>
      </dgm:prSet>
      <dgm:spPr/>
      <dgm:t>
        <a:bodyPr/>
        <a:lstStyle/>
        <a:p>
          <a:endParaRPr lang="en-US"/>
        </a:p>
      </dgm:t>
    </dgm:pt>
    <dgm:pt modelId="{FCA03842-9E67-4199-A565-26AADC44A5ED}" type="pres">
      <dgm:prSet presAssocID="{909A296E-D754-48F8-860D-6EE69996442F}" presName="Accent2" presStyleCnt="0"/>
      <dgm:spPr/>
    </dgm:pt>
    <dgm:pt modelId="{89DFBE28-7300-41D6-AB92-AC502E6D90FC}" type="pres">
      <dgm:prSet presAssocID="{909A296E-D754-48F8-860D-6EE69996442F}" presName="Accent" presStyleLbl="node1" presStyleIdx="4" presStyleCnt="6"/>
      <dgm:spPr>
        <a:noFill/>
        <a:ln w="28575">
          <a:solidFill>
            <a:schemeClr val="tx1"/>
          </a:solidFill>
        </a:ln>
      </dgm:spPr>
    </dgm:pt>
    <dgm:pt modelId="{F7CC27F8-2EE0-4532-9BCE-86986465764E}" type="pres">
      <dgm:prSet presAssocID="{909A296E-D754-48F8-860D-6EE69996442F}" presName="ParentBackground2" presStyleCnt="0"/>
      <dgm:spPr/>
    </dgm:pt>
    <dgm:pt modelId="{776D4B27-0EF4-4AD6-A9B5-748DCDFB24D0}" type="pres">
      <dgm:prSet presAssocID="{909A296E-D754-48F8-860D-6EE69996442F}" presName="ParentBackground" presStyleLbl="fgAcc1" presStyleIdx="4" presStyleCnt="6"/>
      <dgm:spPr/>
      <dgm:t>
        <a:bodyPr/>
        <a:lstStyle/>
        <a:p>
          <a:endParaRPr lang="en-US"/>
        </a:p>
      </dgm:t>
    </dgm:pt>
    <dgm:pt modelId="{E45A6CF2-9276-4B3D-BAA0-379B52AAB91D}" type="pres">
      <dgm:prSet presAssocID="{909A296E-D754-48F8-860D-6EE69996442F}" presName="Parent2" presStyleLbl="revTx" presStyleIdx="0" presStyleCnt="0">
        <dgm:presLayoutVars>
          <dgm:chMax val="1"/>
          <dgm:chPref val="1"/>
          <dgm:bulletEnabled val="1"/>
        </dgm:presLayoutVars>
      </dgm:prSet>
      <dgm:spPr/>
      <dgm:t>
        <a:bodyPr/>
        <a:lstStyle/>
        <a:p>
          <a:endParaRPr lang="en-US"/>
        </a:p>
      </dgm:t>
    </dgm:pt>
    <dgm:pt modelId="{84E45637-F4F6-4BEA-8D04-9DB0837747EE}" type="pres">
      <dgm:prSet presAssocID="{73B533C0-8C15-4C19-BD96-9D21D3988BD5}" presName="Accent1" presStyleCnt="0"/>
      <dgm:spPr/>
    </dgm:pt>
    <dgm:pt modelId="{5A182BD6-932E-4A6A-A774-6DAEB079B70F}" type="pres">
      <dgm:prSet presAssocID="{73B533C0-8C15-4C19-BD96-9D21D3988BD5}" presName="Accent" presStyleLbl="node1" presStyleIdx="5" presStyleCnt="6"/>
      <dgm:spPr>
        <a:noFill/>
        <a:ln>
          <a:solidFill>
            <a:schemeClr val="tx1"/>
          </a:solidFill>
        </a:ln>
      </dgm:spPr>
    </dgm:pt>
    <dgm:pt modelId="{68F1AD57-99A8-4DED-9A92-8F8F21DBE104}" type="pres">
      <dgm:prSet presAssocID="{73B533C0-8C15-4C19-BD96-9D21D3988BD5}" presName="ParentBackground1" presStyleCnt="0"/>
      <dgm:spPr/>
    </dgm:pt>
    <dgm:pt modelId="{22BAC551-0C08-45D2-9FCA-06BA1703163F}" type="pres">
      <dgm:prSet presAssocID="{73B533C0-8C15-4C19-BD96-9D21D3988BD5}" presName="ParentBackground" presStyleLbl="fgAcc1" presStyleIdx="5" presStyleCnt="6"/>
      <dgm:spPr/>
      <dgm:t>
        <a:bodyPr/>
        <a:lstStyle/>
        <a:p>
          <a:endParaRPr lang="en-US"/>
        </a:p>
      </dgm:t>
    </dgm:pt>
    <dgm:pt modelId="{717D1FF3-F88B-4432-AD35-88675A8D81D6}" type="pres">
      <dgm:prSet presAssocID="{73B533C0-8C15-4C19-BD96-9D21D3988BD5}" presName="Parent1" presStyleLbl="revTx" presStyleIdx="0" presStyleCnt="0">
        <dgm:presLayoutVars>
          <dgm:chMax val="1"/>
          <dgm:chPref val="1"/>
          <dgm:bulletEnabled val="1"/>
        </dgm:presLayoutVars>
      </dgm:prSet>
      <dgm:spPr/>
      <dgm:t>
        <a:bodyPr/>
        <a:lstStyle/>
        <a:p>
          <a:endParaRPr lang="en-US"/>
        </a:p>
      </dgm:t>
    </dgm:pt>
  </dgm:ptLst>
  <dgm:cxnLst>
    <dgm:cxn modelId="{E34EE762-D0A8-4807-890C-B4CE6257B002}" type="presOf" srcId="{909A296E-D754-48F8-860D-6EE69996442F}" destId="{E45A6CF2-9276-4B3D-BAA0-379B52AAB91D}" srcOrd="1" destOrd="0" presId="urn:microsoft.com/office/officeart/2011/layout/CircleProcess"/>
    <dgm:cxn modelId="{93314DF7-CE8B-494B-A47E-DCE53056899F}" type="presOf" srcId="{909A296E-D754-48F8-860D-6EE69996442F}" destId="{776D4B27-0EF4-4AD6-A9B5-748DCDFB24D0}" srcOrd="0" destOrd="0" presId="urn:microsoft.com/office/officeart/2011/layout/CircleProcess"/>
    <dgm:cxn modelId="{BADF13F1-9E51-4BDF-920B-FEBAE49A8E7E}" type="presOf" srcId="{B0FCABA2-AA67-4284-A582-E04F8A7A2495}" destId="{FFE42FB5-1618-4650-B8D1-3F4094546AE4}" srcOrd="1" destOrd="0" presId="urn:microsoft.com/office/officeart/2011/layout/CircleProcess"/>
    <dgm:cxn modelId="{3A8C18B6-1BE6-4E6B-98B6-0CC4E5625D18}" srcId="{B7799885-90EC-448B-A5E6-EF402A2B4455}" destId="{73B533C0-8C15-4C19-BD96-9D21D3988BD5}" srcOrd="0" destOrd="0" parTransId="{DF88C67E-A8C4-4033-8E86-B3F3B9095760}" sibTransId="{C605212A-447D-44E7-82CE-D04C08348439}"/>
    <dgm:cxn modelId="{B5D90AA4-21C3-4438-AE1C-0BE8775FFE68}" srcId="{B7799885-90EC-448B-A5E6-EF402A2B4455}" destId="{4C8FD9CC-C9E1-4C2A-9A24-DEFDBAD349EF}" srcOrd="3" destOrd="0" parTransId="{9011253C-D600-4247-AFB3-5C07F854DEC4}" sibTransId="{D6182908-C37E-44FB-B4E3-CCAB86FB606F}"/>
    <dgm:cxn modelId="{C5BBAF29-CD59-4F40-B70D-C86D244E3B94}" type="presOf" srcId="{B0FCABA2-AA67-4284-A582-E04F8A7A2495}" destId="{1BCF17FA-19B1-4BE6-9799-112FC038D689}" srcOrd="0" destOrd="0" presId="urn:microsoft.com/office/officeart/2011/layout/CircleProcess"/>
    <dgm:cxn modelId="{F2F28B1C-3745-4E1B-9640-D12EED0379C2}" type="presOf" srcId="{0DFA0304-874C-4A65-B995-CBD988A4EA1D}" destId="{1F3219CD-F50B-4754-8F7D-0EDB92C55F23}" srcOrd="1" destOrd="0" presId="urn:microsoft.com/office/officeart/2011/layout/CircleProcess"/>
    <dgm:cxn modelId="{87E64112-439C-45AF-A8E0-2856D51901C2}" type="presOf" srcId="{73B533C0-8C15-4C19-BD96-9D21D3988BD5}" destId="{717D1FF3-F88B-4432-AD35-88675A8D81D6}" srcOrd="1" destOrd="0" presId="urn:microsoft.com/office/officeart/2011/layout/CircleProcess"/>
    <dgm:cxn modelId="{C29D29C0-CF88-476C-96B0-C5AB1A754610}" type="presOf" srcId="{4C8FD9CC-C9E1-4C2A-9A24-DEFDBAD349EF}" destId="{43E09396-D415-4C1D-8646-ED9BDE6564B3}" srcOrd="1" destOrd="0" presId="urn:microsoft.com/office/officeart/2011/layout/CircleProcess"/>
    <dgm:cxn modelId="{DFA8449F-2ABD-4AF7-91E5-03A127D982F6}" srcId="{B7799885-90EC-448B-A5E6-EF402A2B4455}" destId="{B0FCABA2-AA67-4284-A582-E04F8A7A2495}" srcOrd="4" destOrd="0" parTransId="{51E3E0F4-ED85-46AE-A477-C63A2EB51350}" sibTransId="{BE5DE984-1E8D-4ACE-BA8B-7DB8EAB88D02}"/>
    <dgm:cxn modelId="{6D7E17F3-CC39-4DEB-A7C0-DEE899CAC1F1}" type="presOf" srcId="{4C8FD9CC-C9E1-4C2A-9A24-DEFDBAD349EF}" destId="{C42AEE01-8096-42F3-A396-A4FC48EADBB4}" srcOrd="0" destOrd="0" presId="urn:microsoft.com/office/officeart/2011/layout/CircleProcess"/>
    <dgm:cxn modelId="{04A5BC76-F42A-4CBC-A9EC-259D936C44B7}" type="presOf" srcId="{B7799885-90EC-448B-A5E6-EF402A2B4455}" destId="{EA46A26D-FC15-4FBA-AD8D-B2C03D9EC9F4}" srcOrd="0" destOrd="0" presId="urn:microsoft.com/office/officeart/2011/layout/CircleProcess"/>
    <dgm:cxn modelId="{E65098F7-A775-4539-8A68-72D587B81233}" srcId="{B7799885-90EC-448B-A5E6-EF402A2B4455}" destId="{6C93C284-6A9F-47B1-A719-98CC44919719}" srcOrd="5" destOrd="0" parTransId="{8C6A0F2E-3B06-4561-BB45-2D01FD728408}" sibTransId="{DAAE66DB-2CCD-4C2E-91A5-DE7828F377DA}"/>
    <dgm:cxn modelId="{B95D2A61-3C7F-4F30-BE7D-79B0196E9DDF}" srcId="{B7799885-90EC-448B-A5E6-EF402A2B4455}" destId="{909A296E-D754-48F8-860D-6EE69996442F}" srcOrd="1" destOrd="0" parTransId="{D31AABF4-3ACD-432D-B0F9-388309FE970F}" sibTransId="{143C2BE0-AC6B-4C22-A020-96F5B9FC1043}"/>
    <dgm:cxn modelId="{3FC13C44-0D49-40A6-9AB6-372D670A839A}" type="presOf" srcId="{0DFA0304-874C-4A65-B995-CBD988A4EA1D}" destId="{39E53DC8-941D-4DDE-AAD9-FCAFD3EC4023}" srcOrd="0" destOrd="0" presId="urn:microsoft.com/office/officeart/2011/layout/CircleProcess"/>
    <dgm:cxn modelId="{726F8527-D5DB-435F-9FC0-55AE68A0FF54}" type="presOf" srcId="{6C93C284-6A9F-47B1-A719-98CC44919719}" destId="{DA43D44A-933F-4093-99E3-11ADA91DA87B}" srcOrd="0" destOrd="0" presId="urn:microsoft.com/office/officeart/2011/layout/CircleProcess"/>
    <dgm:cxn modelId="{529E5301-823E-4D8F-838C-295FC016A56D}" type="presOf" srcId="{73B533C0-8C15-4C19-BD96-9D21D3988BD5}" destId="{22BAC551-0C08-45D2-9FCA-06BA1703163F}" srcOrd="0" destOrd="0" presId="urn:microsoft.com/office/officeart/2011/layout/CircleProcess"/>
    <dgm:cxn modelId="{571972C6-CAAF-4EEC-A9D6-318CE2ADBDD3}" srcId="{B7799885-90EC-448B-A5E6-EF402A2B4455}" destId="{0DFA0304-874C-4A65-B995-CBD988A4EA1D}" srcOrd="2" destOrd="0" parTransId="{C1E6120F-647F-458C-AF8E-55F23B80F52F}" sibTransId="{32EF71EF-5D86-43FB-941B-865CC03A6A0C}"/>
    <dgm:cxn modelId="{A13E796D-CB86-478A-901B-948AAAD21BF7}" type="presOf" srcId="{6C93C284-6A9F-47B1-A719-98CC44919719}" destId="{06CD2B19-55B7-430D-8EBE-AD111B33AC31}" srcOrd="1" destOrd="0" presId="urn:microsoft.com/office/officeart/2011/layout/CircleProcess"/>
    <dgm:cxn modelId="{39CF328E-8914-4811-A80E-F5EE2F5FF818}" type="presParOf" srcId="{EA46A26D-FC15-4FBA-AD8D-B2C03D9EC9F4}" destId="{04B0591A-EDF3-4266-BF40-38488B847923}" srcOrd="0" destOrd="0" presId="urn:microsoft.com/office/officeart/2011/layout/CircleProcess"/>
    <dgm:cxn modelId="{558525C0-FE42-43D0-AEC8-B47F9C39F472}" type="presParOf" srcId="{04B0591A-EDF3-4266-BF40-38488B847923}" destId="{985FC8B8-B9B5-4BD1-B390-F369E1E7CFA8}" srcOrd="0" destOrd="0" presId="urn:microsoft.com/office/officeart/2011/layout/CircleProcess"/>
    <dgm:cxn modelId="{06CCA643-E400-4FE1-BAF6-769BC07149FC}" type="presParOf" srcId="{EA46A26D-FC15-4FBA-AD8D-B2C03D9EC9F4}" destId="{6BE89CB0-884C-4A13-822F-B14E7DA1341E}" srcOrd="1" destOrd="0" presId="urn:microsoft.com/office/officeart/2011/layout/CircleProcess"/>
    <dgm:cxn modelId="{7D4A8452-D215-4BB2-B61C-902533D24D65}" type="presParOf" srcId="{6BE89CB0-884C-4A13-822F-B14E7DA1341E}" destId="{DA43D44A-933F-4093-99E3-11ADA91DA87B}" srcOrd="0" destOrd="0" presId="urn:microsoft.com/office/officeart/2011/layout/CircleProcess"/>
    <dgm:cxn modelId="{70254989-E5A0-40B2-AA54-1DD1502C48A4}" type="presParOf" srcId="{EA46A26D-FC15-4FBA-AD8D-B2C03D9EC9F4}" destId="{06CD2B19-55B7-430D-8EBE-AD111B33AC31}" srcOrd="2" destOrd="0" presId="urn:microsoft.com/office/officeart/2011/layout/CircleProcess"/>
    <dgm:cxn modelId="{704D9B28-899A-4C34-A411-CA4A5BC3249B}" type="presParOf" srcId="{EA46A26D-FC15-4FBA-AD8D-B2C03D9EC9F4}" destId="{56264BB1-ED82-4F90-8CF3-175F1AE56A5D}" srcOrd="3" destOrd="0" presId="urn:microsoft.com/office/officeart/2011/layout/CircleProcess"/>
    <dgm:cxn modelId="{F0D6A209-CB65-41C9-ABEE-28C0C28EECA9}" type="presParOf" srcId="{56264BB1-ED82-4F90-8CF3-175F1AE56A5D}" destId="{F5BF9BC4-6BAB-4577-A90C-A74021483097}" srcOrd="0" destOrd="0" presId="urn:microsoft.com/office/officeart/2011/layout/CircleProcess"/>
    <dgm:cxn modelId="{915F44A9-6471-498D-820E-F96674CAC7EF}" type="presParOf" srcId="{EA46A26D-FC15-4FBA-AD8D-B2C03D9EC9F4}" destId="{A29D1413-6E39-4052-B462-E74493969C80}" srcOrd="4" destOrd="0" presId="urn:microsoft.com/office/officeart/2011/layout/CircleProcess"/>
    <dgm:cxn modelId="{CF356DC1-C30D-4611-9190-89E9C74C61F6}" type="presParOf" srcId="{A29D1413-6E39-4052-B462-E74493969C80}" destId="{1BCF17FA-19B1-4BE6-9799-112FC038D689}" srcOrd="0" destOrd="0" presId="urn:microsoft.com/office/officeart/2011/layout/CircleProcess"/>
    <dgm:cxn modelId="{ECAC81EC-3C60-4E4F-A495-F0DCD8FA53DB}" type="presParOf" srcId="{EA46A26D-FC15-4FBA-AD8D-B2C03D9EC9F4}" destId="{FFE42FB5-1618-4650-B8D1-3F4094546AE4}" srcOrd="5" destOrd="0" presId="urn:microsoft.com/office/officeart/2011/layout/CircleProcess"/>
    <dgm:cxn modelId="{DEA621DB-CAF7-49C7-8F96-8B7B43D4C71D}" type="presParOf" srcId="{EA46A26D-FC15-4FBA-AD8D-B2C03D9EC9F4}" destId="{ECD8EA84-F14D-4CDF-826C-624781F29B78}" srcOrd="6" destOrd="0" presId="urn:microsoft.com/office/officeart/2011/layout/CircleProcess"/>
    <dgm:cxn modelId="{C292402D-28D9-49C8-9C79-8F1854B868C6}" type="presParOf" srcId="{ECD8EA84-F14D-4CDF-826C-624781F29B78}" destId="{912B6635-5F98-4686-858B-65F2692317D9}" srcOrd="0" destOrd="0" presId="urn:microsoft.com/office/officeart/2011/layout/CircleProcess"/>
    <dgm:cxn modelId="{53923695-51E7-4BBC-8A6C-822B368497C4}" type="presParOf" srcId="{EA46A26D-FC15-4FBA-AD8D-B2C03D9EC9F4}" destId="{4D898C36-F6D8-473C-A22B-581ABB0C809A}" srcOrd="7" destOrd="0" presId="urn:microsoft.com/office/officeart/2011/layout/CircleProcess"/>
    <dgm:cxn modelId="{EDF2716E-A1E8-4802-A596-017CBF6261EA}" type="presParOf" srcId="{4D898C36-F6D8-473C-A22B-581ABB0C809A}" destId="{C42AEE01-8096-42F3-A396-A4FC48EADBB4}" srcOrd="0" destOrd="0" presId="urn:microsoft.com/office/officeart/2011/layout/CircleProcess"/>
    <dgm:cxn modelId="{BEFC4137-11C2-46B3-A7BB-F158B9156571}" type="presParOf" srcId="{EA46A26D-FC15-4FBA-AD8D-B2C03D9EC9F4}" destId="{43E09396-D415-4C1D-8646-ED9BDE6564B3}" srcOrd="8" destOrd="0" presId="urn:microsoft.com/office/officeart/2011/layout/CircleProcess"/>
    <dgm:cxn modelId="{B0E94C97-C304-463D-A7BC-BB25F2373CA3}" type="presParOf" srcId="{EA46A26D-FC15-4FBA-AD8D-B2C03D9EC9F4}" destId="{1F597770-BCF3-400A-8F1B-F352A56C3964}" srcOrd="9" destOrd="0" presId="urn:microsoft.com/office/officeart/2011/layout/CircleProcess"/>
    <dgm:cxn modelId="{32890799-9D90-44C9-9B3B-B422D8C853F2}" type="presParOf" srcId="{1F597770-BCF3-400A-8F1B-F352A56C3964}" destId="{F3345FD4-D68E-4CC4-8A5E-DB56D2182E02}" srcOrd="0" destOrd="0" presId="urn:microsoft.com/office/officeart/2011/layout/CircleProcess"/>
    <dgm:cxn modelId="{99B48C6B-1838-4750-85EF-CF93D586AF03}" type="presParOf" srcId="{EA46A26D-FC15-4FBA-AD8D-B2C03D9EC9F4}" destId="{B85AFE10-4879-4EA2-A6CE-4AEE0BE79A46}" srcOrd="10" destOrd="0" presId="urn:microsoft.com/office/officeart/2011/layout/CircleProcess"/>
    <dgm:cxn modelId="{925FD409-1FA0-46AB-A528-991169A56BBF}" type="presParOf" srcId="{B85AFE10-4879-4EA2-A6CE-4AEE0BE79A46}" destId="{39E53DC8-941D-4DDE-AAD9-FCAFD3EC4023}" srcOrd="0" destOrd="0" presId="urn:microsoft.com/office/officeart/2011/layout/CircleProcess"/>
    <dgm:cxn modelId="{04677058-F6AE-4E66-82CC-2B8B28DA75ED}" type="presParOf" srcId="{EA46A26D-FC15-4FBA-AD8D-B2C03D9EC9F4}" destId="{1F3219CD-F50B-4754-8F7D-0EDB92C55F23}" srcOrd="11" destOrd="0" presId="urn:microsoft.com/office/officeart/2011/layout/CircleProcess"/>
    <dgm:cxn modelId="{4ED53A24-1B01-4A72-B9E4-D76963A6590C}" type="presParOf" srcId="{EA46A26D-FC15-4FBA-AD8D-B2C03D9EC9F4}" destId="{FCA03842-9E67-4199-A565-26AADC44A5ED}" srcOrd="12" destOrd="0" presId="urn:microsoft.com/office/officeart/2011/layout/CircleProcess"/>
    <dgm:cxn modelId="{1CEE687B-2A2F-45A1-96A8-C0CBE11C5CB6}" type="presParOf" srcId="{FCA03842-9E67-4199-A565-26AADC44A5ED}" destId="{89DFBE28-7300-41D6-AB92-AC502E6D90FC}" srcOrd="0" destOrd="0" presId="urn:microsoft.com/office/officeart/2011/layout/CircleProcess"/>
    <dgm:cxn modelId="{9CEE7D86-D9FF-4FCD-A06B-EAB148D3461E}" type="presParOf" srcId="{EA46A26D-FC15-4FBA-AD8D-B2C03D9EC9F4}" destId="{F7CC27F8-2EE0-4532-9BCE-86986465764E}" srcOrd="13" destOrd="0" presId="urn:microsoft.com/office/officeart/2011/layout/CircleProcess"/>
    <dgm:cxn modelId="{E9076B69-AF3D-439F-ABE7-2AA37DEC0F1A}" type="presParOf" srcId="{F7CC27F8-2EE0-4532-9BCE-86986465764E}" destId="{776D4B27-0EF4-4AD6-A9B5-748DCDFB24D0}" srcOrd="0" destOrd="0" presId="urn:microsoft.com/office/officeart/2011/layout/CircleProcess"/>
    <dgm:cxn modelId="{7E751E4F-3700-4A63-BA8B-94CFC8B3878C}" type="presParOf" srcId="{EA46A26D-FC15-4FBA-AD8D-B2C03D9EC9F4}" destId="{E45A6CF2-9276-4B3D-BAA0-379B52AAB91D}" srcOrd="14" destOrd="0" presId="urn:microsoft.com/office/officeart/2011/layout/CircleProcess"/>
    <dgm:cxn modelId="{D0570CAA-60EA-4F04-A9C7-2C479F87F7B7}" type="presParOf" srcId="{EA46A26D-FC15-4FBA-AD8D-B2C03D9EC9F4}" destId="{84E45637-F4F6-4BEA-8D04-9DB0837747EE}" srcOrd="15" destOrd="0" presId="urn:microsoft.com/office/officeart/2011/layout/CircleProcess"/>
    <dgm:cxn modelId="{FE2C659F-0CE1-47D9-BECC-3B08ACF639BB}" type="presParOf" srcId="{84E45637-F4F6-4BEA-8D04-9DB0837747EE}" destId="{5A182BD6-932E-4A6A-A774-6DAEB079B70F}" srcOrd="0" destOrd="0" presId="urn:microsoft.com/office/officeart/2011/layout/CircleProcess"/>
    <dgm:cxn modelId="{7601C8A7-578F-4EF6-ABF1-2B94753A2037}" type="presParOf" srcId="{EA46A26D-FC15-4FBA-AD8D-B2C03D9EC9F4}" destId="{68F1AD57-99A8-4DED-9A92-8F8F21DBE104}" srcOrd="16" destOrd="0" presId="urn:microsoft.com/office/officeart/2011/layout/CircleProcess"/>
    <dgm:cxn modelId="{0848A2C4-B94E-484F-85CF-84CD4F183C2D}" type="presParOf" srcId="{68F1AD57-99A8-4DED-9A92-8F8F21DBE104}" destId="{22BAC551-0C08-45D2-9FCA-06BA1703163F}" srcOrd="0" destOrd="0" presId="urn:microsoft.com/office/officeart/2011/layout/CircleProcess"/>
    <dgm:cxn modelId="{E7D65495-4CDD-4E16-A1C7-DB3BDE0F2FFA}" type="presParOf" srcId="{EA46A26D-FC15-4FBA-AD8D-B2C03D9EC9F4}" destId="{717D1FF3-F88B-4432-AD35-88675A8D81D6}" srcOrd="17"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11025080" y="710532"/>
          <a:ext cx="1882890" cy="1882532"/>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11088481" y="773295"/>
          <a:ext cx="1757284" cy="1757008"/>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solidFill>
                <a:schemeClr val="bg1"/>
              </a:solidFill>
              <a:latin typeface="+mn-lt"/>
            </a:rPr>
            <a:t>Disposing Assets (Optional)</a:t>
          </a:r>
        </a:p>
      </dsp:txBody>
      <dsp:txXfrm>
        <a:off x="11339692" y="1024343"/>
        <a:ext cx="1254861" cy="1254911"/>
      </dsp:txXfrm>
    </dsp:sp>
    <dsp:sp modelId="{F5BF9BC4-6BAB-4577-A90C-A74021483097}">
      <dsp:nvSpPr>
        <dsp:cNvPr id="0" name=""/>
        <dsp:cNvSpPr/>
      </dsp:nvSpPr>
      <dsp:spPr>
        <a:xfrm rot="2700000">
          <a:off x="9080117" y="710321"/>
          <a:ext cx="1882625" cy="1882625"/>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9143386" y="773295"/>
          <a:ext cx="1757284" cy="1757008"/>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latin typeface="+mn-lt"/>
            </a:rPr>
            <a:t>Depreciating Assets (Needed)</a:t>
          </a:r>
        </a:p>
      </dsp:txBody>
      <dsp:txXfrm>
        <a:off x="9394597" y="1024343"/>
        <a:ext cx="1254861" cy="1254911"/>
      </dsp:txXfrm>
    </dsp:sp>
    <dsp:sp modelId="{912B6635-5F98-4686-858B-65F2692317D9}">
      <dsp:nvSpPr>
        <dsp:cNvPr id="0" name=""/>
        <dsp:cNvSpPr/>
      </dsp:nvSpPr>
      <dsp:spPr>
        <a:xfrm rot="2700000">
          <a:off x="7135022" y="710321"/>
          <a:ext cx="1882625" cy="1882625"/>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7198290" y="773295"/>
          <a:ext cx="1757284" cy="1757008"/>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b="0" kern="1200" dirty="0">
              <a:solidFill>
                <a:schemeClr val="bg1"/>
              </a:solidFill>
            </a:rPr>
            <a:t>Transferring</a:t>
          </a:r>
          <a:r>
            <a:rPr lang="en-US" sz="1800" b="1" kern="1200" dirty="0">
              <a:solidFill>
                <a:schemeClr val="bg1"/>
              </a:solidFill>
            </a:rPr>
            <a:t> </a:t>
          </a:r>
          <a:r>
            <a:rPr lang="en-US" sz="1800" b="0" kern="1200" dirty="0">
              <a:solidFill>
                <a:schemeClr val="bg1"/>
              </a:solidFill>
            </a:rPr>
            <a:t>Assets (Optional)</a:t>
          </a:r>
          <a:endParaRPr lang="en-US" sz="1800" b="0" kern="1200" dirty="0">
            <a:solidFill>
              <a:schemeClr val="bg1"/>
            </a:solidFill>
            <a:latin typeface="+mn-lt"/>
          </a:endParaRPr>
        </a:p>
      </dsp:txBody>
      <dsp:txXfrm>
        <a:off x="7449502" y="1024343"/>
        <a:ext cx="1254861" cy="1254911"/>
      </dsp:txXfrm>
    </dsp:sp>
    <dsp:sp modelId="{F3345FD4-D68E-4CC4-8A5E-DB56D2182E02}">
      <dsp:nvSpPr>
        <dsp:cNvPr id="0" name=""/>
        <dsp:cNvSpPr/>
      </dsp:nvSpPr>
      <dsp:spPr>
        <a:xfrm rot="2700000">
          <a:off x="5189927" y="710321"/>
          <a:ext cx="1882625" cy="1882625"/>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5253195" y="773295"/>
          <a:ext cx="1757284" cy="1757008"/>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solidFill>
                <a:schemeClr val="bg1"/>
              </a:solidFill>
              <a:latin typeface="+mn-lt"/>
            </a:rPr>
            <a:t>Adjusting Assets (Optional)</a:t>
          </a:r>
        </a:p>
      </dsp:txBody>
      <dsp:txXfrm>
        <a:off x="5503211" y="1024343"/>
        <a:ext cx="1254861" cy="1254911"/>
      </dsp:txXfrm>
    </dsp:sp>
    <dsp:sp modelId="{89DFBE28-7300-41D6-AB92-AC502E6D90FC}">
      <dsp:nvSpPr>
        <dsp:cNvPr id="0" name=""/>
        <dsp:cNvSpPr/>
      </dsp:nvSpPr>
      <dsp:spPr>
        <a:xfrm rot="2700000">
          <a:off x="3244832" y="710321"/>
          <a:ext cx="1882625" cy="1882625"/>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3308100" y="773295"/>
          <a:ext cx="1757284" cy="1757008"/>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latin typeface="+mn-lt"/>
            </a:rPr>
            <a:t>Registering Assets (Needed)</a:t>
          </a:r>
        </a:p>
      </dsp:txBody>
      <dsp:txXfrm>
        <a:off x="3558115" y="1024343"/>
        <a:ext cx="1254861" cy="1254911"/>
      </dsp:txXfrm>
    </dsp:sp>
    <dsp:sp modelId="{5A182BD6-932E-4A6A-A774-6DAEB079B70F}">
      <dsp:nvSpPr>
        <dsp:cNvPr id="0" name=""/>
        <dsp:cNvSpPr/>
      </dsp:nvSpPr>
      <dsp:spPr>
        <a:xfrm rot="2700000">
          <a:off x="1299737" y="710321"/>
          <a:ext cx="1882625" cy="1882625"/>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1361809" y="773295"/>
          <a:ext cx="1757284" cy="1757008"/>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latin typeface="+mn-lt"/>
            </a:rPr>
            <a:t>Procuring Assets (Needed)</a:t>
          </a:r>
        </a:p>
      </dsp:txBody>
      <dsp:txXfrm>
        <a:off x="1613020" y="1024343"/>
        <a:ext cx="1254861" cy="12549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3915259" y="220701"/>
          <a:ext cx="584851" cy="58474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3934952" y="240196"/>
          <a:ext cx="545837" cy="545751"/>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a:solidFill>
                <a:schemeClr val="bg1"/>
              </a:solidFill>
              <a:latin typeface="+mn-lt"/>
            </a:rPr>
            <a:t>Disposing Assets (Optional)</a:t>
          </a:r>
        </a:p>
      </dsp:txBody>
      <dsp:txXfrm>
        <a:off x="4012982" y="318175"/>
        <a:ext cx="389777" cy="389792"/>
      </dsp:txXfrm>
    </dsp:sp>
    <dsp:sp modelId="{F5BF9BC4-6BAB-4577-A90C-A74021483097}">
      <dsp:nvSpPr>
        <dsp:cNvPr id="0" name=""/>
        <dsp:cNvSpPr/>
      </dsp:nvSpPr>
      <dsp:spPr>
        <a:xfrm rot="2700000">
          <a:off x="3311126" y="220635"/>
          <a:ext cx="584769" cy="584769"/>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330778" y="240196"/>
          <a:ext cx="545837" cy="545751"/>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a:latin typeface="+mn-lt"/>
            </a:rPr>
            <a:t>Depreciating Assets (Needed)</a:t>
          </a:r>
        </a:p>
      </dsp:txBody>
      <dsp:txXfrm>
        <a:off x="3408808" y="318175"/>
        <a:ext cx="389777" cy="389792"/>
      </dsp:txXfrm>
    </dsp:sp>
    <dsp:sp modelId="{912B6635-5F98-4686-858B-65F2692317D9}">
      <dsp:nvSpPr>
        <dsp:cNvPr id="0" name=""/>
        <dsp:cNvSpPr/>
      </dsp:nvSpPr>
      <dsp:spPr>
        <a:xfrm rot="2700000">
          <a:off x="2706953" y="220635"/>
          <a:ext cx="584769" cy="584769"/>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26605" y="240196"/>
          <a:ext cx="545837" cy="545751"/>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b="1" kern="1200" dirty="0">
              <a:solidFill>
                <a:schemeClr val="bg1"/>
              </a:solidFill>
            </a:rPr>
            <a:t>Transferring Assets (Optional)</a:t>
          </a:r>
          <a:endParaRPr lang="en-US" sz="500" kern="1200" dirty="0">
            <a:solidFill>
              <a:schemeClr val="bg1"/>
            </a:solidFill>
            <a:latin typeface="+mn-lt"/>
          </a:endParaRPr>
        </a:p>
      </dsp:txBody>
      <dsp:txXfrm>
        <a:off x="2804634" y="318175"/>
        <a:ext cx="389777" cy="389792"/>
      </dsp:txXfrm>
    </dsp:sp>
    <dsp:sp modelId="{F3345FD4-D68E-4CC4-8A5E-DB56D2182E02}">
      <dsp:nvSpPr>
        <dsp:cNvPr id="0" name=""/>
        <dsp:cNvSpPr/>
      </dsp:nvSpPr>
      <dsp:spPr>
        <a:xfrm rot="2700000">
          <a:off x="2102779" y="220635"/>
          <a:ext cx="584769" cy="584769"/>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122431" y="240196"/>
          <a:ext cx="545837" cy="545751"/>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a:solidFill>
                <a:schemeClr val="bg1"/>
              </a:solidFill>
              <a:latin typeface="+mn-lt"/>
            </a:rPr>
            <a:t>Adjusting Assets (Optional)</a:t>
          </a:r>
        </a:p>
      </dsp:txBody>
      <dsp:txXfrm>
        <a:off x="2200089" y="318175"/>
        <a:ext cx="389777" cy="389792"/>
      </dsp:txXfrm>
    </dsp:sp>
    <dsp:sp modelId="{89DFBE28-7300-41D6-AB92-AC502E6D90FC}">
      <dsp:nvSpPr>
        <dsp:cNvPr id="0" name=""/>
        <dsp:cNvSpPr/>
      </dsp:nvSpPr>
      <dsp:spPr>
        <a:xfrm rot="2700000">
          <a:off x="1498605" y="220635"/>
          <a:ext cx="584769" cy="584769"/>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518257" y="240196"/>
          <a:ext cx="545837" cy="545751"/>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a:latin typeface="+mn-lt"/>
            </a:rPr>
            <a:t>Registering Assets (Needed)</a:t>
          </a:r>
        </a:p>
      </dsp:txBody>
      <dsp:txXfrm>
        <a:off x="1595916" y="318175"/>
        <a:ext cx="389777" cy="389792"/>
      </dsp:txXfrm>
    </dsp:sp>
    <dsp:sp modelId="{5A182BD6-932E-4A6A-A774-6DAEB079B70F}">
      <dsp:nvSpPr>
        <dsp:cNvPr id="0" name=""/>
        <dsp:cNvSpPr/>
      </dsp:nvSpPr>
      <dsp:spPr>
        <a:xfrm rot="2700000">
          <a:off x="894432" y="220635"/>
          <a:ext cx="584769" cy="584769"/>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913712" y="240196"/>
          <a:ext cx="545837" cy="545751"/>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6350" tIns="6350" rIns="6350" bIns="6350" numCol="1" spcCol="1270" anchor="ctr" anchorCtr="0">
          <a:noAutofit/>
        </a:bodyPr>
        <a:lstStyle/>
        <a:p>
          <a:pPr lvl="0" algn="ctr" defTabSz="222250">
            <a:lnSpc>
              <a:spcPct val="90000"/>
            </a:lnSpc>
            <a:spcBef>
              <a:spcPct val="0"/>
            </a:spcBef>
            <a:spcAft>
              <a:spcPct val="35000"/>
            </a:spcAft>
          </a:pPr>
          <a:r>
            <a:rPr lang="en-US" sz="500" kern="1200" dirty="0">
              <a:latin typeface="+mn-lt"/>
            </a:rPr>
            <a:t>Procuring Assets (Needed)</a:t>
          </a:r>
        </a:p>
      </dsp:txBody>
      <dsp:txXfrm>
        <a:off x="991742" y="318175"/>
        <a:ext cx="389777" cy="38979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5FC8B8-B9B5-4BD1-B390-F369E1E7CFA8}">
      <dsp:nvSpPr>
        <dsp:cNvPr id="0" name=""/>
        <dsp:cNvSpPr/>
      </dsp:nvSpPr>
      <dsp:spPr>
        <a:xfrm>
          <a:off x="4116124" y="255373"/>
          <a:ext cx="676732" cy="6766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A43D44A-933F-4093-99E3-11ADA91DA87B}">
      <dsp:nvSpPr>
        <dsp:cNvPr id="0" name=""/>
        <dsp:cNvSpPr/>
      </dsp:nvSpPr>
      <dsp:spPr>
        <a:xfrm>
          <a:off x="413891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Disposing Assets (Optional)</a:t>
          </a:r>
        </a:p>
      </dsp:txBody>
      <dsp:txXfrm>
        <a:off x="4229199" y="368160"/>
        <a:ext cx="451011" cy="451029"/>
      </dsp:txXfrm>
    </dsp:sp>
    <dsp:sp modelId="{F5BF9BC4-6BAB-4577-A90C-A74021483097}">
      <dsp:nvSpPr>
        <dsp:cNvPr id="0" name=""/>
        <dsp:cNvSpPr/>
      </dsp:nvSpPr>
      <dsp:spPr>
        <a:xfrm rot="2700000">
          <a:off x="3417082" y="255297"/>
          <a:ext cx="676637" cy="676637"/>
        </a:xfrm>
        <a:prstGeom prst="teardrop">
          <a:avLst>
            <a:gd name="adj" fmla="val 10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BCF17FA-19B1-4BE6-9799-112FC038D689}">
      <dsp:nvSpPr>
        <dsp:cNvPr id="0" name=""/>
        <dsp:cNvSpPr/>
      </dsp:nvSpPr>
      <dsp:spPr>
        <a:xfrm>
          <a:off x="3439821"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Depreciating Assets (Needed)</a:t>
          </a:r>
        </a:p>
      </dsp:txBody>
      <dsp:txXfrm>
        <a:off x="3530109" y="368160"/>
        <a:ext cx="451011" cy="451029"/>
      </dsp:txXfrm>
    </dsp:sp>
    <dsp:sp modelId="{912B6635-5F98-4686-858B-65F2692317D9}">
      <dsp:nvSpPr>
        <dsp:cNvPr id="0" name=""/>
        <dsp:cNvSpPr/>
      </dsp:nvSpPr>
      <dsp:spPr>
        <a:xfrm rot="2700000">
          <a:off x="271799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C42AEE01-8096-42F3-A396-A4FC48EADBB4}">
      <dsp:nvSpPr>
        <dsp:cNvPr id="0" name=""/>
        <dsp:cNvSpPr/>
      </dsp:nvSpPr>
      <dsp:spPr>
        <a:xfrm>
          <a:off x="2740731" y="277931"/>
          <a:ext cx="631588" cy="631489"/>
        </a:xfrm>
        <a:prstGeom prst="ellipse">
          <a:avLst/>
        </a:prstGeom>
        <a:solidFill>
          <a:schemeClr val="accent2">
            <a:lumMod val="75000"/>
            <a:alpha val="89804"/>
          </a:schemeClr>
        </a:solidFill>
        <a:ln w="254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b="1" kern="1200" dirty="0">
              <a:solidFill>
                <a:schemeClr val="bg1"/>
              </a:solidFill>
            </a:rPr>
            <a:t>Transferring Assets (Optional)</a:t>
          </a:r>
          <a:endParaRPr lang="en-US" sz="600" kern="1200" dirty="0">
            <a:solidFill>
              <a:schemeClr val="bg1"/>
            </a:solidFill>
            <a:latin typeface="+mn-lt"/>
          </a:endParaRPr>
        </a:p>
      </dsp:txBody>
      <dsp:txXfrm>
        <a:off x="2831019" y="368160"/>
        <a:ext cx="451011" cy="451029"/>
      </dsp:txXfrm>
    </dsp:sp>
    <dsp:sp modelId="{F3345FD4-D68E-4CC4-8A5E-DB56D2182E02}">
      <dsp:nvSpPr>
        <dsp:cNvPr id="0" name=""/>
        <dsp:cNvSpPr/>
      </dsp:nvSpPr>
      <dsp:spPr>
        <a:xfrm rot="2700000">
          <a:off x="201890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39E53DC8-941D-4DDE-AAD9-FCAFD3EC4023}">
      <dsp:nvSpPr>
        <dsp:cNvPr id="0" name=""/>
        <dsp:cNvSpPr/>
      </dsp:nvSpPr>
      <dsp:spPr>
        <a:xfrm>
          <a:off x="2041641" y="277931"/>
          <a:ext cx="631588" cy="631489"/>
        </a:xfrm>
        <a:prstGeom prst="ellipse">
          <a:avLst/>
        </a:prstGeom>
        <a:solidFill>
          <a:srgbClr val="FF0000"/>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solidFill>
                <a:schemeClr val="bg1"/>
              </a:solidFill>
              <a:latin typeface="+mn-lt"/>
            </a:rPr>
            <a:t>Adjusting Assets (Optional)</a:t>
          </a:r>
        </a:p>
      </dsp:txBody>
      <dsp:txXfrm>
        <a:off x="2131500" y="368160"/>
        <a:ext cx="451011" cy="451029"/>
      </dsp:txXfrm>
    </dsp:sp>
    <dsp:sp modelId="{89DFBE28-7300-41D6-AB92-AC502E6D90FC}">
      <dsp:nvSpPr>
        <dsp:cNvPr id="0" name=""/>
        <dsp:cNvSpPr/>
      </dsp:nvSpPr>
      <dsp:spPr>
        <a:xfrm rot="2700000">
          <a:off x="1319812" y="255297"/>
          <a:ext cx="676637" cy="676637"/>
        </a:xfrm>
        <a:prstGeom prst="teardrop">
          <a:avLst>
            <a:gd name="adj" fmla="val 100000"/>
          </a:avLst>
        </a:prstGeom>
        <a:noFill/>
        <a:ln w="28575"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776D4B27-0EF4-4AD6-A9B5-748DCDFB24D0}">
      <dsp:nvSpPr>
        <dsp:cNvPr id="0" name=""/>
        <dsp:cNvSpPr/>
      </dsp:nvSpPr>
      <dsp:spPr>
        <a:xfrm>
          <a:off x="1342551" y="277931"/>
          <a:ext cx="631588" cy="631489"/>
        </a:xfrm>
        <a:prstGeom prst="ellipse">
          <a:avLst/>
        </a:prstGeom>
        <a:solidFill>
          <a:srgbClr val="F4DCDC">
            <a:alpha val="89804"/>
          </a:srgbClr>
        </a:solidFill>
        <a:ln w="12700" cap="flat" cmpd="sng" algn="ctr">
          <a:solidFill>
            <a:srgbClr val="002D73"/>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Registering Assets (Needed)</a:t>
          </a:r>
        </a:p>
      </dsp:txBody>
      <dsp:txXfrm>
        <a:off x="1432410" y="368160"/>
        <a:ext cx="451011" cy="451029"/>
      </dsp:txXfrm>
    </dsp:sp>
    <dsp:sp modelId="{5A182BD6-932E-4A6A-A774-6DAEB079B70F}">
      <dsp:nvSpPr>
        <dsp:cNvPr id="0" name=""/>
        <dsp:cNvSpPr/>
      </dsp:nvSpPr>
      <dsp:spPr>
        <a:xfrm rot="2700000">
          <a:off x="620722" y="255297"/>
          <a:ext cx="676637" cy="676637"/>
        </a:xfrm>
        <a:prstGeom prst="teardrop">
          <a:avLst>
            <a:gd name="adj" fmla="val 100000"/>
          </a:avLst>
        </a:prstGeom>
        <a:noFill/>
        <a:ln w="25400" cap="flat" cmpd="sng" algn="ctr">
          <a:solidFill>
            <a:schemeClr val="tx1"/>
          </a:solidFill>
          <a:prstDash val="solid"/>
        </a:ln>
        <a:effectLst/>
      </dsp:spPr>
      <dsp:style>
        <a:lnRef idx="2">
          <a:scrgbClr r="0" g="0" b="0"/>
        </a:lnRef>
        <a:fillRef idx="1">
          <a:scrgbClr r="0" g="0" b="0"/>
        </a:fillRef>
        <a:effectRef idx="0">
          <a:scrgbClr r="0" g="0" b="0"/>
        </a:effectRef>
        <a:fontRef idx="minor">
          <a:schemeClr val="lt1"/>
        </a:fontRef>
      </dsp:style>
    </dsp:sp>
    <dsp:sp modelId="{22BAC551-0C08-45D2-9FCA-06BA1703163F}">
      <dsp:nvSpPr>
        <dsp:cNvPr id="0" name=""/>
        <dsp:cNvSpPr/>
      </dsp:nvSpPr>
      <dsp:spPr>
        <a:xfrm>
          <a:off x="643032" y="277931"/>
          <a:ext cx="631588" cy="631489"/>
        </a:xfrm>
        <a:prstGeom prst="ellipse">
          <a:avLst/>
        </a:prstGeom>
        <a:solidFill>
          <a:schemeClr val="bg1">
            <a:lumMod val="85000"/>
            <a:alpha val="89804"/>
          </a:schemeClr>
        </a:solidFill>
        <a:ln w="12700" cap="flat" cmpd="sng" algn="ctr">
          <a:solidFill>
            <a:schemeClr val="tx1"/>
          </a:solidFill>
          <a:prstDash val="solid"/>
        </a:ln>
        <a:effectLst/>
      </dsp:spPr>
      <dsp:style>
        <a:lnRef idx="2">
          <a:scrgbClr r="0" g="0" b="0"/>
        </a:lnRef>
        <a:fillRef idx="1">
          <a:scrgbClr r="0" g="0" b="0"/>
        </a:fillRef>
        <a:effectRef idx="0">
          <a:scrgbClr r="0" g="0" b="0"/>
        </a:effectRef>
        <a:fontRef idx="minor"/>
      </dsp:style>
      <dsp:txBody>
        <a:bodyPr spcFirstLastPara="0" vert="horz" wrap="square" lIns="7620" tIns="7620" rIns="7620" bIns="7620" numCol="1" spcCol="1270" anchor="ctr" anchorCtr="0">
          <a:noAutofit/>
        </a:bodyPr>
        <a:lstStyle/>
        <a:p>
          <a:pPr lvl="0" algn="ctr" defTabSz="266700">
            <a:lnSpc>
              <a:spcPct val="90000"/>
            </a:lnSpc>
            <a:spcBef>
              <a:spcPct val="0"/>
            </a:spcBef>
            <a:spcAft>
              <a:spcPct val="35000"/>
            </a:spcAft>
          </a:pPr>
          <a:r>
            <a:rPr lang="en-US" sz="600" kern="1200" dirty="0">
              <a:latin typeface="+mn-lt"/>
            </a:rPr>
            <a:t>Procuring Assets (Needed)</a:t>
          </a:r>
        </a:p>
      </dsp:txBody>
      <dsp:txXfrm>
        <a:off x="733320" y="368160"/>
        <a:ext cx="451011" cy="451029"/>
      </dsp:txXfrm>
    </dsp:sp>
  </dsp:spTree>
</dsp:drawing>
</file>

<file path=ppt/diagrams/layout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11.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D7512A5-D75E-436D-B1FF-297B34875023}"/>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r>
              <a:rPr lang="en-US" dirty="0"/>
              <a:t>&lt;&lt;Update Course Name Here&gt;&gt;</a:t>
            </a:r>
          </a:p>
        </p:txBody>
      </p:sp>
      <p:sp>
        <p:nvSpPr>
          <p:cNvPr id="3" name="Date Placeholder 2">
            <a:extLst>
              <a:ext uri="{FF2B5EF4-FFF2-40B4-BE49-F238E27FC236}">
                <a16:creationId xmlns:a16="http://schemas.microsoft.com/office/drawing/2014/main" id="{5507D725-BCB9-44CB-B082-4FB2B733CF4C}"/>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EA305516-AE53-4B78-8FA1-916780FD8C2B}" type="datetime1">
              <a:rPr lang="en-US" smtClean="0"/>
              <a:t>6/24/2021</a:t>
            </a:fld>
            <a:endParaRPr lang="en-US" dirty="0"/>
          </a:p>
        </p:txBody>
      </p:sp>
      <p:sp>
        <p:nvSpPr>
          <p:cNvPr id="4" name="Footer Placeholder 3">
            <a:extLst>
              <a:ext uri="{FF2B5EF4-FFF2-40B4-BE49-F238E27FC236}">
                <a16:creationId xmlns:a16="http://schemas.microsoft.com/office/drawing/2014/main" id="{575E9965-3747-439D-B972-875C38AFD364}"/>
              </a:ext>
            </a:extLst>
          </p:cNvPr>
          <p:cNvSpPr>
            <a:spLocks noGrp="1"/>
          </p:cNvSpPr>
          <p:nvPr>
            <p:ph type="ftr" sz="quarter" idx="2"/>
          </p:nvPr>
        </p:nvSpPr>
        <p:spPr>
          <a:xfrm>
            <a:off x="0" y="8829675"/>
            <a:ext cx="3657600" cy="466725"/>
          </a:xfrm>
          <a:prstGeom prst="rect">
            <a:avLst/>
          </a:prstGeom>
        </p:spPr>
        <p:txBody>
          <a:bodyPr vert="horz" lIns="91440" tIns="45720" rIns="91440" bIns="45720" rtlCol="0" anchor="b"/>
          <a:lstStyle>
            <a:lvl1pPr algn="l">
              <a:defRPr sz="1200"/>
            </a:lvl1pPr>
          </a:lstStyle>
          <a:p>
            <a:r>
              <a:rPr lang="en-US" dirty="0"/>
              <a:t>© 2019 New York State Home and Community Renewal</a:t>
            </a:r>
            <a:br>
              <a:rPr lang="en-US" dirty="0"/>
            </a:br>
            <a:r>
              <a:rPr lang="en-US" dirty="0"/>
              <a:t>All Contents Proprietary and Confidential </a:t>
            </a:r>
          </a:p>
        </p:txBody>
      </p:sp>
      <p:sp>
        <p:nvSpPr>
          <p:cNvPr id="5" name="Slide Number Placeholder 4">
            <a:extLst>
              <a:ext uri="{FF2B5EF4-FFF2-40B4-BE49-F238E27FC236}">
                <a16:creationId xmlns:a16="http://schemas.microsoft.com/office/drawing/2014/main" id="{5498393C-1F24-4B2E-8790-8C2E31FDB71D}"/>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5F63ADAC-EBB8-40C6-AB49-16109D0791BA}" type="slidenum">
              <a:rPr lang="en-US" smtClean="0"/>
              <a:t>‹#›</a:t>
            </a:fld>
            <a:endParaRPr lang="en-US" dirty="0"/>
          </a:p>
        </p:txBody>
      </p:sp>
    </p:spTree>
    <p:extLst>
      <p:ext uri="{BB962C8B-B14F-4D97-AF65-F5344CB8AC3E}">
        <p14:creationId xmlns:p14="http://schemas.microsoft.com/office/powerpoint/2010/main" val="94978712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r>
              <a:rPr lang="en-US" dirty="0"/>
              <a:t>&lt;&lt;Update Course Name Here&gt;&gt;</a:t>
            </a:r>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F7B264B2-4432-438C-881F-DE47DBA264F0}" type="datetime1">
              <a:rPr lang="en-US" smtClean="0"/>
              <a:t>6/24/2021</a:t>
            </a:fld>
            <a:endParaRPr lang="en-US" dirty="0"/>
          </a:p>
        </p:txBody>
      </p:sp>
      <p:sp>
        <p:nvSpPr>
          <p:cNvPr id="4" name="Slide Image Placeholder 3"/>
          <p:cNvSpPr>
            <a:spLocks noGrp="1" noRot="1" noChangeAspect="1"/>
          </p:cNvSpPr>
          <p:nvPr>
            <p:ph type="sldImg" idx="2"/>
          </p:nvPr>
        </p:nvSpPr>
        <p:spPr>
          <a:xfrm>
            <a:off x="406400" y="696913"/>
            <a:ext cx="6197600" cy="3486150"/>
          </a:xfrm>
          <a:prstGeom prst="rect">
            <a:avLst/>
          </a:prstGeom>
          <a:noFill/>
          <a:ln w="12700">
            <a:solidFill>
              <a:prstClr val="black"/>
            </a:solidFill>
          </a:ln>
        </p:spPr>
        <p:txBody>
          <a:bodyPr vert="horz" lIns="93177" tIns="46589" rIns="93177" bIns="46589" rtlCol="0" anchor="ctr"/>
          <a:lstStyle/>
          <a:p>
            <a:endParaRPr lang="en-US" dirty="0"/>
          </a:p>
        </p:txBody>
      </p:sp>
      <p:sp>
        <p:nvSpPr>
          <p:cNvPr id="6" name="Footer Placeholder 5"/>
          <p:cNvSpPr>
            <a:spLocks noGrp="1"/>
          </p:cNvSpPr>
          <p:nvPr>
            <p:ph type="ftr" sz="quarter" idx="4"/>
          </p:nvPr>
        </p:nvSpPr>
        <p:spPr>
          <a:xfrm>
            <a:off x="0" y="8829967"/>
            <a:ext cx="3706368" cy="464820"/>
          </a:xfrm>
          <a:prstGeom prst="rect">
            <a:avLst/>
          </a:prstGeom>
        </p:spPr>
        <p:txBody>
          <a:bodyPr vert="horz" lIns="93177" tIns="46589" rIns="93177" bIns="46589" rtlCol="0" anchor="b"/>
          <a:lstStyle>
            <a:lvl1pPr algn="l">
              <a:defRPr sz="1200"/>
            </a:lvl1pPr>
          </a:lstStyle>
          <a:p>
            <a:r>
              <a:rPr lang="en-US" dirty="0"/>
              <a:t>© 2019 New York State Home and Community Renewal</a:t>
            </a:r>
            <a:br>
              <a:rPr lang="en-US" dirty="0"/>
            </a:br>
            <a:r>
              <a:rPr lang="en-US" dirty="0"/>
              <a:t>All Contents Proprietary and Confidential </a:t>
            </a:r>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F6DA9C80-B631-4EC4-8253-F63CFD0157DF}" type="slidenum">
              <a:rPr lang="en-US" smtClean="0"/>
              <a:t>‹#›</a:t>
            </a:fld>
            <a:endParaRPr lang="en-US" dirty="0"/>
          </a:p>
        </p:txBody>
      </p:sp>
    </p:spTree>
    <p:extLst>
      <p:ext uri="{BB962C8B-B14F-4D97-AF65-F5344CB8AC3E}">
        <p14:creationId xmlns:p14="http://schemas.microsoft.com/office/powerpoint/2010/main" val="1943357064"/>
      </p:ext>
    </p:extLst>
  </p:cSld>
  <p:clrMap bg1="lt1" tx1="dk1" bg2="lt2" tx2="dk2" accent1="accent1" accent2="accent2" accent3="accent3" accent4="accent4" accent5="accent5" accent6="accent6" hlink="hlink" folHlink="folHlink"/>
  <p:hf/>
  <p:notesStyle>
    <a:lvl1pPr marL="0" algn="l" defTabSz="1358130" rtl="0" eaLnBrk="1" latinLnBrk="0" hangingPunct="1">
      <a:defRPr sz="1783" kern="1200">
        <a:solidFill>
          <a:schemeClr val="tx1"/>
        </a:solidFill>
        <a:latin typeface="+mn-lt"/>
        <a:ea typeface="+mn-ea"/>
        <a:cs typeface="+mn-cs"/>
      </a:defRPr>
    </a:lvl1pPr>
    <a:lvl2pPr marL="679064" algn="l" defTabSz="1358130" rtl="0" eaLnBrk="1" latinLnBrk="0" hangingPunct="1">
      <a:defRPr sz="1783" kern="1200">
        <a:solidFill>
          <a:schemeClr val="tx1"/>
        </a:solidFill>
        <a:latin typeface="+mn-lt"/>
        <a:ea typeface="+mn-ea"/>
        <a:cs typeface="+mn-cs"/>
      </a:defRPr>
    </a:lvl2pPr>
    <a:lvl3pPr marL="1358130" algn="l" defTabSz="1358130" rtl="0" eaLnBrk="1" latinLnBrk="0" hangingPunct="1">
      <a:defRPr sz="1783" kern="1200">
        <a:solidFill>
          <a:schemeClr val="tx1"/>
        </a:solidFill>
        <a:latin typeface="+mn-lt"/>
        <a:ea typeface="+mn-ea"/>
        <a:cs typeface="+mn-cs"/>
      </a:defRPr>
    </a:lvl3pPr>
    <a:lvl4pPr marL="2037191" algn="l" defTabSz="1358130" rtl="0" eaLnBrk="1" latinLnBrk="0" hangingPunct="1">
      <a:defRPr sz="1783" kern="1200">
        <a:solidFill>
          <a:schemeClr val="tx1"/>
        </a:solidFill>
        <a:latin typeface="+mn-lt"/>
        <a:ea typeface="+mn-ea"/>
        <a:cs typeface="+mn-cs"/>
      </a:defRPr>
    </a:lvl4pPr>
    <a:lvl5pPr marL="2716256" algn="l" defTabSz="1358130" rtl="0" eaLnBrk="1" latinLnBrk="0" hangingPunct="1">
      <a:defRPr sz="1783" kern="1200">
        <a:solidFill>
          <a:schemeClr val="tx1"/>
        </a:solidFill>
        <a:latin typeface="+mn-lt"/>
        <a:ea typeface="+mn-ea"/>
        <a:cs typeface="+mn-cs"/>
      </a:defRPr>
    </a:lvl5pPr>
    <a:lvl6pPr marL="3395319" algn="l" defTabSz="1358130" rtl="0" eaLnBrk="1" latinLnBrk="0" hangingPunct="1">
      <a:defRPr sz="1783" kern="1200">
        <a:solidFill>
          <a:schemeClr val="tx1"/>
        </a:solidFill>
        <a:latin typeface="+mn-lt"/>
        <a:ea typeface="+mn-ea"/>
        <a:cs typeface="+mn-cs"/>
      </a:defRPr>
    </a:lvl6pPr>
    <a:lvl7pPr marL="4074384" algn="l" defTabSz="1358130" rtl="0" eaLnBrk="1" latinLnBrk="0" hangingPunct="1">
      <a:defRPr sz="1783" kern="1200">
        <a:solidFill>
          <a:schemeClr val="tx1"/>
        </a:solidFill>
        <a:latin typeface="+mn-lt"/>
        <a:ea typeface="+mn-ea"/>
        <a:cs typeface="+mn-cs"/>
      </a:defRPr>
    </a:lvl7pPr>
    <a:lvl8pPr marL="4753447" algn="l" defTabSz="1358130" rtl="0" eaLnBrk="1" latinLnBrk="0" hangingPunct="1">
      <a:defRPr sz="1783" kern="1200">
        <a:solidFill>
          <a:schemeClr val="tx1"/>
        </a:solidFill>
        <a:latin typeface="+mn-lt"/>
        <a:ea typeface="+mn-ea"/>
        <a:cs typeface="+mn-cs"/>
      </a:defRPr>
    </a:lvl8pPr>
    <a:lvl9pPr marL="5432512" algn="l" defTabSz="1358130" rtl="0" eaLnBrk="1" latinLnBrk="0" hangingPunct="1">
      <a:defRPr sz="178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endParaRPr lang="en-US" dirty="0"/>
          </a:p>
        </p:txBody>
      </p:sp>
      <p:sp>
        <p:nvSpPr>
          <p:cNvPr id="4" name="Header Placeholder 3"/>
          <p:cNvSpPr>
            <a:spLocks noGrp="1"/>
          </p:cNvSpPr>
          <p:nvPr>
            <p:ph type="hdr" sz="quarter" idx="10"/>
          </p:nvPr>
        </p:nvSpPr>
        <p:spPr/>
        <p:txBody>
          <a:bodyPr/>
          <a:lstStyle/>
          <a:p>
            <a:r>
              <a:rPr lang="en-US" dirty="0"/>
              <a:t>&lt;&lt;Update Course Name Here&gt;&gt;</a:t>
            </a:r>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dirty="0"/>
              <a:t>© 2019 New York State Home and Community Renewal</a:t>
            </a:r>
            <a:br>
              <a:rPr lang="en-US" dirty="0"/>
            </a:br>
            <a:r>
              <a:rPr lang="en-US" dirty="0"/>
              <a:t>All Contents Proprietary and Confidential </a:t>
            </a:r>
          </a:p>
        </p:txBody>
      </p:sp>
      <p:sp>
        <p:nvSpPr>
          <p:cNvPr id="7" name="Slide Number Placeholder 6"/>
          <p:cNvSpPr>
            <a:spLocks noGrp="1"/>
          </p:cNvSpPr>
          <p:nvPr>
            <p:ph type="sldNum" sz="quarter" idx="13"/>
          </p:nvPr>
        </p:nvSpPr>
        <p:spPr/>
        <p:txBody>
          <a:bodyPr/>
          <a:lstStyle/>
          <a:p>
            <a:fld id="{F6DA9C80-B631-4EC4-8253-F63CFD0157DF}" type="slidenum">
              <a:rPr lang="en-US" smtClean="0"/>
              <a:t>1</a:t>
            </a:fld>
            <a:endParaRPr lang="en-US" dirty="0"/>
          </a:p>
        </p:txBody>
      </p:sp>
    </p:spTree>
    <p:extLst>
      <p:ext uri="{BB962C8B-B14F-4D97-AF65-F5344CB8AC3E}">
        <p14:creationId xmlns:p14="http://schemas.microsoft.com/office/powerpoint/2010/main" val="26550181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endParaRPr lang="en-US" dirty="0"/>
          </a:p>
        </p:txBody>
      </p:sp>
      <p:sp>
        <p:nvSpPr>
          <p:cNvPr id="4" name="Header Placeholder 3"/>
          <p:cNvSpPr>
            <a:spLocks noGrp="1"/>
          </p:cNvSpPr>
          <p:nvPr>
            <p:ph type="hdr" sz="quarter"/>
          </p:nvPr>
        </p:nvSpPr>
        <p:spPr/>
        <p:txBody>
          <a:bodyPr/>
          <a:lstStyle/>
          <a:p>
            <a:r>
              <a:rPr lang="en-US" dirty="0"/>
              <a:t>&lt;&lt;Update Course Name Here&gt;&gt;</a:t>
            </a:r>
          </a:p>
        </p:txBody>
      </p:sp>
      <p:sp>
        <p:nvSpPr>
          <p:cNvPr id="5" name="Date Placeholder 4"/>
          <p:cNvSpPr>
            <a:spLocks noGrp="1"/>
          </p:cNvSpPr>
          <p:nvPr>
            <p:ph type="dt" idx="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4"/>
          </p:nvPr>
        </p:nvSpPr>
        <p:spPr/>
        <p:txBody>
          <a:bodyPr/>
          <a:lstStyle/>
          <a:p>
            <a:r>
              <a:rPr lang="en-US" dirty="0"/>
              <a:t>© 2019 New York State Home and Community Renewal</a:t>
            </a:r>
            <a:br>
              <a:rPr lang="en-US" dirty="0"/>
            </a:br>
            <a:r>
              <a:rPr lang="en-US" dirty="0"/>
              <a:t>All Contents Proprietary and Confidential </a:t>
            </a:r>
          </a:p>
        </p:txBody>
      </p:sp>
      <p:sp>
        <p:nvSpPr>
          <p:cNvPr id="7" name="Slide Number Placeholder 6"/>
          <p:cNvSpPr>
            <a:spLocks noGrp="1"/>
          </p:cNvSpPr>
          <p:nvPr>
            <p:ph type="sldNum" sz="quarter" idx="5"/>
          </p:nvPr>
        </p:nvSpPr>
        <p:spPr/>
        <p:txBody>
          <a:bodyPr/>
          <a:lstStyle/>
          <a:p>
            <a:fld id="{F6DA9C80-B631-4EC4-8253-F63CFD0157DF}" type="slidenum">
              <a:rPr lang="en-US" smtClean="0"/>
              <a:t>4</a:t>
            </a:fld>
            <a:endParaRPr lang="en-US" dirty="0"/>
          </a:p>
        </p:txBody>
      </p:sp>
    </p:spTree>
    <p:extLst>
      <p:ext uri="{BB962C8B-B14F-4D97-AF65-F5344CB8AC3E}">
        <p14:creationId xmlns:p14="http://schemas.microsoft.com/office/powerpoint/2010/main" val="27348211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5</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435A441-4CB1-449C-851F-9AE846F31409}" type="datetime1">
              <a:rPr lang="en-US" smtClean="0"/>
              <a:t>6/24/2021</a:t>
            </a:fld>
            <a:endParaRPr lang="en-US" dirty="0"/>
          </a:p>
        </p:txBody>
      </p:sp>
    </p:spTree>
    <p:extLst>
      <p:ext uri="{BB962C8B-B14F-4D97-AF65-F5344CB8AC3E}">
        <p14:creationId xmlns:p14="http://schemas.microsoft.com/office/powerpoint/2010/main" val="2959123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6</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6/25/2021</a:t>
            </a:fld>
            <a:endParaRPr lang="en-US" dirty="0"/>
          </a:p>
        </p:txBody>
      </p:sp>
    </p:spTree>
    <p:extLst>
      <p:ext uri="{BB962C8B-B14F-4D97-AF65-F5344CB8AC3E}">
        <p14:creationId xmlns:p14="http://schemas.microsoft.com/office/powerpoint/2010/main" val="574548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7</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B3B14627-A0E7-47AB-B648-5E4CB6D22D07}" type="datetime1">
              <a:rPr lang="en-US" smtClean="0"/>
              <a:t>6/24/2021</a:t>
            </a:fld>
            <a:endParaRPr lang="en-US" dirty="0"/>
          </a:p>
        </p:txBody>
      </p:sp>
    </p:spTree>
    <p:extLst>
      <p:ext uri="{BB962C8B-B14F-4D97-AF65-F5344CB8AC3E}">
        <p14:creationId xmlns:p14="http://schemas.microsoft.com/office/powerpoint/2010/main" val="8892055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endParaRPr lang="en-US" dirty="0"/>
          </a:p>
        </p:txBody>
      </p:sp>
      <p:sp>
        <p:nvSpPr>
          <p:cNvPr id="4" name="Header Placeholder 3"/>
          <p:cNvSpPr>
            <a:spLocks noGrp="1"/>
          </p:cNvSpPr>
          <p:nvPr>
            <p:ph type="hdr" sz="quarter" idx="10"/>
          </p:nvPr>
        </p:nvSpPr>
        <p:spPr/>
        <p:txBody>
          <a:bodyPr/>
          <a:lstStyle/>
          <a:p>
            <a:r>
              <a:rPr lang="en-US" smtClean="0"/>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smtClean="0"/>
              <a:t>© 2019 New York State Home and Community Renewal</a:t>
            </a:r>
            <a:br>
              <a:rPr lang="en-US" smtClean="0"/>
            </a:br>
            <a:r>
              <a:rPr lang="en-US" smtClean="0"/>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8</a:t>
            </a:fld>
            <a:endParaRPr lang="en-US" dirty="0"/>
          </a:p>
        </p:txBody>
      </p:sp>
    </p:spTree>
    <p:extLst>
      <p:ext uri="{BB962C8B-B14F-4D97-AF65-F5344CB8AC3E}">
        <p14:creationId xmlns:p14="http://schemas.microsoft.com/office/powerpoint/2010/main" val="2572366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9</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0B4509C5-2C2D-4E60-AD18-38159318D723}" type="datetime1">
              <a:rPr lang="en-US" smtClean="0"/>
              <a:t>6/24/2021</a:t>
            </a:fld>
            <a:endParaRPr lang="en-US" dirty="0"/>
          </a:p>
        </p:txBody>
      </p:sp>
    </p:spTree>
    <p:extLst>
      <p:ext uri="{BB962C8B-B14F-4D97-AF65-F5344CB8AC3E}">
        <p14:creationId xmlns:p14="http://schemas.microsoft.com/office/powerpoint/2010/main" val="12305260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10</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1E14BA-34DB-4133-B1A9-84A54B22A11C}" type="datetime1">
              <a:rPr lang="en-US" smtClean="0"/>
              <a:t>6/24/2021</a:t>
            </a:fld>
            <a:endParaRPr lang="en-US" dirty="0"/>
          </a:p>
        </p:txBody>
      </p:sp>
    </p:spTree>
    <p:extLst>
      <p:ext uri="{BB962C8B-B14F-4D97-AF65-F5344CB8AC3E}">
        <p14:creationId xmlns:p14="http://schemas.microsoft.com/office/powerpoint/2010/main" val="8928800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75DCC16-8DF8-4CF9-9966-1093D260E8ED}" type="slidenum">
              <a:rPr lang="en-US" altLang="en-US" sz="1200" smtClean="0">
                <a:latin typeface="Times New Roman" panose="02020603050405020304" pitchFamily="18" charset="0"/>
              </a:rPr>
              <a:pPr/>
              <a:t>11</a:t>
            </a:fld>
            <a:endParaRPr lang="en-US" altLang="en-US" sz="1200" dirty="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xfrm>
            <a:off x="406400" y="698500"/>
            <a:ext cx="6197600" cy="3486150"/>
          </a:xfrm>
          <a:ln/>
        </p:spPr>
      </p:sp>
      <p:sp>
        <p:nvSpPr>
          <p:cNvPr id="52228"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FAEE6B7-C486-47CD-A7BA-28752244C023}" type="datetime1">
              <a:rPr lang="en-US" smtClean="0"/>
              <a:t>6/24/2021</a:t>
            </a:fld>
            <a:endParaRPr lang="en-US" dirty="0"/>
          </a:p>
        </p:txBody>
      </p:sp>
    </p:spTree>
    <p:extLst>
      <p:ext uri="{BB962C8B-B14F-4D97-AF65-F5344CB8AC3E}">
        <p14:creationId xmlns:p14="http://schemas.microsoft.com/office/powerpoint/2010/main" val="487398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5EF611E-683B-4438-A8F3-7E471EDA1D77}" type="slidenum">
              <a:rPr lang="en-US" altLang="en-US" sz="1200" smtClean="0">
                <a:latin typeface="Times New Roman" panose="02020603050405020304" pitchFamily="18" charset="0"/>
              </a:rPr>
              <a:pPr/>
              <a:t>12</a:t>
            </a:fld>
            <a:endParaRPr lang="en-US" altLang="en-US" sz="1200" dirty="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412750" y="701675"/>
            <a:ext cx="6189663" cy="3482975"/>
          </a:xfrm>
          <a:ln/>
        </p:spPr>
      </p:sp>
      <p:sp>
        <p:nvSpPr>
          <p:cNvPr id="7475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3EBDEAC-330F-4581-A7CC-2FC1BA466CA1}" type="datetime1">
              <a:rPr lang="en-US" smtClean="0"/>
              <a:t>6/24/2021</a:t>
            </a:fld>
            <a:endParaRPr lang="en-US" dirty="0"/>
          </a:p>
        </p:txBody>
      </p:sp>
    </p:spTree>
    <p:extLst>
      <p:ext uri="{BB962C8B-B14F-4D97-AF65-F5344CB8AC3E}">
        <p14:creationId xmlns:p14="http://schemas.microsoft.com/office/powerpoint/2010/main" val="8988273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13</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63E86371-EE5E-4263-9695-809FA84EBDF1}" type="datetime1">
              <a:rPr lang="en-US" smtClean="0"/>
              <a:t>6/24/2021</a:t>
            </a:fld>
            <a:endParaRPr lang="en-US" dirty="0"/>
          </a:p>
        </p:txBody>
      </p:sp>
    </p:spTree>
    <p:extLst>
      <p:ext uri="{BB962C8B-B14F-4D97-AF65-F5344CB8AC3E}">
        <p14:creationId xmlns:p14="http://schemas.microsoft.com/office/powerpoint/2010/main" val="22051761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35597FC-C02F-4204-9693-7B610A5DCEC0}" type="slidenum">
              <a:rPr lang="en-US" altLang="en-US" sz="1200" smtClean="0">
                <a:latin typeface="Times New Roman" panose="02020603050405020304" pitchFamily="18" charset="0"/>
              </a:rPr>
              <a:pPr/>
              <a:t>14</a:t>
            </a:fld>
            <a:endParaRPr lang="en-US" altLang="en-US" sz="1200" dirty="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406400" y="698500"/>
            <a:ext cx="6197600" cy="3486150"/>
          </a:xfrm>
          <a:ln/>
        </p:spPr>
      </p:sp>
      <p:sp>
        <p:nvSpPr>
          <p:cNvPr id="7885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A91D889-B151-4E1A-B8C2-DB2AAD3663C9}" type="datetime1">
              <a:rPr lang="en-US" smtClean="0"/>
              <a:t>6/24/2021</a:t>
            </a:fld>
            <a:endParaRPr lang="en-US" dirty="0"/>
          </a:p>
        </p:txBody>
      </p:sp>
    </p:spTree>
    <p:extLst>
      <p:ext uri="{BB962C8B-B14F-4D97-AF65-F5344CB8AC3E}">
        <p14:creationId xmlns:p14="http://schemas.microsoft.com/office/powerpoint/2010/main" val="4148663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3C8157A-3C63-49F8-AE98-A825228D3FD1}" type="slidenum">
              <a:rPr lang="en-US" altLang="en-US" sz="1200" smtClean="0">
                <a:latin typeface="Times New Roman" panose="02020603050405020304" pitchFamily="18" charset="0"/>
              </a:rPr>
              <a:pPr/>
              <a:t>15</a:t>
            </a:fld>
            <a:endParaRPr lang="en-US" altLang="en-US" sz="1200" dirty="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406400" y="698500"/>
            <a:ext cx="6197600" cy="3486150"/>
          </a:xfrm>
          <a:ln/>
        </p:spPr>
      </p:sp>
      <p:sp>
        <p:nvSpPr>
          <p:cNvPr id="8499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EBF0A9ED-9BA7-4BE4-8F35-90EFF4F00943}" type="datetime1">
              <a:rPr lang="en-US" smtClean="0"/>
              <a:t>6/24/2021</a:t>
            </a:fld>
            <a:endParaRPr lang="en-US" dirty="0"/>
          </a:p>
        </p:txBody>
      </p:sp>
    </p:spTree>
    <p:extLst>
      <p:ext uri="{BB962C8B-B14F-4D97-AF65-F5344CB8AC3E}">
        <p14:creationId xmlns:p14="http://schemas.microsoft.com/office/powerpoint/2010/main" val="29453265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16</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6/25/2021</a:t>
            </a:fld>
            <a:endParaRPr lang="en-US" dirty="0"/>
          </a:p>
        </p:txBody>
      </p:sp>
    </p:spTree>
    <p:extLst>
      <p:ext uri="{BB962C8B-B14F-4D97-AF65-F5344CB8AC3E}">
        <p14:creationId xmlns:p14="http://schemas.microsoft.com/office/powerpoint/2010/main" val="1653606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17</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D41674F-FD55-4AB3-982E-EC5906E421B6}" type="datetime1">
              <a:rPr lang="en-US" smtClean="0"/>
              <a:t>6/24/2021</a:t>
            </a:fld>
            <a:endParaRPr lang="en-US" dirty="0"/>
          </a:p>
        </p:txBody>
      </p:sp>
    </p:spTree>
    <p:extLst>
      <p:ext uri="{BB962C8B-B14F-4D97-AF65-F5344CB8AC3E}">
        <p14:creationId xmlns:p14="http://schemas.microsoft.com/office/powerpoint/2010/main" val="22381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18</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32923125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20</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smtClean="0"/>
          </a:p>
          <a:p>
            <a:endParaRPr lang="en-US" altLang="en-US" dirty="0" smtClean="0"/>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2094547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21</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b="1" dirty="0" smtClean="0"/>
          </a:p>
          <a:p>
            <a:endParaRPr lang="en-US" altLang="en-US" b="1" dirty="0" smtClean="0"/>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41700270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23</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smtClean="0"/>
          </a:p>
          <a:p>
            <a:endParaRPr lang="en-US" altLang="en-US" dirty="0" smtClean="0"/>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20377111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24</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b="1" dirty="0" smtClean="0"/>
          </a:p>
          <a:p>
            <a:endParaRPr lang="en-US" altLang="en-US" b="1" dirty="0" smtClean="0"/>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783733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25</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1705558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endParaRPr lang="en-US" dirty="0"/>
          </a:p>
        </p:txBody>
      </p:sp>
      <p:sp>
        <p:nvSpPr>
          <p:cNvPr id="4" name="Header Placeholder 3"/>
          <p:cNvSpPr>
            <a:spLocks noGrp="1"/>
          </p:cNvSpPr>
          <p:nvPr>
            <p:ph type="hdr" sz="quarter" idx="10"/>
          </p:nvPr>
        </p:nvSpPr>
        <p:spPr/>
        <p:txBody>
          <a:bodyPr/>
          <a:lstStyle/>
          <a:p>
            <a:r>
              <a:rPr lang="en-US" smtClean="0"/>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smtClean="0"/>
              <a:t>© 2019 New York State Home and Community Renewal</a:t>
            </a:r>
            <a:br>
              <a:rPr lang="en-US" smtClean="0"/>
            </a:br>
            <a:r>
              <a:rPr lang="en-US" smtClean="0"/>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26</a:t>
            </a:fld>
            <a:endParaRPr lang="en-US" dirty="0"/>
          </a:p>
        </p:txBody>
      </p:sp>
    </p:spTree>
    <p:extLst>
      <p:ext uri="{BB962C8B-B14F-4D97-AF65-F5344CB8AC3E}">
        <p14:creationId xmlns:p14="http://schemas.microsoft.com/office/powerpoint/2010/main" val="21682175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27</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smtClean="0"/>
          </a:p>
          <a:p>
            <a:endParaRPr lang="en-US" altLang="en-US" dirty="0" smtClean="0"/>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20748862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28</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b="1" dirty="0" smtClean="0"/>
          </a:p>
          <a:p>
            <a:endParaRPr lang="en-US" altLang="en-US" b="1" dirty="0" smtClean="0"/>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6540499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pPr marL="0" marR="0" lvl="0" indent="0" algn="l" defTabSz="1358130" rtl="0" eaLnBrk="1" fontAlgn="auto" latinLnBrk="0" hangingPunct="1">
              <a:lnSpc>
                <a:spcPct val="100000"/>
              </a:lnSpc>
              <a:spcBef>
                <a:spcPts val="0"/>
              </a:spcBef>
              <a:spcAft>
                <a:spcPts val="0"/>
              </a:spcAft>
              <a:buClrTx/>
              <a:buSzTx/>
              <a:buFontTx/>
              <a:buNone/>
              <a:tabLst/>
              <a:defRPr/>
            </a:pPr>
            <a:r>
              <a:rPr lang="en-US" baseline="0" dirty="0" smtClean="0">
                <a:solidFill>
                  <a:srgbClr val="FF0000"/>
                </a:solidFill>
              </a:rPr>
              <a:t>This chart is incorrect and should be removed. (</a:t>
            </a:r>
            <a:r>
              <a:rPr lang="en-US" baseline="0" dirty="0" err="1" smtClean="0">
                <a:solidFill>
                  <a:srgbClr val="FF0000"/>
                </a:solidFill>
              </a:rPr>
              <a:t>csa</a:t>
            </a:r>
            <a:r>
              <a:rPr lang="en-US" baseline="0" dirty="0" smtClean="0">
                <a:solidFill>
                  <a:srgbClr val="FF0000"/>
                </a:solidFill>
              </a:rPr>
              <a:t>)</a:t>
            </a:r>
          </a:p>
          <a:p>
            <a:pPr marL="0" marR="0" lvl="0" indent="0" algn="l" defTabSz="135813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Header Placeholder 3"/>
          <p:cNvSpPr>
            <a:spLocks noGrp="1"/>
          </p:cNvSpPr>
          <p:nvPr>
            <p:ph type="hdr" sz="quarter" idx="10"/>
          </p:nvPr>
        </p:nvSpPr>
        <p:spPr/>
        <p:txBody>
          <a:bodyPr/>
          <a:lstStyle/>
          <a:p>
            <a:r>
              <a:rPr lang="en-US"/>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a:t>© 2019 New York State Home and Community Renewal</a:t>
            </a:r>
            <a:br>
              <a:rPr lang="en-US"/>
            </a:br>
            <a:r>
              <a:rPr lang="en-US"/>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30</a:t>
            </a:fld>
            <a:endParaRPr lang="en-US" dirty="0"/>
          </a:p>
        </p:txBody>
      </p:sp>
    </p:spTree>
    <p:extLst>
      <p:ext uri="{BB962C8B-B14F-4D97-AF65-F5344CB8AC3E}">
        <p14:creationId xmlns:p14="http://schemas.microsoft.com/office/powerpoint/2010/main" val="15088948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31</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24259669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32</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pPr marL="0" marR="0" lvl="0" indent="0" algn="l" defTabSz="1358130" rtl="0" eaLnBrk="1" fontAlgn="auto" latinLnBrk="0" hangingPunct="1">
              <a:lnSpc>
                <a:spcPct val="100000"/>
              </a:lnSpc>
              <a:spcBef>
                <a:spcPts val="0"/>
              </a:spcBef>
              <a:spcAft>
                <a:spcPts val="0"/>
              </a:spcAft>
              <a:buClrTx/>
              <a:buSzTx/>
              <a:buFontTx/>
              <a:buNone/>
              <a:tabLst/>
              <a:defRPr/>
            </a:pPr>
            <a:r>
              <a:rPr lang="en-US" altLang="en-US" dirty="0" smtClean="0"/>
              <a:t>FAI</a:t>
            </a:r>
            <a:r>
              <a:rPr lang="en-US" altLang="en-US" baseline="0" dirty="0" smtClean="0"/>
              <a:t> has never used the write up functionality as it relates to FMV.  We have adjusted the acquisition cost if an input error was made</a:t>
            </a:r>
            <a:endParaRPr lang="en-US" altLang="en-US" dirty="0" smtClean="0"/>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34444296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33</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pPr marL="0" marR="0" lvl="0" indent="0" algn="l" defTabSz="1358130" rtl="0" eaLnBrk="1" fontAlgn="auto" latinLnBrk="0" hangingPunct="1">
              <a:lnSpc>
                <a:spcPct val="100000"/>
              </a:lnSpc>
              <a:spcBef>
                <a:spcPts val="0"/>
              </a:spcBef>
              <a:spcAft>
                <a:spcPts val="0"/>
              </a:spcAft>
              <a:buClrTx/>
              <a:buSzTx/>
              <a:buFontTx/>
              <a:buNone/>
              <a:tabLst/>
              <a:defRPr/>
            </a:pPr>
            <a:r>
              <a:rPr lang="en-US" altLang="en-US" dirty="0" smtClean="0"/>
              <a:t>FAI</a:t>
            </a:r>
            <a:r>
              <a:rPr lang="en-US" altLang="en-US" baseline="0" dirty="0" smtClean="0"/>
              <a:t> has never used the write up functionality as it relates to FMV.  We have adjusted the acquisition cost if an input error was made</a:t>
            </a:r>
            <a:endParaRPr lang="en-US" altLang="en-US" dirty="0" smtClean="0"/>
          </a:p>
          <a:p>
            <a:endParaRPr lang="en-US" altLang="en-US" b="1" dirty="0" smtClean="0"/>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43573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5EF611E-683B-4438-A8F3-7E471EDA1D77}" type="slidenum">
              <a:rPr lang="en-US" altLang="en-US" sz="1200" smtClean="0">
                <a:latin typeface="Times New Roman" panose="02020603050405020304" pitchFamily="18" charset="0"/>
              </a:rPr>
              <a:pPr/>
              <a:t>34</a:t>
            </a:fld>
            <a:endParaRPr lang="en-US" altLang="en-US" sz="1200" dirty="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412750" y="701675"/>
            <a:ext cx="6189663" cy="3482975"/>
          </a:xfrm>
          <a:ln/>
        </p:spPr>
      </p:sp>
      <p:sp>
        <p:nvSpPr>
          <p:cNvPr id="7475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3EBDEAC-330F-4581-A7CC-2FC1BA466CA1}" type="datetime1">
              <a:rPr lang="en-US" smtClean="0"/>
              <a:t>6/24/2021</a:t>
            </a:fld>
            <a:endParaRPr lang="en-US" dirty="0"/>
          </a:p>
        </p:txBody>
      </p:sp>
    </p:spTree>
    <p:extLst>
      <p:ext uri="{BB962C8B-B14F-4D97-AF65-F5344CB8AC3E}">
        <p14:creationId xmlns:p14="http://schemas.microsoft.com/office/powerpoint/2010/main" val="22785505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35</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63E86371-EE5E-4263-9695-809FA84EBDF1}" type="datetime1">
              <a:rPr lang="en-US" smtClean="0"/>
              <a:t>6/24/2021</a:t>
            </a:fld>
            <a:endParaRPr lang="en-US" dirty="0"/>
          </a:p>
        </p:txBody>
      </p:sp>
    </p:spTree>
    <p:extLst>
      <p:ext uri="{BB962C8B-B14F-4D97-AF65-F5344CB8AC3E}">
        <p14:creationId xmlns:p14="http://schemas.microsoft.com/office/powerpoint/2010/main" val="41749388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35597FC-C02F-4204-9693-7B610A5DCEC0}" type="slidenum">
              <a:rPr lang="en-US" altLang="en-US" sz="1200" smtClean="0">
                <a:latin typeface="Times New Roman" panose="02020603050405020304" pitchFamily="18" charset="0"/>
              </a:rPr>
              <a:pPr/>
              <a:t>36</a:t>
            </a:fld>
            <a:endParaRPr lang="en-US" altLang="en-US" sz="1200" dirty="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406400" y="698500"/>
            <a:ext cx="6197600" cy="3486150"/>
          </a:xfrm>
          <a:ln/>
        </p:spPr>
      </p:sp>
      <p:sp>
        <p:nvSpPr>
          <p:cNvPr id="7885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CEB181A2-5115-4F87-9296-C07C9C7C2BFF}" type="datetime1">
              <a:rPr lang="en-US" smtClean="0"/>
              <a:t>6/24/2021</a:t>
            </a:fld>
            <a:endParaRPr lang="en-US" dirty="0"/>
          </a:p>
        </p:txBody>
      </p:sp>
    </p:spTree>
    <p:extLst>
      <p:ext uri="{BB962C8B-B14F-4D97-AF65-F5344CB8AC3E}">
        <p14:creationId xmlns:p14="http://schemas.microsoft.com/office/powerpoint/2010/main" val="39131846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26988" y="744538"/>
            <a:ext cx="6615112" cy="3722687"/>
          </a:xfrm>
          <a:ln/>
        </p:spPr>
      </p:sp>
      <p:sp>
        <p:nvSpPr>
          <p:cNvPr id="58371" name="Notes Placeholder 2"/>
          <p:cNvSpPr>
            <a:spLocks noGrp="1"/>
          </p:cNvSpPr>
          <p:nvPr>
            <p:ph type="body" idx="1"/>
          </p:nvPr>
        </p:nvSpPr>
        <p:spPr bwMode="auto">
          <a:xfrm>
            <a:off x="225777" y="4715482"/>
            <a:ext cx="6036625" cy="44660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F0DF3A1-BC3D-4C47-81AA-01D16FF97DDF}" type="datetime1">
              <a:rPr lang="en-US" smtClean="0"/>
              <a:t>6/24/2021</a:t>
            </a:fld>
            <a:endParaRPr lang="en-US" dirty="0"/>
          </a:p>
        </p:txBody>
      </p:sp>
    </p:spTree>
    <p:extLst>
      <p:ext uri="{BB962C8B-B14F-4D97-AF65-F5344CB8AC3E}">
        <p14:creationId xmlns:p14="http://schemas.microsoft.com/office/powerpoint/2010/main" val="37489380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3C8157A-3C63-49F8-AE98-A825228D3FD1}" type="slidenum">
              <a:rPr lang="en-US" altLang="en-US" sz="1200" smtClean="0">
                <a:latin typeface="Times New Roman" panose="02020603050405020304" pitchFamily="18" charset="0"/>
              </a:rPr>
              <a:pPr/>
              <a:t>38</a:t>
            </a:fld>
            <a:endParaRPr lang="en-US" altLang="en-US" sz="1200" dirty="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406400" y="698500"/>
            <a:ext cx="6197600" cy="3486150"/>
          </a:xfrm>
          <a:ln/>
        </p:spPr>
      </p:sp>
      <p:sp>
        <p:nvSpPr>
          <p:cNvPr id="8499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0027F9C4-B32B-4CDF-80D3-5B7920E72A05}" type="datetime1">
              <a:rPr lang="en-US" smtClean="0"/>
              <a:t>6/24/2021</a:t>
            </a:fld>
            <a:endParaRPr lang="en-US" dirty="0"/>
          </a:p>
        </p:txBody>
      </p:sp>
    </p:spTree>
    <p:extLst>
      <p:ext uri="{BB962C8B-B14F-4D97-AF65-F5344CB8AC3E}">
        <p14:creationId xmlns:p14="http://schemas.microsoft.com/office/powerpoint/2010/main" val="25759249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39</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6/25/2021</a:t>
            </a:fld>
            <a:endParaRPr lang="en-US" dirty="0"/>
          </a:p>
        </p:txBody>
      </p:sp>
    </p:spTree>
    <p:extLst>
      <p:ext uri="{BB962C8B-B14F-4D97-AF65-F5344CB8AC3E}">
        <p14:creationId xmlns:p14="http://schemas.microsoft.com/office/powerpoint/2010/main" val="2751888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40</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D41674F-FD55-4AB3-982E-EC5906E421B6}" type="datetime1">
              <a:rPr lang="en-US" smtClean="0"/>
              <a:t>6/24/2021</a:t>
            </a:fld>
            <a:endParaRPr lang="en-US" dirty="0"/>
          </a:p>
        </p:txBody>
      </p:sp>
    </p:spTree>
    <p:extLst>
      <p:ext uri="{BB962C8B-B14F-4D97-AF65-F5344CB8AC3E}">
        <p14:creationId xmlns:p14="http://schemas.microsoft.com/office/powerpoint/2010/main" val="6872375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42</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1944533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43</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aseline="0" dirty="0" smtClean="0"/>
              <a:t>Performing a group via template upload, that can be done. </a:t>
            </a:r>
            <a:endParaRPr lang="en-US" altLang="en-US" dirty="0" smtClean="0"/>
          </a:p>
          <a:p>
            <a:endParaRPr lang="en-US" altLang="en-US" dirty="0" smtClean="0"/>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417057512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44</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17304898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endParaRPr lang="en-US" dirty="0"/>
          </a:p>
        </p:txBody>
      </p:sp>
      <p:sp>
        <p:nvSpPr>
          <p:cNvPr id="4" name="Header Placeholder 3"/>
          <p:cNvSpPr>
            <a:spLocks noGrp="1"/>
          </p:cNvSpPr>
          <p:nvPr>
            <p:ph type="hdr" sz="quarter" idx="10"/>
          </p:nvPr>
        </p:nvSpPr>
        <p:spPr/>
        <p:txBody>
          <a:bodyPr/>
          <a:lstStyle/>
          <a:p>
            <a:r>
              <a:rPr lang="en-US" smtClean="0"/>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smtClean="0"/>
              <a:t>© 2019 New York State Home and Community Renewal</a:t>
            </a:r>
            <a:br>
              <a:rPr lang="en-US" smtClean="0"/>
            </a:br>
            <a:r>
              <a:rPr lang="en-US" smtClean="0"/>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45</a:t>
            </a:fld>
            <a:endParaRPr lang="en-US" dirty="0"/>
          </a:p>
        </p:txBody>
      </p:sp>
    </p:spTree>
    <p:extLst>
      <p:ext uri="{BB962C8B-B14F-4D97-AF65-F5344CB8AC3E}">
        <p14:creationId xmlns:p14="http://schemas.microsoft.com/office/powerpoint/2010/main" val="38792926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46</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204409887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47</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218000570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pPr marL="0" marR="0" lvl="0" indent="0" algn="l" defTabSz="1358130" rtl="0" eaLnBrk="1" fontAlgn="auto" latinLnBrk="0" hangingPunct="1">
              <a:lnSpc>
                <a:spcPct val="100000"/>
              </a:lnSpc>
              <a:spcBef>
                <a:spcPts val="0"/>
              </a:spcBef>
              <a:spcAft>
                <a:spcPts val="0"/>
              </a:spcAft>
              <a:buClrTx/>
              <a:buSzTx/>
              <a:buFontTx/>
              <a:buNone/>
              <a:tabLst/>
              <a:defRPr/>
            </a:pPr>
            <a:r>
              <a:rPr lang="en-US" dirty="0" smtClean="0"/>
              <a:t>Remove</a:t>
            </a:r>
            <a:r>
              <a:rPr lang="en-US" baseline="0" dirty="0" smtClean="0"/>
              <a:t> slide</a:t>
            </a:r>
            <a:endParaRPr lang="en-US" dirty="0" smtClean="0"/>
          </a:p>
          <a:p>
            <a:endParaRPr lang="en-US" dirty="0"/>
          </a:p>
        </p:txBody>
      </p:sp>
      <p:sp>
        <p:nvSpPr>
          <p:cNvPr id="4" name="Header Placeholder 3"/>
          <p:cNvSpPr>
            <a:spLocks noGrp="1"/>
          </p:cNvSpPr>
          <p:nvPr>
            <p:ph type="hdr" sz="quarter" idx="10"/>
          </p:nvPr>
        </p:nvSpPr>
        <p:spPr/>
        <p:txBody>
          <a:bodyPr/>
          <a:lstStyle/>
          <a:p>
            <a:r>
              <a:rPr lang="en-US" smtClean="0"/>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smtClean="0"/>
              <a:t>© 2019 New York State Home and Community Renewal</a:t>
            </a:r>
            <a:br>
              <a:rPr lang="en-US" smtClean="0"/>
            </a:br>
            <a:r>
              <a:rPr lang="en-US" smtClean="0"/>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48</a:t>
            </a:fld>
            <a:endParaRPr lang="en-US" dirty="0"/>
          </a:p>
        </p:txBody>
      </p:sp>
    </p:spTree>
    <p:extLst>
      <p:ext uri="{BB962C8B-B14F-4D97-AF65-F5344CB8AC3E}">
        <p14:creationId xmlns:p14="http://schemas.microsoft.com/office/powerpoint/2010/main" val="408702361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49</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smtClean="0"/>
              <a:t>Remove </a:t>
            </a:r>
          </a:p>
          <a:p>
            <a:endParaRPr lang="en-US" altLang="en-US" dirty="0" smtClean="0"/>
          </a:p>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D255950-EBD8-4E37-ADFF-FC8523022739}" type="datetime1">
              <a:rPr lang="en-US" smtClean="0"/>
              <a:t>6/24/2021</a:t>
            </a:fld>
            <a:endParaRPr lang="en-US" dirty="0"/>
          </a:p>
        </p:txBody>
      </p:sp>
    </p:spTree>
    <p:extLst>
      <p:ext uri="{BB962C8B-B14F-4D97-AF65-F5344CB8AC3E}">
        <p14:creationId xmlns:p14="http://schemas.microsoft.com/office/powerpoint/2010/main" val="399242373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50</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smtClean="0"/>
              <a:t>Same comment as previous slide</a:t>
            </a:r>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365768202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5EF611E-683B-4438-A8F3-7E471EDA1D77}" type="slidenum">
              <a:rPr lang="en-US" altLang="en-US" sz="1200" smtClean="0">
                <a:latin typeface="Times New Roman" panose="02020603050405020304" pitchFamily="18" charset="0"/>
              </a:rPr>
              <a:pPr/>
              <a:t>51</a:t>
            </a:fld>
            <a:endParaRPr lang="en-US" altLang="en-US" sz="1200" dirty="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412750" y="701675"/>
            <a:ext cx="6189663" cy="3482975"/>
          </a:xfrm>
          <a:ln/>
        </p:spPr>
      </p:sp>
      <p:sp>
        <p:nvSpPr>
          <p:cNvPr id="7475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3EBDEAC-330F-4581-A7CC-2FC1BA466CA1}" type="datetime1">
              <a:rPr lang="en-US" smtClean="0"/>
              <a:t>6/24/2021</a:t>
            </a:fld>
            <a:endParaRPr lang="en-US" dirty="0"/>
          </a:p>
        </p:txBody>
      </p:sp>
    </p:spTree>
    <p:extLst>
      <p:ext uri="{BB962C8B-B14F-4D97-AF65-F5344CB8AC3E}">
        <p14:creationId xmlns:p14="http://schemas.microsoft.com/office/powerpoint/2010/main" val="65583171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52</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63E86371-EE5E-4263-9695-809FA84EBDF1}" type="datetime1">
              <a:rPr lang="en-US" smtClean="0"/>
              <a:t>6/24/2021</a:t>
            </a:fld>
            <a:endParaRPr lang="en-US" dirty="0"/>
          </a:p>
        </p:txBody>
      </p:sp>
    </p:spTree>
    <p:extLst>
      <p:ext uri="{BB962C8B-B14F-4D97-AF65-F5344CB8AC3E}">
        <p14:creationId xmlns:p14="http://schemas.microsoft.com/office/powerpoint/2010/main" val="21498164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35597FC-C02F-4204-9693-7B610A5DCEC0}" type="slidenum">
              <a:rPr lang="en-US" altLang="en-US" sz="1200" smtClean="0">
                <a:latin typeface="Times New Roman" panose="02020603050405020304" pitchFamily="18" charset="0"/>
              </a:rPr>
              <a:pPr/>
              <a:t>53</a:t>
            </a:fld>
            <a:endParaRPr lang="en-US" altLang="en-US" sz="1200" dirty="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406400" y="698500"/>
            <a:ext cx="6197600" cy="3486150"/>
          </a:xfrm>
          <a:ln/>
        </p:spPr>
      </p:sp>
      <p:sp>
        <p:nvSpPr>
          <p:cNvPr id="7885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CEB181A2-5115-4F87-9296-C07C9C7C2BFF}" type="datetime1">
              <a:rPr lang="en-US" smtClean="0"/>
              <a:t>6/24/2021</a:t>
            </a:fld>
            <a:endParaRPr lang="en-US" dirty="0"/>
          </a:p>
        </p:txBody>
      </p:sp>
    </p:spTree>
    <p:extLst>
      <p:ext uri="{BB962C8B-B14F-4D97-AF65-F5344CB8AC3E}">
        <p14:creationId xmlns:p14="http://schemas.microsoft.com/office/powerpoint/2010/main" val="290726742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26988" y="744538"/>
            <a:ext cx="6615112" cy="3722687"/>
          </a:xfrm>
          <a:ln/>
        </p:spPr>
      </p:sp>
      <p:sp>
        <p:nvSpPr>
          <p:cNvPr id="58371" name="Notes Placeholder 2"/>
          <p:cNvSpPr>
            <a:spLocks noGrp="1"/>
          </p:cNvSpPr>
          <p:nvPr>
            <p:ph type="body" idx="1"/>
          </p:nvPr>
        </p:nvSpPr>
        <p:spPr bwMode="auto">
          <a:xfrm>
            <a:off x="225777" y="4715482"/>
            <a:ext cx="6036625" cy="44660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F0DF3A1-BC3D-4C47-81AA-01D16FF97DDF}" type="datetime1">
              <a:rPr lang="en-US" smtClean="0"/>
              <a:t>6/24/2021</a:t>
            </a:fld>
            <a:endParaRPr lang="en-US" dirty="0"/>
          </a:p>
        </p:txBody>
      </p:sp>
    </p:spTree>
    <p:extLst>
      <p:ext uri="{BB962C8B-B14F-4D97-AF65-F5344CB8AC3E}">
        <p14:creationId xmlns:p14="http://schemas.microsoft.com/office/powerpoint/2010/main" val="107020235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3C8157A-3C63-49F8-AE98-A825228D3FD1}" type="slidenum">
              <a:rPr lang="en-US" altLang="en-US" sz="1200" smtClean="0">
                <a:latin typeface="Times New Roman" panose="02020603050405020304" pitchFamily="18" charset="0"/>
              </a:rPr>
              <a:pPr/>
              <a:t>55</a:t>
            </a:fld>
            <a:endParaRPr lang="en-US" altLang="en-US" sz="1200" dirty="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406400" y="698500"/>
            <a:ext cx="6197600" cy="3486150"/>
          </a:xfrm>
          <a:ln/>
        </p:spPr>
      </p:sp>
      <p:sp>
        <p:nvSpPr>
          <p:cNvPr id="8499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0027F9C4-B32B-4CDF-80D3-5B7920E72A05}" type="datetime1">
              <a:rPr lang="en-US" smtClean="0"/>
              <a:t>6/24/2021</a:t>
            </a:fld>
            <a:endParaRPr lang="en-US" dirty="0"/>
          </a:p>
        </p:txBody>
      </p:sp>
    </p:spTree>
    <p:extLst>
      <p:ext uri="{BB962C8B-B14F-4D97-AF65-F5344CB8AC3E}">
        <p14:creationId xmlns:p14="http://schemas.microsoft.com/office/powerpoint/2010/main" val="21900820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56</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6/25/2021</a:t>
            </a:fld>
            <a:endParaRPr lang="en-US" dirty="0"/>
          </a:p>
        </p:txBody>
      </p:sp>
    </p:spTree>
    <p:extLst>
      <p:ext uri="{BB962C8B-B14F-4D97-AF65-F5344CB8AC3E}">
        <p14:creationId xmlns:p14="http://schemas.microsoft.com/office/powerpoint/2010/main" val="1757575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57</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D41674F-FD55-4AB3-982E-EC5906E421B6}" type="datetime1">
              <a:rPr lang="en-US" smtClean="0"/>
              <a:t>6/24/2021</a:t>
            </a:fld>
            <a:endParaRPr lang="en-US" dirty="0"/>
          </a:p>
        </p:txBody>
      </p:sp>
    </p:spTree>
    <p:extLst>
      <p:ext uri="{BB962C8B-B14F-4D97-AF65-F5344CB8AC3E}">
        <p14:creationId xmlns:p14="http://schemas.microsoft.com/office/powerpoint/2010/main" val="237097309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58</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349724955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1675" y="4473575"/>
            <a:ext cx="5607050" cy="3660775"/>
          </a:xfrm>
          <a:prstGeom prst="rect">
            <a:avLst/>
          </a:prstGeom>
        </p:spPr>
        <p:txBody>
          <a:bodyPr/>
          <a:lstStyle/>
          <a:p>
            <a:r>
              <a:rPr lang="en-US" dirty="0" smtClean="0"/>
              <a:t>Remove</a:t>
            </a:r>
            <a:endParaRPr lang="en-US" dirty="0"/>
          </a:p>
        </p:txBody>
      </p:sp>
      <p:sp>
        <p:nvSpPr>
          <p:cNvPr id="4" name="Header Placeholder 3"/>
          <p:cNvSpPr>
            <a:spLocks noGrp="1"/>
          </p:cNvSpPr>
          <p:nvPr>
            <p:ph type="hdr" sz="quarter" idx="10"/>
          </p:nvPr>
        </p:nvSpPr>
        <p:spPr/>
        <p:txBody>
          <a:bodyPr/>
          <a:lstStyle/>
          <a:p>
            <a:r>
              <a:rPr lang="en-US"/>
              <a:t>&lt;&lt;Update Course Name Here&gt;&gt;</a:t>
            </a:r>
            <a:endParaRPr lang="en-US" dirty="0"/>
          </a:p>
        </p:txBody>
      </p:sp>
      <p:sp>
        <p:nvSpPr>
          <p:cNvPr id="5" name="Date Placeholder 4"/>
          <p:cNvSpPr>
            <a:spLocks noGrp="1"/>
          </p:cNvSpPr>
          <p:nvPr>
            <p:ph type="dt" idx="11"/>
          </p:nvPr>
        </p:nvSpPr>
        <p:spPr/>
        <p:txBody>
          <a:bodyPr/>
          <a:lstStyle/>
          <a:p>
            <a:fld id="{F7B264B2-4432-438C-881F-DE47DBA264F0}" type="datetime1">
              <a:rPr lang="en-US" smtClean="0"/>
              <a:t>6/24/2021</a:t>
            </a:fld>
            <a:endParaRPr lang="en-US" dirty="0"/>
          </a:p>
        </p:txBody>
      </p:sp>
      <p:sp>
        <p:nvSpPr>
          <p:cNvPr id="6" name="Footer Placeholder 5"/>
          <p:cNvSpPr>
            <a:spLocks noGrp="1"/>
          </p:cNvSpPr>
          <p:nvPr>
            <p:ph type="ftr" sz="quarter" idx="12"/>
          </p:nvPr>
        </p:nvSpPr>
        <p:spPr/>
        <p:txBody>
          <a:bodyPr/>
          <a:lstStyle/>
          <a:p>
            <a:r>
              <a:rPr lang="en-US"/>
              <a:t>© 2019 New York State Home and Community Renewal</a:t>
            </a:r>
            <a:br>
              <a:rPr lang="en-US"/>
            </a:br>
            <a:r>
              <a:rPr lang="en-US"/>
              <a:t>All Contents Proprietary and Confidential </a:t>
            </a:r>
            <a:endParaRPr lang="en-US" dirty="0"/>
          </a:p>
        </p:txBody>
      </p:sp>
      <p:sp>
        <p:nvSpPr>
          <p:cNvPr id="7" name="Slide Number Placeholder 6"/>
          <p:cNvSpPr>
            <a:spLocks noGrp="1"/>
          </p:cNvSpPr>
          <p:nvPr>
            <p:ph type="sldNum" sz="quarter" idx="13"/>
          </p:nvPr>
        </p:nvSpPr>
        <p:spPr/>
        <p:txBody>
          <a:bodyPr/>
          <a:lstStyle/>
          <a:p>
            <a:fld id="{F6DA9C80-B631-4EC4-8253-F63CFD0157DF}" type="slidenum">
              <a:rPr lang="en-US" smtClean="0"/>
              <a:t>59</a:t>
            </a:fld>
            <a:endParaRPr lang="en-US" dirty="0"/>
          </a:p>
        </p:txBody>
      </p:sp>
    </p:spTree>
    <p:extLst>
      <p:ext uri="{BB962C8B-B14F-4D97-AF65-F5344CB8AC3E}">
        <p14:creationId xmlns:p14="http://schemas.microsoft.com/office/powerpoint/2010/main" val="305424816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60</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6/24/2021</a:t>
            </a:fld>
            <a:endParaRPr lang="en-US" dirty="0"/>
          </a:p>
        </p:txBody>
      </p:sp>
    </p:spTree>
    <p:extLst>
      <p:ext uri="{BB962C8B-B14F-4D97-AF65-F5344CB8AC3E}">
        <p14:creationId xmlns:p14="http://schemas.microsoft.com/office/powerpoint/2010/main" val="69762465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61</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238120651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62</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r>
              <a:rPr lang="en-US" altLang="en-US" dirty="0" smtClean="0"/>
              <a:t>Is this really the process for scrapping?</a:t>
            </a:r>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19768017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63</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6/24/2021</a:t>
            </a:fld>
            <a:endParaRPr lang="en-US" dirty="0"/>
          </a:p>
        </p:txBody>
      </p:sp>
    </p:spTree>
    <p:extLst>
      <p:ext uri="{BB962C8B-B14F-4D97-AF65-F5344CB8AC3E}">
        <p14:creationId xmlns:p14="http://schemas.microsoft.com/office/powerpoint/2010/main" val="164385133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64</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378146120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65</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407263744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66</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6/24/2021</a:t>
            </a:fld>
            <a:endParaRPr lang="en-US" dirty="0"/>
          </a:p>
        </p:txBody>
      </p:sp>
    </p:spTree>
    <p:extLst>
      <p:ext uri="{BB962C8B-B14F-4D97-AF65-F5344CB8AC3E}">
        <p14:creationId xmlns:p14="http://schemas.microsoft.com/office/powerpoint/2010/main" val="169864448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67</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b="1" dirty="0" smtClean="0"/>
          </a:p>
          <a:p>
            <a:r>
              <a:rPr lang="en-US" altLang="en-US" b="1" dirty="0" smtClean="0"/>
              <a:t>Data </a:t>
            </a:r>
            <a:r>
              <a:rPr lang="en-US" altLang="en-US" b="1" dirty="0"/>
              <a:t>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42047719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68</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11465746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69</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6/24/2021</a:t>
            </a:fld>
            <a:endParaRPr lang="en-US" dirty="0"/>
          </a:p>
        </p:txBody>
      </p:sp>
    </p:spTree>
    <p:extLst>
      <p:ext uri="{BB962C8B-B14F-4D97-AF65-F5344CB8AC3E}">
        <p14:creationId xmlns:p14="http://schemas.microsoft.com/office/powerpoint/2010/main" val="348168733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70</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210634042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71</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pPr marL="285750" marR="0" lvl="0" indent="-285750" algn="l" defTabSz="13581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asset is scrapped, with no revenue</a:t>
            </a:r>
          </a:p>
          <a:p>
            <a:pPr marL="285750" lvl="0" indent="-285750">
              <a:buFont typeface="Arial" panose="020B0604020202020204" pitchFamily="34" charset="0"/>
              <a:buChar char="•"/>
            </a:pPr>
            <a:r>
              <a:rPr lang="en-US" dirty="0"/>
              <a:t>An asset is sold, resulting in revenue</a:t>
            </a:r>
            <a:br>
              <a:rPr lang="en-US" dirty="0"/>
            </a:br>
            <a:r>
              <a:rPr lang="en-US" dirty="0"/>
              <a:t>-</a:t>
            </a:r>
            <a:r>
              <a:rPr lang="en-US" baseline="0" dirty="0"/>
              <a:t> </a:t>
            </a:r>
            <a:r>
              <a:rPr lang="en-US" dirty="0"/>
              <a:t>The sale is posted with a customer</a:t>
            </a:r>
            <a:br>
              <a:rPr lang="en-US" dirty="0"/>
            </a:br>
            <a:r>
              <a:rPr lang="en-US" dirty="0"/>
              <a:t>- The sale is posted against a clearing account</a:t>
            </a:r>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6/24/2021</a:t>
            </a:fld>
            <a:endParaRPr lang="en-US" dirty="0"/>
          </a:p>
        </p:txBody>
      </p:sp>
    </p:spTree>
    <p:extLst>
      <p:ext uri="{BB962C8B-B14F-4D97-AF65-F5344CB8AC3E}">
        <p14:creationId xmlns:p14="http://schemas.microsoft.com/office/powerpoint/2010/main" val="75678426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73</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smtClean="0"/>
              <a:t>Demonstration </a:t>
            </a:r>
            <a:r>
              <a:rPr lang="en-US" altLang="en-US" dirty="0"/>
              <a:t>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6/24/2021</a:t>
            </a:fld>
            <a:endParaRPr lang="en-US" dirty="0"/>
          </a:p>
        </p:txBody>
      </p:sp>
    </p:spTree>
    <p:extLst>
      <p:ext uri="{BB962C8B-B14F-4D97-AF65-F5344CB8AC3E}">
        <p14:creationId xmlns:p14="http://schemas.microsoft.com/office/powerpoint/2010/main" val="191281033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74</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6/24/2021</a:t>
            </a:fld>
            <a:endParaRPr lang="en-US" dirty="0"/>
          </a:p>
        </p:txBody>
      </p:sp>
    </p:spTree>
    <p:extLst>
      <p:ext uri="{BB962C8B-B14F-4D97-AF65-F5344CB8AC3E}">
        <p14:creationId xmlns:p14="http://schemas.microsoft.com/office/powerpoint/2010/main" val="7310140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5EF611E-683B-4438-A8F3-7E471EDA1D77}" type="slidenum">
              <a:rPr lang="en-US" altLang="en-US" sz="1200" smtClean="0">
                <a:latin typeface="Times New Roman" panose="02020603050405020304" pitchFamily="18" charset="0"/>
              </a:rPr>
              <a:pPr/>
              <a:t>75</a:t>
            </a:fld>
            <a:endParaRPr lang="en-US" altLang="en-US" sz="1200" dirty="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412750" y="701675"/>
            <a:ext cx="6189663" cy="3482975"/>
          </a:xfrm>
          <a:ln/>
        </p:spPr>
      </p:sp>
      <p:sp>
        <p:nvSpPr>
          <p:cNvPr id="7475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3EBDEAC-330F-4581-A7CC-2FC1BA466CA1}" type="datetime1">
              <a:rPr lang="en-US" smtClean="0"/>
              <a:t>6/24/2021</a:t>
            </a:fld>
            <a:endParaRPr lang="en-US" dirty="0"/>
          </a:p>
        </p:txBody>
      </p:sp>
    </p:spTree>
    <p:extLst>
      <p:ext uri="{BB962C8B-B14F-4D97-AF65-F5344CB8AC3E}">
        <p14:creationId xmlns:p14="http://schemas.microsoft.com/office/powerpoint/2010/main" val="412735729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76</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63E86371-EE5E-4263-9695-809FA84EBDF1}" type="datetime1">
              <a:rPr lang="en-US" smtClean="0"/>
              <a:t>6/24/2021</a:t>
            </a:fld>
            <a:endParaRPr lang="en-US" dirty="0"/>
          </a:p>
        </p:txBody>
      </p:sp>
    </p:spTree>
    <p:extLst>
      <p:ext uri="{BB962C8B-B14F-4D97-AF65-F5344CB8AC3E}">
        <p14:creationId xmlns:p14="http://schemas.microsoft.com/office/powerpoint/2010/main" val="3635352263"/>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35597FC-C02F-4204-9693-7B610A5DCEC0}" type="slidenum">
              <a:rPr lang="en-US" altLang="en-US" sz="1200" smtClean="0">
                <a:latin typeface="Times New Roman" panose="02020603050405020304" pitchFamily="18" charset="0"/>
              </a:rPr>
              <a:pPr/>
              <a:t>77</a:t>
            </a:fld>
            <a:endParaRPr lang="en-US" altLang="en-US" sz="1200" dirty="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406400" y="698500"/>
            <a:ext cx="6197600" cy="3486150"/>
          </a:xfrm>
          <a:ln/>
        </p:spPr>
      </p:sp>
      <p:sp>
        <p:nvSpPr>
          <p:cNvPr id="7885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CEB181A2-5115-4F87-9296-C07C9C7C2BFF}" type="datetime1">
              <a:rPr lang="en-US" smtClean="0"/>
              <a:t>6/24/2021</a:t>
            </a:fld>
            <a:endParaRPr lang="en-US" dirty="0"/>
          </a:p>
        </p:txBody>
      </p:sp>
    </p:spTree>
    <p:extLst>
      <p:ext uri="{BB962C8B-B14F-4D97-AF65-F5344CB8AC3E}">
        <p14:creationId xmlns:p14="http://schemas.microsoft.com/office/powerpoint/2010/main" val="69740143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3C8157A-3C63-49F8-AE98-A825228D3FD1}" type="slidenum">
              <a:rPr lang="en-US" altLang="en-US" sz="1200" smtClean="0">
                <a:latin typeface="Times New Roman" panose="02020603050405020304" pitchFamily="18" charset="0"/>
              </a:rPr>
              <a:pPr/>
              <a:t>78</a:t>
            </a:fld>
            <a:endParaRPr lang="en-US" altLang="en-US" sz="1200" dirty="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406400" y="698500"/>
            <a:ext cx="6197600" cy="3486150"/>
          </a:xfrm>
          <a:ln/>
        </p:spPr>
      </p:sp>
      <p:sp>
        <p:nvSpPr>
          <p:cNvPr id="8499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0027F9C4-B32B-4CDF-80D3-5B7920E72A05}" type="datetime1">
              <a:rPr lang="en-US" smtClean="0"/>
              <a:t>6/24/2021</a:t>
            </a:fld>
            <a:endParaRPr lang="en-US" dirty="0"/>
          </a:p>
        </p:txBody>
      </p:sp>
    </p:spTree>
    <p:extLst>
      <p:ext uri="{BB962C8B-B14F-4D97-AF65-F5344CB8AC3E}">
        <p14:creationId xmlns:p14="http://schemas.microsoft.com/office/powerpoint/2010/main" val="282147230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26988" y="744538"/>
            <a:ext cx="6615112" cy="3722687"/>
          </a:xfrm>
          <a:ln/>
        </p:spPr>
      </p:sp>
      <p:sp>
        <p:nvSpPr>
          <p:cNvPr id="58371" name="Notes Placeholder 2"/>
          <p:cNvSpPr>
            <a:spLocks noGrp="1"/>
          </p:cNvSpPr>
          <p:nvPr>
            <p:ph type="body" idx="1"/>
          </p:nvPr>
        </p:nvSpPr>
        <p:spPr bwMode="auto">
          <a:xfrm>
            <a:off x="225777" y="4715482"/>
            <a:ext cx="6036625" cy="44660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F0DF3A1-BC3D-4C47-81AA-01D16FF97DDF}" type="datetime1">
              <a:rPr lang="en-US" smtClean="0"/>
              <a:t>6/24/2021</a:t>
            </a:fld>
            <a:endParaRPr lang="en-US" dirty="0"/>
          </a:p>
        </p:txBody>
      </p:sp>
    </p:spTree>
    <p:extLst>
      <p:ext uri="{BB962C8B-B14F-4D97-AF65-F5344CB8AC3E}">
        <p14:creationId xmlns:p14="http://schemas.microsoft.com/office/powerpoint/2010/main" val="37259763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80</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6/24/2021</a:t>
            </a:fld>
            <a:endParaRPr lang="en-US" dirty="0"/>
          </a:p>
        </p:txBody>
      </p:sp>
    </p:spTree>
    <p:extLst>
      <p:ext uri="{BB962C8B-B14F-4D97-AF65-F5344CB8AC3E}">
        <p14:creationId xmlns:p14="http://schemas.microsoft.com/office/powerpoint/2010/main" val="39001104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9F52E4F8-0974-4213-A8F8-50AD4A297F2D}" type="slidenum">
              <a:rPr lang="en-US" altLang="en-US" sz="1200" smtClean="0">
                <a:latin typeface="Times New Roman" panose="02020603050405020304" pitchFamily="18" charset="0"/>
              </a:rPr>
              <a:pPr/>
              <a:t>81</a:t>
            </a:fld>
            <a:endParaRPr lang="en-US" altLang="en-US" sz="1200" dirty="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xfrm>
            <a:off x="147638" y="560388"/>
            <a:ext cx="6716712" cy="3778250"/>
          </a:xfrm>
          <a:ln/>
        </p:spPr>
      </p:sp>
      <p:sp>
        <p:nvSpPr>
          <p:cNvPr id="4403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D41674F-FD55-4AB3-982E-EC5906E421B6}" type="datetime1">
              <a:rPr lang="en-US" smtClean="0"/>
              <a:t>6/25/2021</a:t>
            </a:fld>
            <a:endParaRPr lang="en-US" dirty="0"/>
          </a:p>
        </p:txBody>
      </p:sp>
    </p:spTree>
    <p:extLst>
      <p:ext uri="{BB962C8B-B14F-4D97-AF65-F5344CB8AC3E}">
        <p14:creationId xmlns:p14="http://schemas.microsoft.com/office/powerpoint/2010/main" val="270963959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83</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8223004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84</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322716641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85</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173929970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86</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347914915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87</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8797414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88</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344891382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89</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3017733773"/>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90</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272659963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91</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12002529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92</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484741718"/>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93</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54589600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94</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1357824909"/>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95</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116551027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96</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112561888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97</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221119375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98</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247028278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99</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39283902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100</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13068381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101</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289383871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102</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2108399176"/>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103</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163483663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104</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53640886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105</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30355433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106</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2652018544"/>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107</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186112725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108</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325510681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A24EFC1C-A928-4A29-AB9B-1C1C9F8EEF1E}" type="slidenum">
              <a:rPr lang="en-US" altLang="en-US" sz="1200" smtClean="0">
                <a:latin typeface="Times New Roman" panose="02020603050405020304" pitchFamily="18" charset="0"/>
              </a:rPr>
              <a:pPr/>
              <a:t>109</a:t>
            </a:fld>
            <a:endParaRPr lang="en-US" altLang="en-US" sz="1200" dirty="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xfrm>
            <a:off x="406400" y="698500"/>
            <a:ext cx="6197600" cy="3486150"/>
          </a:xfrm>
          <a:ln/>
        </p:spPr>
      </p:sp>
      <p:sp>
        <p:nvSpPr>
          <p:cNvPr id="65540"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9CFC7C-C9C7-4782-9149-2E8176EE79D9}" type="datetime1">
              <a:rPr lang="en-US" smtClean="0"/>
              <a:t>6/25/2021</a:t>
            </a:fld>
            <a:endParaRPr lang="en-US" dirty="0"/>
          </a:p>
        </p:txBody>
      </p:sp>
    </p:spTree>
    <p:extLst>
      <p:ext uri="{BB962C8B-B14F-4D97-AF65-F5344CB8AC3E}">
        <p14:creationId xmlns:p14="http://schemas.microsoft.com/office/powerpoint/2010/main" val="3653210957"/>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CC2F06C-302D-4190-9A64-6A5702D70EA6}" type="slidenum">
              <a:rPr lang="en-US" altLang="en-US" sz="1200" smtClean="0">
                <a:latin typeface="Times New Roman" panose="02020603050405020304" pitchFamily="18" charset="0"/>
              </a:rPr>
              <a:pPr/>
              <a:t>110</a:t>
            </a:fld>
            <a:endParaRPr lang="en-US" altLang="en-US" sz="1200" dirty="0">
              <a:latin typeface="Times New Roman" panose="02020603050405020304" pitchFamily="18" charset="0"/>
            </a:endParaRPr>
          </a:p>
        </p:txBody>
      </p:sp>
      <p:sp>
        <p:nvSpPr>
          <p:cNvPr id="80899" name="Rectangle 2"/>
          <p:cNvSpPr>
            <a:spLocks noGrp="1" noRot="1" noChangeAspect="1" noChangeArrowheads="1" noTextEdit="1"/>
          </p:cNvSpPr>
          <p:nvPr>
            <p:ph type="sldImg"/>
          </p:nvPr>
        </p:nvSpPr>
        <p:spPr>
          <a:xfrm>
            <a:off x="406400" y="698500"/>
            <a:ext cx="6197600" cy="3486150"/>
          </a:xfrm>
          <a:ln/>
        </p:spPr>
      </p:sp>
      <p:sp>
        <p:nvSpPr>
          <p:cNvPr id="8090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dirty="0"/>
              <a:t>Demonstration using:</a:t>
            </a:r>
          </a:p>
          <a:p>
            <a:r>
              <a:rPr lang="en-US" altLang="en-US" dirty="0"/>
              <a:t>Field:  value</a:t>
            </a:r>
          </a:p>
          <a:p>
            <a:r>
              <a:rPr lang="en-US" altLang="en-US" dirty="0"/>
              <a:t>Field: value </a:t>
            </a:r>
          </a:p>
          <a:p>
            <a:endParaRPr lang="en-US" altLang="en-US" dirty="0"/>
          </a:p>
          <a:p>
            <a:r>
              <a:rPr lang="en-US" altLang="en-US" dirty="0"/>
              <a:t>Action</a:t>
            </a:r>
          </a:p>
          <a:p>
            <a:endParaRPr lang="en-US" altLang="en-US" dirty="0"/>
          </a:p>
          <a:p>
            <a:r>
              <a:rPr lang="en-US" altLang="en-US" dirty="0"/>
              <a:t>Other steps</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673E241-D0D8-4A27-A255-320FA862C732}" type="datetime1">
              <a:rPr lang="en-US" smtClean="0"/>
              <a:t>6/25/2021</a:t>
            </a:fld>
            <a:endParaRPr lang="en-US" dirty="0"/>
          </a:p>
        </p:txBody>
      </p:sp>
    </p:spTree>
    <p:extLst>
      <p:ext uri="{BB962C8B-B14F-4D97-AF65-F5344CB8AC3E}">
        <p14:creationId xmlns:p14="http://schemas.microsoft.com/office/powerpoint/2010/main" val="1809234916"/>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07F9A386-EAF6-4DFA-8788-198F91EB132A}" type="slidenum">
              <a:rPr lang="en-US" altLang="en-US" sz="1200" smtClean="0">
                <a:latin typeface="Times New Roman" panose="02020603050405020304" pitchFamily="18" charset="0"/>
              </a:rPr>
              <a:pPr/>
              <a:t>111</a:t>
            </a:fld>
            <a:endParaRPr lang="en-US" altLang="en-US" sz="1200" dirty="0">
              <a:latin typeface="Times New Roman" panose="02020603050405020304" pitchFamily="18" charset="0"/>
            </a:endParaRPr>
          </a:p>
        </p:txBody>
      </p:sp>
      <p:sp>
        <p:nvSpPr>
          <p:cNvPr id="70659" name="Rectangle 2"/>
          <p:cNvSpPr>
            <a:spLocks noGrp="1" noRot="1" noChangeAspect="1" noChangeArrowheads="1" noTextEdit="1"/>
          </p:cNvSpPr>
          <p:nvPr>
            <p:ph type="sldImg"/>
          </p:nvPr>
        </p:nvSpPr>
        <p:spPr>
          <a:xfrm>
            <a:off x="406400" y="698500"/>
            <a:ext cx="6197600" cy="3486150"/>
          </a:xfrm>
          <a:ln/>
        </p:spPr>
      </p:sp>
      <p:sp>
        <p:nvSpPr>
          <p:cNvPr id="70660" name="Rectangle 3"/>
          <p:cNvSpPr>
            <a:spLocks noGrp="1" noChangeArrowheads="1"/>
          </p:cNvSpPr>
          <p:nvPr>
            <p:ph type="body" idx="1"/>
          </p:nvPr>
        </p:nvSpPr>
        <p:spPr>
          <a:xfrm>
            <a:off x="935038" y="4416425"/>
            <a:ext cx="5140325" cy="4181475"/>
          </a:xfrm>
          <a:prstGeom prst="rect">
            <a:avLst/>
          </a:prstGeom>
          <a:noFill/>
        </p:spPr>
        <p:txBody>
          <a:bodyPr/>
          <a:lstStyle/>
          <a:p>
            <a:r>
              <a:rPr lang="en-US" altLang="en-US" b="1" dirty="0"/>
              <a:t>Data Fields:</a:t>
            </a:r>
          </a:p>
          <a:p>
            <a:r>
              <a:rPr lang="en-US" altLang="en-US" dirty="0"/>
              <a:t>Field:  value</a:t>
            </a:r>
          </a:p>
          <a:p>
            <a:r>
              <a:rPr lang="en-US" altLang="en-US" dirty="0"/>
              <a:t>Field: value</a:t>
            </a:r>
          </a:p>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A9988F09-DA4F-455C-951E-0693A2455191}" type="datetime1">
              <a:rPr lang="en-US" smtClean="0"/>
              <a:t>6/25/2021</a:t>
            </a:fld>
            <a:endParaRPr lang="en-US" dirty="0"/>
          </a:p>
        </p:txBody>
      </p:sp>
    </p:spTree>
    <p:extLst>
      <p:ext uri="{BB962C8B-B14F-4D97-AF65-F5344CB8AC3E}">
        <p14:creationId xmlns:p14="http://schemas.microsoft.com/office/powerpoint/2010/main" val="3332455419"/>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5EF611E-683B-4438-A8F3-7E471EDA1D77}" type="slidenum">
              <a:rPr lang="en-US" altLang="en-US" sz="1200" smtClean="0">
                <a:latin typeface="Times New Roman" panose="02020603050405020304" pitchFamily="18" charset="0"/>
              </a:rPr>
              <a:pPr/>
              <a:t>112</a:t>
            </a:fld>
            <a:endParaRPr lang="en-US" altLang="en-US" sz="1200" dirty="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a:xfrm>
            <a:off x="412750" y="701675"/>
            <a:ext cx="6189663" cy="3482975"/>
          </a:xfrm>
          <a:ln/>
        </p:spPr>
      </p:sp>
      <p:sp>
        <p:nvSpPr>
          <p:cNvPr id="74756"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3EBDEAC-330F-4581-A7CC-2FC1BA466CA1}" type="datetime1">
              <a:rPr lang="en-US" smtClean="0"/>
              <a:t>6/24/2021</a:t>
            </a:fld>
            <a:endParaRPr lang="en-US" dirty="0"/>
          </a:p>
        </p:txBody>
      </p:sp>
    </p:spTree>
    <p:extLst>
      <p:ext uri="{BB962C8B-B14F-4D97-AF65-F5344CB8AC3E}">
        <p14:creationId xmlns:p14="http://schemas.microsoft.com/office/powerpoint/2010/main" val="92243248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71B22389-9B96-44CE-920F-735E6B267E08}" type="slidenum">
              <a:rPr lang="en-US" altLang="en-US" sz="1200" smtClean="0">
                <a:latin typeface="Times New Roman" panose="02020603050405020304" pitchFamily="18" charset="0"/>
              </a:rPr>
              <a:pPr/>
              <a:t>113</a:t>
            </a:fld>
            <a:endParaRPr lang="en-US" altLang="en-US" sz="1200" dirty="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xfrm>
            <a:off x="406400" y="698500"/>
            <a:ext cx="6197600" cy="3486150"/>
          </a:xfrm>
          <a:ln/>
        </p:spPr>
      </p:sp>
      <p:sp>
        <p:nvSpPr>
          <p:cNvPr id="6349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63E86371-EE5E-4263-9695-809FA84EBDF1}" type="datetime1">
              <a:rPr lang="en-US" smtClean="0"/>
              <a:t>6/24/2021</a:t>
            </a:fld>
            <a:endParaRPr lang="en-US" dirty="0"/>
          </a:p>
        </p:txBody>
      </p:sp>
    </p:spTree>
    <p:extLst>
      <p:ext uri="{BB962C8B-B14F-4D97-AF65-F5344CB8AC3E}">
        <p14:creationId xmlns:p14="http://schemas.microsoft.com/office/powerpoint/2010/main" val="324904579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35597FC-C02F-4204-9693-7B610A5DCEC0}" type="slidenum">
              <a:rPr lang="en-US" altLang="en-US" sz="1200" smtClean="0">
                <a:latin typeface="Times New Roman" panose="02020603050405020304" pitchFamily="18" charset="0"/>
              </a:rPr>
              <a:pPr/>
              <a:t>114</a:t>
            </a:fld>
            <a:endParaRPr lang="en-US" altLang="en-US" sz="1200" dirty="0">
              <a:latin typeface="Times New Roman" panose="02020603050405020304" pitchFamily="18" charset="0"/>
            </a:endParaRPr>
          </a:p>
        </p:txBody>
      </p:sp>
      <p:sp>
        <p:nvSpPr>
          <p:cNvPr id="78851" name="Rectangle 2"/>
          <p:cNvSpPr>
            <a:spLocks noGrp="1" noRot="1" noChangeAspect="1" noChangeArrowheads="1" noTextEdit="1"/>
          </p:cNvSpPr>
          <p:nvPr>
            <p:ph type="sldImg"/>
          </p:nvPr>
        </p:nvSpPr>
        <p:spPr>
          <a:xfrm>
            <a:off x="406400" y="698500"/>
            <a:ext cx="6197600" cy="3486150"/>
          </a:xfrm>
          <a:ln/>
        </p:spPr>
      </p:sp>
      <p:sp>
        <p:nvSpPr>
          <p:cNvPr id="78852"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CEB181A2-5115-4F87-9296-C07C9C7C2BFF}" type="datetime1">
              <a:rPr lang="en-US" smtClean="0"/>
              <a:t>6/24/2021</a:t>
            </a:fld>
            <a:endParaRPr lang="en-US" dirty="0"/>
          </a:p>
        </p:txBody>
      </p:sp>
    </p:spTree>
    <p:extLst>
      <p:ext uri="{BB962C8B-B14F-4D97-AF65-F5344CB8AC3E}">
        <p14:creationId xmlns:p14="http://schemas.microsoft.com/office/powerpoint/2010/main" val="405857101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33C8157A-3C63-49F8-AE98-A825228D3FD1}" type="slidenum">
              <a:rPr lang="en-US" altLang="en-US" sz="1200" smtClean="0">
                <a:latin typeface="Times New Roman" panose="02020603050405020304" pitchFamily="18" charset="0"/>
              </a:rPr>
              <a:pPr/>
              <a:t>115</a:t>
            </a:fld>
            <a:endParaRPr lang="en-US" altLang="en-US" sz="1200" dirty="0">
              <a:latin typeface="Times New Roman" panose="02020603050405020304" pitchFamily="18" charset="0"/>
            </a:endParaRPr>
          </a:p>
        </p:txBody>
      </p:sp>
      <p:sp>
        <p:nvSpPr>
          <p:cNvPr id="84995" name="Rectangle 2"/>
          <p:cNvSpPr>
            <a:spLocks noGrp="1" noRot="1" noChangeAspect="1" noChangeArrowheads="1" noTextEdit="1"/>
          </p:cNvSpPr>
          <p:nvPr>
            <p:ph type="sldImg"/>
          </p:nvPr>
        </p:nvSpPr>
        <p:spPr>
          <a:xfrm>
            <a:off x="406400" y="698500"/>
            <a:ext cx="6197600" cy="3486150"/>
          </a:xfrm>
          <a:ln/>
        </p:spPr>
      </p:sp>
      <p:sp>
        <p:nvSpPr>
          <p:cNvPr id="8499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0027F9C4-B32B-4CDF-80D3-5B7920E72A05}" type="datetime1">
              <a:rPr lang="en-US" smtClean="0"/>
              <a:t>6/24/2021</a:t>
            </a:fld>
            <a:endParaRPr lang="en-US" dirty="0"/>
          </a:p>
        </p:txBody>
      </p:sp>
    </p:spTree>
    <p:extLst>
      <p:ext uri="{BB962C8B-B14F-4D97-AF65-F5344CB8AC3E}">
        <p14:creationId xmlns:p14="http://schemas.microsoft.com/office/powerpoint/2010/main" val="2567535429"/>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2FC3363D-940F-45CB-8A6C-44A3AE96FACD}" type="slidenum">
              <a:rPr lang="en-US" altLang="en-US" sz="1200" smtClean="0">
                <a:latin typeface="Times New Roman" panose="02020603050405020304" pitchFamily="18" charset="0"/>
              </a:rPr>
              <a:pPr/>
              <a:t>116</a:t>
            </a:fld>
            <a:endParaRPr lang="en-US" altLang="en-US" sz="1200" dirty="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xfrm>
            <a:off x="147638" y="560388"/>
            <a:ext cx="6716712" cy="3778250"/>
          </a:xfrm>
          <a:ln/>
        </p:spPr>
      </p:sp>
      <p:sp>
        <p:nvSpPr>
          <p:cNvPr id="39940"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9E37174-A277-4D02-8D1A-A032C408012D}" type="datetime1">
              <a:rPr lang="en-US" smtClean="0"/>
              <a:t>6/24/2021</a:t>
            </a:fld>
            <a:endParaRPr lang="en-US" dirty="0"/>
          </a:p>
        </p:txBody>
      </p:sp>
    </p:spTree>
    <p:extLst>
      <p:ext uri="{BB962C8B-B14F-4D97-AF65-F5344CB8AC3E}">
        <p14:creationId xmlns:p14="http://schemas.microsoft.com/office/powerpoint/2010/main" val="307939215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2E4AEDA-915D-4B78-97AA-9DEBE884B66D}" type="slidenum">
              <a:rPr lang="en-US" altLang="en-US" sz="1200" smtClean="0">
                <a:latin typeface="Times New Roman" panose="02020603050405020304" pitchFamily="18" charset="0"/>
              </a:rPr>
              <a:pPr/>
              <a:t>120</a:t>
            </a:fld>
            <a:endParaRPr lang="en-US" altLang="en-US" sz="1200" dirty="0">
              <a:latin typeface="Times New Roman" panose="02020603050405020304" pitchFamily="18" charset="0"/>
            </a:endParaRPr>
          </a:p>
        </p:txBody>
      </p:sp>
      <p:sp>
        <p:nvSpPr>
          <p:cNvPr id="93187" name="Rectangle 2"/>
          <p:cNvSpPr>
            <a:spLocks noGrp="1" noRot="1" noChangeAspect="1" noChangeArrowheads="1" noTextEdit="1"/>
          </p:cNvSpPr>
          <p:nvPr>
            <p:ph type="sldImg"/>
          </p:nvPr>
        </p:nvSpPr>
        <p:spPr>
          <a:xfrm>
            <a:off x="406400" y="698500"/>
            <a:ext cx="6197600" cy="3486150"/>
          </a:xfrm>
          <a:ln/>
        </p:spPr>
      </p:sp>
      <p:sp>
        <p:nvSpPr>
          <p:cNvPr id="93188"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CB20467F-58B8-4BCC-928C-246281D0899F}" type="datetime1">
              <a:rPr lang="en-US" smtClean="0"/>
              <a:t>6/24/2021</a:t>
            </a:fld>
            <a:endParaRPr lang="en-US" dirty="0"/>
          </a:p>
        </p:txBody>
      </p:sp>
    </p:spTree>
    <p:extLst>
      <p:ext uri="{BB962C8B-B14F-4D97-AF65-F5344CB8AC3E}">
        <p14:creationId xmlns:p14="http://schemas.microsoft.com/office/powerpoint/2010/main" val="248320456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1D686CB2-26F7-486F-B014-DD45147FF5BD}" type="slidenum">
              <a:rPr lang="en-US" altLang="en-US" sz="1200" smtClean="0">
                <a:latin typeface="Times New Roman" panose="02020603050405020304" pitchFamily="18" charset="0"/>
              </a:rPr>
              <a:pPr/>
              <a:t>121</a:t>
            </a:fld>
            <a:endParaRPr lang="en-US" altLang="en-US" sz="1200" dirty="0">
              <a:latin typeface="Times New Roman" panose="02020603050405020304" pitchFamily="18" charset="0"/>
            </a:endParaRPr>
          </a:p>
        </p:txBody>
      </p:sp>
      <p:sp>
        <p:nvSpPr>
          <p:cNvPr id="95235" name="Rectangle 2"/>
          <p:cNvSpPr>
            <a:spLocks noGrp="1" noRot="1" noChangeAspect="1" noChangeArrowheads="1" noTextEdit="1"/>
          </p:cNvSpPr>
          <p:nvPr>
            <p:ph type="sldImg"/>
          </p:nvPr>
        </p:nvSpPr>
        <p:spPr>
          <a:xfrm>
            <a:off x="406400" y="698500"/>
            <a:ext cx="6197600" cy="3486150"/>
          </a:xfrm>
          <a:ln/>
        </p:spPr>
      </p:sp>
      <p:sp>
        <p:nvSpPr>
          <p:cNvPr id="95236" name="Rectangle 3"/>
          <p:cNvSpPr>
            <a:spLocks noGrp="1" noChangeArrowheads="1"/>
          </p:cNvSpPr>
          <p:nvPr>
            <p:ph type="body" idx="1"/>
          </p:nvPr>
        </p:nvSpPr>
        <p:spPr>
          <a:xfrm>
            <a:off x="857250" y="4495800"/>
            <a:ext cx="5140325" cy="3268663"/>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F62D803C-29BC-420F-BBD0-52B0A79E8A1D}" type="datetime1">
              <a:rPr lang="en-US" smtClean="0"/>
              <a:t>6/24/2021</a:t>
            </a:fld>
            <a:endParaRPr lang="en-US" dirty="0"/>
          </a:p>
        </p:txBody>
      </p:sp>
    </p:spTree>
    <p:extLst>
      <p:ext uri="{BB962C8B-B14F-4D97-AF65-F5344CB8AC3E}">
        <p14:creationId xmlns:p14="http://schemas.microsoft.com/office/powerpoint/2010/main" val="199462980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p:spPr>
        <p:txBody>
          <a:bodyPr/>
          <a:lstStyle>
            <a:lvl1pPr defTabSz="931863">
              <a:defRPr sz="3200">
                <a:solidFill>
                  <a:schemeClr val="tx1"/>
                </a:solidFill>
                <a:latin typeface="Arial" panose="020B0604020202020204" pitchFamily="34" charset="0"/>
              </a:defRPr>
            </a:lvl1pPr>
            <a:lvl2pPr marL="742950" indent="-285750" defTabSz="931863">
              <a:defRPr sz="3200">
                <a:solidFill>
                  <a:schemeClr val="tx1"/>
                </a:solidFill>
                <a:latin typeface="Arial" panose="020B0604020202020204" pitchFamily="34" charset="0"/>
              </a:defRPr>
            </a:lvl2pPr>
            <a:lvl3pPr marL="1143000" indent="-228600" defTabSz="931863">
              <a:defRPr sz="3200">
                <a:solidFill>
                  <a:schemeClr val="tx1"/>
                </a:solidFill>
                <a:latin typeface="Arial" panose="020B0604020202020204" pitchFamily="34" charset="0"/>
              </a:defRPr>
            </a:lvl3pPr>
            <a:lvl4pPr marL="1600200" indent="-228600" defTabSz="931863">
              <a:defRPr sz="3200">
                <a:solidFill>
                  <a:schemeClr val="tx1"/>
                </a:solidFill>
                <a:latin typeface="Arial" panose="020B0604020202020204" pitchFamily="34" charset="0"/>
              </a:defRPr>
            </a:lvl4pPr>
            <a:lvl5pPr marL="2057400" indent="-228600" defTabSz="931863">
              <a:defRPr sz="3200">
                <a:solidFill>
                  <a:schemeClr val="tx1"/>
                </a:solidFill>
                <a:latin typeface="Arial" panose="020B0604020202020204" pitchFamily="34" charset="0"/>
              </a:defRPr>
            </a:lvl5pPr>
            <a:lvl6pPr marL="2514600" indent="-228600" defTabSz="931863" eaLnBrk="0" fontAlgn="base" hangingPunct="0">
              <a:spcBef>
                <a:spcPct val="0"/>
              </a:spcBef>
              <a:spcAft>
                <a:spcPct val="0"/>
              </a:spcAft>
              <a:defRPr sz="3200">
                <a:solidFill>
                  <a:schemeClr val="tx1"/>
                </a:solidFill>
                <a:latin typeface="Arial" panose="020B0604020202020204" pitchFamily="34" charset="0"/>
              </a:defRPr>
            </a:lvl6pPr>
            <a:lvl7pPr marL="2971800" indent="-228600" defTabSz="931863" eaLnBrk="0" fontAlgn="base" hangingPunct="0">
              <a:spcBef>
                <a:spcPct val="0"/>
              </a:spcBef>
              <a:spcAft>
                <a:spcPct val="0"/>
              </a:spcAft>
              <a:defRPr sz="3200">
                <a:solidFill>
                  <a:schemeClr val="tx1"/>
                </a:solidFill>
                <a:latin typeface="Arial" panose="020B0604020202020204" pitchFamily="34" charset="0"/>
              </a:defRPr>
            </a:lvl7pPr>
            <a:lvl8pPr marL="3429000" indent="-228600" defTabSz="931863" eaLnBrk="0" fontAlgn="base" hangingPunct="0">
              <a:spcBef>
                <a:spcPct val="0"/>
              </a:spcBef>
              <a:spcAft>
                <a:spcPct val="0"/>
              </a:spcAft>
              <a:defRPr sz="3200">
                <a:solidFill>
                  <a:schemeClr val="tx1"/>
                </a:solidFill>
                <a:latin typeface="Arial" panose="020B0604020202020204" pitchFamily="34" charset="0"/>
              </a:defRPr>
            </a:lvl8pPr>
            <a:lvl9pPr marL="3886200" indent="-228600" defTabSz="931863" eaLnBrk="0" fontAlgn="base" hangingPunct="0">
              <a:spcBef>
                <a:spcPct val="0"/>
              </a:spcBef>
              <a:spcAft>
                <a:spcPct val="0"/>
              </a:spcAft>
              <a:defRPr sz="3200">
                <a:solidFill>
                  <a:schemeClr val="tx1"/>
                </a:solidFill>
                <a:latin typeface="Arial" panose="020B0604020202020204" pitchFamily="34" charset="0"/>
              </a:defRPr>
            </a:lvl9pPr>
          </a:lstStyle>
          <a:p>
            <a:fld id="{BD06107B-0FC3-493E-8BBC-F3B6E604D0A4}" type="slidenum">
              <a:rPr lang="en-US" altLang="en-US" sz="1200" smtClean="0">
                <a:latin typeface="Times New Roman" panose="02020603050405020304" pitchFamily="18" charset="0"/>
              </a:rPr>
              <a:pPr/>
              <a:t>122</a:t>
            </a:fld>
            <a:endParaRPr lang="en-US" altLang="en-US" sz="1200" dirty="0">
              <a:latin typeface="Times New Roman" panose="02020603050405020304" pitchFamily="18" charset="0"/>
            </a:endParaRPr>
          </a:p>
        </p:txBody>
      </p:sp>
      <p:sp>
        <p:nvSpPr>
          <p:cNvPr id="97283" name="Rectangle 2"/>
          <p:cNvSpPr>
            <a:spLocks noGrp="1" noRot="1" noChangeAspect="1" noChangeArrowheads="1" noTextEdit="1"/>
          </p:cNvSpPr>
          <p:nvPr>
            <p:ph type="sldImg"/>
          </p:nvPr>
        </p:nvSpPr>
        <p:spPr>
          <a:xfrm>
            <a:off x="406400" y="698500"/>
            <a:ext cx="6197600" cy="3486150"/>
          </a:xfrm>
          <a:ln/>
        </p:spPr>
      </p:sp>
      <p:sp>
        <p:nvSpPr>
          <p:cNvPr id="97284" name="Rectangle 3"/>
          <p:cNvSpPr>
            <a:spLocks noGrp="1" noChangeArrowheads="1"/>
          </p:cNvSpPr>
          <p:nvPr>
            <p:ph type="body" idx="1"/>
          </p:nvPr>
        </p:nvSpPr>
        <p:spPr>
          <a:xfrm>
            <a:off x="935038" y="4416425"/>
            <a:ext cx="5140325" cy="4181475"/>
          </a:xfrm>
          <a:prstGeom prst="rect">
            <a:avLst/>
          </a:prstGeom>
          <a:noFill/>
        </p:spPr>
        <p:txBody>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3B0D3FEC-35A3-48F0-9E39-2BA4E003A64F}" type="datetime1">
              <a:rPr lang="en-US" smtClean="0"/>
              <a:t>6/24/2021</a:t>
            </a:fld>
            <a:endParaRPr lang="en-US" dirty="0"/>
          </a:p>
        </p:txBody>
      </p:sp>
    </p:spTree>
    <p:extLst>
      <p:ext uri="{BB962C8B-B14F-4D97-AF65-F5344CB8AC3E}">
        <p14:creationId xmlns:p14="http://schemas.microsoft.com/office/powerpoint/2010/main" val="327415861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xfrm>
            <a:off x="26988" y="744538"/>
            <a:ext cx="6615112" cy="3722687"/>
          </a:xfrm>
          <a:ln/>
        </p:spPr>
      </p:sp>
      <p:sp>
        <p:nvSpPr>
          <p:cNvPr id="58371" name="Notes Placeholder 2"/>
          <p:cNvSpPr>
            <a:spLocks noGrp="1"/>
          </p:cNvSpPr>
          <p:nvPr>
            <p:ph type="body" idx="1"/>
          </p:nvPr>
        </p:nvSpPr>
        <p:spPr bwMode="auto">
          <a:xfrm>
            <a:off x="225777" y="4715482"/>
            <a:ext cx="6036625" cy="446600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
        <p:nvSpPr>
          <p:cNvPr id="2" name="Header Placeholder 1"/>
          <p:cNvSpPr>
            <a:spLocks noGrp="1"/>
          </p:cNvSpPr>
          <p:nvPr>
            <p:ph type="hdr" sz="quarter" idx="10"/>
          </p:nvPr>
        </p:nvSpPr>
        <p:spPr/>
        <p:txBody>
          <a:bodyPr/>
          <a:lstStyle/>
          <a:p>
            <a:r>
              <a:rPr lang="en-US" dirty="0"/>
              <a:t>&lt;&lt;Update Course Name Here&gt;&gt;</a:t>
            </a:r>
          </a:p>
        </p:txBody>
      </p:sp>
      <p:sp>
        <p:nvSpPr>
          <p:cNvPr id="3" name="Footer Placeholder 2"/>
          <p:cNvSpPr>
            <a:spLocks noGrp="1"/>
          </p:cNvSpPr>
          <p:nvPr>
            <p:ph type="ftr" sz="quarter" idx="11"/>
          </p:nvPr>
        </p:nvSpPr>
        <p:spPr/>
        <p:txBody>
          <a:bodyPr/>
          <a:lstStyle/>
          <a:p>
            <a:r>
              <a:rPr lang="en-US" dirty="0"/>
              <a:t>(c) 2019 NYSHCR, All rights Reserved</a:t>
            </a:r>
          </a:p>
        </p:txBody>
      </p:sp>
      <p:sp>
        <p:nvSpPr>
          <p:cNvPr id="4" name="Date Placeholder 3"/>
          <p:cNvSpPr>
            <a:spLocks noGrp="1"/>
          </p:cNvSpPr>
          <p:nvPr>
            <p:ph type="dt" idx="12"/>
          </p:nvPr>
        </p:nvSpPr>
        <p:spPr/>
        <p:txBody>
          <a:bodyPr/>
          <a:lstStyle/>
          <a:p>
            <a:fld id="{90C0EE70-9960-4FCF-AB77-212B63C793EE}" type="datetime1">
              <a:rPr lang="en-US" smtClean="0"/>
              <a:t>6/24/2021</a:t>
            </a:fld>
            <a:endParaRPr lang="en-US" dirty="0"/>
          </a:p>
        </p:txBody>
      </p:sp>
    </p:spTree>
    <p:extLst>
      <p:ext uri="{BB962C8B-B14F-4D97-AF65-F5344CB8AC3E}">
        <p14:creationId xmlns:p14="http://schemas.microsoft.com/office/powerpoint/2010/main" val="40024158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25.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lgn="l">
              <a:defRPr sz="800">
                <a:solidFill>
                  <a:schemeClr val="tx1"/>
                </a:solidFill>
              </a:defRPr>
            </a:lvl1pPr>
          </a:lstStyle>
          <a:p>
            <a:r>
              <a:rPr lang="en-GB" noProof="0" dirty="0"/>
              <a:t>_</a:t>
            </a:r>
          </a:p>
        </p:txBody>
      </p:sp>
      <p:sp>
        <p:nvSpPr>
          <p:cNvPr id="10" name="Text Placeholder 9"/>
          <p:cNvSpPr>
            <a:spLocks noGrp="1"/>
          </p:cNvSpPr>
          <p:nvPr>
            <p:ph type="body" sz="quarter" idx="10" hasCustomPrompt="1"/>
          </p:nvPr>
        </p:nvSpPr>
        <p:spPr bwMode="gray">
          <a:xfrm>
            <a:off x="379025" y="4876800"/>
            <a:ext cx="13059551" cy="2382238"/>
          </a:xfrm>
          <a:prstGeom prst="rect">
            <a:avLst/>
          </a:prstGeom>
        </p:spPr>
        <p:txBody>
          <a:bodyPr lIns="0" tIns="0" rIns="0" bIns="0"/>
          <a:lstStyle>
            <a:lvl1pPr marL="0" indent="0" algn="r">
              <a:buFont typeface="+mj-lt"/>
              <a:buNone/>
              <a:defRPr sz="4000" baseline="0">
                <a:solidFill>
                  <a:schemeClr val="bg1"/>
                </a:solidFill>
                <a:latin typeface="Fujitsu Sans Medium" panose="020B0504060202020204" pitchFamily="34" charset="0"/>
              </a:defRPr>
            </a:lvl1pPr>
            <a:lvl2pPr marL="467779" indent="0">
              <a:buNone/>
              <a:defRPr/>
            </a:lvl2pPr>
            <a:lvl3pPr marL="815616" indent="0">
              <a:buNone/>
              <a:defRPr/>
            </a:lvl3pPr>
            <a:lvl4pPr marL="1079492" indent="0">
              <a:buNone/>
              <a:defRPr/>
            </a:lvl4pPr>
            <a:lvl5pPr marL="1355362" indent="0">
              <a:buNone/>
              <a:defRPr/>
            </a:lvl5pPr>
          </a:lstStyle>
          <a:p>
            <a:pPr lvl="0"/>
            <a:r>
              <a:rPr lang="de-DE" dirty="0"/>
              <a:t>Add Course Name here...</a:t>
            </a:r>
          </a:p>
        </p:txBody>
      </p:sp>
      <p:pic>
        <p:nvPicPr>
          <p:cNvPr id="4" name="Picture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27314" y="772160"/>
            <a:ext cx="3311976" cy="2204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5804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1640333" y="4790950"/>
            <a:ext cx="12177267" cy="624725"/>
          </a:xfrm>
          <a:prstGeom prst="rect">
            <a:avLst/>
          </a:prstGeom>
        </p:spPr>
        <p:txBody>
          <a:bodyPr/>
          <a:lstStyle>
            <a:lvl1pPr algn="r">
              <a:defRPr sz="4400">
                <a:solidFill>
                  <a:schemeClr val="bg1"/>
                </a:solidFill>
                <a:latin typeface="Fujitsu Sans" panose="020B0404060202020204" pitchFamily="34" charset="0"/>
              </a:defRPr>
            </a:lvl1pPr>
          </a:lstStyle>
          <a:p>
            <a:r>
              <a:rPr lang="en-US" dirty="0"/>
              <a:t>Click to Edit Master Title Style</a:t>
            </a:r>
          </a:p>
        </p:txBody>
      </p:sp>
    </p:spTree>
    <p:extLst>
      <p:ext uri="{BB962C8B-B14F-4D97-AF65-F5344CB8AC3E}">
        <p14:creationId xmlns:p14="http://schemas.microsoft.com/office/powerpoint/2010/main" val="1446729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7" name="VCT_Marker_ID_7" hidden="1"/>
          <p:cNvSpPr/>
          <p:nvPr userDrawn="1">
            <p:custDataLst>
              <p:tags r:id="rId1"/>
            </p:custDataLst>
          </p:nvPr>
        </p:nvSpPr>
        <p:spPr>
          <a:xfrm>
            <a:off x="1919111" y="143934"/>
            <a:ext cx="191911" cy="1439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9" dirty="0"/>
          </a:p>
        </p:txBody>
      </p:sp>
      <p:pic>
        <p:nvPicPr>
          <p:cNvPr id="4"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27314" y="772160"/>
            <a:ext cx="3311976" cy="2204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8154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0880" y="214799"/>
            <a:ext cx="12435840" cy="737772"/>
          </a:xfrm>
        </p:spPr>
        <p:txBody>
          <a:bodyPr/>
          <a:lstStyle/>
          <a:p>
            <a:r>
              <a:rPr lang="en-US" dirty="0"/>
              <a:t>Click to edit Master title style</a:t>
            </a:r>
          </a:p>
        </p:txBody>
      </p:sp>
      <p:sp>
        <p:nvSpPr>
          <p:cNvPr id="3" name="Content Placeholder 2"/>
          <p:cNvSpPr>
            <a:spLocks noGrp="1"/>
          </p:cNvSpPr>
          <p:nvPr>
            <p:ph idx="1"/>
          </p:nvPr>
        </p:nvSpPr>
        <p:spPr>
          <a:xfrm>
            <a:off x="690880" y="1081669"/>
            <a:ext cx="12435840" cy="58800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lvl1pPr>
              <a:defRPr sz="1800">
                <a:solidFill>
                  <a:schemeClr val="tx1"/>
                </a:solidFill>
              </a:defRPr>
            </a:lvl1pPr>
          </a:lstStyle>
          <a:p>
            <a:fld id="{A7754AA7-8025-408E-B296-E2B43FE08638}" type="slidenum">
              <a:rPr lang="en-US" smtClean="0"/>
              <a:pPr/>
              <a:t>‹#›</a:t>
            </a:fld>
            <a:endParaRPr lang="en-US" dirty="0"/>
          </a:p>
        </p:txBody>
      </p:sp>
    </p:spTree>
    <p:extLst>
      <p:ext uri="{BB962C8B-B14F-4D97-AF65-F5344CB8AC3E}">
        <p14:creationId xmlns:p14="http://schemas.microsoft.com/office/powerpoint/2010/main" val="21537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9902613" y="7203880"/>
            <a:ext cx="3224107" cy="415007"/>
          </a:xfrm>
          <a:prstGeom prst="rect">
            <a:avLst/>
          </a:prstGeom>
        </p:spPr>
        <p:txBody>
          <a:bodyPr/>
          <a:lstStyle>
            <a:lvl1pPr>
              <a:defRPr sz="1800">
                <a:solidFill>
                  <a:schemeClr val="tx1"/>
                </a:solidFill>
              </a:defRPr>
            </a:lvl1pPr>
          </a:lstStyle>
          <a:p>
            <a:fld id="{A7754AA7-8025-408E-B296-E2B43FE08638}" type="slidenum">
              <a:rPr lang="en-US" smtClean="0"/>
              <a:pPr/>
              <a:t>‹#›</a:t>
            </a:fld>
            <a:endParaRPr lang="en-US" dirty="0"/>
          </a:p>
        </p:txBody>
      </p:sp>
      <p:sp>
        <p:nvSpPr>
          <p:cNvPr id="7" name="Title 1"/>
          <p:cNvSpPr>
            <a:spLocks noGrp="1"/>
          </p:cNvSpPr>
          <p:nvPr>
            <p:ph type="title" hasCustomPrompt="1"/>
          </p:nvPr>
        </p:nvSpPr>
        <p:spPr>
          <a:xfrm>
            <a:off x="529319" y="101482"/>
            <a:ext cx="12177267" cy="624725"/>
          </a:xfrm>
          <a:prstGeom prst="rect">
            <a:avLst/>
          </a:prstGeom>
        </p:spPr>
        <p:txBody>
          <a:bodyPr/>
          <a:lstStyle>
            <a:lvl1pPr algn="l">
              <a:defRPr sz="4400">
                <a:latin typeface="Fujitsu Sans" panose="020B0404060202020204" pitchFamily="34" charset="0"/>
              </a:defRPr>
            </a:lvl1pPr>
          </a:lstStyle>
          <a:p>
            <a:r>
              <a:rPr lang="en-US" dirty="0"/>
              <a:t>Click to Edit Master Title Style</a:t>
            </a:r>
          </a:p>
        </p:txBody>
      </p:sp>
    </p:spTree>
    <p:extLst>
      <p:ext uri="{BB962C8B-B14F-4D97-AF65-F5344CB8AC3E}">
        <p14:creationId xmlns:p14="http://schemas.microsoft.com/office/powerpoint/2010/main" val="40487227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Click to Edit Master Title Style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4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bjectives - Course">
    <p:spTree>
      <p:nvGrpSpPr>
        <p:cNvPr id="1" name=""/>
        <p:cNvGrpSpPr/>
        <p:nvPr/>
      </p:nvGrpSpPr>
      <p:grpSpPr>
        <a:xfrm>
          <a:off x="0" y="0"/>
          <a:ext cx="0" cy="0"/>
          <a:chOff x="0" y="0"/>
          <a:chExt cx="0" cy="0"/>
        </a:xfrm>
      </p:grpSpPr>
      <p:pic>
        <p:nvPicPr>
          <p:cNvPr id="5" name="Picture 2" descr="bss00071"/>
          <p:cNvPicPr>
            <a:picLocks noChangeAspect="1" noChangeArrowheads="1"/>
          </p:cNvPicPr>
          <p:nvPr userDrawn="1"/>
        </p:nvPicPr>
        <p:blipFill>
          <a:blip r:embed="rId2">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Picture 5"/>
          <p:cNvPicPr>
            <a:picLocks noChangeAspect="1"/>
          </p:cNvPicPr>
          <p:nvPr userDrawn="1"/>
        </p:nvPicPr>
        <p:blipFill>
          <a:blip r:embed="rId3"/>
          <a:stretch>
            <a:fillRect/>
          </a:stretch>
        </p:blipFill>
        <p:spPr>
          <a:xfrm>
            <a:off x="431800" y="-80963"/>
            <a:ext cx="4286250" cy="1038225"/>
          </a:xfrm>
          <a:prstGeom prst="rect">
            <a:avLst/>
          </a:prstGeom>
        </p:spPr>
      </p:pic>
    </p:spTree>
    <p:extLst>
      <p:ext uri="{BB962C8B-B14F-4D97-AF65-F5344CB8AC3E}">
        <p14:creationId xmlns:p14="http://schemas.microsoft.com/office/powerpoint/2010/main" val="2255576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Objectives - Unit">
    <p:spTree>
      <p:nvGrpSpPr>
        <p:cNvPr id="1" name=""/>
        <p:cNvGrpSpPr/>
        <p:nvPr/>
      </p:nvGrpSpPr>
      <p:grpSpPr>
        <a:xfrm>
          <a:off x="0" y="0"/>
          <a:ext cx="0" cy="0"/>
          <a:chOff x="0" y="0"/>
          <a:chExt cx="0" cy="0"/>
        </a:xfrm>
      </p:grpSpPr>
      <p:pic>
        <p:nvPicPr>
          <p:cNvPr id="5" name="Picture 2" descr="bss00071"/>
          <p:cNvPicPr>
            <a:picLocks noChangeAspect="1" noChangeArrowheads="1"/>
          </p:cNvPicPr>
          <p:nvPr userDrawn="1"/>
        </p:nvPicPr>
        <p:blipFill>
          <a:blip r:embed="rId2">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4606636" y="108409"/>
            <a:ext cx="8099950" cy="624725"/>
          </a:xfrm>
          <a:prstGeom prst="rect">
            <a:avLst/>
          </a:prstGeom>
        </p:spPr>
        <p:txBody>
          <a:bodyPr/>
          <a:lstStyle>
            <a:lvl1pPr algn="l">
              <a:defRPr sz="4400" baseline="0">
                <a:latin typeface="Fujitsu Sans" panose="020B0404060202020204" pitchFamily="34" charset="0"/>
              </a:defRPr>
            </a:lvl1pPr>
          </a:lstStyle>
          <a:p>
            <a:r>
              <a:rPr lang="en-US" dirty="0"/>
              <a:t>Click to Edit Master Title Style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3"/>
          <a:stretch>
            <a:fillRect/>
          </a:stretch>
        </p:blipFill>
        <p:spPr>
          <a:xfrm>
            <a:off x="520700" y="-59359"/>
            <a:ext cx="4148621" cy="1049960"/>
          </a:xfrm>
          <a:prstGeom prst="rect">
            <a:avLst/>
          </a:prstGeom>
        </p:spPr>
      </p:pic>
    </p:spTree>
    <p:extLst>
      <p:ext uri="{BB962C8B-B14F-4D97-AF65-F5344CB8AC3E}">
        <p14:creationId xmlns:p14="http://schemas.microsoft.com/office/powerpoint/2010/main" val="714417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1_Agenda">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stretch>
            <a:fillRect/>
          </a:stretch>
        </p:blipFill>
        <p:spPr>
          <a:xfrm>
            <a:off x="12265025" y="5705475"/>
            <a:ext cx="1552575" cy="2066925"/>
          </a:xfrm>
          <a:prstGeom prst="rect">
            <a:avLst/>
          </a:prstGeom>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a:latin typeface="Fujitsu Sans" panose="020B0404060202020204" pitchFamily="34" charset="0"/>
              </a:defRPr>
            </a:lvl1pPr>
          </a:lstStyle>
          <a:p>
            <a:r>
              <a:rPr lang="en-US" dirty="0"/>
              <a:t>Agenda</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9575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529320" y="1037063"/>
            <a:ext cx="6264334" cy="5988205"/>
          </a:xfrm>
          <a:prstGeom prst="rect">
            <a:avLst/>
          </a:prstGeom>
        </p:spPr>
        <p:txBody>
          <a:bodyPr/>
          <a:lstStyle>
            <a:lvl1pPr>
              <a:defRPr sz="3200">
                <a:latin typeface="Fujitsu Sans" panose="020B0404060202020204" pitchFamily="34" charset="0"/>
              </a:defRPr>
            </a:lvl1pPr>
            <a:lvl2pPr>
              <a:defRPr sz="2800">
                <a:latin typeface="Fujitsu Sans" panose="020B0404060202020204" pitchFamily="34" charset="0"/>
              </a:defRPr>
            </a:lvl2pPr>
            <a:lvl3pPr>
              <a:defRPr sz="2400">
                <a:latin typeface="Fujitsu Sans" panose="020B0404060202020204" pitchFamily="34" charset="0"/>
              </a:defRPr>
            </a:lvl3pPr>
            <a:lvl4pPr>
              <a:defRPr sz="2000">
                <a:latin typeface="Fujitsu Sans" panose="020B0404060202020204" pitchFamily="34" charset="0"/>
              </a:defRPr>
            </a:lvl4pPr>
            <a:lvl5pPr>
              <a:defRPr sz="2000">
                <a:latin typeface="Fujitsu Sans" panose="020B0404060202020204" pitchFamily="34" charset="0"/>
              </a:defRPr>
            </a:lvl5pPr>
            <a:lvl6pPr>
              <a:defRPr sz="2720"/>
            </a:lvl6pPr>
            <a:lvl7pPr>
              <a:defRPr sz="2720"/>
            </a:lvl7pPr>
            <a:lvl8pPr>
              <a:defRPr sz="2720"/>
            </a:lvl8pPr>
            <a:lvl9pPr>
              <a:defRPr sz="272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908800" y="1037062"/>
            <a:ext cx="6413500" cy="5988205"/>
          </a:xfrm>
          <a:prstGeom prst="rect">
            <a:avLst/>
          </a:prstGeom>
        </p:spPr>
        <p:txBody>
          <a:bodyPr/>
          <a:lstStyle>
            <a:lvl1pPr>
              <a:defRPr sz="3200">
                <a:latin typeface="Fujitsu Sans" panose="020B0404060202020204" pitchFamily="34" charset="0"/>
              </a:defRPr>
            </a:lvl1pPr>
            <a:lvl2pPr>
              <a:defRPr sz="2800">
                <a:latin typeface="Fujitsu Sans" panose="020B0404060202020204" pitchFamily="34" charset="0"/>
              </a:defRPr>
            </a:lvl2pPr>
            <a:lvl3pPr>
              <a:defRPr sz="2400">
                <a:latin typeface="Fujitsu Sans" panose="020B0404060202020204" pitchFamily="34" charset="0"/>
              </a:defRPr>
            </a:lvl3pPr>
            <a:lvl4pPr>
              <a:defRPr sz="2000">
                <a:latin typeface="Fujitsu Sans" panose="020B0404060202020204" pitchFamily="34" charset="0"/>
              </a:defRPr>
            </a:lvl4pPr>
            <a:lvl5pPr>
              <a:defRPr sz="2000">
                <a:latin typeface="Fujitsu Sans" panose="020B0404060202020204" pitchFamily="34" charset="0"/>
              </a:defRPr>
            </a:lvl5pPr>
            <a:lvl6pPr>
              <a:defRPr sz="2720"/>
            </a:lvl6pPr>
            <a:lvl7pPr>
              <a:defRPr sz="2720"/>
            </a:lvl7pPr>
            <a:lvl8pPr>
              <a:defRPr sz="2720"/>
            </a:lvl8pPr>
            <a:lvl9pPr>
              <a:defRPr sz="272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1"/>
          <p:cNvSpPr>
            <a:spLocks noGrp="1"/>
          </p:cNvSpPr>
          <p:nvPr>
            <p:ph type="title" hasCustomPrompt="1"/>
          </p:nvPr>
        </p:nvSpPr>
        <p:spPr>
          <a:xfrm>
            <a:off x="529319" y="101482"/>
            <a:ext cx="12177267" cy="624725"/>
          </a:xfrm>
          <a:prstGeom prst="rect">
            <a:avLst/>
          </a:prstGeom>
        </p:spPr>
        <p:txBody>
          <a:bodyPr/>
          <a:lstStyle>
            <a:lvl1pPr algn="l">
              <a:defRPr sz="4400">
                <a:latin typeface="Fujitsu Sans" panose="020B0404060202020204" pitchFamily="34" charset="0"/>
              </a:defRPr>
            </a:lvl1pPr>
          </a:lstStyle>
          <a:p>
            <a:r>
              <a:rPr lang="en-US" dirty="0"/>
              <a:t>Click to Edit Master Title Style</a:t>
            </a:r>
          </a:p>
        </p:txBody>
      </p:sp>
    </p:spTree>
    <p:extLst>
      <p:ext uri="{BB962C8B-B14F-4D97-AF65-F5344CB8AC3E}">
        <p14:creationId xmlns:p14="http://schemas.microsoft.com/office/powerpoint/2010/main" val="338359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Demo Slide">
    <p:spTree>
      <p:nvGrpSpPr>
        <p:cNvPr id="1" name=""/>
        <p:cNvGrpSpPr/>
        <p:nvPr/>
      </p:nvGrpSpPr>
      <p:grpSpPr>
        <a:xfrm>
          <a:off x="0" y="0"/>
          <a:ext cx="0" cy="0"/>
          <a:chOff x="0" y="0"/>
          <a:chExt cx="0" cy="0"/>
        </a:xfrm>
      </p:grpSpPr>
      <p:pic>
        <p:nvPicPr>
          <p:cNvPr id="5"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Click to Edit Master Title Style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38615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Exercise Slide">
    <p:spTree>
      <p:nvGrpSpPr>
        <p:cNvPr id="1" name=""/>
        <p:cNvGrpSpPr/>
        <p:nvPr/>
      </p:nvGrpSpPr>
      <p:grpSpPr>
        <a:xfrm>
          <a:off x="0" y="0"/>
          <a:ext cx="0" cy="0"/>
          <a:chOff x="0" y="0"/>
          <a:chExt cx="0" cy="0"/>
        </a:xfrm>
      </p:grpSpPr>
      <p:pic>
        <p:nvPicPr>
          <p:cNvPr id="6" name="Picture 2" descr="MPj04225930000[1]"/>
          <p:cNvPicPr>
            <a:picLocks noChangeAspect="1" noChangeArrowheads="1"/>
          </p:cNvPicPr>
          <p:nvPr userDrawn="1"/>
        </p:nvPicPr>
        <p:blipFill>
          <a:blip r:embed="rId2">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Click to Edit Master Title Style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398788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Checkpoint Question">
    <p:spTree>
      <p:nvGrpSpPr>
        <p:cNvPr id="1" name=""/>
        <p:cNvGrpSpPr/>
        <p:nvPr/>
      </p:nvGrpSpPr>
      <p:grpSpPr>
        <a:xfrm>
          <a:off x="0" y="0"/>
          <a:ext cx="0" cy="0"/>
          <a:chOff x="0" y="0"/>
          <a:chExt cx="0" cy="0"/>
        </a:xfrm>
      </p:grpSpPr>
      <p:pic>
        <p:nvPicPr>
          <p:cNvPr id="6" name="Picture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7539465" y="101482"/>
            <a:ext cx="5167121" cy="624725"/>
          </a:xfrm>
          <a:prstGeom prst="rect">
            <a:avLst/>
          </a:prstGeom>
        </p:spPr>
        <p:txBody>
          <a:bodyPr/>
          <a:lstStyle>
            <a:lvl1pPr algn="l">
              <a:defRPr sz="4400" baseline="0">
                <a:latin typeface="Fujitsu Sans" panose="020B0404060202020204" pitchFamily="34" charset="0"/>
              </a:defRPr>
            </a:lvl1pPr>
          </a:lstStyle>
          <a:p>
            <a:r>
              <a:rPr lang="en-US" dirty="0"/>
              <a:t>Unit x, # y</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p:cNvPicPr>
            <a:picLocks noChangeAspect="1"/>
          </p:cNvPicPr>
          <p:nvPr userDrawn="1"/>
        </p:nvPicPr>
        <p:blipFill>
          <a:blip r:embed="rId3"/>
          <a:stretch>
            <a:fillRect/>
          </a:stretch>
        </p:blipFill>
        <p:spPr>
          <a:xfrm>
            <a:off x="520699" y="-101601"/>
            <a:ext cx="7018766" cy="1101725"/>
          </a:xfrm>
          <a:prstGeom prst="rect">
            <a:avLst/>
          </a:prstGeom>
        </p:spPr>
      </p:pic>
    </p:spTree>
    <p:extLst>
      <p:ext uri="{BB962C8B-B14F-4D97-AF65-F5344CB8AC3E}">
        <p14:creationId xmlns:p14="http://schemas.microsoft.com/office/powerpoint/2010/main" val="12931735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heckpoint Answer">
    <p:spTree>
      <p:nvGrpSpPr>
        <p:cNvPr id="1" name=""/>
        <p:cNvGrpSpPr/>
        <p:nvPr/>
      </p:nvGrpSpPr>
      <p:grpSpPr>
        <a:xfrm>
          <a:off x="0" y="0"/>
          <a:ext cx="0" cy="0"/>
          <a:chOff x="0" y="0"/>
          <a:chExt cx="0" cy="0"/>
        </a:xfrm>
      </p:grpSpPr>
      <p:grpSp>
        <p:nvGrpSpPr>
          <p:cNvPr id="8" name="Group 63"/>
          <p:cNvGrpSpPr>
            <a:grpSpLocks/>
          </p:cNvGrpSpPr>
          <p:nvPr userDrawn="1"/>
        </p:nvGrpSpPr>
        <p:grpSpPr bwMode="auto">
          <a:xfrm>
            <a:off x="11234450" y="6036764"/>
            <a:ext cx="2486448" cy="1651635"/>
            <a:chOff x="4378" y="3045"/>
            <a:chExt cx="1382" cy="918"/>
          </a:xfrm>
        </p:grpSpPr>
        <p:sp>
          <p:nvSpPr>
            <p:cNvPr id="9" name="AutoShape 7"/>
            <p:cNvSpPr>
              <a:spLocks noChangeAspect="1" noChangeArrowheads="1" noTextEdit="1"/>
            </p:cNvSpPr>
            <p:nvPr/>
          </p:nvSpPr>
          <p:spPr bwMode="auto">
            <a:xfrm>
              <a:off x="4378" y="3045"/>
              <a:ext cx="1382" cy="918"/>
            </a:xfrm>
            <a:prstGeom prst="rect">
              <a:avLst/>
            </a:prstGeom>
            <a:noFill/>
            <a:ln>
              <a:noFill/>
            </a:ln>
            <a:extLst>
              <a:ext uri="{909E8E84-426E-40DD-AFC4-6F175D3DCCD1}">
                <a14:hiddenFill xmlns:a14="http://schemas.microsoft.com/office/drawing/2010/main">
                  <a:solidFill>
                    <a:srgbClr val="FFFFFF">
                      <a:alpha val="25098"/>
                    </a:srgbClr>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3029" dirty="0"/>
            </a:p>
          </p:txBody>
        </p:sp>
        <p:sp>
          <p:nvSpPr>
            <p:cNvPr id="10" name="Freeform 9"/>
            <p:cNvSpPr>
              <a:spLocks/>
            </p:cNvSpPr>
            <p:nvPr/>
          </p:nvSpPr>
          <p:spPr bwMode="auto">
            <a:xfrm>
              <a:off x="4545" y="3154"/>
              <a:ext cx="849" cy="491"/>
            </a:xfrm>
            <a:custGeom>
              <a:avLst/>
              <a:gdLst>
                <a:gd name="T0" fmla="*/ 4 w 1697"/>
                <a:gd name="T1" fmla="*/ 1 h 980"/>
                <a:gd name="T2" fmla="*/ 2 w 1697"/>
                <a:gd name="T3" fmla="*/ 0 h 980"/>
                <a:gd name="T4" fmla="*/ 0 w 1697"/>
                <a:gd name="T5" fmla="*/ 2 h 980"/>
                <a:gd name="T6" fmla="*/ 1 w 1697"/>
                <a:gd name="T7" fmla="*/ 3 h 980"/>
                <a:gd name="T8" fmla="*/ 3 w 1697"/>
                <a:gd name="T9" fmla="*/ 4 h 980"/>
                <a:gd name="T10" fmla="*/ 4 w 1697"/>
                <a:gd name="T11" fmla="*/ 4 h 980"/>
                <a:gd name="T12" fmla="*/ 6 w 1697"/>
                <a:gd name="T13" fmla="*/ 4 h 980"/>
                <a:gd name="T14" fmla="*/ 7 w 1697"/>
                <a:gd name="T15" fmla="*/ 2 h 980"/>
                <a:gd name="T16" fmla="*/ 4 w 1697"/>
                <a:gd name="T17" fmla="*/ 1 h 980"/>
                <a:gd name="T18" fmla="*/ 4 w 1697"/>
                <a:gd name="T19" fmla="*/ 1 h 98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697" h="980">
                  <a:moveTo>
                    <a:pt x="1005" y="72"/>
                  </a:moveTo>
                  <a:lnTo>
                    <a:pt x="363" y="0"/>
                  </a:lnTo>
                  <a:lnTo>
                    <a:pt x="0" y="332"/>
                  </a:lnTo>
                  <a:lnTo>
                    <a:pt x="138" y="651"/>
                  </a:lnTo>
                  <a:lnTo>
                    <a:pt x="606" y="891"/>
                  </a:lnTo>
                  <a:lnTo>
                    <a:pt x="977" y="980"/>
                  </a:lnTo>
                  <a:lnTo>
                    <a:pt x="1509" y="792"/>
                  </a:lnTo>
                  <a:lnTo>
                    <a:pt x="1697" y="355"/>
                  </a:lnTo>
                  <a:lnTo>
                    <a:pt x="1005" y="72"/>
                  </a:lnTo>
                  <a:close/>
                </a:path>
              </a:pathLst>
            </a:custGeom>
            <a:solidFill>
              <a:srgbClr val="FFFF85">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1" name="Freeform 10"/>
            <p:cNvSpPr>
              <a:spLocks/>
            </p:cNvSpPr>
            <p:nvPr/>
          </p:nvSpPr>
          <p:spPr bwMode="auto">
            <a:xfrm>
              <a:off x="4395" y="3064"/>
              <a:ext cx="1161" cy="564"/>
            </a:xfrm>
            <a:custGeom>
              <a:avLst/>
              <a:gdLst>
                <a:gd name="T0" fmla="*/ 4 w 2321"/>
                <a:gd name="T1" fmla="*/ 2 h 1127"/>
                <a:gd name="T2" fmla="*/ 4 w 2321"/>
                <a:gd name="T3" fmla="*/ 2 h 1127"/>
                <a:gd name="T4" fmla="*/ 4 w 2321"/>
                <a:gd name="T5" fmla="*/ 2 h 1127"/>
                <a:gd name="T6" fmla="*/ 5 w 2321"/>
                <a:gd name="T7" fmla="*/ 2 h 1127"/>
                <a:gd name="T8" fmla="*/ 5 w 2321"/>
                <a:gd name="T9" fmla="*/ 2 h 1127"/>
                <a:gd name="T10" fmla="*/ 5 w 2321"/>
                <a:gd name="T11" fmla="*/ 2 h 1127"/>
                <a:gd name="T12" fmla="*/ 6 w 2321"/>
                <a:gd name="T13" fmla="*/ 2 h 1127"/>
                <a:gd name="T14" fmla="*/ 5 w 2321"/>
                <a:gd name="T15" fmla="*/ 2 h 1127"/>
                <a:gd name="T16" fmla="*/ 5 w 2321"/>
                <a:gd name="T17" fmla="*/ 2 h 1127"/>
                <a:gd name="T18" fmla="*/ 4 w 2321"/>
                <a:gd name="T19" fmla="*/ 2 h 1127"/>
                <a:gd name="T20" fmla="*/ 3 w 2321"/>
                <a:gd name="T21" fmla="*/ 2 h 1127"/>
                <a:gd name="T22" fmla="*/ 3 w 2321"/>
                <a:gd name="T23" fmla="*/ 2 h 1127"/>
                <a:gd name="T24" fmla="*/ 3 w 2321"/>
                <a:gd name="T25" fmla="*/ 2 h 1127"/>
                <a:gd name="T26" fmla="*/ 2 w 2321"/>
                <a:gd name="T27" fmla="*/ 2 h 1127"/>
                <a:gd name="T28" fmla="*/ 2 w 2321"/>
                <a:gd name="T29" fmla="*/ 3 h 1127"/>
                <a:gd name="T30" fmla="*/ 2 w 2321"/>
                <a:gd name="T31" fmla="*/ 3 h 1127"/>
                <a:gd name="T32" fmla="*/ 3 w 2321"/>
                <a:gd name="T33" fmla="*/ 4 h 1127"/>
                <a:gd name="T34" fmla="*/ 3 w 2321"/>
                <a:gd name="T35" fmla="*/ 4 h 1127"/>
                <a:gd name="T36" fmla="*/ 3 w 2321"/>
                <a:gd name="T37" fmla="*/ 4 h 1127"/>
                <a:gd name="T38" fmla="*/ 4 w 2321"/>
                <a:gd name="T39" fmla="*/ 4 h 1127"/>
                <a:gd name="T40" fmla="*/ 4 w 2321"/>
                <a:gd name="T41" fmla="*/ 5 h 1127"/>
                <a:gd name="T42" fmla="*/ 5 w 2321"/>
                <a:gd name="T43" fmla="*/ 5 h 1127"/>
                <a:gd name="T44" fmla="*/ 4 w 2321"/>
                <a:gd name="T45" fmla="*/ 5 h 1127"/>
                <a:gd name="T46" fmla="*/ 3 w 2321"/>
                <a:gd name="T47" fmla="*/ 4 h 1127"/>
                <a:gd name="T48" fmla="*/ 2 w 2321"/>
                <a:gd name="T49" fmla="*/ 4 h 1127"/>
                <a:gd name="T50" fmla="*/ 2 w 2321"/>
                <a:gd name="T51" fmla="*/ 4 h 1127"/>
                <a:gd name="T52" fmla="*/ 1 w 2321"/>
                <a:gd name="T53" fmla="*/ 3 h 1127"/>
                <a:gd name="T54" fmla="*/ 1 w 2321"/>
                <a:gd name="T55" fmla="*/ 3 h 1127"/>
                <a:gd name="T56" fmla="*/ 1 w 2321"/>
                <a:gd name="T57" fmla="*/ 2 h 1127"/>
                <a:gd name="T58" fmla="*/ 1 w 2321"/>
                <a:gd name="T59" fmla="*/ 2 h 1127"/>
                <a:gd name="T60" fmla="*/ 1 w 2321"/>
                <a:gd name="T61" fmla="*/ 1 h 1127"/>
                <a:gd name="T62" fmla="*/ 1 w 2321"/>
                <a:gd name="T63" fmla="*/ 1 h 1127"/>
                <a:gd name="T64" fmla="*/ 2 w 2321"/>
                <a:gd name="T65" fmla="*/ 1 h 1127"/>
                <a:gd name="T66" fmla="*/ 3 w 2321"/>
                <a:gd name="T67" fmla="*/ 1 h 1127"/>
                <a:gd name="T68" fmla="*/ 4 w 2321"/>
                <a:gd name="T69" fmla="*/ 0 h 1127"/>
                <a:gd name="T70" fmla="*/ 5 w 2321"/>
                <a:gd name="T71" fmla="*/ 1 h 1127"/>
                <a:gd name="T72" fmla="*/ 6 w 2321"/>
                <a:gd name="T73" fmla="*/ 1 h 1127"/>
                <a:gd name="T74" fmla="*/ 6 w 2321"/>
                <a:gd name="T75" fmla="*/ 1 h 1127"/>
                <a:gd name="T76" fmla="*/ 7 w 2321"/>
                <a:gd name="T77" fmla="*/ 1 h 1127"/>
                <a:gd name="T78" fmla="*/ 8 w 2321"/>
                <a:gd name="T79" fmla="*/ 2 h 1127"/>
                <a:gd name="T80" fmla="*/ 9 w 2321"/>
                <a:gd name="T81" fmla="*/ 2 h 1127"/>
                <a:gd name="T82" fmla="*/ 9 w 2321"/>
                <a:gd name="T83" fmla="*/ 2 h 1127"/>
                <a:gd name="T84" fmla="*/ 9 w 2321"/>
                <a:gd name="T85" fmla="*/ 3 h 1127"/>
                <a:gd name="T86" fmla="*/ 10 w 2321"/>
                <a:gd name="T87" fmla="*/ 3 h 1127"/>
                <a:gd name="T88" fmla="*/ 10 w 2321"/>
                <a:gd name="T89" fmla="*/ 4 h 1127"/>
                <a:gd name="T90" fmla="*/ 9 w 2321"/>
                <a:gd name="T91" fmla="*/ 4 h 1127"/>
                <a:gd name="T92" fmla="*/ 9 w 2321"/>
                <a:gd name="T93" fmla="*/ 4 h 1127"/>
                <a:gd name="T94" fmla="*/ 9 w 2321"/>
                <a:gd name="T95" fmla="*/ 4 h 1127"/>
                <a:gd name="T96" fmla="*/ 9 w 2321"/>
                <a:gd name="T97" fmla="*/ 4 h 1127"/>
                <a:gd name="T98" fmla="*/ 8 w 2321"/>
                <a:gd name="T99" fmla="*/ 5 h 1127"/>
                <a:gd name="T100" fmla="*/ 8 w 2321"/>
                <a:gd name="T101" fmla="*/ 5 h 1127"/>
                <a:gd name="T102" fmla="*/ 7 w 2321"/>
                <a:gd name="T103" fmla="*/ 5 h 1127"/>
                <a:gd name="T104" fmla="*/ 6 w 2321"/>
                <a:gd name="T105" fmla="*/ 5 h 1127"/>
                <a:gd name="T106" fmla="*/ 6 w 2321"/>
                <a:gd name="T107" fmla="*/ 4 h 1127"/>
                <a:gd name="T108" fmla="*/ 5 w 2321"/>
                <a:gd name="T109" fmla="*/ 4 h 1127"/>
                <a:gd name="T110" fmla="*/ 5 w 2321"/>
                <a:gd name="T111" fmla="*/ 4 h 1127"/>
                <a:gd name="T112" fmla="*/ 4 w 2321"/>
                <a:gd name="T113" fmla="*/ 4 h 1127"/>
                <a:gd name="T114" fmla="*/ 4 w 2321"/>
                <a:gd name="T115" fmla="*/ 3 h 1127"/>
                <a:gd name="T116" fmla="*/ 4 w 2321"/>
                <a:gd name="T117" fmla="*/ 3 h 1127"/>
                <a:gd name="T118" fmla="*/ 4 w 2321"/>
                <a:gd name="T119" fmla="*/ 3 h 1127"/>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2321" h="1127">
                  <a:moveTo>
                    <a:pt x="844" y="551"/>
                  </a:moveTo>
                  <a:lnTo>
                    <a:pt x="844" y="544"/>
                  </a:lnTo>
                  <a:lnTo>
                    <a:pt x="846" y="538"/>
                  </a:lnTo>
                  <a:lnTo>
                    <a:pt x="848" y="530"/>
                  </a:lnTo>
                  <a:lnTo>
                    <a:pt x="850" y="523"/>
                  </a:lnTo>
                  <a:lnTo>
                    <a:pt x="852" y="515"/>
                  </a:lnTo>
                  <a:lnTo>
                    <a:pt x="854" y="511"/>
                  </a:lnTo>
                  <a:lnTo>
                    <a:pt x="858" y="504"/>
                  </a:lnTo>
                  <a:lnTo>
                    <a:pt x="861" y="498"/>
                  </a:lnTo>
                  <a:lnTo>
                    <a:pt x="865" y="490"/>
                  </a:lnTo>
                  <a:lnTo>
                    <a:pt x="869" y="485"/>
                  </a:lnTo>
                  <a:lnTo>
                    <a:pt x="873" y="479"/>
                  </a:lnTo>
                  <a:lnTo>
                    <a:pt x="878" y="473"/>
                  </a:lnTo>
                  <a:lnTo>
                    <a:pt x="882" y="468"/>
                  </a:lnTo>
                  <a:lnTo>
                    <a:pt x="888" y="462"/>
                  </a:lnTo>
                  <a:lnTo>
                    <a:pt x="894" y="456"/>
                  </a:lnTo>
                  <a:lnTo>
                    <a:pt x="899" y="450"/>
                  </a:lnTo>
                  <a:lnTo>
                    <a:pt x="905" y="445"/>
                  </a:lnTo>
                  <a:lnTo>
                    <a:pt x="911" y="439"/>
                  </a:lnTo>
                  <a:lnTo>
                    <a:pt x="916" y="433"/>
                  </a:lnTo>
                  <a:lnTo>
                    <a:pt x="924" y="430"/>
                  </a:lnTo>
                  <a:lnTo>
                    <a:pt x="928" y="424"/>
                  </a:lnTo>
                  <a:lnTo>
                    <a:pt x="935" y="420"/>
                  </a:lnTo>
                  <a:lnTo>
                    <a:pt x="943" y="414"/>
                  </a:lnTo>
                  <a:lnTo>
                    <a:pt x="951" y="411"/>
                  </a:lnTo>
                  <a:lnTo>
                    <a:pt x="958" y="405"/>
                  </a:lnTo>
                  <a:lnTo>
                    <a:pt x="966" y="401"/>
                  </a:lnTo>
                  <a:lnTo>
                    <a:pt x="975" y="397"/>
                  </a:lnTo>
                  <a:lnTo>
                    <a:pt x="983" y="393"/>
                  </a:lnTo>
                  <a:lnTo>
                    <a:pt x="993" y="388"/>
                  </a:lnTo>
                  <a:lnTo>
                    <a:pt x="1000" y="384"/>
                  </a:lnTo>
                  <a:lnTo>
                    <a:pt x="1010" y="380"/>
                  </a:lnTo>
                  <a:lnTo>
                    <a:pt x="1019" y="378"/>
                  </a:lnTo>
                  <a:lnTo>
                    <a:pt x="1027" y="373"/>
                  </a:lnTo>
                  <a:lnTo>
                    <a:pt x="1036" y="369"/>
                  </a:lnTo>
                  <a:lnTo>
                    <a:pt x="1046" y="365"/>
                  </a:lnTo>
                  <a:lnTo>
                    <a:pt x="1057" y="363"/>
                  </a:lnTo>
                  <a:lnTo>
                    <a:pt x="1067" y="359"/>
                  </a:lnTo>
                  <a:lnTo>
                    <a:pt x="1076" y="355"/>
                  </a:lnTo>
                  <a:lnTo>
                    <a:pt x="1088" y="354"/>
                  </a:lnTo>
                  <a:lnTo>
                    <a:pt x="1099" y="350"/>
                  </a:lnTo>
                  <a:lnTo>
                    <a:pt x="1108" y="348"/>
                  </a:lnTo>
                  <a:lnTo>
                    <a:pt x="1120" y="344"/>
                  </a:lnTo>
                  <a:lnTo>
                    <a:pt x="1129" y="342"/>
                  </a:lnTo>
                  <a:lnTo>
                    <a:pt x="1141" y="338"/>
                  </a:lnTo>
                  <a:lnTo>
                    <a:pt x="1152" y="336"/>
                  </a:lnTo>
                  <a:lnTo>
                    <a:pt x="1164" y="335"/>
                  </a:lnTo>
                  <a:lnTo>
                    <a:pt x="1177" y="333"/>
                  </a:lnTo>
                  <a:lnTo>
                    <a:pt x="1188" y="331"/>
                  </a:lnTo>
                  <a:lnTo>
                    <a:pt x="1200" y="327"/>
                  </a:lnTo>
                  <a:lnTo>
                    <a:pt x="1211" y="327"/>
                  </a:lnTo>
                  <a:lnTo>
                    <a:pt x="1223" y="323"/>
                  </a:lnTo>
                  <a:lnTo>
                    <a:pt x="1236" y="323"/>
                  </a:lnTo>
                  <a:lnTo>
                    <a:pt x="1247" y="321"/>
                  </a:lnTo>
                  <a:lnTo>
                    <a:pt x="1261" y="321"/>
                  </a:lnTo>
                  <a:lnTo>
                    <a:pt x="1272" y="319"/>
                  </a:lnTo>
                  <a:lnTo>
                    <a:pt x="1285" y="319"/>
                  </a:lnTo>
                  <a:lnTo>
                    <a:pt x="1299" y="317"/>
                  </a:lnTo>
                  <a:lnTo>
                    <a:pt x="1312" y="316"/>
                  </a:lnTo>
                  <a:lnTo>
                    <a:pt x="1325" y="316"/>
                  </a:lnTo>
                  <a:lnTo>
                    <a:pt x="1338" y="316"/>
                  </a:lnTo>
                  <a:lnTo>
                    <a:pt x="1352" y="316"/>
                  </a:lnTo>
                  <a:lnTo>
                    <a:pt x="1365" y="316"/>
                  </a:lnTo>
                  <a:lnTo>
                    <a:pt x="1378" y="316"/>
                  </a:lnTo>
                  <a:lnTo>
                    <a:pt x="1392" y="316"/>
                  </a:lnTo>
                  <a:lnTo>
                    <a:pt x="1399" y="306"/>
                  </a:lnTo>
                  <a:lnTo>
                    <a:pt x="1377" y="300"/>
                  </a:lnTo>
                  <a:lnTo>
                    <a:pt x="1354" y="298"/>
                  </a:lnTo>
                  <a:lnTo>
                    <a:pt x="1331" y="295"/>
                  </a:lnTo>
                  <a:lnTo>
                    <a:pt x="1308" y="291"/>
                  </a:lnTo>
                  <a:lnTo>
                    <a:pt x="1285" y="287"/>
                  </a:lnTo>
                  <a:lnTo>
                    <a:pt x="1264" y="285"/>
                  </a:lnTo>
                  <a:lnTo>
                    <a:pt x="1242" y="283"/>
                  </a:lnTo>
                  <a:lnTo>
                    <a:pt x="1221" y="281"/>
                  </a:lnTo>
                  <a:lnTo>
                    <a:pt x="1200" y="278"/>
                  </a:lnTo>
                  <a:lnTo>
                    <a:pt x="1177" y="278"/>
                  </a:lnTo>
                  <a:lnTo>
                    <a:pt x="1156" y="276"/>
                  </a:lnTo>
                  <a:lnTo>
                    <a:pt x="1135" y="276"/>
                  </a:lnTo>
                  <a:lnTo>
                    <a:pt x="1114" y="274"/>
                  </a:lnTo>
                  <a:lnTo>
                    <a:pt x="1093" y="274"/>
                  </a:lnTo>
                  <a:lnTo>
                    <a:pt x="1072" y="274"/>
                  </a:lnTo>
                  <a:lnTo>
                    <a:pt x="1053" y="274"/>
                  </a:lnTo>
                  <a:lnTo>
                    <a:pt x="1032" y="274"/>
                  </a:lnTo>
                  <a:lnTo>
                    <a:pt x="1012" y="274"/>
                  </a:lnTo>
                  <a:lnTo>
                    <a:pt x="993" y="276"/>
                  </a:lnTo>
                  <a:lnTo>
                    <a:pt x="974" y="276"/>
                  </a:lnTo>
                  <a:lnTo>
                    <a:pt x="953" y="278"/>
                  </a:lnTo>
                  <a:lnTo>
                    <a:pt x="934" y="279"/>
                  </a:lnTo>
                  <a:lnTo>
                    <a:pt x="916" y="281"/>
                  </a:lnTo>
                  <a:lnTo>
                    <a:pt x="897" y="283"/>
                  </a:lnTo>
                  <a:lnTo>
                    <a:pt x="878" y="285"/>
                  </a:lnTo>
                  <a:lnTo>
                    <a:pt x="861" y="289"/>
                  </a:lnTo>
                  <a:lnTo>
                    <a:pt x="842" y="291"/>
                  </a:lnTo>
                  <a:lnTo>
                    <a:pt x="825" y="295"/>
                  </a:lnTo>
                  <a:lnTo>
                    <a:pt x="808" y="297"/>
                  </a:lnTo>
                  <a:lnTo>
                    <a:pt x="793" y="300"/>
                  </a:lnTo>
                  <a:lnTo>
                    <a:pt x="776" y="304"/>
                  </a:lnTo>
                  <a:lnTo>
                    <a:pt x="761" y="310"/>
                  </a:lnTo>
                  <a:lnTo>
                    <a:pt x="743" y="312"/>
                  </a:lnTo>
                  <a:lnTo>
                    <a:pt x="728" y="317"/>
                  </a:lnTo>
                  <a:lnTo>
                    <a:pt x="713" y="321"/>
                  </a:lnTo>
                  <a:lnTo>
                    <a:pt x="698" y="327"/>
                  </a:lnTo>
                  <a:lnTo>
                    <a:pt x="683" y="331"/>
                  </a:lnTo>
                  <a:lnTo>
                    <a:pt x="669" y="336"/>
                  </a:lnTo>
                  <a:lnTo>
                    <a:pt x="654" y="342"/>
                  </a:lnTo>
                  <a:lnTo>
                    <a:pt x="643" y="348"/>
                  </a:lnTo>
                  <a:lnTo>
                    <a:pt x="628" y="354"/>
                  </a:lnTo>
                  <a:lnTo>
                    <a:pt x="616" y="359"/>
                  </a:lnTo>
                  <a:lnTo>
                    <a:pt x="603" y="365"/>
                  </a:lnTo>
                  <a:lnTo>
                    <a:pt x="593" y="373"/>
                  </a:lnTo>
                  <a:lnTo>
                    <a:pt x="580" y="380"/>
                  </a:lnTo>
                  <a:lnTo>
                    <a:pt x="571" y="386"/>
                  </a:lnTo>
                  <a:lnTo>
                    <a:pt x="559" y="393"/>
                  </a:lnTo>
                  <a:lnTo>
                    <a:pt x="550" y="403"/>
                  </a:lnTo>
                  <a:lnTo>
                    <a:pt x="538" y="409"/>
                  </a:lnTo>
                  <a:lnTo>
                    <a:pt x="529" y="416"/>
                  </a:lnTo>
                  <a:lnTo>
                    <a:pt x="521" y="426"/>
                  </a:lnTo>
                  <a:lnTo>
                    <a:pt x="512" y="433"/>
                  </a:lnTo>
                  <a:lnTo>
                    <a:pt x="504" y="441"/>
                  </a:lnTo>
                  <a:lnTo>
                    <a:pt x="494" y="450"/>
                  </a:lnTo>
                  <a:lnTo>
                    <a:pt x="489" y="458"/>
                  </a:lnTo>
                  <a:lnTo>
                    <a:pt x="483" y="468"/>
                  </a:lnTo>
                  <a:lnTo>
                    <a:pt x="475" y="477"/>
                  </a:lnTo>
                  <a:lnTo>
                    <a:pt x="472" y="487"/>
                  </a:lnTo>
                  <a:lnTo>
                    <a:pt x="466" y="496"/>
                  </a:lnTo>
                  <a:lnTo>
                    <a:pt x="462" y="506"/>
                  </a:lnTo>
                  <a:lnTo>
                    <a:pt x="456" y="515"/>
                  </a:lnTo>
                  <a:lnTo>
                    <a:pt x="455" y="525"/>
                  </a:lnTo>
                  <a:lnTo>
                    <a:pt x="451" y="536"/>
                  </a:lnTo>
                  <a:lnTo>
                    <a:pt x="449" y="547"/>
                  </a:lnTo>
                  <a:lnTo>
                    <a:pt x="447" y="557"/>
                  </a:lnTo>
                  <a:lnTo>
                    <a:pt x="445" y="566"/>
                  </a:lnTo>
                  <a:lnTo>
                    <a:pt x="445" y="576"/>
                  </a:lnTo>
                  <a:lnTo>
                    <a:pt x="445" y="585"/>
                  </a:lnTo>
                  <a:lnTo>
                    <a:pt x="445" y="595"/>
                  </a:lnTo>
                  <a:lnTo>
                    <a:pt x="445" y="604"/>
                  </a:lnTo>
                  <a:lnTo>
                    <a:pt x="445" y="614"/>
                  </a:lnTo>
                  <a:lnTo>
                    <a:pt x="447" y="625"/>
                  </a:lnTo>
                  <a:lnTo>
                    <a:pt x="449" y="635"/>
                  </a:lnTo>
                  <a:lnTo>
                    <a:pt x="451" y="644"/>
                  </a:lnTo>
                  <a:lnTo>
                    <a:pt x="453" y="654"/>
                  </a:lnTo>
                  <a:lnTo>
                    <a:pt x="456" y="665"/>
                  </a:lnTo>
                  <a:lnTo>
                    <a:pt x="460" y="673"/>
                  </a:lnTo>
                  <a:lnTo>
                    <a:pt x="464" y="684"/>
                  </a:lnTo>
                  <a:lnTo>
                    <a:pt x="468" y="694"/>
                  </a:lnTo>
                  <a:lnTo>
                    <a:pt x="474" y="705"/>
                  </a:lnTo>
                  <a:lnTo>
                    <a:pt x="479" y="715"/>
                  </a:lnTo>
                  <a:lnTo>
                    <a:pt x="485" y="724"/>
                  </a:lnTo>
                  <a:lnTo>
                    <a:pt x="491" y="734"/>
                  </a:lnTo>
                  <a:lnTo>
                    <a:pt x="498" y="743"/>
                  </a:lnTo>
                  <a:lnTo>
                    <a:pt x="502" y="753"/>
                  </a:lnTo>
                  <a:lnTo>
                    <a:pt x="510" y="764"/>
                  </a:lnTo>
                  <a:lnTo>
                    <a:pt x="519" y="774"/>
                  </a:lnTo>
                  <a:lnTo>
                    <a:pt x="527" y="785"/>
                  </a:lnTo>
                  <a:lnTo>
                    <a:pt x="534" y="794"/>
                  </a:lnTo>
                  <a:lnTo>
                    <a:pt x="544" y="804"/>
                  </a:lnTo>
                  <a:lnTo>
                    <a:pt x="551" y="813"/>
                  </a:lnTo>
                  <a:lnTo>
                    <a:pt x="563" y="823"/>
                  </a:lnTo>
                  <a:lnTo>
                    <a:pt x="571" y="832"/>
                  </a:lnTo>
                  <a:lnTo>
                    <a:pt x="582" y="842"/>
                  </a:lnTo>
                  <a:lnTo>
                    <a:pt x="593" y="851"/>
                  </a:lnTo>
                  <a:lnTo>
                    <a:pt x="605" y="863"/>
                  </a:lnTo>
                  <a:lnTo>
                    <a:pt x="616" y="870"/>
                  </a:lnTo>
                  <a:lnTo>
                    <a:pt x="626" y="880"/>
                  </a:lnTo>
                  <a:lnTo>
                    <a:pt x="637" y="890"/>
                  </a:lnTo>
                  <a:lnTo>
                    <a:pt x="650" y="899"/>
                  </a:lnTo>
                  <a:lnTo>
                    <a:pt x="662" y="907"/>
                  </a:lnTo>
                  <a:lnTo>
                    <a:pt x="675" y="918"/>
                  </a:lnTo>
                  <a:lnTo>
                    <a:pt x="688" y="926"/>
                  </a:lnTo>
                  <a:lnTo>
                    <a:pt x="702" y="935"/>
                  </a:lnTo>
                  <a:lnTo>
                    <a:pt x="715" y="945"/>
                  </a:lnTo>
                  <a:lnTo>
                    <a:pt x="728" y="954"/>
                  </a:lnTo>
                  <a:lnTo>
                    <a:pt x="743" y="962"/>
                  </a:lnTo>
                  <a:lnTo>
                    <a:pt x="759" y="971"/>
                  </a:lnTo>
                  <a:lnTo>
                    <a:pt x="772" y="979"/>
                  </a:lnTo>
                  <a:lnTo>
                    <a:pt x="787" y="986"/>
                  </a:lnTo>
                  <a:lnTo>
                    <a:pt x="802" y="996"/>
                  </a:lnTo>
                  <a:lnTo>
                    <a:pt x="820" y="1005"/>
                  </a:lnTo>
                  <a:lnTo>
                    <a:pt x="835" y="1011"/>
                  </a:lnTo>
                  <a:lnTo>
                    <a:pt x="850" y="1019"/>
                  </a:lnTo>
                  <a:lnTo>
                    <a:pt x="867" y="1026"/>
                  </a:lnTo>
                  <a:lnTo>
                    <a:pt x="884" y="1036"/>
                  </a:lnTo>
                  <a:lnTo>
                    <a:pt x="901" y="1042"/>
                  </a:lnTo>
                  <a:lnTo>
                    <a:pt x="918" y="1049"/>
                  </a:lnTo>
                  <a:lnTo>
                    <a:pt x="935" y="1057"/>
                  </a:lnTo>
                  <a:lnTo>
                    <a:pt x="955" y="1064"/>
                  </a:lnTo>
                  <a:lnTo>
                    <a:pt x="972" y="1072"/>
                  </a:lnTo>
                  <a:lnTo>
                    <a:pt x="991" y="1080"/>
                  </a:lnTo>
                  <a:lnTo>
                    <a:pt x="1008" y="1085"/>
                  </a:lnTo>
                  <a:lnTo>
                    <a:pt x="1027" y="1093"/>
                  </a:lnTo>
                  <a:lnTo>
                    <a:pt x="1046" y="1099"/>
                  </a:lnTo>
                  <a:lnTo>
                    <a:pt x="1065" y="1106"/>
                  </a:lnTo>
                  <a:lnTo>
                    <a:pt x="1084" y="1112"/>
                  </a:lnTo>
                  <a:lnTo>
                    <a:pt x="1105" y="1118"/>
                  </a:lnTo>
                  <a:lnTo>
                    <a:pt x="1103" y="1121"/>
                  </a:lnTo>
                  <a:lnTo>
                    <a:pt x="1103" y="1127"/>
                  </a:lnTo>
                  <a:lnTo>
                    <a:pt x="1095" y="1125"/>
                  </a:lnTo>
                  <a:lnTo>
                    <a:pt x="1088" y="1123"/>
                  </a:lnTo>
                  <a:lnTo>
                    <a:pt x="1082" y="1121"/>
                  </a:lnTo>
                  <a:lnTo>
                    <a:pt x="1076" y="1119"/>
                  </a:lnTo>
                  <a:lnTo>
                    <a:pt x="1069" y="1118"/>
                  </a:lnTo>
                  <a:lnTo>
                    <a:pt x="1061" y="1118"/>
                  </a:lnTo>
                  <a:lnTo>
                    <a:pt x="1055" y="1116"/>
                  </a:lnTo>
                  <a:lnTo>
                    <a:pt x="1050" y="1116"/>
                  </a:lnTo>
                  <a:lnTo>
                    <a:pt x="1019" y="1110"/>
                  </a:lnTo>
                  <a:lnTo>
                    <a:pt x="989" y="1102"/>
                  </a:lnTo>
                  <a:lnTo>
                    <a:pt x="958" y="1095"/>
                  </a:lnTo>
                  <a:lnTo>
                    <a:pt x="930" y="1089"/>
                  </a:lnTo>
                  <a:lnTo>
                    <a:pt x="901" y="1080"/>
                  </a:lnTo>
                  <a:lnTo>
                    <a:pt x="873" y="1072"/>
                  </a:lnTo>
                  <a:lnTo>
                    <a:pt x="846" y="1062"/>
                  </a:lnTo>
                  <a:lnTo>
                    <a:pt x="818" y="1057"/>
                  </a:lnTo>
                  <a:lnTo>
                    <a:pt x="789" y="1045"/>
                  </a:lnTo>
                  <a:lnTo>
                    <a:pt x="763" y="1036"/>
                  </a:lnTo>
                  <a:lnTo>
                    <a:pt x="736" y="1028"/>
                  </a:lnTo>
                  <a:lnTo>
                    <a:pt x="709" y="1019"/>
                  </a:lnTo>
                  <a:lnTo>
                    <a:pt x="683" y="1007"/>
                  </a:lnTo>
                  <a:lnTo>
                    <a:pt x="658" y="998"/>
                  </a:lnTo>
                  <a:lnTo>
                    <a:pt x="633" y="988"/>
                  </a:lnTo>
                  <a:lnTo>
                    <a:pt x="609" y="979"/>
                  </a:lnTo>
                  <a:lnTo>
                    <a:pt x="582" y="967"/>
                  </a:lnTo>
                  <a:lnTo>
                    <a:pt x="557" y="958"/>
                  </a:lnTo>
                  <a:lnTo>
                    <a:pt x="534" y="947"/>
                  </a:lnTo>
                  <a:lnTo>
                    <a:pt x="512" y="935"/>
                  </a:lnTo>
                  <a:lnTo>
                    <a:pt x="487" y="924"/>
                  </a:lnTo>
                  <a:lnTo>
                    <a:pt x="466" y="910"/>
                  </a:lnTo>
                  <a:lnTo>
                    <a:pt x="443" y="899"/>
                  </a:lnTo>
                  <a:lnTo>
                    <a:pt x="422" y="888"/>
                  </a:lnTo>
                  <a:lnTo>
                    <a:pt x="399" y="874"/>
                  </a:lnTo>
                  <a:lnTo>
                    <a:pt x="379" y="863"/>
                  </a:lnTo>
                  <a:lnTo>
                    <a:pt x="359" y="850"/>
                  </a:lnTo>
                  <a:lnTo>
                    <a:pt x="340" y="838"/>
                  </a:lnTo>
                  <a:lnTo>
                    <a:pt x="320" y="827"/>
                  </a:lnTo>
                  <a:lnTo>
                    <a:pt x="301" y="813"/>
                  </a:lnTo>
                  <a:lnTo>
                    <a:pt x="282" y="800"/>
                  </a:lnTo>
                  <a:lnTo>
                    <a:pt x="266" y="789"/>
                  </a:lnTo>
                  <a:lnTo>
                    <a:pt x="247" y="774"/>
                  </a:lnTo>
                  <a:lnTo>
                    <a:pt x="230" y="760"/>
                  </a:lnTo>
                  <a:lnTo>
                    <a:pt x="213" y="747"/>
                  </a:lnTo>
                  <a:lnTo>
                    <a:pt x="198" y="734"/>
                  </a:lnTo>
                  <a:lnTo>
                    <a:pt x="183" y="720"/>
                  </a:lnTo>
                  <a:lnTo>
                    <a:pt x="168" y="707"/>
                  </a:lnTo>
                  <a:lnTo>
                    <a:pt x="154" y="692"/>
                  </a:lnTo>
                  <a:lnTo>
                    <a:pt x="141" y="680"/>
                  </a:lnTo>
                  <a:lnTo>
                    <a:pt x="128" y="665"/>
                  </a:lnTo>
                  <a:lnTo>
                    <a:pt x="114" y="652"/>
                  </a:lnTo>
                  <a:lnTo>
                    <a:pt x="103" y="639"/>
                  </a:lnTo>
                  <a:lnTo>
                    <a:pt x="91" y="623"/>
                  </a:lnTo>
                  <a:lnTo>
                    <a:pt x="80" y="610"/>
                  </a:lnTo>
                  <a:lnTo>
                    <a:pt x="71" y="595"/>
                  </a:lnTo>
                  <a:lnTo>
                    <a:pt x="63" y="582"/>
                  </a:lnTo>
                  <a:lnTo>
                    <a:pt x="53" y="568"/>
                  </a:lnTo>
                  <a:lnTo>
                    <a:pt x="44" y="553"/>
                  </a:lnTo>
                  <a:lnTo>
                    <a:pt x="38" y="538"/>
                  </a:lnTo>
                  <a:lnTo>
                    <a:pt x="31" y="525"/>
                  </a:lnTo>
                  <a:lnTo>
                    <a:pt x="25" y="511"/>
                  </a:lnTo>
                  <a:lnTo>
                    <a:pt x="19" y="496"/>
                  </a:lnTo>
                  <a:lnTo>
                    <a:pt x="14" y="481"/>
                  </a:lnTo>
                  <a:lnTo>
                    <a:pt x="10" y="468"/>
                  </a:lnTo>
                  <a:lnTo>
                    <a:pt x="8" y="454"/>
                  </a:lnTo>
                  <a:lnTo>
                    <a:pt x="4" y="439"/>
                  </a:lnTo>
                  <a:lnTo>
                    <a:pt x="2" y="426"/>
                  </a:lnTo>
                  <a:lnTo>
                    <a:pt x="0" y="411"/>
                  </a:lnTo>
                  <a:lnTo>
                    <a:pt x="0" y="397"/>
                  </a:lnTo>
                  <a:lnTo>
                    <a:pt x="0" y="384"/>
                  </a:lnTo>
                  <a:lnTo>
                    <a:pt x="2" y="371"/>
                  </a:lnTo>
                  <a:lnTo>
                    <a:pt x="4" y="355"/>
                  </a:lnTo>
                  <a:lnTo>
                    <a:pt x="8" y="344"/>
                  </a:lnTo>
                  <a:lnTo>
                    <a:pt x="10" y="329"/>
                  </a:lnTo>
                  <a:lnTo>
                    <a:pt x="14" y="316"/>
                  </a:lnTo>
                  <a:lnTo>
                    <a:pt x="17" y="302"/>
                  </a:lnTo>
                  <a:lnTo>
                    <a:pt x="23" y="289"/>
                  </a:lnTo>
                  <a:lnTo>
                    <a:pt x="29" y="276"/>
                  </a:lnTo>
                  <a:lnTo>
                    <a:pt x="36" y="264"/>
                  </a:lnTo>
                  <a:lnTo>
                    <a:pt x="44" y="251"/>
                  </a:lnTo>
                  <a:lnTo>
                    <a:pt x="53" y="239"/>
                  </a:lnTo>
                  <a:lnTo>
                    <a:pt x="61" y="228"/>
                  </a:lnTo>
                  <a:lnTo>
                    <a:pt x="71" y="217"/>
                  </a:lnTo>
                  <a:lnTo>
                    <a:pt x="80" y="205"/>
                  </a:lnTo>
                  <a:lnTo>
                    <a:pt x="91" y="196"/>
                  </a:lnTo>
                  <a:lnTo>
                    <a:pt x="103" y="184"/>
                  </a:lnTo>
                  <a:lnTo>
                    <a:pt x="114" y="173"/>
                  </a:lnTo>
                  <a:lnTo>
                    <a:pt x="128" y="163"/>
                  </a:lnTo>
                  <a:lnTo>
                    <a:pt x="141" y="154"/>
                  </a:lnTo>
                  <a:lnTo>
                    <a:pt x="154" y="144"/>
                  </a:lnTo>
                  <a:lnTo>
                    <a:pt x="168" y="135"/>
                  </a:lnTo>
                  <a:lnTo>
                    <a:pt x="183" y="125"/>
                  </a:lnTo>
                  <a:lnTo>
                    <a:pt x="198" y="118"/>
                  </a:lnTo>
                  <a:lnTo>
                    <a:pt x="215" y="110"/>
                  </a:lnTo>
                  <a:lnTo>
                    <a:pt x="230" y="101"/>
                  </a:lnTo>
                  <a:lnTo>
                    <a:pt x="247" y="93"/>
                  </a:lnTo>
                  <a:lnTo>
                    <a:pt x="266" y="87"/>
                  </a:lnTo>
                  <a:lnTo>
                    <a:pt x="283" y="78"/>
                  </a:lnTo>
                  <a:lnTo>
                    <a:pt x="301" y="72"/>
                  </a:lnTo>
                  <a:lnTo>
                    <a:pt x="320" y="65"/>
                  </a:lnTo>
                  <a:lnTo>
                    <a:pt x="340" y="59"/>
                  </a:lnTo>
                  <a:lnTo>
                    <a:pt x="359" y="53"/>
                  </a:lnTo>
                  <a:lnTo>
                    <a:pt x="380" y="48"/>
                  </a:lnTo>
                  <a:lnTo>
                    <a:pt x="401" y="42"/>
                  </a:lnTo>
                  <a:lnTo>
                    <a:pt x="424" y="38"/>
                  </a:lnTo>
                  <a:lnTo>
                    <a:pt x="445" y="32"/>
                  </a:lnTo>
                  <a:lnTo>
                    <a:pt x="468" y="29"/>
                  </a:lnTo>
                  <a:lnTo>
                    <a:pt x="489" y="23"/>
                  </a:lnTo>
                  <a:lnTo>
                    <a:pt x="512" y="19"/>
                  </a:lnTo>
                  <a:lnTo>
                    <a:pt x="534" y="15"/>
                  </a:lnTo>
                  <a:lnTo>
                    <a:pt x="559" y="11"/>
                  </a:lnTo>
                  <a:lnTo>
                    <a:pt x="584" y="10"/>
                  </a:lnTo>
                  <a:lnTo>
                    <a:pt x="609" y="8"/>
                  </a:lnTo>
                  <a:lnTo>
                    <a:pt x="631" y="6"/>
                  </a:lnTo>
                  <a:lnTo>
                    <a:pt x="656" y="4"/>
                  </a:lnTo>
                  <a:lnTo>
                    <a:pt x="683" y="2"/>
                  </a:lnTo>
                  <a:lnTo>
                    <a:pt x="707" y="2"/>
                  </a:lnTo>
                  <a:lnTo>
                    <a:pt x="734" y="0"/>
                  </a:lnTo>
                  <a:lnTo>
                    <a:pt x="761" y="0"/>
                  </a:lnTo>
                  <a:lnTo>
                    <a:pt x="787" y="0"/>
                  </a:lnTo>
                  <a:lnTo>
                    <a:pt x="814" y="0"/>
                  </a:lnTo>
                  <a:lnTo>
                    <a:pt x="840" y="0"/>
                  </a:lnTo>
                  <a:lnTo>
                    <a:pt x="869" y="2"/>
                  </a:lnTo>
                  <a:lnTo>
                    <a:pt x="896" y="2"/>
                  </a:lnTo>
                  <a:lnTo>
                    <a:pt x="924" y="4"/>
                  </a:lnTo>
                  <a:lnTo>
                    <a:pt x="951" y="6"/>
                  </a:lnTo>
                  <a:lnTo>
                    <a:pt x="979" y="10"/>
                  </a:lnTo>
                  <a:lnTo>
                    <a:pt x="1008" y="11"/>
                  </a:lnTo>
                  <a:lnTo>
                    <a:pt x="1036" y="15"/>
                  </a:lnTo>
                  <a:lnTo>
                    <a:pt x="1065" y="17"/>
                  </a:lnTo>
                  <a:lnTo>
                    <a:pt x="1095" y="21"/>
                  </a:lnTo>
                  <a:lnTo>
                    <a:pt x="1124" y="25"/>
                  </a:lnTo>
                  <a:lnTo>
                    <a:pt x="1154" y="30"/>
                  </a:lnTo>
                  <a:lnTo>
                    <a:pt x="1183" y="34"/>
                  </a:lnTo>
                  <a:lnTo>
                    <a:pt x="1211" y="40"/>
                  </a:lnTo>
                  <a:lnTo>
                    <a:pt x="1242" y="46"/>
                  </a:lnTo>
                  <a:lnTo>
                    <a:pt x="1272" y="53"/>
                  </a:lnTo>
                  <a:lnTo>
                    <a:pt x="1299" y="59"/>
                  </a:lnTo>
                  <a:lnTo>
                    <a:pt x="1325" y="65"/>
                  </a:lnTo>
                  <a:lnTo>
                    <a:pt x="1350" y="70"/>
                  </a:lnTo>
                  <a:lnTo>
                    <a:pt x="1377" y="78"/>
                  </a:lnTo>
                  <a:lnTo>
                    <a:pt x="1403" y="84"/>
                  </a:lnTo>
                  <a:lnTo>
                    <a:pt x="1428" y="91"/>
                  </a:lnTo>
                  <a:lnTo>
                    <a:pt x="1453" y="97"/>
                  </a:lnTo>
                  <a:lnTo>
                    <a:pt x="1479" y="106"/>
                  </a:lnTo>
                  <a:lnTo>
                    <a:pt x="1502" y="114"/>
                  </a:lnTo>
                  <a:lnTo>
                    <a:pt x="1527" y="120"/>
                  </a:lnTo>
                  <a:lnTo>
                    <a:pt x="1551" y="129"/>
                  </a:lnTo>
                  <a:lnTo>
                    <a:pt x="1576" y="137"/>
                  </a:lnTo>
                  <a:lnTo>
                    <a:pt x="1599" y="144"/>
                  </a:lnTo>
                  <a:lnTo>
                    <a:pt x="1624" y="154"/>
                  </a:lnTo>
                  <a:lnTo>
                    <a:pt x="1646" y="163"/>
                  </a:lnTo>
                  <a:lnTo>
                    <a:pt x="1669" y="173"/>
                  </a:lnTo>
                  <a:lnTo>
                    <a:pt x="1692" y="181"/>
                  </a:lnTo>
                  <a:lnTo>
                    <a:pt x="1713" y="192"/>
                  </a:lnTo>
                  <a:lnTo>
                    <a:pt x="1736" y="200"/>
                  </a:lnTo>
                  <a:lnTo>
                    <a:pt x="1759" y="211"/>
                  </a:lnTo>
                  <a:lnTo>
                    <a:pt x="1780" y="220"/>
                  </a:lnTo>
                  <a:lnTo>
                    <a:pt x="1800" y="230"/>
                  </a:lnTo>
                  <a:lnTo>
                    <a:pt x="1821" y="241"/>
                  </a:lnTo>
                  <a:lnTo>
                    <a:pt x="1842" y="251"/>
                  </a:lnTo>
                  <a:lnTo>
                    <a:pt x="1863" y="262"/>
                  </a:lnTo>
                  <a:lnTo>
                    <a:pt x="1882" y="272"/>
                  </a:lnTo>
                  <a:lnTo>
                    <a:pt x="1901" y="283"/>
                  </a:lnTo>
                  <a:lnTo>
                    <a:pt x="1920" y="295"/>
                  </a:lnTo>
                  <a:lnTo>
                    <a:pt x="1939" y="304"/>
                  </a:lnTo>
                  <a:lnTo>
                    <a:pt x="1958" y="316"/>
                  </a:lnTo>
                  <a:lnTo>
                    <a:pt x="1975" y="327"/>
                  </a:lnTo>
                  <a:lnTo>
                    <a:pt x="1994" y="340"/>
                  </a:lnTo>
                  <a:lnTo>
                    <a:pt x="2011" y="350"/>
                  </a:lnTo>
                  <a:lnTo>
                    <a:pt x="2027" y="361"/>
                  </a:lnTo>
                  <a:lnTo>
                    <a:pt x="2042" y="374"/>
                  </a:lnTo>
                  <a:lnTo>
                    <a:pt x="2059" y="386"/>
                  </a:lnTo>
                  <a:lnTo>
                    <a:pt x="2074" y="397"/>
                  </a:lnTo>
                  <a:lnTo>
                    <a:pt x="2089" y="409"/>
                  </a:lnTo>
                  <a:lnTo>
                    <a:pt x="2105" y="420"/>
                  </a:lnTo>
                  <a:lnTo>
                    <a:pt x="2118" y="433"/>
                  </a:lnTo>
                  <a:lnTo>
                    <a:pt x="2131" y="445"/>
                  </a:lnTo>
                  <a:lnTo>
                    <a:pt x="2145" y="458"/>
                  </a:lnTo>
                  <a:lnTo>
                    <a:pt x="2158" y="469"/>
                  </a:lnTo>
                  <a:lnTo>
                    <a:pt x="2171" y="483"/>
                  </a:lnTo>
                  <a:lnTo>
                    <a:pt x="2183" y="494"/>
                  </a:lnTo>
                  <a:lnTo>
                    <a:pt x="2194" y="507"/>
                  </a:lnTo>
                  <a:lnTo>
                    <a:pt x="2205" y="519"/>
                  </a:lnTo>
                  <a:lnTo>
                    <a:pt x="2217" y="534"/>
                  </a:lnTo>
                  <a:lnTo>
                    <a:pt x="2226" y="545"/>
                  </a:lnTo>
                  <a:lnTo>
                    <a:pt x="2236" y="559"/>
                  </a:lnTo>
                  <a:lnTo>
                    <a:pt x="2245" y="570"/>
                  </a:lnTo>
                  <a:lnTo>
                    <a:pt x="2255" y="584"/>
                  </a:lnTo>
                  <a:lnTo>
                    <a:pt x="2262" y="595"/>
                  </a:lnTo>
                  <a:lnTo>
                    <a:pt x="2270" y="608"/>
                  </a:lnTo>
                  <a:lnTo>
                    <a:pt x="2276" y="622"/>
                  </a:lnTo>
                  <a:lnTo>
                    <a:pt x="2283" y="635"/>
                  </a:lnTo>
                  <a:lnTo>
                    <a:pt x="2289" y="646"/>
                  </a:lnTo>
                  <a:lnTo>
                    <a:pt x="2295" y="660"/>
                  </a:lnTo>
                  <a:lnTo>
                    <a:pt x="2298" y="673"/>
                  </a:lnTo>
                  <a:lnTo>
                    <a:pt x="2304" y="686"/>
                  </a:lnTo>
                  <a:lnTo>
                    <a:pt x="2308" y="698"/>
                  </a:lnTo>
                  <a:lnTo>
                    <a:pt x="2312" y="711"/>
                  </a:lnTo>
                  <a:lnTo>
                    <a:pt x="2314" y="724"/>
                  </a:lnTo>
                  <a:lnTo>
                    <a:pt x="2317" y="737"/>
                  </a:lnTo>
                  <a:lnTo>
                    <a:pt x="2317" y="747"/>
                  </a:lnTo>
                  <a:lnTo>
                    <a:pt x="2319" y="755"/>
                  </a:lnTo>
                  <a:lnTo>
                    <a:pt x="2319" y="764"/>
                  </a:lnTo>
                  <a:lnTo>
                    <a:pt x="2321" y="774"/>
                  </a:lnTo>
                  <a:lnTo>
                    <a:pt x="2321" y="783"/>
                  </a:lnTo>
                  <a:lnTo>
                    <a:pt x="2321" y="793"/>
                  </a:lnTo>
                  <a:lnTo>
                    <a:pt x="2319" y="800"/>
                  </a:lnTo>
                  <a:lnTo>
                    <a:pt x="2319" y="812"/>
                  </a:lnTo>
                  <a:lnTo>
                    <a:pt x="2316" y="819"/>
                  </a:lnTo>
                  <a:lnTo>
                    <a:pt x="2314" y="829"/>
                  </a:lnTo>
                  <a:lnTo>
                    <a:pt x="2310" y="836"/>
                  </a:lnTo>
                  <a:lnTo>
                    <a:pt x="2308" y="846"/>
                  </a:lnTo>
                  <a:lnTo>
                    <a:pt x="2304" y="855"/>
                  </a:lnTo>
                  <a:lnTo>
                    <a:pt x="2302" y="865"/>
                  </a:lnTo>
                  <a:lnTo>
                    <a:pt x="2298" y="872"/>
                  </a:lnTo>
                  <a:lnTo>
                    <a:pt x="2295" y="882"/>
                  </a:lnTo>
                  <a:lnTo>
                    <a:pt x="2295" y="878"/>
                  </a:lnTo>
                  <a:lnTo>
                    <a:pt x="2295" y="874"/>
                  </a:lnTo>
                  <a:lnTo>
                    <a:pt x="2289" y="882"/>
                  </a:lnTo>
                  <a:lnTo>
                    <a:pt x="2285" y="888"/>
                  </a:lnTo>
                  <a:lnTo>
                    <a:pt x="2279" y="895"/>
                  </a:lnTo>
                  <a:lnTo>
                    <a:pt x="2274" y="901"/>
                  </a:lnTo>
                  <a:lnTo>
                    <a:pt x="2268" y="907"/>
                  </a:lnTo>
                  <a:lnTo>
                    <a:pt x="2262" y="914"/>
                  </a:lnTo>
                  <a:lnTo>
                    <a:pt x="2255" y="920"/>
                  </a:lnTo>
                  <a:lnTo>
                    <a:pt x="2249" y="928"/>
                  </a:lnTo>
                  <a:lnTo>
                    <a:pt x="2241" y="933"/>
                  </a:lnTo>
                  <a:lnTo>
                    <a:pt x="2234" y="939"/>
                  </a:lnTo>
                  <a:lnTo>
                    <a:pt x="2224" y="945"/>
                  </a:lnTo>
                  <a:lnTo>
                    <a:pt x="2219" y="950"/>
                  </a:lnTo>
                  <a:lnTo>
                    <a:pt x="2209" y="956"/>
                  </a:lnTo>
                  <a:lnTo>
                    <a:pt x="2202" y="962"/>
                  </a:lnTo>
                  <a:lnTo>
                    <a:pt x="2192" y="967"/>
                  </a:lnTo>
                  <a:lnTo>
                    <a:pt x="2184" y="973"/>
                  </a:lnTo>
                  <a:lnTo>
                    <a:pt x="2173" y="977"/>
                  </a:lnTo>
                  <a:lnTo>
                    <a:pt x="2164" y="981"/>
                  </a:lnTo>
                  <a:lnTo>
                    <a:pt x="2154" y="986"/>
                  </a:lnTo>
                  <a:lnTo>
                    <a:pt x="2145" y="992"/>
                  </a:lnTo>
                  <a:lnTo>
                    <a:pt x="2133" y="996"/>
                  </a:lnTo>
                  <a:lnTo>
                    <a:pt x="2124" y="1000"/>
                  </a:lnTo>
                  <a:lnTo>
                    <a:pt x="2112" y="1004"/>
                  </a:lnTo>
                  <a:lnTo>
                    <a:pt x="2103" y="1007"/>
                  </a:lnTo>
                  <a:lnTo>
                    <a:pt x="2091" y="1011"/>
                  </a:lnTo>
                  <a:lnTo>
                    <a:pt x="2078" y="1015"/>
                  </a:lnTo>
                  <a:lnTo>
                    <a:pt x="2067" y="1019"/>
                  </a:lnTo>
                  <a:lnTo>
                    <a:pt x="2055" y="1023"/>
                  </a:lnTo>
                  <a:lnTo>
                    <a:pt x="2042" y="1026"/>
                  </a:lnTo>
                  <a:lnTo>
                    <a:pt x="2030" y="1030"/>
                  </a:lnTo>
                  <a:lnTo>
                    <a:pt x="2017" y="1032"/>
                  </a:lnTo>
                  <a:lnTo>
                    <a:pt x="2006" y="1036"/>
                  </a:lnTo>
                  <a:lnTo>
                    <a:pt x="1992" y="1038"/>
                  </a:lnTo>
                  <a:lnTo>
                    <a:pt x="1979" y="1040"/>
                  </a:lnTo>
                  <a:lnTo>
                    <a:pt x="1966" y="1042"/>
                  </a:lnTo>
                  <a:lnTo>
                    <a:pt x="1953" y="1045"/>
                  </a:lnTo>
                  <a:lnTo>
                    <a:pt x="1939" y="1047"/>
                  </a:lnTo>
                  <a:lnTo>
                    <a:pt x="1924" y="1049"/>
                  </a:lnTo>
                  <a:lnTo>
                    <a:pt x="1911" y="1051"/>
                  </a:lnTo>
                  <a:lnTo>
                    <a:pt x="1897" y="1053"/>
                  </a:lnTo>
                  <a:lnTo>
                    <a:pt x="1882" y="1053"/>
                  </a:lnTo>
                  <a:lnTo>
                    <a:pt x="1867" y="1055"/>
                  </a:lnTo>
                  <a:lnTo>
                    <a:pt x="1852" y="1055"/>
                  </a:lnTo>
                  <a:lnTo>
                    <a:pt x="1838" y="1057"/>
                  </a:lnTo>
                  <a:lnTo>
                    <a:pt x="1823" y="1057"/>
                  </a:lnTo>
                  <a:lnTo>
                    <a:pt x="1808" y="1057"/>
                  </a:lnTo>
                  <a:lnTo>
                    <a:pt x="1793" y="1057"/>
                  </a:lnTo>
                  <a:lnTo>
                    <a:pt x="1780" y="1059"/>
                  </a:lnTo>
                  <a:lnTo>
                    <a:pt x="1762" y="1057"/>
                  </a:lnTo>
                  <a:lnTo>
                    <a:pt x="1747" y="1057"/>
                  </a:lnTo>
                  <a:lnTo>
                    <a:pt x="1732" y="1057"/>
                  </a:lnTo>
                  <a:lnTo>
                    <a:pt x="1715" y="1057"/>
                  </a:lnTo>
                  <a:lnTo>
                    <a:pt x="1700" y="1055"/>
                  </a:lnTo>
                  <a:lnTo>
                    <a:pt x="1684" y="1055"/>
                  </a:lnTo>
                  <a:lnTo>
                    <a:pt x="1667" y="1053"/>
                  </a:lnTo>
                  <a:lnTo>
                    <a:pt x="1652" y="1053"/>
                  </a:lnTo>
                  <a:lnTo>
                    <a:pt x="1635" y="1051"/>
                  </a:lnTo>
                  <a:lnTo>
                    <a:pt x="1618" y="1049"/>
                  </a:lnTo>
                  <a:lnTo>
                    <a:pt x="1603" y="1047"/>
                  </a:lnTo>
                  <a:lnTo>
                    <a:pt x="1586" y="1045"/>
                  </a:lnTo>
                  <a:lnTo>
                    <a:pt x="1569" y="1043"/>
                  </a:lnTo>
                  <a:lnTo>
                    <a:pt x="1553" y="1042"/>
                  </a:lnTo>
                  <a:lnTo>
                    <a:pt x="1536" y="1038"/>
                  </a:lnTo>
                  <a:lnTo>
                    <a:pt x="1521" y="1036"/>
                  </a:lnTo>
                  <a:lnTo>
                    <a:pt x="1502" y="1032"/>
                  </a:lnTo>
                  <a:lnTo>
                    <a:pt x="1483" y="1028"/>
                  </a:lnTo>
                  <a:lnTo>
                    <a:pt x="1462" y="1024"/>
                  </a:lnTo>
                  <a:lnTo>
                    <a:pt x="1445" y="1021"/>
                  </a:lnTo>
                  <a:lnTo>
                    <a:pt x="1426" y="1015"/>
                  </a:lnTo>
                  <a:lnTo>
                    <a:pt x="1407" y="1011"/>
                  </a:lnTo>
                  <a:lnTo>
                    <a:pt x="1390" y="1007"/>
                  </a:lnTo>
                  <a:lnTo>
                    <a:pt x="1373" y="1002"/>
                  </a:lnTo>
                  <a:lnTo>
                    <a:pt x="1354" y="996"/>
                  </a:lnTo>
                  <a:lnTo>
                    <a:pt x="1337" y="990"/>
                  </a:lnTo>
                  <a:lnTo>
                    <a:pt x="1319" y="985"/>
                  </a:lnTo>
                  <a:lnTo>
                    <a:pt x="1302" y="981"/>
                  </a:lnTo>
                  <a:lnTo>
                    <a:pt x="1285" y="975"/>
                  </a:lnTo>
                  <a:lnTo>
                    <a:pt x="1268" y="969"/>
                  </a:lnTo>
                  <a:lnTo>
                    <a:pt x="1253" y="962"/>
                  </a:lnTo>
                  <a:lnTo>
                    <a:pt x="1238" y="958"/>
                  </a:lnTo>
                  <a:lnTo>
                    <a:pt x="1221" y="950"/>
                  </a:lnTo>
                  <a:lnTo>
                    <a:pt x="1204" y="943"/>
                  </a:lnTo>
                  <a:lnTo>
                    <a:pt x="1188" y="937"/>
                  </a:lnTo>
                  <a:lnTo>
                    <a:pt x="1175" y="931"/>
                  </a:lnTo>
                  <a:lnTo>
                    <a:pt x="1160" y="924"/>
                  </a:lnTo>
                  <a:lnTo>
                    <a:pt x="1145" y="916"/>
                  </a:lnTo>
                  <a:lnTo>
                    <a:pt x="1131" y="909"/>
                  </a:lnTo>
                  <a:lnTo>
                    <a:pt x="1118" y="901"/>
                  </a:lnTo>
                  <a:lnTo>
                    <a:pt x="1103" y="893"/>
                  </a:lnTo>
                  <a:lnTo>
                    <a:pt x="1089" y="886"/>
                  </a:lnTo>
                  <a:lnTo>
                    <a:pt x="1076" y="878"/>
                  </a:lnTo>
                  <a:lnTo>
                    <a:pt x="1065" y="872"/>
                  </a:lnTo>
                  <a:lnTo>
                    <a:pt x="1051" y="863"/>
                  </a:lnTo>
                  <a:lnTo>
                    <a:pt x="1040" y="855"/>
                  </a:lnTo>
                  <a:lnTo>
                    <a:pt x="1027" y="848"/>
                  </a:lnTo>
                  <a:lnTo>
                    <a:pt x="1017" y="840"/>
                  </a:lnTo>
                  <a:lnTo>
                    <a:pt x="1004" y="831"/>
                  </a:lnTo>
                  <a:lnTo>
                    <a:pt x="994" y="823"/>
                  </a:lnTo>
                  <a:lnTo>
                    <a:pt x="983" y="815"/>
                  </a:lnTo>
                  <a:lnTo>
                    <a:pt x="974" y="806"/>
                  </a:lnTo>
                  <a:lnTo>
                    <a:pt x="962" y="796"/>
                  </a:lnTo>
                  <a:lnTo>
                    <a:pt x="953" y="789"/>
                  </a:lnTo>
                  <a:lnTo>
                    <a:pt x="943" y="779"/>
                  </a:lnTo>
                  <a:lnTo>
                    <a:pt x="935" y="772"/>
                  </a:lnTo>
                  <a:lnTo>
                    <a:pt x="926" y="762"/>
                  </a:lnTo>
                  <a:lnTo>
                    <a:pt x="918" y="753"/>
                  </a:lnTo>
                  <a:lnTo>
                    <a:pt x="909" y="743"/>
                  </a:lnTo>
                  <a:lnTo>
                    <a:pt x="901" y="736"/>
                  </a:lnTo>
                  <a:lnTo>
                    <a:pt x="896" y="726"/>
                  </a:lnTo>
                  <a:lnTo>
                    <a:pt x="888" y="717"/>
                  </a:lnTo>
                  <a:lnTo>
                    <a:pt x="882" y="707"/>
                  </a:lnTo>
                  <a:lnTo>
                    <a:pt x="877" y="699"/>
                  </a:lnTo>
                  <a:lnTo>
                    <a:pt x="871" y="690"/>
                  </a:lnTo>
                  <a:lnTo>
                    <a:pt x="865" y="680"/>
                  </a:lnTo>
                  <a:lnTo>
                    <a:pt x="861" y="671"/>
                  </a:lnTo>
                  <a:lnTo>
                    <a:pt x="858" y="661"/>
                  </a:lnTo>
                  <a:lnTo>
                    <a:pt x="854" y="652"/>
                  </a:lnTo>
                  <a:lnTo>
                    <a:pt x="850" y="642"/>
                  </a:lnTo>
                  <a:lnTo>
                    <a:pt x="848" y="633"/>
                  </a:lnTo>
                  <a:lnTo>
                    <a:pt x="846" y="625"/>
                  </a:lnTo>
                  <a:lnTo>
                    <a:pt x="842" y="616"/>
                  </a:lnTo>
                  <a:lnTo>
                    <a:pt x="842" y="606"/>
                  </a:lnTo>
                  <a:lnTo>
                    <a:pt x="840" y="597"/>
                  </a:lnTo>
                  <a:lnTo>
                    <a:pt x="840" y="587"/>
                  </a:lnTo>
                  <a:lnTo>
                    <a:pt x="840" y="578"/>
                  </a:lnTo>
                  <a:lnTo>
                    <a:pt x="840" y="568"/>
                  </a:lnTo>
                  <a:lnTo>
                    <a:pt x="840" y="561"/>
                  </a:lnTo>
                  <a:lnTo>
                    <a:pt x="844" y="551"/>
                  </a:lnTo>
                  <a:close/>
                </a:path>
              </a:pathLst>
            </a:custGeom>
            <a:solidFill>
              <a:srgbClr val="D1D1EB">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2" name="Freeform 11"/>
            <p:cNvSpPr>
              <a:spLocks/>
            </p:cNvSpPr>
            <p:nvPr/>
          </p:nvSpPr>
          <p:spPr bwMode="auto">
            <a:xfrm>
              <a:off x="4959" y="3213"/>
              <a:ext cx="415" cy="194"/>
            </a:xfrm>
            <a:custGeom>
              <a:avLst/>
              <a:gdLst>
                <a:gd name="T0" fmla="*/ 1 w 831"/>
                <a:gd name="T1" fmla="*/ 2 h 388"/>
                <a:gd name="T2" fmla="*/ 1 w 831"/>
                <a:gd name="T3" fmla="*/ 2 h 388"/>
                <a:gd name="T4" fmla="*/ 1 w 831"/>
                <a:gd name="T5" fmla="*/ 2 h 388"/>
                <a:gd name="T6" fmla="*/ 2 w 831"/>
                <a:gd name="T7" fmla="*/ 2 h 388"/>
                <a:gd name="T8" fmla="*/ 2 w 831"/>
                <a:gd name="T9" fmla="*/ 2 h 388"/>
                <a:gd name="T10" fmla="*/ 2 w 831"/>
                <a:gd name="T11" fmla="*/ 2 h 388"/>
                <a:gd name="T12" fmla="*/ 2 w 831"/>
                <a:gd name="T13" fmla="*/ 2 h 388"/>
                <a:gd name="T14" fmla="*/ 2 w 831"/>
                <a:gd name="T15" fmla="*/ 2 h 388"/>
                <a:gd name="T16" fmla="*/ 2 w 831"/>
                <a:gd name="T17" fmla="*/ 2 h 388"/>
                <a:gd name="T18" fmla="*/ 2 w 831"/>
                <a:gd name="T19" fmla="*/ 2 h 388"/>
                <a:gd name="T20" fmla="*/ 2 w 831"/>
                <a:gd name="T21" fmla="*/ 2 h 388"/>
                <a:gd name="T22" fmla="*/ 3 w 831"/>
                <a:gd name="T23" fmla="*/ 2 h 388"/>
                <a:gd name="T24" fmla="*/ 3 w 831"/>
                <a:gd name="T25" fmla="*/ 2 h 388"/>
                <a:gd name="T26" fmla="*/ 3 w 831"/>
                <a:gd name="T27" fmla="*/ 2 h 388"/>
                <a:gd name="T28" fmla="*/ 3 w 831"/>
                <a:gd name="T29" fmla="*/ 2 h 388"/>
                <a:gd name="T30" fmla="*/ 3 w 831"/>
                <a:gd name="T31" fmla="*/ 2 h 388"/>
                <a:gd name="T32" fmla="*/ 3 w 831"/>
                <a:gd name="T33" fmla="*/ 1 h 388"/>
                <a:gd name="T34" fmla="*/ 2 w 831"/>
                <a:gd name="T35" fmla="*/ 1 h 388"/>
                <a:gd name="T36" fmla="*/ 2 w 831"/>
                <a:gd name="T37" fmla="*/ 1 h 388"/>
                <a:gd name="T38" fmla="*/ 2 w 831"/>
                <a:gd name="T39" fmla="*/ 1 h 388"/>
                <a:gd name="T40" fmla="*/ 2 w 831"/>
                <a:gd name="T41" fmla="*/ 1 h 388"/>
                <a:gd name="T42" fmla="*/ 2 w 831"/>
                <a:gd name="T43" fmla="*/ 1 h 388"/>
                <a:gd name="T44" fmla="*/ 2 w 831"/>
                <a:gd name="T45" fmla="*/ 1 h 388"/>
                <a:gd name="T46" fmla="*/ 2 w 831"/>
                <a:gd name="T47" fmla="*/ 1 h 388"/>
                <a:gd name="T48" fmla="*/ 2 w 831"/>
                <a:gd name="T49" fmla="*/ 1 h 388"/>
                <a:gd name="T50" fmla="*/ 2 w 831"/>
                <a:gd name="T51" fmla="*/ 1 h 388"/>
                <a:gd name="T52" fmla="*/ 1 w 831"/>
                <a:gd name="T53" fmla="*/ 1 h 388"/>
                <a:gd name="T54" fmla="*/ 1 w 831"/>
                <a:gd name="T55" fmla="*/ 1 h 388"/>
                <a:gd name="T56" fmla="*/ 1 w 831"/>
                <a:gd name="T57" fmla="*/ 1 h 388"/>
                <a:gd name="T58" fmla="*/ 1 w 831"/>
                <a:gd name="T59" fmla="*/ 1 h 388"/>
                <a:gd name="T60" fmla="*/ 1 w 831"/>
                <a:gd name="T61" fmla="*/ 1 h 388"/>
                <a:gd name="T62" fmla="*/ 1 w 831"/>
                <a:gd name="T63" fmla="*/ 1 h 388"/>
                <a:gd name="T64" fmla="*/ 0 w 831"/>
                <a:gd name="T65" fmla="*/ 1 h 388"/>
                <a:gd name="T66" fmla="*/ 0 w 831"/>
                <a:gd name="T67" fmla="*/ 0 h 388"/>
                <a:gd name="T68" fmla="*/ 0 w 831"/>
                <a:gd name="T69" fmla="*/ 0 h 388"/>
                <a:gd name="T70" fmla="*/ 0 w 831"/>
                <a:gd name="T71" fmla="*/ 1 h 388"/>
                <a:gd name="T72" fmla="*/ 0 w 831"/>
                <a:gd name="T73" fmla="*/ 1 h 388"/>
                <a:gd name="T74" fmla="*/ 0 w 831"/>
                <a:gd name="T75" fmla="*/ 1 h 388"/>
                <a:gd name="T76" fmla="*/ 0 w 831"/>
                <a:gd name="T77" fmla="*/ 1 h 388"/>
                <a:gd name="T78" fmla="*/ 0 w 831"/>
                <a:gd name="T79" fmla="*/ 1 h 388"/>
                <a:gd name="T80" fmla="*/ 0 w 831"/>
                <a:gd name="T81" fmla="*/ 1 h 388"/>
                <a:gd name="T82" fmla="*/ 0 w 831"/>
                <a:gd name="T83" fmla="*/ 1 h 388"/>
                <a:gd name="T84" fmla="*/ 0 w 831"/>
                <a:gd name="T85" fmla="*/ 1 h 388"/>
                <a:gd name="T86" fmla="*/ 0 w 831"/>
                <a:gd name="T87" fmla="*/ 1 h 388"/>
                <a:gd name="T88" fmla="*/ 0 w 831"/>
                <a:gd name="T89" fmla="*/ 1 h 388"/>
                <a:gd name="T90" fmla="*/ 0 w 831"/>
                <a:gd name="T91" fmla="*/ 1 h 388"/>
                <a:gd name="T92" fmla="*/ 0 w 831"/>
                <a:gd name="T93" fmla="*/ 1 h 388"/>
                <a:gd name="T94" fmla="*/ 0 w 831"/>
                <a:gd name="T95" fmla="*/ 1 h 388"/>
                <a:gd name="T96" fmla="*/ 0 w 831"/>
                <a:gd name="T97" fmla="*/ 2 h 388"/>
                <a:gd name="T98" fmla="*/ 0 w 831"/>
                <a:gd name="T99" fmla="*/ 2 h 388"/>
                <a:gd name="T100" fmla="*/ 0 w 831"/>
                <a:gd name="T101" fmla="*/ 2 h 388"/>
                <a:gd name="T102" fmla="*/ 1 w 831"/>
                <a:gd name="T103" fmla="*/ 2 h 388"/>
                <a:gd name="T104" fmla="*/ 1 w 831"/>
                <a:gd name="T105" fmla="*/ 2 h 388"/>
                <a:gd name="T106" fmla="*/ 1 w 831"/>
                <a:gd name="T107" fmla="*/ 2 h 38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831" h="388">
                  <a:moveTo>
                    <a:pt x="371" y="341"/>
                  </a:moveTo>
                  <a:lnTo>
                    <a:pt x="383" y="343"/>
                  </a:lnTo>
                  <a:lnTo>
                    <a:pt x="392" y="344"/>
                  </a:lnTo>
                  <a:lnTo>
                    <a:pt x="402" y="348"/>
                  </a:lnTo>
                  <a:lnTo>
                    <a:pt x="413" y="350"/>
                  </a:lnTo>
                  <a:lnTo>
                    <a:pt x="423" y="354"/>
                  </a:lnTo>
                  <a:lnTo>
                    <a:pt x="434" y="356"/>
                  </a:lnTo>
                  <a:lnTo>
                    <a:pt x="443" y="360"/>
                  </a:lnTo>
                  <a:lnTo>
                    <a:pt x="455" y="362"/>
                  </a:lnTo>
                  <a:lnTo>
                    <a:pt x="464" y="363"/>
                  </a:lnTo>
                  <a:lnTo>
                    <a:pt x="476" y="365"/>
                  </a:lnTo>
                  <a:lnTo>
                    <a:pt x="485" y="367"/>
                  </a:lnTo>
                  <a:lnTo>
                    <a:pt x="495" y="371"/>
                  </a:lnTo>
                  <a:lnTo>
                    <a:pt x="504" y="371"/>
                  </a:lnTo>
                  <a:lnTo>
                    <a:pt x="514" y="373"/>
                  </a:lnTo>
                  <a:lnTo>
                    <a:pt x="525" y="375"/>
                  </a:lnTo>
                  <a:lnTo>
                    <a:pt x="535" y="379"/>
                  </a:lnTo>
                  <a:lnTo>
                    <a:pt x="544" y="379"/>
                  </a:lnTo>
                  <a:lnTo>
                    <a:pt x="554" y="381"/>
                  </a:lnTo>
                  <a:lnTo>
                    <a:pt x="561" y="381"/>
                  </a:lnTo>
                  <a:lnTo>
                    <a:pt x="573" y="382"/>
                  </a:lnTo>
                  <a:lnTo>
                    <a:pt x="580" y="382"/>
                  </a:lnTo>
                  <a:lnTo>
                    <a:pt x="590" y="384"/>
                  </a:lnTo>
                  <a:lnTo>
                    <a:pt x="599" y="384"/>
                  </a:lnTo>
                  <a:lnTo>
                    <a:pt x="609" y="386"/>
                  </a:lnTo>
                  <a:lnTo>
                    <a:pt x="616" y="386"/>
                  </a:lnTo>
                  <a:lnTo>
                    <a:pt x="624" y="386"/>
                  </a:lnTo>
                  <a:lnTo>
                    <a:pt x="634" y="386"/>
                  </a:lnTo>
                  <a:lnTo>
                    <a:pt x="641" y="388"/>
                  </a:lnTo>
                  <a:lnTo>
                    <a:pt x="651" y="388"/>
                  </a:lnTo>
                  <a:lnTo>
                    <a:pt x="658" y="388"/>
                  </a:lnTo>
                  <a:lnTo>
                    <a:pt x="666" y="388"/>
                  </a:lnTo>
                  <a:lnTo>
                    <a:pt x="675" y="388"/>
                  </a:lnTo>
                  <a:lnTo>
                    <a:pt x="681" y="386"/>
                  </a:lnTo>
                  <a:lnTo>
                    <a:pt x="689" y="386"/>
                  </a:lnTo>
                  <a:lnTo>
                    <a:pt x="696" y="384"/>
                  </a:lnTo>
                  <a:lnTo>
                    <a:pt x="704" y="384"/>
                  </a:lnTo>
                  <a:lnTo>
                    <a:pt x="711" y="382"/>
                  </a:lnTo>
                  <a:lnTo>
                    <a:pt x="717" y="382"/>
                  </a:lnTo>
                  <a:lnTo>
                    <a:pt x="725" y="381"/>
                  </a:lnTo>
                  <a:lnTo>
                    <a:pt x="732" y="381"/>
                  </a:lnTo>
                  <a:lnTo>
                    <a:pt x="738" y="379"/>
                  </a:lnTo>
                  <a:lnTo>
                    <a:pt x="744" y="377"/>
                  </a:lnTo>
                  <a:lnTo>
                    <a:pt x="749" y="375"/>
                  </a:lnTo>
                  <a:lnTo>
                    <a:pt x="755" y="375"/>
                  </a:lnTo>
                  <a:lnTo>
                    <a:pt x="761" y="373"/>
                  </a:lnTo>
                  <a:lnTo>
                    <a:pt x="767" y="371"/>
                  </a:lnTo>
                  <a:lnTo>
                    <a:pt x="772" y="369"/>
                  </a:lnTo>
                  <a:lnTo>
                    <a:pt x="778" y="367"/>
                  </a:lnTo>
                  <a:lnTo>
                    <a:pt x="786" y="363"/>
                  </a:lnTo>
                  <a:lnTo>
                    <a:pt x="795" y="358"/>
                  </a:lnTo>
                  <a:lnTo>
                    <a:pt x="803" y="352"/>
                  </a:lnTo>
                  <a:lnTo>
                    <a:pt x="810" y="348"/>
                  </a:lnTo>
                  <a:lnTo>
                    <a:pt x="814" y="341"/>
                  </a:lnTo>
                  <a:lnTo>
                    <a:pt x="820" y="335"/>
                  </a:lnTo>
                  <a:lnTo>
                    <a:pt x="826" y="329"/>
                  </a:lnTo>
                  <a:lnTo>
                    <a:pt x="829" y="322"/>
                  </a:lnTo>
                  <a:lnTo>
                    <a:pt x="829" y="314"/>
                  </a:lnTo>
                  <a:lnTo>
                    <a:pt x="831" y="306"/>
                  </a:lnTo>
                  <a:lnTo>
                    <a:pt x="829" y="297"/>
                  </a:lnTo>
                  <a:lnTo>
                    <a:pt x="829" y="289"/>
                  </a:lnTo>
                  <a:lnTo>
                    <a:pt x="826" y="280"/>
                  </a:lnTo>
                  <a:lnTo>
                    <a:pt x="822" y="272"/>
                  </a:lnTo>
                  <a:lnTo>
                    <a:pt x="818" y="263"/>
                  </a:lnTo>
                  <a:lnTo>
                    <a:pt x="812" y="255"/>
                  </a:lnTo>
                  <a:lnTo>
                    <a:pt x="806" y="244"/>
                  </a:lnTo>
                  <a:lnTo>
                    <a:pt x="799" y="236"/>
                  </a:lnTo>
                  <a:lnTo>
                    <a:pt x="789" y="227"/>
                  </a:lnTo>
                  <a:lnTo>
                    <a:pt x="782" y="217"/>
                  </a:lnTo>
                  <a:lnTo>
                    <a:pt x="776" y="213"/>
                  </a:lnTo>
                  <a:lnTo>
                    <a:pt x="772" y="208"/>
                  </a:lnTo>
                  <a:lnTo>
                    <a:pt x="767" y="204"/>
                  </a:lnTo>
                  <a:lnTo>
                    <a:pt x="763" y="200"/>
                  </a:lnTo>
                  <a:lnTo>
                    <a:pt x="755" y="194"/>
                  </a:lnTo>
                  <a:lnTo>
                    <a:pt x="749" y="189"/>
                  </a:lnTo>
                  <a:lnTo>
                    <a:pt x="744" y="185"/>
                  </a:lnTo>
                  <a:lnTo>
                    <a:pt x="738" y="181"/>
                  </a:lnTo>
                  <a:lnTo>
                    <a:pt x="732" y="175"/>
                  </a:lnTo>
                  <a:lnTo>
                    <a:pt x="725" y="171"/>
                  </a:lnTo>
                  <a:lnTo>
                    <a:pt x="717" y="166"/>
                  </a:lnTo>
                  <a:lnTo>
                    <a:pt x="711" y="162"/>
                  </a:lnTo>
                  <a:lnTo>
                    <a:pt x="704" y="156"/>
                  </a:lnTo>
                  <a:lnTo>
                    <a:pt x="696" y="152"/>
                  </a:lnTo>
                  <a:lnTo>
                    <a:pt x="689" y="147"/>
                  </a:lnTo>
                  <a:lnTo>
                    <a:pt x="683" y="143"/>
                  </a:lnTo>
                  <a:lnTo>
                    <a:pt x="673" y="137"/>
                  </a:lnTo>
                  <a:lnTo>
                    <a:pt x="666" y="133"/>
                  </a:lnTo>
                  <a:lnTo>
                    <a:pt x="658" y="130"/>
                  </a:lnTo>
                  <a:lnTo>
                    <a:pt x="651" y="126"/>
                  </a:lnTo>
                  <a:lnTo>
                    <a:pt x="641" y="120"/>
                  </a:lnTo>
                  <a:lnTo>
                    <a:pt x="634" y="116"/>
                  </a:lnTo>
                  <a:lnTo>
                    <a:pt x="626" y="113"/>
                  </a:lnTo>
                  <a:lnTo>
                    <a:pt x="616" y="109"/>
                  </a:lnTo>
                  <a:lnTo>
                    <a:pt x="607" y="103"/>
                  </a:lnTo>
                  <a:lnTo>
                    <a:pt x="599" y="99"/>
                  </a:lnTo>
                  <a:lnTo>
                    <a:pt x="588" y="95"/>
                  </a:lnTo>
                  <a:lnTo>
                    <a:pt x="580" y="92"/>
                  </a:lnTo>
                  <a:lnTo>
                    <a:pt x="571" y="86"/>
                  </a:lnTo>
                  <a:lnTo>
                    <a:pt x="561" y="82"/>
                  </a:lnTo>
                  <a:lnTo>
                    <a:pt x="552" y="78"/>
                  </a:lnTo>
                  <a:lnTo>
                    <a:pt x="542" y="76"/>
                  </a:lnTo>
                  <a:lnTo>
                    <a:pt x="533" y="71"/>
                  </a:lnTo>
                  <a:lnTo>
                    <a:pt x="521" y="67"/>
                  </a:lnTo>
                  <a:lnTo>
                    <a:pt x="512" y="63"/>
                  </a:lnTo>
                  <a:lnTo>
                    <a:pt x="502" y="61"/>
                  </a:lnTo>
                  <a:lnTo>
                    <a:pt x="491" y="57"/>
                  </a:lnTo>
                  <a:lnTo>
                    <a:pt x="481" y="54"/>
                  </a:lnTo>
                  <a:lnTo>
                    <a:pt x="472" y="52"/>
                  </a:lnTo>
                  <a:lnTo>
                    <a:pt x="461" y="48"/>
                  </a:lnTo>
                  <a:lnTo>
                    <a:pt x="451" y="44"/>
                  </a:lnTo>
                  <a:lnTo>
                    <a:pt x="440" y="40"/>
                  </a:lnTo>
                  <a:lnTo>
                    <a:pt x="428" y="38"/>
                  </a:lnTo>
                  <a:lnTo>
                    <a:pt x="419" y="35"/>
                  </a:lnTo>
                  <a:lnTo>
                    <a:pt x="407" y="33"/>
                  </a:lnTo>
                  <a:lnTo>
                    <a:pt x="398" y="29"/>
                  </a:lnTo>
                  <a:lnTo>
                    <a:pt x="386" y="27"/>
                  </a:lnTo>
                  <a:lnTo>
                    <a:pt x="377" y="25"/>
                  </a:lnTo>
                  <a:lnTo>
                    <a:pt x="365" y="23"/>
                  </a:lnTo>
                  <a:lnTo>
                    <a:pt x="356" y="19"/>
                  </a:lnTo>
                  <a:lnTo>
                    <a:pt x="346" y="18"/>
                  </a:lnTo>
                  <a:lnTo>
                    <a:pt x="335" y="16"/>
                  </a:lnTo>
                  <a:lnTo>
                    <a:pt x="326" y="14"/>
                  </a:lnTo>
                  <a:lnTo>
                    <a:pt x="316" y="14"/>
                  </a:lnTo>
                  <a:lnTo>
                    <a:pt x="307" y="12"/>
                  </a:lnTo>
                  <a:lnTo>
                    <a:pt x="297" y="10"/>
                  </a:lnTo>
                  <a:lnTo>
                    <a:pt x="286" y="8"/>
                  </a:lnTo>
                  <a:lnTo>
                    <a:pt x="278" y="6"/>
                  </a:lnTo>
                  <a:lnTo>
                    <a:pt x="267" y="4"/>
                  </a:lnTo>
                  <a:lnTo>
                    <a:pt x="257" y="4"/>
                  </a:lnTo>
                  <a:lnTo>
                    <a:pt x="250" y="2"/>
                  </a:lnTo>
                  <a:lnTo>
                    <a:pt x="240" y="2"/>
                  </a:lnTo>
                  <a:lnTo>
                    <a:pt x="231" y="2"/>
                  </a:lnTo>
                  <a:lnTo>
                    <a:pt x="223" y="2"/>
                  </a:lnTo>
                  <a:lnTo>
                    <a:pt x="213" y="0"/>
                  </a:lnTo>
                  <a:lnTo>
                    <a:pt x="204" y="0"/>
                  </a:lnTo>
                  <a:lnTo>
                    <a:pt x="196" y="0"/>
                  </a:lnTo>
                  <a:lnTo>
                    <a:pt x="187" y="0"/>
                  </a:lnTo>
                  <a:lnTo>
                    <a:pt x="179" y="0"/>
                  </a:lnTo>
                  <a:lnTo>
                    <a:pt x="172" y="0"/>
                  </a:lnTo>
                  <a:lnTo>
                    <a:pt x="164" y="0"/>
                  </a:lnTo>
                  <a:lnTo>
                    <a:pt x="156" y="2"/>
                  </a:lnTo>
                  <a:lnTo>
                    <a:pt x="149" y="2"/>
                  </a:lnTo>
                  <a:lnTo>
                    <a:pt x="139" y="2"/>
                  </a:lnTo>
                  <a:lnTo>
                    <a:pt x="132" y="2"/>
                  </a:lnTo>
                  <a:lnTo>
                    <a:pt x="126" y="2"/>
                  </a:lnTo>
                  <a:lnTo>
                    <a:pt x="118" y="2"/>
                  </a:lnTo>
                  <a:lnTo>
                    <a:pt x="111" y="4"/>
                  </a:lnTo>
                  <a:lnTo>
                    <a:pt x="103" y="4"/>
                  </a:lnTo>
                  <a:lnTo>
                    <a:pt x="99" y="6"/>
                  </a:lnTo>
                  <a:lnTo>
                    <a:pt x="92" y="8"/>
                  </a:lnTo>
                  <a:lnTo>
                    <a:pt x="84" y="10"/>
                  </a:lnTo>
                  <a:lnTo>
                    <a:pt x="78" y="10"/>
                  </a:lnTo>
                  <a:lnTo>
                    <a:pt x="75" y="12"/>
                  </a:lnTo>
                  <a:lnTo>
                    <a:pt x="67" y="14"/>
                  </a:lnTo>
                  <a:lnTo>
                    <a:pt x="61" y="16"/>
                  </a:lnTo>
                  <a:lnTo>
                    <a:pt x="58" y="18"/>
                  </a:lnTo>
                  <a:lnTo>
                    <a:pt x="54" y="21"/>
                  </a:lnTo>
                  <a:lnTo>
                    <a:pt x="42" y="25"/>
                  </a:lnTo>
                  <a:lnTo>
                    <a:pt x="35" y="29"/>
                  </a:lnTo>
                  <a:lnTo>
                    <a:pt x="27" y="35"/>
                  </a:lnTo>
                  <a:lnTo>
                    <a:pt x="21" y="40"/>
                  </a:lnTo>
                  <a:lnTo>
                    <a:pt x="14" y="46"/>
                  </a:lnTo>
                  <a:lnTo>
                    <a:pt x="10" y="52"/>
                  </a:lnTo>
                  <a:lnTo>
                    <a:pt x="6" y="59"/>
                  </a:lnTo>
                  <a:lnTo>
                    <a:pt x="4" y="67"/>
                  </a:lnTo>
                  <a:lnTo>
                    <a:pt x="0" y="75"/>
                  </a:lnTo>
                  <a:lnTo>
                    <a:pt x="0" y="82"/>
                  </a:lnTo>
                  <a:lnTo>
                    <a:pt x="0" y="90"/>
                  </a:lnTo>
                  <a:lnTo>
                    <a:pt x="2" y="99"/>
                  </a:lnTo>
                  <a:lnTo>
                    <a:pt x="4" y="107"/>
                  </a:lnTo>
                  <a:lnTo>
                    <a:pt x="8" y="114"/>
                  </a:lnTo>
                  <a:lnTo>
                    <a:pt x="12" y="124"/>
                  </a:lnTo>
                  <a:lnTo>
                    <a:pt x="18" y="133"/>
                  </a:lnTo>
                  <a:lnTo>
                    <a:pt x="23" y="141"/>
                  </a:lnTo>
                  <a:lnTo>
                    <a:pt x="31" y="151"/>
                  </a:lnTo>
                  <a:lnTo>
                    <a:pt x="39" y="160"/>
                  </a:lnTo>
                  <a:lnTo>
                    <a:pt x="48" y="170"/>
                  </a:lnTo>
                  <a:lnTo>
                    <a:pt x="54" y="173"/>
                  </a:lnTo>
                  <a:lnTo>
                    <a:pt x="58" y="179"/>
                  </a:lnTo>
                  <a:lnTo>
                    <a:pt x="63" y="183"/>
                  </a:lnTo>
                  <a:lnTo>
                    <a:pt x="69" y="189"/>
                  </a:lnTo>
                  <a:lnTo>
                    <a:pt x="75" y="192"/>
                  </a:lnTo>
                  <a:lnTo>
                    <a:pt x="78" y="198"/>
                  </a:lnTo>
                  <a:lnTo>
                    <a:pt x="86" y="202"/>
                  </a:lnTo>
                  <a:lnTo>
                    <a:pt x="94" y="208"/>
                  </a:lnTo>
                  <a:lnTo>
                    <a:pt x="99" y="211"/>
                  </a:lnTo>
                  <a:lnTo>
                    <a:pt x="105" y="215"/>
                  </a:lnTo>
                  <a:lnTo>
                    <a:pt x="111" y="221"/>
                  </a:lnTo>
                  <a:lnTo>
                    <a:pt x="118" y="225"/>
                  </a:lnTo>
                  <a:lnTo>
                    <a:pt x="126" y="228"/>
                  </a:lnTo>
                  <a:lnTo>
                    <a:pt x="132" y="234"/>
                  </a:lnTo>
                  <a:lnTo>
                    <a:pt x="139" y="238"/>
                  </a:lnTo>
                  <a:lnTo>
                    <a:pt x="149" y="244"/>
                  </a:lnTo>
                  <a:lnTo>
                    <a:pt x="156" y="247"/>
                  </a:lnTo>
                  <a:lnTo>
                    <a:pt x="162" y="251"/>
                  </a:lnTo>
                  <a:lnTo>
                    <a:pt x="172" y="257"/>
                  </a:lnTo>
                  <a:lnTo>
                    <a:pt x="179" y="261"/>
                  </a:lnTo>
                  <a:lnTo>
                    <a:pt x="187" y="265"/>
                  </a:lnTo>
                  <a:lnTo>
                    <a:pt x="196" y="270"/>
                  </a:lnTo>
                  <a:lnTo>
                    <a:pt x="206" y="274"/>
                  </a:lnTo>
                  <a:lnTo>
                    <a:pt x="213" y="280"/>
                  </a:lnTo>
                  <a:lnTo>
                    <a:pt x="223" y="284"/>
                  </a:lnTo>
                  <a:lnTo>
                    <a:pt x="231" y="287"/>
                  </a:lnTo>
                  <a:lnTo>
                    <a:pt x="240" y="291"/>
                  </a:lnTo>
                  <a:lnTo>
                    <a:pt x="250" y="295"/>
                  </a:lnTo>
                  <a:lnTo>
                    <a:pt x="257" y="299"/>
                  </a:lnTo>
                  <a:lnTo>
                    <a:pt x="269" y="303"/>
                  </a:lnTo>
                  <a:lnTo>
                    <a:pt x="278" y="306"/>
                  </a:lnTo>
                  <a:lnTo>
                    <a:pt x="288" y="310"/>
                  </a:lnTo>
                  <a:lnTo>
                    <a:pt x="297" y="314"/>
                  </a:lnTo>
                  <a:lnTo>
                    <a:pt x="307" y="318"/>
                  </a:lnTo>
                  <a:lnTo>
                    <a:pt x="318" y="322"/>
                  </a:lnTo>
                  <a:lnTo>
                    <a:pt x="329" y="325"/>
                  </a:lnTo>
                  <a:lnTo>
                    <a:pt x="339" y="329"/>
                  </a:lnTo>
                  <a:lnTo>
                    <a:pt x="350" y="333"/>
                  </a:lnTo>
                  <a:lnTo>
                    <a:pt x="360" y="337"/>
                  </a:lnTo>
                  <a:lnTo>
                    <a:pt x="371" y="341"/>
                  </a:lnTo>
                  <a:close/>
                </a:path>
              </a:pathLst>
            </a:custGeom>
            <a:solidFill>
              <a:srgbClr val="FFFF85">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3" name="Freeform 12"/>
            <p:cNvSpPr>
              <a:spLocks/>
            </p:cNvSpPr>
            <p:nvPr/>
          </p:nvSpPr>
          <p:spPr bwMode="auto">
            <a:xfrm>
              <a:off x="4889" y="3331"/>
              <a:ext cx="471" cy="332"/>
            </a:xfrm>
            <a:custGeom>
              <a:avLst/>
              <a:gdLst>
                <a:gd name="T0" fmla="*/ 2 w 941"/>
                <a:gd name="T1" fmla="*/ 1 h 663"/>
                <a:gd name="T2" fmla="*/ 2 w 941"/>
                <a:gd name="T3" fmla="*/ 1 h 663"/>
                <a:gd name="T4" fmla="*/ 2 w 941"/>
                <a:gd name="T5" fmla="*/ 1 h 663"/>
                <a:gd name="T6" fmla="*/ 1 w 941"/>
                <a:gd name="T7" fmla="*/ 1 h 663"/>
                <a:gd name="T8" fmla="*/ 1 w 941"/>
                <a:gd name="T9" fmla="*/ 1 h 663"/>
                <a:gd name="T10" fmla="*/ 1 w 941"/>
                <a:gd name="T11" fmla="*/ 1 h 663"/>
                <a:gd name="T12" fmla="*/ 1 w 941"/>
                <a:gd name="T13" fmla="*/ 1 h 663"/>
                <a:gd name="T14" fmla="*/ 1 w 941"/>
                <a:gd name="T15" fmla="*/ 1 h 663"/>
                <a:gd name="T16" fmla="*/ 1 w 941"/>
                <a:gd name="T17" fmla="*/ 1 h 663"/>
                <a:gd name="T18" fmla="*/ 1 w 941"/>
                <a:gd name="T19" fmla="*/ 1 h 663"/>
                <a:gd name="T20" fmla="*/ 1 w 941"/>
                <a:gd name="T21" fmla="*/ 1 h 663"/>
                <a:gd name="T22" fmla="*/ 1 w 941"/>
                <a:gd name="T23" fmla="*/ 1 h 663"/>
                <a:gd name="T24" fmla="*/ 1 w 941"/>
                <a:gd name="T25" fmla="*/ 1 h 663"/>
                <a:gd name="T26" fmla="*/ 1 w 941"/>
                <a:gd name="T27" fmla="*/ 1 h 663"/>
                <a:gd name="T28" fmla="*/ 0 w 941"/>
                <a:gd name="T29" fmla="*/ 1 h 663"/>
                <a:gd name="T30" fmla="*/ 2 w 941"/>
                <a:gd name="T31" fmla="*/ 3 h 663"/>
                <a:gd name="T32" fmla="*/ 3 w 941"/>
                <a:gd name="T33" fmla="*/ 2 h 663"/>
                <a:gd name="T34" fmla="*/ 3 w 941"/>
                <a:gd name="T35" fmla="*/ 1 h 663"/>
                <a:gd name="T36" fmla="*/ 3 w 941"/>
                <a:gd name="T37" fmla="*/ 1 h 663"/>
                <a:gd name="T38" fmla="*/ 3 w 941"/>
                <a:gd name="T39" fmla="*/ 1 h 663"/>
                <a:gd name="T40" fmla="*/ 3 w 941"/>
                <a:gd name="T41" fmla="*/ 1 h 663"/>
                <a:gd name="T42" fmla="*/ 3 w 941"/>
                <a:gd name="T43" fmla="*/ 1 h 663"/>
                <a:gd name="T44" fmla="*/ 3 w 941"/>
                <a:gd name="T45" fmla="*/ 1 h 663"/>
                <a:gd name="T46" fmla="*/ 3 w 941"/>
                <a:gd name="T47" fmla="*/ 1 h 663"/>
                <a:gd name="T48" fmla="*/ 3 w 941"/>
                <a:gd name="T49" fmla="*/ 1 h 663"/>
                <a:gd name="T50" fmla="*/ 4 w 941"/>
                <a:gd name="T51" fmla="*/ 1 h 663"/>
                <a:gd name="T52" fmla="*/ 4 w 941"/>
                <a:gd name="T53" fmla="*/ 1 h 663"/>
                <a:gd name="T54" fmla="*/ 4 w 941"/>
                <a:gd name="T55" fmla="*/ 1 h 663"/>
                <a:gd name="T56" fmla="*/ 4 w 941"/>
                <a:gd name="T57" fmla="*/ 2 h 663"/>
                <a:gd name="T58" fmla="*/ 4 w 941"/>
                <a:gd name="T59" fmla="*/ 2 h 663"/>
                <a:gd name="T60" fmla="*/ 4 w 941"/>
                <a:gd name="T61" fmla="*/ 2 h 663"/>
                <a:gd name="T62" fmla="*/ 4 w 941"/>
                <a:gd name="T63" fmla="*/ 2 h 663"/>
                <a:gd name="T64" fmla="*/ 4 w 941"/>
                <a:gd name="T65" fmla="*/ 2 h 663"/>
                <a:gd name="T66" fmla="*/ 4 w 941"/>
                <a:gd name="T67" fmla="*/ 2 h 663"/>
                <a:gd name="T68" fmla="*/ 4 w 941"/>
                <a:gd name="T69" fmla="*/ 1 h 663"/>
                <a:gd name="T70" fmla="*/ 4 w 941"/>
                <a:gd name="T71" fmla="*/ 1 h 663"/>
                <a:gd name="T72" fmla="*/ 4 w 941"/>
                <a:gd name="T73" fmla="*/ 1 h 663"/>
                <a:gd name="T74" fmla="*/ 3 w 941"/>
                <a:gd name="T75" fmla="*/ 1 h 663"/>
                <a:gd name="T76" fmla="*/ 3 w 941"/>
                <a:gd name="T77" fmla="*/ 1 h 663"/>
                <a:gd name="T78" fmla="*/ 3 w 941"/>
                <a:gd name="T79" fmla="*/ 1 h 663"/>
                <a:gd name="T80" fmla="*/ 3 w 941"/>
                <a:gd name="T81" fmla="*/ 1 h 663"/>
                <a:gd name="T82" fmla="*/ 3 w 941"/>
                <a:gd name="T83" fmla="*/ 1 h 663"/>
                <a:gd name="T84" fmla="*/ 3 w 941"/>
                <a:gd name="T85" fmla="*/ 1 h 663"/>
                <a:gd name="T86" fmla="*/ 3 w 941"/>
                <a:gd name="T87" fmla="*/ 0 h 663"/>
                <a:gd name="T88" fmla="*/ 3 w 941"/>
                <a:gd name="T89" fmla="*/ 0 h 663"/>
                <a:gd name="T90" fmla="*/ 3 w 941"/>
                <a:gd name="T91" fmla="*/ 0 h 663"/>
                <a:gd name="T92" fmla="*/ 3 w 941"/>
                <a:gd name="T93" fmla="*/ 1 h 663"/>
                <a:gd name="T94" fmla="*/ 2 w 941"/>
                <a:gd name="T95" fmla="*/ 1 h 66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941" h="663">
                  <a:moveTo>
                    <a:pt x="325" y="50"/>
                  </a:moveTo>
                  <a:lnTo>
                    <a:pt x="323" y="48"/>
                  </a:lnTo>
                  <a:lnTo>
                    <a:pt x="321" y="48"/>
                  </a:lnTo>
                  <a:lnTo>
                    <a:pt x="317" y="46"/>
                  </a:lnTo>
                  <a:lnTo>
                    <a:pt x="313" y="44"/>
                  </a:lnTo>
                  <a:lnTo>
                    <a:pt x="306" y="42"/>
                  </a:lnTo>
                  <a:lnTo>
                    <a:pt x="300" y="40"/>
                  </a:lnTo>
                  <a:lnTo>
                    <a:pt x="291" y="36"/>
                  </a:lnTo>
                  <a:lnTo>
                    <a:pt x="285" y="34"/>
                  </a:lnTo>
                  <a:lnTo>
                    <a:pt x="273" y="32"/>
                  </a:lnTo>
                  <a:lnTo>
                    <a:pt x="266" y="29"/>
                  </a:lnTo>
                  <a:lnTo>
                    <a:pt x="256" y="27"/>
                  </a:lnTo>
                  <a:lnTo>
                    <a:pt x="247" y="27"/>
                  </a:lnTo>
                  <a:lnTo>
                    <a:pt x="237" y="25"/>
                  </a:lnTo>
                  <a:lnTo>
                    <a:pt x="228" y="23"/>
                  </a:lnTo>
                  <a:lnTo>
                    <a:pt x="218" y="23"/>
                  </a:lnTo>
                  <a:lnTo>
                    <a:pt x="211" y="25"/>
                  </a:lnTo>
                  <a:lnTo>
                    <a:pt x="205" y="25"/>
                  </a:lnTo>
                  <a:lnTo>
                    <a:pt x="201" y="25"/>
                  </a:lnTo>
                  <a:lnTo>
                    <a:pt x="196" y="27"/>
                  </a:lnTo>
                  <a:lnTo>
                    <a:pt x="192" y="27"/>
                  </a:lnTo>
                  <a:lnTo>
                    <a:pt x="186" y="29"/>
                  </a:lnTo>
                  <a:lnTo>
                    <a:pt x="180" y="29"/>
                  </a:lnTo>
                  <a:lnTo>
                    <a:pt x="175" y="30"/>
                  </a:lnTo>
                  <a:lnTo>
                    <a:pt x="169" y="32"/>
                  </a:lnTo>
                  <a:lnTo>
                    <a:pt x="165" y="32"/>
                  </a:lnTo>
                  <a:lnTo>
                    <a:pt x="159" y="34"/>
                  </a:lnTo>
                  <a:lnTo>
                    <a:pt x="154" y="34"/>
                  </a:lnTo>
                  <a:lnTo>
                    <a:pt x="148" y="36"/>
                  </a:lnTo>
                  <a:lnTo>
                    <a:pt x="142" y="38"/>
                  </a:lnTo>
                  <a:lnTo>
                    <a:pt x="137" y="40"/>
                  </a:lnTo>
                  <a:lnTo>
                    <a:pt x="131" y="42"/>
                  </a:lnTo>
                  <a:lnTo>
                    <a:pt x="127" y="44"/>
                  </a:lnTo>
                  <a:lnTo>
                    <a:pt x="121" y="44"/>
                  </a:lnTo>
                  <a:lnTo>
                    <a:pt x="116" y="46"/>
                  </a:lnTo>
                  <a:lnTo>
                    <a:pt x="112" y="46"/>
                  </a:lnTo>
                  <a:lnTo>
                    <a:pt x="106" y="48"/>
                  </a:lnTo>
                  <a:lnTo>
                    <a:pt x="99" y="51"/>
                  </a:lnTo>
                  <a:lnTo>
                    <a:pt x="91" y="53"/>
                  </a:lnTo>
                  <a:lnTo>
                    <a:pt x="85" y="55"/>
                  </a:lnTo>
                  <a:lnTo>
                    <a:pt x="81" y="55"/>
                  </a:lnTo>
                  <a:lnTo>
                    <a:pt x="78" y="57"/>
                  </a:lnTo>
                  <a:lnTo>
                    <a:pt x="0" y="139"/>
                  </a:lnTo>
                  <a:lnTo>
                    <a:pt x="0" y="245"/>
                  </a:lnTo>
                  <a:lnTo>
                    <a:pt x="201" y="496"/>
                  </a:lnTo>
                  <a:lnTo>
                    <a:pt x="310" y="519"/>
                  </a:lnTo>
                  <a:lnTo>
                    <a:pt x="306" y="601"/>
                  </a:lnTo>
                  <a:lnTo>
                    <a:pt x="623" y="663"/>
                  </a:lnTo>
                  <a:lnTo>
                    <a:pt x="690" y="557"/>
                  </a:lnTo>
                  <a:lnTo>
                    <a:pt x="656" y="386"/>
                  </a:lnTo>
                  <a:lnTo>
                    <a:pt x="633" y="295"/>
                  </a:lnTo>
                  <a:lnTo>
                    <a:pt x="646" y="179"/>
                  </a:lnTo>
                  <a:lnTo>
                    <a:pt x="646" y="177"/>
                  </a:lnTo>
                  <a:lnTo>
                    <a:pt x="652" y="175"/>
                  </a:lnTo>
                  <a:lnTo>
                    <a:pt x="657" y="169"/>
                  </a:lnTo>
                  <a:lnTo>
                    <a:pt x="667" y="165"/>
                  </a:lnTo>
                  <a:lnTo>
                    <a:pt x="671" y="162"/>
                  </a:lnTo>
                  <a:lnTo>
                    <a:pt x="676" y="160"/>
                  </a:lnTo>
                  <a:lnTo>
                    <a:pt x="682" y="158"/>
                  </a:lnTo>
                  <a:lnTo>
                    <a:pt x="688" y="156"/>
                  </a:lnTo>
                  <a:lnTo>
                    <a:pt x="694" y="154"/>
                  </a:lnTo>
                  <a:lnTo>
                    <a:pt x="699" y="152"/>
                  </a:lnTo>
                  <a:lnTo>
                    <a:pt x="707" y="152"/>
                  </a:lnTo>
                  <a:lnTo>
                    <a:pt x="713" y="152"/>
                  </a:lnTo>
                  <a:lnTo>
                    <a:pt x="720" y="152"/>
                  </a:lnTo>
                  <a:lnTo>
                    <a:pt x="726" y="152"/>
                  </a:lnTo>
                  <a:lnTo>
                    <a:pt x="732" y="154"/>
                  </a:lnTo>
                  <a:lnTo>
                    <a:pt x="737" y="156"/>
                  </a:lnTo>
                  <a:lnTo>
                    <a:pt x="743" y="158"/>
                  </a:lnTo>
                  <a:lnTo>
                    <a:pt x="747" y="160"/>
                  </a:lnTo>
                  <a:lnTo>
                    <a:pt x="752" y="162"/>
                  </a:lnTo>
                  <a:lnTo>
                    <a:pt x="758" y="167"/>
                  </a:lnTo>
                  <a:lnTo>
                    <a:pt x="762" y="171"/>
                  </a:lnTo>
                  <a:lnTo>
                    <a:pt x="768" y="177"/>
                  </a:lnTo>
                  <a:lnTo>
                    <a:pt x="772" y="181"/>
                  </a:lnTo>
                  <a:lnTo>
                    <a:pt x="775" y="188"/>
                  </a:lnTo>
                  <a:lnTo>
                    <a:pt x="779" y="196"/>
                  </a:lnTo>
                  <a:lnTo>
                    <a:pt x="785" y="203"/>
                  </a:lnTo>
                  <a:lnTo>
                    <a:pt x="787" y="209"/>
                  </a:lnTo>
                  <a:lnTo>
                    <a:pt x="789" y="213"/>
                  </a:lnTo>
                  <a:lnTo>
                    <a:pt x="792" y="219"/>
                  </a:lnTo>
                  <a:lnTo>
                    <a:pt x="794" y="224"/>
                  </a:lnTo>
                  <a:lnTo>
                    <a:pt x="798" y="232"/>
                  </a:lnTo>
                  <a:lnTo>
                    <a:pt x="802" y="241"/>
                  </a:lnTo>
                  <a:lnTo>
                    <a:pt x="806" y="249"/>
                  </a:lnTo>
                  <a:lnTo>
                    <a:pt x="810" y="260"/>
                  </a:lnTo>
                  <a:lnTo>
                    <a:pt x="811" y="268"/>
                  </a:lnTo>
                  <a:lnTo>
                    <a:pt x="815" y="278"/>
                  </a:lnTo>
                  <a:lnTo>
                    <a:pt x="817" y="287"/>
                  </a:lnTo>
                  <a:lnTo>
                    <a:pt x="821" y="297"/>
                  </a:lnTo>
                  <a:lnTo>
                    <a:pt x="823" y="304"/>
                  </a:lnTo>
                  <a:lnTo>
                    <a:pt x="827" y="312"/>
                  </a:lnTo>
                  <a:lnTo>
                    <a:pt x="827" y="319"/>
                  </a:lnTo>
                  <a:lnTo>
                    <a:pt x="830" y="327"/>
                  </a:lnTo>
                  <a:lnTo>
                    <a:pt x="830" y="333"/>
                  </a:lnTo>
                  <a:lnTo>
                    <a:pt x="832" y="340"/>
                  </a:lnTo>
                  <a:lnTo>
                    <a:pt x="834" y="344"/>
                  </a:lnTo>
                  <a:lnTo>
                    <a:pt x="836" y="350"/>
                  </a:lnTo>
                  <a:lnTo>
                    <a:pt x="849" y="356"/>
                  </a:lnTo>
                  <a:lnTo>
                    <a:pt x="827" y="382"/>
                  </a:lnTo>
                  <a:lnTo>
                    <a:pt x="872" y="407"/>
                  </a:lnTo>
                  <a:lnTo>
                    <a:pt x="905" y="424"/>
                  </a:lnTo>
                  <a:lnTo>
                    <a:pt x="916" y="361"/>
                  </a:lnTo>
                  <a:lnTo>
                    <a:pt x="941" y="230"/>
                  </a:lnTo>
                  <a:lnTo>
                    <a:pt x="889" y="86"/>
                  </a:lnTo>
                  <a:lnTo>
                    <a:pt x="800" y="21"/>
                  </a:lnTo>
                  <a:lnTo>
                    <a:pt x="798" y="19"/>
                  </a:lnTo>
                  <a:lnTo>
                    <a:pt x="794" y="19"/>
                  </a:lnTo>
                  <a:lnTo>
                    <a:pt x="787" y="17"/>
                  </a:lnTo>
                  <a:lnTo>
                    <a:pt x="779" y="17"/>
                  </a:lnTo>
                  <a:lnTo>
                    <a:pt x="773" y="17"/>
                  </a:lnTo>
                  <a:lnTo>
                    <a:pt x="770" y="15"/>
                  </a:lnTo>
                  <a:lnTo>
                    <a:pt x="764" y="15"/>
                  </a:lnTo>
                  <a:lnTo>
                    <a:pt x="760" y="15"/>
                  </a:lnTo>
                  <a:lnTo>
                    <a:pt x="754" y="13"/>
                  </a:lnTo>
                  <a:lnTo>
                    <a:pt x="749" y="13"/>
                  </a:lnTo>
                  <a:lnTo>
                    <a:pt x="743" y="11"/>
                  </a:lnTo>
                  <a:lnTo>
                    <a:pt x="737" y="11"/>
                  </a:lnTo>
                  <a:lnTo>
                    <a:pt x="732" y="10"/>
                  </a:lnTo>
                  <a:lnTo>
                    <a:pt x="726" y="10"/>
                  </a:lnTo>
                  <a:lnTo>
                    <a:pt x="720" y="8"/>
                  </a:lnTo>
                  <a:lnTo>
                    <a:pt x="714" y="8"/>
                  </a:lnTo>
                  <a:lnTo>
                    <a:pt x="709" y="8"/>
                  </a:lnTo>
                  <a:lnTo>
                    <a:pt x="703" y="6"/>
                  </a:lnTo>
                  <a:lnTo>
                    <a:pt x="697" y="6"/>
                  </a:lnTo>
                  <a:lnTo>
                    <a:pt x="695" y="6"/>
                  </a:lnTo>
                  <a:lnTo>
                    <a:pt x="686" y="4"/>
                  </a:lnTo>
                  <a:lnTo>
                    <a:pt x="678" y="4"/>
                  </a:lnTo>
                  <a:lnTo>
                    <a:pt x="675" y="2"/>
                  </a:lnTo>
                  <a:lnTo>
                    <a:pt x="673" y="2"/>
                  </a:lnTo>
                  <a:lnTo>
                    <a:pt x="669" y="0"/>
                  </a:lnTo>
                  <a:lnTo>
                    <a:pt x="665" y="0"/>
                  </a:lnTo>
                  <a:lnTo>
                    <a:pt x="659" y="0"/>
                  </a:lnTo>
                  <a:lnTo>
                    <a:pt x="654" y="0"/>
                  </a:lnTo>
                  <a:lnTo>
                    <a:pt x="648" y="0"/>
                  </a:lnTo>
                  <a:lnTo>
                    <a:pt x="646" y="0"/>
                  </a:lnTo>
                  <a:lnTo>
                    <a:pt x="642" y="0"/>
                  </a:lnTo>
                  <a:lnTo>
                    <a:pt x="642" y="2"/>
                  </a:lnTo>
                  <a:lnTo>
                    <a:pt x="604" y="21"/>
                  </a:lnTo>
                  <a:lnTo>
                    <a:pt x="566" y="29"/>
                  </a:lnTo>
                  <a:lnTo>
                    <a:pt x="543" y="2"/>
                  </a:lnTo>
                  <a:lnTo>
                    <a:pt x="429" y="32"/>
                  </a:lnTo>
                  <a:lnTo>
                    <a:pt x="325" y="50"/>
                  </a:lnTo>
                  <a:close/>
                </a:path>
              </a:pathLst>
            </a:custGeom>
            <a:solidFill>
              <a:srgbClr val="FFFFFF">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4" name="Freeform 13"/>
            <p:cNvSpPr>
              <a:spLocks/>
            </p:cNvSpPr>
            <p:nvPr/>
          </p:nvSpPr>
          <p:spPr bwMode="auto">
            <a:xfrm>
              <a:off x="5037" y="3226"/>
              <a:ext cx="133" cy="140"/>
            </a:xfrm>
            <a:custGeom>
              <a:avLst/>
              <a:gdLst>
                <a:gd name="T0" fmla="*/ 0 w 267"/>
                <a:gd name="T1" fmla="*/ 0 h 281"/>
                <a:gd name="T2" fmla="*/ 0 w 267"/>
                <a:gd name="T3" fmla="*/ 0 h 281"/>
                <a:gd name="T4" fmla="*/ 0 w 267"/>
                <a:gd name="T5" fmla="*/ 0 h 281"/>
                <a:gd name="T6" fmla="*/ 0 w 267"/>
                <a:gd name="T7" fmla="*/ 0 h 281"/>
                <a:gd name="T8" fmla="*/ 0 w 267"/>
                <a:gd name="T9" fmla="*/ 0 h 281"/>
                <a:gd name="T10" fmla="*/ 0 w 267"/>
                <a:gd name="T11" fmla="*/ 0 h 281"/>
                <a:gd name="T12" fmla="*/ 0 w 267"/>
                <a:gd name="T13" fmla="*/ 0 h 281"/>
                <a:gd name="T14" fmla="*/ 0 w 267"/>
                <a:gd name="T15" fmla="*/ 0 h 281"/>
                <a:gd name="T16" fmla="*/ 0 w 267"/>
                <a:gd name="T17" fmla="*/ 0 h 281"/>
                <a:gd name="T18" fmla="*/ 0 w 267"/>
                <a:gd name="T19" fmla="*/ 0 h 281"/>
                <a:gd name="T20" fmla="*/ 0 w 267"/>
                <a:gd name="T21" fmla="*/ 0 h 281"/>
                <a:gd name="T22" fmla="*/ 0 w 267"/>
                <a:gd name="T23" fmla="*/ 0 h 281"/>
                <a:gd name="T24" fmla="*/ 0 w 267"/>
                <a:gd name="T25" fmla="*/ 0 h 281"/>
                <a:gd name="T26" fmla="*/ 0 w 267"/>
                <a:gd name="T27" fmla="*/ 0 h 281"/>
                <a:gd name="T28" fmla="*/ 0 w 267"/>
                <a:gd name="T29" fmla="*/ 0 h 281"/>
                <a:gd name="T30" fmla="*/ 0 w 267"/>
                <a:gd name="T31" fmla="*/ 0 h 281"/>
                <a:gd name="T32" fmla="*/ 0 w 267"/>
                <a:gd name="T33" fmla="*/ 0 h 281"/>
                <a:gd name="T34" fmla="*/ 0 w 267"/>
                <a:gd name="T35" fmla="*/ 0 h 281"/>
                <a:gd name="T36" fmla="*/ 0 w 267"/>
                <a:gd name="T37" fmla="*/ 0 h 281"/>
                <a:gd name="T38" fmla="*/ 0 w 267"/>
                <a:gd name="T39" fmla="*/ 0 h 281"/>
                <a:gd name="T40" fmla="*/ 0 w 267"/>
                <a:gd name="T41" fmla="*/ 0 h 281"/>
                <a:gd name="T42" fmla="*/ 0 w 267"/>
                <a:gd name="T43" fmla="*/ 0 h 281"/>
                <a:gd name="T44" fmla="*/ 0 w 267"/>
                <a:gd name="T45" fmla="*/ 0 h 281"/>
                <a:gd name="T46" fmla="*/ 0 w 267"/>
                <a:gd name="T47" fmla="*/ 0 h 281"/>
                <a:gd name="T48" fmla="*/ 0 w 267"/>
                <a:gd name="T49" fmla="*/ 0 h 281"/>
                <a:gd name="T50" fmla="*/ 0 w 267"/>
                <a:gd name="T51" fmla="*/ 0 h 281"/>
                <a:gd name="T52" fmla="*/ 0 w 267"/>
                <a:gd name="T53" fmla="*/ 0 h 281"/>
                <a:gd name="T54" fmla="*/ 0 w 267"/>
                <a:gd name="T55" fmla="*/ 0 h 281"/>
                <a:gd name="T56" fmla="*/ 0 w 267"/>
                <a:gd name="T57" fmla="*/ 0 h 281"/>
                <a:gd name="T58" fmla="*/ 0 w 267"/>
                <a:gd name="T59" fmla="*/ 0 h 281"/>
                <a:gd name="T60" fmla="*/ 0 w 267"/>
                <a:gd name="T61" fmla="*/ 0 h 281"/>
                <a:gd name="T62" fmla="*/ 0 w 267"/>
                <a:gd name="T63" fmla="*/ 0 h 281"/>
                <a:gd name="T64" fmla="*/ 0 w 267"/>
                <a:gd name="T65" fmla="*/ 0 h 281"/>
                <a:gd name="T66" fmla="*/ 0 w 267"/>
                <a:gd name="T67" fmla="*/ 0 h 281"/>
                <a:gd name="T68" fmla="*/ 0 w 267"/>
                <a:gd name="T69" fmla="*/ 0 h 281"/>
                <a:gd name="T70" fmla="*/ 0 w 267"/>
                <a:gd name="T71" fmla="*/ 0 h 281"/>
                <a:gd name="T72" fmla="*/ 0 w 267"/>
                <a:gd name="T73" fmla="*/ 0 h 281"/>
                <a:gd name="T74" fmla="*/ 0 w 267"/>
                <a:gd name="T75" fmla="*/ 0 h 281"/>
                <a:gd name="T76" fmla="*/ 0 w 267"/>
                <a:gd name="T77" fmla="*/ 0 h 281"/>
                <a:gd name="T78" fmla="*/ 0 w 267"/>
                <a:gd name="T79" fmla="*/ 0 h 281"/>
                <a:gd name="T80" fmla="*/ 0 w 267"/>
                <a:gd name="T81" fmla="*/ 0 h 281"/>
                <a:gd name="T82" fmla="*/ 0 w 267"/>
                <a:gd name="T83" fmla="*/ 0 h 281"/>
                <a:gd name="T84" fmla="*/ 0 w 267"/>
                <a:gd name="T85" fmla="*/ 1 h 281"/>
                <a:gd name="T86" fmla="*/ 0 w 267"/>
                <a:gd name="T87" fmla="*/ 1 h 281"/>
                <a:gd name="T88" fmla="*/ 0 w 267"/>
                <a:gd name="T89" fmla="*/ 0 h 281"/>
                <a:gd name="T90" fmla="*/ 0 w 267"/>
                <a:gd name="T91" fmla="*/ 0 h 281"/>
                <a:gd name="T92" fmla="*/ 0 w 267"/>
                <a:gd name="T93" fmla="*/ 0 h 281"/>
                <a:gd name="T94" fmla="*/ 0 w 267"/>
                <a:gd name="T95" fmla="*/ 0 h 281"/>
                <a:gd name="T96" fmla="*/ 1 w 267"/>
                <a:gd name="T97" fmla="*/ 0 h 281"/>
                <a:gd name="T98" fmla="*/ 1 w 267"/>
                <a:gd name="T99" fmla="*/ 0 h 281"/>
                <a:gd name="T100" fmla="*/ 0 w 267"/>
                <a:gd name="T101" fmla="*/ 0 h 281"/>
                <a:gd name="T102" fmla="*/ 0 w 267"/>
                <a:gd name="T103" fmla="*/ 0 h 281"/>
                <a:gd name="T104" fmla="*/ 0 w 267"/>
                <a:gd name="T105" fmla="*/ 0 h 281"/>
                <a:gd name="T106" fmla="*/ 0 w 267"/>
                <a:gd name="T107" fmla="*/ 0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67" h="281">
                  <a:moveTo>
                    <a:pt x="14" y="0"/>
                  </a:moveTo>
                  <a:lnTo>
                    <a:pt x="14" y="0"/>
                  </a:lnTo>
                  <a:lnTo>
                    <a:pt x="12" y="6"/>
                  </a:lnTo>
                  <a:lnTo>
                    <a:pt x="10" y="12"/>
                  </a:lnTo>
                  <a:lnTo>
                    <a:pt x="10" y="21"/>
                  </a:lnTo>
                  <a:lnTo>
                    <a:pt x="8" y="27"/>
                  </a:lnTo>
                  <a:lnTo>
                    <a:pt x="8" y="31"/>
                  </a:lnTo>
                  <a:lnTo>
                    <a:pt x="6" y="36"/>
                  </a:lnTo>
                  <a:lnTo>
                    <a:pt x="6" y="44"/>
                  </a:lnTo>
                  <a:lnTo>
                    <a:pt x="4" y="50"/>
                  </a:lnTo>
                  <a:lnTo>
                    <a:pt x="4" y="57"/>
                  </a:lnTo>
                  <a:lnTo>
                    <a:pt x="2" y="63"/>
                  </a:lnTo>
                  <a:lnTo>
                    <a:pt x="2" y="70"/>
                  </a:lnTo>
                  <a:lnTo>
                    <a:pt x="2" y="78"/>
                  </a:lnTo>
                  <a:lnTo>
                    <a:pt x="0" y="84"/>
                  </a:lnTo>
                  <a:lnTo>
                    <a:pt x="0" y="91"/>
                  </a:lnTo>
                  <a:lnTo>
                    <a:pt x="0" y="99"/>
                  </a:lnTo>
                  <a:lnTo>
                    <a:pt x="0" y="105"/>
                  </a:lnTo>
                  <a:lnTo>
                    <a:pt x="0" y="112"/>
                  </a:lnTo>
                  <a:lnTo>
                    <a:pt x="0" y="118"/>
                  </a:lnTo>
                  <a:lnTo>
                    <a:pt x="0" y="126"/>
                  </a:lnTo>
                  <a:lnTo>
                    <a:pt x="0" y="131"/>
                  </a:lnTo>
                  <a:lnTo>
                    <a:pt x="0" y="137"/>
                  </a:lnTo>
                  <a:lnTo>
                    <a:pt x="0" y="143"/>
                  </a:lnTo>
                  <a:lnTo>
                    <a:pt x="0" y="148"/>
                  </a:lnTo>
                  <a:lnTo>
                    <a:pt x="0" y="154"/>
                  </a:lnTo>
                  <a:lnTo>
                    <a:pt x="0" y="158"/>
                  </a:lnTo>
                  <a:lnTo>
                    <a:pt x="2" y="162"/>
                  </a:lnTo>
                  <a:lnTo>
                    <a:pt x="4" y="167"/>
                  </a:lnTo>
                  <a:lnTo>
                    <a:pt x="8" y="173"/>
                  </a:lnTo>
                  <a:lnTo>
                    <a:pt x="12" y="179"/>
                  </a:lnTo>
                  <a:lnTo>
                    <a:pt x="16" y="184"/>
                  </a:lnTo>
                  <a:lnTo>
                    <a:pt x="21" y="190"/>
                  </a:lnTo>
                  <a:lnTo>
                    <a:pt x="25" y="194"/>
                  </a:lnTo>
                  <a:lnTo>
                    <a:pt x="31" y="200"/>
                  </a:lnTo>
                  <a:lnTo>
                    <a:pt x="36" y="203"/>
                  </a:lnTo>
                  <a:lnTo>
                    <a:pt x="42" y="207"/>
                  </a:lnTo>
                  <a:lnTo>
                    <a:pt x="50" y="213"/>
                  </a:lnTo>
                  <a:lnTo>
                    <a:pt x="59" y="217"/>
                  </a:lnTo>
                  <a:lnTo>
                    <a:pt x="65" y="221"/>
                  </a:lnTo>
                  <a:lnTo>
                    <a:pt x="67" y="222"/>
                  </a:lnTo>
                  <a:lnTo>
                    <a:pt x="65" y="243"/>
                  </a:lnTo>
                  <a:lnTo>
                    <a:pt x="99" y="281"/>
                  </a:lnTo>
                  <a:lnTo>
                    <a:pt x="158" y="280"/>
                  </a:lnTo>
                  <a:lnTo>
                    <a:pt x="198" y="255"/>
                  </a:lnTo>
                  <a:lnTo>
                    <a:pt x="185" y="169"/>
                  </a:lnTo>
                  <a:lnTo>
                    <a:pt x="206" y="127"/>
                  </a:lnTo>
                  <a:lnTo>
                    <a:pt x="228" y="131"/>
                  </a:lnTo>
                  <a:lnTo>
                    <a:pt x="257" y="114"/>
                  </a:lnTo>
                  <a:lnTo>
                    <a:pt x="267" y="93"/>
                  </a:lnTo>
                  <a:lnTo>
                    <a:pt x="238" y="74"/>
                  </a:lnTo>
                  <a:lnTo>
                    <a:pt x="242" y="31"/>
                  </a:lnTo>
                  <a:lnTo>
                    <a:pt x="14" y="0"/>
                  </a:lnTo>
                  <a:close/>
                </a:path>
              </a:pathLst>
            </a:custGeom>
            <a:solidFill>
              <a:srgbClr val="FFE6D9">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5" name="Freeform 14"/>
            <p:cNvSpPr>
              <a:spLocks/>
            </p:cNvSpPr>
            <p:nvPr/>
          </p:nvSpPr>
          <p:spPr bwMode="auto">
            <a:xfrm>
              <a:off x="5037" y="3184"/>
              <a:ext cx="132" cy="67"/>
            </a:xfrm>
            <a:custGeom>
              <a:avLst/>
              <a:gdLst>
                <a:gd name="T0" fmla="*/ 0 w 265"/>
                <a:gd name="T1" fmla="*/ 0 h 135"/>
                <a:gd name="T2" fmla="*/ 0 w 265"/>
                <a:gd name="T3" fmla="*/ 0 h 135"/>
                <a:gd name="T4" fmla="*/ 0 w 265"/>
                <a:gd name="T5" fmla="*/ 0 h 135"/>
                <a:gd name="T6" fmla="*/ 0 w 265"/>
                <a:gd name="T7" fmla="*/ 0 h 135"/>
                <a:gd name="T8" fmla="*/ 0 w 265"/>
                <a:gd name="T9" fmla="*/ 0 h 135"/>
                <a:gd name="T10" fmla="*/ 0 w 265"/>
                <a:gd name="T11" fmla="*/ 0 h 135"/>
                <a:gd name="T12" fmla="*/ 0 w 265"/>
                <a:gd name="T13" fmla="*/ 0 h 135"/>
                <a:gd name="T14" fmla="*/ 0 w 265"/>
                <a:gd name="T15" fmla="*/ 0 h 135"/>
                <a:gd name="T16" fmla="*/ 0 w 265"/>
                <a:gd name="T17" fmla="*/ 0 h 135"/>
                <a:gd name="T18" fmla="*/ 0 w 265"/>
                <a:gd name="T19" fmla="*/ 0 h 135"/>
                <a:gd name="T20" fmla="*/ 0 w 265"/>
                <a:gd name="T21" fmla="*/ 0 h 135"/>
                <a:gd name="T22" fmla="*/ 0 w 265"/>
                <a:gd name="T23" fmla="*/ 0 h 135"/>
                <a:gd name="T24" fmla="*/ 0 w 265"/>
                <a:gd name="T25" fmla="*/ 0 h 135"/>
                <a:gd name="T26" fmla="*/ 0 w 265"/>
                <a:gd name="T27" fmla="*/ 0 h 135"/>
                <a:gd name="T28" fmla="*/ 0 w 265"/>
                <a:gd name="T29" fmla="*/ 0 h 135"/>
                <a:gd name="T30" fmla="*/ 0 w 265"/>
                <a:gd name="T31" fmla="*/ 0 h 135"/>
                <a:gd name="T32" fmla="*/ 0 w 265"/>
                <a:gd name="T33" fmla="*/ 0 h 135"/>
                <a:gd name="T34" fmla="*/ 0 w 265"/>
                <a:gd name="T35" fmla="*/ 0 h 135"/>
                <a:gd name="T36" fmla="*/ 0 w 265"/>
                <a:gd name="T37" fmla="*/ 0 h 135"/>
                <a:gd name="T38" fmla="*/ 0 w 265"/>
                <a:gd name="T39" fmla="*/ 0 h 135"/>
                <a:gd name="T40" fmla="*/ 0 w 265"/>
                <a:gd name="T41" fmla="*/ 0 h 135"/>
                <a:gd name="T42" fmla="*/ 0 w 265"/>
                <a:gd name="T43" fmla="*/ 0 h 135"/>
                <a:gd name="T44" fmla="*/ 1 w 265"/>
                <a:gd name="T45" fmla="*/ 0 h 135"/>
                <a:gd name="T46" fmla="*/ 1 w 265"/>
                <a:gd name="T47" fmla="*/ 0 h 135"/>
                <a:gd name="T48" fmla="*/ 1 w 265"/>
                <a:gd name="T49" fmla="*/ 0 h 135"/>
                <a:gd name="T50" fmla="*/ 1 w 265"/>
                <a:gd name="T51" fmla="*/ 0 h 135"/>
                <a:gd name="T52" fmla="*/ 0 w 265"/>
                <a:gd name="T53" fmla="*/ 0 h 135"/>
                <a:gd name="T54" fmla="*/ 0 w 265"/>
                <a:gd name="T55" fmla="*/ 0 h 135"/>
                <a:gd name="T56" fmla="*/ 0 w 265"/>
                <a:gd name="T57" fmla="*/ 0 h 135"/>
                <a:gd name="T58" fmla="*/ 0 w 265"/>
                <a:gd name="T59" fmla="*/ 0 h 135"/>
                <a:gd name="T60" fmla="*/ 0 w 265"/>
                <a:gd name="T61" fmla="*/ 0 h 135"/>
                <a:gd name="T62" fmla="*/ 0 w 265"/>
                <a:gd name="T63" fmla="*/ 0 h 135"/>
                <a:gd name="T64" fmla="*/ 0 w 265"/>
                <a:gd name="T65" fmla="*/ 0 h 135"/>
                <a:gd name="T66" fmla="*/ 0 w 265"/>
                <a:gd name="T67" fmla="*/ 0 h 135"/>
                <a:gd name="T68" fmla="*/ 0 w 265"/>
                <a:gd name="T69" fmla="*/ 0 h 135"/>
                <a:gd name="T70" fmla="*/ 0 w 265"/>
                <a:gd name="T71" fmla="*/ 0 h 135"/>
                <a:gd name="T72" fmla="*/ 0 w 265"/>
                <a:gd name="T73" fmla="*/ 0 h 135"/>
                <a:gd name="T74" fmla="*/ 0 w 265"/>
                <a:gd name="T75" fmla="*/ 0 h 135"/>
                <a:gd name="T76" fmla="*/ 0 w 265"/>
                <a:gd name="T77" fmla="*/ 0 h 135"/>
                <a:gd name="T78" fmla="*/ 0 w 265"/>
                <a:gd name="T79" fmla="*/ 0 h 135"/>
                <a:gd name="T80" fmla="*/ 0 w 265"/>
                <a:gd name="T81" fmla="*/ 0 h 135"/>
                <a:gd name="T82" fmla="*/ 0 w 265"/>
                <a:gd name="T83" fmla="*/ 0 h 135"/>
                <a:gd name="T84" fmla="*/ 0 w 265"/>
                <a:gd name="T85" fmla="*/ 0 h 135"/>
                <a:gd name="T86" fmla="*/ 0 w 265"/>
                <a:gd name="T87" fmla="*/ 0 h 135"/>
                <a:gd name="T88" fmla="*/ 0 w 265"/>
                <a:gd name="T89" fmla="*/ 0 h 135"/>
                <a:gd name="T90" fmla="*/ 0 w 265"/>
                <a:gd name="T91" fmla="*/ 0 h 135"/>
                <a:gd name="T92" fmla="*/ 0 w 265"/>
                <a:gd name="T93" fmla="*/ 0 h 135"/>
                <a:gd name="T94" fmla="*/ 0 w 265"/>
                <a:gd name="T95" fmla="*/ 0 h 135"/>
                <a:gd name="T96" fmla="*/ 0 w 265"/>
                <a:gd name="T97" fmla="*/ 0 h 13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65" h="135">
                  <a:moveTo>
                    <a:pt x="12" y="69"/>
                  </a:moveTo>
                  <a:lnTo>
                    <a:pt x="10" y="67"/>
                  </a:lnTo>
                  <a:lnTo>
                    <a:pt x="4" y="59"/>
                  </a:lnTo>
                  <a:lnTo>
                    <a:pt x="2" y="54"/>
                  </a:lnTo>
                  <a:lnTo>
                    <a:pt x="0" y="50"/>
                  </a:lnTo>
                  <a:lnTo>
                    <a:pt x="0" y="44"/>
                  </a:lnTo>
                  <a:lnTo>
                    <a:pt x="0" y="39"/>
                  </a:lnTo>
                  <a:lnTo>
                    <a:pt x="0" y="33"/>
                  </a:lnTo>
                  <a:lnTo>
                    <a:pt x="0" y="27"/>
                  </a:lnTo>
                  <a:lnTo>
                    <a:pt x="4" y="21"/>
                  </a:lnTo>
                  <a:lnTo>
                    <a:pt x="10" y="16"/>
                  </a:lnTo>
                  <a:lnTo>
                    <a:pt x="12" y="14"/>
                  </a:lnTo>
                  <a:lnTo>
                    <a:pt x="16" y="10"/>
                  </a:lnTo>
                  <a:lnTo>
                    <a:pt x="19" y="10"/>
                  </a:lnTo>
                  <a:lnTo>
                    <a:pt x="25" y="8"/>
                  </a:lnTo>
                  <a:lnTo>
                    <a:pt x="31" y="6"/>
                  </a:lnTo>
                  <a:lnTo>
                    <a:pt x="36" y="4"/>
                  </a:lnTo>
                  <a:lnTo>
                    <a:pt x="44" y="2"/>
                  </a:lnTo>
                  <a:lnTo>
                    <a:pt x="52" y="2"/>
                  </a:lnTo>
                  <a:lnTo>
                    <a:pt x="59" y="0"/>
                  </a:lnTo>
                  <a:lnTo>
                    <a:pt x="67" y="0"/>
                  </a:lnTo>
                  <a:lnTo>
                    <a:pt x="75" y="0"/>
                  </a:lnTo>
                  <a:lnTo>
                    <a:pt x="84" y="0"/>
                  </a:lnTo>
                  <a:lnTo>
                    <a:pt x="92" y="0"/>
                  </a:lnTo>
                  <a:lnTo>
                    <a:pt x="101" y="2"/>
                  </a:lnTo>
                  <a:lnTo>
                    <a:pt x="111" y="4"/>
                  </a:lnTo>
                  <a:lnTo>
                    <a:pt x="120" y="6"/>
                  </a:lnTo>
                  <a:lnTo>
                    <a:pt x="128" y="6"/>
                  </a:lnTo>
                  <a:lnTo>
                    <a:pt x="137" y="8"/>
                  </a:lnTo>
                  <a:lnTo>
                    <a:pt x="145" y="10"/>
                  </a:lnTo>
                  <a:lnTo>
                    <a:pt x="154" y="14"/>
                  </a:lnTo>
                  <a:lnTo>
                    <a:pt x="162" y="16"/>
                  </a:lnTo>
                  <a:lnTo>
                    <a:pt x="171" y="18"/>
                  </a:lnTo>
                  <a:lnTo>
                    <a:pt x="179" y="21"/>
                  </a:lnTo>
                  <a:lnTo>
                    <a:pt x="189" y="25"/>
                  </a:lnTo>
                  <a:lnTo>
                    <a:pt x="196" y="27"/>
                  </a:lnTo>
                  <a:lnTo>
                    <a:pt x="202" y="31"/>
                  </a:lnTo>
                  <a:lnTo>
                    <a:pt x="209" y="33"/>
                  </a:lnTo>
                  <a:lnTo>
                    <a:pt x="217" y="37"/>
                  </a:lnTo>
                  <a:lnTo>
                    <a:pt x="223" y="39"/>
                  </a:lnTo>
                  <a:lnTo>
                    <a:pt x="228" y="42"/>
                  </a:lnTo>
                  <a:lnTo>
                    <a:pt x="234" y="46"/>
                  </a:lnTo>
                  <a:lnTo>
                    <a:pt x="242" y="50"/>
                  </a:lnTo>
                  <a:lnTo>
                    <a:pt x="249" y="58"/>
                  </a:lnTo>
                  <a:lnTo>
                    <a:pt x="257" y="63"/>
                  </a:lnTo>
                  <a:lnTo>
                    <a:pt x="261" y="69"/>
                  </a:lnTo>
                  <a:lnTo>
                    <a:pt x="265" y="77"/>
                  </a:lnTo>
                  <a:lnTo>
                    <a:pt x="265" y="80"/>
                  </a:lnTo>
                  <a:lnTo>
                    <a:pt x="265" y="86"/>
                  </a:lnTo>
                  <a:lnTo>
                    <a:pt x="265" y="90"/>
                  </a:lnTo>
                  <a:lnTo>
                    <a:pt x="265" y="96"/>
                  </a:lnTo>
                  <a:lnTo>
                    <a:pt x="263" y="105"/>
                  </a:lnTo>
                  <a:lnTo>
                    <a:pt x="261" y="115"/>
                  </a:lnTo>
                  <a:lnTo>
                    <a:pt x="255" y="122"/>
                  </a:lnTo>
                  <a:lnTo>
                    <a:pt x="247" y="128"/>
                  </a:lnTo>
                  <a:lnTo>
                    <a:pt x="242" y="130"/>
                  </a:lnTo>
                  <a:lnTo>
                    <a:pt x="236" y="132"/>
                  </a:lnTo>
                  <a:lnTo>
                    <a:pt x="228" y="134"/>
                  </a:lnTo>
                  <a:lnTo>
                    <a:pt x="223" y="135"/>
                  </a:lnTo>
                  <a:lnTo>
                    <a:pt x="217" y="135"/>
                  </a:lnTo>
                  <a:lnTo>
                    <a:pt x="211" y="135"/>
                  </a:lnTo>
                  <a:lnTo>
                    <a:pt x="204" y="135"/>
                  </a:lnTo>
                  <a:lnTo>
                    <a:pt x="200" y="135"/>
                  </a:lnTo>
                  <a:lnTo>
                    <a:pt x="192" y="135"/>
                  </a:lnTo>
                  <a:lnTo>
                    <a:pt x="185" y="135"/>
                  </a:lnTo>
                  <a:lnTo>
                    <a:pt x="177" y="135"/>
                  </a:lnTo>
                  <a:lnTo>
                    <a:pt x="170" y="135"/>
                  </a:lnTo>
                  <a:lnTo>
                    <a:pt x="160" y="134"/>
                  </a:lnTo>
                  <a:lnTo>
                    <a:pt x="151" y="134"/>
                  </a:lnTo>
                  <a:lnTo>
                    <a:pt x="143" y="132"/>
                  </a:lnTo>
                  <a:lnTo>
                    <a:pt x="133" y="132"/>
                  </a:lnTo>
                  <a:lnTo>
                    <a:pt x="124" y="132"/>
                  </a:lnTo>
                  <a:lnTo>
                    <a:pt x="116" y="132"/>
                  </a:lnTo>
                  <a:lnTo>
                    <a:pt x="107" y="130"/>
                  </a:lnTo>
                  <a:lnTo>
                    <a:pt x="99" y="130"/>
                  </a:lnTo>
                  <a:lnTo>
                    <a:pt x="88" y="128"/>
                  </a:lnTo>
                  <a:lnTo>
                    <a:pt x="78" y="128"/>
                  </a:lnTo>
                  <a:lnTo>
                    <a:pt x="71" y="126"/>
                  </a:lnTo>
                  <a:lnTo>
                    <a:pt x="63" y="126"/>
                  </a:lnTo>
                  <a:lnTo>
                    <a:pt x="54" y="124"/>
                  </a:lnTo>
                  <a:lnTo>
                    <a:pt x="46" y="124"/>
                  </a:lnTo>
                  <a:lnTo>
                    <a:pt x="38" y="122"/>
                  </a:lnTo>
                  <a:lnTo>
                    <a:pt x="33" y="122"/>
                  </a:lnTo>
                  <a:lnTo>
                    <a:pt x="27" y="122"/>
                  </a:lnTo>
                  <a:lnTo>
                    <a:pt x="21" y="120"/>
                  </a:lnTo>
                  <a:lnTo>
                    <a:pt x="16" y="120"/>
                  </a:lnTo>
                  <a:lnTo>
                    <a:pt x="14" y="120"/>
                  </a:lnTo>
                  <a:lnTo>
                    <a:pt x="6" y="118"/>
                  </a:lnTo>
                  <a:lnTo>
                    <a:pt x="4" y="118"/>
                  </a:lnTo>
                  <a:lnTo>
                    <a:pt x="4" y="115"/>
                  </a:lnTo>
                  <a:lnTo>
                    <a:pt x="4" y="109"/>
                  </a:lnTo>
                  <a:lnTo>
                    <a:pt x="4" y="99"/>
                  </a:lnTo>
                  <a:lnTo>
                    <a:pt x="6" y="92"/>
                  </a:lnTo>
                  <a:lnTo>
                    <a:pt x="8" y="84"/>
                  </a:lnTo>
                  <a:lnTo>
                    <a:pt x="10" y="77"/>
                  </a:lnTo>
                  <a:lnTo>
                    <a:pt x="10" y="71"/>
                  </a:lnTo>
                  <a:lnTo>
                    <a:pt x="12" y="69"/>
                  </a:lnTo>
                  <a:close/>
                </a:path>
              </a:pathLst>
            </a:custGeom>
            <a:solidFill>
              <a:srgbClr val="8F8FC2">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6" name="Freeform 15"/>
            <p:cNvSpPr>
              <a:spLocks/>
            </p:cNvSpPr>
            <p:nvPr/>
          </p:nvSpPr>
          <p:spPr bwMode="auto">
            <a:xfrm>
              <a:off x="5201" y="3532"/>
              <a:ext cx="39" cy="58"/>
            </a:xfrm>
            <a:custGeom>
              <a:avLst/>
              <a:gdLst>
                <a:gd name="T0" fmla="*/ 0 w 78"/>
                <a:gd name="T1" fmla="*/ 0 h 118"/>
                <a:gd name="T2" fmla="*/ 1 w 78"/>
                <a:gd name="T3" fmla="*/ 0 h 118"/>
                <a:gd name="T4" fmla="*/ 1 w 78"/>
                <a:gd name="T5" fmla="*/ 0 h 118"/>
                <a:gd name="T6" fmla="*/ 1 w 78"/>
                <a:gd name="T7" fmla="*/ 0 h 118"/>
                <a:gd name="T8" fmla="*/ 0 w 78"/>
                <a:gd name="T9" fmla="*/ 0 h 118"/>
                <a:gd name="T10" fmla="*/ 0 w 78"/>
                <a:gd name="T11" fmla="*/ 0 h 11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8" h="118">
                  <a:moveTo>
                    <a:pt x="0" y="0"/>
                  </a:moveTo>
                  <a:lnTo>
                    <a:pt x="12" y="118"/>
                  </a:lnTo>
                  <a:lnTo>
                    <a:pt x="78" y="112"/>
                  </a:lnTo>
                  <a:lnTo>
                    <a:pt x="50" y="8"/>
                  </a:lnTo>
                  <a:lnTo>
                    <a:pt x="0"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7" name="Freeform 16"/>
            <p:cNvSpPr>
              <a:spLocks/>
            </p:cNvSpPr>
            <p:nvPr/>
          </p:nvSpPr>
          <p:spPr bwMode="auto">
            <a:xfrm>
              <a:off x="5028" y="3227"/>
              <a:ext cx="97" cy="117"/>
            </a:xfrm>
            <a:custGeom>
              <a:avLst/>
              <a:gdLst>
                <a:gd name="T0" fmla="*/ 1 w 194"/>
                <a:gd name="T1" fmla="*/ 0 h 234"/>
                <a:gd name="T2" fmla="*/ 1 w 194"/>
                <a:gd name="T3" fmla="*/ 1 h 234"/>
                <a:gd name="T4" fmla="*/ 1 w 194"/>
                <a:gd name="T5" fmla="*/ 1 h 234"/>
                <a:gd name="T6" fmla="*/ 1 w 194"/>
                <a:gd name="T7" fmla="*/ 1 h 234"/>
                <a:gd name="T8" fmla="*/ 1 w 194"/>
                <a:gd name="T9" fmla="*/ 1 h 234"/>
                <a:gd name="T10" fmla="*/ 1 w 194"/>
                <a:gd name="T11" fmla="*/ 1 h 234"/>
                <a:gd name="T12" fmla="*/ 0 w 194"/>
                <a:gd name="T13" fmla="*/ 1 h 234"/>
                <a:gd name="T14" fmla="*/ 0 w 194"/>
                <a:gd name="T15" fmla="*/ 1 h 234"/>
                <a:gd name="T16" fmla="*/ 0 w 194"/>
                <a:gd name="T17" fmla="*/ 1 h 234"/>
                <a:gd name="T18" fmla="*/ 1 w 194"/>
                <a:gd name="T19" fmla="*/ 1 h 234"/>
                <a:gd name="T20" fmla="*/ 1 w 194"/>
                <a:gd name="T21" fmla="*/ 1 h 234"/>
                <a:gd name="T22" fmla="*/ 1 w 194"/>
                <a:gd name="T23" fmla="*/ 1 h 234"/>
                <a:gd name="T24" fmla="*/ 1 w 194"/>
                <a:gd name="T25" fmla="*/ 1 h 234"/>
                <a:gd name="T26" fmla="*/ 1 w 194"/>
                <a:gd name="T27" fmla="*/ 1 h 234"/>
                <a:gd name="T28" fmla="*/ 1 w 194"/>
                <a:gd name="T29" fmla="*/ 1 h 234"/>
                <a:gd name="T30" fmla="*/ 1 w 194"/>
                <a:gd name="T31" fmla="*/ 1 h 234"/>
                <a:gd name="T32" fmla="*/ 1 w 194"/>
                <a:gd name="T33" fmla="*/ 1 h 234"/>
                <a:gd name="T34" fmla="*/ 1 w 194"/>
                <a:gd name="T35" fmla="*/ 1 h 234"/>
                <a:gd name="T36" fmla="*/ 1 w 194"/>
                <a:gd name="T37" fmla="*/ 1 h 234"/>
                <a:gd name="T38" fmla="*/ 1 w 194"/>
                <a:gd name="T39" fmla="*/ 1 h 234"/>
                <a:gd name="T40" fmla="*/ 1 w 194"/>
                <a:gd name="T41" fmla="*/ 1 h 234"/>
                <a:gd name="T42" fmla="*/ 1 w 194"/>
                <a:gd name="T43" fmla="*/ 1 h 234"/>
                <a:gd name="T44" fmla="*/ 1 w 194"/>
                <a:gd name="T45" fmla="*/ 1 h 234"/>
                <a:gd name="T46" fmla="*/ 1 w 194"/>
                <a:gd name="T47" fmla="*/ 1 h 234"/>
                <a:gd name="T48" fmla="*/ 1 w 194"/>
                <a:gd name="T49" fmla="*/ 1 h 234"/>
                <a:gd name="T50" fmla="*/ 1 w 194"/>
                <a:gd name="T51" fmla="*/ 1 h 234"/>
                <a:gd name="T52" fmla="*/ 1 w 194"/>
                <a:gd name="T53" fmla="*/ 1 h 234"/>
                <a:gd name="T54" fmla="*/ 1 w 194"/>
                <a:gd name="T55" fmla="*/ 1 h 234"/>
                <a:gd name="T56" fmla="*/ 1 w 194"/>
                <a:gd name="T57" fmla="*/ 1 h 234"/>
                <a:gd name="T58" fmla="*/ 1 w 194"/>
                <a:gd name="T59" fmla="*/ 1 h 234"/>
                <a:gd name="T60" fmla="*/ 1 w 194"/>
                <a:gd name="T61" fmla="*/ 1 h 234"/>
                <a:gd name="T62" fmla="*/ 1 w 194"/>
                <a:gd name="T63" fmla="*/ 1 h 234"/>
                <a:gd name="T64" fmla="*/ 1 w 194"/>
                <a:gd name="T65" fmla="*/ 1 h 234"/>
                <a:gd name="T66" fmla="*/ 1 w 194"/>
                <a:gd name="T67" fmla="*/ 1 h 234"/>
                <a:gd name="T68" fmla="*/ 1 w 194"/>
                <a:gd name="T69" fmla="*/ 1 h 234"/>
                <a:gd name="T70" fmla="*/ 1 w 194"/>
                <a:gd name="T71" fmla="*/ 1 h 234"/>
                <a:gd name="T72" fmla="*/ 1 w 194"/>
                <a:gd name="T73" fmla="*/ 1 h 234"/>
                <a:gd name="T74" fmla="*/ 1 w 194"/>
                <a:gd name="T75" fmla="*/ 1 h 234"/>
                <a:gd name="T76" fmla="*/ 1 w 194"/>
                <a:gd name="T77" fmla="*/ 1 h 234"/>
                <a:gd name="T78" fmla="*/ 1 w 194"/>
                <a:gd name="T79" fmla="*/ 1 h 234"/>
                <a:gd name="T80" fmla="*/ 1 w 194"/>
                <a:gd name="T81" fmla="*/ 1 h 234"/>
                <a:gd name="T82" fmla="*/ 1 w 194"/>
                <a:gd name="T83" fmla="*/ 1 h 234"/>
                <a:gd name="T84" fmla="*/ 1 w 194"/>
                <a:gd name="T85" fmla="*/ 1 h 234"/>
                <a:gd name="T86" fmla="*/ 1 w 194"/>
                <a:gd name="T87" fmla="*/ 1 h 234"/>
                <a:gd name="T88" fmla="*/ 1 w 194"/>
                <a:gd name="T89" fmla="*/ 1 h 234"/>
                <a:gd name="T90" fmla="*/ 1 w 194"/>
                <a:gd name="T91" fmla="*/ 1 h 234"/>
                <a:gd name="T92" fmla="*/ 1 w 194"/>
                <a:gd name="T93" fmla="*/ 1 h 234"/>
                <a:gd name="T94" fmla="*/ 1 w 194"/>
                <a:gd name="T95" fmla="*/ 1 h 234"/>
                <a:gd name="T96" fmla="*/ 1 w 194"/>
                <a:gd name="T97" fmla="*/ 1 h 234"/>
                <a:gd name="T98" fmla="*/ 1 w 194"/>
                <a:gd name="T99" fmla="*/ 1 h 234"/>
                <a:gd name="T100" fmla="*/ 1 w 194"/>
                <a:gd name="T101" fmla="*/ 1 h 234"/>
                <a:gd name="T102" fmla="*/ 1 w 194"/>
                <a:gd name="T103" fmla="*/ 1 h 234"/>
                <a:gd name="T104" fmla="*/ 1 w 194"/>
                <a:gd name="T105" fmla="*/ 1 h 234"/>
                <a:gd name="T106" fmla="*/ 1 w 194"/>
                <a:gd name="T107" fmla="*/ 1 h 234"/>
                <a:gd name="T108" fmla="*/ 1 w 194"/>
                <a:gd name="T109" fmla="*/ 0 h 23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194" h="234">
                  <a:moveTo>
                    <a:pt x="21" y="0"/>
                  </a:moveTo>
                  <a:lnTo>
                    <a:pt x="19" y="0"/>
                  </a:lnTo>
                  <a:lnTo>
                    <a:pt x="17" y="6"/>
                  </a:lnTo>
                  <a:lnTo>
                    <a:pt x="17" y="9"/>
                  </a:lnTo>
                  <a:lnTo>
                    <a:pt x="14" y="15"/>
                  </a:lnTo>
                  <a:lnTo>
                    <a:pt x="14" y="21"/>
                  </a:lnTo>
                  <a:lnTo>
                    <a:pt x="12" y="27"/>
                  </a:lnTo>
                  <a:lnTo>
                    <a:pt x="10" y="32"/>
                  </a:lnTo>
                  <a:lnTo>
                    <a:pt x="8" y="42"/>
                  </a:lnTo>
                  <a:lnTo>
                    <a:pt x="6" y="49"/>
                  </a:lnTo>
                  <a:lnTo>
                    <a:pt x="4" y="57"/>
                  </a:lnTo>
                  <a:lnTo>
                    <a:pt x="2" y="66"/>
                  </a:lnTo>
                  <a:lnTo>
                    <a:pt x="2" y="76"/>
                  </a:lnTo>
                  <a:lnTo>
                    <a:pt x="0" y="84"/>
                  </a:lnTo>
                  <a:lnTo>
                    <a:pt x="0" y="95"/>
                  </a:lnTo>
                  <a:lnTo>
                    <a:pt x="0" y="103"/>
                  </a:lnTo>
                  <a:lnTo>
                    <a:pt x="0" y="112"/>
                  </a:lnTo>
                  <a:lnTo>
                    <a:pt x="0" y="122"/>
                  </a:lnTo>
                  <a:lnTo>
                    <a:pt x="0" y="131"/>
                  </a:lnTo>
                  <a:lnTo>
                    <a:pt x="2" y="141"/>
                  </a:lnTo>
                  <a:lnTo>
                    <a:pt x="4" y="152"/>
                  </a:lnTo>
                  <a:lnTo>
                    <a:pt x="6" y="160"/>
                  </a:lnTo>
                  <a:lnTo>
                    <a:pt x="10" y="171"/>
                  </a:lnTo>
                  <a:lnTo>
                    <a:pt x="14" y="179"/>
                  </a:lnTo>
                  <a:lnTo>
                    <a:pt x="17" y="188"/>
                  </a:lnTo>
                  <a:lnTo>
                    <a:pt x="23" y="196"/>
                  </a:lnTo>
                  <a:lnTo>
                    <a:pt x="31" y="205"/>
                  </a:lnTo>
                  <a:lnTo>
                    <a:pt x="36" y="211"/>
                  </a:lnTo>
                  <a:lnTo>
                    <a:pt x="46" y="218"/>
                  </a:lnTo>
                  <a:lnTo>
                    <a:pt x="50" y="220"/>
                  </a:lnTo>
                  <a:lnTo>
                    <a:pt x="55" y="224"/>
                  </a:lnTo>
                  <a:lnTo>
                    <a:pt x="61" y="228"/>
                  </a:lnTo>
                  <a:lnTo>
                    <a:pt x="67" y="232"/>
                  </a:lnTo>
                  <a:lnTo>
                    <a:pt x="71" y="232"/>
                  </a:lnTo>
                  <a:lnTo>
                    <a:pt x="74" y="232"/>
                  </a:lnTo>
                  <a:lnTo>
                    <a:pt x="80" y="234"/>
                  </a:lnTo>
                  <a:lnTo>
                    <a:pt x="88" y="234"/>
                  </a:lnTo>
                  <a:lnTo>
                    <a:pt x="95" y="234"/>
                  </a:lnTo>
                  <a:lnTo>
                    <a:pt x="105" y="234"/>
                  </a:lnTo>
                  <a:lnTo>
                    <a:pt x="114" y="234"/>
                  </a:lnTo>
                  <a:lnTo>
                    <a:pt x="118" y="232"/>
                  </a:lnTo>
                  <a:lnTo>
                    <a:pt x="124" y="230"/>
                  </a:lnTo>
                  <a:lnTo>
                    <a:pt x="130" y="230"/>
                  </a:lnTo>
                  <a:lnTo>
                    <a:pt x="135" y="228"/>
                  </a:lnTo>
                  <a:lnTo>
                    <a:pt x="139" y="226"/>
                  </a:lnTo>
                  <a:lnTo>
                    <a:pt x="145" y="226"/>
                  </a:lnTo>
                  <a:lnTo>
                    <a:pt x="150" y="224"/>
                  </a:lnTo>
                  <a:lnTo>
                    <a:pt x="156" y="222"/>
                  </a:lnTo>
                  <a:lnTo>
                    <a:pt x="160" y="218"/>
                  </a:lnTo>
                  <a:lnTo>
                    <a:pt x="166" y="215"/>
                  </a:lnTo>
                  <a:lnTo>
                    <a:pt x="169" y="213"/>
                  </a:lnTo>
                  <a:lnTo>
                    <a:pt x="175" y="211"/>
                  </a:lnTo>
                  <a:lnTo>
                    <a:pt x="185" y="201"/>
                  </a:lnTo>
                  <a:lnTo>
                    <a:pt x="194" y="194"/>
                  </a:lnTo>
                  <a:lnTo>
                    <a:pt x="194" y="190"/>
                  </a:lnTo>
                  <a:lnTo>
                    <a:pt x="192" y="188"/>
                  </a:lnTo>
                  <a:lnTo>
                    <a:pt x="188" y="184"/>
                  </a:lnTo>
                  <a:lnTo>
                    <a:pt x="187" y="184"/>
                  </a:lnTo>
                  <a:lnTo>
                    <a:pt x="185" y="186"/>
                  </a:lnTo>
                  <a:lnTo>
                    <a:pt x="181" y="190"/>
                  </a:lnTo>
                  <a:lnTo>
                    <a:pt x="177" y="194"/>
                  </a:lnTo>
                  <a:lnTo>
                    <a:pt x="169" y="198"/>
                  </a:lnTo>
                  <a:lnTo>
                    <a:pt x="162" y="201"/>
                  </a:lnTo>
                  <a:lnTo>
                    <a:pt x="156" y="203"/>
                  </a:lnTo>
                  <a:lnTo>
                    <a:pt x="150" y="205"/>
                  </a:lnTo>
                  <a:lnTo>
                    <a:pt x="145" y="207"/>
                  </a:lnTo>
                  <a:lnTo>
                    <a:pt x="139" y="209"/>
                  </a:lnTo>
                  <a:lnTo>
                    <a:pt x="131" y="211"/>
                  </a:lnTo>
                  <a:lnTo>
                    <a:pt x="124" y="211"/>
                  </a:lnTo>
                  <a:lnTo>
                    <a:pt x="114" y="211"/>
                  </a:lnTo>
                  <a:lnTo>
                    <a:pt x="107" y="211"/>
                  </a:lnTo>
                  <a:lnTo>
                    <a:pt x="97" y="209"/>
                  </a:lnTo>
                  <a:lnTo>
                    <a:pt x="90" y="207"/>
                  </a:lnTo>
                  <a:lnTo>
                    <a:pt x="80" y="205"/>
                  </a:lnTo>
                  <a:lnTo>
                    <a:pt x="71" y="201"/>
                  </a:lnTo>
                  <a:lnTo>
                    <a:pt x="63" y="196"/>
                  </a:lnTo>
                  <a:lnTo>
                    <a:pt x="55" y="190"/>
                  </a:lnTo>
                  <a:lnTo>
                    <a:pt x="48" y="184"/>
                  </a:lnTo>
                  <a:lnTo>
                    <a:pt x="42" y="177"/>
                  </a:lnTo>
                  <a:lnTo>
                    <a:pt x="38" y="171"/>
                  </a:lnTo>
                  <a:lnTo>
                    <a:pt x="36" y="165"/>
                  </a:lnTo>
                  <a:lnTo>
                    <a:pt x="34" y="160"/>
                  </a:lnTo>
                  <a:lnTo>
                    <a:pt x="33" y="154"/>
                  </a:lnTo>
                  <a:lnTo>
                    <a:pt x="31" y="148"/>
                  </a:lnTo>
                  <a:lnTo>
                    <a:pt x="29" y="142"/>
                  </a:lnTo>
                  <a:lnTo>
                    <a:pt x="29" y="135"/>
                  </a:lnTo>
                  <a:lnTo>
                    <a:pt x="29" y="129"/>
                  </a:lnTo>
                  <a:lnTo>
                    <a:pt x="27" y="122"/>
                  </a:lnTo>
                  <a:lnTo>
                    <a:pt x="27" y="114"/>
                  </a:lnTo>
                  <a:lnTo>
                    <a:pt x="27" y="106"/>
                  </a:lnTo>
                  <a:lnTo>
                    <a:pt x="27" y="103"/>
                  </a:lnTo>
                  <a:lnTo>
                    <a:pt x="27" y="95"/>
                  </a:lnTo>
                  <a:lnTo>
                    <a:pt x="29" y="89"/>
                  </a:lnTo>
                  <a:lnTo>
                    <a:pt x="29" y="84"/>
                  </a:lnTo>
                  <a:lnTo>
                    <a:pt x="29" y="78"/>
                  </a:lnTo>
                  <a:lnTo>
                    <a:pt x="29" y="72"/>
                  </a:lnTo>
                  <a:lnTo>
                    <a:pt x="29" y="66"/>
                  </a:lnTo>
                  <a:lnTo>
                    <a:pt x="31" y="61"/>
                  </a:lnTo>
                  <a:lnTo>
                    <a:pt x="31" y="57"/>
                  </a:lnTo>
                  <a:lnTo>
                    <a:pt x="33" y="49"/>
                  </a:lnTo>
                  <a:lnTo>
                    <a:pt x="34" y="42"/>
                  </a:lnTo>
                  <a:lnTo>
                    <a:pt x="34" y="32"/>
                  </a:lnTo>
                  <a:lnTo>
                    <a:pt x="36" y="27"/>
                  </a:lnTo>
                  <a:lnTo>
                    <a:pt x="38" y="23"/>
                  </a:lnTo>
                  <a:lnTo>
                    <a:pt x="40" y="19"/>
                  </a:lnTo>
                  <a:lnTo>
                    <a:pt x="40" y="13"/>
                  </a:lnTo>
                  <a:lnTo>
                    <a:pt x="42" y="11"/>
                  </a:lnTo>
                  <a:lnTo>
                    <a:pt x="21"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8" name="Freeform 17"/>
            <p:cNvSpPr>
              <a:spLocks/>
            </p:cNvSpPr>
            <p:nvPr/>
          </p:nvSpPr>
          <p:spPr bwMode="auto">
            <a:xfrm>
              <a:off x="5054" y="3303"/>
              <a:ext cx="49" cy="17"/>
            </a:xfrm>
            <a:custGeom>
              <a:avLst/>
              <a:gdLst>
                <a:gd name="T0" fmla="*/ 1 w 98"/>
                <a:gd name="T1" fmla="*/ 1 h 32"/>
                <a:gd name="T2" fmla="*/ 1 w 98"/>
                <a:gd name="T3" fmla="*/ 1 h 32"/>
                <a:gd name="T4" fmla="*/ 1 w 98"/>
                <a:gd name="T5" fmla="*/ 1 h 32"/>
                <a:gd name="T6" fmla="*/ 1 w 98"/>
                <a:gd name="T7" fmla="*/ 1 h 32"/>
                <a:gd name="T8" fmla="*/ 1 w 98"/>
                <a:gd name="T9" fmla="*/ 1 h 32"/>
                <a:gd name="T10" fmla="*/ 1 w 98"/>
                <a:gd name="T11" fmla="*/ 1 h 32"/>
                <a:gd name="T12" fmla="*/ 1 w 98"/>
                <a:gd name="T13" fmla="*/ 1 h 32"/>
                <a:gd name="T14" fmla="*/ 1 w 98"/>
                <a:gd name="T15" fmla="*/ 1 h 32"/>
                <a:gd name="T16" fmla="*/ 1 w 98"/>
                <a:gd name="T17" fmla="*/ 1 h 32"/>
                <a:gd name="T18" fmla="*/ 1 w 98"/>
                <a:gd name="T19" fmla="*/ 1 h 32"/>
                <a:gd name="T20" fmla="*/ 1 w 98"/>
                <a:gd name="T21" fmla="*/ 1 h 32"/>
                <a:gd name="T22" fmla="*/ 1 w 98"/>
                <a:gd name="T23" fmla="*/ 1 h 32"/>
                <a:gd name="T24" fmla="*/ 1 w 98"/>
                <a:gd name="T25" fmla="*/ 1 h 32"/>
                <a:gd name="T26" fmla="*/ 1 w 98"/>
                <a:gd name="T27" fmla="*/ 1 h 32"/>
                <a:gd name="T28" fmla="*/ 1 w 98"/>
                <a:gd name="T29" fmla="*/ 1 h 32"/>
                <a:gd name="T30" fmla="*/ 1 w 98"/>
                <a:gd name="T31" fmla="*/ 1 h 32"/>
                <a:gd name="T32" fmla="*/ 1 w 98"/>
                <a:gd name="T33" fmla="*/ 1 h 32"/>
                <a:gd name="T34" fmla="*/ 1 w 98"/>
                <a:gd name="T35" fmla="*/ 0 h 32"/>
                <a:gd name="T36" fmla="*/ 1 w 98"/>
                <a:gd name="T37" fmla="*/ 1 h 32"/>
                <a:gd name="T38" fmla="*/ 1 w 98"/>
                <a:gd name="T39" fmla="*/ 1 h 32"/>
                <a:gd name="T40" fmla="*/ 1 w 98"/>
                <a:gd name="T41" fmla="*/ 1 h 32"/>
                <a:gd name="T42" fmla="*/ 1 w 98"/>
                <a:gd name="T43" fmla="*/ 1 h 32"/>
                <a:gd name="T44" fmla="*/ 1 w 98"/>
                <a:gd name="T45" fmla="*/ 1 h 32"/>
                <a:gd name="T46" fmla="*/ 1 w 98"/>
                <a:gd name="T47" fmla="*/ 1 h 32"/>
                <a:gd name="T48" fmla="*/ 1 w 98"/>
                <a:gd name="T49" fmla="*/ 1 h 32"/>
                <a:gd name="T50" fmla="*/ 1 w 98"/>
                <a:gd name="T51" fmla="*/ 1 h 32"/>
                <a:gd name="T52" fmla="*/ 1 w 98"/>
                <a:gd name="T53" fmla="*/ 1 h 32"/>
                <a:gd name="T54" fmla="*/ 1 w 98"/>
                <a:gd name="T55" fmla="*/ 1 h 32"/>
                <a:gd name="T56" fmla="*/ 1 w 98"/>
                <a:gd name="T57" fmla="*/ 1 h 32"/>
                <a:gd name="T58" fmla="*/ 1 w 98"/>
                <a:gd name="T59" fmla="*/ 1 h 32"/>
                <a:gd name="T60" fmla="*/ 1 w 98"/>
                <a:gd name="T61" fmla="*/ 1 h 32"/>
                <a:gd name="T62" fmla="*/ 1 w 98"/>
                <a:gd name="T63" fmla="*/ 1 h 32"/>
                <a:gd name="T64" fmla="*/ 1 w 98"/>
                <a:gd name="T65" fmla="*/ 1 h 32"/>
                <a:gd name="T66" fmla="*/ 1 w 98"/>
                <a:gd name="T67" fmla="*/ 1 h 32"/>
                <a:gd name="T68" fmla="*/ 1 w 98"/>
                <a:gd name="T69" fmla="*/ 1 h 32"/>
                <a:gd name="T70" fmla="*/ 1 w 98"/>
                <a:gd name="T71" fmla="*/ 1 h 32"/>
                <a:gd name="T72" fmla="*/ 0 w 98"/>
                <a:gd name="T73" fmla="*/ 0 h 32"/>
                <a:gd name="T74" fmla="*/ 0 w 98"/>
                <a:gd name="T75" fmla="*/ 0 h 32"/>
                <a:gd name="T76" fmla="*/ 1 w 98"/>
                <a:gd name="T77" fmla="*/ 1 h 32"/>
                <a:gd name="T78" fmla="*/ 1 w 98"/>
                <a:gd name="T79" fmla="*/ 1 h 32"/>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98" h="32">
                  <a:moveTo>
                    <a:pt x="3" y="17"/>
                  </a:moveTo>
                  <a:lnTo>
                    <a:pt x="3" y="19"/>
                  </a:lnTo>
                  <a:lnTo>
                    <a:pt x="9" y="23"/>
                  </a:lnTo>
                  <a:lnTo>
                    <a:pt x="13" y="23"/>
                  </a:lnTo>
                  <a:lnTo>
                    <a:pt x="19" y="27"/>
                  </a:lnTo>
                  <a:lnTo>
                    <a:pt x="22" y="28"/>
                  </a:lnTo>
                  <a:lnTo>
                    <a:pt x="30" y="28"/>
                  </a:lnTo>
                  <a:lnTo>
                    <a:pt x="36" y="30"/>
                  </a:lnTo>
                  <a:lnTo>
                    <a:pt x="43" y="32"/>
                  </a:lnTo>
                  <a:lnTo>
                    <a:pt x="51" y="32"/>
                  </a:lnTo>
                  <a:lnTo>
                    <a:pt x="60" y="32"/>
                  </a:lnTo>
                  <a:lnTo>
                    <a:pt x="68" y="28"/>
                  </a:lnTo>
                  <a:lnTo>
                    <a:pt x="78" y="27"/>
                  </a:lnTo>
                  <a:lnTo>
                    <a:pt x="83" y="25"/>
                  </a:lnTo>
                  <a:lnTo>
                    <a:pt x="87" y="23"/>
                  </a:lnTo>
                  <a:lnTo>
                    <a:pt x="93" y="19"/>
                  </a:lnTo>
                  <a:lnTo>
                    <a:pt x="98" y="17"/>
                  </a:lnTo>
                  <a:lnTo>
                    <a:pt x="91" y="0"/>
                  </a:lnTo>
                  <a:lnTo>
                    <a:pt x="89" y="2"/>
                  </a:lnTo>
                  <a:lnTo>
                    <a:pt x="87" y="6"/>
                  </a:lnTo>
                  <a:lnTo>
                    <a:pt x="81" y="9"/>
                  </a:lnTo>
                  <a:lnTo>
                    <a:pt x="76" y="11"/>
                  </a:lnTo>
                  <a:lnTo>
                    <a:pt x="72" y="13"/>
                  </a:lnTo>
                  <a:lnTo>
                    <a:pt x="68" y="15"/>
                  </a:lnTo>
                  <a:lnTo>
                    <a:pt x="64" y="15"/>
                  </a:lnTo>
                  <a:lnTo>
                    <a:pt x="59" y="17"/>
                  </a:lnTo>
                  <a:lnTo>
                    <a:pt x="53" y="17"/>
                  </a:lnTo>
                  <a:lnTo>
                    <a:pt x="47" y="17"/>
                  </a:lnTo>
                  <a:lnTo>
                    <a:pt x="41" y="17"/>
                  </a:lnTo>
                  <a:lnTo>
                    <a:pt x="36" y="15"/>
                  </a:lnTo>
                  <a:lnTo>
                    <a:pt x="30" y="13"/>
                  </a:lnTo>
                  <a:lnTo>
                    <a:pt x="24" y="11"/>
                  </a:lnTo>
                  <a:lnTo>
                    <a:pt x="20" y="9"/>
                  </a:lnTo>
                  <a:lnTo>
                    <a:pt x="17" y="9"/>
                  </a:lnTo>
                  <a:lnTo>
                    <a:pt x="9" y="6"/>
                  </a:lnTo>
                  <a:lnTo>
                    <a:pt x="3" y="2"/>
                  </a:lnTo>
                  <a:lnTo>
                    <a:pt x="0" y="0"/>
                  </a:lnTo>
                  <a:lnTo>
                    <a:pt x="3" y="17"/>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19" name="Freeform 18"/>
            <p:cNvSpPr>
              <a:spLocks/>
            </p:cNvSpPr>
            <p:nvPr/>
          </p:nvSpPr>
          <p:spPr bwMode="auto">
            <a:xfrm>
              <a:off x="5046" y="3251"/>
              <a:ext cx="31" cy="32"/>
            </a:xfrm>
            <a:custGeom>
              <a:avLst/>
              <a:gdLst>
                <a:gd name="T0" fmla="*/ 1 w 61"/>
                <a:gd name="T1" fmla="*/ 1 h 63"/>
                <a:gd name="T2" fmla="*/ 1 w 61"/>
                <a:gd name="T3" fmla="*/ 1 h 63"/>
                <a:gd name="T4" fmla="*/ 1 w 61"/>
                <a:gd name="T5" fmla="*/ 1 h 63"/>
                <a:gd name="T6" fmla="*/ 1 w 61"/>
                <a:gd name="T7" fmla="*/ 1 h 63"/>
                <a:gd name="T8" fmla="*/ 1 w 61"/>
                <a:gd name="T9" fmla="*/ 1 h 63"/>
                <a:gd name="T10" fmla="*/ 1 w 61"/>
                <a:gd name="T11" fmla="*/ 1 h 63"/>
                <a:gd name="T12" fmla="*/ 1 w 61"/>
                <a:gd name="T13" fmla="*/ 1 h 63"/>
                <a:gd name="T14" fmla="*/ 1 w 61"/>
                <a:gd name="T15" fmla="*/ 1 h 63"/>
                <a:gd name="T16" fmla="*/ 1 w 61"/>
                <a:gd name="T17" fmla="*/ 1 h 63"/>
                <a:gd name="T18" fmla="*/ 1 w 61"/>
                <a:gd name="T19" fmla="*/ 1 h 63"/>
                <a:gd name="T20" fmla="*/ 1 w 61"/>
                <a:gd name="T21" fmla="*/ 1 h 63"/>
                <a:gd name="T22" fmla="*/ 1 w 61"/>
                <a:gd name="T23" fmla="*/ 1 h 63"/>
                <a:gd name="T24" fmla="*/ 1 w 61"/>
                <a:gd name="T25" fmla="*/ 1 h 63"/>
                <a:gd name="T26" fmla="*/ 1 w 61"/>
                <a:gd name="T27" fmla="*/ 1 h 63"/>
                <a:gd name="T28" fmla="*/ 1 w 61"/>
                <a:gd name="T29" fmla="*/ 1 h 63"/>
                <a:gd name="T30" fmla="*/ 1 w 61"/>
                <a:gd name="T31" fmla="*/ 0 h 63"/>
                <a:gd name="T32" fmla="*/ 1 w 61"/>
                <a:gd name="T33" fmla="*/ 0 h 63"/>
                <a:gd name="T34" fmla="*/ 1 w 61"/>
                <a:gd name="T35" fmla="*/ 0 h 63"/>
                <a:gd name="T36" fmla="*/ 1 w 61"/>
                <a:gd name="T37" fmla="*/ 1 h 63"/>
                <a:gd name="T38" fmla="*/ 1 w 61"/>
                <a:gd name="T39" fmla="*/ 1 h 63"/>
                <a:gd name="T40" fmla="*/ 1 w 61"/>
                <a:gd name="T41" fmla="*/ 1 h 63"/>
                <a:gd name="T42" fmla="*/ 1 w 61"/>
                <a:gd name="T43" fmla="*/ 1 h 63"/>
                <a:gd name="T44" fmla="*/ 1 w 61"/>
                <a:gd name="T45" fmla="*/ 1 h 63"/>
                <a:gd name="T46" fmla="*/ 0 w 61"/>
                <a:gd name="T47" fmla="*/ 1 h 63"/>
                <a:gd name="T48" fmla="*/ 0 w 61"/>
                <a:gd name="T49" fmla="*/ 1 h 63"/>
                <a:gd name="T50" fmla="*/ 0 w 61"/>
                <a:gd name="T51" fmla="*/ 1 h 63"/>
                <a:gd name="T52" fmla="*/ 1 w 61"/>
                <a:gd name="T53" fmla="*/ 1 h 63"/>
                <a:gd name="T54" fmla="*/ 1 w 61"/>
                <a:gd name="T55" fmla="*/ 1 h 63"/>
                <a:gd name="T56" fmla="*/ 1 w 61"/>
                <a:gd name="T57" fmla="*/ 1 h 63"/>
                <a:gd name="T58" fmla="*/ 1 w 61"/>
                <a:gd name="T59" fmla="*/ 1 h 63"/>
                <a:gd name="T60" fmla="*/ 1 w 61"/>
                <a:gd name="T61" fmla="*/ 1 h 63"/>
                <a:gd name="T62" fmla="*/ 1 w 61"/>
                <a:gd name="T63" fmla="*/ 1 h 63"/>
                <a:gd name="T64" fmla="*/ 1 w 61"/>
                <a:gd name="T65" fmla="*/ 1 h 63"/>
                <a:gd name="T66" fmla="*/ 1 w 61"/>
                <a:gd name="T67" fmla="*/ 1 h 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1" h="63">
                  <a:moveTo>
                    <a:pt x="31" y="63"/>
                  </a:moveTo>
                  <a:lnTo>
                    <a:pt x="35" y="61"/>
                  </a:lnTo>
                  <a:lnTo>
                    <a:pt x="42" y="59"/>
                  </a:lnTo>
                  <a:lnTo>
                    <a:pt x="46" y="56"/>
                  </a:lnTo>
                  <a:lnTo>
                    <a:pt x="52" y="54"/>
                  </a:lnTo>
                  <a:lnTo>
                    <a:pt x="56" y="48"/>
                  </a:lnTo>
                  <a:lnTo>
                    <a:pt x="57" y="42"/>
                  </a:lnTo>
                  <a:lnTo>
                    <a:pt x="59" y="37"/>
                  </a:lnTo>
                  <a:lnTo>
                    <a:pt x="61" y="31"/>
                  </a:lnTo>
                  <a:lnTo>
                    <a:pt x="59" y="25"/>
                  </a:lnTo>
                  <a:lnTo>
                    <a:pt x="57" y="19"/>
                  </a:lnTo>
                  <a:lnTo>
                    <a:pt x="56" y="12"/>
                  </a:lnTo>
                  <a:lnTo>
                    <a:pt x="52" y="8"/>
                  </a:lnTo>
                  <a:lnTo>
                    <a:pt x="46" y="4"/>
                  </a:lnTo>
                  <a:lnTo>
                    <a:pt x="42" y="2"/>
                  </a:lnTo>
                  <a:lnTo>
                    <a:pt x="35" y="0"/>
                  </a:lnTo>
                  <a:lnTo>
                    <a:pt x="31" y="0"/>
                  </a:lnTo>
                  <a:lnTo>
                    <a:pt x="23" y="0"/>
                  </a:lnTo>
                  <a:lnTo>
                    <a:pt x="17" y="2"/>
                  </a:lnTo>
                  <a:lnTo>
                    <a:pt x="12" y="4"/>
                  </a:lnTo>
                  <a:lnTo>
                    <a:pt x="8" y="8"/>
                  </a:lnTo>
                  <a:lnTo>
                    <a:pt x="4" y="12"/>
                  </a:lnTo>
                  <a:lnTo>
                    <a:pt x="2" y="19"/>
                  </a:lnTo>
                  <a:lnTo>
                    <a:pt x="0" y="25"/>
                  </a:lnTo>
                  <a:lnTo>
                    <a:pt x="0" y="31"/>
                  </a:lnTo>
                  <a:lnTo>
                    <a:pt x="0" y="37"/>
                  </a:lnTo>
                  <a:lnTo>
                    <a:pt x="2" y="42"/>
                  </a:lnTo>
                  <a:lnTo>
                    <a:pt x="4" y="48"/>
                  </a:lnTo>
                  <a:lnTo>
                    <a:pt x="8" y="54"/>
                  </a:lnTo>
                  <a:lnTo>
                    <a:pt x="12" y="56"/>
                  </a:lnTo>
                  <a:lnTo>
                    <a:pt x="17" y="59"/>
                  </a:lnTo>
                  <a:lnTo>
                    <a:pt x="23" y="61"/>
                  </a:lnTo>
                  <a:lnTo>
                    <a:pt x="31" y="63"/>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0" name="Freeform 19"/>
            <p:cNvSpPr>
              <a:spLocks/>
            </p:cNvSpPr>
            <p:nvPr/>
          </p:nvSpPr>
          <p:spPr bwMode="auto">
            <a:xfrm>
              <a:off x="5087" y="3254"/>
              <a:ext cx="31" cy="30"/>
            </a:xfrm>
            <a:custGeom>
              <a:avLst/>
              <a:gdLst>
                <a:gd name="T0" fmla="*/ 0 w 63"/>
                <a:gd name="T1" fmla="*/ 0 h 61"/>
                <a:gd name="T2" fmla="*/ 0 w 63"/>
                <a:gd name="T3" fmla="*/ 0 h 61"/>
                <a:gd name="T4" fmla="*/ 0 w 63"/>
                <a:gd name="T5" fmla="*/ 0 h 61"/>
                <a:gd name="T6" fmla="*/ 0 w 63"/>
                <a:gd name="T7" fmla="*/ 0 h 61"/>
                <a:gd name="T8" fmla="*/ 0 w 63"/>
                <a:gd name="T9" fmla="*/ 0 h 61"/>
                <a:gd name="T10" fmla="*/ 0 w 63"/>
                <a:gd name="T11" fmla="*/ 0 h 61"/>
                <a:gd name="T12" fmla="*/ 0 w 63"/>
                <a:gd name="T13" fmla="*/ 0 h 61"/>
                <a:gd name="T14" fmla="*/ 0 w 63"/>
                <a:gd name="T15" fmla="*/ 0 h 61"/>
                <a:gd name="T16" fmla="*/ 0 w 63"/>
                <a:gd name="T17" fmla="*/ 0 h 61"/>
                <a:gd name="T18" fmla="*/ 0 w 63"/>
                <a:gd name="T19" fmla="*/ 0 h 61"/>
                <a:gd name="T20" fmla="*/ 0 w 63"/>
                <a:gd name="T21" fmla="*/ 0 h 61"/>
                <a:gd name="T22" fmla="*/ 0 w 63"/>
                <a:gd name="T23" fmla="*/ 0 h 61"/>
                <a:gd name="T24" fmla="*/ 0 w 63"/>
                <a:gd name="T25" fmla="*/ 0 h 61"/>
                <a:gd name="T26" fmla="*/ 0 w 63"/>
                <a:gd name="T27" fmla="*/ 0 h 61"/>
                <a:gd name="T28" fmla="*/ 0 w 63"/>
                <a:gd name="T29" fmla="*/ 0 h 61"/>
                <a:gd name="T30" fmla="*/ 0 w 63"/>
                <a:gd name="T31" fmla="*/ 0 h 61"/>
                <a:gd name="T32" fmla="*/ 0 w 63"/>
                <a:gd name="T33" fmla="*/ 0 h 61"/>
                <a:gd name="T34" fmla="*/ 0 w 63"/>
                <a:gd name="T35" fmla="*/ 0 h 61"/>
                <a:gd name="T36" fmla="*/ 0 w 63"/>
                <a:gd name="T37" fmla="*/ 0 h 61"/>
                <a:gd name="T38" fmla="*/ 0 w 63"/>
                <a:gd name="T39" fmla="*/ 0 h 61"/>
                <a:gd name="T40" fmla="*/ 0 w 63"/>
                <a:gd name="T41" fmla="*/ 0 h 61"/>
                <a:gd name="T42" fmla="*/ 0 w 63"/>
                <a:gd name="T43" fmla="*/ 0 h 61"/>
                <a:gd name="T44" fmla="*/ 0 w 63"/>
                <a:gd name="T45" fmla="*/ 0 h 61"/>
                <a:gd name="T46" fmla="*/ 0 w 63"/>
                <a:gd name="T47" fmla="*/ 0 h 61"/>
                <a:gd name="T48" fmla="*/ 0 w 63"/>
                <a:gd name="T49" fmla="*/ 0 h 61"/>
                <a:gd name="T50" fmla="*/ 0 w 63"/>
                <a:gd name="T51" fmla="*/ 0 h 61"/>
                <a:gd name="T52" fmla="*/ 0 w 63"/>
                <a:gd name="T53" fmla="*/ 0 h 61"/>
                <a:gd name="T54" fmla="*/ 0 w 63"/>
                <a:gd name="T55" fmla="*/ 0 h 61"/>
                <a:gd name="T56" fmla="*/ 0 w 63"/>
                <a:gd name="T57" fmla="*/ 0 h 61"/>
                <a:gd name="T58" fmla="*/ 0 w 63"/>
                <a:gd name="T59" fmla="*/ 0 h 61"/>
                <a:gd name="T60" fmla="*/ 0 w 63"/>
                <a:gd name="T61" fmla="*/ 0 h 61"/>
                <a:gd name="T62" fmla="*/ 0 w 63"/>
                <a:gd name="T63" fmla="*/ 0 h 61"/>
                <a:gd name="T64" fmla="*/ 0 w 63"/>
                <a:gd name="T65" fmla="*/ 0 h 61"/>
                <a:gd name="T66" fmla="*/ 0 w 63"/>
                <a:gd name="T67" fmla="*/ 0 h 6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3" h="61">
                  <a:moveTo>
                    <a:pt x="32" y="61"/>
                  </a:moveTo>
                  <a:lnTo>
                    <a:pt x="38" y="59"/>
                  </a:lnTo>
                  <a:lnTo>
                    <a:pt x="44" y="57"/>
                  </a:lnTo>
                  <a:lnTo>
                    <a:pt x="50" y="53"/>
                  </a:lnTo>
                  <a:lnTo>
                    <a:pt x="53" y="51"/>
                  </a:lnTo>
                  <a:lnTo>
                    <a:pt x="57" y="46"/>
                  </a:lnTo>
                  <a:lnTo>
                    <a:pt x="61" y="42"/>
                  </a:lnTo>
                  <a:lnTo>
                    <a:pt x="63" y="36"/>
                  </a:lnTo>
                  <a:lnTo>
                    <a:pt x="63" y="31"/>
                  </a:lnTo>
                  <a:lnTo>
                    <a:pt x="63" y="25"/>
                  </a:lnTo>
                  <a:lnTo>
                    <a:pt x="61" y="19"/>
                  </a:lnTo>
                  <a:lnTo>
                    <a:pt x="57" y="13"/>
                  </a:lnTo>
                  <a:lnTo>
                    <a:pt x="53" y="8"/>
                  </a:lnTo>
                  <a:lnTo>
                    <a:pt x="50" y="4"/>
                  </a:lnTo>
                  <a:lnTo>
                    <a:pt x="44" y="0"/>
                  </a:lnTo>
                  <a:lnTo>
                    <a:pt x="38" y="0"/>
                  </a:lnTo>
                  <a:lnTo>
                    <a:pt x="32" y="0"/>
                  </a:lnTo>
                  <a:lnTo>
                    <a:pt x="25" y="0"/>
                  </a:lnTo>
                  <a:lnTo>
                    <a:pt x="21" y="0"/>
                  </a:lnTo>
                  <a:lnTo>
                    <a:pt x="15" y="4"/>
                  </a:lnTo>
                  <a:lnTo>
                    <a:pt x="10" y="8"/>
                  </a:lnTo>
                  <a:lnTo>
                    <a:pt x="6" y="13"/>
                  </a:lnTo>
                  <a:lnTo>
                    <a:pt x="2" y="19"/>
                  </a:lnTo>
                  <a:lnTo>
                    <a:pt x="0" y="25"/>
                  </a:lnTo>
                  <a:lnTo>
                    <a:pt x="0" y="31"/>
                  </a:lnTo>
                  <a:lnTo>
                    <a:pt x="0" y="36"/>
                  </a:lnTo>
                  <a:lnTo>
                    <a:pt x="2" y="42"/>
                  </a:lnTo>
                  <a:lnTo>
                    <a:pt x="6" y="46"/>
                  </a:lnTo>
                  <a:lnTo>
                    <a:pt x="10" y="51"/>
                  </a:lnTo>
                  <a:lnTo>
                    <a:pt x="15" y="53"/>
                  </a:lnTo>
                  <a:lnTo>
                    <a:pt x="21" y="57"/>
                  </a:lnTo>
                  <a:lnTo>
                    <a:pt x="25" y="59"/>
                  </a:lnTo>
                  <a:lnTo>
                    <a:pt x="32" y="61"/>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1" name="Freeform 20"/>
            <p:cNvSpPr>
              <a:spLocks/>
            </p:cNvSpPr>
            <p:nvPr/>
          </p:nvSpPr>
          <p:spPr bwMode="auto">
            <a:xfrm>
              <a:off x="5097" y="3262"/>
              <a:ext cx="14" cy="15"/>
            </a:xfrm>
            <a:custGeom>
              <a:avLst/>
              <a:gdLst>
                <a:gd name="T0" fmla="*/ 0 w 29"/>
                <a:gd name="T1" fmla="*/ 0 h 31"/>
                <a:gd name="T2" fmla="*/ 0 w 29"/>
                <a:gd name="T3" fmla="*/ 0 h 31"/>
                <a:gd name="T4" fmla="*/ 0 w 29"/>
                <a:gd name="T5" fmla="*/ 0 h 31"/>
                <a:gd name="T6" fmla="*/ 0 w 29"/>
                <a:gd name="T7" fmla="*/ 0 h 31"/>
                <a:gd name="T8" fmla="*/ 0 w 29"/>
                <a:gd name="T9" fmla="*/ 0 h 31"/>
                <a:gd name="T10" fmla="*/ 0 w 29"/>
                <a:gd name="T11" fmla="*/ 0 h 31"/>
                <a:gd name="T12" fmla="*/ 0 w 29"/>
                <a:gd name="T13" fmla="*/ 0 h 31"/>
                <a:gd name="T14" fmla="*/ 0 w 29"/>
                <a:gd name="T15" fmla="*/ 0 h 31"/>
                <a:gd name="T16" fmla="*/ 0 w 29"/>
                <a:gd name="T17" fmla="*/ 0 h 31"/>
                <a:gd name="T18" fmla="*/ 0 w 29"/>
                <a:gd name="T19" fmla="*/ 0 h 31"/>
                <a:gd name="T20" fmla="*/ 0 w 29"/>
                <a:gd name="T21" fmla="*/ 0 h 31"/>
                <a:gd name="T22" fmla="*/ 0 w 29"/>
                <a:gd name="T23" fmla="*/ 0 h 31"/>
                <a:gd name="T24" fmla="*/ 0 w 29"/>
                <a:gd name="T25" fmla="*/ 0 h 31"/>
                <a:gd name="T26" fmla="*/ 0 w 29"/>
                <a:gd name="T27" fmla="*/ 0 h 31"/>
                <a:gd name="T28" fmla="*/ 0 w 29"/>
                <a:gd name="T29" fmla="*/ 0 h 31"/>
                <a:gd name="T30" fmla="*/ 0 w 29"/>
                <a:gd name="T31" fmla="*/ 0 h 31"/>
                <a:gd name="T32" fmla="*/ 0 w 29"/>
                <a:gd name="T33" fmla="*/ 0 h 31"/>
                <a:gd name="T34" fmla="*/ 0 w 29"/>
                <a:gd name="T35" fmla="*/ 0 h 3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9" h="31">
                  <a:moveTo>
                    <a:pt x="13" y="31"/>
                  </a:moveTo>
                  <a:lnTo>
                    <a:pt x="19" y="29"/>
                  </a:lnTo>
                  <a:lnTo>
                    <a:pt x="25" y="25"/>
                  </a:lnTo>
                  <a:lnTo>
                    <a:pt x="27" y="19"/>
                  </a:lnTo>
                  <a:lnTo>
                    <a:pt x="29" y="16"/>
                  </a:lnTo>
                  <a:lnTo>
                    <a:pt x="27" y="8"/>
                  </a:lnTo>
                  <a:lnTo>
                    <a:pt x="25" y="4"/>
                  </a:lnTo>
                  <a:lnTo>
                    <a:pt x="19" y="0"/>
                  </a:lnTo>
                  <a:lnTo>
                    <a:pt x="13" y="0"/>
                  </a:lnTo>
                  <a:lnTo>
                    <a:pt x="8" y="0"/>
                  </a:lnTo>
                  <a:lnTo>
                    <a:pt x="4" y="4"/>
                  </a:lnTo>
                  <a:lnTo>
                    <a:pt x="0" y="8"/>
                  </a:lnTo>
                  <a:lnTo>
                    <a:pt x="0" y="16"/>
                  </a:lnTo>
                  <a:lnTo>
                    <a:pt x="0" y="19"/>
                  </a:lnTo>
                  <a:lnTo>
                    <a:pt x="4" y="25"/>
                  </a:lnTo>
                  <a:lnTo>
                    <a:pt x="8" y="29"/>
                  </a:lnTo>
                  <a:lnTo>
                    <a:pt x="13" y="31"/>
                  </a:lnTo>
                  <a:close/>
                </a:path>
              </a:pathLst>
            </a:custGeom>
            <a:solidFill>
              <a:srgbClr val="A1E6F7">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2" name="Freeform 21"/>
            <p:cNvSpPr>
              <a:spLocks/>
            </p:cNvSpPr>
            <p:nvPr/>
          </p:nvSpPr>
          <p:spPr bwMode="auto">
            <a:xfrm>
              <a:off x="5055" y="3259"/>
              <a:ext cx="14" cy="14"/>
            </a:xfrm>
            <a:custGeom>
              <a:avLst/>
              <a:gdLst>
                <a:gd name="T0" fmla="*/ 0 w 29"/>
                <a:gd name="T1" fmla="*/ 1 h 28"/>
                <a:gd name="T2" fmla="*/ 0 w 29"/>
                <a:gd name="T3" fmla="*/ 1 h 28"/>
                <a:gd name="T4" fmla="*/ 0 w 29"/>
                <a:gd name="T5" fmla="*/ 1 h 28"/>
                <a:gd name="T6" fmla="*/ 0 w 29"/>
                <a:gd name="T7" fmla="*/ 1 h 28"/>
                <a:gd name="T8" fmla="*/ 0 w 29"/>
                <a:gd name="T9" fmla="*/ 1 h 28"/>
                <a:gd name="T10" fmla="*/ 0 w 29"/>
                <a:gd name="T11" fmla="*/ 1 h 28"/>
                <a:gd name="T12" fmla="*/ 0 w 29"/>
                <a:gd name="T13" fmla="*/ 1 h 28"/>
                <a:gd name="T14" fmla="*/ 0 w 29"/>
                <a:gd name="T15" fmla="*/ 0 h 28"/>
                <a:gd name="T16" fmla="*/ 0 w 29"/>
                <a:gd name="T17" fmla="*/ 0 h 28"/>
                <a:gd name="T18" fmla="*/ 0 w 29"/>
                <a:gd name="T19" fmla="*/ 0 h 28"/>
                <a:gd name="T20" fmla="*/ 0 w 29"/>
                <a:gd name="T21" fmla="*/ 1 h 28"/>
                <a:gd name="T22" fmla="*/ 0 w 29"/>
                <a:gd name="T23" fmla="*/ 1 h 28"/>
                <a:gd name="T24" fmla="*/ 0 w 29"/>
                <a:gd name="T25" fmla="*/ 1 h 28"/>
                <a:gd name="T26" fmla="*/ 0 w 29"/>
                <a:gd name="T27" fmla="*/ 1 h 28"/>
                <a:gd name="T28" fmla="*/ 0 w 29"/>
                <a:gd name="T29" fmla="*/ 1 h 28"/>
                <a:gd name="T30" fmla="*/ 0 w 29"/>
                <a:gd name="T31" fmla="*/ 1 h 2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9" h="28">
                  <a:moveTo>
                    <a:pt x="14" y="28"/>
                  </a:moveTo>
                  <a:lnTo>
                    <a:pt x="18" y="26"/>
                  </a:lnTo>
                  <a:lnTo>
                    <a:pt x="23" y="24"/>
                  </a:lnTo>
                  <a:lnTo>
                    <a:pt x="27" y="19"/>
                  </a:lnTo>
                  <a:lnTo>
                    <a:pt x="29" y="15"/>
                  </a:lnTo>
                  <a:lnTo>
                    <a:pt x="27" y="9"/>
                  </a:lnTo>
                  <a:lnTo>
                    <a:pt x="23" y="3"/>
                  </a:lnTo>
                  <a:lnTo>
                    <a:pt x="18" y="0"/>
                  </a:lnTo>
                  <a:lnTo>
                    <a:pt x="14" y="0"/>
                  </a:lnTo>
                  <a:lnTo>
                    <a:pt x="8" y="0"/>
                  </a:lnTo>
                  <a:lnTo>
                    <a:pt x="4" y="3"/>
                  </a:lnTo>
                  <a:lnTo>
                    <a:pt x="0" y="9"/>
                  </a:lnTo>
                  <a:lnTo>
                    <a:pt x="0" y="15"/>
                  </a:lnTo>
                  <a:lnTo>
                    <a:pt x="4" y="24"/>
                  </a:lnTo>
                  <a:lnTo>
                    <a:pt x="14" y="28"/>
                  </a:lnTo>
                  <a:close/>
                </a:path>
              </a:pathLst>
            </a:custGeom>
            <a:solidFill>
              <a:srgbClr val="A1E6F7">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3" name="Freeform 22"/>
            <p:cNvSpPr>
              <a:spLocks/>
            </p:cNvSpPr>
            <p:nvPr/>
          </p:nvSpPr>
          <p:spPr bwMode="auto">
            <a:xfrm>
              <a:off x="5047" y="3353"/>
              <a:ext cx="66" cy="193"/>
            </a:xfrm>
            <a:custGeom>
              <a:avLst/>
              <a:gdLst>
                <a:gd name="T0" fmla="*/ 1 w 131"/>
                <a:gd name="T1" fmla="*/ 0 h 386"/>
                <a:gd name="T2" fmla="*/ 1 w 131"/>
                <a:gd name="T3" fmla="*/ 1 h 386"/>
                <a:gd name="T4" fmla="*/ 1 w 131"/>
                <a:gd name="T5" fmla="*/ 1 h 386"/>
                <a:gd name="T6" fmla="*/ 1 w 131"/>
                <a:gd name="T7" fmla="*/ 1 h 386"/>
                <a:gd name="T8" fmla="*/ 1 w 131"/>
                <a:gd name="T9" fmla="*/ 1 h 386"/>
                <a:gd name="T10" fmla="*/ 1 w 131"/>
                <a:gd name="T11" fmla="*/ 1 h 386"/>
                <a:gd name="T12" fmla="*/ 1 w 131"/>
                <a:gd name="T13" fmla="*/ 1 h 386"/>
                <a:gd name="T14" fmla="*/ 1 w 131"/>
                <a:gd name="T15" fmla="*/ 1 h 386"/>
                <a:gd name="T16" fmla="*/ 1 w 131"/>
                <a:gd name="T17" fmla="*/ 1 h 386"/>
                <a:gd name="T18" fmla="*/ 1 w 131"/>
                <a:gd name="T19" fmla="*/ 1 h 386"/>
                <a:gd name="T20" fmla="*/ 1 w 131"/>
                <a:gd name="T21" fmla="*/ 1 h 386"/>
                <a:gd name="T22" fmla="*/ 1 w 131"/>
                <a:gd name="T23" fmla="*/ 1 h 386"/>
                <a:gd name="T24" fmla="*/ 1 w 131"/>
                <a:gd name="T25" fmla="*/ 1 h 386"/>
                <a:gd name="T26" fmla="*/ 1 w 131"/>
                <a:gd name="T27" fmla="*/ 1 h 386"/>
                <a:gd name="T28" fmla="*/ 1 w 131"/>
                <a:gd name="T29" fmla="*/ 1 h 386"/>
                <a:gd name="T30" fmla="*/ 1 w 131"/>
                <a:gd name="T31" fmla="*/ 1 h 386"/>
                <a:gd name="T32" fmla="*/ 1 w 131"/>
                <a:gd name="T33" fmla="*/ 1 h 386"/>
                <a:gd name="T34" fmla="*/ 1 w 131"/>
                <a:gd name="T35" fmla="*/ 2 h 386"/>
                <a:gd name="T36" fmla="*/ 1 w 131"/>
                <a:gd name="T37" fmla="*/ 2 h 386"/>
                <a:gd name="T38" fmla="*/ 0 w 131"/>
                <a:gd name="T39" fmla="*/ 2 h 386"/>
                <a:gd name="T40" fmla="*/ 1 w 131"/>
                <a:gd name="T41" fmla="*/ 1 h 386"/>
                <a:gd name="T42" fmla="*/ 1 w 131"/>
                <a:gd name="T43" fmla="*/ 1 h 386"/>
                <a:gd name="T44" fmla="*/ 1 w 131"/>
                <a:gd name="T45" fmla="*/ 0 h 386"/>
                <a:gd name="T46" fmla="*/ 1 w 131"/>
                <a:gd name="T47" fmla="*/ 0 h 38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31" h="386">
                  <a:moveTo>
                    <a:pt x="44" y="0"/>
                  </a:moveTo>
                  <a:lnTo>
                    <a:pt x="71" y="42"/>
                  </a:lnTo>
                  <a:lnTo>
                    <a:pt x="88" y="21"/>
                  </a:lnTo>
                  <a:lnTo>
                    <a:pt x="97" y="34"/>
                  </a:lnTo>
                  <a:lnTo>
                    <a:pt x="97" y="32"/>
                  </a:lnTo>
                  <a:lnTo>
                    <a:pt x="101" y="30"/>
                  </a:lnTo>
                  <a:lnTo>
                    <a:pt x="105" y="26"/>
                  </a:lnTo>
                  <a:lnTo>
                    <a:pt x="111" y="25"/>
                  </a:lnTo>
                  <a:lnTo>
                    <a:pt x="114" y="21"/>
                  </a:lnTo>
                  <a:lnTo>
                    <a:pt x="120" y="17"/>
                  </a:lnTo>
                  <a:lnTo>
                    <a:pt x="124" y="15"/>
                  </a:lnTo>
                  <a:lnTo>
                    <a:pt x="128" y="15"/>
                  </a:lnTo>
                  <a:lnTo>
                    <a:pt x="130" y="15"/>
                  </a:lnTo>
                  <a:lnTo>
                    <a:pt x="131" y="17"/>
                  </a:lnTo>
                  <a:lnTo>
                    <a:pt x="131" y="21"/>
                  </a:lnTo>
                  <a:lnTo>
                    <a:pt x="131" y="23"/>
                  </a:lnTo>
                  <a:lnTo>
                    <a:pt x="97" y="66"/>
                  </a:lnTo>
                  <a:lnTo>
                    <a:pt x="118" y="348"/>
                  </a:lnTo>
                  <a:lnTo>
                    <a:pt x="57" y="386"/>
                  </a:lnTo>
                  <a:lnTo>
                    <a:pt x="0" y="346"/>
                  </a:lnTo>
                  <a:lnTo>
                    <a:pt x="80" y="68"/>
                  </a:lnTo>
                  <a:lnTo>
                    <a:pt x="40" y="23"/>
                  </a:lnTo>
                  <a:lnTo>
                    <a:pt x="44"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4" name="Freeform 23"/>
            <p:cNvSpPr>
              <a:spLocks/>
            </p:cNvSpPr>
            <p:nvPr/>
          </p:nvSpPr>
          <p:spPr bwMode="auto">
            <a:xfrm>
              <a:off x="5139" y="3322"/>
              <a:ext cx="78" cy="45"/>
            </a:xfrm>
            <a:custGeom>
              <a:avLst/>
              <a:gdLst>
                <a:gd name="T0" fmla="*/ 1 w 156"/>
                <a:gd name="T1" fmla="*/ 0 h 89"/>
                <a:gd name="T2" fmla="*/ 1 w 156"/>
                <a:gd name="T3" fmla="*/ 0 h 89"/>
                <a:gd name="T4" fmla="*/ 1 w 156"/>
                <a:gd name="T5" fmla="*/ 1 h 89"/>
                <a:gd name="T6" fmla="*/ 1 w 156"/>
                <a:gd name="T7" fmla="*/ 1 h 89"/>
                <a:gd name="T8" fmla="*/ 1 w 156"/>
                <a:gd name="T9" fmla="*/ 1 h 89"/>
                <a:gd name="T10" fmla="*/ 1 w 156"/>
                <a:gd name="T11" fmla="*/ 1 h 89"/>
                <a:gd name="T12" fmla="*/ 1 w 156"/>
                <a:gd name="T13" fmla="*/ 1 h 89"/>
                <a:gd name="T14" fmla="*/ 1 w 156"/>
                <a:gd name="T15" fmla="*/ 1 h 89"/>
                <a:gd name="T16" fmla="*/ 1 w 156"/>
                <a:gd name="T17" fmla="*/ 1 h 89"/>
                <a:gd name="T18" fmla="*/ 1 w 156"/>
                <a:gd name="T19" fmla="*/ 1 h 89"/>
                <a:gd name="T20" fmla="*/ 1 w 156"/>
                <a:gd name="T21" fmla="*/ 1 h 89"/>
                <a:gd name="T22" fmla="*/ 1 w 156"/>
                <a:gd name="T23" fmla="*/ 1 h 89"/>
                <a:gd name="T24" fmla="*/ 1 w 156"/>
                <a:gd name="T25" fmla="*/ 1 h 89"/>
                <a:gd name="T26" fmla="*/ 1 w 156"/>
                <a:gd name="T27" fmla="*/ 1 h 89"/>
                <a:gd name="T28" fmla="*/ 1 w 156"/>
                <a:gd name="T29" fmla="*/ 1 h 89"/>
                <a:gd name="T30" fmla="*/ 0 w 156"/>
                <a:gd name="T31" fmla="*/ 1 h 89"/>
                <a:gd name="T32" fmla="*/ 0 w 156"/>
                <a:gd name="T33" fmla="*/ 1 h 89"/>
                <a:gd name="T34" fmla="*/ 1 w 156"/>
                <a:gd name="T35" fmla="*/ 1 h 89"/>
                <a:gd name="T36" fmla="*/ 1 w 156"/>
                <a:gd name="T37" fmla="*/ 1 h 89"/>
                <a:gd name="T38" fmla="*/ 1 w 156"/>
                <a:gd name="T39" fmla="*/ 1 h 89"/>
                <a:gd name="T40" fmla="*/ 1 w 156"/>
                <a:gd name="T41" fmla="*/ 1 h 89"/>
                <a:gd name="T42" fmla="*/ 1 w 156"/>
                <a:gd name="T43" fmla="*/ 1 h 89"/>
                <a:gd name="T44" fmla="*/ 1 w 156"/>
                <a:gd name="T45" fmla="*/ 1 h 89"/>
                <a:gd name="T46" fmla="*/ 1 w 156"/>
                <a:gd name="T47" fmla="*/ 1 h 89"/>
                <a:gd name="T48" fmla="*/ 1 w 156"/>
                <a:gd name="T49" fmla="*/ 1 h 89"/>
                <a:gd name="T50" fmla="*/ 1 w 156"/>
                <a:gd name="T51" fmla="*/ 1 h 89"/>
                <a:gd name="T52" fmla="*/ 1 w 156"/>
                <a:gd name="T53" fmla="*/ 1 h 89"/>
                <a:gd name="T54" fmla="*/ 1 w 156"/>
                <a:gd name="T55" fmla="*/ 1 h 89"/>
                <a:gd name="T56" fmla="*/ 1 w 156"/>
                <a:gd name="T57" fmla="*/ 1 h 89"/>
                <a:gd name="T58" fmla="*/ 1 w 156"/>
                <a:gd name="T59" fmla="*/ 1 h 89"/>
                <a:gd name="T60" fmla="*/ 1 w 156"/>
                <a:gd name="T61" fmla="*/ 1 h 89"/>
                <a:gd name="T62" fmla="*/ 1 w 156"/>
                <a:gd name="T63" fmla="*/ 1 h 89"/>
                <a:gd name="T64" fmla="*/ 1 w 156"/>
                <a:gd name="T65" fmla="*/ 1 h 89"/>
                <a:gd name="T66" fmla="*/ 1 w 156"/>
                <a:gd name="T67" fmla="*/ 1 h 89"/>
                <a:gd name="T68" fmla="*/ 1 w 156"/>
                <a:gd name="T69" fmla="*/ 1 h 89"/>
                <a:gd name="T70" fmla="*/ 1 w 156"/>
                <a:gd name="T71" fmla="*/ 1 h 89"/>
                <a:gd name="T72" fmla="*/ 1 w 156"/>
                <a:gd name="T73" fmla="*/ 1 h 89"/>
                <a:gd name="T74" fmla="*/ 1 w 156"/>
                <a:gd name="T75" fmla="*/ 1 h 89"/>
                <a:gd name="T76" fmla="*/ 1 w 156"/>
                <a:gd name="T77" fmla="*/ 1 h 89"/>
                <a:gd name="T78" fmla="*/ 1 w 156"/>
                <a:gd name="T79" fmla="*/ 1 h 89"/>
                <a:gd name="T80" fmla="*/ 1 w 156"/>
                <a:gd name="T81" fmla="*/ 1 h 89"/>
                <a:gd name="T82" fmla="*/ 1 w 156"/>
                <a:gd name="T83" fmla="*/ 1 h 89"/>
                <a:gd name="T84" fmla="*/ 1 w 156"/>
                <a:gd name="T85" fmla="*/ 1 h 89"/>
                <a:gd name="T86" fmla="*/ 1 w 156"/>
                <a:gd name="T87" fmla="*/ 1 h 89"/>
                <a:gd name="T88" fmla="*/ 1 w 156"/>
                <a:gd name="T89" fmla="*/ 1 h 89"/>
                <a:gd name="T90" fmla="*/ 1 w 156"/>
                <a:gd name="T91" fmla="*/ 1 h 89"/>
                <a:gd name="T92" fmla="*/ 1 w 156"/>
                <a:gd name="T93" fmla="*/ 1 h 89"/>
                <a:gd name="T94" fmla="*/ 1 w 156"/>
                <a:gd name="T95" fmla="*/ 1 h 89"/>
                <a:gd name="T96" fmla="*/ 1 w 156"/>
                <a:gd name="T97" fmla="*/ 1 h 89"/>
                <a:gd name="T98" fmla="*/ 1 w 156"/>
                <a:gd name="T99" fmla="*/ 1 h 89"/>
                <a:gd name="T100" fmla="*/ 1 w 156"/>
                <a:gd name="T101" fmla="*/ 1 h 89"/>
                <a:gd name="T102" fmla="*/ 1 w 156"/>
                <a:gd name="T103" fmla="*/ 1 h 89"/>
                <a:gd name="T104" fmla="*/ 1 w 156"/>
                <a:gd name="T105" fmla="*/ 1 h 89"/>
                <a:gd name="T106" fmla="*/ 1 w 156"/>
                <a:gd name="T107" fmla="*/ 1 h 89"/>
                <a:gd name="T108" fmla="*/ 1 w 156"/>
                <a:gd name="T109" fmla="*/ 1 h 89"/>
                <a:gd name="T110" fmla="*/ 1 w 156"/>
                <a:gd name="T111" fmla="*/ 1 h 89"/>
                <a:gd name="T112" fmla="*/ 1 w 156"/>
                <a:gd name="T113" fmla="*/ 0 h 89"/>
                <a:gd name="T114" fmla="*/ 1 w 156"/>
                <a:gd name="T115" fmla="*/ 0 h 8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56" h="89">
                  <a:moveTo>
                    <a:pt x="59" y="0"/>
                  </a:moveTo>
                  <a:lnTo>
                    <a:pt x="57" y="0"/>
                  </a:lnTo>
                  <a:lnTo>
                    <a:pt x="57" y="6"/>
                  </a:lnTo>
                  <a:lnTo>
                    <a:pt x="57" y="11"/>
                  </a:lnTo>
                  <a:lnTo>
                    <a:pt x="55" y="21"/>
                  </a:lnTo>
                  <a:lnTo>
                    <a:pt x="53" y="28"/>
                  </a:lnTo>
                  <a:lnTo>
                    <a:pt x="49" y="38"/>
                  </a:lnTo>
                  <a:lnTo>
                    <a:pt x="45" y="46"/>
                  </a:lnTo>
                  <a:lnTo>
                    <a:pt x="40" y="51"/>
                  </a:lnTo>
                  <a:lnTo>
                    <a:pt x="32" y="55"/>
                  </a:lnTo>
                  <a:lnTo>
                    <a:pt x="26" y="61"/>
                  </a:lnTo>
                  <a:lnTo>
                    <a:pt x="21" y="65"/>
                  </a:lnTo>
                  <a:lnTo>
                    <a:pt x="15" y="68"/>
                  </a:lnTo>
                  <a:lnTo>
                    <a:pt x="7" y="72"/>
                  </a:lnTo>
                  <a:lnTo>
                    <a:pt x="3" y="74"/>
                  </a:lnTo>
                  <a:lnTo>
                    <a:pt x="0" y="76"/>
                  </a:lnTo>
                  <a:lnTo>
                    <a:pt x="7" y="87"/>
                  </a:lnTo>
                  <a:lnTo>
                    <a:pt x="51" y="67"/>
                  </a:lnTo>
                  <a:lnTo>
                    <a:pt x="59" y="89"/>
                  </a:lnTo>
                  <a:lnTo>
                    <a:pt x="59" y="87"/>
                  </a:lnTo>
                  <a:lnTo>
                    <a:pt x="61" y="84"/>
                  </a:lnTo>
                  <a:lnTo>
                    <a:pt x="62" y="78"/>
                  </a:lnTo>
                  <a:lnTo>
                    <a:pt x="68" y="72"/>
                  </a:lnTo>
                  <a:lnTo>
                    <a:pt x="74" y="67"/>
                  </a:lnTo>
                  <a:lnTo>
                    <a:pt x="80" y="61"/>
                  </a:lnTo>
                  <a:lnTo>
                    <a:pt x="83" y="57"/>
                  </a:lnTo>
                  <a:lnTo>
                    <a:pt x="89" y="55"/>
                  </a:lnTo>
                  <a:lnTo>
                    <a:pt x="95" y="55"/>
                  </a:lnTo>
                  <a:lnTo>
                    <a:pt x="99" y="55"/>
                  </a:lnTo>
                  <a:lnTo>
                    <a:pt x="108" y="55"/>
                  </a:lnTo>
                  <a:lnTo>
                    <a:pt x="118" y="55"/>
                  </a:lnTo>
                  <a:lnTo>
                    <a:pt x="125" y="57"/>
                  </a:lnTo>
                  <a:lnTo>
                    <a:pt x="133" y="61"/>
                  </a:lnTo>
                  <a:lnTo>
                    <a:pt x="137" y="63"/>
                  </a:lnTo>
                  <a:lnTo>
                    <a:pt x="142" y="65"/>
                  </a:lnTo>
                  <a:lnTo>
                    <a:pt x="144" y="65"/>
                  </a:lnTo>
                  <a:lnTo>
                    <a:pt x="146" y="67"/>
                  </a:lnTo>
                  <a:lnTo>
                    <a:pt x="156" y="47"/>
                  </a:lnTo>
                  <a:lnTo>
                    <a:pt x="154" y="46"/>
                  </a:lnTo>
                  <a:lnTo>
                    <a:pt x="152" y="46"/>
                  </a:lnTo>
                  <a:lnTo>
                    <a:pt x="146" y="42"/>
                  </a:lnTo>
                  <a:lnTo>
                    <a:pt x="142" y="38"/>
                  </a:lnTo>
                  <a:lnTo>
                    <a:pt x="137" y="34"/>
                  </a:lnTo>
                  <a:lnTo>
                    <a:pt x="129" y="30"/>
                  </a:lnTo>
                  <a:lnTo>
                    <a:pt x="123" y="28"/>
                  </a:lnTo>
                  <a:lnTo>
                    <a:pt x="116" y="28"/>
                  </a:lnTo>
                  <a:lnTo>
                    <a:pt x="106" y="28"/>
                  </a:lnTo>
                  <a:lnTo>
                    <a:pt x="99" y="28"/>
                  </a:lnTo>
                  <a:lnTo>
                    <a:pt x="93" y="28"/>
                  </a:lnTo>
                  <a:lnTo>
                    <a:pt x="87" y="30"/>
                  </a:lnTo>
                  <a:lnTo>
                    <a:pt x="81" y="32"/>
                  </a:lnTo>
                  <a:lnTo>
                    <a:pt x="78" y="32"/>
                  </a:lnTo>
                  <a:lnTo>
                    <a:pt x="76" y="34"/>
                  </a:lnTo>
                  <a:lnTo>
                    <a:pt x="76" y="2"/>
                  </a:lnTo>
                  <a:lnTo>
                    <a:pt x="59"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5" name="Freeform 24"/>
            <p:cNvSpPr>
              <a:spLocks/>
            </p:cNvSpPr>
            <p:nvPr/>
          </p:nvSpPr>
          <p:spPr bwMode="auto">
            <a:xfrm>
              <a:off x="4954" y="3437"/>
              <a:ext cx="48" cy="103"/>
            </a:xfrm>
            <a:custGeom>
              <a:avLst/>
              <a:gdLst>
                <a:gd name="T0" fmla="*/ 0 w 97"/>
                <a:gd name="T1" fmla="*/ 1 h 205"/>
                <a:gd name="T2" fmla="*/ 0 w 97"/>
                <a:gd name="T3" fmla="*/ 1 h 205"/>
                <a:gd name="T4" fmla="*/ 0 w 97"/>
                <a:gd name="T5" fmla="*/ 1 h 205"/>
                <a:gd name="T6" fmla="*/ 0 w 97"/>
                <a:gd name="T7" fmla="*/ 1 h 205"/>
                <a:gd name="T8" fmla="*/ 0 w 97"/>
                <a:gd name="T9" fmla="*/ 1 h 205"/>
                <a:gd name="T10" fmla="*/ 0 w 97"/>
                <a:gd name="T11" fmla="*/ 0 h 205"/>
                <a:gd name="T12" fmla="*/ 0 w 97"/>
                <a:gd name="T13" fmla="*/ 0 h 205"/>
                <a:gd name="T14" fmla="*/ 0 w 97"/>
                <a:gd name="T15" fmla="*/ 1 h 205"/>
                <a:gd name="T16" fmla="*/ 0 w 97"/>
                <a:gd name="T17" fmla="*/ 1 h 205"/>
                <a:gd name="T18" fmla="*/ 0 w 97"/>
                <a:gd name="T19" fmla="*/ 1 h 205"/>
                <a:gd name="T20" fmla="*/ 0 w 97"/>
                <a:gd name="T21" fmla="*/ 1 h 205"/>
                <a:gd name="T22" fmla="*/ 0 w 97"/>
                <a:gd name="T23" fmla="*/ 1 h 205"/>
                <a:gd name="T24" fmla="*/ 0 w 97"/>
                <a:gd name="T25" fmla="*/ 1 h 205"/>
                <a:gd name="T26" fmla="*/ 0 w 97"/>
                <a:gd name="T27" fmla="*/ 1 h 205"/>
                <a:gd name="T28" fmla="*/ 0 w 97"/>
                <a:gd name="T29" fmla="*/ 1 h 205"/>
                <a:gd name="T30" fmla="*/ 0 w 97"/>
                <a:gd name="T31" fmla="*/ 1 h 205"/>
                <a:gd name="T32" fmla="*/ 0 w 97"/>
                <a:gd name="T33" fmla="*/ 1 h 205"/>
                <a:gd name="T34" fmla="*/ 0 w 97"/>
                <a:gd name="T35" fmla="*/ 1 h 205"/>
                <a:gd name="T36" fmla="*/ 0 w 97"/>
                <a:gd name="T37" fmla="*/ 1 h 205"/>
                <a:gd name="T38" fmla="*/ 0 w 97"/>
                <a:gd name="T39" fmla="*/ 1 h 205"/>
                <a:gd name="T40" fmla="*/ 0 w 97"/>
                <a:gd name="T41" fmla="*/ 1 h 205"/>
                <a:gd name="T42" fmla="*/ 0 w 97"/>
                <a:gd name="T43" fmla="*/ 1 h 205"/>
                <a:gd name="T44" fmla="*/ 0 w 97"/>
                <a:gd name="T45" fmla="*/ 1 h 205"/>
                <a:gd name="T46" fmla="*/ 0 w 97"/>
                <a:gd name="T47" fmla="*/ 1 h 205"/>
                <a:gd name="T48" fmla="*/ 0 w 97"/>
                <a:gd name="T49" fmla="*/ 1 h 205"/>
                <a:gd name="T50" fmla="*/ 0 w 97"/>
                <a:gd name="T51" fmla="*/ 1 h 205"/>
                <a:gd name="T52" fmla="*/ 0 w 97"/>
                <a:gd name="T53" fmla="*/ 1 h 205"/>
                <a:gd name="T54" fmla="*/ 0 w 97"/>
                <a:gd name="T55" fmla="*/ 1 h 205"/>
                <a:gd name="T56" fmla="*/ 0 w 97"/>
                <a:gd name="T57" fmla="*/ 1 h 205"/>
                <a:gd name="T58" fmla="*/ 0 w 97"/>
                <a:gd name="T59" fmla="*/ 1 h 205"/>
                <a:gd name="T60" fmla="*/ 0 w 97"/>
                <a:gd name="T61" fmla="*/ 1 h 205"/>
                <a:gd name="T62" fmla="*/ 0 w 97"/>
                <a:gd name="T63" fmla="*/ 1 h 205"/>
                <a:gd name="T64" fmla="*/ 0 w 97"/>
                <a:gd name="T65" fmla="*/ 1 h 205"/>
                <a:gd name="T66" fmla="*/ 0 w 97"/>
                <a:gd name="T67" fmla="*/ 1 h 205"/>
                <a:gd name="T68" fmla="*/ 0 w 97"/>
                <a:gd name="T69" fmla="*/ 1 h 205"/>
                <a:gd name="T70" fmla="*/ 0 w 97"/>
                <a:gd name="T71" fmla="*/ 1 h 205"/>
                <a:gd name="T72" fmla="*/ 0 w 97"/>
                <a:gd name="T73" fmla="*/ 1 h 205"/>
                <a:gd name="T74" fmla="*/ 0 w 97"/>
                <a:gd name="T75" fmla="*/ 1 h 205"/>
                <a:gd name="T76" fmla="*/ 0 w 97"/>
                <a:gd name="T77" fmla="*/ 1 h 205"/>
                <a:gd name="T78" fmla="*/ 0 w 97"/>
                <a:gd name="T79" fmla="*/ 1 h 205"/>
                <a:gd name="T80" fmla="*/ 0 w 97"/>
                <a:gd name="T81" fmla="*/ 1 h 205"/>
                <a:gd name="T82" fmla="*/ 0 w 97"/>
                <a:gd name="T83" fmla="*/ 1 h 205"/>
                <a:gd name="T84" fmla="*/ 0 w 97"/>
                <a:gd name="T85" fmla="*/ 1 h 205"/>
                <a:gd name="T86" fmla="*/ 0 w 97"/>
                <a:gd name="T87" fmla="*/ 1 h 205"/>
                <a:gd name="T88" fmla="*/ 0 w 97"/>
                <a:gd name="T89" fmla="*/ 1 h 205"/>
                <a:gd name="T90" fmla="*/ 0 w 97"/>
                <a:gd name="T91" fmla="*/ 1 h 205"/>
                <a:gd name="T92" fmla="*/ 0 w 97"/>
                <a:gd name="T93" fmla="*/ 1 h 205"/>
                <a:gd name="T94" fmla="*/ 0 w 97"/>
                <a:gd name="T95" fmla="*/ 1 h 205"/>
                <a:gd name="T96" fmla="*/ 0 w 97"/>
                <a:gd name="T97" fmla="*/ 1 h 20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97" h="205">
                  <a:moveTo>
                    <a:pt x="46" y="8"/>
                  </a:moveTo>
                  <a:lnTo>
                    <a:pt x="44" y="6"/>
                  </a:lnTo>
                  <a:lnTo>
                    <a:pt x="40" y="6"/>
                  </a:lnTo>
                  <a:lnTo>
                    <a:pt x="36" y="2"/>
                  </a:lnTo>
                  <a:lnTo>
                    <a:pt x="30" y="2"/>
                  </a:lnTo>
                  <a:lnTo>
                    <a:pt x="23" y="0"/>
                  </a:lnTo>
                  <a:lnTo>
                    <a:pt x="15" y="0"/>
                  </a:lnTo>
                  <a:lnTo>
                    <a:pt x="9" y="2"/>
                  </a:lnTo>
                  <a:lnTo>
                    <a:pt x="4" y="8"/>
                  </a:lnTo>
                  <a:lnTo>
                    <a:pt x="2" y="11"/>
                  </a:lnTo>
                  <a:lnTo>
                    <a:pt x="0" y="15"/>
                  </a:lnTo>
                  <a:lnTo>
                    <a:pt x="0" y="21"/>
                  </a:lnTo>
                  <a:lnTo>
                    <a:pt x="0" y="28"/>
                  </a:lnTo>
                  <a:lnTo>
                    <a:pt x="0" y="38"/>
                  </a:lnTo>
                  <a:lnTo>
                    <a:pt x="2" y="47"/>
                  </a:lnTo>
                  <a:lnTo>
                    <a:pt x="2" y="51"/>
                  </a:lnTo>
                  <a:lnTo>
                    <a:pt x="4" y="57"/>
                  </a:lnTo>
                  <a:lnTo>
                    <a:pt x="4" y="63"/>
                  </a:lnTo>
                  <a:lnTo>
                    <a:pt x="6" y="68"/>
                  </a:lnTo>
                  <a:lnTo>
                    <a:pt x="8" y="74"/>
                  </a:lnTo>
                  <a:lnTo>
                    <a:pt x="9" y="80"/>
                  </a:lnTo>
                  <a:lnTo>
                    <a:pt x="9" y="84"/>
                  </a:lnTo>
                  <a:lnTo>
                    <a:pt x="11" y="89"/>
                  </a:lnTo>
                  <a:lnTo>
                    <a:pt x="13" y="95"/>
                  </a:lnTo>
                  <a:lnTo>
                    <a:pt x="15" y="103"/>
                  </a:lnTo>
                  <a:lnTo>
                    <a:pt x="19" y="108"/>
                  </a:lnTo>
                  <a:lnTo>
                    <a:pt x="21" y="114"/>
                  </a:lnTo>
                  <a:lnTo>
                    <a:pt x="23" y="120"/>
                  </a:lnTo>
                  <a:lnTo>
                    <a:pt x="27" y="127"/>
                  </a:lnTo>
                  <a:lnTo>
                    <a:pt x="28" y="131"/>
                  </a:lnTo>
                  <a:lnTo>
                    <a:pt x="32" y="139"/>
                  </a:lnTo>
                  <a:lnTo>
                    <a:pt x="36" y="144"/>
                  </a:lnTo>
                  <a:lnTo>
                    <a:pt x="38" y="150"/>
                  </a:lnTo>
                  <a:lnTo>
                    <a:pt x="42" y="158"/>
                  </a:lnTo>
                  <a:lnTo>
                    <a:pt x="46" y="163"/>
                  </a:lnTo>
                  <a:lnTo>
                    <a:pt x="49" y="167"/>
                  </a:lnTo>
                  <a:lnTo>
                    <a:pt x="51" y="173"/>
                  </a:lnTo>
                  <a:lnTo>
                    <a:pt x="55" y="179"/>
                  </a:lnTo>
                  <a:lnTo>
                    <a:pt x="59" y="182"/>
                  </a:lnTo>
                  <a:lnTo>
                    <a:pt x="63" y="188"/>
                  </a:lnTo>
                  <a:lnTo>
                    <a:pt x="68" y="196"/>
                  </a:lnTo>
                  <a:lnTo>
                    <a:pt x="78" y="201"/>
                  </a:lnTo>
                  <a:lnTo>
                    <a:pt x="86" y="205"/>
                  </a:lnTo>
                  <a:lnTo>
                    <a:pt x="89" y="203"/>
                  </a:lnTo>
                  <a:lnTo>
                    <a:pt x="93" y="201"/>
                  </a:lnTo>
                  <a:lnTo>
                    <a:pt x="97" y="200"/>
                  </a:lnTo>
                  <a:lnTo>
                    <a:pt x="46" y="8"/>
                  </a:lnTo>
                  <a:close/>
                </a:path>
              </a:pathLst>
            </a:custGeom>
            <a:solidFill>
              <a:srgbClr val="C7C7E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6" name="Freeform 25"/>
            <p:cNvSpPr>
              <a:spLocks/>
            </p:cNvSpPr>
            <p:nvPr/>
          </p:nvSpPr>
          <p:spPr bwMode="auto">
            <a:xfrm>
              <a:off x="5082" y="3580"/>
              <a:ext cx="97" cy="23"/>
            </a:xfrm>
            <a:custGeom>
              <a:avLst/>
              <a:gdLst>
                <a:gd name="T0" fmla="*/ 1 w 194"/>
                <a:gd name="T1" fmla="*/ 1 h 46"/>
                <a:gd name="T2" fmla="*/ 1 w 194"/>
                <a:gd name="T3" fmla="*/ 1 h 46"/>
                <a:gd name="T4" fmla="*/ 1 w 194"/>
                <a:gd name="T5" fmla="*/ 1 h 46"/>
                <a:gd name="T6" fmla="*/ 1 w 194"/>
                <a:gd name="T7" fmla="*/ 1 h 46"/>
                <a:gd name="T8" fmla="*/ 1 w 194"/>
                <a:gd name="T9" fmla="*/ 1 h 46"/>
                <a:gd name="T10" fmla="*/ 1 w 194"/>
                <a:gd name="T11" fmla="*/ 1 h 46"/>
                <a:gd name="T12" fmla="*/ 1 w 194"/>
                <a:gd name="T13" fmla="*/ 1 h 46"/>
                <a:gd name="T14" fmla="*/ 1 w 194"/>
                <a:gd name="T15" fmla="*/ 1 h 46"/>
                <a:gd name="T16" fmla="*/ 1 w 194"/>
                <a:gd name="T17" fmla="*/ 1 h 46"/>
                <a:gd name="T18" fmla="*/ 1 w 194"/>
                <a:gd name="T19" fmla="*/ 1 h 46"/>
                <a:gd name="T20" fmla="*/ 1 w 194"/>
                <a:gd name="T21" fmla="*/ 1 h 46"/>
                <a:gd name="T22" fmla="*/ 1 w 194"/>
                <a:gd name="T23" fmla="*/ 1 h 46"/>
                <a:gd name="T24" fmla="*/ 1 w 194"/>
                <a:gd name="T25" fmla="*/ 1 h 46"/>
                <a:gd name="T26" fmla="*/ 1 w 194"/>
                <a:gd name="T27" fmla="*/ 1 h 46"/>
                <a:gd name="T28" fmla="*/ 1 w 194"/>
                <a:gd name="T29" fmla="*/ 1 h 46"/>
                <a:gd name="T30" fmla="*/ 1 w 194"/>
                <a:gd name="T31" fmla="*/ 1 h 46"/>
                <a:gd name="T32" fmla="*/ 1 w 194"/>
                <a:gd name="T33" fmla="*/ 1 h 46"/>
                <a:gd name="T34" fmla="*/ 1 w 194"/>
                <a:gd name="T35" fmla="*/ 1 h 46"/>
                <a:gd name="T36" fmla="*/ 1 w 194"/>
                <a:gd name="T37" fmla="*/ 1 h 46"/>
                <a:gd name="T38" fmla="*/ 1 w 194"/>
                <a:gd name="T39" fmla="*/ 1 h 46"/>
                <a:gd name="T40" fmla="*/ 1 w 194"/>
                <a:gd name="T41" fmla="*/ 1 h 46"/>
                <a:gd name="T42" fmla="*/ 1 w 194"/>
                <a:gd name="T43" fmla="*/ 1 h 46"/>
                <a:gd name="T44" fmla="*/ 1 w 194"/>
                <a:gd name="T45" fmla="*/ 1 h 46"/>
                <a:gd name="T46" fmla="*/ 1 w 194"/>
                <a:gd name="T47" fmla="*/ 1 h 46"/>
                <a:gd name="T48" fmla="*/ 1 w 194"/>
                <a:gd name="T49" fmla="*/ 1 h 46"/>
                <a:gd name="T50" fmla="*/ 1 w 194"/>
                <a:gd name="T51" fmla="*/ 1 h 46"/>
                <a:gd name="T52" fmla="*/ 1 w 194"/>
                <a:gd name="T53" fmla="*/ 1 h 46"/>
                <a:gd name="T54" fmla="*/ 1 w 194"/>
                <a:gd name="T55" fmla="*/ 1 h 46"/>
                <a:gd name="T56" fmla="*/ 1 w 194"/>
                <a:gd name="T57" fmla="*/ 1 h 46"/>
                <a:gd name="T58" fmla="*/ 1 w 194"/>
                <a:gd name="T59" fmla="*/ 1 h 46"/>
                <a:gd name="T60" fmla="*/ 1 w 194"/>
                <a:gd name="T61" fmla="*/ 1 h 46"/>
                <a:gd name="T62" fmla="*/ 1 w 194"/>
                <a:gd name="T63" fmla="*/ 1 h 46"/>
                <a:gd name="T64" fmla="*/ 1 w 194"/>
                <a:gd name="T65" fmla="*/ 1 h 46"/>
                <a:gd name="T66" fmla="*/ 0 w 194"/>
                <a:gd name="T67" fmla="*/ 1 h 46"/>
                <a:gd name="T68" fmla="*/ 0 w 194"/>
                <a:gd name="T69" fmla="*/ 1 h 46"/>
                <a:gd name="T70" fmla="*/ 1 w 194"/>
                <a:gd name="T71" fmla="*/ 1 h 4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194" h="46">
                  <a:moveTo>
                    <a:pt x="9" y="30"/>
                  </a:moveTo>
                  <a:lnTo>
                    <a:pt x="13" y="30"/>
                  </a:lnTo>
                  <a:lnTo>
                    <a:pt x="19" y="32"/>
                  </a:lnTo>
                  <a:lnTo>
                    <a:pt x="24" y="34"/>
                  </a:lnTo>
                  <a:lnTo>
                    <a:pt x="32" y="34"/>
                  </a:lnTo>
                  <a:lnTo>
                    <a:pt x="41" y="36"/>
                  </a:lnTo>
                  <a:lnTo>
                    <a:pt x="45" y="36"/>
                  </a:lnTo>
                  <a:lnTo>
                    <a:pt x="51" y="38"/>
                  </a:lnTo>
                  <a:lnTo>
                    <a:pt x="57" y="38"/>
                  </a:lnTo>
                  <a:lnTo>
                    <a:pt x="62" y="40"/>
                  </a:lnTo>
                  <a:lnTo>
                    <a:pt x="68" y="40"/>
                  </a:lnTo>
                  <a:lnTo>
                    <a:pt x="74" y="42"/>
                  </a:lnTo>
                  <a:lnTo>
                    <a:pt x="79" y="42"/>
                  </a:lnTo>
                  <a:lnTo>
                    <a:pt x="85" y="42"/>
                  </a:lnTo>
                  <a:lnTo>
                    <a:pt x="91" y="42"/>
                  </a:lnTo>
                  <a:lnTo>
                    <a:pt x="98" y="44"/>
                  </a:lnTo>
                  <a:lnTo>
                    <a:pt x="104" y="44"/>
                  </a:lnTo>
                  <a:lnTo>
                    <a:pt x="110" y="46"/>
                  </a:lnTo>
                  <a:lnTo>
                    <a:pt x="116" y="44"/>
                  </a:lnTo>
                  <a:lnTo>
                    <a:pt x="123" y="44"/>
                  </a:lnTo>
                  <a:lnTo>
                    <a:pt x="129" y="44"/>
                  </a:lnTo>
                  <a:lnTo>
                    <a:pt x="135" y="44"/>
                  </a:lnTo>
                  <a:lnTo>
                    <a:pt x="140" y="44"/>
                  </a:lnTo>
                  <a:lnTo>
                    <a:pt x="146" y="44"/>
                  </a:lnTo>
                  <a:lnTo>
                    <a:pt x="152" y="42"/>
                  </a:lnTo>
                  <a:lnTo>
                    <a:pt x="157" y="42"/>
                  </a:lnTo>
                  <a:lnTo>
                    <a:pt x="165" y="40"/>
                  </a:lnTo>
                  <a:lnTo>
                    <a:pt x="173" y="36"/>
                  </a:lnTo>
                  <a:lnTo>
                    <a:pt x="178" y="34"/>
                  </a:lnTo>
                  <a:lnTo>
                    <a:pt x="184" y="30"/>
                  </a:lnTo>
                  <a:lnTo>
                    <a:pt x="190" y="25"/>
                  </a:lnTo>
                  <a:lnTo>
                    <a:pt x="194" y="19"/>
                  </a:lnTo>
                  <a:lnTo>
                    <a:pt x="194" y="13"/>
                  </a:lnTo>
                  <a:lnTo>
                    <a:pt x="192" y="8"/>
                  </a:lnTo>
                  <a:lnTo>
                    <a:pt x="188" y="4"/>
                  </a:lnTo>
                  <a:lnTo>
                    <a:pt x="184" y="2"/>
                  </a:lnTo>
                  <a:lnTo>
                    <a:pt x="180" y="0"/>
                  </a:lnTo>
                  <a:lnTo>
                    <a:pt x="173" y="4"/>
                  </a:lnTo>
                  <a:lnTo>
                    <a:pt x="165" y="6"/>
                  </a:lnTo>
                  <a:lnTo>
                    <a:pt x="157" y="10"/>
                  </a:lnTo>
                  <a:lnTo>
                    <a:pt x="152" y="10"/>
                  </a:lnTo>
                  <a:lnTo>
                    <a:pt x="146" y="11"/>
                  </a:lnTo>
                  <a:lnTo>
                    <a:pt x="140" y="13"/>
                  </a:lnTo>
                  <a:lnTo>
                    <a:pt x="135" y="15"/>
                  </a:lnTo>
                  <a:lnTo>
                    <a:pt x="131" y="17"/>
                  </a:lnTo>
                  <a:lnTo>
                    <a:pt x="125" y="17"/>
                  </a:lnTo>
                  <a:lnTo>
                    <a:pt x="119" y="19"/>
                  </a:lnTo>
                  <a:lnTo>
                    <a:pt x="114" y="21"/>
                  </a:lnTo>
                  <a:lnTo>
                    <a:pt x="108" y="21"/>
                  </a:lnTo>
                  <a:lnTo>
                    <a:pt x="102" y="21"/>
                  </a:lnTo>
                  <a:lnTo>
                    <a:pt x="95" y="21"/>
                  </a:lnTo>
                  <a:lnTo>
                    <a:pt x="87" y="21"/>
                  </a:lnTo>
                  <a:lnTo>
                    <a:pt x="79" y="21"/>
                  </a:lnTo>
                  <a:lnTo>
                    <a:pt x="72" y="21"/>
                  </a:lnTo>
                  <a:lnTo>
                    <a:pt x="64" y="21"/>
                  </a:lnTo>
                  <a:lnTo>
                    <a:pt x="57" y="21"/>
                  </a:lnTo>
                  <a:lnTo>
                    <a:pt x="49" y="21"/>
                  </a:lnTo>
                  <a:lnTo>
                    <a:pt x="41" y="21"/>
                  </a:lnTo>
                  <a:lnTo>
                    <a:pt x="34" y="21"/>
                  </a:lnTo>
                  <a:lnTo>
                    <a:pt x="30" y="21"/>
                  </a:lnTo>
                  <a:lnTo>
                    <a:pt x="24" y="21"/>
                  </a:lnTo>
                  <a:lnTo>
                    <a:pt x="19" y="21"/>
                  </a:lnTo>
                  <a:lnTo>
                    <a:pt x="15" y="21"/>
                  </a:lnTo>
                  <a:lnTo>
                    <a:pt x="13" y="23"/>
                  </a:lnTo>
                  <a:lnTo>
                    <a:pt x="7" y="23"/>
                  </a:lnTo>
                  <a:lnTo>
                    <a:pt x="3" y="23"/>
                  </a:lnTo>
                  <a:lnTo>
                    <a:pt x="2" y="23"/>
                  </a:lnTo>
                  <a:lnTo>
                    <a:pt x="0" y="25"/>
                  </a:lnTo>
                  <a:lnTo>
                    <a:pt x="0" y="27"/>
                  </a:lnTo>
                  <a:lnTo>
                    <a:pt x="9" y="3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7" name="Freeform 26"/>
            <p:cNvSpPr>
              <a:spLocks/>
            </p:cNvSpPr>
            <p:nvPr/>
          </p:nvSpPr>
          <p:spPr bwMode="auto">
            <a:xfrm>
              <a:off x="4867" y="3331"/>
              <a:ext cx="155" cy="244"/>
            </a:xfrm>
            <a:custGeom>
              <a:avLst/>
              <a:gdLst>
                <a:gd name="T0" fmla="*/ 2 w 310"/>
                <a:gd name="T1" fmla="*/ 0 h 489"/>
                <a:gd name="T2" fmla="*/ 2 w 310"/>
                <a:gd name="T3" fmla="*/ 0 h 489"/>
                <a:gd name="T4" fmla="*/ 1 w 310"/>
                <a:gd name="T5" fmla="*/ 0 h 489"/>
                <a:gd name="T6" fmla="*/ 1 w 310"/>
                <a:gd name="T7" fmla="*/ 0 h 489"/>
                <a:gd name="T8" fmla="*/ 1 w 310"/>
                <a:gd name="T9" fmla="*/ 0 h 489"/>
                <a:gd name="T10" fmla="*/ 1 w 310"/>
                <a:gd name="T11" fmla="*/ 0 h 489"/>
                <a:gd name="T12" fmla="*/ 1 w 310"/>
                <a:gd name="T13" fmla="*/ 0 h 489"/>
                <a:gd name="T14" fmla="*/ 1 w 310"/>
                <a:gd name="T15" fmla="*/ 0 h 489"/>
                <a:gd name="T16" fmla="*/ 1 w 310"/>
                <a:gd name="T17" fmla="*/ 0 h 489"/>
                <a:gd name="T18" fmla="*/ 1 w 310"/>
                <a:gd name="T19" fmla="*/ 0 h 489"/>
                <a:gd name="T20" fmla="*/ 1 w 310"/>
                <a:gd name="T21" fmla="*/ 0 h 489"/>
                <a:gd name="T22" fmla="*/ 1 w 310"/>
                <a:gd name="T23" fmla="*/ 0 h 489"/>
                <a:gd name="T24" fmla="*/ 1 w 310"/>
                <a:gd name="T25" fmla="*/ 0 h 489"/>
                <a:gd name="T26" fmla="*/ 1 w 310"/>
                <a:gd name="T27" fmla="*/ 0 h 489"/>
                <a:gd name="T28" fmla="*/ 1 w 310"/>
                <a:gd name="T29" fmla="*/ 0 h 489"/>
                <a:gd name="T30" fmla="*/ 0 w 310"/>
                <a:gd name="T31" fmla="*/ 0 h 489"/>
                <a:gd name="T32" fmla="*/ 0 w 310"/>
                <a:gd name="T33" fmla="*/ 0 h 489"/>
                <a:gd name="T34" fmla="*/ 1 w 310"/>
                <a:gd name="T35" fmla="*/ 0 h 489"/>
                <a:gd name="T36" fmla="*/ 1 w 310"/>
                <a:gd name="T37" fmla="*/ 0 h 489"/>
                <a:gd name="T38" fmla="*/ 1 w 310"/>
                <a:gd name="T39" fmla="*/ 1 h 489"/>
                <a:gd name="T40" fmla="*/ 1 w 310"/>
                <a:gd name="T41" fmla="*/ 1 h 489"/>
                <a:gd name="T42" fmla="*/ 1 w 310"/>
                <a:gd name="T43" fmla="*/ 1 h 489"/>
                <a:gd name="T44" fmla="*/ 1 w 310"/>
                <a:gd name="T45" fmla="*/ 1 h 489"/>
                <a:gd name="T46" fmla="*/ 1 w 310"/>
                <a:gd name="T47" fmla="*/ 1 h 489"/>
                <a:gd name="T48" fmla="*/ 1 w 310"/>
                <a:gd name="T49" fmla="*/ 1 h 489"/>
                <a:gd name="T50" fmla="*/ 1 w 310"/>
                <a:gd name="T51" fmla="*/ 1 h 489"/>
                <a:gd name="T52" fmla="*/ 1 w 310"/>
                <a:gd name="T53" fmla="*/ 1 h 489"/>
                <a:gd name="T54" fmla="*/ 1 w 310"/>
                <a:gd name="T55" fmla="*/ 1 h 489"/>
                <a:gd name="T56" fmla="*/ 1 w 310"/>
                <a:gd name="T57" fmla="*/ 1 h 489"/>
                <a:gd name="T58" fmla="*/ 1 w 310"/>
                <a:gd name="T59" fmla="*/ 1 h 489"/>
                <a:gd name="T60" fmla="*/ 1 w 310"/>
                <a:gd name="T61" fmla="*/ 1 h 489"/>
                <a:gd name="T62" fmla="*/ 1 w 310"/>
                <a:gd name="T63" fmla="*/ 1 h 489"/>
                <a:gd name="T64" fmla="*/ 1 w 310"/>
                <a:gd name="T65" fmla="*/ 1 h 489"/>
                <a:gd name="T66" fmla="*/ 1 w 310"/>
                <a:gd name="T67" fmla="*/ 1 h 489"/>
                <a:gd name="T68" fmla="*/ 1 w 310"/>
                <a:gd name="T69" fmla="*/ 1 h 489"/>
                <a:gd name="T70" fmla="*/ 1 w 310"/>
                <a:gd name="T71" fmla="*/ 1 h 489"/>
                <a:gd name="T72" fmla="*/ 1 w 310"/>
                <a:gd name="T73" fmla="*/ 1 h 489"/>
                <a:gd name="T74" fmla="*/ 1 w 310"/>
                <a:gd name="T75" fmla="*/ 0 h 489"/>
                <a:gd name="T76" fmla="*/ 1 w 310"/>
                <a:gd name="T77" fmla="*/ 0 h 489"/>
                <a:gd name="T78" fmla="*/ 1 w 310"/>
                <a:gd name="T79" fmla="*/ 0 h 489"/>
                <a:gd name="T80" fmla="*/ 1 w 310"/>
                <a:gd name="T81" fmla="*/ 0 h 489"/>
                <a:gd name="T82" fmla="*/ 1 w 310"/>
                <a:gd name="T83" fmla="*/ 0 h 489"/>
                <a:gd name="T84" fmla="*/ 1 w 310"/>
                <a:gd name="T85" fmla="*/ 0 h 489"/>
                <a:gd name="T86" fmla="*/ 1 w 310"/>
                <a:gd name="T87" fmla="*/ 0 h 489"/>
                <a:gd name="T88" fmla="*/ 1 w 310"/>
                <a:gd name="T89" fmla="*/ 0 h 489"/>
                <a:gd name="T90" fmla="*/ 1 w 310"/>
                <a:gd name="T91" fmla="*/ 0 h 489"/>
                <a:gd name="T92" fmla="*/ 1 w 310"/>
                <a:gd name="T93" fmla="*/ 0 h 489"/>
                <a:gd name="T94" fmla="*/ 1 w 310"/>
                <a:gd name="T95" fmla="*/ 0 h 489"/>
                <a:gd name="T96" fmla="*/ 1 w 310"/>
                <a:gd name="T97" fmla="*/ 0 h 489"/>
                <a:gd name="T98" fmla="*/ 2 w 310"/>
                <a:gd name="T99" fmla="*/ 0 h 489"/>
                <a:gd name="T100" fmla="*/ 2 w 310"/>
                <a:gd name="T101" fmla="*/ 0 h 489"/>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310" h="489">
                  <a:moveTo>
                    <a:pt x="308" y="34"/>
                  </a:moveTo>
                  <a:lnTo>
                    <a:pt x="310" y="32"/>
                  </a:lnTo>
                  <a:lnTo>
                    <a:pt x="308" y="29"/>
                  </a:lnTo>
                  <a:lnTo>
                    <a:pt x="302" y="27"/>
                  </a:lnTo>
                  <a:lnTo>
                    <a:pt x="298" y="25"/>
                  </a:lnTo>
                  <a:lnTo>
                    <a:pt x="291" y="23"/>
                  </a:lnTo>
                  <a:lnTo>
                    <a:pt x="285" y="21"/>
                  </a:lnTo>
                  <a:lnTo>
                    <a:pt x="278" y="17"/>
                  </a:lnTo>
                  <a:lnTo>
                    <a:pt x="270" y="15"/>
                  </a:lnTo>
                  <a:lnTo>
                    <a:pt x="262" y="13"/>
                  </a:lnTo>
                  <a:lnTo>
                    <a:pt x="255" y="11"/>
                  </a:lnTo>
                  <a:lnTo>
                    <a:pt x="249" y="10"/>
                  </a:lnTo>
                  <a:lnTo>
                    <a:pt x="243" y="10"/>
                  </a:lnTo>
                  <a:lnTo>
                    <a:pt x="238" y="8"/>
                  </a:lnTo>
                  <a:lnTo>
                    <a:pt x="234" y="6"/>
                  </a:lnTo>
                  <a:lnTo>
                    <a:pt x="228" y="6"/>
                  </a:lnTo>
                  <a:lnTo>
                    <a:pt x="224" y="4"/>
                  </a:lnTo>
                  <a:lnTo>
                    <a:pt x="219" y="4"/>
                  </a:lnTo>
                  <a:lnTo>
                    <a:pt x="213" y="4"/>
                  </a:lnTo>
                  <a:lnTo>
                    <a:pt x="209" y="2"/>
                  </a:lnTo>
                  <a:lnTo>
                    <a:pt x="203" y="0"/>
                  </a:lnTo>
                  <a:lnTo>
                    <a:pt x="198" y="0"/>
                  </a:lnTo>
                  <a:lnTo>
                    <a:pt x="192" y="0"/>
                  </a:lnTo>
                  <a:lnTo>
                    <a:pt x="186" y="0"/>
                  </a:lnTo>
                  <a:lnTo>
                    <a:pt x="181" y="0"/>
                  </a:lnTo>
                  <a:lnTo>
                    <a:pt x="175" y="0"/>
                  </a:lnTo>
                  <a:lnTo>
                    <a:pt x="169" y="0"/>
                  </a:lnTo>
                  <a:lnTo>
                    <a:pt x="163" y="0"/>
                  </a:lnTo>
                  <a:lnTo>
                    <a:pt x="158" y="0"/>
                  </a:lnTo>
                  <a:lnTo>
                    <a:pt x="152" y="0"/>
                  </a:lnTo>
                  <a:lnTo>
                    <a:pt x="146" y="2"/>
                  </a:lnTo>
                  <a:lnTo>
                    <a:pt x="141" y="2"/>
                  </a:lnTo>
                  <a:lnTo>
                    <a:pt x="135" y="4"/>
                  </a:lnTo>
                  <a:lnTo>
                    <a:pt x="129" y="4"/>
                  </a:lnTo>
                  <a:lnTo>
                    <a:pt x="124" y="6"/>
                  </a:lnTo>
                  <a:lnTo>
                    <a:pt x="118" y="6"/>
                  </a:lnTo>
                  <a:lnTo>
                    <a:pt x="112" y="8"/>
                  </a:lnTo>
                  <a:lnTo>
                    <a:pt x="108" y="10"/>
                  </a:lnTo>
                  <a:lnTo>
                    <a:pt x="103" y="11"/>
                  </a:lnTo>
                  <a:lnTo>
                    <a:pt x="97" y="13"/>
                  </a:lnTo>
                  <a:lnTo>
                    <a:pt x="91" y="17"/>
                  </a:lnTo>
                  <a:lnTo>
                    <a:pt x="86" y="19"/>
                  </a:lnTo>
                  <a:lnTo>
                    <a:pt x="82" y="23"/>
                  </a:lnTo>
                  <a:lnTo>
                    <a:pt x="76" y="27"/>
                  </a:lnTo>
                  <a:lnTo>
                    <a:pt x="70" y="29"/>
                  </a:lnTo>
                  <a:lnTo>
                    <a:pt x="65" y="32"/>
                  </a:lnTo>
                  <a:lnTo>
                    <a:pt x="61" y="36"/>
                  </a:lnTo>
                  <a:lnTo>
                    <a:pt x="55" y="40"/>
                  </a:lnTo>
                  <a:lnTo>
                    <a:pt x="51" y="46"/>
                  </a:lnTo>
                  <a:lnTo>
                    <a:pt x="46" y="51"/>
                  </a:lnTo>
                  <a:lnTo>
                    <a:pt x="42" y="55"/>
                  </a:lnTo>
                  <a:lnTo>
                    <a:pt x="38" y="61"/>
                  </a:lnTo>
                  <a:lnTo>
                    <a:pt x="34" y="67"/>
                  </a:lnTo>
                  <a:lnTo>
                    <a:pt x="30" y="72"/>
                  </a:lnTo>
                  <a:lnTo>
                    <a:pt x="27" y="78"/>
                  </a:lnTo>
                  <a:lnTo>
                    <a:pt x="23" y="86"/>
                  </a:lnTo>
                  <a:lnTo>
                    <a:pt x="19" y="93"/>
                  </a:lnTo>
                  <a:lnTo>
                    <a:pt x="15" y="101"/>
                  </a:lnTo>
                  <a:lnTo>
                    <a:pt x="13" y="108"/>
                  </a:lnTo>
                  <a:lnTo>
                    <a:pt x="10" y="116"/>
                  </a:lnTo>
                  <a:lnTo>
                    <a:pt x="6" y="126"/>
                  </a:lnTo>
                  <a:lnTo>
                    <a:pt x="4" y="135"/>
                  </a:lnTo>
                  <a:lnTo>
                    <a:pt x="2" y="143"/>
                  </a:lnTo>
                  <a:lnTo>
                    <a:pt x="0" y="152"/>
                  </a:lnTo>
                  <a:lnTo>
                    <a:pt x="0" y="160"/>
                  </a:lnTo>
                  <a:lnTo>
                    <a:pt x="0" y="169"/>
                  </a:lnTo>
                  <a:lnTo>
                    <a:pt x="0" y="179"/>
                  </a:lnTo>
                  <a:lnTo>
                    <a:pt x="0" y="186"/>
                  </a:lnTo>
                  <a:lnTo>
                    <a:pt x="0" y="194"/>
                  </a:lnTo>
                  <a:lnTo>
                    <a:pt x="2" y="203"/>
                  </a:lnTo>
                  <a:lnTo>
                    <a:pt x="4" y="213"/>
                  </a:lnTo>
                  <a:lnTo>
                    <a:pt x="6" y="221"/>
                  </a:lnTo>
                  <a:lnTo>
                    <a:pt x="6" y="230"/>
                  </a:lnTo>
                  <a:lnTo>
                    <a:pt x="10" y="238"/>
                  </a:lnTo>
                  <a:lnTo>
                    <a:pt x="13" y="247"/>
                  </a:lnTo>
                  <a:lnTo>
                    <a:pt x="15" y="255"/>
                  </a:lnTo>
                  <a:lnTo>
                    <a:pt x="19" y="262"/>
                  </a:lnTo>
                  <a:lnTo>
                    <a:pt x="23" y="270"/>
                  </a:lnTo>
                  <a:lnTo>
                    <a:pt x="27" y="279"/>
                  </a:lnTo>
                  <a:lnTo>
                    <a:pt x="30" y="287"/>
                  </a:lnTo>
                  <a:lnTo>
                    <a:pt x="34" y="295"/>
                  </a:lnTo>
                  <a:lnTo>
                    <a:pt x="38" y="302"/>
                  </a:lnTo>
                  <a:lnTo>
                    <a:pt x="44" y="310"/>
                  </a:lnTo>
                  <a:lnTo>
                    <a:pt x="48" y="317"/>
                  </a:lnTo>
                  <a:lnTo>
                    <a:pt x="53" y="325"/>
                  </a:lnTo>
                  <a:lnTo>
                    <a:pt x="59" y="333"/>
                  </a:lnTo>
                  <a:lnTo>
                    <a:pt x="63" y="340"/>
                  </a:lnTo>
                  <a:lnTo>
                    <a:pt x="68" y="346"/>
                  </a:lnTo>
                  <a:lnTo>
                    <a:pt x="74" y="354"/>
                  </a:lnTo>
                  <a:lnTo>
                    <a:pt x="80" y="361"/>
                  </a:lnTo>
                  <a:lnTo>
                    <a:pt x="86" y="369"/>
                  </a:lnTo>
                  <a:lnTo>
                    <a:pt x="91" y="375"/>
                  </a:lnTo>
                  <a:lnTo>
                    <a:pt x="97" y="380"/>
                  </a:lnTo>
                  <a:lnTo>
                    <a:pt x="103" y="388"/>
                  </a:lnTo>
                  <a:lnTo>
                    <a:pt x="108" y="394"/>
                  </a:lnTo>
                  <a:lnTo>
                    <a:pt x="112" y="399"/>
                  </a:lnTo>
                  <a:lnTo>
                    <a:pt x="118" y="405"/>
                  </a:lnTo>
                  <a:lnTo>
                    <a:pt x="124" y="411"/>
                  </a:lnTo>
                  <a:lnTo>
                    <a:pt x="129" y="418"/>
                  </a:lnTo>
                  <a:lnTo>
                    <a:pt x="135" y="422"/>
                  </a:lnTo>
                  <a:lnTo>
                    <a:pt x="139" y="426"/>
                  </a:lnTo>
                  <a:lnTo>
                    <a:pt x="144" y="432"/>
                  </a:lnTo>
                  <a:lnTo>
                    <a:pt x="150" y="437"/>
                  </a:lnTo>
                  <a:lnTo>
                    <a:pt x="156" y="441"/>
                  </a:lnTo>
                  <a:lnTo>
                    <a:pt x="160" y="447"/>
                  </a:lnTo>
                  <a:lnTo>
                    <a:pt x="165" y="451"/>
                  </a:lnTo>
                  <a:lnTo>
                    <a:pt x="171" y="454"/>
                  </a:lnTo>
                  <a:lnTo>
                    <a:pt x="179" y="462"/>
                  </a:lnTo>
                  <a:lnTo>
                    <a:pt x="186" y="470"/>
                  </a:lnTo>
                  <a:lnTo>
                    <a:pt x="194" y="473"/>
                  </a:lnTo>
                  <a:lnTo>
                    <a:pt x="201" y="479"/>
                  </a:lnTo>
                  <a:lnTo>
                    <a:pt x="205" y="483"/>
                  </a:lnTo>
                  <a:lnTo>
                    <a:pt x="209" y="487"/>
                  </a:lnTo>
                  <a:lnTo>
                    <a:pt x="211" y="489"/>
                  </a:lnTo>
                  <a:lnTo>
                    <a:pt x="213" y="489"/>
                  </a:lnTo>
                  <a:lnTo>
                    <a:pt x="230" y="462"/>
                  </a:lnTo>
                  <a:lnTo>
                    <a:pt x="228" y="460"/>
                  </a:lnTo>
                  <a:lnTo>
                    <a:pt x="226" y="458"/>
                  </a:lnTo>
                  <a:lnTo>
                    <a:pt x="222" y="454"/>
                  </a:lnTo>
                  <a:lnTo>
                    <a:pt x="219" y="451"/>
                  </a:lnTo>
                  <a:lnTo>
                    <a:pt x="211" y="445"/>
                  </a:lnTo>
                  <a:lnTo>
                    <a:pt x="205" y="437"/>
                  </a:lnTo>
                  <a:lnTo>
                    <a:pt x="198" y="428"/>
                  </a:lnTo>
                  <a:lnTo>
                    <a:pt x="190" y="420"/>
                  </a:lnTo>
                  <a:lnTo>
                    <a:pt x="186" y="414"/>
                  </a:lnTo>
                  <a:lnTo>
                    <a:pt x="182" y="409"/>
                  </a:lnTo>
                  <a:lnTo>
                    <a:pt x="177" y="403"/>
                  </a:lnTo>
                  <a:lnTo>
                    <a:pt x="173" y="399"/>
                  </a:lnTo>
                  <a:lnTo>
                    <a:pt x="167" y="394"/>
                  </a:lnTo>
                  <a:lnTo>
                    <a:pt x="162" y="388"/>
                  </a:lnTo>
                  <a:lnTo>
                    <a:pt x="158" y="380"/>
                  </a:lnTo>
                  <a:lnTo>
                    <a:pt x="154" y="375"/>
                  </a:lnTo>
                  <a:lnTo>
                    <a:pt x="148" y="367"/>
                  </a:lnTo>
                  <a:lnTo>
                    <a:pt x="143" y="361"/>
                  </a:lnTo>
                  <a:lnTo>
                    <a:pt x="137" y="356"/>
                  </a:lnTo>
                  <a:lnTo>
                    <a:pt x="133" y="348"/>
                  </a:lnTo>
                  <a:lnTo>
                    <a:pt x="127" y="340"/>
                  </a:lnTo>
                  <a:lnTo>
                    <a:pt x="122" y="335"/>
                  </a:lnTo>
                  <a:lnTo>
                    <a:pt x="118" y="329"/>
                  </a:lnTo>
                  <a:lnTo>
                    <a:pt x="112" y="321"/>
                  </a:lnTo>
                  <a:lnTo>
                    <a:pt x="108" y="314"/>
                  </a:lnTo>
                  <a:lnTo>
                    <a:pt x="103" y="308"/>
                  </a:lnTo>
                  <a:lnTo>
                    <a:pt x="97" y="298"/>
                  </a:lnTo>
                  <a:lnTo>
                    <a:pt x="93" y="293"/>
                  </a:lnTo>
                  <a:lnTo>
                    <a:pt x="87" y="285"/>
                  </a:lnTo>
                  <a:lnTo>
                    <a:pt x="84" y="278"/>
                  </a:lnTo>
                  <a:lnTo>
                    <a:pt x="80" y="270"/>
                  </a:lnTo>
                  <a:lnTo>
                    <a:pt x="76" y="264"/>
                  </a:lnTo>
                  <a:lnTo>
                    <a:pt x="72" y="257"/>
                  </a:lnTo>
                  <a:lnTo>
                    <a:pt x="68" y="249"/>
                  </a:lnTo>
                  <a:lnTo>
                    <a:pt x="65" y="241"/>
                  </a:lnTo>
                  <a:lnTo>
                    <a:pt x="61" y="236"/>
                  </a:lnTo>
                  <a:lnTo>
                    <a:pt x="59" y="228"/>
                  </a:lnTo>
                  <a:lnTo>
                    <a:pt x="55" y="221"/>
                  </a:lnTo>
                  <a:lnTo>
                    <a:pt x="53" y="213"/>
                  </a:lnTo>
                  <a:lnTo>
                    <a:pt x="51" y="207"/>
                  </a:lnTo>
                  <a:lnTo>
                    <a:pt x="49" y="200"/>
                  </a:lnTo>
                  <a:lnTo>
                    <a:pt x="48" y="194"/>
                  </a:lnTo>
                  <a:lnTo>
                    <a:pt x="46" y="186"/>
                  </a:lnTo>
                  <a:lnTo>
                    <a:pt x="44" y="181"/>
                  </a:lnTo>
                  <a:lnTo>
                    <a:pt x="44" y="173"/>
                  </a:lnTo>
                  <a:lnTo>
                    <a:pt x="44" y="167"/>
                  </a:lnTo>
                  <a:lnTo>
                    <a:pt x="44" y="162"/>
                  </a:lnTo>
                  <a:lnTo>
                    <a:pt x="44" y="156"/>
                  </a:lnTo>
                  <a:lnTo>
                    <a:pt x="44" y="150"/>
                  </a:lnTo>
                  <a:lnTo>
                    <a:pt x="46" y="145"/>
                  </a:lnTo>
                  <a:lnTo>
                    <a:pt x="48" y="139"/>
                  </a:lnTo>
                  <a:lnTo>
                    <a:pt x="49" y="135"/>
                  </a:lnTo>
                  <a:lnTo>
                    <a:pt x="55" y="126"/>
                  </a:lnTo>
                  <a:lnTo>
                    <a:pt x="65" y="118"/>
                  </a:lnTo>
                  <a:lnTo>
                    <a:pt x="72" y="108"/>
                  </a:lnTo>
                  <a:lnTo>
                    <a:pt x="82" y="101"/>
                  </a:lnTo>
                  <a:lnTo>
                    <a:pt x="89" y="93"/>
                  </a:lnTo>
                  <a:lnTo>
                    <a:pt x="101" y="88"/>
                  </a:lnTo>
                  <a:lnTo>
                    <a:pt x="108" y="82"/>
                  </a:lnTo>
                  <a:lnTo>
                    <a:pt x="120" y="78"/>
                  </a:lnTo>
                  <a:lnTo>
                    <a:pt x="124" y="74"/>
                  </a:lnTo>
                  <a:lnTo>
                    <a:pt x="129" y="72"/>
                  </a:lnTo>
                  <a:lnTo>
                    <a:pt x="135" y="70"/>
                  </a:lnTo>
                  <a:lnTo>
                    <a:pt x="141" y="69"/>
                  </a:lnTo>
                  <a:lnTo>
                    <a:pt x="150" y="63"/>
                  </a:lnTo>
                  <a:lnTo>
                    <a:pt x="160" y="59"/>
                  </a:lnTo>
                  <a:lnTo>
                    <a:pt x="163" y="57"/>
                  </a:lnTo>
                  <a:lnTo>
                    <a:pt x="169" y="55"/>
                  </a:lnTo>
                  <a:lnTo>
                    <a:pt x="175" y="53"/>
                  </a:lnTo>
                  <a:lnTo>
                    <a:pt x="181" y="53"/>
                  </a:lnTo>
                  <a:lnTo>
                    <a:pt x="190" y="50"/>
                  </a:lnTo>
                  <a:lnTo>
                    <a:pt x="200" y="48"/>
                  </a:lnTo>
                  <a:lnTo>
                    <a:pt x="205" y="46"/>
                  </a:lnTo>
                  <a:lnTo>
                    <a:pt x="209" y="44"/>
                  </a:lnTo>
                  <a:lnTo>
                    <a:pt x="215" y="44"/>
                  </a:lnTo>
                  <a:lnTo>
                    <a:pt x="221" y="44"/>
                  </a:lnTo>
                  <a:lnTo>
                    <a:pt x="228" y="40"/>
                  </a:lnTo>
                  <a:lnTo>
                    <a:pt x="238" y="40"/>
                  </a:lnTo>
                  <a:lnTo>
                    <a:pt x="245" y="38"/>
                  </a:lnTo>
                  <a:lnTo>
                    <a:pt x="255" y="38"/>
                  </a:lnTo>
                  <a:lnTo>
                    <a:pt x="260" y="36"/>
                  </a:lnTo>
                  <a:lnTo>
                    <a:pt x="268" y="34"/>
                  </a:lnTo>
                  <a:lnTo>
                    <a:pt x="276" y="34"/>
                  </a:lnTo>
                  <a:lnTo>
                    <a:pt x="283" y="34"/>
                  </a:lnTo>
                  <a:lnTo>
                    <a:pt x="287" y="34"/>
                  </a:lnTo>
                  <a:lnTo>
                    <a:pt x="293" y="34"/>
                  </a:lnTo>
                  <a:lnTo>
                    <a:pt x="297" y="34"/>
                  </a:lnTo>
                  <a:lnTo>
                    <a:pt x="300" y="34"/>
                  </a:lnTo>
                  <a:lnTo>
                    <a:pt x="306" y="34"/>
                  </a:lnTo>
                  <a:lnTo>
                    <a:pt x="308" y="34"/>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8" name="Freeform 27"/>
            <p:cNvSpPr>
              <a:spLocks/>
            </p:cNvSpPr>
            <p:nvPr/>
          </p:nvSpPr>
          <p:spPr bwMode="auto">
            <a:xfrm>
              <a:off x="5012" y="3204"/>
              <a:ext cx="151" cy="37"/>
            </a:xfrm>
            <a:custGeom>
              <a:avLst/>
              <a:gdLst>
                <a:gd name="T0" fmla="*/ 1 w 302"/>
                <a:gd name="T1" fmla="*/ 0 h 75"/>
                <a:gd name="T2" fmla="*/ 1 w 302"/>
                <a:gd name="T3" fmla="*/ 0 h 75"/>
                <a:gd name="T4" fmla="*/ 1 w 302"/>
                <a:gd name="T5" fmla="*/ 0 h 75"/>
                <a:gd name="T6" fmla="*/ 1 w 302"/>
                <a:gd name="T7" fmla="*/ 0 h 75"/>
                <a:gd name="T8" fmla="*/ 0 w 302"/>
                <a:gd name="T9" fmla="*/ 0 h 75"/>
                <a:gd name="T10" fmla="*/ 1 w 302"/>
                <a:gd name="T11" fmla="*/ 0 h 75"/>
                <a:gd name="T12" fmla="*/ 1 w 302"/>
                <a:gd name="T13" fmla="*/ 0 h 75"/>
                <a:gd name="T14" fmla="*/ 1 w 302"/>
                <a:gd name="T15" fmla="*/ 0 h 75"/>
                <a:gd name="T16" fmla="*/ 1 w 302"/>
                <a:gd name="T17" fmla="*/ 0 h 75"/>
                <a:gd name="T18" fmla="*/ 1 w 302"/>
                <a:gd name="T19" fmla="*/ 0 h 75"/>
                <a:gd name="T20" fmla="*/ 1 w 302"/>
                <a:gd name="T21" fmla="*/ 0 h 75"/>
                <a:gd name="T22" fmla="*/ 1 w 302"/>
                <a:gd name="T23" fmla="*/ 0 h 75"/>
                <a:gd name="T24" fmla="*/ 1 w 302"/>
                <a:gd name="T25" fmla="*/ 0 h 75"/>
                <a:gd name="T26" fmla="*/ 1 w 302"/>
                <a:gd name="T27" fmla="*/ 0 h 75"/>
                <a:gd name="T28" fmla="*/ 1 w 302"/>
                <a:gd name="T29" fmla="*/ 0 h 75"/>
                <a:gd name="T30" fmla="*/ 1 w 302"/>
                <a:gd name="T31" fmla="*/ 0 h 75"/>
                <a:gd name="T32" fmla="*/ 1 w 302"/>
                <a:gd name="T33" fmla="*/ 0 h 75"/>
                <a:gd name="T34" fmla="*/ 1 w 302"/>
                <a:gd name="T35" fmla="*/ 0 h 75"/>
                <a:gd name="T36" fmla="*/ 1 w 302"/>
                <a:gd name="T37" fmla="*/ 0 h 75"/>
                <a:gd name="T38" fmla="*/ 1 w 302"/>
                <a:gd name="T39" fmla="*/ 0 h 75"/>
                <a:gd name="T40" fmla="*/ 1 w 302"/>
                <a:gd name="T41" fmla="*/ 0 h 75"/>
                <a:gd name="T42" fmla="*/ 1 w 302"/>
                <a:gd name="T43" fmla="*/ 0 h 75"/>
                <a:gd name="T44" fmla="*/ 1 w 302"/>
                <a:gd name="T45" fmla="*/ 0 h 75"/>
                <a:gd name="T46" fmla="*/ 1 w 302"/>
                <a:gd name="T47" fmla="*/ 0 h 75"/>
                <a:gd name="T48" fmla="*/ 1 w 302"/>
                <a:gd name="T49" fmla="*/ 0 h 75"/>
                <a:gd name="T50" fmla="*/ 1 w 302"/>
                <a:gd name="T51" fmla="*/ 0 h 75"/>
                <a:gd name="T52" fmla="*/ 1 w 302"/>
                <a:gd name="T53" fmla="*/ 0 h 75"/>
                <a:gd name="T54" fmla="*/ 2 w 302"/>
                <a:gd name="T55" fmla="*/ 0 h 75"/>
                <a:gd name="T56" fmla="*/ 2 w 302"/>
                <a:gd name="T57" fmla="*/ 0 h 75"/>
                <a:gd name="T58" fmla="*/ 2 w 302"/>
                <a:gd name="T59" fmla="*/ 0 h 75"/>
                <a:gd name="T60" fmla="*/ 2 w 302"/>
                <a:gd name="T61" fmla="*/ 0 h 75"/>
                <a:gd name="T62" fmla="*/ 2 w 302"/>
                <a:gd name="T63" fmla="*/ 0 h 75"/>
                <a:gd name="T64" fmla="*/ 2 w 302"/>
                <a:gd name="T65" fmla="*/ 0 h 75"/>
                <a:gd name="T66" fmla="*/ 2 w 302"/>
                <a:gd name="T67" fmla="*/ 0 h 75"/>
                <a:gd name="T68" fmla="*/ 2 w 302"/>
                <a:gd name="T69" fmla="*/ 0 h 75"/>
                <a:gd name="T70" fmla="*/ 1 w 302"/>
                <a:gd name="T71" fmla="*/ 0 h 75"/>
                <a:gd name="T72" fmla="*/ 1 w 302"/>
                <a:gd name="T73" fmla="*/ 0 h 75"/>
                <a:gd name="T74" fmla="*/ 1 w 302"/>
                <a:gd name="T75" fmla="*/ 0 h 75"/>
                <a:gd name="T76" fmla="*/ 1 w 302"/>
                <a:gd name="T77" fmla="*/ 0 h 75"/>
                <a:gd name="T78" fmla="*/ 1 w 302"/>
                <a:gd name="T79" fmla="*/ 0 h 75"/>
                <a:gd name="T80" fmla="*/ 1 w 302"/>
                <a:gd name="T81" fmla="*/ 0 h 75"/>
                <a:gd name="T82" fmla="*/ 1 w 302"/>
                <a:gd name="T83" fmla="*/ 0 h 75"/>
                <a:gd name="T84" fmla="*/ 1 w 302"/>
                <a:gd name="T85" fmla="*/ 0 h 75"/>
                <a:gd name="T86" fmla="*/ 1 w 302"/>
                <a:gd name="T87" fmla="*/ 0 h 75"/>
                <a:gd name="T88" fmla="*/ 1 w 302"/>
                <a:gd name="T89" fmla="*/ 0 h 75"/>
                <a:gd name="T90" fmla="*/ 1 w 302"/>
                <a:gd name="T91" fmla="*/ 0 h 75"/>
                <a:gd name="T92" fmla="*/ 1 w 302"/>
                <a:gd name="T93" fmla="*/ 0 h 75"/>
                <a:gd name="T94" fmla="*/ 1 w 302"/>
                <a:gd name="T95" fmla="*/ 0 h 75"/>
                <a:gd name="T96" fmla="*/ 1 w 302"/>
                <a:gd name="T97" fmla="*/ 0 h 75"/>
                <a:gd name="T98" fmla="*/ 1 w 302"/>
                <a:gd name="T99" fmla="*/ 0 h 75"/>
                <a:gd name="T100" fmla="*/ 1 w 302"/>
                <a:gd name="T101" fmla="*/ 0 h 75"/>
                <a:gd name="T102" fmla="*/ 1 w 302"/>
                <a:gd name="T103" fmla="*/ 0 h 75"/>
                <a:gd name="T104" fmla="*/ 1 w 302"/>
                <a:gd name="T105" fmla="*/ 0 h 75"/>
                <a:gd name="T106" fmla="*/ 1 w 302"/>
                <a:gd name="T107" fmla="*/ 0 h 75"/>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302" h="75">
                  <a:moveTo>
                    <a:pt x="47" y="0"/>
                  </a:moveTo>
                  <a:lnTo>
                    <a:pt x="44" y="0"/>
                  </a:lnTo>
                  <a:lnTo>
                    <a:pt x="38" y="2"/>
                  </a:lnTo>
                  <a:lnTo>
                    <a:pt x="32" y="4"/>
                  </a:lnTo>
                  <a:lnTo>
                    <a:pt x="27" y="6"/>
                  </a:lnTo>
                  <a:lnTo>
                    <a:pt x="23" y="10"/>
                  </a:lnTo>
                  <a:lnTo>
                    <a:pt x="19" y="14"/>
                  </a:lnTo>
                  <a:lnTo>
                    <a:pt x="9" y="19"/>
                  </a:lnTo>
                  <a:lnTo>
                    <a:pt x="2" y="27"/>
                  </a:lnTo>
                  <a:lnTo>
                    <a:pt x="0" y="33"/>
                  </a:lnTo>
                  <a:lnTo>
                    <a:pt x="2" y="37"/>
                  </a:lnTo>
                  <a:lnTo>
                    <a:pt x="2" y="42"/>
                  </a:lnTo>
                  <a:lnTo>
                    <a:pt x="8" y="48"/>
                  </a:lnTo>
                  <a:lnTo>
                    <a:pt x="9" y="50"/>
                  </a:lnTo>
                  <a:lnTo>
                    <a:pt x="13" y="54"/>
                  </a:lnTo>
                  <a:lnTo>
                    <a:pt x="19" y="56"/>
                  </a:lnTo>
                  <a:lnTo>
                    <a:pt x="25" y="59"/>
                  </a:lnTo>
                  <a:lnTo>
                    <a:pt x="32" y="61"/>
                  </a:lnTo>
                  <a:lnTo>
                    <a:pt x="42" y="63"/>
                  </a:lnTo>
                  <a:lnTo>
                    <a:pt x="46" y="63"/>
                  </a:lnTo>
                  <a:lnTo>
                    <a:pt x="49" y="65"/>
                  </a:lnTo>
                  <a:lnTo>
                    <a:pt x="55" y="65"/>
                  </a:lnTo>
                  <a:lnTo>
                    <a:pt x="61" y="67"/>
                  </a:lnTo>
                  <a:lnTo>
                    <a:pt x="66" y="67"/>
                  </a:lnTo>
                  <a:lnTo>
                    <a:pt x="72" y="67"/>
                  </a:lnTo>
                  <a:lnTo>
                    <a:pt x="76" y="69"/>
                  </a:lnTo>
                  <a:lnTo>
                    <a:pt x="82" y="69"/>
                  </a:lnTo>
                  <a:lnTo>
                    <a:pt x="87" y="69"/>
                  </a:lnTo>
                  <a:lnTo>
                    <a:pt x="95" y="71"/>
                  </a:lnTo>
                  <a:lnTo>
                    <a:pt x="101" y="71"/>
                  </a:lnTo>
                  <a:lnTo>
                    <a:pt x="106" y="71"/>
                  </a:lnTo>
                  <a:lnTo>
                    <a:pt x="112" y="71"/>
                  </a:lnTo>
                  <a:lnTo>
                    <a:pt x="120" y="71"/>
                  </a:lnTo>
                  <a:lnTo>
                    <a:pt x="125" y="73"/>
                  </a:lnTo>
                  <a:lnTo>
                    <a:pt x="133" y="75"/>
                  </a:lnTo>
                  <a:lnTo>
                    <a:pt x="139" y="75"/>
                  </a:lnTo>
                  <a:lnTo>
                    <a:pt x="146" y="75"/>
                  </a:lnTo>
                  <a:lnTo>
                    <a:pt x="152" y="75"/>
                  </a:lnTo>
                  <a:lnTo>
                    <a:pt x="160" y="75"/>
                  </a:lnTo>
                  <a:lnTo>
                    <a:pt x="165" y="75"/>
                  </a:lnTo>
                  <a:lnTo>
                    <a:pt x="171" y="75"/>
                  </a:lnTo>
                  <a:lnTo>
                    <a:pt x="177" y="75"/>
                  </a:lnTo>
                  <a:lnTo>
                    <a:pt x="184" y="75"/>
                  </a:lnTo>
                  <a:lnTo>
                    <a:pt x="190" y="75"/>
                  </a:lnTo>
                  <a:lnTo>
                    <a:pt x="196" y="75"/>
                  </a:lnTo>
                  <a:lnTo>
                    <a:pt x="201" y="75"/>
                  </a:lnTo>
                  <a:lnTo>
                    <a:pt x="209" y="75"/>
                  </a:lnTo>
                  <a:lnTo>
                    <a:pt x="215" y="75"/>
                  </a:lnTo>
                  <a:lnTo>
                    <a:pt x="220" y="75"/>
                  </a:lnTo>
                  <a:lnTo>
                    <a:pt x="226" y="75"/>
                  </a:lnTo>
                  <a:lnTo>
                    <a:pt x="232" y="75"/>
                  </a:lnTo>
                  <a:lnTo>
                    <a:pt x="238" y="75"/>
                  </a:lnTo>
                  <a:lnTo>
                    <a:pt x="243" y="75"/>
                  </a:lnTo>
                  <a:lnTo>
                    <a:pt x="249" y="75"/>
                  </a:lnTo>
                  <a:lnTo>
                    <a:pt x="253" y="75"/>
                  </a:lnTo>
                  <a:lnTo>
                    <a:pt x="262" y="75"/>
                  </a:lnTo>
                  <a:lnTo>
                    <a:pt x="272" y="73"/>
                  </a:lnTo>
                  <a:lnTo>
                    <a:pt x="277" y="71"/>
                  </a:lnTo>
                  <a:lnTo>
                    <a:pt x="285" y="71"/>
                  </a:lnTo>
                  <a:lnTo>
                    <a:pt x="291" y="71"/>
                  </a:lnTo>
                  <a:lnTo>
                    <a:pt x="296" y="69"/>
                  </a:lnTo>
                  <a:lnTo>
                    <a:pt x="298" y="69"/>
                  </a:lnTo>
                  <a:lnTo>
                    <a:pt x="302" y="67"/>
                  </a:lnTo>
                  <a:lnTo>
                    <a:pt x="300" y="63"/>
                  </a:lnTo>
                  <a:lnTo>
                    <a:pt x="295" y="59"/>
                  </a:lnTo>
                  <a:lnTo>
                    <a:pt x="287" y="56"/>
                  </a:lnTo>
                  <a:lnTo>
                    <a:pt x="281" y="54"/>
                  </a:lnTo>
                  <a:lnTo>
                    <a:pt x="274" y="52"/>
                  </a:lnTo>
                  <a:lnTo>
                    <a:pt x="266" y="50"/>
                  </a:lnTo>
                  <a:lnTo>
                    <a:pt x="260" y="48"/>
                  </a:lnTo>
                  <a:lnTo>
                    <a:pt x="257" y="48"/>
                  </a:lnTo>
                  <a:lnTo>
                    <a:pt x="251" y="44"/>
                  </a:lnTo>
                  <a:lnTo>
                    <a:pt x="247" y="44"/>
                  </a:lnTo>
                  <a:lnTo>
                    <a:pt x="241" y="42"/>
                  </a:lnTo>
                  <a:lnTo>
                    <a:pt x="236" y="42"/>
                  </a:lnTo>
                  <a:lnTo>
                    <a:pt x="230" y="40"/>
                  </a:lnTo>
                  <a:lnTo>
                    <a:pt x="226" y="38"/>
                  </a:lnTo>
                  <a:lnTo>
                    <a:pt x="219" y="37"/>
                  </a:lnTo>
                  <a:lnTo>
                    <a:pt x="213" y="37"/>
                  </a:lnTo>
                  <a:lnTo>
                    <a:pt x="207" y="35"/>
                  </a:lnTo>
                  <a:lnTo>
                    <a:pt x="201" y="33"/>
                  </a:lnTo>
                  <a:lnTo>
                    <a:pt x="196" y="31"/>
                  </a:lnTo>
                  <a:lnTo>
                    <a:pt x="190" y="31"/>
                  </a:lnTo>
                  <a:lnTo>
                    <a:pt x="184" y="29"/>
                  </a:lnTo>
                  <a:lnTo>
                    <a:pt x="179" y="27"/>
                  </a:lnTo>
                  <a:lnTo>
                    <a:pt x="173" y="25"/>
                  </a:lnTo>
                  <a:lnTo>
                    <a:pt x="165" y="25"/>
                  </a:lnTo>
                  <a:lnTo>
                    <a:pt x="160" y="23"/>
                  </a:lnTo>
                  <a:lnTo>
                    <a:pt x="154" y="21"/>
                  </a:lnTo>
                  <a:lnTo>
                    <a:pt x="148" y="21"/>
                  </a:lnTo>
                  <a:lnTo>
                    <a:pt x="141" y="19"/>
                  </a:lnTo>
                  <a:lnTo>
                    <a:pt x="135" y="18"/>
                  </a:lnTo>
                  <a:lnTo>
                    <a:pt x="129" y="18"/>
                  </a:lnTo>
                  <a:lnTo>
                    <a:pt x="124" y="16"/>
                  </a:lnTo>
                  <a:lnTo>
                    <a:pt x="118" y="14"/>
                  </a:lnTo>
                  <a:lnTo>
                    <a:pt x="112" y="12"/>
                  </a:lnTo>
                  <a:lnTo>
                    <a:pt x="106" y="12"/>
                  </a:lnTo>
                  <a:lnTo>
                    <a:pt x="101" y="10"/>
                  </a:lnTo>
                  <a:lnTo>
                    <a:pt x="97" y="10"/>
                  </a:lnTo>
                  <a:lnTo>
                    <a:pt x="91" y="8"/>
                  </a:lnTo>
                  <a:lnTo>
                    <a:pt x="87" y="8"/>
                  </a:lnTo>
                  <a:lnTo>
                    <a:pt x="78" y="6"/>
                  </a:lnTo>
                  <a:lnTo>
                    <a:pt x="72" y="4"/>
                  </a:lnTo>
                  <a:lnTo>
                    <a:pt x="65" y="2"/>
                  </a:lnTo>
                  <a:lnTo>
                    <a:pt x="59" y="2"/>
                  </a:lnTo>
                  <a:lnTo>
                    <a:pt x="53" y="0"/>
                  </a:lnTo>
                  <a:lnTo>
                    <a:pt x="49" y="0"/>
                  </a:lnTo>
                  <a:lnTo>
                    <a:pt x="47"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29" name="Freeform 28"/>
            <p:cNvSpPr>
              <a:spLocks/>
            </p:cNvSpPr>
            <p:nvPr/>
          </p:nvSpPr>
          <p:spPr bwMode="auto">
            <a:xfrm>
              <a:off x="5030" y="3158"/>
              <a:ext cx="141" cy="71"/>
            </a:xfrm>
            <a:custGeom>
              <a:avLst/>
              <a:gdLst>
                <a:gd name="T0" fmla="*/ 1 w 281"/>
                <a:gd name="T1" fmla="*/ 0 h 143"/>
                <a:gd name="T2" fmla="*/ 1 w 281"/>
                <a:gd name="T3" fmla="*/ 0 h 143"/>
                <a:gd name="T4" fmla="*/ 1 w 281"/>
                <a:gd name="T5" fmla="*/ 0 h 143"/>
                <a:gd name="T6" fmla="*/ 0 w 281"/>
                <a:gd name="T7" fmla="*/ 0 h 143"/>
                <a:gd name="T8" fmla="*/ 1 w 281"/>
                <a:gd name="T9" fmla="*/ 0 h 143"/>
                <a:gd name="T10" fmla="*/ 1 w 281"/>
                <a:gd name="T11" fmla="*/ 0 h 143"/>
                <a:gd name="T12" fmla="*/ 1 w 281"/>
                <a:gd name="T13" fmla="*/ 0 h 143"/>
                <a:gd name="T14" fmla="*/ 1 w 281"/>
                <a:gd name="T15" fmla="*/ 0 h 143"/>
                <a:gd name="T16" fmla="*/ 1 w 281"/>
                <a:gd name="T17" fmla="*/ 0 h 143"/>
                <a:gd name="T18" fmla="*/ 1 w 281"/>
                <a:gd name="T19" fmla="*/ 0 h 143"/>
                <a:gd name="T20" fmla="*/ 1 w 281"/>
                <a:gd name="T21" fmla="*/ 0 h 143"/>
                <a:gd name="T22" fmla="*/ 1 w 281"/>
                <a:gd name="T23" fmla="*/ 0 h 143"/>
                <a:gd name="T24" fmla="*/ 1 w 281"/>
                <a:gd name="T25" fmla="*/ 0 h 143"/>
                <a:gd name="T26" fmla="*/ 1 w 281"/>
                <a:gd name="T27" fmla="*/ 0 h 143"/>
                <a:gd name="T28" fmla="*/ 1 w 281"/>
                <a:gd name="T29" fmla="*/ 0 h 143"/>
                <a:gd name="T30" fmla="*/ 1 w 281"/>
                <a:gd name="T31" fmla="*/ 0 h 143"/>
                <a:gd name="T32" fmla="*/ 1 w 281"/>
                <a:gd name="T33" fmla="*/ 0 h 143"/>
                <a:gd name="T34" fmla="*/ 1 w 281"/>
                <a:gd name="T35" fmla="*/ 0 h 143"/>
                <a:gd name="T36" fmla="*/ 1 w 281"/>
                <a:gd name="T37" fmla="*/ 0 h 143"/>
                <a:gd name="T38" fmla="*/ 1 w 281"/>
                <a:gd name="T39" fmla="*/ 0 h 143"/>
                <a:gd name="T40" fmla="*/ 1 w 281"/>
                <a:gd name="T41" fmla="*/ 0 h 143"/>
                <a:gd name="T42" fmla="*/ 1 w 281"/>
                <a:gd name="T43" fmla="*/ 0 h 143"/>
                <a:gd name="T44" fmla="*/ 1 w 281"/>
                <a:gd name="T45" fmla="*/ 0 h 143"/>
                <a:gd name="T46" fmla="*/ 1 w 281"/>
                <a:gd name="T47" fmla="*/ 0 h 143"/>
                <a:gd name="T48" fmla="*/ 1 w 281"/>
                <a:gd name="T49" fmla="*/ 0 h 143"/>
                <a:gd name="T50" fmla="*/ 2 w 281"/>
                <a:gd name="T51" fmla="*/ 0 h 143"/>
                <a:gd name="T52" fmla="*/ 2 w 281"/>
                <a:gd name="T53" fmla="*/ 0 h 143"/>
                <a:gd name="T54" fmla="*/ 2 w 281"/>
                <a:gd name="T55" fmla="*/ 0 h 143"/>
                <a:gd name="T56" fmla="*/ 2 w 281"/>
                <a:gd name="T57" fmla="*/ 0 h 143"/>
                <a:gd name="T58" fmla="*/ 2 w 281"/>
                <a:gd name="T59" fmla="*/ 0 h 143"/>
                <a:gd name="T60" fmla="*/ 2 w 281"/>
                <a:gd name="T61" fmla="*/ 0 h 143"/>
                <a:gd name="T62" fmla="*/ 2 w 281"/>
                <a:gd name="T63" fmla="*/ 0 h 143"/>
                <a:gd name="T64" fmla="*/ 2 w 281"/>
                <a:gd name="T65" fmla="*/ 0 h 143"/>
                <a:gd name="T66" fmla="*/ 2 w 281"/>
                <a:gd name="T67" fmla="*/ 0 h 143"/>
                <a:gd name="T68" fmla="*/ 1 w 281"/>
                <a:gd name="T69" fmla="*/ 0 h 143"/>
                <a:gd name="T70" fmla="*/ 1 w 281"/>
                <a:gd name="T71" fmla="*/ 0 h 143"/>
                <a:gd name="T72" fmla="*/ 1 w 281"/>
                <a:gd name="T73" fmla="*/ 0 h 143"/>
                <a:gd name="T74" fmla="*/ 1 w 281"/>
                <a:gd name="T75" fmla="*/ 0 h 143"/>
                <a:gd name="T76" fmla="*/ 1 w 281"/>
                <a:gd name="T77" fmla="*/ 0 h 143"/>
                <a:gd name="T78" fmla="*/ 1 w 281"/>
                <a:gd name="T79" fmla="*/ 0 h 143"/>
                <a:gd name="T80" fmla="*/ 1 w 281"/>
                <a:gd name="T81" fmla="*/ 0 h 143"/>
                <a:gd name="T82" fmla="*/ 1 w 281"/>
                <a:gd name="T83" fmla="*/ 0 h 143"/>
                <a:gd name="T84" fmla="*/ 1 w 281"/>
                <a:gd name="T85" fmla="*/ 0 h 143"/>
                <a:gd name="T86" fmla="*/ 1 w 281"/>
                <a:gd name="T87" fmla="*/ 0 h 143"/>
                <a:gd name="T88" fmla="*/ 1 w 281"/>
                <a:gd name="T89" fmla="*/ 0 h 143"/>
                <a:gd name="T90" fmla="*/ 1 w 281"/>
                <a:gd name="T91" fmla="*/ 0 h 143"/>
                <a:gd name="T92" fmla="*/ 1 w 281"/>
                <a:gd name="T93" fmla="*/ 0 h 143"/>
                <a:gd name="T94" fmla="*/ 1 w 281"/>
                <a:gd name="T95" fmla="*/ 0 h 143"/>
                <a:gd name="T96" fmla="*/ 1 w 281"/>
                <a:gd name="T97" fmla="*/ 0 h 143"/>
                <a:gd name="T98" fmla="*/ 1 w 281"/>
                <a:gd name="T99" fmla="*/ 0 h 143"/>
                <a:gd name="T100" fmla="*/ 1 w 281"/>
                <a:gd name="T101" fmla="*/ 0 h 143"/>
                <a:gd name="T102" fmla="*/ 1 w 281"/>
                <a:gd name="T103" fmla="*/ 0 h 143"/>
                <a:gd name="T104" fmla="*/ 1 w 281"/>
                <a:gd name="T105" fmla="*/ 0 h 143"/>
                <a:gd name="T106" fmla="*/ 1 w 281"/>
                <a:gd name="T107" fmla="*/ 0 h 143"/>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81" h="143">
                  <a:moveTo>
                    <a:pt x="10" y="112"/>
                  </a:moveTo>
                  <a:lnTo>
                    <a:pt x="10" y="112"/>
                  </a:lnTo>
                  <a:lnTo>
                    <a:pt x="8" y="110"/>
                  </a:lnTo>
                  <a:lnTo>
                    <a:pt x="6" y="105"/>
                  </a:lnTo>
                  <a:lnTo>
                    <a:pt x="4" y="101"/>
                  </a:lnTo>
                  <a:lnTo>
                    <a:pt x="2" y="93"/>
                  </a:lnTo>
                  <a:lnTo>
                    <a:pt x="0" y="86"/>
                  </a:lnTo>
                  <a:lnTo>
                    <a:pt x="0" y="78"/>
                  </a:lnTo>
                  <a:lnTo>
                    <a:pt x="2" y="70"/>
                  </a:lnTo>
                  <a:lnTo>
                    <a:pt x="6" y="61"/>
                  </a:lnTo>
                  <a:lnTo>
                    <a:pt x="10" y="53"/>
                  </a:lnTo>
                  <a:lnTo>
                    <a:pt x="13" y="48"/>
                  </a:lnTo>
                  <a:lnTo>
                    <a:pt x="19" y="44"/>
                  </a:lnTo>
                  <a:lnTo>
                    <a:pt x="23" y="38"/>
                  </a:lnTo>
                  <a:lnTo>
                    <a:pt x="30" y="34"/>
                  </a:lnTo>
                  <a:lnTo>
                    <a:pt x="36" y="31"/>
                  </a:lnTo>
                  <a:lnTo>
                    <a:pt x="44" y="27"/>
                  </a:lnTo>
                  <a:lnTo>
                    <a:pt x="51" y="21"/>
                  </a:lnTo>
                  <a:lnTo>
                    <a:pt x="63" y="19"/>
                  </a:lnTo>
                  <a:lnTo>
                    <a:pt x="67" y="15"/>
                  </a:lnTo>
                  <a:lnTo>
                    <a:pt x="72" y="13"/>
                  </a:lnTo>
                  <a:lnTo>
                    <a:pt x="78" y="12"/>
                  </a:lnTo>
                  <a:lnTo>
                    <a:pt x="84" y="10"/>
                  </a:lnTo>
                  <a:lnTo>
                    <a:pt x="89" y="8"/>
                  </a:lnTo>
                  <a:lnTo>
                    <a:pt x="97" y="8"/>
                  </a:lnTo>
                  <a:lnTo>
                    <a:pt x="103" y="6"/>
                  </a:lnTo>
                  <a:lnTo>
                    <a:pt x="112" y="4"/>
                  </a:lnTo>
                  <a:lnTo>
                    <a:pt x="118" y="2"/>
                  </a:lnTo>
                  <a:lnTo>
                    <a:pt x="124" y="2"/>
                  </a:lnTo>
                  <a:lnTo>
                    <a:pt x="131" y="0"/>
                  </a:lnTo>
                  <a:lnTo>
                    <a:pt x="137" y="0"/>
                  </a:lnTo>
                  <a:lnTo>
                    <a:pt x="143" y="0"/>
                  </a:lnTo>
                  <a:lnTo>
                    <a:pt x="150" y="0"/>
                  </a:lnTo>
                  <a:lnTo>
                    <a:pt x="156" y="0"/>
                  </a:lnTo>
                  <a:lnTo>
                    <a:pt x="164" y="0"/>
                  </a:lnTo>
                  <a:lnTo>
                    <a:pt x="167" y="0"/>
                  </a:lnTo>
                  <a:lnTo>
                    <a:pt x="173" y="0"/>
                  </a:lnTo>
                  <a:lnTo>
                    <a:pt x="179" y="2"/>
                  </a:lnTo>
                  <a:lnTo>
                    <a:pt x="184" y="4"/>
                  </a:lnTo>
                  <a:lnTo>
                    <a:pt x="190" y="4"/>
                  </a:lnTo>
                  <a:lnTo>
                    <a:pt x="194" y="6"/>
                  </a:lnTo>
                  <a:lnTo>
                    <a:pt x="200" y="8"/>
                  </a:lnTo>
                  <a:lnTo>
                    <a:pt x="205" y="10"/>
                  </a:lnTo>
                  <a:lnTo>
                    <a:pt x="213" y="13"/>
                  </a:lnTo>
                  <a:lnTo>
                    <a:pt x="221" y="19"/>
                  </a:lnTo>
                  <a:lnTo>
                    <a:pt x="228" y="25"/>
                  </a:lnTo>
                  <a:lnTo>
                    <a:pt x="236" y="31"/>
                  </a:lnTo>
                  <a:lnTo>
                    <a:pt x="241" y="36"/>
                  </a:lnTo>
                  <a:lnTo>
                    <a:pt x="249" y="44"/>
                  </a:lnTo>
                  <a:lnTo>
                    <a:pt x="255" y="50"/>
                  </a:lnTo>
                  <a:lnTo>
                    <a:pt x="260" y="59"/>
                  </a:lnTo>
                  <a:lnTo>
                    <a:pt x="262" y="65"/>
                  </a:lnTo>
                  <a:lnTo>
                    <a:pt x="268" y="72"/>
                  </a:lnTo>
                  <a:lnTo>
                    <a:pt x="270" y="78"/>
                  </a:lnTo>
                  <a:lnTo>
                    <a:pt x="274" y="86"/>
                  </a:lnTo>
                  <a:lnTo>
                    <a:pt x="276" y="91"/>
                  </a:lnTo>
                  <a:lnTo>
                    <a:pt x="278" y="99"/>
                  </a:lnTo>
                  <a:lnTo>
                    <a:pt x="280" y="105"/>
                  </a:lnTo>
                  <a:lnTo>
                    <a:pt x="281" y="112"/>
                  </a:lnTo>
                  <a:lnTo>
                    <a:pt x="281" y="118"/>
                  </a:lnTo>
                  <a:lnTo>
                    <a:pt x="281" y="124"/>
                  </a:lnTo>
                  <a:lnTo>
                    <a:pt x="281" y="128"/>
                  </a:lnTo>
                  <a:lnTo>
                    <a:pt x="281" y="133"/>
                  </a:lnTo>
                  <a:lnTo>
                    <a:pt x="280" y="139"/>
                  </a:lnTo>
                  <a:lnTo>
                    <a:pt x="278" y="143"/>
                  </a:lnTo>
                  <a:lnTo>
                    <a:pt x="272" y="141"/>
                  </a:lnTo>
                  <a:lnTo>
                    <a:pt x="266" y="141"/>
                  </a:lnTo>
                  <a:lnTo>
                    <a:pt x="257" y="139"/>
                  </a:lnTo>
                  <a:lnTo>
                    <a:pt x="247" y="135"/>
                  </a:lnTo>
                  <a:lnTo>
                    <a:pt x="241" y="133"/>
                  </a:lnTo>
                  <a:lnTo>
                    <a:pt x="236" y="131"/>
                  </a:lnTo>
                  <a:lnTo>
                    <a:pt x="230" y="129"/>
                  </a:lnTo>
                  <a:lnTo>
                    <a:pt x="224" y="128"/>
                  </a:lnTo>
                  <a:lnTo>
                    <a:pt x="219" y="126"/>
                  </a:lnTo>
                  <a:lnTo>
                    <a:pt x="213" y="124"/>
                  </a:lnTo>
                  <a:lnTo>
                    <a:pt x="205" y="120"/>
                  </a:lnTo>
                  <a:lnTo>
                    <a:pt x="200" y="118"/>
                  </a:lnTo>
                  <a:lnTo>
                    <a:pt x="192" y="114"/>
                  </a:lnTo>
                  <a:lnTo>
                    <a:pt x="186" y="112"/>
                  </a:lnTo>
                  <a:lnTo>
                    <a:pt x="179" y="110"/>
                  </a:lnTo>
                  <a:lnTo>
                    <a:pt x="171" y="107"/>
                  </a:lnTo>
                  <a:lnTo>
                    <a:pt x="164" y="105"/>
                  </a:lnTo>
                  <a:lnTo>
                    <a:pt x="158" y="101"/>
                  </a:lnTo>
                  <a:lnTo>
                    <a:pt x="150" y="99"/>
                  </a:lnTo>
                  <a:lnTo>
                    <a:pt x="145" y="97"/>
                  </a:lnTo>
                  <a:lnTo>
                    <a:pt x="137" y="95"/>
                  </a:lnTo>
                  <a:lnTo>
                    <a:pt x="131" y="91"/>
                  </a:lnTo>
                  <a:lnTo>
                    <a:pt x="124" y="90"/>
                  </a:lnTo>
                  <a:lnTo>
                    <a:pt x="118" y="90"/>
                  </a:lnTo>
                  <a:lnTo>
                    <a:pt x="112" y="88"/>
                  </a:lnTo>
                  <a:lnTo>
                    <a:pt x="107" y="86"/>
                  </a:lnTo>
                  <a:lnTo>
                    <a:pt x="101" y="86"/>
                  </a:lnTo>
                  <a:lnTo>
                    <a:pt x="95" y="86"/>
                  </a:lnTo>
                  <a:lnTo>
                    <a:pt x="89" y="86"/>
                  </a:lnTo>
                  <a:lnTo>
                    <a:pt x="84" y="86"/>
                  </a:lnTo>
                  <a:lnTo>
                    <a:pt x="80" y="86"/>
                  </a:lnTo>
                  <a:lnTo>
                    <a:pt x="74" y="86"/>
                  </a:lnTo>
                  <a:lnTo>
                    <a:pt x="67" y="86"/>
                  </a:lnTo>
                  <a:lnTo>
                    <a:pt x="61" y="88"/>
                  </a:lnTo>
                  <a:lnTo>
                    <a:pt x="53" y="90"/>
                  </a:lnTo>
                  <a:lnTo>
                    <a:pt x="49" y="93"/>
                  </a:lnTo>
                  <a:lnTo>
                    <a:pt x="44" y="95"/>
                  </a:lnTo>
                  <a:lnTo>
                    <a:pt x="42" y="99"/>
                  </a:lnTo>
                  <a:lnTo>
                    <a:pt x="36" y="103"/>
                  </a:lnTo>
                  <a:lnTo>
                    <a:pt x="34" y="109"/>
                  </a:lnTo>
                  <a:lnTo>
                    <a:pt x="34" y="112"/>
                  </a:lnTo>
                  <a:lnTo>
                    <a:pt x="10" y="112"/>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0" name="Freeform 29"/>
            <p:cNvSpPr>
              <a:spLocks/>
            </p:cNvSpPr>
            <p:nvPr/>
          </p:nvSpPr>
          <p:spPr bwMode="auto">
            <a:xfrm>
              <a:off x="5136" y="3257"/>
              <a:ext cx="33" cy="39"/>
            </a:xfrm>
            <a:custGeom>
              <a:avLst/>
              <a:gdLst>
                <a:gd name="T0" fmla="*/ 1 w 65"/>
                <a:gd name="T1" fmla="*/ 0 h 78"/>
                <a:gd name="T2" fmla="*/ 1 w 65"/>
                <a:gd name="T3" fmla="*/ 0 h 78"/>
                <a:gd name="T4" fmla="*/ 1 w 65"/>
                <a:gd name="T5" fmla="*/ 1 h 78"/>
                <a:gd name="T6" fmla="*/ 1 w 65"/>
                <a:gd name="T7" fmla="*/ 1 h 78"/>
                <a:gd name="T8" fmla="*/ 1 w 65"/>
                <a:gd name="T9" fmla="*/ 1 h 78"/>
                <a:gd name="T10" fmla="*/ 1 w 65"/>
                <a:gd name="T11" fmla="*/ 1 h 78"/>
                <a:gd name="T12" fmla="*/ 1 w 65"/>
                <a:gd name="T13" fmla="*/ 1 h 78"/>
                <a:gd name="T14" fmla="*/ 1 w 65"/>
                <a:gd name="T15" fmla="*/ 1 h 78"/>
                <a:gd name="T16" fmla="*/ 1 w 65"/>
                <a:gd name="T17" fmla="*/ 1 h 78"/>
                <a:gd name="T18" fmla="*/ 1 w 65"/>
                <a:gd name="T19" fmla="*/ 1 h 78"/>
                <a:gd name="T20" fmla="*/ 1 w 65"/>
                <a:gd name="T21" fmla="*/ 1 h 78"/>
                <a:gd name="T22" fmla="*/ 1 w 65"/>
                <a:gd name="T23" fmla="*/ 1 h 78"/>
                <a:gd name="T24" fmla="*/ 1 w 65"/>
                <a:gd name="T25" fmla="*/ 1 h 78"/>
                <a:gd name="T26" fmla="*/ 1 w 65"/>
                <a:gd name="T27" fmla="*/ 1 h 78"/>
                <a:gd name="T28" fmla="*/ 1 w 65"/>
                <a:gd name="T29" fmla="*/ 1 h 78"/>
                <a:gd name="T30" fmla="*/ 1 w 65"/>
                <a:gd name="T31" fmla="*/ 1 h 78"/>
                <a:gd name="T32" fmla="*/ 1 w 65"/>
                <a:gd name="T33" fmla="*/ 1 h 78"/>
                <a:gd name="T34" fmla="*/ 1 w 65"/>
                <a:gd name="T35" fmla="*/ 1 h 78"/>
                <a:gd name="T36" fmla="*/ 1 w 65"/>
                <a:gd name="T37" fmla="*/ 1 h 78"/>
                <a:gd name="T38" fmla="*/ 1 w 65"/>
                <a:gd name="T39" fmla="*/ 1 h 78"/>
                <a:gd name="T40" fmla="*/ 0 w 65"/>
                <a:gd name="T41" fmla="*/ 1 h 78"/>
                <a:gd name="T42" fmla="*/ 0 w 65"/>
                <a:gd name="T43" fmla="*/ 1 h 78"/>
                <a:gd name="T44" fmla="*/ 0 w 65"/>
                <a:gd name="T45" fmla="*/ 1 h 78"/>
                <a:gd name="T46" fmla="*/ 1 w 65"/>
                <a:gd name="T47" fmla="*/ 1 h 78"/>
                <a:gd name="T48" fmla="*/ 1 w 65"/>
                <a:gd name="T49" fmla="*/ 1 h 78"/>
                <a:gd name="T50" fmla="*/ 1 w 65"/>
                <a:gd name="T51" fmla="*/ 1 h 78"/>
                <a:gd name="T52" fmla="*/ 1 w 65"/>
                <a:gd name="T53" fmla="*/ 1 h 78"/>
                <a:gd name="T54" fmla="*/ 1 w 65"/>
                <a:gd name="T55" fmla="*/ 1 h 78"/>
                <a:gd name="T56" fmla="*/ 1 w 65"/>
                <a:gd name="T57" fmla="*/ 1 h 78"/>
                <a:gd name="T58" fmla="*/ 1 w 65"/>
                <a:gd name="T59" fmla="*/ 1 h 78"/>
                <a:gd name="T60" fmla="*/ 1 w 65"/>
                <a:gd name="T61" fmla="*/ 1 h 78"/>
                <a:gd name="T62" fmla="*/ 1 w 65"/>
                <a:gd name="T63" fmla="*/ 1 h 78"/>
                <a:gd name="T64" fmla="*/ 1 w 65"/>
                <a:gd name="T65" fmla="*/ 1 h 78"/>
                <a:gd name="T66" fmla="*/ 1 w 65"/>
                <a:gd name="T67" fmla="*/ 1 h 78"/>
                <a:gd name="T68" fmla="*/ 1 w 65"/>
                <a:gd name="T69" fmla="*/ 1 h 78"/>
                <a:gd name="T70" fmla="*/ 1 w 65"/>
                <a:gd name="T71" fmla="*/ 1 h 78"/>
                <a:gd name="T72" fmla="*/ 1 w 65"/>
                <a:gd name="T73" fmla="*/ 1 h 78"/>
                <a:gd name="T74" fmla="*/ 1 w 65"/>
                <a:gd name="T75" fmla="*/ 1 h 78"/>
                <a:gd name="T76" fmla="*/ 1 w 65"/>
                <a:gd name="T77" fmla="*/ 0 h 78"/>
                <a:gd name="T78" fmla="*/ 1 w 65"/>
                <a:gd name="T79" fmla="*/ 0 h 7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5" h="78">
                  <a:moveTo>
                    <a:pt x="25" y="0"/>
                  </a:moveTo>
                  <a:lnTo>
                    <a:pt x="25" y="0"/>
                  </a:lnTo>
                  <a:lnTo>
                    <a:pt x="28" y="2"/>
                  </a:lnTo>
                  <a:lnTo>
                    <a:pt x="36" y="4"/>
                  </a:lnTo>
                  <a:lnTo>
                    <a:pt x="44" y="9"/>
                  </a:lnTo>
                  <a:lnTo>
                    <a:pt x="51" y="15"/>
                  </a:lnTo>
                  <a:lnTo>
                    <a:pt x="57" y="21"/>
                  </a:lnTo>
                  <a:lnTo>
                    <a:pt x="63" y="26"/>
                  </a:lnTo>
                  <a:lnTo>
                    <a:pt x="65" y="36"/>
                  </a:lnTo>
                  <a:lnTo>
                    <a:pt x="61" y="42"/>
                  </a:lnTo>
                  <a:lnTo>
                    <a:pt x="57" y="49"/>
                  </a:lnTo>
                  <a:lnTo>
                    <a:pt x="53" y="57"/>
                  </a:lnTo>
                  <a:lnTo>
                    <a:pt x="47" y="64"/>
                  </a:lnTo>
                  <a:lnTo>
                    <a:pt x="40" y="68"/>
                  </a:lnTo>
                  <a:lnTo>
                    <a:pt x="32" y="74"/>
                  </a:lnTo>
                  <a:lnTo>
                    <a:pt x="25" y="76"/>
                  </a:lnTo>
                  <a:lnTo>
                    <a:pt x="17" y="78"/>
                  </a:lnTo>
                  <a:lnTo>
                    <a:pt x="9" y="74"/>
                  </a:lnTo>
                  <a:lnTo>
                    <a:pt x="6" y="72"/>
                  </a:lnTo>
                  <a:lnTo>
                    <a:pt x="2" y="68"/>
                  </a:lnTo>
                  <a:lnTo>
                    <a:pt x="0" y="64"/>
                  </a:lnTo>
                  <a:lnTo>
                    <a:pt x="0" y="57"/>
                  </a:lnTo>
                  <a:lnTo>
                    <a:pt x="0" y="55"/>
                  </a:lnTo>
                  <a:lnTo>
                    <a:pt x="6" y="45"/>
                  </a:lnTo>
                  <a:lnTo>
                    <a:pt x="8" y="47"/>
                  </a:lnTo>
                  <a:lnTo>
                    <a:pt x="13" y="53"/>
                  </a:lnTo>
                  <a:lnTo>
                    <a:pt x="21" y="57"/>
                  </a:lnTo>
                  <a:lnTo>
                    <a:pt x="30" y="57"/>
                  </a:lnTo>
                  <a:lnTo>
                    <a:pt x="34" y="53"/>
                  </a:lnTo>
                  <a:lnTo>
                    <a:pt x="40" y="51"/>
                  </a:lnTo>
                  <a:lnTo>
                    <a:pt x="42" y="45"/>
                  </a:lnTo>
                  <a:lnTo>
                    <a:pt x="46" y="44"/>
                  </a:lnTo>
                  <a:lnTo>
                    <a:pt x="47" y="34"/>
                  </a:lnTo>
                  <a:lnTo>
                    <a:pt x="44" y="26"/>
                  </a:lnTo>
                  <a:lnTo>
                    <a:pt x="36" y="19"/>
                  </a:lnTo>
                  <a:lnTo>
                    <a:pt x="28" y="17"/>
                  </a:lnTo>
                  <a:lnTo>
                    <a:pt x="23" y="13"/>
                  </a:lnTo>
                  <a:lnTo>
                    <a:pt x="19" y="13"/>
                  </a:lnTo>
                  <a:lnTo>
                    <a:pt x="25"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1" name="Freeform 30"/>
            <p:cNvSpPr>
              <a:spLocks/>
            </p:cNvSpPr>
            <p:nvPr/>
          </p:nvSpPr>
          <p:spPr bwMode="auto">
            <a:xfrm>
              <a:off x="4970" y="3440"/>
              <a:ext cx="39" cy="103"/>
            </a:xfrm>
            <a:custGeom>
              <a:avLst/>
              <a:gdLst>
                <a:gd name="T0" fmla="*/ 1 w 78"/>
                <a:gd name="T1" fmla="*/ 1 h 205"/>
                <a:gd name="T2" fmla="*/ 0 w 78"/>
                <a:gd name="T3" fmla="*/ 1 h 205"/>
                <a:gd name="T4" fmla="*/ 0 w 78"/>
                <a:gd name="T5" fmla="*/ 1 h 205"/>
                <a:gd name="T6" fmla="*/ 1 w 78"/>
                <a:gd name="T7" fmla="*/ 1 h 205"/>
                <a:gd name="T8" fmla="*/ 1 w 78"/>
                <a:gd name="T9" fmla="*/ 1 h 205"/>
                <a:gd name="T10" fmla="*/ 1 w 78"/>
                <a:gd name="T11" fmla="*/ 1 h 205"/>
                <a:gd name="T12" fmla="*/ 1 w 78"/>
                <a:gd name="T13" fmla="*/ 1 h 205"/>
                <a:gd name="T14" fmla="*/ 1 w 78"/>
                <a:gd name="T15" fmla="*/ 1 h 205"/>
                <a:gd name="T16" fmla="*/ 1 w 78"/>
                <a:gd name="T17" fmla="*/ 1 h 205"/>
                <a:gd name="T18" fmla="*/ 1 w 78"/>
                <a:gd name="T19" fmla="*/ 1 h 205"/>
                <a:gd name="T20" fmla="*/ 1 w 78"/>
                <a:gd name="T21" fmla="*/ 1 h 205"/>
                <a:gd name="T22" fmla="*/ 1 w 78"/>
                <a:gd name="T23" fmla="*/ 1 h 205"/>
                <a:gd name="T24" fmla="*/ 1 w 78"/>
                <a:gd name="T25" fmla="*/ 1 h 205"/>
                <a:gd name="T26" fmla="*/ 1 w 78"/>
                <a:gd name="T27" fmla="*/ 1 h 205"/>
                <a:gd name="T28" fmla="*/ 1 w 78"/>
                <a:gd name="T29" fmla="*/ 1 h 205"/>
                <a:gd name="T30" fmla="*/ 1 w 78"/>
                <a:gd name="T31" fmla="*/ 1 h 205"/>
                <a:gd name="T32" fmla="*/ 1 w 78"/>
                <a:gd name="T33" fmla="*/ 1 h 205"/>
                <a:gd name="T34" fmla="*/ 1 w 78"/>
                <a:gd name="T35" fmla="*/ 1 h 205"/>
                <a:gd name="T36" fmla="*/ 1 w 78"/>
                <a:gd name="T37" fmla="*/ 1 h 205"/>
                <a:gd name="T38" fmla="*/ 1 w 78"/>
                <a:gd name="T39" fmla="*/ 1 h 205"/>
                <a:gd name="T40" fmla="*/ 1 w 78"/>
                <a:gd name="T41" fmla="*/ 1 h 205"/>
                <a:gd name="T42" fmla="*/ 1 w 78"/>
                <a:gd name="T43" fmla="*/ 1 h 205"/>
                <a:gd name="T44" fmla="*/ 1 w 78"/>
                <a:gd name="T45" fmla="*/ 1 h 205"/>
                <a:gd name="T46" fmla="*/ 1 w 78"/>
                <a:gd name="T47" fmla="*/ 1 h 205"/>
                <a:gd name="T48" fmla="*/ 1 w 78"/>
                <a:gd name="T49" fmla="*/ 1 h 205"/>
                <a:gd name="T50" fmla="*/ 1 w 78"/>
                <a:gd name="T51" fmla="*/ 1 h 205"/>
                <a:gd name="T52" fmla="*/ 1 w 78"/>
                <a:gd name="T53" fmla="*/ 1 h 205"/>
                <a:gd name="T54" fmla="*/ 1 w 78"/>
                <a:gd name="T55" fmla="*/ 1 h 205"/>
                <a:gd name="T56" fmla="*/ 1 w 78"/>
                <a:gd name="T57" fmla="*/ 1 h 205"/>
                <a:gd name="T58" fmla="*/ 1 w 78"/>
                <a:gd name="T59" fmla="*/ 1 h 205"/>
                <a:gd name="T60" fmla="*/ 1 w 78"/>
                <a:gd name="T61" fmla="*/ 1 h 205"/>
                <a:gd name="T62" fmla="*/ 1 w 78"/>
                <a:gd name="T63" fmla="*/ 1 h 205"/>
                <a:gd name="T64" fmla="*/ 1 w 78"/>
                <a:gd name="T65" fmla="*/ 1 h 205"/>
                <a:gd name="T66" fmla="*/ 1 w 78"/>
                <a:gd name="T67" fmla="*/ 1 h 205"/>
                <a:gd name="T68" fmla="*/ 1 w 78"/>
                <a:gd name="T69" fmla="*/ 1 h 20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78" h="205">
                  <a:moveTo>
                    <a:pt x="4" y="13"/>
                  </a:moveTo>
                  <a:lnTo>
                    <a:pt x="2" y="17"/>
                  </a:lnTo>
                  <a:lnTo>
                    <a:pt x="2" y="21"/>
                  </a:lnTo>
                  <a:lnTo>
                    <a:pt x="0" y="24"/>
                  </a:lnTo>
                  <a:lnTo>
                    <a:pt x="0" y="30"/>
                  </a:lnTo>
                  <a:lnTo>
                    <a:pt x="0" y="36"/>
                  </a:lnTo>
                  <a:lnTo>
                    <a:pt x="0" y="41"/>
                  </a:lnTo>
                  <a:lnTo>
                    <a:pt x="2" y="47"/>
                  </a:lnTo>
                  <a:lnTo>
                    <a:pt x="4" y="55"/>
                  </a:lnTo>
                  <a:lnTo>
                    <a:pt x="4" y="62"/>
                  </a:lnTo>
                  <a:lnTo>
                    <a:pt x="6" y="70"/>
                  </a:lnTo>
                  <a:lnTo>
                    <a:pt x="8" y="78"/>
                  </a:lnTo>
                  <a:lnTo>
                    <a:pt x="12" y="85"/>
                  </a:lnTo>
                  <a:lnTo>
                    <a:pt x="14" y="95"/>
                  </a:lnTo>
                  <a:lnTo>
                    <a:pt x="17" y="102"/>
                  </a:lnTo>
                  <a:lnTo>
                    <a:pt x="19" y="110"/>
                  </a:lnTo>
                  <a:lnTo>
                    <a:pt x="23" y="119"/>
                  </a:lnTo>
                  <a:lnTo>
                    <a:pt x="27" y="127"/>
                  </a:lnTo>
                  <a:lnTo>
                    <a:pt x="29" y="135"/>
                  </a:lnTo>
                  <a:lnTo>
                    <a:pt x="31" y="142"/>
                  </a:lnTo>
                  <a:lnTo>
                    <a:pt x="35" y="152"/>
                  </a:lnTo>
                  <a:lnTo>
                    <a:pt x="36" y="157"/>
                  </a:lnTo>
                  <a:lnTo>
                    <a:pt x="40" y="165"/>
                  </a:lnTo>
                  <a:lnTo>
                    <a:pt x="42" y="171"/>
                  </a:lnTo>
                  <a:lnTo>
                    <a:pt x="46" y="178"/>
                  </a:lnTo>
                  <a:lnTo>
                    <a:pt x="48" y="182"/>
                  </a:lnTo>
                  <a:lnTo>
                    <a:pt x="50" y="188"/>
                  </a:lnTo>
                  <a:lnTo>
                    <a:pt x="52" y="192"/>
                  </a:lnTo>
                  <a:lnTo>
                    <a:pt x="54" y="197"/>
                  </a:lnTo>
                  <a:lnTo>
                    <a:pt x="55" y="201"/>
                  </a:lnTo>
                  <a:lnTo>
                    <a:pt x="57" y="205"/>
                  </a:lnTo>
                  <a:lnTo>
                    <a:pt x="78" y="194"/>
                  </a:lnTo>
                  <a:lnTo>
                    <a:pt x="78" y="192"/>
                  </a:lnTo>
                  <a:lnTo>
                    <a:pt x="76" y="188"/>
                  </a:lnTo>
                  <a:lnTo>
                    <a:pt x="74" y="180"/>
                  </a:lnTo>
                  <a:lnTo>
                    <a:pt x="73" y="175"/>
                  </a:lnTo>
                  <a:lnTo>
                    <a:pt x="71" y="169"/>
                  </a:lnTo>
                  <a:lnTo>
                    <a:pt x="71" y="163"/>
                  </a:lnTo>
                  <a:lnTo>
                    <a:pt x="69" y="157"/>
                  </a:lnTo>
                  <a:lnTo>
                    <a:pt x="67" y="152"/>
                  </a:lnTo>
                  <a:lnTo>
                    <a:pt x="65" y="146"/>
                  </a:lnTo>
                  <a:lnTo>
                    <a:pt x="65" y="140"/>
                  </a:lnTo>
                  <a:lnTo>
                    <a:pt x="63" y="133"/>
                  </a:lnTo>
                  <a:lnTo>
                    <a:pt x="61" y="127"/>
                  </a:lnTo>
                  <a:lnTo>
                    <a:pt x="59" y="121"/>
                  </a:lnTo>
                  <a:lnTo>
                    <a:pt x="57" y="114"/>
                  </a:lnTo>
                  <a:lnTo>
                    <a:pt x="55" y="106"/>
                  </a:lnTo>
                  <a:lnTo>
                    <a:pt x="54" y="98"/>
                  </a:lnTo>
                  <a:lnTo>
                    <a:pt x="52" y="93"/>
                  </a:lnTo>
                  <a:lnTo>
                    <a:pt x="50" y="85"/>
                  </a:lnTo>
                  <a:lnTo>
                    <a:pt x="48" y="78"/>
                  </a:lnTo>
                  <a:lnTo>
                    <a:pt x="46" y="74"/>
                  </a:lnTo>
                  <a:lnTo>
                    <a:pt x="44" y="66"/>
                  </a:lnTo>
                  <a:lnTo>
                    <a:pt x="42" y="59"/>
                  </a:lnTo>
                  <a:lnTo>
                    <a:pt x="40" y="53"/>
                  </a:lnTo>
                  <a:lnTo>
                    <a:pt x="38" y="47"/>
                  </a:lnTo>
                  <a:lnTo>
                    <a:pt x="36" y="41"/>
                  </a:lnTo>
                  <a:lnTo>
                    <a:pt x="35" y="36"/>
                  </a:lnTo>
                  <a:lnTo>
                    <a:pt x="33" y="30"/>
                  </a:lnTo>
                  <a:lnTo>
                    <a:pt x="31" y="26"/>
                  </a:lnTo>
                  <a:lnTo>
                    <a:pt x="27" y="17"/>
                  </a:lnTo>
                  <a:lnTo>
                    <a:pt x="25" y="11"/>
                  </a:lnTo>
                  <a:lnTo>
                    <a:pt x="21" y="5"/>
                  </a:lnTo>
                  <a:lnTo>
                    <a:pt x="19" y="3"/>
                  </a:lnTo>
                  <a:lnTo>
                    <a:pt x="14" y="0"/>
                  </a:lnTo>
                  <a:lnTo>
                    <a:pt x="12" y="2"/>
                  </a:lnTo>
                  <a:lnTo>
                    <a:pt x="8" y="3"/>
                  </a:lnTo>
                  <a:lnTo>
                    <a:pt x="6" y="7"/>
                  </a:lnTo>
                  <a:lnTo>
                    <a:pt x="4" y="11"/>
                  </a:lnTo>
                  <a:lnTo>
                    <a:pt x="4" y="13"/>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2" name="Freeform 31"/>
            <p:cNvSpPr>
              <a:spLocks/>
            </p:cNvSpPr>
            <p:nvPr/>
          </p:nvSpPr>
          <p:spPr bwMode="auto">
            <a:xfrm>
              <a:off x="4889" y="3585"/>
              <a:ext cx="476" cy="359"/>
            </a:xfrm>
            <a:custGeom>
              <a:avLst/>
              <a:gdLst>
                <a:gd name="T0" fmla="*/ 2 w 950"/>
                <a:gd name="T1" fmla="*/ 1 h 718"/>
                <a:gd name="T2" fmla="*/ 2 w 950"/>
                <a:gd name="T3" fmla="*/ 1 h 718"/>
                <a:gd name="T4" fmla="*/ 2 w 950"/>
                <a:gd name="T5" fmla="*/ 1 h 718"/>
                <a:gd name="T6" fmla="*/ 2 w 950"/>
                <a:gd name="T7" fmla="*/ 1 h 718"/>
                <a:gd name="T8" fmla="*/ 2 w 950"/>
                <a:gd name="T9" fmla="*/ 1 h 718"/>
                <a:gd name="T10" fmla="*/ 2 w 950"/>
                <a:gd name="T11" fmla="*/ 1 h 718"/>
                <a:gd name="T12" fmla="*/ 2 w 950"/>
                <a:gd name="T13" fmla="*/ 1 h 718"/>
                <a:gd name="T14" fmla="*/ 2 w 950"/>
                <a:gd name="T15" fmla="*/ 1 h 718"/>
                <a:gd name="T16" fmla="*/ 2 w 950"/>
                <a:gd name="T17" fmla="*/ 1 h 718"/>
                <a:gd name="T18" fmla="*/ 2 w 950"/>
                <a:gd name="T19" fmla="*/ 1 h 718"/>
                <a:gd name="T20" fmla="*/ 2 w 950"/>
                <a:gd name="T21" fmla="*/ 1 h 718"/>
                <a:gd name="T22" fmla="*/ 2 w 950"/>
                <a:gd name="T23" fmla="*/ 1 h 718"/>
                <a:gd name="T24" fmla="*/ 2 w 950"/>
                <a:gd name="T25" fmla="*/ 1 h 718"/>
                <a:gd name="T26" fmla="*/ 2 w 950"/>
                <a:gd name="T27" fmla="*/ 1 h 718"/>
                <a:gd name="T28" fmla="*/ 2 w 950"/>
                <a:gd name="T29" fmla="*/ 1 h 718"/>
                <a:gd name="T30" fmla="*/ 2 w 950"/>
                <a:gd name="T31" fmla="*/ 1 h 718"/>
                <a:gd name="T32" fmla="*/ 2 w 950"/>
                <a:gd name="T33" fmla="*/ 1 h 718"/>
                <a:gd name="T34" fmla="*/ 3 w 950"/>
                <a:gd name="T35" fmla="*/ 1 h 718"/>
                <a:gd name="T36" fmla="*/ 3 w 950"/>
                <a:gd name="T37" fmla="*/ 1 h 718"/>
                <a:gd name="T38" fmla="*/ 3 w 950"/>
                <a:gd name="T39" fmla="*/ 1 h 718"/>
                <a:gd name="T40" fmla="*/ 3 w 950"/>
                <a:gd name="T41" fmla="*/ 1 h 718"/>
                <a:gd name="T42" fmla="*/ 3 w 950"/>
                <a:gd name="T43" fmla="*/ 1 h 718"/>
                <a:gd name="T44" fmla="*/ 3 w 950"/>
                <a:gd name="T45" fmla="*/ 1 h 718"/>
                <a:gd name="T46" fmla="*/ 3 w 950"/>
                <a:gd name="T47" fmla="*/ 1 h 718"/>
                <a:gd name="T48" fmla="*/ 3 w 950"/>
                <a:gd name="T49" fmla="*/ 1 h 718"/>
                <a:gd name="T50" fmla="*/ 3 w 950"/>
                <a:gd name="T51" fmla="*/ 1 h 718"/>
                <a:gd name="T52" fmla="*/ 3 w 950"/>
                <a:gd name="T53" fmla="*/ 1 h 718"/>
                <a:gd name="T54" fmla="*/ 3 w 950"/>
                <a:gd name="T55" fmla="*/ 1 h 718"/>
                <a:gd name="T56" fmla="*/ 3 w 950"/>
                <a:gd name="T57" fmla="*/ 1 h 718"/>
                <a:gd name="T58" fmla="*/ 3 w 950"/>
                <a:gd name="T59" fmla="*/ 0 h 718"/>
                <a:gd name="T60" fmla="*/ 4 w 950"/>
                <a:gd name="T61" fmla="*/ 3 h 718"/>
                <a:gd name="T62" fmla="*/ 2 w 950"/>
                <a:gd name="T63" fmla="*/ 1 h 718"/>
                <a:gd name="T64" fmla="*/ 0 w 950"/>
                <a:gd name="T65" fmla="*/ 3 h 718"/>
                <a:gd name="T66" fmla="*/ 1 w 950"/>
                <a:gd name="T67" fmla="*/ 3 h 718"/>
                <a:gd name="T68" fmla="*/ 2 w 950"/>
                <a:gd name="T69" fmla="*/ 1 h 7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950" h="718">
                  <a:moveTo>
                    <a:pt x="298" y="26"/>
                  </a:moveTo>
                  <a:lnTo>
                    <a:pt x="302" y="28"/>
                  </a:lnTo>
                  <a:lnTo>
                    <a:pt x="306" y="30"/>
                  </a:lnTo>
                  <a:lnTo>
                    <a:pt x="313" y="36"/>
                  </a:lnTo>
                  <a:lnTo>
                    <a:pt x="317" y="38"/>
                  </a:lnTo>
                  <a:lnTo>
                    <a:pt x="321" y="39"/>
                  </a:lnTo>
                  <a:lnTo>
                    <a:pt x="327" y="41"/>
                  </a:lnTo>
                  <a:lnTo>
                    <a:pt x="334" y="43"/>
                  </a:lnTo>
                  <a:lnTo>
                    <a:pt x="340" y="45"/>
                  </a:lnTo>
                  <a:lnTo>
                    <a:pt x="346" y="47"/>
                  </a:lnTo>
                  <a:lnTo>
                    <a:pt x="353" y="51"/>
                  </a:lnTo>
                  <a:lnTo>
                    <a:pt x="363" y="53"/>
                  </a:lnTo>
                  <a:lnTo>
                    <a:pt x="370" y="55"/>
                  </a:lnTo>
                  <a:lnTo>
                    <a:pt x="380" y="57"/>
                  </a:lnTo>
                  <a:lnTo>
                    <a:pt x="386" y="57"/>
                  </a:lnTo>
                  <a:lnTo>
                    <a:pt x="389" y="58"/>
                  </a:lnTo>
                  <a:lnTo>
                    <a:pt x="395" y="58"/>
                  </a:lnTo>
                  <a:lnTo>
                    <a:pt x="401" y="60"/>
                  </a:lnTo>
                  <a:lnTo>
                    <a:pt x="407" y="60"/>
                  </a:lnTo>
                  <a:lnTo>
                    <a:pt x="412" y="60"/>
                  </a:lnTo>
                  <a:lnTo>
                    <a:pt x="418" y="62"/>
                  </a:lnTo>
                  <a:lnTo>
                    <a:pt x="424" y="62"/>
                  </a:lnTo>
                  <a:lnTo>
                    <a:pt x="429" y="62"/>
                  </a:lnTo>
                  <a:lnTo>
                    <a:pt x="437" y="64"/>
                  </a:lnTo>
                  <a:lnTo>
                    <a:pt x="443" y="64"/>
                  </a:lnTo>
                  <a:lnTo>
                    <a:pt x="450" y="64"/>
                  </a:lnTo>
                  <a:lnTo>
                    <a:pt x="456" y="64"/>
                  </a:lnTo>
                  <a:lnTo>
                    <a:pt x="464" y="64"/>
                  </a:lnTo>
                  <a:lnTo>
                    <a:pt x="469" y="64"/>
                  </a:lnTo>
                  <a:lnTo>
                    <a:pt x="477" y="64"/>
                  </a:lnTo>
                  <a:lnTo>
                    <a:pt x="484" y="62"/>
                  </a:lnTo>
                  <a:lnTo>
                    <a:pt x="492" y="62"/>
                  </a:lnTo>
                  <a:lnTo>
                    <a:pt x="500" y="62"/>
                  </a:lnTo>
                  <a:lnTo>
                    <a:pt x="509" y="62"/>
                  </a:lnTo>
                  <a:lnTo>
                    <a:pt x="517" y="60"/>
                  </a:lnTo>
                  <a:lnTo>
                    <a:pt x="524" y="60"/>
                  </a:lnTo>
                  <a:lnTo>
                    <a:pt x="534" y="58"/>
                  </a:lnTo>
                  <a:lnTo>
                    <a:pt x="543" y="58"/>
                  </a:lnTo>
                  <a:lnTo>
                    <a:pt x="551" y="57"/>
                  </a:lnTo>
                  <a:lnTo>
                    <a:pt x="561" y="57"/>
                  </a:lnTo>
                  <a:lnTo>
                    <a:pt x="570" y="55"/>
                  </a:lnTo>
                  <a:lnTo>
                    <a:pt x="580" y="55"/>
                  </a:lnTo>
                  <a:lnTo>
                    <a:pt x="585" y="51"/>
                  </a:lnTo>
                  <a:lnTo>
                    <a:pt x="593" y="49"/>
                  </a:lnTo>
                  <a:lnTo>
                    <a:pt x="600" y="47"/>
                  </a:lnTo>
                  <a:lnTo>
                    <a:pt x="610" y="43"/>
                  </a:lnTo>
                  <a:lnTo>
                    <a:pt x="619" y="39"/>
                  </a:lnTo>
                  <a:lnTo>
                    <a:pt x="629" y="34"/>
                  </a:lnTo>
                  <a:lnTo>
                    <a:pt x="633" y="32"/>
                  </a:lnTo>
                  <a:lnTo>
                    <a:pt x="638" y="30"/>
                  </a:lnTo>
                  <a:lnTo>
                    <a:pt x="644" y="26"/>
                  </a:lnTo>
                  <a:lnTo>
                    <a:pt x="648" y="24"/>
                  </a:lnTo>
                  <a:lnTo>
                    <a:pt x="657" y="20"/>
                  </a:lnTo>
                  <a:lnTo>
                    <a:pt x="667" y="15"/>
                  </a:lnTo>
                  <a:lnTo>
                    <a:pt x="675" y="9"/>
                  </a:lnTo>
                  <a:lnTo>
                    <a:pt x="682" y="7"/>
                  </a:lnTo>
                  <a:lnTo>
                    <a:pt x="688" y="3"/>
                  </a:lnTo>
                  <a:lnTo>
                    <a:pt x="694" y="1"/>
                  </a:lnTo>
                  <a:lnTo>
                    <a:pt x="695" y="0"/>
                  </a:lnTo>
                  <a:lnTo>
                    <a:pt x="697" y="0"/>
                  </a:lnTo>
                  <a:lnTo>
                    <a:pt x="846" y="598"/>
                  </a:lnTo>
                  <a:lnTo>
                    <a:pt x="950" y="669"/>
                  </a:lnTo>
                  <a:lnTo>
                    <a:pt x="887" y="718"/>
                  </a:lnTo>
                  <a:lnTo>
                    <a:pt x="486" y="218"/>
                  </a:lnTo>
                  <a:lnTo>
                    <a:pt x="157" y="657"/>
                  </a:lnTo>
                  <a:lnTo>
                    <a:pt x="0" y="669"/>
                  </a:lnTo>
                  <a:lnTo>
                    <a:pt x="0" y="638"/>
                  </a:lnTo>
                  <a:lnTo>
                    <a:pt x="129" y="581"/>
                  </a:lnTo>
                  <a:lnTo>
                    <a:pt x="298" y="26"/>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3" name="Freeform 32"/>
            <p:cNvSpPr>
              <a:spLocks/>
            </p:cNvSpPr>
            <p:nvPr/>
          </p:nvSpPr>
          <p:spPr bwMode="auto">
            <a:xfrm>
              <a:off x="5065" y="3503"/>
              <a:ext cx="253" cy="106"/>
            </a:xfrm>
            <a:custGeom>
              <a:avLst/>
              <a:gdLst>
                <a:gd name="T0" fmla="*/ 1 w 506"/>
                <a:gd name="T1" fmla="*/ 1 h 211"/>
                <a:gd name="T2" fmla="*/ 1 w 506"/>
                <a:gd name="T3" fmla="*/ 1 h 211"/>
                <a:gd name="T4" fmla="*/ 1 w 506"/>
                <a:gd name="T5" fmla="*/ 1 h 211"/>
                <a:gd name="T6" fmla="*/ 1 w 506"/>
                <a:gd name="T7" fmla="*/ 1 h 211"/>
                <a:gd name="T8" fmla="*/ 1 w 506"/>
                <a:gd name="T9" fmla="*/ 1 h 211"/>
                <a:gd name="T10" fmla="*/ 1 w 506"/>
                <a:gd name="T11" fmla="*/ 1 h 211"/>
                <a:gd name="T12" fmla="*/ 1 w 506"/>
                <a:gd name="T13" fmla="*/ 1 h 211"/>
                <a:gd name="T14" fmla="*/ 1 w 506"/>
                <a:gd name="T15" fmla="*/ 1 h 211"/>
                <a:gd name="T16" fmla="*/ 1 w 506"/>
                <a:gd name="T17" fmla="*/ 1 h 211"/>
                <a:gd name="T18" fmla="*/ 1 w 506"/>
                <a:gd name="T19" fmla="*/ 1 h 211"/>
                <a:gd name="T20" fmla="*/ 2 w 506"/>
                <a:gd name="T21" fmla="*/ 1 h 211"/>
                <a:gd name="T22" fmla="*/ 2 w 506"/>
                <a:gd name="T23" fmla="*/ 1 h 211"/>
                <a:gd name="T24" fmla="*/ 2 w 506"/>
                <a:gd name="T25" fmla="*/ 1 h 211"/>
                <a:gd name="T26" fmla="*/ 2 w 506"/>
                <a:gd name="T27" fmla="*/ 1 h 211"/>
                <a:gd name="T28" fmla="*/ 2 w 506"/>
                <a:gd name="T29" fmla="*/ 1 h 211"/>
                <a:gd name="T30" fmla="*/ 2 w 506"/>
                <a:gd name="T31" fmla="*/ 1 h 211"/>
                <a:gd name="T32" fmla="*/ 2 w 506"/>
                <a:gd name="T33" fmla="*/ 1 h 211"/>
                <a:gd name="T34" fmla="*/ 2 w 506"/>
                <a:gd name="T35" fmla="*/ 1 h 211"/>
                <a:gd name="T36" fmla="*/ 2 w 506"/>
                <a:gd name="T37" fmla="*/ 1 h 211"/>
                <a:gd name="T38" fmla="*/ 2 w 506"/>
                <a:gd name="T39" fmla="*/ 1 h 211"/>
                <a:gd name="T40" fmla="*/ 2 w 506"/>
                <a:gd name="T41" fmla="*/ 1 h 211"/>
                <a:gd name="T42" fmla="*/ 2 w 506"/>
                <a:gd name="T43" fmla="*/ 1 h 211"/>
                <a:gd name="T44" fmla="*/ 2 w 506"/>
                <a:gd name="T45" fmla="*/ 1 h 211"/>
                <a:gd name="T46" fmla="*/ 2 w 506"/>
                <a:gd name="T47" fmla="*/ 1 h 211"/>
                <a:gd name="T48" fmla="*/ 2 w 506"/>
                <a:gd name="T49" fmla="*/ 1 h 211"/>
                <a:gd name="T50" fmla="*/ 2 w 506"/>
                <a:gd name="T51" fmla="*/ 1 h 211"/>
                <a:gd name="T52" fmla="*/ 2 w 506"/>
                <a:gd name="T53" fmla="*/ 1 h 211"/>
                <a:gd name="T54" fmla="*/ 2 w 506"/>
                <a:gd name="T55" fmla="*/ 1 h 211"/>
                <a:gd name="T56" fmla="*/ 2 w 506"/>
                <a:gd name="T57" fmla="*/ 1 h 211"/>
                <a:gd name="T58" fmla="*/ 2 w 506"/>
                <a:gd name="T59" fmla="*/ 1 h 211"/>
                <a:gd name="T60" fmla="*/ 2 w 506"/>
                <a:gd name="T61" fmla="*/ 0 h 211"/>
                <a:gd name="T62" fmla="*/ 2 w 506"/>
                <a:gd name="T63" fmla="*/ 0 h 211"/>
                <a:gd name="T64" fmla="*/ 2 w 506"/>
                <a:gd name="T65" fmla="*/ 0 h 211"/>
                <a:gd name="T66" fmla="*/ 2 w 506"/>
                <a:gd name="T67" fmla="*/ 1 h 211"/>
                <a:gd name="T68" fmla="*/ 2 w 506"/>
                <a:gd name="T69" fmla="*/ 1 h 211"/>
                <a:gd name="T70" fmla="*/ 2 w 506"/>
                <a:gd name="T71" fmla="*/ 1 h 211"/>
                <a:gd name="T72" fmla="*/ 2 w 506"/>
                <a:gd name="T73" fmla="*/ 1 h 211"/>
                <a:gd name="T74" fmla="*/ 2 w 506"/>
                <a:gd name="T75" fmla="*/ 1 h 211"/>
                <a:gd name="T76" fmla="*/ 2 w 506"/>
                <a:gd name="T77" fmla="*/ 1 h 211"/>
                <a:gd name="T78" fmla="*/ 2 w 506"/>
                <a:gd name="T79" fmla="*/ 1 h 211"/>
                <a:gd name="T80" fmla="*/ 2 w 506"/>
                <a:gd name="T81" fmla="*/ 1 h 211"/>
                <a:gd name="T82" fmla="*/ 2 w 506"/>
                <a:gd name="T83" fmla="*/ 1 h 211"/>
                <a:gd name="T84" fmla="*/ 2 w 506"/>
                <a:gd name="T85" fmla="*/ 1 h 211"/>
                <a:gd name="T86" fmla="*/ 2 w 506"/>
                <a:gd name="T87" fmla="*/ 1 h 211"/>
                <a:gd name="T88" fmla="*/ 2 w 506"/>
                <a:gd name="T89" fmla="*/ 1 h 211"/>
                <a:gd name="T90" fmla="*/ 2 w 506"/>
                <a:gd name="T91" fmla="*/ 1 h 211"/>
                <a:gd name="T92" fmla="*/ 2 w 506"/>
                <a:gd name="T93" fmla="*/ 1 h 211"/>
                <a:gd name="T94" fmla="*/ 2 w 506"/>
                <a:gd name="T95" fmla="*/ 1 h 211"/>
                <a:gd name="T96" fmla="*/ 2 w 506"/>
                <a:gd name="T97" fmla="*/ 1 h 211"/>
                <a:gd name="T98" fmla="*/ 2 w 506"/>
                <a:gd name="T99" fmla="*/ 1 h 211"/>
                <a:gd name="T100" fmla="*/ 1 w 506"/>
                <a:gd name="T101" fmla="*/ 1 h 211"/>
                <a:gd name="T102" fmla="*/ 1 w 506"/>
                <a:gd name="T103" fmla="*/ 1 h 211"/>
                <a:gd name="T104" fmla="*/ 1 w 506"/>
                <a:gd name="T105" fmla="*/ 1 h 211"/>
                <a:gd name="T106" fmla="*/ 1 w 506"/>
                <a:gd name="T107" fmla="*/ 1 h 211"/>
                <a:gd name="T108" fmla="*/ 1 w 506"/>
                <a:gd name="T109" fmla="*/ 1 h 211"/>
                <a:gd name="T110" fmla="*/ 1 w 506"/>
                <a:gd name="T111" fmla="*/ 1 h 211"/>
                <a:gd name="T112" fmla="*/ 1 w 506"/>
                <a:gd name="T113" fmla="*/ 1 h 211"/>
                <a:gd name="T114" fmla="*/ 1 w 506"/>
                <a:gd name="T115" fmla="*/ 1 h 211"/>
                <a:gd name="T116" fmla="*/ 1 w 506"/>
                <a:gd name="T117" fmla="*/ 1 h 211"/>
                <a:gd name="T118" fmla="*/ 1 w 506"/>
                <a:gd name="T119" fmla="*/ 1 h 211"/>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06" h="211">
                  <a:moveTo>
                    <a:pt x="4" y="122"/>
                  </a:moveTo>
                  <a:lnTo>
                    <a:pt x="0" y="110"/>
                  </a:lnTo>
                  <a:lnTo>
                    <a:pt x="8" y="110"/>
                  </a:lnTo>
                  <a:lnTo>
                    <a:pt x="16" y="110"/>
                  </a:lnTo>
                  <a:lnTo>
                    <a:pt x="21" y="110"/>
                  </a:lnTo>
                  <a:lnTo>
                    <a:pt x="29" y="110"/>
                  </a:lnTo>
                  <a:lnTo>
                    <a:pt x="37" y="110"/>
                  </a:lnTo>
                  <a:lnTo>
                    <a:pt x="42" y="110"/>
                  </a:lnTo>
                  <a:lnTo>
                    <a:pt x="48" y="110"/>
                  </a:lnTo>
                  <a:lnTo>
                    <a:pt x="56" y="110"/>
                  </a:lnTo>
                  <a:lnTo>
                    <a:pt x="61" y="110"/>
                  </a:lnTo>
                  <a:lnTo>
                    <a:pt x="67" y="110"/>
                  </a:lnTo>
                  <a:lnTo>
                    <a:pt x="73" y="110"/>
                  </a:lnTo>
                  <a:lnTo>
                    <a:pt x="78" y="110"/>
                  </a:lnTo>
                  <a:lnTo>
                    <a:pt x="84" y="110"/>
                  </a:lnTo>
                  <a:lnTo>
                    <a:pt x="90" y="112"/>
                  </a:lnTo>
                  <a:lnTo>
                    <a:pt x="95" y="112"/>
                  </a:lnTo>
                  <a:lnTo>
                    <a:pt x="101" y="114"/>
                  </a:lnTo>
                  <a:lnTo>
                    <a:pt x="105" y="114"/>
                  </a:lnTo>
                  <a:lnTo>
                    <a:pt x="111" y="116"/>
                  </a:lnTo>
                  <a:lnTo>
                    <a:pt x="116" y="116"/>
                  </a:lnTo>
                  <a:lnTo>
                    <a:pt x="122" y="118"/>
                  </a:lnTo>
                  <a:lnTo>
                    <a:pt x="128" y="118"/>
                  </a:lnTo>
                  <a:lnTo>
                    <a:pt x="135" y="120"/>
                  </a:lnTo>
                  <a:lnTo>
                    <a:pt x="141" y="122"/>
                  </a:lnTo>
                  <a:lnTo>
                    <a:pt x="149" y="124"/>
                  </a:lnTo>
                  <a:lnTo>
                    <a:pt x="156" y="124"/>
                  </a:lnTo>
                  <a:lnTo>
                    <a:pt x="164" y="126"/>
                  </a:lnTo>
                  <a:lnTo>
                    <a:pt x="171" y="127"/>
                  </a:lnTo>
                  <a:lnTo>
                    <a:pt x="179" y="129"/>
                  </a:lnTo>
                  <a:lnTo>
                    <a:pt x="189" y="131"/>
                  </a:lnTo>
                  <a:lnTo>
                    <a:pt x="196" y="133"/>
                  </a:lnTo>
                  <a:lnTo>
                    <a:pt x="206" y="135"/>
                  </a:lnTo>
                  <a:lnTo>
                    <a:pt x="215" y="139"/>
                  </a:lnTo>
                  <a:lnTo>
                    <a:pt x="223" y="139"/>
                  </a:lnTo>
                  <a:lnTo>
                    <a:pt x="229" y="141"/>
                  </a:lnTo>
                  <a:lnTo>
                    <a:pt x="236" y="143"/>
                  </a:lnTo>
                  <a:lnTo>
                    <a:pt x="244" y="145"/>
                  </a:lnTo>
                  <a:lnTo>
                    <a:pt x="248" y="145"/>
                  </a:lnTo>
                  <a:lnTo>
                    <a:pt x="255" y="146"/>
                  </a:lnTo>
                  <a:lnTo>
                    <a:pt x="261" y="148"/>
                  </a:lnTo>
                  <a:lnTo>
                    <a:pt x="267" y="150"/>
                  </a:lnTo>
                  <a:lnTo>
                    <a:pt x="272" y="150"/>
                  </a:lnTo>
                  <a:lnTo>
                    <a:pt x="276" y="152"/>
                  </a:lnTo>
                  <a:lnTo>
                    <a:pt x="282" y="152"/>
                  </a:lnTo>
                  <a:lnTo>
                    <a:pt x="287" y="154"/>
                  </a:lnTo>
                  <a:lnTo>
                    <a:pt x="295" y="154"/>
                  </a:lnTo>
                  <a:lnTo>
                    <a:pt x="305" y="156"/>
                  </a:lnTo>
                  <a:lnTo>
                    <a:pt x="310" y="158"/>
                  </a:lnTo>
                  <a:lnTo>
                    <a:pt x="320" y="158"/>
                  </a:lnTo>
                  <a:lnTo>
                    <a:pt x="325" y="158"/>
                  </a:lnTo>
                  <a:lnTo>
                    <a:pt x="333" y="160"/>
                  </a:lnTo>
                  <a:lnTo>
                    <a:pt x="341" y="158"/>
                  </a:lnTo>
                  <a:lnTo>
                    <a:pt x="348" y="158"/>
                  </a:lnTo>
                  <a:lnTo>
                    <a:pt x="356" y="158"/>
                  </a:lnTo>
                  <a:lnTo>
                    <a:pt x="363" y="158"/>
                  </a:lnTo>
                  <a:lnTo>
                    <a:pt x="369" y="158"/>
                  </a:lnTo>
                  <a:lnTo>
                    <a:pt x="377" y="158"/>
                  </a:lnTo>
                  <a:lnTo>
                    <a:pt x="382" y="158"/>
                  </a:lnTo>
                  <a:lnTo>
                    <a:pt x="390" y="158"/>
                  </a:lnTo>
                  <a:lnTo>
                    <a:pt x="396" y="154"/>
                  </a:lnTo>
                  <a:lnTo>
                    <a:pt x="401" y="154"/>
                  </a:lnTo>
                  <a:lnTo>
                    <a:pt x="407" y="154"/>
                  </a:lnTo>
                  <a:lnTo>
                    <a:pt x="415" y="152"/>
                  </a:lnTo>
                  <a:lnTo>
                    <a:pt x="419" y="150"/>
                  </a:lnTo>
                  <a:lnTo>
                    <a:pt x="424" y="148"/>
                  </a:lnTo>
                  <a:lnTo>
                    <a:pt x="430" y="146"/>
                  </a:lnTo>
                  <a:lnTo>
                    <a:pt x="436" y="145"/>
                  </a:lnTo>
                  <a:lnTo>
                    <a:pt x="443" y="141"/>
                  </a:lnTo>
                  <a:lnTo>
                    <a:pt x="453" y="137"/>
                  </a:lnTo>
                  <a:lnTo>
                    <a:pt x="459" y="129"/>
                  </a:lnTo>
                  <a:lnTo>
                    <a:pt x="464" y="124"/>
                  </a:lnTo>
                  <a:lnTo>
                    <a:pt x="468" y="118"/>
                  </a:lnTo>
                  <a:lnTo>
                    <a:pt x="472" y="112"/>
                  </a:lnTo>
                  <a:lnTo>
                    <a:pt x="474" y="105"/>
                  </a:lnTo>
                  <a:lnTo>
                    <a:pt x="476" y="99"/>
                  </a:lnTo>
                  <a:lnTo>
                    <a:pt x="474" y="91"/>
                  </a:lnTo>
                  <a:lnTo>
                    <a:pt x="472" y="86"/>
                  </a:lnTo>
                  <a:lnTo>
                    <a:pt x="470" y="80"/>
                  </a:lnTo>
                  <a:lnTo>
                    <a:pt x="468" y="74"/>
                  </a:lnTo>
                  <a:lnTo>
                    <a:pt x="464" y="69"/>
                  </a:lnTo>
                  <a:lnTo>
                    <a:pt x="462" y="63"/>
                  </a:lnTo>
                  <a:lnTo>
                    <a:pt x="457" y="59"/>
                  </a:lnTo>
                  <a:lnTo>
                    <a:pt x="453" y="55"/>
                  </a:lnTo>
                  <a:lnTo>
                    <a:pt x="449" y="50"/>
                  </a:lnTo>
                  <a:lnTo>
                    <a:pt x="443" y="48"/>
                  </a:lnTo>
                  <a:lnTo>
                    <a:pt x="438" y="44"/>
                  </a:lnTo>
                  <a:lnTo>
                    <a:pt x="432" y="42"/>
                  </a:lnTo>
                  <a:lnTo>
                    <a:pt x="424" y="38"/>
                  </a:lnTo>
                  <a:lnTo>
                    <a:pt x="421" y="38"/>
                  </a:lnTo>
                  <a:lnTo>
                    <a:pt x="413" y="36"/>
                  </a:lnTo>
                  <a:lnTo>
                    <a:pt x="407" y="34"/>
                  </a:lnTo>
                  <a:lnTo>
                    <a:pt x="401" y="34"/>
                  </a:lnTo>
                  <a:lnTo>
                    <a:pt x="396" y="34"/>
                  </a:lnTo>
                  <a:lnTo>
                    <a:pt x="388" y="36"/>
                  </a:lnTo>
                  <a:lnTo>
                    <a:pt x="379" y="38"/>
                  </a:lnTo>
                  <a:lnTo>
                    <a:pt x="373" y="38"/>
                  </a:lnTo>
                  <a:lnTo>
                    <a:pt x="367" y="40"/>
                  </a:lnTo>
                  <a:lnTo>
                    <a:pt x="362" y="44"/>
                  </a:lnTo>
                  <a:lnTo>
                    <a:pt x="358" y="46"/>
                  </a:lnTo>
                  <a:lnTo>
                    <a:pt x="350" y="48"/>
                  </a:lnTo>
                  <a:lnTo>
                    <a:pt x="346" y="50"/>
                  </a:lnTo>
                  <a:lnTo>
                    <a:pt x="341" y="51"/>
                  </a:lnTo>
                  <a:lnTo>
                    <a:pt x="337" y="53"/>
                  </a:lnTo>
                  <a:lnTo>
                    <a:pt x="327" y="55"/>
                  </a:lnTo>
                  <a:lnTo>
                    <a:pt x="322" y="57"/>
                  </a:lnTo>
                  <a:lnTo>
                    <a:pt x="314" y="55"/>
                  </a:lnTo>
                  <a:lnTo>
                    <a:pt x="305" y="55"/>
                  </a:lnTo>
                  <a:lnTo>
                    <a:pt x="297" y="53"/>
                  </a:lnTo>
                  <a:lnTo>
                    <a:pt x="291" y="53"/>
                  </a:lnTo>
                  <a:lnTo>
                    <a:pt x="284" y="48"/>
                  </a:lnTo>
                  <a:lnTo>
                    <a:pt x="280" y="44"/>
                  </a:lnTo>
                  <a:lnTo>
                    <a:pt x="276" y="40"/>
                  </a:lnTo>
                  <a:lnTo>
                    <a:pt x="274" y="34"/>
                  </a:lnTo>
                  <a:lnTo>
                    <a:pt x="274" y="29"/>
                  </a:lnTo>
                  <a:lnTo>
                    <a:pt x="276" y="23"/>
                  </a:lnTo>
                  <a:lnTo>
                    <a:pt x="282" y="17"/>
                  </a:lnTo>
                  <a:lnTo>
                    <a:pt x="289" y="12"/>
                  </a:lnTo>
                  <a:lnTo>
                    <a:pt x="293" y="10"/>
                  </a:lnTo>
                  <a:lnTo>
                    <a:pt x="297" y="6"/>
                  </a:lnTo>
                  <a:lnTo>
                    <a:pt x="303" y="4"/>
                  </a:lnTo>
                  <a:lnTo>
                    <a:pt x="308" y="4"/>
                  </a:lnTo>
                  <a:lnTo>
                    <a:pt x="314" y="0"/>
                  </a:lnTo>
                  <a:lnTo>
                    <a:pt x="322" y="0"/>
                  </a:lnTo>
                  <a:lnTo>
                    <a:pt x="329" y="0"/>
                  </a:lnTo>
                  <a:lnTo>
                    <a:pt x="339" y="0"/>
                  </a:lnTo>
                  <a:lnTo>
                    <a:pt x="344" y="0"/>
                  </a:lnTo>
                  <a:lnTo>
                    <a:pt x="352" y="0"/>
                  </a:lnTo>
                  <a:lnTo>
                    <a:pt x="358" y="0"/>
                  </a:lnTo>
                  <a:lnTo>
                    <a:pt x="365" y="0"/>
                  </a:lnTo>
                  <a:lnTo>
                    <a:pt x="369" y="0"/>
                  </a:lnTo>
                  <a:lnTo>
                    <a:pt x="377" y="0"/>
                  </a:lnTo>
                  <a:lnTo>
                    <a:pt x="382" y="2"/>
                  </a:lnTo>
                  <a:lnTo>
                    <a:pt x="390" y="4"/>
                  </a:lnTo>
                  <a:lnTo>
                    <a:pt x="396" y="6"/>
                  </a:lnTo>
                  <a:lnTo>
                    <a:pt x="401" y="8"/>
                  </a:lnTo>
                  <a:lnTo>
                    <a:pt x="409" y="10"/>
                  </a:lnTo>
                  <a:lnTo>
                    <a:pt x="417" y="12"/>
                  </a:lnTo>
                  <a:lnTo>
                    <a:pt x="422" y="13"/>
                  </a:lnTo>
                  <a:lnTo>
                    <a:pt x="428" y="17"/>
                  </a:lnTo>
                  <a:lnTo>
                    <a:pt x="434" y="21"/>
                  </a:lnTo>
                  <a:lnTo>
                    <a:pt x="441" y="23"/>
                  </a:lnTo>
                  <a:lnTo>
                    <a:pt x="447" y="27"/>
                  </a:lnTo>
                  <a:lnTo>
                    <a:pt x="451" y="29"/>
                  </a:lnTo>
                  <a:lnTo>
                    <a:pt x="457" y="32"/>
                  </a:lnTo>
                  <a:lnTo>
                    <a:pt x="462" y="38"/>
                  </a:lnTo>
                  <a:lnTo>
                    <a:pt x="472" y="46"/>
                  </a:lnTo>
                  <a:lnTo>
                    <a:pt x="479" y="53"/>
                  </a:lnTo>
                  <a:lnTo>
                    <a:pt x="487" y="63"/>
                  </a:lnTo>
                  <a:lnTo>
                    <a:pt x="493" y="74"/>
                  </a:lnTo>
                  <a:lnTo>
                    <a:pt x="497" y="80"/>
                  </a:lnTo>
                  <a:lnTo>
                    <a:pt x="498" y="84"/>
                  </a:lnTo>
                  <a:lnTo>
                    <a:pt x="500" y="89"/>
                  </a:lnTo>
                  <a:lnTo>
                    <a:pt x="502" y="97"/>
                  </a:lnTo>
                  <a:lnTo>
                    <a:pt x="504" y="103"/>
                  </a:lnTo>
                  <a:lnTo>
                    <a:pt x="506" y="110"/>
                  </a:lnTo>
                  <a:lnTo>
                    <a:pt x="506" y="116"/>
                  </a:lnTo>
                  <a:lnTo>
                    <a:pt x="506" y="124"/>
                  </a:lnTo>
                  <a:lnTo>
                    <a:pt x="506" y="129"/>
                  </a:lnTo>
                  <a:lnTo>
                    <a:pt x="506" y="137"/>
                  </a:lnTo>
                  <a:lnTo>
                    <a:pt x="504" y="143"/>
                  </a:lnTo>
                  <a:lnTo>
                    <a:pt x="502" y="148"/>
                  </a:lnTo>
                  <a:lnTo>
                    <a:pt x="500" y="154"/>
                  </a:lnTo>
                  <a:lnTo>
                    <a:pt x="498" y="158"/>
                  </a:lnTo>
                  <a:lnTo>
                    <a:pt x="495" y="164"/>
                  </a:lnTo>
                  <a:lnTo>
                    <a:pt x="491" y="169"/>
                  </a:lnTo>
                  <a:lnTo>
                    <a:pt x="487" y="173"/>
                  </a:lnTo>
                  <a:lnTo>
                    <a:pt x="481" y="179"/>
                  </a:lnTo>
                  <a:lnTo>
                    <a:pt x="476" y="183"/>
                  </a:lnTo>
                  <a:lnTo>
                    <a:pt x="472" y="186"/>
                  </a:lnTo>
                  <a:lnTo>
                    <a:pt x="462" y="192"/>
                  </a:lnTo>
                  <a:lnTo>
                    <a:pt x="453" y="198"/>
                  </a:lnTo>
                  <a:lnTo>
                    <a:pt x="447" y="200"/>
                  </a:lnTo>
                  <a:lnTo>
                    <a:pt x="441" y="202"/>
                  </a:lnTo>
                  <a:lnTo>
                    <a:pt x="436" y="203"/>
                  </a:lnTo>
                  <a:lnTo>
                    <a:pt x="432" y="205"/>
                  </a:lnTo>
                  <a:lnTo>
                    <a:pt x="426" y="205"/>
                  </a:lnTo>
                  <a:lnTo>
                    <a:pt x="421" y="207"/>
                  </a:lnTo>
                  <a:lnTo>
                    <a:pt x="415" y="207"/>
                  </a:lnTo>
                  <a:lnTo>
                    <a:pt x="409" y="209"/>
                  </a:lnTo>
                  <a:lnTo>
                    <a:pt x="403" y="211"/>
                  </a:lnTo>
                  <a:lnTo>
                    <a:pt x="398" y="211"/>
                  </a:lnTo>
                  <a:lnTo>
                    <a:pt x="392" y="211"/>
                  </a:lnTo>
                  <a:lnTo>
                    <a:pt x="386" y="211"/>
                  </a:lnTo>
                  <a:lnTo>
                    <a:pt x="377" y="211"/>
                  </a:lnTo>
                  <a:lnTo>
                    <a:pt x="369" y="211"/>
                  </a:lnTo>
                  <a:lnTo>
                    <a:pt x="360" y="211"/>
                  </a:lnTo>
                  <a:lnTo>
                    <a:pt x="350" y="211"/>
                  </a:lnTo>
                  <a:lnTo>
                    <a:pt x="341" y="211"/>
                  </a:lnTo>
                  <a:lnTo>
                    <a:pt x="331" y="209"/>
                  </a:lnTo>
                  <a:lnTo>
                    <a:pt x="322" y="207"/>
                  </a:lnTo>
                  <a:lnTo>
                    <a:pt x="312" y="207"/>
                  </a:lnTo>
                  <a:lnTo>
                    <a:pt x="306" y="205"/>
                  </a:lnTo>
                  <a:lnTo>
                    <a:pt x="303" y="203"/>
                  </a:lnTo>
                  <a:lnTo>
                    <a:pt x="297" y="202"/>
                  </a:lnTo>
                  <a:lnTo>
                    <a:pt x="293" y="202"/>
                  </a:lnTo>
                  <a:lnTo>
                    <a:pt x="287" y="200"/>
                  </a:lnTo>
                  <a:lnTo>
                    <a:pt x="282" y="198"/>
                  </a:lnTo>
                  <a:lnTo>
                    <a:pt x="276" y="196"/>
                  </a:lnTo>
                  <a:lnTo>
                    <a:pt x="270" y="194"/>
                  </a:lnTo>
                  <a:lnTo>
                    <a:pt x="265" y="192"/>
                  </a:lnTo>
                  <a:lnTo>
                    <a:pt x="257" y="190"/>
                  </a:lnTo>
                  <a:lnTo>
                    <a:pt x="251" y="186"/>
                  </a:lnTo>
                  <a:lnTo>
                    <a:pt x="246" y="184"/>
                  </a:lnTo>
                  <a:lnTo>
                    <a:pt x="238" y="183"/>
                  </a:lnTo>
                  <a:lnTo>
                    <a:pt x="232" y="181"/>
                  </a:lnTo>
                  <a:lnTo>
                    <a:pt x="225" y="177"/>
                  </a:lnTo>
                  <a:lnTo>
                    <a:pt x="219" y="175"/>
                  </a:lnTo>
                  <a:lnTo>
                    <a:pt x="213" y="171"/>
                  </a:lnTo>
                  <a:lnTo>
                    <a:pt x="208" y="169"/>
                  </a:lnTo>
                  <a:lnTo>
                    <a:pt x="202" y="165"/>
                  </a:lnTo>
                  <a:lnTo>
                    <a:pt x="196" y="164"/>
                  </a:lnTo>
                  <a:lnTo>
                    <a:pt x="187" y="160"/>
                  </a:lnTo>
                  <a:lnTo>
                    <a:pt x="177" y="158"/>
                  </a:lnTo>
                  <a:lnTo>
                    <a:pt x="168" y="152"/>
                  </a:lnTo>
                  <a:lnTo>
                    <a:pt x="160" y="150"/>
                  </a:lnTo>
                  <a:lnTo>
                    <a:pt x="151" y="146"/>
                  </a:lnTo>
                  <a:lnTo>
                    <a:pt x="143" y="145"/>
                  </a:lnTo>
                  <a:lnTo>
                    <a:pt x="135" y="141"/>
                  </a:lnTo>
                  <a:lnTo>
                    <a:pt x="128" y="139"/>
                  </a:lnTo>
                  <a:lnTo>
                    <a:pt x="120" y="135"/>
                  </a:lnTo>
                  <a:lnTo>
                    <a:pt x="116" y="133"/>
                  </a:lnTo>
                  <a:lnTo>
                    <a:pt x="111" y="131"/>
                  </a:lnTo>
                  <a:lnTo>
                    <a:pt x="105" y="131"/>
                  </a:lnTo>
                  <a:lnTo>
                    <a:pt x="99" y="129"/>
                  </a:lnTo>
                  <a:lnTo>
                    <a:pt x="95" y="129"/>
                  </a:lnTo>
                  <a:lnTo>
                    <a:pt x="92" y="127"/>
                  </a:lnTo>
                  <a:lnTo>
                    <a:pt x="86" y="127"/>
                  </a:lnTo>
                  <a:lnTo>
                    <a:pt x="80" y="126"/>
                  </a:lnTo>
                  <a:lnTo>
                    <a:pt x="76" y="126"/>
                  </a:lnTo>
                  <a:lnTo>
                    <a:pt x="71" y="124"/>
                  </a:lnTo>
                  <a:lnTo>
                    <a:pt x="65" y="124"/>
                  </a:lnTo>
                  <a:lnTo>
                    <a:pt x="59" y="122"/>
                  </a:lnTo>
                  <a:lnTo>
                    <a:pt x="54" y="122"/>
                  </a:lnTo>
                  <a:lnTo>
                    <a:pt x="48" y="122"/>
                  </a:lnTo>
                  <a:lnTo>
                    <a:pt x="42" y="122"/>
                  </a:lnTo>
                  <a:lnTo>
                    <a:pt x="37" y="122"/>
                  </a:lnTo>
                  <a:lnTo>
                    <a:pt x="31" y="122"/>
                  </a:lnTo>
                  <a:lnTo>
                    <a:pt x="23" y="122"/>
                  </a:lnTo>
                  <a:lnTo>
                    <a:pt x="18" y="122"/>
                  </a:lnTo>
                  <a:lnTo>
                    <a:pt x="10" y="122"/>
                  </a:lnTo>
                  <a:lnTo>
                    <a:pt x="4" y="122"/>
                  </a:lnTo>
                  <a:close/>
                </a:path>
              </a:pathLst>
            </a:custGeom>
            <a:solidFill>
              <a:srgbClr val="FF87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4" name="Freeform 33"/>
            <p:cNvSpPr>
              <a:spLocks/>
            </p:cNvSpPr>
            <p:nvPr/>
          </p:nvSpPr>
          <p:spPr bwMode="auto">
            <a:xfrm>
              <a:off x="5010" y="3547"/>
              <a:ext cx="49" cy="36"/>
            </a:xfrm>
            <a:custGeom>
              <a:avLst/>
              <a:gdLst>
                <a:gd name="T0" fmla="*/ 0 w 99"/>
                <a:gd name="T1" fmla="*/ 1 h 72"/>
                <a:gd name="T2" fmla="*/ 0 w 99"/>
                <a:gd name="T3" fmla="*/ 1 h 72"/>
                <a:gd name="T4" fmla="*/ 0 w 99"/>
                <a:gd name="T5" fmla="*/ 1 h 72"/>
                <a:gd name="T6" fmla="*/ 0 w 99"/>
                <a:gd name="T7" fmla="*/ 1 h 72"/>
                <a:gd name="T8" fmla="*/ 0 w 99"/>
                <a:gd name="T9" fmla="*/ 1 h 72"/>
                <a:gd name="T10" fmla="*/ 0 w 99"/>
                <a:gd name="T11" fmla="*/ 1 h 72"/>
                <a:gd name="T12" fmla="*/ 0 w 99"/>
                <a:gd name="T13" fmla="*/ 1 h 72"/>
                <a:gd name="T14" fmla="*/ 0 w 99"/>
                <a:gd name="T15" fmla="*/ 1 h 72"/>
                <a:gd name="T16" fmla="*/ 0 w 99"/>
                <a:gd name="T17" fmla="*/ 1 h 72"/>
                <a:gd name="T18" fmla="*/ 0 w 99"/>
                <a:gd name="T19" fmla="*/ 1 h 72"/>
                <a:gd name="T20" fmla="*/ 0 w 99"/>
                <a:gd name="T21" fmla="*/ 1 h 72"/>
                <a:gd name="T22" fmla="*/ 0 w 99"/>
                <a:gd name="T23" fmla="*/ 1 h 72"/>
                <a:gd name="T24" fmla="*/ 0 w 99"/>
                <a:gd name="T25" fmla="*/ 1 h 72"/>
                <a:gd name="T26" fmla="*/ 0 w 99"/>
                <a:gd name="T27" fmla="*/ 1 h 72"/>
                <a:gd name="T28" fmla="*/ 0 w 99"/>
                <a:gd name="T29" fmla="*/ 1 h 72"/>
                <a:gd name="T30" fmla="*/ 0 w 99"/>
                <a:gd name="T31" fmla="*/ 1 h 72"/>
                <a:gd name="T32" fmla="*/ 0 w 99"/>
                <a:gd name="T33" fmla="*/ 1 h 72"/>
                <a:gd name="T34" fmla="*/ 0 w 99"/>
                <a:gd name="T35" fmla="*/ 1 h 72"/>
                <a:gd name="T36" fmla="*/ 0 w 99"/>
                <a:gd name="T37" fmla="*/ 1 h 72"/>
                <a:gd name="T38" fmla="*/ 0 w 99"/>
                <a:gd name="T39" fmla="*/ 1 h 72"/>
                <a:gd name="T40" fmla="*/ 0 w 99"/>
                <a:gd name="T41" fmla="*/ 1 h 72"/>
                <a:gd name="T42" fmla="*/ 0 w 99"/>
                <a:gd name="T43" fmla="*/ 1 h 72"/>
                <a:gd name="T44" fmla="*/ 0 w 99"/>
                <a:gd name="T45" fmla="*/ 1 h 72"/>
                <a:gd name="T46" fmla="*/ 0 w 99"/>
                <a:gd name="T47" fmla="*/ 1 h 72"/>
                <a:gd name="T48" fmla="*/ 0 w 99"/>
                <a:gd name="T49" fmla="*/ 0 h 72"/>
                <a:gd name="T50" fmla="*/ 0 w 99"/>
                <a:gd name="T51" fmla="*/ 0 h 72"/>
                <a:gd name="T52" fmla="*/ 0 w 99"/>
                <a:gd name="T53" fmla="*/ 1 h 72"/>
                <a:gd name="T54" fmla="*/ 0 w 99"/>
                <a:gd name="T55" fmla="*/ 1 h 72"/>
                <a:gd name="T56" fmla="*/ 0 w 99"/>
                <a:gd name="T57" fmla="*/ 1 h 72"/>
                <a:gd name="T58" fmla="*/ 0 w 99"/>
                <a:gd name="T59" fmla="*/ 1 h 72"/>
                <a:gd name="T60" fmla="*/ 0 w 99"/>
                <a:gd name="T61" fmla="*/ 1 h 72"/>
                <a:gd name="T62" fmla="*/ 0 w 99"/>
                <a:gd name="T63" fmla="*/ 1 h 72"/>
                <a:gd name="T64" fmla="*/ 0 w 99"/>
                <a:gd name="T65" fmla="*/ 1 h 72"/>
                <a:gd name="T66" fmla="*/ 0 w 99"/>
                <a:gd name="T67" fmla="*/ 1 h 72"/>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9" h="72">
                  <a:moveTo>
                    <a:pt x="99" y="34"/>
                  </a:moveTo>
                  <a:lnTo>
                    <a:pt x="99" y="41"/>
                  </a:lnTo>
                  <a:lnTo>
                    <a:pt x="97" y="47"/>
                  </a:lnTo>
                  <a:lnTo>
                    <a:pt x="95" y="53"/>
                  </a:lnTo>
                  <a:lnTo>
                    <a:pt x="91" y="60"/>
                  </a:lnTo>
                  <a:lnTo>
                    <a:pt x="84" y="64"/>
                  </a:lnTo>
                  <a:lnTo>
                    <a:pt x="76" y="70"/>
                  </a:lnTo>
                  <a:lnTo>
                    <a:pt x="67" y="70"/>
                  </a:lnTo>
                  <a:lnTo>
                    <a:pt x="57" y="72"/>
                  </a:lnTo>
                  <a:lnTo>
                    <a:pt x="48" y="72"/>
                  </a:lnTo>
                  <a:lnTo>
                    <a:pt x="40" y="72"/>
                  </a:lnTo>
                  <a:lnTo>
                    <a:pt x="31" y="70"/>
                  </a:lnTo>
                  <a:lnTo>
                    <a:pt x="23" y="66"/>
                  </a:lnTo>
                  <a:lnTo>
                    <a:pt x="13" y="60"/>
                  </a:lnTo>
                  <a:lnTo>
                    <a:pt x="8" y="55"/>
                  </a:lnTo>
                  <a:lnTo>
                    <a:pt x="4" y="47"/>
                  </a:lnTo>
                  <a:lnTo>
                    <a:pt x="2" y="39"/>
                  </a:lnTo>
                  <a:lnTo>
                    <a:pt x="0" y="32"/>
                  </a:lnTo>
                  <a:lnTo>
                    <a:pt x="2" y="26"/>
                  </a:lnTo>
                  <a:lnTo>
                    <a:pt x="6" y="19"/>
                  </a:lnTo>
                  <a:lnTo>
                    <a:pt x="12" y="13"/>
                  </a:lnTo>
                  <a:lnTo>
                    <a:pt x="17" y="7"/>
                  </a:lnTo>
                  <a:lnTo>
                    <a:pt x="25" y="5"/>
                  </a:lnTo>
                  <a:lnTo>
                    <a:pt x="32" y="1"/>
                  </a:lnTo>
                  <a:lnTo>
                    <a:pt x="42" y="0"/>
                  </a:lnTo>
                  <a:lnTo>
                    <a:pt x="51" y="0"/>
                  </a:lnTo>
                  <a:lnTo>
                    <a:pt x="61" y="1"/>
                  </a:lnTo>
                  <a:lnTo>
                    <a:pt x="70" y="3"/>
                  </a:lnTo>
                  <a:lnTo>
                    <a:pt x="80" y="9"/>
                  </a:lnTo>
                  <a:lnTo>
                    <a:pt x="86" y="13"/>
                  </a:lnTo>
                  <a:lnTo>
                    <a:pt x="91" y="19"/>
                  </a:lnTo>
                  <a:lnTo>
                    <a:pt x="95" y="26"/>
                  </a:lnTo>
                  <a:lnTo>
                    <a:pt x="99" y="34"/>
                  </a:lnTo>
                  <a:close/>
                </a:path>
              </a:pathLst>
            </a:custGeom>
            <a:solidFill>
              <a:srgbClr val="FF87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5" name="Freeform 34"/>
            <p:cNvSpPr>
              <a:spLocks/>
            </p:cNvSpPr>
            <p:nvPr/>
          </p:nvSpPr>
          <p:spPr bwMode="auto">
            <a:xfrm>
              <a:off x="4981" y="3543"/>
              <a:ext cx="57" cy="58"/>
            </a:xfrm>
            <a:custGeom>
              <a:avLst/>
              <a:gdLst>
                <a:gd name="T0" fmla="*/ 1 w 114"/>
                <a:gd name="T1" fmla="*/ 1 h 116"/>
                <a:gd name="T2" fmla="*/ 1 w 114"/>
                <a:gd name="T3" fmla="*/ 0 h 116"/>
                <a:gd name="T4" fmla="*/ 1 w 114"/>
                <a:gd name="T5" fmla="*/ 1 h 116"/>
                <a:gd name="T6" fmla="*/ 1 w 114"/>
                <a:gd name="T7" fmla="*/ 1 h 116"/>
                <a:gd name="T8" fmla="*/ 1 w 114"/>
                <a:gd name="T9" fmla="*/ 1 h 116"/>
                <a:gd name="T10" fmla="*/ 1 w 114"/>
                <a:gd name="T11" fmla="*/ 1 h 116"/>
                <a:gd name="T12" fmla="*/ 1 w 114"/>
                <a:gd name="T13" fmla="*/ 1 h 116"/>
                <a:gd name="T14" fmla="*/ 1 w 114"/>
                <a:gd name="T15" fmla="*/ 1 h 116"/>
                <a:gd name="T16" fmla="*/ 0 w 114"/>
                <a:gd name="T17" fmla="*/ 1 h 116"/>
                <a:gd name="T18" fmla="*/ 1 w 114"/>
                <a:gd name="T19" fmla="*/ 1 h 116"/>
                <a:gd name="T20" fmla="*/ 1 w 114"/>
                <a:gd name="T21" fmla="*/ 1 h 11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14" h="116">
                  <a:moveTo>
                    <a:pt x="10" y="63"/>
                  </a:moveTo>
                  <a:lnTo>
                    <a:pt x="53" y="0"/>
                  </a:lnTo>
                  <a:lnTo>
                    <a:pt x="114" y="34"/>
                  </a:lnTo>
                  <a:lnTo>
                    <a:pt x="90" y="53"/>
                  </a:lnTo>
                  <a:lnTo>
                    <a:pt x="101" y="68"/>
                  </a:lnTo>
                  <a:lnTo>
                    <a:pt x="82" y="78"/>
                  </a:lnTo>
                  <a:lnTo>
                    <a:pt x="90" y="101"/>
                  </a:lnTo>
                  <a:lnTo>
                    <a:pt x="53" y="116"/>
                  </a:lnTo>
                  <a:lnTo>
                    <a:pt x="0" y="76"/>
                  </a:lnTo>
                  <a:lnTo>
                    <a:pt x="10" y="63"/>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6" name="Freeform 35"/>
            <p:cNvSpPr>
              <a:spLocks/>
            </p:cNvSpPr>
            <p:nvPr/>
          </p:nvSpPr>
          <p:spPr bwMode="auto">
            <a:xfrm>
              <a:off x="4982" y="3552"/>
              <a:ext cx="39" cy="38"/>
            </a:xfrm>
            <a:custGeom>
              <a:avLst/>
              <a:gdLst>
                <a:gd name="T0" fmla="*/ 0 w 80"/>
                <a:gd name="T1" fmla="*/ 0 h 78"/>
                <a:gd name="T2" fmla="*/ 0 w 80"/>
                <a:gd name="T3" fmla="*/ 0 h 78"/>
                <a:gd name="T4" fmla="*/ 0 w 80"/>
                <a:gd name="T5" fmla="*/ 0 h 78"/>
                <a:gd name="T6" fmla="*/ 0 w 80"/>
                <a:gd name="T7" fmla="*/ 0 h 78"/>
                <a:gd name="T8" fmla="*/ 0 w 80"/>
                <a:gd name="T9" fmla="*/ 0 h 78"/>
                <a:gd name="T10" fmla="*/ 0 w 80"/>
                <a:gd name="T11" fmla="*/ 0 h 78"/>
                <a:gd name="T12" fmla="*/ 0 w 80"/>
                <a:gd name="T13" fmla="*/ 0 h 78"/>
                <a:gd name="T14" fmla="*/ 0 w 80"/>
                <a:gd name="T15" fmla="*/ 0 h 78"/>
                <a:gd name="T16" fmla="*/ 0 w 80"/>
                <a:gd name="T17" fmla="*/ 0 h 78"/>
                <a:gd name="T18" fmla="*/ 0 w 80"/>
                <a:gd name="T19" fmla="*/ 0 h 78"/>
                <a:gd name="T20" fmla="*/ 0 w 80"/>
                <a:gd name="T21" fmla="*/ 0 h 78"/>
                <a:gd name="T22" fmla="*/ 0 w 80"/>
                <a:gd name="T23" fmla="*/ 0 h 78"/>
                <a:gd name="T24" fmla="*/ 0 w 80"/>
                <a:gd name="T25" fmla="*/ 0 h 78"/>
                <a:gd name="T26" fmla="*/ 0 w 80"/>
                <a:gd name="T27" fmla="*/ 0 h 78"/>
                <a:gd name="T28" fmla="*/ 0 w 80"/>
                <a:gd name="T29" fmla="*/ 0 h 78"/>
                <a:gd name="T30" fmla="*/ 0 w 80"/>
                <a:gd name="T31" fmla="*/ 0 h 78"/>
                <a:gd name="T32" fmla="*/ 0 w 80"/>
                <a:gd name="T33" fmla="*/ 0 h 78"/>
                <a:gd name="T34" fmla="*/ 0 w 80"/>
                <a:gd name="T35" fmla="*/ 0 h 78"/>
                <a:gd name="T36" fmla="*/ 0 w 80"/>
                <a:gd name="T37" fmla="*/ 0 h 78"/>
                <a:gd name="T38" fmla="*/ 0 w 80"/>
                <a:gd name="T39" fmla="*/ 0 h 78"/>
                <a:gd name="T40" fmla="*/ 0 w 80"/>
                <a:gd name="T41" fmla="*/ 0 h 78"/>
                <a:gd name="T42" fmla="*/ 0 w 80"/>
                <a:gd name="T43" fmla="*/ 0 h 78"/>
                <a:gd name="T44" fmla="*/ 0 w 80"/>
                <a:gd name="T45" fmla="*/ 0 h 78"/>
                <a:gd name="T46" fmla="*/ 0 w 80"/>
                <a:gd name="T47" fmla="*/ 0 h 78"/>
                <a:gd name="T48" fmla="*/ 0 w 80"/>
                <a:gd name="T49" fmla="*/ 0 h 78"/>
                <a:gd name="T50" fmla="*/ 0 w 80"/>
                <a:gd name="T51" fmla="*/ 0 h 78"/>
                <a:gd name="T52" fmla="*/ 0 w 80"/>
                <a:gd name="T53" fmla="*/ 0 h 78"/>
                <a:gd name="T54" fmla="*/ 0 w 80"/>
                <a:gd name="T55" fmla="*/ 0 h 78"/>
                <a:gd name="T56" fmla="*/ 0 w 80"/>
                <a:gd name="T57" fmla="*/ 0 h 78"/>
                <a:gd name="T58" fmla="*/ 0 w 80"/>
                <a:gd name="T59" fmla="*/ 0 h 78"/>
                <a:gd name="T60" fmla="*/ 0 w 80"/>
                <a:gd name="T61" fmla="*/ 0 h 78"/>
                <a:gd name="T62" fmla="*/ 0 w 80"/>
                <a:gd name="T63" fmla="*/ 0 h 78"/>
                <a:gd name="T64" fmla="*/ 0 w 80"/>
                <a:gd name="T65" fmla="*/ 0 h 78"/>
                <a:gd name="T66" fmla="*/ 0 w 80"/>
                <a:gd name="T67" fmla="*/ 0 h 78"/>
                <a:gd name="T68" fmla="*/ 0 w 80"/>
                <a:gd name="T69" fmla="*/ 0 h 78"/>
                <a:gd name="T70" fmla="*/ 0 w 80"/>
                <a:gd name="T71" fmla="*/ 0 h 78"/>
                <a:gd name="T72" fmla="*/ 0 w 80"/>
                <a:gd name="T73" fmla="*/ 0 h 78"/>
                <a:gd name="T74" fmla="*/ 0 w 80"/>
                <a:gd name="T75" fmla="*/ 0 h 78"/>
                <a:gd name="T76" fmla="*/ 0 w 80"/>
                <a:gd name="T77" fmla="*/ 0 h 78"/>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80" h="78">
                  <a:moveTo>
                    <a:pt x="0" y="51"/>
                  </a:moveTo>
                  <a:lnTo>
                    <a:pt x="2" y="51"/>
                  </a:lnTo>
                  <a:lnTo>
                    <a:pt x="6" y="55"/>
                  </a:lnTo>
                  <a:lnTo>
                    <a:pt x="12" y="61"/>
                  </a:lnTo>
                  <a:lnTo>
                    <a:pt x="19" y="67"/>
                  </a:lnTo>
                  <a:lnTo>
                    <a:pt x="27" y="70"/>
                  </a:lnTo>
                  <a:lnTo>
                    <a:pt x="34" y="76"/>
                  </a:lnTo>
                  <a:lnTo>
                    <a:pt x="40" y="78"/>
                  </a:lnTo>
                  <a:lnTo>
                    <a:pt x="44" y="78"/>
                  </a:lnTo>
                  <a:lnTo>
                    <a:pt x="48" y="68"/>
                  </a:lnTo>
                  <a:lnTo>
                    <a:pt x="48" y="61"/>
                  </a:lnTo>
                  <a:lnTo>
                    <a:pt x="46" y="55"/>
                  </a:lnTo>
                  <a:lnTo>
                    <a:pt x="44" y="53"/>
                  </a:lnTo>
                  <a:lnTo>
                    <a:pt x="46" y="51"/>
                  </a:lnTo>
                  <a:lnTo>
                    <a:pt x="50" y="51"/>
                  </a:lnTo>
                  <a:lnTo>
                    <a:pt x="57" y="51"/>
                  </a:lnTo>
                  <a:lnTo>
                    <a:pt x="65" y="51"/>
                  </a:lnTo>
                  <a:lnTo>
                    <a:pt x="70" y="51"/>
                  </a:lnTo>
                  <a:lnTo>
                    <a:pt x="76" y="49"/>
                  </a:lnTo>
                  <a:lnTo>
                    <a:pt x="80" y="46"/>
                  </a:lnTo>
                  <a:lnTo>
                    <a:pt x="80" y="44"/>
                  </a:lnTo>
                  <a:lnTo>
                    <a:pt x="74" y="34"/>
                  </a:lnTo>
                  <a:lnTo>
                    <a:pt x="69" y="27"/>
                  </a:lnTo>
                  <a:lnTo>
                    <a:pt x="67" y="19"/>
                  </a:lnTo>
                  <a:lnTo>
                    <a:pt x="67" y="17"/>
                  </a:lnTo>
                  <a:lnTo>
                    <a:pt x="67" y="15"/>
                  </a:lnTo>
                  <a:lnTo>
                    <a:pt x="70" y="11"/>
                  </a:lnTo>
                  <a:lnTo>
                    <a:pt x="70" y="8"/>
                  </a:lnTo>
                  <a:lnTo>
                    <a:pt x="67" y="4"/>
                  </a:lnTo>
                  <a:lnTo>
                    <a:pt x="61" y="2"/>
                  </a:lnTo>
                  <a:lnTo>
                    <a:pt x="57" y="0"/>
                  </a:lnTo>
                  <a:lnTo>
                    <a:pt x="51" y="0"/>
                  </a:lnTo>
                  <a:lnTo>
                    <a:pt x="46" y="2"/>
                  </a:lnTo>
                  <a:lnTo>
                    <a:pt x="40" y="2"/>
                  </a:lnTo>
                  <a:lnTo>
                    <a:pt x="36" y="2"/>
                  </a:lnTo>
                  <a:lnTo>
                    <a:pt x="32" y="4"/>
                  </a:lnTo>
                  <a:lnTo>
                    <a:pt x="0" y="51"/>
                  </a:lnTo>
                  <a:close/>
                </a:path>
              </a:pathLst>
            </a:custGeom>
            <a:solidFill>
              <a:srgbClr val="FFE6D9">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7" name="Freeform 36"/>
            <p:cNvSpPr>
              <a:spLocks/>
            </p:cNvSpPr>
            <p:nvPr/>
          </p:nvSpPr>
          <p:spPr bwMode="auto">
            <a:xfrm>
              <a:off x="5217" y="3327"/>
              <a:ext cx="150" cy="205"/>
            </a:xfrm>
            <a:custGeom>
              <a:avLst/>
              <a:gdLst>
                <a:gd name="T0" fmla="*/ 1 w 298"/>
                <a:gd name="T1" fmla="*/ 1 h 409"/>
                <a:gd name="T2" fmla="*/ 1 w 298"/>
                <a:gd name="T3" fmla="*/ 0 h 409"/>
                <a:gd name="T4" fmla="*/ 1 w 298"/>
                <a:gd name="T5" fmla="*/ 0 h 409"/>
                <a:gd name="T6" fmla="*/ 1 w 298"/>
                <a:gd name="T7" fmla="*/ 1 h 409"/>
                <a:gd name="T8" fmla="*/ 1 w 298"/>
                <a:gd name="T9" fmla="*/ 1 h 409"/>
                <a:gd name="T10" fmla="*/ 1 w 298"/>
                <a:gd name="T11" fmla="*/ 1 h 409"/>
                <a:gd name="T12" fmla="*/ 1 w 298"/>
                <a:gd name="T13" fmla="*/ 1 h 409"/>
                <a:gd name="T14" fmla="*/ 1 w 298"/>
                <a:gd name="T15" fmla="*/ 1 h 409"/>
                <a:gd name="T16" fmla="*/ 1 w 298"/>
                <a:gd name="T17" fmla="*/ 1 h 409"/>
                <a:gd name="T18" fmla="*/ 1 w 298"/>
                <a:gd name="T19" fmla="*/ 1 h 409"/>
                <a:gd name="T20" fmla="*/ 1 w 298"/>
                <a:gd name="T21" fmla="*/ 1 h 409"/>
                <a:gd name="T22" fmla="*/ 1 w 298"/>
                <a:gd name="T23" fmla="*/ 1 h 409"/>
                <a:gd name="T24" fmla="*/ 1 w 298"/>
                <a:gd name="T25" fmla="*/ 1 h 409"/>
                <a:gd name="T26" fmla="*/ 1 w 298"/>
                <a:gd name="T27" fmla="*/ 1 h 409"/>
                <a:gd name="T28" fmla="*/ 1 w 298"/>
                <a:gd name="T29" fmla="*/ 1 h 409"/>
                <a:gd name="T30" fmla="*/ 2 w 298"/>
                <a:gd name="T31" fmla="*/ 1 h 409"/>
                <a:gd name="T32" fmla="*/ 2 w 298"/>
                <a:gd name="T33" fmla="*/ 1 h 409"/>
                <a:gd name="T34" fmla="*/ 2 w 298"/>
                <a:gd name="T35" fmla="*/ 1 h 409"/>
                <a:gd name="T36" fmla="*/ 2 w 298"/>
                <a:gd name="T37" fmla="*/ 1 h 409"/>
                <a:gd name="T38" fmla="*/ 2 w 298"/>
                <a:gd name="T39" fmla="*/ 1 h 409"/>
                <a:gd name="T40" fmla="*/ 2 w 298"/>
                <a:gd name="T41" fmla="*/ 1 h 409"/>
                <a:gd name="T42" fmla="*/ 2 w 298"/>
                <a:gd name="T43" fmla="*/ 1 h 409"/>
                <a:gd name="T44" fmla="*/ 2 w 298"/>
                <a:gd name="T45" fmla="*/ 1 h 409"/>
                <a:gd name="T46" fmla="*/ 2 w 298"/>
                <a:gd name="T47" fmla="*/ 2 h 409"/>
                <a:gd name="T48" fmla="*/ 2 w 298"/>
                <a:gd name="T49" fmla="*/ 2 h 409"/>
                <a:gd name="T50" fmla="*/ 2 w 298"/>
                <a:gd name="T51" fmla="*/ 2 h 409"/>
                <a:gd name="T52" fmla="*/ 2 w 298"/>
                <a:gd name="T53" fmla="*/ 2 h 409"/>
                <a:gd name="T54" fmla="*/ 2 w 298"/>
                <a:gd name="T55" fmla="*/ 2 h 409"/>
                <a:gd name="T56" fmla="*/ 2 w 298"/>
                <a:gd name="T57" fmla="*/ 2 h 409"/>
                <a:gd name="T58" fmla="*/ 2 w 298"/>
                <a:gd name="T59" fmla="*/ 2 h 409"/>
                <a:gd name="T60" fmla="*/ 1 w 298"/>
                <a:gd name="T61" fmla="*/ 2 h 409"/>
                <a:gd name="T62" fmla="*/ 1 w 298"/>
                <a:gd name="T63" fmla="*/ 2 h 409"/>
                <a:gd name="T64" fmla="*/ 1 w 298"/>
                <a:gd name="T65" fmla="*/ 2 h 409"/>
                <a:gd name="T66" fmla="*/ 1 w 298"/>
                <a:gd name="T67" fmla="*/ 2 h 409"/>
                <a:gd name="T68" fmla="*/ 1 w 298"/>
                <a:gd name="T69" fmla="*/ 2 h 409"/>
                <a:gd name="T70" fmla="*/ 1 w 298"/>
                <a:gd name="T71" fmla="*/ 2 h 409"/>
                <a:gd name="T72" fmla="*/ 1 w 298"/>
                <a:gd name="T73" fmla="*/ 2 h 409"/>
                <a:gd name="T74" fmla="*/ 1 w 298"/>
                <a:gd name="T75" fmla="*/ 2 h 409"/>
                <a:gd name="T76" fmla="*/ 1 w 298"/>
                <a:gd name="T77" fmla="*/ 2 h 409"/>
                <a:gd name="T78" fmla="*/ 1 w 298"/>
                <a:gd name="T79" fmla="*/ 2 h 409"/>
                <a:gd name="T80" fmla="*/ 1 w 298"/>
                <a:gd name="T81" fmla="*/ 1 h 409"/>
                <a:gd name="T82" fmla="*/ 1 w 298"/>
                <a:gd name="T83" fmla="*/ 1 h 409"/>
                <a:gd name="T84" fmla="*/ 1 w 298"/>
                <a:gd name="T85" fmla="*/ 1 h 409"/>
                <a:gd name="T86" fmla="*/ 1 w 298"/>
                <a:gd name="T87" fmla="*/ 1 h 409"/>
                <a:gd name="T88" fmla="*/ 1 w 298"/>
                <a:gd name="T89" fmla="*/ 1 h 409"/>
                <a:gd name="T90" fmla="*/ 1 w 298"/>
                <a:gd name="T91" fmla="*/ 1 h 409"/>
                <a:gd name="T92" fmla="*/ 1 w 298"/>
                <a:gd name="T93" fmla="*/ 1 h 409"/>
                <a:gd name="T94" fmla="*/ 1 w 298"/>
                <a:gd name="T95" fmla="*/ 1 h 409"/>
                <a:gd name="T96" fmla="*/ 1 w 298"/>
                <a:gd name="T97" fmla="*/ 1 h 409"/>
                <a:gd name="T98" fmla="*/ 1 w 298"/>
                <a:gd name="T99" fmla="*/ 1 h 409"/>
                <a:gd name="T100" fmla="*/ 1 w 298"/>
                <a:gd name="T101" fmla="*/ 1 h 409"/>
                <a:gd name="T102" fmla="*/ 1 w 298"/>
                <a:gd name="T103" fmla="*/ 1 h 409"/>
                <a:gd name="T104" fmla="*/ 1 w 298"/>
                <a:gd name="T105" fmla="*/ 1 h 409"/>
                <a:gd name="T106" fmla="*/ 1 w 298"/>
                <a:gd name="T107" fmla="*/ 1 h 409"/>
                <a:gd name="T108" fmla="*/ 1 w 298"/>
                <a:gd name="T109" fmla="*/ 1 h 409"/>
                <a:gd name="T110" fmla="*/ 1 w 298"/>
                <a:gd name="T111" fmla="*/ 1 h 409"/>
                <a:gd name="T112" fmla="*/ 1 w 298"/>
                <a:gd name="T113" fmla="*/ 1 h 409"/>
                <a:gd name="T114" fmla="*/ 0 w 298"/>
                <a:gd name="T115" fmla="*/ 1 h 409"/>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98" h="409">
                  <a:moveTo>
                    <a:pt x="0" y="4"/>
                  </a:moveTo>
                  <a:lnTo>
                    <a:pt x="1" y="2"/>
                  </a:lnTo>
                  <a:lnTo>
                    <a:pt x="7" y="2"/>
                  </a:lnTo>
                  <a:lnTo>
                    <a:pt x="9" y="0"/>
                  </a:lnTo>
                  <a:lnTo>
                    <a:pt x="15" y="0"/>
                  </a:lnTo>
                  <a:lnTo>
                    <a:pt x="20" y="0"/>
                  </a:lnTo>
                  <a:lnTo>
                    <a:pt x="28" y="0"/>
                  </a:lnTo>
                  <a:lnTo>
                    <a:pt x="34" y="0"/>
                  </a:lnTo>
                  <a:lnTo>
                    <a:pt x="41" y="0"/>
                  </a:lnTo>
                  <a:lnTo>
                    <a:pt x="49" y="0"/>
                  </a:lnTo>
                  <a:lnTo>
                    <a:pt x="58" y="2"/>
                  </a:lnTo>
                  <a:lnTo>
                    <a:pt x="68" y="2"/>
                  </a:lnTo>
                  <a:lnTo>
                    <a:pt x="77" y="4"/>
                  </a:lnTo>
                  <a:lnTo>
                    <a:pt x="83" y="4"/>
                  </a:lnTo>
                  <a:lnTo>
                    <a:pt x="89" y="4"/>
                  </a:lnTo>
                  <a:lnTo>
                    <a:pt x="93" y="6"/>
                  </a:lnTo>
                  <a:lnTo>
                    <a:pt x="98" y="8"/>
                  </a:lnTo>
                  <a:lnTo>
                    <a:pt x="104" y="8"/>
                  </a:lnTo>
                  <a:lnTo>
                    <a:pt x="110" y="8"/>
                  </a:lnTo>
                  <a:lnTo>
                    <a:pt x="114" y="8"/>
                  </a:lnTo>
                  <a:lnTo>
                    <a:pt x="119" y="12"/>
                  </a:lnTo>
                  <a:lnTo>
                    <a:pt x="125" y="12"/>
                  </a:lnTo>
                  <a:lnTo>
                    <a:pt x="131" y="14"/>
                  </a:lnTo>
                  <a:lnTo>
                    <a:pt x="136" y="16"/>
                  </a:lnTo>
                  <a:lnTo>
                    <a:pt x="142" y="18"/>
                  </a:lnTo>
                  <a:lnTo>
                    <a:pt x="146" y="19"/>
                  </a:lnTo>
                  <a:lnTo>
                    <a:pt x="152" y="21"/>
                  </a:lnTo>
                  <a:lnTo>
                    <a:pt x="157" y="23"/>
                  </a:lnTo>
                  <a:lnTo>
                    <a:pt x="163" y="27"/>
                  </a:lnTo>
                  <a:lnTo>
                    <a:pt x="169" y="29"/>
                  </a:lnTo>
                  <a:lnTo>
                    <a:pt x="174" y="33"/>
                  </a:lnTo>
                  <a:lnTo>
                    <a:pt x="180" y="35"/>
                  </a:lnTo>
                  <a:lnTo>
                    <a:pt x="186" y="38"/>
                  </a:lnTo>
                  <a:lnTo>
                    <a:pt x="192" y="40"/>
                  </a:lnTo>
                  <a:lnTo>
                    <a:pt x="195" y="44"/>
                  </a:lnTo>
                  <a:lnTo>
                    <a:pt x="201" y="48"/>
                  </a:lnTo>
                  <a:lnTo>
                    <a:pt x="207" y="52"/>
                  </a:lnTo>
                  <a:lnTo>
                    <a:pt x="212" y="56"/>
                  </a:lnTo>
                  <a:lnTo>
                    <a:pt x="218" y="59"/>
                  </a:lnTo>
                  <a:lnTo>
                    <a:pt x="222" y="63"/>
                  </a:lnTo>
                  <a:lnTo>
                    <a:pt x="228" y="69"/>
                  </a:lnTo>
                  <a:lnTo>
                    <a:pt x="233" y="75"/>
                  </a:lnTo>
                  <a:lnTo>
                    <a:pt x="237" y="78"/>
                  </a:lnTo>
                  <a:lnTo>
                    <a:pt x="243" y="84"/>
                  </a:lnTo>
                  <a:lnTo>
                    <a:pt x="247" y="90"/>
                  </a:lnTo>
                  <a:lnTo>
                    <a:pt x="250" y="96"/>
                  </a:lnTo>
                  <a:lnTo>
                    <a:pt x="256" y="101"/>
                  </a:lnTo>
                  <a:lnTo>
                    <a:pt x="260" y="107"/>
                  </a:lnTo>
                  <a:lnTo>
                    <a:pt x="266" y="115"/>
                  </a:lnTo>
                  <a:lnTo>
                    <a:pt x="268" y="120"/>
                  </a:lnTo>
                  <a:lnTo>
                    <a:pt x="271" y="126"/>
                  </a:lnTo>
                  <a:lnTo>
                    <a:pt x="273" y="134"/>
                  </a:lnTo>
                  <a:lnTo>
                    <a:pt x="277" y="139"/>
                  </a:lnTo>
                  <a:lnTo>
                    <a:pt x="281" y="145"/>
                  </a:lnTo>
                  <a:lnTo>
                    <a:pt x="283" y="153"/>
                  </a:lnTo>
                  <a:lnTo>
                    <a:pt x="285" y="158"/>
                  </a:lnTo>
                  <a:lnTo>
                    <a:pt x="288" y="166"/>
                  </a:lnTo>
                  <a:lnTo>
                    <a:pt x="288" y="172"/>
                  </a:lnTo>
                  <a:lnTo>
                    <a:pt x="290" y="177"/>
                  </a:lnTo>
                  <a:lnTo>
                    <a:pt x="292" y="185"/>
                  </a:lnTo>
                  <a:lnTo>
                    <a:pt x="294" y="191"/>
                  </a:lnTo>
                  <a:lnTo>
                    <a:pt x="294" y="196"/>
                  </a:lnTo>
                  <a:lnTo>
                    <a:pt x="296" y="204"/>
                  </a:lnTo>
                  <a:lnTo>
                    <a:pt x="296" y="210"/>
                  </a:lnTo>
                  <a:lnTo>
                    <a:pt x="298" y="217"/>
                  </a:lnTo>
                  <a:lnTo>
                    <a:pt x="298" y="223"/>
                  </a:lnTo>
                  <a:lnTo>
                    <a:pt x="298" y="229"/>
                  </a:lnTo>
                  <a:lnTo>
                    <a:pt x="298" y="236"/>
                  </a:lnTo>
                  <a:lnTo>
                    <a:pt x="298" y="242"/>
                  </a:lnTo>
                  <a:lnTo>
                    <a:pt x="296" y="248"/>
                  </a:lnTo>
                  <a:lnTo>
                    <a:pt x="296" y="253"/>
                  </a:lnTo>
                  <a:lnTo>
                    <a:pt x="296" y="261"/>
                  </a:lnTo>
                  <a:lnTo>
                    <a:pt x="296" y="267"/>
                  </a:lnTo>
                  <a:lnTo>
                    <a:pt x="294" y="272"/>
                  </a:lnTo>
                  <a:lnTo>
                    <a:pt x="294" y="278"/>
                  </a:lnTo>
                  <a:lnTo>
                    <a:pt x="292" y="284"/>
                  </a:lnTo>
                  <a:lnTo>
                    <a:pt x="292" y="289"/>
                  </a:lnTo>
                  <a:lnTo>
                    <a:pt x="290" y="295"/>
                  </a:lnTo>
                  <a:lnTo>
                    <a:pt x="290" y="301"/>
                  </a:lnTo>
                  <a:lnTo>
                    <a:pt x="288" y="306"/>
                  </a:lnTo>
                  <a:lnTo>
                    <a:pt x="288" y="312"/>
                  </a:lnTo>
                  <a:lnTo>
                    <a:pt x="285" y="322"/>
                  </a:lnTo>
                  <a:lnTo>
                    <a:pt x="281" y="331"/>
                  </a:lnTo>
                  <a:lnTo>
                    <a:pt x="277" y="341"/>
                  </a:lnTo>
                  <a:lnTo>
                    <a:pt x="273" y="352"/>
                  </a:lnTo>
                  <a:lnTo>
                    <a:pt x="269" y="360"/>
                  </a:lnTo>
                  <a:lnTo>
                    <a:pt x="268" y="367"/>
                  </a:lnTo>
                  <a:lnTo>
                    <a:pt x="264" y="375"/>
                  </a:lnTo>
                  <a:lnTo>
                    <a:pt x="262" y="381"/>
                  </a:lnTo>
                  <a:lnTo>
                    <a:pt x="258" y="386"/>
                  </a:lnTo>
                  <a:lnTo>
                    <a:pt x="254" y="392"/>
                  </a:lnTo>
                  <a:lnTo>
                    <a:pt x="252" y="398"/>
                  </a:lnTo>
                  <a:lnTo>
                    <a:pt x="250" y="402"/>
                  </a:lnTo>
                  <a:lnTo>
                    <a:pt x="247" y="405"/>
                  </a:lnTo>
                  <a:lnTo>
                    <a:pt x="247" y="409"/>
                  </a:lnTo>
                  <a:lnTo>
                    <a:pt x="231" y="405"/>
                  </a:lnTo>
                  <a:lnTo>
                    <a:pt x="231" y="402"/>
                  </a:lnTo>
                  <a:lnTo>
                    <a:pt x="231" y="396"/>
                  </a:lnTo>
                  <a:lnTo>
                    <a:pt x="231" y="392"/>
                  </a:lnTo>
                  <a:lnTo>
                    <a:pt x="231" y="384"/>
                  </a:lnTo>
                  <a:lnTo>
                    <a:pt x="233" y="379"/>
                  </a:lnTo>
                  <a:lnTo>
                    <a:pt x="233" y="369"/>
                  </a:lnTo>
                  <a:lnTo>
                    <a:pt x="235" y="360"/>
                  </a:lnTo>
                  <a:lnTo>
                    <a:pt x="235" y="354"/>
                  </a:lnTo>
                  <a:lnTo>
                    <a:pt x="235" y="348"/>
                  </a:lnTo>
                  <a:lnTo>
                    <a:pt x="235" y="343"/>
                  </a:lnTo>
                  <a:lnTo>
                    <a:pt x="235" y="337"/>
                  </a:lnTo>
                  <a:lnTo>
                    <a:pt x="235" y="331"/>
                  </a:lnTo>
                  <a:lnTo>
                    <a:pt x="235" y="324"/>
                  </a:lnTo>
                  <a:lnTo>
                    <a:pt x="235" y="318"/>
                  </a:lnTo>
                  <a:lnTo>
                    <a:pt x="237" y="312"/>
                  </a:lnTo>
                  <a:lnTo>
                    <a:pt x="237" y="305"/>
                  </a:lnTo>
                  <a:lnTo>
                    <a:pt x="237" y="299"/>
                  </a:lnTo>
                  <a:lnTo>
                    <a:pt x="237" y="291"/>
                  </a:lnTo>
                  <a:lnTo>
                    <a:pt x="237" y="286"/>
                  </a:lnTo>
                  <a:lnTo>
                    <a:pt x="237" y="278"/>
                  </a:lnTo>
                  <a:lnTo>
                    <a:pt x="237" y="270"/>
                  </a:lnTo>
                  <a:lnTo>
                    <a:pt x="237" y="265"/>
                  </a:lnTo>
                  <a:lnTo>
                    <a:pt x="237" y="259"/>
                  </a:lnTo>
                  <a:lnTo>
                    <a:pt x="237" y="249"/>
                  </a:lnTo>
                  <a:lnTo>
                    <a:pt x="237" y="244"/>
                  </a:lnTo>
                  <a:lnTo>
                    <a:pt x="235" y="236"/>
                  </a:lnTo>
                  <a:lnTo>
                    <a:pt x="235" y="229"/>
                  </a:lnTo>
                  <a:lnTo>
                    <a:pt x="235" y="221"/>
                  </a:lnTo>
                  <a:lnTo>
                    <a:pt x="233" y="213"/>
                  </a:lnTo>
                  <a:lnTo>
                    <a:pt x="233" y="206"/>
                  </a:lnTo>
                  <a:lnTo>
                    <a:pt x="233" y="200"/>
                  </a:lnTo>
                  <a:lnTo>
                    <a:pt x="231" y="192"/>
                  </a:lnTo>
                  <a:lnTo>
                    <a:pt x="230" y="185"/>
                  </a:lnTo>
                  <a:lnTo>
                    <a:pt x="230" y="177"/>
                  </a:lnTo>
                  <a:lnTo>
                    <a:pt x="228" y="172"/>
                  </a:lnTo>
                  <a:lnTo>
                    <a:pt x="226" y="164"/>
                  </a:lnTo>
                  <a:lnTo>
                    <a:pt x="226" y="158"/>
                  </a:lnTo>
                  <a:lnTo>
                    <a:pt x="224" y="151"/>
                  </a:lnTo>
                  <a:lnTo>
                    <a:pt x="222" y="145"/>
                  </a:lnTo>
                  <a:lnTo>
                    <a:pt x="220" y="139"/>
                  </a:lnTo>
                  <a:lnTo>
                    <a:pt x="218" y="132"/>
                  </a:lnTo>
                  <a:lnTo>
                    <a:pt x="216" y="126"/>
                  </a:lnTo>
                  <a:lnTo>
                    <a:pt x="214" y="120"/>
                  </a:lnTo>
                  <a:lnTo>
                    <a:pt x="212" y="115"/>
                  </a:lnTo>
                  <a:lnTo>
                    <a:pt x="209" y="109"/>
                  </a:lnTo>
                  <a:lnTo>
                    <a:pt x="207" y="105"/>
                  </a:lnTo>
                  <a:lnTo>
                    <a:pt x="205" y="99"/>
                  </a:lnTo>
                  <a:lnTo>
                    <a:pt x="197" y="90"/>
                  </a:lnTo>
                  <a:lnTo>
                    <a:pt x="192" y="82"/>
                  </a:lnTo>
                  <a:lnTo>
                    <a:pt x="184" y="75"/>
                  </a:lnTo>
                  <a:lnTo>
                    <a:pt x="176" y="69"/>
                  </a:lnTo>
                  <a:lnTo>
                    <a:pt x="167" y="63"/>
                  </a:lnTo>
                  <a:lnTo>
                    <a:pt x="159" y="58"/>
                  </a:lnTo>
                  <a:lnTo>
                    <a:pt x="150" y="54"/>
                  </a:lnTo>
                  <a:lnTo>
                    <a:pt x="142" y="50"/>
                  </a:lnTo>
                  <a:lnTo>
                    <a:pt x="133" y="44"/>
                  </a:lnTo>
                  <a:lnTo>
                    <a:pt x="125" y="40"/>
                  </a:lnTo>
                  <a:lnTo>
                    <a:pt x="117" y="37"/>
                  </a:lnTo>
                  <a:lnTo>
                    <a:pt x="110" y="35"/>
                  </a:lnTo>
                  <a:lnTo>
                    <a:pt x="100" y="31"/>
                  </a:lnTo>
                  <a:lnTo>
                    <a:pt x="93" y="29"/>
                  </a:lnTo>
                  <a:lnTo>
                    <a:pt x="87" y="27"/>
                  </a:lnTo>
                  <a:lnTo>
                    <a:pt x="79" y="25"/>
                  </a:lnTo>
                  <a:lnTo>
                    <a:pt x="72" y="21"/>
                  </a:lnTo>
                  <a:lnTo>
                    <a:pt x="64" y="21"/>
                  </a:lnTo>
                  <a:lnTo>
                    <a:pt x="58" y="19"/>
                  </a:lnTo>
                  <a:lnTo>
                    <a:pt x="53" y="18"/>
                  </a:lnTo>
                  <a:lnTo>
                    <a:pt x="47" y="16"/>
                  </a:lnTo>
                  <a:lnTo>
                    <a:pt x="41" y="16"/>
                  </a:lnTo>
                  <a:lnTo>
                    <a:pt x="36" y="14"/>
                  </a:lnTo>
                  <a:lnTo>
                    <a:pt x="30" y="14"/>
                  </a:lnTo>
                  <a:lnTo>
                    <a:pt x="20" y="12"/>
                  </a:lnTo>
                  <a:lnTo>
                    <a:pt x="15" y="12"/>
                  </a:lnTo>
                  <a:lnTo>
                    <a:pt x="7" y="12"/>
                  </a:lnTo>
                  <a:lnTo>
                    <a:pt x="1" y="12"/>
                  </a:lnTo>
                  <a:lnTo>
                    <a:pt x="0" y="12"/>
                  </a:lnTo>
                  <a:lnTo>
                    <a:pt x="0" y="4"/>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8" name="Freeform 37"/>
            <p:cNvSpPr>
              <a:spLocks/>
            </p:cNvSpPr>
            <p:nvPr/>
          </p:nvSpPr>
          <p:spPr bwMode="auto">
            <a:xfrm>
              <a:off x="5277" y="3532"/>
              <a:ext cx="57" cy="46"/>
            </a:xfrm>
            <a:custGeom>
              <a:avLst/>
              <a:gdLst>
                <a:gd name="T0" fmla="*/ 1 w 114"/>
                <a:gd name="T1" fmla="*/ 0 h 93"/>
                <a:gd name="T2" fmla="*/ 1 w 114"/>
                <a:gd name="T3" fmla="*/ 0 h 93"/>
                <a:gd name="T4" fmla="*/ 1 w 114"/>
                <a:gd name="T5" fmla="*/ 0 h 93"/>
                <a:gd name="T6" fmla="*/ 1 w 114"/>
                <a:gd name="T7" fmla="*/ 0 h 93"/>
                <a:gd name="T8" fmla="*/ 1 w 114"/>
                <a:gd name="T9" fmla="*/ 0 h 93"/>
                <a:gd name="T10" fmla="*/ 0 w 114"/>
                <a:gd name="T11" fmla="*/ 0 h 93"/>
                <a:gd name="T12" fmla="*/ 0 w 114"/>
                <a:gd name="T13" fmla="*/ 0 h 93"/>
                <a:gd name="T14" fmla="*/ 0 w 114"/>
                <a:gd name="T15" fmla="*/ 0 h 93"/>
                <a:gd name="T16" fmla="*/ 1 w 114"/>
                <a:gd name="T17" fmla="*/ 0 h 93"/>
                <a:gd name="T18" fmla="*/ 1 w 114"/>
                <a:gd name="T19" fmla="*/ 0 h 93"/>
                <a:gd name="T20" fmla="*/ 1 w 114"/>
                <a:gd name="T21" fmla="*/ 0 h 93"/>
                <a:gd name="T22" fmla="*/ 1 w 114"/>
                <a:gd name="T23" fmla="*/ 0 h 93"/>
                <a:gd name="T24" fmla="*/ 1 w 114"/>
                <a:gd name="T25" fmla="*/ 0 h 93"/>
                <a:gd name="T26" fmla="*/ 1 w 114"/>
                <a:gd name="T27" fmla="*/ 0 h 93"/>
                <a:gd name="T28" fmla="*/ 1 w 114"/>
                <a:gd name="T29" fmla="*/ 0 h 93"/>
                <a:gd name="T30" fmla="*/ 1 w 114"/>
                <a:gd name="T31" fmla="*/ 0 h 93"/>
                <a:gd name="T32" fmla="*/ 1 w 114"/>
                <a:gd name="T33" fmla="*/ 0 h 93"/>
                <a:gd name="T34" fmla="*/ 1 w 114"/>
                <a:gd name="T35" fmla="*/ 0 h 93"/>
                <a:gd name="T36" fmla="*/ 1 w 114"/>
                <a:gd name="T37" fmla="*/ 0 h 93"/>
                <a:gd name="T38" fmla="*/ 1 w 114"/>
                <a:gd name="T39" fmla="*/ 0 h 93"/>
                <a:gd name="T40" fmla="*/ 1 w 114"/>
                <a:gd name="T41" fmla="*/ 0 h 93"/>
                <a:gd name="T42" fmla="*/ 1 w 114"/>
                <a:gd name="T43" fmla="*/ 0 h 93"/>
                <a:gd name="T44" fmla="*/ 1 w 114"/>
                <a:gd name="T45" fmla="*/ 0 h 93"/>
                <a:gd name="T46" fmla="*/ 1 w 114"/>
                <a:gd name="T47" fmla="*/ 0 h 93"/>
                <a:gd name="T48" fmla="*/ 1 w 114"/>
                <a:gd name="T49" fmla="*/ 0 h 93"/>
                <a:gd name="T50" fmla="*/ 1 w 114"/>
                <a:gd name="T51" fmla="*/ 0 h 93"/>
                <a:gd name="T52" fmla="*/ 1 w 114"/>
                <a:gd name="T53" fmla="*/ 0 h 93"/>
                <a:gd name="T54" fmla="*/ 1 w 114"/>
                <a:gd name="T55" fmla="*/ 0 h 93"/>
                <a:gd name="T56" fmla="*/ 1 w 114"/>
                <a:gd name="T57" fmla="*/ 0 h 93"/>
                <a:gd name="T58" fmla="*/ 1 w 114"/>
                <a:gd name="T59" fmla="*/ 0 h 93"/>
                <a:gd name="T60" fmla="*/ 1 w 114"/>
                <a:gd name="T61" fmla="*/ 0 h 93"/>
                <a:gd name="T62" fmla="*/ 1 w 114"/>
                <a:gd name="T63" fmla="*/ 0 h 93"/>
                <a:gd name="T64" fmla="*/ 1 w 114"/>
                <a:gd name="T65" fmla="*/ 0 h 93"/>
                <a:gd name="T66" fmla="*/ 1 w 114"/>
                <a:gd name="T67" fmla="*/ 0 h 93"/>
                <a:gd name="T68" fmla="*/ 1 w 114"/>
                <a:gd name="T69" fmla="*/ 0 h 93"/>
                <a:gd name="T70" fmla="*/ 1 w 114"/>
                <a:gd name="T71" fmla="*/ 0 h 93"/>
                <a:gd name="T72" fmla="*/ 1 w 114"/>
                <a:gd name="T73" fmla="*/ 0 h 93"/>
                <a:gd name="T74" fmla="*/ 1 w 114"/>
                <a:gd name="T75" fmla="*/ 0 h 93"/>
                <a:gd name="T76" fmla="*/ 1 w 114"/>
                <a:gd name="T77" fmla="*/ 0 h 93"/>
                <a:gd name="T78" fmla="*/ 1 w 114"/>
                <a:gd name="T79" fmla="*/ 0 h 93"/>
                <a:gd name="T80" fmla="*/ 1 w 114"/>
                <a:gd name="T81" fmla="*/ 0 h 93"/>
                <a:gd name="T82" fmla="*/ 1 w 114"/>
                <a:gd name="T83" fmla="*/ 0 h 93"/>
                <a:gd name="T84" fmla="*/ 1 w 114"/>
                <a:gd name="T85" fmla="*/ 0 h 93"/>
                <a:gd name="T86" fmla="*/ 1 w 114"/>
                <a:gd name="T87" fmla="*/ 0 h 93"/>
                <a:gd name="T88" fmla="*/ 1 w 114"/>
                <a:gd name="T89" fmla="*/ 0 h 93"/>
                <a:gd name="T90" fmla="*/ 1 w 114"/>
                <a:gd name="T91" fmla="*/ 0 h 93"/>
                <a:gd name="T92" fmla="*/ 1 w 114"/>
                <a:gd name="T93" fmla="*/ 0 h 93"/>
                <a:gd name="T94" fmla="*/ 1 w 114"/>
                <a:gd name="T95" fmla="*/ 0 h 93"/>
                <a:gd name="T96" fmla="*/ 1 w 114"/>
                <a:gd name="T97" fmla="*/ 0 h 93"/>
                <a:gd name="T98" fmla="*/ 1 w 114"/>
                <a:gd name="T99" fmla="*/ 0 h 93"/>
                <a:gd name="T100" fmla="*/ 1 w 114"/>
                <a:gd name="T101" fmla="*/ 0 h 93"/>
                <a:gd name="T102" fmla="*/ 1 w 114"/>
                <a:gd name="T103" fmla="*/ 0 h 93"/>
                <a:gd name="T104" fmla="*/ 1 w 114"/>
                <a:gd name="T105" fmla="*/ 0 h 93"/>
                <a:gd name="T106" fmla="*/ 1 w 114"/>
                <a:gd name="T107" fmla="*/ 0 h 93"/>
                <a:gd name="T108" fmla="*/ 1 w 114"/>
                <a:gd name="T109" fmla="*/ 0 h 93"/>
                <a:gd name="T110" fmla="*/ 1 w 114"/>
                <a:gd name="T111" fmla="*/ 0 h 93"/>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114" h="93">
                  <a:moveTo>
                    <a:pt x="17" y="32"/>
                  </a:moveTo>
                  <a:lnTo>
                    <a:pt x="16" y="32"/>
                  </a:lnTo>
                  <a:lnTo>
                    <a:pt x="14" y="36"/>
                  </a:lnTo>
                  <a:lnTo>
                    <a:pt x="8" y="40"/>
                  </a:lnTo>
                  <a:lnTo>
                    <a:pt x="6" y="46"/>
                  </a:lnTo>
                  <a:lnTo>
                    <a:pt x="0" y="50"/>
                  </a:lnTo>
                  <a:lnTo>
                    <a:pt x="0" y="55"/>
                  </a:lnTo>
                  <a:lnTo>
                    <a:pt x="0" y="59"/>
                  </a:lnTo>
                  <a:lnTo>
                    <a:pt x="4" y="65"/>
                  </a:lnTo>
                  <a:lnTo>
                    <a:pt x="8" y="67"/>
                  </a:lnTo>
                  <a:lnTo>
                    <a:pt x="14" y="67"/>
                  </a:lnTo>
                  <a:lnTo>
                    <a:pt x="17" y="63"/>
                  </a:lnTo>
                  <a:lnTo>
                    <a:pt x="23" y="61"/>
                  </a:lnTo>
                  <a:lnTo>
                    <a:pt x="31" y="53"/>
                  </a:lnTo>
                  <a:lnTo>
                    <a:pt x="35" y="50"/>
                  </a:lnTo>
                  <a:lnTo>
                    <a:pt x="33" y="53"/>
                  </a:lnTo>
                  <a:lnTo>
                    <a:pt x="29" y="59"/>
                  </a:lnTo>
                  <a:lnTo>
                    <a:pt x="27" y="69"/>
                  </a:lnTo>
                  <a:lnTo>
                    <a:pt x="31" y="74"/>
                  </a:lnTo>
                  <a:lnTo>
                    <a:pt x="36" y="76"/>
                  </a:lnTo>
                  <a:lnTo>
                    <a:pt x="44" y="74"/>
                  </a:lnTo>
                  <a:lnTo>
                    <a:pt x="48" y="72"/>
                  </a:lnTo>
                  <a:lnTo>
                    <a:pt x="52" y="70"/>
                  </a:lnTo>
                  <a:lnTo>
                    <a:pt x="52" y="72"/>
                  </a:lnTo>
                  <a:lnTo>
                    <a:pt x="50" y="80"/>
                  </a:lnTo>
                  <a:lnTo>
                    <a:pt x="52" y="88"/>
                  </a:lnTo>
                  <a:lnTo>
                    <a:pt x="55" y="93"/>
                  </a:lnTo>
                  <a:lnTo>
                    <a:pt x="57" y="91"/>
                  </a:lnTo>
                  <a:lnTo>
                    <a:pt x="63" y="89"/>
                  </a:lnTo>
                  <a:lnTo>
                    <a:pt x="67" y="86"/>
                  </a:lnTo>
                  <a:lnTo>
                    <a:pt x="73" y="84"/>
                  </a:lnTo>
                  <a:lnTo>
                    <a:pt x="80" y="76"/>
                  </a:lnTo>
                  <a:lnTo>
                    <a:pt x="84" y="74"/>
                  </a:lnTo>
                  <a:lnTo>
                    <a:pt x="86" y="88"/>
                  </a:lnTo>
                  <a:lnTo>
                    <a:pt x="90" y="88"/>
                  </a:lnTo>
                  <a:lnTo>
                    <a:pt x="99" y="84"/>
                  </a:lnTo>
                  <a:lnTo>
                    <a:pt x="103" y="80"/>
                  </a:lnTo>
                  <a:lnTo>
                    <a:pt x="109" y="74"/>
                  </a:lnTo>
                  <a:lnTo>
                    <a:pt x="112" y="69"/>
                  </a:lnTo>
                  <a:lnTo>
                    <a:pt x="114" y="59"/>
                  </a:lnTo>
                  <a:lnTo>
                    <a:pt x="114" y="53"/>
                  </a:lnTo>
                  <a:lnTo>
                    <a:pt x="112" y="50"/>
                  </a:lnTo>
                  <a:lnTo>
                    <a:pt x="109" y="44"/>
                  </a:lnTo>
                  <a:lnTo>
                    <a:pt x="107" y="40"/>
                  </a:lnTo>
                  <a:lnTo>
                    <a:pt x="101" y="34"/>
                  </a:lnTo>
                  <a:lnTo>
                    <a:pt x="97" y="29"/>
                  </a:lnTo>
                  <a:lnTo>
                    <a:pt x="92" y="23"/>
                  </a:lnTo>
                  <a:lnTo>
                    <a:pt x="88" y="19"/>
                  </a:lnTo>
                  <a:lnTo>
                    <a:pt x="82" y="15"/>
                  </a:lnTo>
                  <a:lnTo>
                    <a:pt x="76" y="12"/>
                  </a:lnTo>
                  <a:lnTo>
                    <a:pt x="71" y="8"/>
                  </a:lnTo>
                  <a:lnTo>
                    <a:pt x="67" y="6"/>
                  </a:lnTo>
                  <a:lnTo>
                    <a:pt x="61" y="0"/>
                  </a:lnTo>
                  <a:lnTo>
                    <a:pt x="59" y="0"/>
                  </a:lnTo>
                  <a:lnTo>
                    <a:pt x="17" y="32"/>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39" name="Freeform 38"/>
            <p:cNvSpPr>
              <a:spLocks/>
            </p:cNvSpPr>
            <p:nvPr/>
          </p:nvSpPr>
          <p:spPr bwMode="auto">
            <a:xfrm>
              <a:off x="5117" y="3420"/>
              <a:ext cx="60" cy="31"/>
            </a:xfrm>
            <a:custGeom>
              <a:avLst/>
              <a:gdLst>
                <a:gd name="T0" fmla="*/ 0 w 122"/>
                <a:gd name="T1" fmla="*/ 1 h 61"/>
                <a:gd name="T2" fmla="*/ 0 w 122"/>
                <a:gd name="T3" fmla="*/ 1 h 61"/>
                <a:gd name="T4" fmla="*/ 0 w 122"/>
                <a:gd name="T5" fmla="*/ 1 h 61"/>
                <a:gd name="T6" fmla="*/ 0 w 122"/>
                <a:gd name="T7" fmla="*/ 1 h 61"/>
                <a:gd name="T8" fmla="*/ 0 w 122"/>
                <a:gd name="T9" fmla="*/ 1 h 61"/>
                <a:gd name="T10" fmla="*/ 0 w 122"/>
                <a:gd name="T11" fmla="*/ 1 h 61"/>
                <a:gd name="T12" fmla="*/ 0 w 122"/>
                <a:gd name="T13" fmla="*/ 1 h 61"/>
                <a:gd name="T14" fmla="*/ 0 w 122"/>
                <a:gd name="T15" fmla="*/ 1 h 61"/>
                <a:gd name="T16" fmla="*/ 0 w 122"/>
                <a:gd name="T17" fmla="*/ 1 h 61"/>
                <a:gd name="T18" fmla="*/ 0 w 122"/>
                <a:gd name="T19" fmla="*/ 1 h 61"/>
                <a:gd name="T20" fmla="*/ 0 w 122"/>
                <a:gd name="T21" fmla="*/ 1 h 61"/>
                <a:gd name="T22" fmla="*/ 0 w 122"/>
                <a:gd name="T23" fmla="*/ 1 h 61"/>
                <a:gd name="T24" fmla="*/ 0 w 122"/>
                <a:gd name="T25" fmla="*/ 1 h 61"/>
                <a:gd name="T26" fmla="*/ 0 w 122"/>
                <a:gd name="T27" fmla="*/ 1 h 61"/>
                <a:gd name="T28" fmla="*/ 0 w 122"/>
                <a:gd name="T29" fmla="*/ 1 h 61"/>
                <a:gd name="T30" fmla="*/ 0 w 122"/>
                <a:gd name="T31" fmla="*/ 1 h 61"/>
                <a:gd name="T32" fmla="*/ 0 w 122"/>
                <a:gd name="T33" fmla="*/ 1 h 61"/>
                <a:gd name="T34" fmla="*/ 0 w 122"/>
                <a:gd name="T35" fmla="*/ 1 h 61"/>
                <a:gd name="T36" fmla="*/ 0 w 122"/>
                <a:gd name="T37" fmla="*/ 1 h 61"/>
                <a:gd name="T38" fmla="*/ 0 w 122"/>
                <a:gd name="T39" fmla="*/ 0 h 61"/>
                <a:gd name="T40" fmla="*/ 0 w 122"/>
                <a:gd name="T41" fmla="*/ 0 h 61"/>
                <a:gd name="T42" fmla="*/ 0 w 122"/>
                <a:gd name="T43" fmla="*/ 1 h 61"/>
                <a:gd name="T44" fmla="*/ 0 w 122"/>
                <a:gd name="T45" fmla="*/ 1 h 61"/>
                <a:gd name="T46" fmla="*/ 0 w 122"/>
                <a:gd name="T47" fmla="*/ 1 h 61"/>
                <a:gd name="T48" fmla="*/ 0 w 122"/>
                <a:gd name="T49" fmla="*/ 1 h 61"/>
                <a:gd name="T50" fmla="*/ 0 w 122"/>
                <a:gd name="T51" fmla="*/ 1 h 61"/>
                <a:gd name="T52" fmla="*/ 0 w 122"/>
                <a:gd name="T53" fmla="*/ 1 h 61"/>
                <a:gd name="T54" fmla="*/ 0 w 122"/>
                <a:gd name="T55" fmla="*/ 1 h 61"/>
                <a:gd name="T56" fmla="*/ 0 w 122"/>
                <a:gd name="T57" fmla="*/ 1 h 61"/>
                <a:gd name="T58" fmla="*/ 0 w 122"/>
                <a:gd name="T59" fmla="*/ 1 h 61"/>
                <a:gd name="T60" fmla="*/ 0 w 122"/>
                <a:gd name="T61" fmla="*/ 1 h 61"/>
                <a:gd name="T62" fmla="*/ 0 w 122"/>
                <a:gd name="T63" fmla="*/ 1 h 61"/>
                <a:gd name="T64" fmla="*/ 0 w 122"/>
                <a:gd name="T65" fmla="*/ 1 h 61"/>
                <a:gd name="T66" fmla="*/ 0 w 122"/>
                <a:gd name="T67" fmla="*/ 1 h 61"/>
                <a:gd name="T68" fmla="*/ 0 w 122"/>
                <a:gd name="T69" fmla="*/ 1 h 61"/>
                <a:gd name="T70" fmla="*/ 0 w 122"/>
                <a:gd name="T71" fmla="*/ 1 h 61"/>
                <a:gd name="T72" fmla="*/ 0 w 122"/>
                <a:gd name="T73" fmla="*/ 1 h 61"/>
                <a:gd name="T74" fmla="*/ 0 w 122"/>
                <a:gd name="T75" fmla="*/ 1 h 61"/>
                <a:gd name="T76" fmla="*/ 0 w 122"/>
                <a:gd name="T77" fmla="*/ 1 h 61"/>
                <a:gd name="T78" fmla="*/ 0 w 122"/>
                <a:gd name="T79" fmla="*/ 1 h 61"/>
                <a:gd name="T80" fmla="*/ 0 w 122"/>
                <a:gd name="T81" fmla="*/ 1 h 61"/>
                <a:gd name="T82" fmla="*/ 0 w 122"/>
                <a:gd name="T83" fmla="*/ 1 h 61"/>
                <a:gd name="T84" fmla="*/ 0 w 122"/>
                <a:gd name="T85" fmla="*/ 1 h 61"/>
                <a:gd name="T86" fmla="*/ 0 w 122"/>
                <a:gd name="T87" fmla="*/ 1 h 61"/>
                <a:gd name="T88" fmla="*/ 0 w 122"/>
                <a:gd name="T89" fmla="*/ 1 h 61"/>
                <a:gd name="T90" fmla="*/ 0 w 122"/>
                <a:gd name="T91" fmla="*/ 1 h 61"/>
                <a:gd name="T92" fmla="*/ 0 w 122"/>
                <a:gd name="T93" fmla="*/ 1 h 61"/>
                <a:gd name="T94" fmla="*/ 0 w 122"/>
                <a:gd name="T95" fmla="*/ 1 h 61"/>
                <a:gd name="T96" fmla="*/ 0 w 122"/>
                <a:gd name="T97" fmla="*/ 1 h 6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22" h="61">
                  <a:moveTo>
                    <a:pt x="0" y="36"/>
                  </a:moveTo>
                  <a:lnTo>
                    <a:pt x="0" y="34"/>
                  </a:lnTo>
                  <a:lnTo>
                    <a:pt x="4" y="34"/>
                  </a:lnTo>
                  <a:lnTo>
                    <a:pt x="10" y="30"/>
                  </a:lnTo>
                  <a:lnTo>
                    <a:pt x="17" y="28"/>
                  </a:lnTo>
                  <a:lnTo>
                    <a:pt x="25" y="23"/>
                  </a:lnTo>
                  <a:lnTo>
                    <a:pt x="34" y="21"/>
                  </a:lnTo>
                  <a:lnTo>
                    <a:pt x="40" y="17"/>
                  </a:lnTo>
                  <a:lnTo>
                    <a:pt x="46" y="15"/>
                  </a:lnTo>
                  <a:lnTo>
                    <a:pt x="51" y="13"/>
                  </a:lnTo>
                  <a:lnTo>
                    <a:pt x="57" y="13"/>
                  </a:lnTo>
                  <a:lnTo>
                    <a:pt x="61" y="9"/>
                  </a:lnTo>
                  <a:lnTo>
                    <a:pt x="67" y="9"/>
                  </a:lnTo>
                  <a:lnTo>
                    <a:pt x="70" y="7"/>
                  </a:lnTo>
                  <a:lnTo>
                    <a:pt x="76" y="5"/>
                  </a:lnTo>
                  <a:lnTo>
                    <a:pt x="82" y="4"/>
                  </a:lnTo>
                  <a:lnTo>
                    <a:pt x="87" y="4"/>
                  </a:lnTo>
                  <a:lnTo>
                    <a:pt x="91" y="2"/>
                  </a:lnTo>
                  <a:lnTo>
                    <a:pt x="97" y="2"/>
                  </a:lnTo>
                  <a:lnTo>
                    <a:pt x="105" y="0"/>
                  </a:lnTo>
                  <a:lnTo>
                    <a:pt x="112" y="0"/>
                  </a:lnTo>
                  <a:lnTo>
                    <a:pt x="118" y="2"/>
                  </a:lnTo>
                  <a:lnTo>
                    <a:pt x="122" y="5"/>
                  </a:lnTo>
                  <a:lnTo>
                    <a:pt x="122" y="9"/>
                  </a:lnTo>
                  <a:lnTo>
                    <a:pt x="122" y="17"/>
                  </a:lnTo>
                  <a:lnTo>
                    <a:pt x="120" y="23"/>
                  </a:lnTo>
                  <a:lnTo>
                    <a:pt x="116" y="30"/>
                  </a:lnTo>
                  <a:lnTo>
                    <a:pt x="108" y="36"/>
                  </a:lnTo>
                  <a:lnTo>
                    <a:pt x="103" y="42"/>
                  </a:lnTo>
                  <a:lnTo>
                    <a:pt x="99" y="45"/>
                  </a:lnTo>
                  <a:lnTo>
                    <a:pt x="95" y="49"/>
                  </a:lnTo>
                  <a:lnTo>
                    <a:pt x="91" y="49"/>
                  </a:lnTo>
                  <a:lnTo>
                    <a:pt x="87" y="49"/>
                  </a:lnTo>
                  <a:lnTo>
                    <a:pt x="82" y="49"/>
                  </a:lnTo>
                  <a:lnTo>
                    <a:pt x="76" y="51"/>
                  </a:lnTo>
                  <a:lnTo>
                    <a:pt x="67" y="51"/>
                  </a:lnTo>
                  <a:lnTo>
                    <a:pt x="61" y="53"/>
                  </a:lnTo>
                  <a:lnTo>
                    <a:pt x="53" y="53"/>
                  </a:lnTo>
                  <a:lnTo>
                    <a:pt x="46" y="55"/>
                  </a:lnTo>
                  <a:lnTo>
                    <a:pt x="38" y="55"/>
                  </a:lnTo>
                  <a:lnTo>
                    <a:pt x="29" y="57"/>
                  </a:lnTo>
                  <a:lnTo>
                    <a:pt x="21" y="57"/>
                  </a:lnTo>
                  <a:lnTo>
                    <a:pt x="17" y="59"/>
                  </a:lnTo>
                  <a:lnTo>
                    <a:pt x="11" y="59"/>
                  </a:lnTo>
                  <a:lnTo>
                    <a:pt x="8" y="61"/>
                  </a:lnTo>
                  <a:lnTo>
                    <a:pt x="4" y="61"/>
                  </a:lnTo>
                  <a:lnTo>
                    <a:pt x="0" y="36"/>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0" name="Freeform 39"/>
            <p:cNvSpPr>
              <a:spLocks/>
            </p:cNvSpPr>
            <p:nvPr/>
          </p:nvSpPr>
          <p:spPr bwMode="auto">
            <a:xfrm>
              <a:off x="5194" y="3421"/>
              <a:ext cx="111" cy="95"/>
            </a:xfrm>
            <a:custGeom>
              <a:avLst/>
              <a:gdLst>
                <a:gd name="T0" fmla="*/ 0 w 220"/>
                <a:gd name="T1" fmla="*/ 1 h 190"/>
                <a:gd name="T2" fmla="*/ 0 w 220"/>
                <a:gd name="T3" fmla="*/ 1 h 190"/>
                <a:gd name="T4" fmla="*/ 0 w 220"/>
                <a:gd name="T5" fmla="*/ 1 h 190"/>
                <a:gd name="T6" fmla="*/ 1 w 220"/>
                <a:gd name="T7" fmla="*/ 1 h 190"/>
                <a:gd name="T8" fmla="*/ 1 w 220"/>
                <a:gd name="T9" fmla="*/ 1 h 190"/>
                <a:gd name="T10" fmla="*/ 1 w 220"/>
                <a:gd name="T11" fmla="*/ 1 h 190"/>
                <a:gd name="T12" fmla="*/ 1 w 220"/>
                <a:gd name="T13" fmla="*/ 1 h 190"/>
                <a:gd name="T14" fmla="*/ 1 w 220"/>
                <a:gd name="T15" fmla="*/ 1 h 190"/>
                <a:gd name="T16" fmla="*/ 1 w 220"/>
                <a:gd name="T17" fmla="*/ 1 h 190"/>
                <a:gd name="T18" fmla="*/ 1 w 220"/>
                <a:gd name="T19" fmla="*/ 1 h 190"/>
                <a:gd name="T20" fmla="*/ 1 w 220"/>
                <a:gd name="T21" fmla="*/ 1 h 190"/>
                <a:gd name="T22" fmla="*/ 1 w 220"/>
                <a:gd name="T23" fmla="*/ 1 h 190"/>
                <a:gd name="T24" fmla="*/ 1 w 220"/>
                <a:gd name="T25" fmla="*/ 1 h 190"/>
                <a:gd name="T26" fmla="*/ 1 w 220"/>
                <a:gd name="T27" fmla="*/ 1 h 190"/>
                <a:gd name="T28" fmla="*/ 1 w 220"/>
                <a:gd name="T29" fmla="*/ 0 h 190"/>
                <a:gd name="T30" fmla="*/ 1 w 220"/>
                <a:gd name="T31" fmla="*/ 1 h 190"/>
                <a:gd name="T32" fmla="*/ 1 w 220"/>
                <a:gd name="T33" fmla="*/ 1 h 190"/>
                <a:gd name="T34" fmla="*/ 1 w 220"/>
                <a:gd name="T35" fmla="*/ 1 h 190"/>
                <a:gd name="T36" fmla="*/ 1 w 220"/>
                <a:gd name="T37" fmla="*/ 1 h 190"/>
                <a:gd name="T38" fmla="*/ 1 w 220"/>
                <a:gd name="T39" fmla="*/ 1 h 190"/>
                <a:gd name="T40" fmla="*/ 1 w 220"/>
                <a:gd name="T41" fmla="*/ 1 h 190"/>
                <a:gd name="T42" fmla="*/ 1 w 220"/>
                <a:gd name="T43" fmla="*/ 1 h 190"/>
                <a:gd name="T44" fmla="*/ 1 w 220"/>
                <a:gd name="T45" fmla="*/ 1 h 190"/>
                <a:gd name="T46" fmla="*/ 1 w 220"/>
                <a:gd name="T47" fmla="*/ 1 h 190"/>
                <a:gd name="T48" fmla="*/ 1 w 220"/>
                <a:gd name="T49" fmla="*/ 1 h 190"/>
                <a:gd name="T50" fmla="*/ 1 w 220"/>
                <a:gd name="T51" fmla="*/ 1 h 190"/>
                <a:gd name="T52" fmla="*/ 1 w 220"/>
                <a:gd name="T53" fmla="*/ 1 h 190"/>
                <a:gd name="T54" fmla="*/ 1 w 220"/>
                <a:gd name="T55" fmla="*/ 1 h 190"/>
                <a:gd name="T56" fmla="*/ 1 w 220"/>
                <a:gd name="T57" fmla="*/ 1 h 190"/>
                <a:gd name="T58" fmla="*/ 1 w 220"/>
                <a:gd name="T59" fmla="*/ 1 h 190"/>
                <a:gd name="T60" fmla="*/ 1 w 220"/>
                <a:gd name="T61" fmla="*/ 1 h 190"/>
                <a:gd name="T62" fmla="*/ 1 w 220"/>
                <a:gd name="T63" fmla="*/ 1 h 190"/>
                <a:gd name="T64" fmla="*/ 1 w 220"/>
                <a:gd name="T65" fmla="*/ 1 h 190"/>
                <a:gd name="T66" fmla="*/ 1 w 220"/>
                <a:gd name="T67" fmla="*/ 1 h 190"/>
                <a:gd name="T68" fmla="*/ 1 w 220"/>
                <a:gd name="T69" fmla="*/ 1 h 190"/>
                <a:gd name="T70" fmla="*/ 1 w 220"/>
                <a:gd name="T71" fmla="*/ 1 h 190"/>
                <a:gd name="T72" fmla="*/ 1 w 220"/>
                <a:gd name="T73" fmla="*/ 1 h 190"/>
                <a:gd name="T74" fmla="*/ 1 w 220"/>
                <a:gd name="T75" fmla="*/ 1 h 190"/>
                <a:gd name="T76" fmla="*/ 1 w 220"/>
                <a:gd name="T77" fmla="*/ 1 h 190"/>
                <a:gd name="T78" fmla="*/ 1 w 220"/>
                <a:gd name="T79" fmla="*/ 1 h 190"/>
                <a:gd name="T80" fmla="*/ 1 w 220"/>
                <a:gd name="T81" fmla="*/ 1 h 190"/>
                <a:gd name="T82" fmla="*/ 1 w 220"/>
                <a:gd name="T83" fmla="*/ 1 h 190"/>
                <a:gd name="T84" fmla="*/ 1 w 220"/>
                <a:gd name="T85" fmla="*/ 1 h 190"/>
                <a:gd name="T86" fmla="*/ 1 w 220"/>
                <a:gd name="T87" fmla="*/ 1 h 190"/>
                <a:gd name="T88" fmla="*/ 1 w 220"/>
                <a:gd name="T89" fmla="*/ 1 h 190"/>
                <a:gd name="T90" fmla="*/ 1 w 220"/>
                <a:gd name="T91" fmla="*/ 1 h 190"/>
                <a:gd name="T92" fmla="*/ 1 w 220"/>
                <a:gd name="T93" fmla="*/ 1 h 190"/>
                <a:gd name="T94" fmla="*/ 1 w 220"/>
                <a:gd name="T95" fmla="*/ 1 h 190"/>
                <a:gd name="T96" fmla="*/ 1 w 220"/>
                <a:gd name="T97" fmla="*/ 1 h 190"/>
                <a:gd name="T98" fmla="*/ 1 w 220"/>
                <a:gd name="T99" fmla="*/ 1 h 190"/>
                <a:gd name="T100" fmla="*/ 1 w 220"/>
                <a:gd name="T101" fmla="*/ 1 h 190"/>
                <a:gd name="T102" fmla="*/ 1 w 220"/>
                <a:gd name="T103" fmla="*/ 1 h 190"/>
                <a:gd name="T104" fmla="*/ 1 w 220"/>
                <a:gd name="T105" fmla="*/ 1 h 190"/>
                <a:gd name="T106" fmla="*/ 1 w 220"/>
                <a:gd name="T107" fmla="*/ 1 h 190"/>
                <a:gd name="T108" fmla="*/ 1 w 220"/>
                <a:gd name="T109" fmla="*/ 1 h 190"/>
                <a:gd name="T110" fmla="*/ 1 w 220"/>
                <a:gd name="T111" fmla="*/ 1 h 190"/>
                <a:gd name="T112" fmla="*/ 1 w 220"/>
                <a:gd name="T113" fmla="*/ 1 h 190"/>
                <a:gd name="T114" fmla="*/ 1 w 220"/>
                <a:gd name="T115" fmla="*/ 1 h 19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220" h="190">
                  <a:moveTo>
                    <a:pt x="2" y="169"/>
                  </a:moveTo>
                  <a:lnTo>
                    <a:pt x="0" y="165"/>
                  </a:lnTo>
                  <a:lnTo>
                    <a:pt x="0" y="159"/>
                  </a:lnTo>
                  <a:lnTo>
                    <a:pt x="0" y="155"/>
                  </a:lnTo>
                  <a:lnTo>
                    <a:pt x="0" y="152"/>
                  </a:lnTo>
                  <a:lnTo>
                    <a:pt x="0" y="146"/>
                  </a:lnTo>
                  <a:lnTo>
                    <a:pt x="2" y="140"/>
                  </a:lnTo>
                  <a:lnTo>
                    <a:pt x="2" y="133"/>
                  </a:lnTo>
                  <a:lnTo>
                    <a:pt x="2" y="127"/>
                  </a:lnTo>
                  <a:lnTo>
                    <a:pt x="2" y="119"/>
                  </a:lnTo>
                  <a:lnTo>
                    <a:pt x="4" y="112"/>
                  </a:lnTo>
                  <a:lnTo>
                    <a:pt x="4" y="104"/>
                  </a:lnTo>
                  <a:lnTo>
                    <a:pt x="6" y="97"/>
                  </a:lnTo>
                  <a:lnTo>
                    <a:pt x="8" y="87"/>
                  </a:lnTo>
                  <a:lnTo>
                    <a:pt x="11" y="81"/>
                  </a:lnTo>
                  <a:lnTo>
                    <a:pt x="11" y="72"/>
                  </a:lnTo>
                  <a:lnTo>
                    <a:pt x="13" y="64"/>
                  </a:lnTo>
                  <a:lnTo>
                    <a:pt x="17" y="55"/>
                  </a:lnTo>
                  <a:lnTo>
                    <a:pt x="19" y="49"/>
                  </a:lnTo>
                  <a:lnTo>
                    <a:pt x="23" y="40"/>
                  </a:lnTo>
                  <a:lnTo>
                    <a:pt x="27" y="34"/>
                  </a:lnTo>
                  <a:lnTo>
                    <a:pt x="30" y="28"/>
                  </a:lnTo>
                  <a:lnTo>
                    <a:pt x="36" y="22"/>
                  </a:lnTo>
                  <a:lnTo>
                    <a:pt x="40" y="15"/>
                  </a:lnTo>
                  <a:lnTo>
                    <a:pt x="46" y="11"/>
                  </a:lnTo>
                  <a:lnTo>
                    <a:pt x="51" y="7"/>
                  </a:lnTo>
                  <a:lnTo>
                    <a:pt x="59" y="5"/>
                  </a:lnTo>
                  <a:lnTo>
                    <a:pt x="63" y="2"/>
                  </a:lnTo>
                  <a:lnTo>
                    <a:pt x="72" y="0"/>
                  </a:lnTo>
                  <a:lnTo>
                    <a:pt x="80" y="0"/>
                  </a:lnTo>
                  <a:lnTo>
                    <a:pt x="89" y="2"/>
                  </a:lnTo>
                  <a:lnTo>
                    <a:pt x="97" y="2"/>
                  </a:lnTo>
                  <a:lnTo>
                    <a:pt x="106" y="3"/>
                  </a:lnTo>
                  <a:lnTo>
                    <a:pt x="114" y="5"/>
                  </a:lnTo>
                  <a:lnTo>
                    <a:pt x="122" y="11"/>
                  </a:lnTo>
                  <a:lnTo>
                    <a:pt x="127" y="15"/>
                  </a:lnTo>
                  <a:lnTo>
                    <a:pt x="135" y="22"/>
                  </a:lnTo>
                  <a:lnTo>
                    <a:pt x="141" y="28"/>
                  </a:lnTo>
                  <a:lnTo>
                    <a:pt x="148" y="34"/>
                  </a:lnTo>
                  <a:lnTo>
                    <a:pt x="154" y="40"/>
                  </a:lnTo>
                  <a:lnTo>
                    <a:pt x="160" y="47"/>
                  </a:lnTo>
                  <a:lnTo>
                    <a:pt x="165" y="55"/>
                  </a:lnTo>
                  <a:lnTo>
                    <a:pt x="171" y="64"/>
                  </a:lnTo>
                  <a:lnTo>
                    <a:pt x="177" y="72"/>
                  </a:lnTo>
                  <a:lnTo>
                    <a:pt x="181" y="81"/>
                  </a:lnTo>
                  <a:lnTo>
                    <a:pt x="186" y="89"/>
                  </a:lnTo>
                  <a:lnTo>
                    <a:pt x="190" y="98"/>
                  </a:lnTo>
                  <a:lnTo>
                    <a:pt x="192" y="106"/>
                  </a:lnTo>
                  <a:lnTo>
                    <a:pt x="196" y="114"/>
                  </a:lnTo>
                  <a:lnTo>
                    <a:pt x="200" y="123"/>
                  </a:lnTo>
                  <a:lnTo>
                    <a:pt x="203" y="131"/>
                  </a:lnTo>
                  <a:lnTo>
                    <a:pt x="205" y="138"/>
                  </a:lnTo>
                  <a:lnTo>
                    <a:pt x="207" y="146"/>
                  </a:lnTo>
                  <a:lnTo>
                    <a:pt x="211" y="154"/>
                  </a:lnTo>
                  <a:lnTo>
                    <a:pt x="213" y="159"/>
                  </a:lnTo>
                  <a:lnTo>
                    <a:pt x="213" y="165"/>
                  </a:lnTo>
                  <a:lnTo>
                    <a:pt x="215" y="171"/>
                  </a:lnTo>
                  <a:lnTo>
                    <a:pt x="217" y="176"/>
                  </a:lnTo>
                  <a:lnTo>
                    <a:pt x="217" y="180"/>
                  </a:lnTo>
                  <a:lnTo>
                    <a:pt x="219" y="186"/>
                  </a:lnTo>
                  <a:lnTo>
                    <a:pt x="220" y="190"/>
                  </a:lnTo>
                  <a:lnTo>
                    <a:pt x="209" y="190"/>
                  </a:lnTo>
                  <a:lnTo>
                    <a:pt x="207" y="186"/>
                  </a:lnTo>
                  <a:lnTo>
                    <a:pt x="205" y="180"/>
                  </a:lnTo>
                  <a:lnTo>
                    <a:pt x="201" y="176"/>
                  </a:lnTo>
                  <a:lnTo>
                    <a:pt x="200" y="173"/>
                  </a:lnTo>
                  <a:lnTo>
                    <a:pt x="198" y="167"/>
                  </a:lnTo>
                  <a:lnTo>
                    <a:pt x="196" y="161"/>
                  </a:lnTo>
                  <a:lnTo>
                    <a:pt x="192" y="154"/>
                  </a:lnTo>
                  <a:lnTo>
                    <a:pt x="190" y="148"/>
                  </a:lnTo>
                  <a:lnTo>
                    <a:pt x="186" y="140"/>
                  </a:lnTo>
                  <a:lnTo>
                    <a:pt x="182" y="135"/>
                  </a:lnTo>
                  <a:lnTo>
                    <a:pt x="177" y="125"/>
                  </a:lnTo>
                  <a:lnTo>
                    <a:pt x="173" y="117"/>
                  </a:lnTo>
                  <a:lnTo>
                    <a:pt x="169" y="112"/>
                  </a:lnTo>
                  <a:lnTo>
                    <a:pt x="165" y="104"/>
                  </a:lnTo>
                  <a:lnTo>
                    <a:pt x="162" y="95"/>
                  </a:lnTo>
                  <a:lnTo>
                    <a:pt x="156" y="87"/>
                  </a:lnTo>
                  <a:lnTo>
                    <a:pt x="152" y="79"/>
                  </a:lnTo>
                  <a:lnTo>
                    <a:pt x="146" y="72"/>
                  </a:lnTo>
                  <a:lnTo>
                    <a:pt x="141" y="64"/>
                  </a:lnTo>
                  <a:lnTo>
                    <a:pt x="137" y="59"/>
                  </a:lnTo>
                  <a:lnTo>
                    <a:pt x="131" y="51"/>
                  </a:lnTo>
                  <a:lnTo>
                    <a:pt x="127" y="45"/>
                  </a:lnTo>
                  <a:lnTo>
                    <a:pt x="122" y="38"/>
                  </a:lnTo>
                  <a:lnTo>
                    <a:pt x="116" y="34"/>
                  </a:lnTo>
                  <a:lnTo>
                    <a:pt x="110" y="28"/>
                  </a:lnTo>
                  <a:lnTo>
                    <a:pt x="106" y="26"/>
                  </a:lnTo>
                  <a:lnTo>
                    <a:pt x="95" y="21"/>
                  </a:lnTo>
                  <a:lnTo>
                    <a:pt x="87" y="21"/>
                  </a:lnTo>
                  <a:lnTo>
                    <a:pt x="78" y="21"/>
                  </a:lnTo>
                  <a:lnTo>
                    <a:pt x="70" y="26"/>
                  </a:lnTo>
                  <a:lnTo>
                    <a:pt x="63" y="32"/>
                  </a:lnTo>
                  <a:lnTo>
                    <a:pt x="59" y="41"/>
                  </a:lnTo>
                  <a:lnTo>
                    <a:pt x="57" y="47"/>
                  </a:lnTo>
                  <a:lnTo>
                    <a:pt x="53" y="53"/>
                  </a:lnTo>
                  <a:lnTo>
                    <a:pt x="51" y="59"/>
                  </a:lnTo>
                  <a:lnTo>
                    <a:pt x="51" y="62"/>
                  </a:lnTo>
                  <a:lnTo>
                    <a:pt x="49" y="68"/>
                  </a:lnTo>
                  <a:lnTo>
                    <a:pt x="47" y="76"/>
                  </a:lnTo>
                  <a:lnTo>
                    <a:pt x="47" y="81"/>
                  </a:lnTo>
                  <a:lnTo>
                    <a:pt x="47" y="89"/>
                  </a:lnTo>
                  <a:lnTo>
                    <a:pt x="46" y="95"/>
                  </a:lnTo>
                  <a:lnTo>
                    <a:pt x="44" y="100"/>
                  </a:lnTo>
                  <a:lnTo>
                    <a:pt x="44" y="106"/>
                  </a:lnTo>
                  <a:lnTo>
                    <a:pt x="44" y="112"/>
                  </a:lnTo>
                  <a:lnTo>
                    <a:pt x="44" y="117"/>
                  </a:lnTo>
                  <a:lnTo>
                    <a:pt x="44" y="123"/>
                  </a:lnTo>
                  <a:lnTo>
                    <a:pt x="44" y="129"/>
                  </a:lnTo>
                  <a:lnTo>
                    <a:pt x="44" y="135"/>
                  </a:lnTo>
                  <a:lnTo>
                    <a:pt x="44" y="142"/>
                  </a:lnTo>
                  <a:lnTo>
                    <a:pt x="44" y="150"/>
                  </a:lnTo>
                  <a:lnTo>
                    <a:pt x="44" y="154"/>
                  </a:lnTo>
                  <a:lnTo>
                    <a:pt x="46" y="155"/>
                  </a:lnTo>
                  <a:lnTo>
                    <a:pt x="2" y="169"/>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1" name="Freeform 40"/>
            <p:cNvSpPr>
              <a:spLocks/>
            </p:cNvSpPr>
            <p:nvPr/>
          </p:nvSpPr>
          <p:spPr bwMode="auto">
            <a:xfrm>
              <a:off x="5291" y="3539"/>
              <a:ext cx="41" cy="23"/>
            </a:xfrm>
            <a:custGeom>
              <a:avLst/>
              <a:gdLst>
                <a:gd name="T0" fmla="*/ 1 w 82"/>
                <a:gd name="T1" fmla="*/ 0 h 46"/>
                <a:gd name="T2" fmla="*/ 1 w 82"/>
                <a:gd name="T3" fmla="*/ 0 h 46"/>
                <a:gd name="T4" fmla="*/ 1 w 82"/>
                <a:gd name="T5" fmla="*/ 1 h 46"/>
                <a:gd name="T6" fmla="*/ 1 w 82"/>
                <a:gd name="T7" fmla="*/ 1 h 46"/>
                <a:gd name="T8" fmla="*/ 1 w 82"/>
                <a:gd name="T9" fmla="*/ 1 h 46"/>
                <a:gd name="T10" fmla="*/ 1 w 82"/>
                <a:gd name="T11" fmla="*/ 1 h 46"/>
                <a:gd name="T12" fmla="*/ 1 w 82"/>
                <a:gd name="T13" fmla="*/ 1 h 46"/>
                <a:gd name="T14" fmla="*/ 0 w 82"/>
                <a:gd name="T15" fmla="*/ 1 h 46"/>
                <a:gd name="T16" fmla="*/ 1 w 82"/>
                <a:gd name="T17" fmla="*/ 1 h 46"/>
                <a:gd name="T18" fmla="*/ 1 w 82"/>
                <a:gd name="T19" fmla="*/ 1 h 46"/>
                <a:gd name="T20" fmla="*/ 1 w 82"/>
                <a:gd name="T21" fmla="*/ 1 h 46"/>
                <a:gd name="T22" fmla="*/ 1 w 82"/>
                <a:gd name="T23" fmla="*/ 1 h 46"/>
                <a:gd name="T24" fmla="*/ 1 w 82"/>
                <a:gd name="T25" fmla="*/ 1 h 46"/>
                <a:gd name="T26" fmla="*/ 1 w 82"/>
                <a:gd name="T27" fmla="*/ 1 h 46"/>
                <a:gd name="T28" fmla="*/ 1 w 82"/>
                <a:gd name="T29" fmla="*/ 1 h 46"/>
                <a:gd name="T30" fmla="*/ 1 w 82"/>
                <a:gd name="T31" fmla="*/ 1 h 46"/>
                <a:gd name="T32" fmla="*/ 1 w 82"/>
                <a:gd name="T33" fmla="*/ 1 h 46"/>
                <a:gd name="T34" fmla="*/ 1 w 82"/>
                <a:gd name="T35" fmla="*/ 1 h 46"/>
                <a:gd name="T36" fmla="*/ 1 w 82"/>
                <a:gd name="T37" fmla="*/ 1 h 46"/>
                <a:gd name="T38" fmla="*/ 1 w 82"/>
                <a:gd name="T39" fmla="*/ 1 h 46"/>
                <a:gd name="T40" fmla="*/ 1 w 82"/>
                <a:gd name="T41" fmla="*/ 1 h 46"/>
                <a:gd name="T42" fmla="*/ 1 w 82"/>
                <a:gd name="T43" fmla="*/ 1 h 46"/>
                <a:gd name="T44" fmla="*/ 1 w 82"/>
                <a:gd name="T45" fmla="*/ 1 h 46"/>
                <a:gd name="T46" fmla="*/ 1 w 82"/>
                <a:gd name="T47" fmla="*/ 1 h 46"/>
                <a:gd name="T48" fmla="*/ 1 w 82"/>
                <a:gd name="T49" fmla="*/ 1 h 46"/>
                <a:gd name="T50" fmla="*/ 1 w 82"/>
                <a:gd name="T51" fmla="*/ 1 h 46"/>
                <a:gd name="T52" fmla="*/ 1 w 82"/>
                <a:gd name="T53" fmla="*/ 1 h 46"/>
                <a:gd name="T54" fmla="*/ 1 w 82"/>
                <a:gd name="T55" fmla="*/ 1 h 46"/>
                <a:gd name="T56" fmla="*/ 1 w 82"/>
                <a:gd name="T57" fmla="*/ 1 h 46"/>
                <a:gd name="T58" fmla="*/ 1 w 82"/>
                <a:gd name="T59" fmla="*/ 1 h 46"/>
                <a:gd name="T60" fmla="*/ 1 w 82"/>
                <a:gd name="T61" fmla="*/ 1 h 46"/>
                <a:gd name="T62" fmla="*/ 1 w 82"/>
                <a:gd name="T63" fmla="*/ 1 h 46"/>
                <a:gd name="T64" fmla="*/ 1 w 82"/>
                <a:gd name="T65" fmla="*/ 1 h 46"/>
                <a:gd name="T66" fmla="*/ 1 w 82"/>
                <a:gd name="T67" fmla="*/ 1 h 46"/>
                <a:gd name="T68" fmla="*/ 1 w 82"/>
                <a:gd name="T69" fmla="*/ 1 h 46"/>
                <a:gd name="T70" fmla="*/ 1 w 82"/>
                <a:gd name="T71" fmla="*/ 0 h 46"/>
                <a:gd name="T72" fmla="*/ 1 w 82"/>
                <a:gd name="T73" fmla="*/ 0 h 4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82" h="46">
                  <a:moveTo>
                    <a:pt x="30" y="0"/>
                  </a:moveTo>
                  <a:lnTo>
                    <a:pt x="28" y="0"/>
                  </a:lnTo>
                  <a:lnTo>
                    <a:pt x="25" y="2"/>
                  </a:lnTo>
                  <a:lnTo>
                    <a:pt x="19" y="4"/>
                  </a:lnTo>
                  <a:lnTo>
                    <a:pt x="13" y="8"/>
                  </a:lnTo>
                  <a:lnTo>
                    <a:pt x="7" y="12"/>
                  </a:lnTo>
                  <a:lnTo>
                    <a:pt x="4" y="16"/>
                  </a:lnTo>
                  <a:lnTo>
                    <a:pt x="0" y="17"/>
                  </a:lnTo>
                  <a:lnTo>
                    <a:pt x="2" y="19"/>
                  </a:lnTo>
                  <a:lnTo>
                    <a:pt x="4" y="21"/>
                  </a:lnTo>
                  <a:lnTo>
                    <a:pt x="11" y="23"/>
                  </a:lnTo>
                  <a:lnTo>
                    <a:pt x="17" y="23"/>
                  </a:lnTo>
                  <a:lnTo>
                    <a:pt x="19" y="23"/>
                  </a:lnTo>
                  <a:lnTo>
                    <a:pt x="15" y="27"/>
                  </a:lnTo>
                  <a:lnTo>
                    <a:pt x="15" y="33"/>
                  </a:lnTo>
                  <a:lnTo>
                    <a:pt x="19" y="33"/>
                  </a:lnTo>
                  <a:lnTo>
                    <a:pt x="25" y="33"/>
                  </a:lnTo>
                  <a:lnTo>
                    <a:pt x="30" y="35"/>
                  </a:lnTo>
                  <a:lnTo>
                    <a:pt x="34" y="35"/>
                  </a:lnTo>
                  <a:lnTo>
                    <a:pt x="40" y="35"/>
                  </a:lnTo>
                  <a:lnTo>
                    <a:pt x="42" y="35"/>
                  </a:lnTo>
                  <a:lnTo>
                    <a:pt x="44" y="35"/>
                  </a:lnTo>
                  <a:lnTo>
                    <a:pt x="42" y="36"/>
                  </a:lnTo>
                  <a:lnTo>
                    <a:pt x="42" y="38"/>
                  </a:lnTo>
                  <a:lnTo>
                    <a:pt x="40" y="42"/>
                  </a:lnTo>
                  <a:lnTo>
                    <a:pt x="42" y="44"/>
                  </a:lnTo>
                  <a:lnTo>
                    <a:pt x="45" y="44"/>
                  </a:lnTo>
                  <a:lnTo>
                    <a:pt x="55" y="46"/>
                  </a:lnTo>
                  <a:lnTo>
                    <a:pt x="64" y="44"/>
                  </a:lnTo>
                  <a:lnTo>
                    <a:pt x="70" y="44"/>
                  </a:lnTo>
                  <a:lnTo>
                    <a:pt x="72" y="42"/>
                  </a:lnTo>
                  <a:lnTo>
                    <a:pt x="76" y="36"/>
                  </a:lnTo>
                  <a:lnTo>
                    <a:pt x="80" y="33"/>
                  </a:lnTo>
                  <a:lnTo>
                    <a:pt x="82" y="31"/>
                  </a:lnTo>
                  <a:lnTo>
                    <a:pt x="30" y="0"/>
                  </a:lnTo>
                  <a:close/>
                </a:path>
              </a:pathLst>
            </a:custGeom>
            <a:solidFill>
              <a:srgbClr val="FFE6D9">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2" name="Freeform 41"/>
            <p:cNvSpPr>
              <a:spLocks/>
            </p:cNvSpPr>
            <p:nvPr/>
          </p:nvSpPr>
          <p:spPr bwMode="auto">
            <a:xfrm>
              <a:off x="5375" y="3653"/>
              <a:ext cx="366" cy="263"/>
            </a:xfrm>
            <a:custGeom>
              <a:avLst/>
              <a:gdLst>
                <a:gd name="T0" fmla="*/ 1 w 732"/>
                <a:gd name="T1" fmla="*/ 0 h 527"/>
                <a:gd name="T2" fmla="*/ 0 w 732"/>
                <a:gd name="T3" fmla="*/ 2 h 527"/>
                <a:gd name="T4" fmla="*/ 3 w 732"/>
                <a:gd name="T5" fmla="*/ 2 h 527"/>
                <a:gd name="T6" fmla="*/ 2 w 732"/>
                <a:gd name="T7" fmla="*/ 0 h 527"/>
                <a:gd name="T8" fmla="*/ 1 w 732"/>
                <a:gd name="T9" fmla="*/ 0 h 527"/>
                <a:gd name="T10" fmla="*/ 1 w 732"/>
                <a:gd name="T11" fmla="*/ 0 h 52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32" h="527">
                  <a:moveTo>
                    <a:pt x="84" y="0"/>
                  </a:moveTo>
                  <a:lnTo>
                    <a:pt x="0" y="521"/>
                  </a:lnTo>
                  <a:lnTo>
                    <a:pt x="732" y="527"/>
                  </a:lnTo>
                  <a:lnTo>
                    <a:pt x="449" y="35"/>
                  </a:lnTo>
                  <a:lnTo>
                    <a:pt x="84" y="0"/>
                  </a:lnTo>
                  <a:close/>
                </a:path>
              </a:pathLst>
            </a:custGeom>
            <a:solidFill>
              <a:srgbClr val="C7C7E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3" name="Freeform 42"/>
            <p:cNvSpPr>
              <a:spLocks/>
            </p:cNvSpPr>
            <p:nvPr/>
          </p:nvSpPr>
          <p:spPr bwMode="auto">
            <a:xfrm>
              <a:off x="5464" y="3664"/>
              <a:ext cx="135" cy="102"/>
            </a:xfrm>
            <a:custGeom>
              <a:avLst/>
              <a:gdLst>
                <a:gd name="T0" fmla="*/ 2 w 270"/>
                <a:gd name="T1" fmla="*/ 0 h 206"/>
                <a:gd name="T2" fmla="*/ 1 w 270"/>
                <a:gd name="T3" fmla="*/ 0 h 206"/>
                <a:gd name="T4" fmla="*/ 1 w 270"/>
                <a:gd name="T5" fmla="*/ 0 h 206"/>
                <a:gd name="T6" fmla="*/ 1 w 270"/>
                <a:gd name="T7" fmla="*/ 0 h 206"/>
                <a:gd name="T8" fmla="*/ 1 w 270"/>
                <a:gd name="T9" fmla="*/ 0 h 206"/>
                <a:gd name="T10" fmla="*/ 1 w 270"/>
                <a:gd name="T11" fmla="*/ 0 h 206"/>
                <a:gd name="T12" fmla="*/ 1 w 270"/>
                <a:gd name="T13" fmla="*/ 0 h 206"/>
                <a:gd name="T14" fmla="*/ 1 w 270"/>
                <a:gd name="T15" fmla="*/ 0 h 206"/>
                <a:gd name="T16" fmla="*/ 1 w 270"/>
                <a:gd name="T17" fmla="*/ 0 h 206"/>
                <a:gd name="T18" fmla="*/ 1 w 270"/>
                <a:gd name="T19" fmla="*/ 0 h 206"/>
                <a:gd name="T20" fmla="*/ 1 w 270"/>
                <a:gd name="T21" fmla="*/ 0 h 206"/>
                <a:gd name="T22" fmla="*/ 1 w 270"/>
                <a:gd name="T23" fmla="*/ 0 h 206"/>
                <a:gd name="T24" fmla="*/ 1 w 270"/>
                <a:gd name="T25" fmla="*/ 0 h 206"/>
                <a:gd name="T26" fmla="*/ 1 w 270"/>
                <a:gd name="T27" fmla="*/ 0 h 206"/>
                <a:gd name="T28" fmla="*/ 1 w 270"/>
                <a:gd name="T29" fmla="*/ 0 h 206"/>
                <a:gd name="T30" fmla="*/ 1 w 270"/>
                <a:gd name="T31" fmla="*/ 0 h 206"/>
                <a:gd name="T32" fmla="*/ 1 w 270"/>
                <a:gd name="T33" fmla="*/ 0 h 206"/>
                <a:gd name="T34" fmla="*/ 1 w 270"/>
                <a:gd name="T35" fmla="*/ 0 h 206"/>
                <a:gd name="T36" fmla="*/ 0 w 270"/>
                <a:gd name="T37" fmla="*/ 0 h 206"/>
                <a:gd name="T38" fmla="*/ 1 w 270"/>
                <a:gd name="T39" fmla="*/ 0 h 206"/>
                <a:gd name="T40" fmla="*/ 1 w 270"/>
                <a:gd name="T41" fmla="*/ 0 h 206"/>
                <a:gd name="T42" fmla="*/ 1 w 270"/>
                <a:gd name="T43" fmla="*/ 0 h 206"/>
                <a:gd name="T44" fmla="*/ 1 w 270"/>
                <a:gd name="T45" fmla="*/ 0 h 206"/>
                <a:gd name="T46" fmla="*/ 1 w 270"/>
                <a:gd name="T47" fmla="*/ 0 h 206"/>
                <a:gd name="T48" fmla="*/ 1 w 270"/>
                <a:gd name="T49" fmla="*/ 0 h 206"/>
                <a:gd name="T50" fmla="*/ 1 w 270"/>
                <a:gd name="T51" fmla="*/ 0 h 206"/>
                <a:gd name="T52" fmla="*/ 1 w 270"/>
                <a:gd name="T53" fmla="*/ 0 h 206"/>
                <a:gd name="T54" fmla="*/ 1 w 270"/>
                <a:gd name="T55" fmla="*/ 0 h 206"/>
                <a:gd name="T56" fmla="*/ 1 w 270"/>
                <a:gd name="T57" fmla="*/ 0 h 206"/>
                <a:gd name="T58" fmla="*/ 1 w 270"/>
                <a:gd name="T59" fmla="*/ 0 h 206"/>
                <a:gd name="T60" fmla="*/ 1 w 270"/>
                <a:gd name="T61" fmla="*/ 0 h 206"/>
                <a:gd name="T62" fmla="*/ 1 w 270"/>
                <a:gd name="T63" fmla="*/ 0 h 206"/>
                <a:gd name="T64" fmla="*/ 1 w 270"/>
                <a:gd name="T65" fmla="*/ 0 h 206"/>
                <a:gd name="T66" fmla="*/ 1 w 270"/>
                <a:gd name="T67" fmla="*/ 0 h 206"/>
                <a:gd name="T68" fmla="*/ 1 w 270"/>
                <a:gd name="T69" fmla="*/ 0 h 206"/>
                <a:gd name="T70" fmla="*/ 1 w 270"/>
                <a:gd name="T71" fmla="*/ 0 h 206"/>
                <a:gd name="T72" fmla="*/ 1 w 270"/>
                <a:gd name="T73" fmla="*/ 0 h 206"/>
                <a:gd name="T74" fmla="*/ 1 w 270"/>
                <a:gd name="T75" fmla="*/ 0 h 206"/>
                <a:gd name="T76" fmla="*/ 2 w 270"/>
                <a:gd name="T77" fmla="*/ 0 h 20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70" h="206">
                  <a:moveTo>
                    <a:pt x="270" y="192"/>
                  </a:moveTo>
                  <a:lnTo>
                    <a:pt x="266" y="206"/>
                  </a:lnTo>
                  <a:lnTo>
                    <a:pt x="256" y="200"/>
                  </a:lnTo>
                  <a:lnTo>
                    <a:pt x="247" y="196"/>
                  </a:lnTo>
                  <a:lnTo>
                    <a:pt x="237" y="190"/>
                  </a:lnTo>
                  <a:lnTo>
                    <a:pt x="230" y="187"/>
                  </a:lnTo>
                  <a:lnTo>
                    <a:pt x="220" y="181"/>
                  </a:lnTo>
                  <a:lnTo>
                    <a:pt x="211" y="179"/>
                  </a:lnTo>
                  <a:lnTo>
                    <a:pt x="201" y="173"/>
                  </a:lnTo>
                  <a:lnTo>
                    <a:pt x="194" y="169"/>
                  </a:lnTo>
                  <a:lnTo>
                    <a:pt x="182" y="166"/>
                  </a:lnTo>
                  <a:lnTo>
                    <a:pt x="175" y="162"/>
                  </a:lnTo>
                  <a:lnTo>
                    <a:pt x="163" y="156"/>
                  </a:lnTo>
                  <a:lnTo>
                    <a:pt x="156" y="152"/>
                  </a:lnTo>
                  <a:lnTo>
                    <a:pt x="146" y="149"/>
                  </a:lnTo>
                  <a:lnTo>
                    <a:pt x="137" y="147"/>
                  </a:lnTo>
                  <a:lnTo>
                    <a:pt x="127" y="141"/>
                  </a:lnTo>
                  <a:lnTo>
                    <a:pt x="118" y="139"/>
                  </a:lnTo>
                  <a:lnTo>
                    <a:pt x="108" y="133"/>
                  </a:lnTo>
                  <a:lnTo>
                    <a:pt x="99" y="130"/>
                  </a:lnTo>
                  <a:lnTo>
                    <a:pt x="91" y="126"/>
                  </a:lnTo>
                  <a:lnTo>
                    <a:pt x="82" y="122"/>
                  </a:lnTo>
                  <a:lnTo>
                    <a:pt x="74" y="120"/>
                  </a:lnTo>
                  <a:lnTo>
                    <a:pt x="66" y="116"/>
                  </a:lnTo>
                  <a:lnTo>
                    <a:pt x="59" y="112"/>
                  </a:lnTo>
                  <a:lnTo>
                    <a:pt x="55" y="109"/>
                  </a:lnTo>
                  <a:lnTo>
                    <a:pt x="47" y="105"/>
                  </a:lnTo>
                  <a:lnTo>
                    <a:pt x="42" y="101"/>
                  </a:lnTo>
                  <a:lnTo>
                    <a:pt x="36" y="99"/>
                  </a:lnTo>
                  <a:lnTo>
                    <a:pt x="32" y="97"/>
                  </a:lnTo>
                  <a:lnTo>
                    <a:pt x="25" y="90"/>
                  </a:lnTo>
                  <a:lnTo>
                    <a:pt x="19" y="84"/>
                  </a:lnTo>
                  <a:lnTo>
                    <a:pt x="11" y="76"/>
                  </a:lnTo>
                  <a:lnTo>
                    <a:pt x="7" y="71"/>
                  </a:lnTo>
                  <a:lnTo>
                    <a:pt x="6" y="65"/>
                  </a:lnTo>
                  <a:lnTo>
                    <a:pt x="4" y="57"/>
                  </a:lnTo>
                  <a:lnTo>
                    <a:pt x="0" y="50"/>
                  </a:lnTo>
                  <a:lnTo>
                    <a:pt x="0" y="44"/>
                  </a:lnTo>
                  <a:lnTo>
                    <a:pt x="0" y="36"/>
                  </a:lnTo>
                  <a:lnTo>
                    <a:pt x="4" y="31"/>
                  </a:lnTo>
                  <a:lnTo>
                    <a:pt x="6" y="23"/>
                  </a:lnTo>
                  <a:lnTo>
                    <a:pt x="7" y="17"/>
                  </a:lnTo>
                  <a:lnTo>
                    <a:pt x="13" y="12"/>
                  </a:lnTo>
                  <a:lnTo>
                    <a:pt x="21" y="8"/>
                  </a:lnTo>
                  <a:lnTo>
                    <a:pt x="26" y="2"/>
                  </a:lnTo>
                  <a:lnTo>
                    <a:pt x="34" y="0"/>
                  </a:lnTo>
                  <a:lnTo>
                    <a:pt x="42" y="0"/>
                  </a:lnTo>
                  <a:lnTo>
                    <a:pt x="49" y="4"/>
                  </a:lnTo>
                  <a:lnTo>
                    <a:pt x="55" y="4"/>
                  </a:lnTo>
                  <a:lnTo>
                    <a:pt x="63" y="8"/>
                  </a:lnTo>
                  <a:lnTo>
                    <a:pt x="68" y="12"/>
                  </a:lnTo>
                  <a:lnTo>
                    <a:pt x="76" y="17"/>
                  </a:lnTo>
                  <a:lnTo>
                    <a:pt x="80" y="19"/>
                  </a:lnTo>
                  <a:lnTo>
                    <a:pt x="85" y="23"/>
                  </a:lnTo>
                  <a:lnTo>
                    <a:pt x="91" y="29"/>
                  </a:lnTo>
                  <a:lnTo>
                    <a:pt x="99" y="35"/>
                  </a:lnTo>
                  <a:lnTo>
                    <a:pt x="106" y="42"/>
                  </a:lnTo>
                  <a:lnTo>
                    <a:pt x="114" y="50"/>
                  </a:lnTo>
                  <a:lnTo>
                    <a:pt x="118" y="54"/>
                  </a:lnTo>
                  <a:lnTo>
                    <a:pt x="123" y="59"/>
                  </a:lnTo>
                  <a:lnTo>
                    <a:pt x="129" y="65"/>
                  </a:lnTo>
                  <a:lnTo>
                    <a:pt x="135" y="71"/>
                  </a:lnTo>
                  <a:lnTo>
                    <a:pt x="144" y="78"/>
                  </a:lnTo>
                  <a:lnTo>
                    <a:pt x="154" y="88"/>
                  </a:lnTo>
                  <a:lnTo>
                    <a:pt x="161" y="97"/>
                  </a:lnTo>
                  <a:lnTo>
                    <a:pt x="171" y="105"/>
                  </a:lnTo>
                  <a:lnTo>
                    <a:pt x="180" y="112"/>
                  </a:lnTo>
                  <a:lnTo>
                    <a:pt x="188" y="122"/>
                  </a:lnTo>
                  <a:lnTo>
                    <a:pt x="198" y="130"/>
                  </a:lnTo>
                  <a:lnTo>
                    <a:pt x="207" y="137"/>
                  </a:lnTo>
                  <a:lnTo>
                    <a:pt x="215" y="145"/>
                  </a:lnTo>
                  <a:lnTo>
                    <a:pt x="222" y="150"/>
                  </a:lnTo>
                  <a:lnTo>
                    <a:pt x="232" y="158"/>
                  </a:lnTo>
                  <a:lnTo>
                    <a:pt x="239" y="166"/>
                  </a:lnTo>
                  <a:lnTo>
                    <a:pt x="247" y="173"/>
                  </a:lnTo>
                  <a:lnTo>
                    <a:pt x="255" y="179"/>
                  </a:lnTo>
                  <a:lnTo>
                    <a:pt x="262" y="185"/>
                  </a:lnTo>
                  <a:lnTo>
                    <a:pt x="270" y="192"/>
                  </a:lnTo>
                  <a:close/>
                </a:path>
              </a:pathLst>
            </a:custGeom>
            <a:solidFill>
              <a:srgbClr val="FF99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4" name="Freeform 43"/>
            <p:cNvSpPr>
              <a:spLocks/>
            </p:cNvSpPr>
            <p:nvPr/>
          </p:nvSpPr>
          <p:spPr bwMode="auto">
            <a:xfrm>
              <a:off x="5608" y="3759"/>
              <a:ext cx="49" cy="51"/>
            </a:xfrm>
            <a:custGeom>
              <a:avLst/>
              <a:gdLst>
                <a:gd name="T0" fmla="*/ 0 w 99"/>
                <a:gd name="T1" fmla="*/ 0 h 103"/>
                <a:gd name="T2" fmla="*/ 0 w 99"/>
                <a:gd name="T3" fmla="*/ 0 h 103"/>
                <a:gd name="T4" fmla="*/ 0 w 99"/>
                <a:gd name="T5" fmla="*/ 0 h 103"/>
                <a:gd name="T6" fmla="*/ 0 w 99"/>
                <a:gd name="T7" fmla="*/ 0 h 103"/>
                <a:gd name="T8" fmla="*/ 0 w 99"/>
                <a:gd name="T9" fmla="*/ 0 h 103"/>
                <a:gd name="T10" fmla="*/ 0 w 99"/>
                <a:gd name="T11" fmla="*/ 0 h 103"/>
                <a:gd name="T12" fmla="*/ 0 w 99"/>
                <a:gd name="T13" fmla="*/ 0 h 103"/>
                <a:gd name="T14" fmla="*/ 0 w 99"/>
                <a:gd name="T15" fmla="*/ 0 h 103"/>
                <a:gd name="T16" fmla="*/ 0 w 99"/>
                <a:gd name="T17" fmla="*/ 0 h 103"/>
                <a:gd name="T18" fmla="*/ 0 w 99"/>
                <a:gd name="T19" fmla="*/ 0 h 103"/>
                <a:gd name="T20" fmla="*/ 0 w 99"/>
                <a:gd name="T21" fmla="*/ 0 h 103"/>
                <a:gd name="T22" fmla="*/ 0 w 99"/>
                <a:gd name="T23" fmla="*/ 0 h 103"/>
                <a:gd name="T24" fmla="*/ 0 w 99"/>
                <a:gd name="T25" fmla="*/ 0 h 103"/>
                <a:gd name="T26" fmla="*/ 0 w 99"/>
                <a:gd name="T27" fmla="*/ 0 h 103"/>
                <a:gd name="T28" fmla="*/ 0 w 99"/>
                <a:gd name="T29" fmla="*/ 0 h 103"/>
                <a:gd name="T30" fmla="*/ 0 w 99"/>
                <a:gd name="T31" fmla="*/ 0 h 103"/>
                <a:gd name="T32" fmla="*/ 0 w 99"/>
                <a:gd name="T33" fmla="*/ 0 h 103"/>
                <a:gd name="T34" fmla="*/ 0 w 99"/>
                <a:gd name="T35" fmla="*/ 0 h 103"/>
                <a:gd name="T36" fmla="*/ 0 w 99"/>
                <a:gd name="T37" fmla="*/ 0 h 103"/>
                <a:gd name="T38" fmla="*/ 0 w 99"/>
                <a:gd name="T39" fmla="*/ 0 h 103"/>
                <a:gd name="T40" fmla="*/ 0 w 99"/>
                <a:gd name="T41" fmla="*/ 0 h 103"/>
                <a:gd name="T42" fmla="*/ 0 w 99"/>
                <a:gd name="T43" fmla="*/ 0 h 103"/>
                <a:gd name="T44" fmla="*/ 0 w 99"/>
                <a:gd name="T45" fmla="*/ 0 h 103"/>
                <a:gd name="T46" fmla="*/ 0 w 99"/>
                <a:gd name="T47" fmla="*/ 0 h 103"/>
                <a:gd name="T48" fmla="*/ 0 w 99"/>
                <a:gd name="T49" fmla="*/ 0 h 103"/>
                <a:gd name="T50" fmla="*/ 0 w 99"/>
                <a:gd name="T51" fmla="*/ 0 h 103"/>
                <a:gd name="T52" fmla="*/ 0 w 99"/>
                <a:gd name="T53" fmla="*/ 0 h 103"/>
                <a:gd name="T54" fmla="*/ 0 w 99"/>
                <a:gd name="T55" fmla="*/ 0 h 103"/>
                <a:gd name="T56" fmla="*/ 0 w 99"/>
                <a:gd name="T57" fmla="*/ 0 h 103"/>
                <a:gd name="T58" fmla="*/ 0 w 99"/>
                <a:gd name="T59" fmla="*/ 0 h 103"/>
                <a:gd name="T60" fmla="*/ 0 w 99"/>
                <a:gd name="T61" fmla="*/ 0 h 103"/>
                <a:gd name="T62" fmla="*/ 0 w 99"/>
                <a:gd name="T63" fmla="*/ 0 h 103"/>
                <a:gd name="T64" fmla="*/ 0 w 99"/>
                <a:gd name="T65" fmla="*/ 0 h 103"/>
                <a:gd name="T66" fmla="*/ 0 w 99"/>
                <a:gd name="T67" fmla="*/ 0 h 103"/>
                <a:gd name="T68" fmla="*/ 0 w 99"/>
                <a:gd name="T69" fmla="*/ 0 h 103"/>
                <a:gd name="T70" fmla="*/ 0 w 99"/>
                <a:gd name="T71" fmla="*/ 0 h 103"/>
                <a:gd name="T72" fmla="*/ 0 w 99"/>
                <a:gd name="T73" fmla="*/ 0 h 103"/>
                <a:gd name="T74" fmla="*/ 0 w 99"/>
                <a:gd name="T75" fmla="*/ 0 h 103"/>
                <a:gd name="T76" fmla="*/ 0 w 99"/>
                <a:gd name="T77" fmla="*/ 0 h 103"/>
                <a:gd name="T78" fmla="*/ 0 w 99"/>
                <a:gd name="T79" fmla="*/ 0 h 103"/>
                <a:gd name="T80" fmla="*/ 0 w 99"/>
                <a:gd name="T81" fmla="*/ 0 h 103"/>
                <a:gd name="T82" fmla="*/ 0 w 99"/>
                <a:gd name="T83" fmla="*/ 0 h 103"/>
                <a:gd name="T84" fmla="*/ 0 w 99"/>
                <a:gd name="T85" fmla="*/ 0 h 103"/>
                <a:gd name="T86" fmla="*/ 0 w 99"/>
                <a:gd name="T87" fmla="*/ 0 h 103"/>
                <a:gd name="T88" fmla="*/ 0 w 99"/>
                <a:gd name="T89" fmla="*/ 0 h 103"/>
                <a:gd name="T90" fmla="*/ 0 w 99"/>
                <a:gd name="T91" fmla="*/ 0 h 10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99" h="103">
                  <a:moveTo>
                    <a:pt x="0" y="38"/>
                  </a:moveTo>
                  <a:lnTo>
                    <a:pt x="4" y="29"/>
                  </a:lnTo>
                  <a:lnTo>
                    <a:pt x="9" y="21"/>
                  </a:lnTo>
                  <a:lnTo>
                    <a:pt x="11" y="17"/>
                  </a:lnTo>
                  <a:lnTo>
                    <a:pt x="15" y="14"/>
                  </a:lnTo>
                  <a:lnTo>
                    <a:pt x="21" y="12"/>
                  </a:lnTo>
                  <a:lnTo>
                    <a:pt x="25" y="8"/>
                  </a:lnTo>
                  <a:lnTo>
                    <a:pt x="34" y="2"/>
                  </a:lnTo>
                  <a:lnTo>
                    <a:pt x="44" y="0"/>
                  </a:lnTo>
                  <a:lnTo>
                    <a:pt x="47" y="0"/>
                  </a:lnTo>
                  <a:lnTo>
                    <a:pt x="53" y="0"/>
                  </a:lnTo>
                  <a:lnTo>
                    <a:pt x="57" y="0"/>
                  </a:lnTo>
                  <a:lnTo>
                    <a:pt x="63" y="2"/>
                  </a:lnTo>
                  <a:lnTo>
                    <a:pt x="72" y="6"/>
                  </a:lnTo>
                  <a:lnTo>
                    <a:pt x="80" y="12"/>
                  </a:lnTo>
                  <a:lnTo>
                    <a:pt x="87" y="17"/>
                  </a:lnTo>
                  <a:lnTo>
                    <a:pt x="95" y="27"/>
                  </a:lnTo>
                  <a:lnTo>
                    <a:pt x="97" y="36"/>
                  </a:lnTo>
                  <a:lnTo>
                    <a:pt x="99" y="46"/>
                  </a:lnTo>
                  <a:lnTo>
                    <a:pt x="99" y="50"/>
                  </a:lnTo>
                  <a:lnTo>
                    <a:pt x="99" y="55"/>
                  </a:lnTo>
                  <a:lnTo>
                    <a:pt x="99" y="61"/>
                  </a:lnTo>
                  <a:lnTo>
                    <a:pt x="99" y="65"/>
                  </a:lnTo>
                  <a:lnTo>
                    <a:pt x="95" y="74"/>
                  </a:lnTo>
                  <a:lnTo>
                    <a:pt x="89" y="84"/>
                  </a:lnTo>
                  <a:lnTo>
                    <a:pt x="83" y="90"/>
                  </a:lnTo>
                  <a:lnTo>
                    <a:pt x="76" y="97"/>
                  </a:lnTo>
                  <a:lnTo>
                    <a:pt x="66" y="101"/>
                  </a:lnTo>
                  <a:lnTo>
                    <a:pt x="57" y="103"/>
                  </a:lnTo>
                  <a:lnTo>
                    <a:pt x="51" y="103"/>
                  </a:lnTo>
                  <a:lnTo>
                    <a:pt x="45" y="103"/>
                  </a:lnTo>
                  <a:lnTo>
                    <a:pt x="42" y="103"/>
                  </a:lnTo>
                  <a:lnTo>
                    <a:pt x="36" y="101"/>
                  </a:lnTo>
                  <a:lnTo>
                    <a:pt x="26" y="97"/>
                  </a:lnTo>
                  <a:lnTo>
                    <a:pt x="19" y="93"/>
                  </a:lnTo>
                  <a:lnTo>
                    <a:pt x="13" y="88"/>
                  </a:lnTo>
                  <a:lnTo>
                    <a:pt x="7" y="80"/>
                  </a:lnTo>
                  <a:lnTo>
                    <a:pt x="6" y="74"/>
                  </a:lnTo>
                  <a:lnTo>
                    <a:pt x="2" y="69"/>
                  </a:lnTo>
                  <a:lnTo>
                    <a:pt x="0" y="63"/>
                  </a:lnTo>
                  <a:lnTo>
                    <a:pt x="0" y="59"/>
                  </a:lnTo>
                  <a:lnTo>
                    <a:pt x="0" y="54"/>
                  </a:lnTo>
                  <a:lnTo>
                    <a:pt x="0" y="48"/>
                  </a:lnTo>
                  <a:lnTo>
                    <a:pt x="0" y="44"/>
                  </a:lnTo>
                  <a:lnTo>
                    <a:pt x="0" y="38"/>
                  </a:lnTo>
                  <a:close/>
                </a:path>
              </a:pathLst>
            </a:custGeom>
            <a:solidFill>
              <a:srgbClr val="FF99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5" name="Freeform 44"/>
            <p:cNvSpPr>
              <a:spLocks/>
            </p:cNvSpPr>
            <p:nvPr/>
          </p:nvSpPr>
          <p:spPr bwMode="auto">
            <a:xfrm>
              <a:off x="5405" y="3718"/>
              <a:ext cx="185" cy="140"/>
            </a:xfrm>
            <a:custGeom>
              <a:avLst/>
              <a:gdLst>
                <a:gd name="T0" fmla="*/ 1 w 371"/>
                <a:gd name="T1" fmla="*/ 1 h 281"/>
                <a:gd name="T2" fmla="*/ 1 w 371"/>
                <a:gd name="T3" fmla="*/ 1 h 281"/>
                <a:gd name="T4" fmla="*/ 1 w 371"/>
                <a:gd name="T5" fmla="*/ 1 h 281"/>
                <a:gd name="T6" fmla="*/ 1 w 371"/>
                <a:gd name="T7" fmla="*/ 0 h 281"/>
                <a:gd name="T8" fmla="*/ 1 w 371"/>
                <a:gd name="T9" fmla="*/ 0 h 281"/>
                <a:gd name="T10" fmla="*/ 1 w 371"/>
                <a:gd name="T11" fmla="*/ 0 h 281"/>
                <a:gd name="T12" fmla="*/ 0 w 371"/>
                <a:gd name="T13" fmla="*/ 0 h 281"/>
                <a:gd name="T14" fmla="*/ 0 w 371"/>
                <a:gd name="T15" fmla="*/ 0 h 281"/>
                <a:gd name="T16" fmla="*/ 0 w 371"/>
                <a:gd name="T17" fmla="*/ 0 h 281"/>
                <a:gd name="T18" fmla="*/ 0 w 371"/>
                <a:gd name="T19" fmla="*/ 0 h 281"/>
                <a:gd name="T20" fmla="*/ 0 w 371"/>
                <a:gd name="T21" fmla="*/ 0 h 281"/>
                <a:gd name="T22" fmla="*/ 0 w 371"/>
                <a:gd name="T23" fmla="*/ 0 h 281"/>
                <a:gd name="T24" fmla="*/ 0 w 371"/>
                <a:gd name="T25" fmla="*/ 0 h 281"/>
                <a:gd name="T26" fmla="*/ 0 w 371"/>
                <a:gd name="T27" fmla="*/ 0 h 281"/>
                <a:gd name="T28" fmla="*/ 0 w 371"/>
                <a:gd name="T29" fmla="*/ 0 h 281"/>
                <a:gd name="T30" fmla="*/ 0 w 371"/>
                <a:gd name="T31" fmla="*/ 0 h 281"/>
                <a:gd name="T32" fmla="*/ 0 w 371"/>
                <a:gd name="T33" fmla="*/ 0 h 281"/>
                <a:gd name="T34" fmla="*/ 0 w 371"/>
                <a:gd name="T35" fmla="*/ 0 h 281"/>
                <a:gd name="T36" fmla="*/ 0 w 371"/>
                <a:gd name="T37" fmla="*/ 0 h 281"/>
                <a:gd name="T38" fmla="*/ 0 w 371"/>
                <a:gd name="T39" fmla="*/ 0 h 281"/>
                <a:gd name="T40" fmla="*/ 0 w 371"/>
                <a:gd name="T41" fmla="*/ 0 h 281"/>
                <a:gd name="T42" fmla="*/ 0 w 371"/>
                <a:gd name="T43" fmla="*/ 0 h 281"/>
                <a:gd name="T44" fmla="*/ 0 w 371"/>
                <a:gd name="T45" fmla="*/ 0 h 281"/>
                <a:gd name="T46" fmla="*/ 0 w 371"/>
                <a:gd name="T47" fmla="*/ 0 h 281"/>
                <a:gd name="T48" fmla="*/ 0 w 371"/>
                <a:gd name="T49" fmla="*/ 0 h 281"/>
                <a:gd name="T50" fmla="*/ 0 w 371"/>
                <a:gd name="T51" fmla="*/ 0 h 281"/>
                <a:gd name="T52" fmla="*/ 0 w 371"/>
                <a:gd name="T53" fmla="*/ 0 h 281"/>
                <a:gd name="T54" fmla="*/ 0 w 371"/>
                <a:gd name="T55" fmla="*/ 0 h 281"/>
                <a:gd name="T56" fmla="*/ 0 w 371"/>
                <a:gd name="T57" fmla="*/ 0 h 281"/>
                <a:gd name="T58" fmla="*/ 0 w 371"/>
                <a:gd name="T59" fmla="*/ 0 h 281"/>
                <a:gd name="T60" fmla="*/ 0 w 371"/>
                <a:gd name="T61" fmla="*/ 0 h 281"/>
                <a:gd name="T62" fmla="*/ 0 w 371"/>
                <a:gd name="T63" fmla="*/ 0 h 281"/>
                <a:gd name="T64" fmla="*/ 0 w 371"/>
                <a:gd name="T65" fmla="*/ 0 h 281"/>
                <a:gd name="T66" fmla="*/ 0 w 371"/>
                <a:gd name="T67" fmla="*/ 0 h 281"/>
                <a:gd name="T68" fmla="*/ 0 w 371"/>
                <a:gd name="T69" fmla="*/ 0 h 281"/>
                <a:gd name="T70" fmla="*/ 1 w 371"/>
                <a:gd name="T71" fmla="*/ 0 h 281"/>
                <a:gd name="T72" fmla="*/ 1 w 371"/>
                <a:gd name="T73" fmla="*/ 0 h 281"/>
                <a:gd name="T74" fmla="*/ 1 w 371"/>
                <a:gd name="T75" fmla="*/ 0 h 281"/>
                <a:gd name="T76" fmla="*/ 1 w 371"/>
                <a:gd name="T77" fmla="*/ 0 h 281"/>
                <a:gd name="T78" fmla="*/ 1 w 371"/>
                <a:gd name="T79" fmla="*/ 0 h 281"/>
                <a:gd name="T80" fmla="*/ 1 w 371"/>
                <a:gd name="T81" fmla="*/ 0 h 281"/>
                <a:gd name="T82" fmla="*/ 1 w 371"/>
                <a:gd name="T83" fmla="*/ 0 h 281"/>
                <a:gd name="T84" fmla="*/ 1 w 371"/>
                <a:gd name="T85" fmla="*/ 1 h 28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371" h="281">
                  <a:moveTo>
                    <a:pt x="371" y="262"/>
                  </a:moveTo>
                  <a:lnTo>
                    <a:pt x="367" y="281"/>
                  </a:lnTo>
                  <a:lnTo>
                    <a:pt x="359" y="277"/>
                  </a:lnTo>
                  <a:lnTo>
                    <a:pt x="352" y="275"/>
                  </a:lnTo>
                  <a:lnTo>
                    <a:pt x="346" y="271"/>
                  </a:lnTo>
                  <a:lnTo>
                    <a:pt x="340" y="268"/>
                  </a:lnTo>
                  <a:lnTo>
                    <a:pt x="333" y="264"/>
                  </a:lnTo>
                  <a:lnTo>
                    <a:pt x="327" y="262"/>
                  </a:lnTo>
                  <a:lnTo>
                    <a:pt x="321" y="258"/>
                  </a:lnTo>
                  <a:lnTo>
                    <a:pt x="316" y="256"/>
                  </a:lnTo>
                  <a:lnTo>
                    <a:pt x="308" y="252"/>
                  </a:lnTo>
                  <a:lnTo>
                    <a:pt x="302" y="251"/>
                  </a:lnTo>
                  <a:lnTo>
                    <a:pt x="295" y="247"/>
                  </a:lnTo>
                  <a:lnTo>
                    <a:pt x="289" y="243"/>
                  </a:lnTo>
                  <a:lnTo>
                    <a:pt x="283" y="241"/>
                  </a:lnTo>
                  <a:lnTo>
                    <a:pt x="276" y="237"/>
                  </a:lnTo>
                  <a:lnTo>
                    <a:pt x="270" y="235"/>
                  </a:lnTo>
                  <a:lnTo>
                    <a:pt x="264" y="232"/>
                  </a:lnTo>
                  <a:lnTo>
                    <a:pt x="257" y="228"/>
                  </a:lnTo>
                  <a:lnTo>
                    <a:pt x="251" y="226"/>
                  </a:lnTo>
                  <a:lnTo>
                    <a:pt x="245" y="224"/>
                  </a:lnTo>
                  <a:lnTo>
                    <a:pt x="238" y="220"/>
                  </a:lnTo>
                  <a:lnTo>
                    <a:pt x="232" y="218"/>
                  </a:lnTo>
                  <a:lnTo>
                    <a:pt x="226" y="214"/>
                  </a:lnTo>
                  <a:lnTo>
                    <a:pt x="219" y="213"/>
                  </a:lnTo>
                  <a:lnTo>
                    <a:pt x="213" y="209"/>
                  </a:lnTo>
                  <a:lnTo>
                    <a:pt x="205" y="207"/>
                  </a:lnTo>
                  <a:lnTo>
                    <a:pt x="200" y="203"/>
                  </a:lnTo>
                  <a:lnTo>
                    <a:pt x="194" y="201"/>
                  </a:lnTo>
                  <a:lnTo>
                    <a:pt x="186" y="197"/>
                  </a:lnTo>
                  <a:lnTo>
                    <a:pt x="181" y="195"/>
                  </a:lnTo>
                  <a:lnTo>
                    <a:pt x="175" y="194"/>
                  </a:lnTo>
                  <a:lnTo>
                    <a:pt x="167" y="192"/>
                  </a:lnTo>
                  <a:lnTo>
                    <a:pt x="162" y="190"/>
                  </a:lnTo>
                  <a:lnTo>
                    <a:pt x="154" y="186"/>
                  </a:lnTo>
                  <a:lnTo>
                    <a:pt x="148" y="184"/>
                  </a:lnTo>
                  <a:lnTo>
                    <a:pt x="141" y="180"/>
                  </a:lnTo>
                  <a:lnTo>
                    <a:pt x="135" y="178"/>
                  </a:lnTo>
                  <a:lnTo>
                    <a:pt x="129" y="174"/>
                  </a:lnTo>
                  <a:lnTo>
                    <a:pt x="124" y="173"/>
                  </a:lnTo>
                  <a:lnTo>
                    <a:pt x="118" y="171"/>
                  </a:lnTo>
                  <a:lnTo>
                    <a:pt x="112" y="169"/>
                  </a:lnTo>
                  <a:lnTo>
                    <a:pt x="106" y="167"/>
                  </a:lnTo>
                  <a:lnTo>
                    <a:pt x="101" y="163"/>
                  </a:lnTo>
                  <a:lnTo>
                    <a:pt x="97" y="161"/>
                  </a:lnTo>
                  <a:lnTo>
                    <a:pt x="91" y="159"/>
                  </a:lnTo>
                  <a:lnTo>
                    <a:pt x="82" y="154"/>
                  </a:lnTo>
                  <a:lnTo>
                    <a:pt x="74" y="150"/>
                  </a:lnTo>
                  <a:lnTo>
                    <a:pt x="67" y="144"/>
                  </a:lnTo>
                  <a:lnTo>
                    <a:pt x="57" y="140"/>
                  </a:lnTo>
                  <a:lnTo>
                    <a:pt x="49" y="135"/>
                  </a:lnTo>
                  <a:lnTo>
                    <a:pt x="46" y="131"/>
                  </a:lnTo>
                  <a:lnTo>
                    <a:pt x="38" y="125"/>
                  </a:lnTo>
                  <a:lnTo>
                    <a:pt x="34" y="121"/>
                  </a:lnTo>
                  <a:lnTo>
                    <a:pt x="29" y="117"/>
                  </a:lnTo>
                  <a:lnTo>
                    <a:pt x="25" y="114"/>
                  </a:lnTo>
                  <a:lnTo>
                    <a:pt x="17" y="104"/>
                  </a:lnTo>
                  <a:lnTo>
                    <a:pt x="11" y="97"/>
                  </a:lnTo>
                  <a:lnTo>
                    <a:pt x="6" y="87"/>
                  </a:lnTo>
                  <a:lnTo>
                    <a:pt x="4" y="78"/>
                  </a:lnTo>
                  <a:lnTo>
                    <a:pt x="0" y="68"/>
                  </a:lnTo>
                  <a:lnTo>
                    <a:pt x="0" y="59"/>
                  </a:lnTo>
                  <a:lnTo>
                    <a:pt x="0" y="49"/>
                  </a:lnTo>
                  <a:lnTo>
                    <a:pt x="4" y="40"/>
                  </a:lnTo>
                  <a:lnTo>
                    <a:pt x="6" y="30"/>
                  </a:lnTo>
                  <a:lnTo>
                    <a:pt x="11" y="22"/>
                  </a:lnTo>
                  <a:lnTo>
                    <a:pt x="19" y="15"/>
                  </a:lnTo>
                  <a:lnTo>
                    <a:pt x="27" y="9"/>
                  </a:lnTo>
                  <a:lnTo>
                    <a:pt x="32" y="5"/>
                  </a:lnTo>
                  <a:lnTo>
                    <a:pt x="36" y="3"/>
                  </a:lnTo>
                  <a:lnTo>
                    <a:pt x="42" y="2"/>
                  </a:lnTo>
                  <a:lnTo>
                    <a:pt x="48" y="2"/>
                  </a:lnTo>
                  <a:lnTo>
                    <a:pt x="51" y="0"/>
                  </a:lnTo>
                  <a:lnTo>
                    <a:pt x="57" y="0"/>
                  </a:lnTo>
                  <a:lnTo>
                    <a:pt x="63" y="0"/>
                  </a:lnTo>
                  <a:lnTo>
                    <a:pt x="68" y="3"/>
                  </a:lnTo>
                  <a:lnTo>
                    <a:pt x="76" y="5"/>
                  </a:lnTo>
                  <a:lnTo>
                    <a:pt x="86" y="9"/>
                  </a:lnTo>
                  <a:lnTo>
                    <a:pt x="89" y="11"/>
                  </a:lnTo>
                  <a:lnTo>
                    <a:pt x="95" y="13"/>
                  </a:lnTo>
                  <a:lnTo>
                    <a:pt x="99" y="17"/>
                  </a:lnTo>
                  <a:lnTo>
                    <a:pt x="105" y="21"/>
                  </a:lnTo>
                  <a:lnTo>
                    <a:pt x="110" y="24"/>
                  </a:lnTo>
                  <a:lnTo>
                    <a:pt x="116" y="30"/>
                  </a:lnTo>
                  <a:lnTo>
                    <a:pt x="120" y="32"/>
                  </a:lnTo>
                  <a:lnTo>
                    <a:pt x="124" y="38"/>
                  </a:lnTo>
                  <a:lnTo>
                    <a:pt x="127" y="40"/>
                  </a:lnTo>
                  <a:lnTo>
                    <a:pt x="133" y="45"/>
                  </a:lnTo>
                  <a:lnTo>
                    <a:pt x="139" y="51"/>
                  </a:lnTo>
                  <a:lnTo>
                    <a:pt x="145" y="57"/>
                  </a:lnTo>
                  <a:lnTo>
                    <a:pt x="150" y="62"/>
                  </a:lnTo>
                  <a:lnTo>
                    <a:pt x="156" y="68"/>
                  </a:lnTo>
                  <a:lnTo>
                    <a:pt x="162" y="74"/>
                  </a:lnTo>
                  <a:lnTo>
                    <a:pt x="169" y="81"/>
                  </a:lnTo>
                  <a:lnTo>
                    <a:pt x="177" y="89"/>
                  </a:lnTo>
                  <a:lnTo>
                    <a:pt x="184" y="97"/>
                  </a:lnTo>
                  <a:lnTo>
                    <a:pt x="190" y="102"/>
                  </a:lnTo>
                  <a:lnTo>
                    <a:pt x="198" y="108"/>
                  </a:lnTo>
                  <a:lnTo>
                    <a:pt x="203" y="114"/>
                  </a:lnTo>
                  <a:lnTo>
                    <a:pt x="209" y="119"/>
                  </a:lnTo>
                  <a:lnTo>
                    <a:pt x="215" y="125"/>
                  </a:lnTo>
                  <a:lnTo>
                    <a:pt x="222" y="133"/>
                  </a:lnTo>
                  <a:lnTo>
                    <a:pt x="228" y="138"/>
                  </a:lnTo>
                  <a:lnTo>
                    <a:pt x="234" y="144"/>
                  </a:lnTo>
                  <a:lnTo>
                    <a:pt x="240" y="150"/>
                  </a:lnTo>
                  <a:lnTo>
                    <a:pt x="245" y="155"/>
                  </a:lnTo>
                  <a:lnTo>
                    <a:pt x="251" y="161"/>
                  </a:lnTo>
                  <a:lnTo>
                    <a:pt x="259" y="167"/>
                  </a:lnTo>
                  <a:lnTo>
                    <a:pt x="264" y="171"/>
                  </a:lnTo>
                  <a:lnTo>
                    <a:pt x="270" y="176"/>
                  </a:lnTo>
                  <a:lnTo>
                    <a:pt x="276" y="182"/>
                  </a:lnTo>
                  <a:lnTo>
                    <a:pt x="281" y="190"/>
                  </a:lnTo>
                  <a:lnTo>
                    <a:pt x="287" y="194"/>
                  </a:lnTo>
                  <a:lnTo>
                    <a:pt x="293" y="197"/>
                  </a:lnTo>
                  <a:lnTo>
                    <a:pt x="298" y="203"/>
                  </a:lnTo>
                  <a:lnTo>
                    <a:pt x="304" y="209"/>
                  </a:lnTo>
                  <a:lnTo>
                    <a:pt x="310" y="213"/>
                  </a:lnTo>
                  <a:lnTo>
                    <a:pt x="316" y="218"/>
                  </a:lnTo>
                  <a:lnTo>
                    <a:pt x="321" y="222"/>
                  </a:lnTo>
                  <a:lnTo>
                    <a:pt x="327" y="228"/>
                  </a:lnTo>
                  <a:lnTo>
                    <a:pt x="331" y="232"/>
                  </a:lnTo>
                  <a:lnTo>
                    <a:pt x="337" y="235"/>
                  </a:lnTo>
                  <a:lnTo>
                    <a:pt x="342" y="241"/>
                  </a:lnTo>
                  <a:lnTo>
                    <a:pt x="348" y="245"/>
                  </a:lnTo>
                  <a:lnTo>
                    <a:pt x="354" y="249"/>
                  </a:lnTo>
                  <a:lnTo>
                    <a:pt x="359" y="252"/>
                  </a:lnTo>
                  <a:lnTo>
                    <a:pt x="365" y="258"/>
                  </a:lnTo>
                  <a:lnTo>
                    <a:pt x="371" y="262"/>
                  </a:lnTo>
                  <a:close/>
                </a:path>
              </a:pathLst>
            </a:custGeom>
            <a:solidFill>
              <a:srgbClr val="FFFFFF">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6" name="Freeform 45"/>
            <p:cNvSpPr>
              <a:spLocks/>
            </p:cNvSpPr>
            <p:nvPr/>
          </p:nvSpPr>
          <p:spPr bwMode="auto">
            <a:xfrm>
              <a:off x="5600" y="3847"/>
              <a:ext cx="69" cy="72"/>
            </a:xfrm>
            <a:custGeom>
              <a:avLst/>
              <a:gdLst>
                <a:gd name="T0" fmla="*/ 1 w 137"/>
                <a:gd name="T1" fmla="*/ 0 h 145"/>
                <a:gd name="T2" fmla="*/ 1 w 137"/>
                <a:gd name="T3" fmla="*/ 0 h 145"/>
                <a:gd name="T4" fmla="*/ 1 w 137"/>
                <a:gd name="T5" fmla="*/ 0 h 145"/>
                <a:gd name="T6" fmla="*/ 1 w 137"/>
                <a:gd name="T7" fmla="*/ 0 h 145"/>
                <a:gd name="T8" fmla="*/ 1 w 137"/>
                <a:gd name="T9" fmla="*/ 0 h 145"/>
                <a:gd name="T10" fmla="*/ 1 w 137"/>
                <a:gd name="T11" fmla="*/ 0 h 145"/>
                <a:gd name="T12" fmla="*/ 1 w 137"/>
                <a:gd name="T13" fmla="*/ 0 h 145"/>
                <a:gd name="T14" fmla="*/ 1 w 137"/>
                <a:gd name="T15" fmla="*/ 0 h 145"/>
                <a:gd name="T16" fmla="*/ 1 w 137"/>
                <a:gd name="T17" fmla="*/ 0 h 145"/>
                <a:gd name="T18" fmla="*/ 1 w 137"/>
                <a:gd name="T19" fmla="*/ 0 h 145"/>
                <a:gd name="T20" fmla="*/ 1 w 137"/>
                <a:gd name="T21" fmla="*/ 0 h 145"/>
                <a:gd name="T22" fmla="*/ 1 w 137"/>
                <a:gd name="T23" fmla="*/ 0 h 145"/>
                <a:gd name="T24" fmla="*/ 1 w 137"/>
                <a:gd name="T25" fmla="*/ 0 h 145"/>
                <a:gd name="T26" fmla="*/ 1 w 137"/>
                <a:gd name="T27" fmla="*/ 0 h 145"/>
                <a:gd name="T28" fmla="*/ 1 w 137"/>
                <a:gd name="T29" fmla="*/ 0 h 145"/>
                <a:gd name="T30" fmla="*/ 1 w 137"/>
                <a:gd name="T31" fmla="*/ 0 h 145"/>
                <a:gd name="T32" fmla="*/ 1 w 137"/>
                <a:gd name="T33" fmla="*/ 0 h 145"/>
                <a:gd name="T34" fmla="*/ 1 w 137"/>
                <a:gd name="T35" fmla="*/ 0 h 145"/>
                <a:gd name="T36" fmla="*/ 1 w 137"/>
                <a:gd name="T37" fmla="*/ 0 h 145"/>
                <a:gd name="T38" fmla="*/ 1 w 137"/>
                <a:gd name="T39" fmla="*/ 0 h 145"/>
                <a:gd name="T40" fmla="*/ 1 w 137"/>
                <a:gd name="T41" fmla="*/ 0 h 145"/>
                <a:gd name="T42" fmla="*/ 1 w 137"/>
                <a:gd name="T43" fmla="*/ 0 h 145"/>
                <a:gd name="T44" fmla="*/ 1 w 137"/>
                <a:gd name="T45" fmla="*/ 0 h 145"/>
                <a:gd name="T46" fmla="*/ 1 w 137"/>
                <a:gd name="T47" fmla="*/ 0 h 145"/>
                <a:gd name="T48" fmla="*/ 1 w 137"/>
                <a:gd name="T49" fmla="*/ 0 h 145"/>
                <a:gd name="T50" fmla="*/ 1 w 137"/>
                <a:gd name="T51" fmla="*/ 0 h 145"/>
                <a:gd name="T52" fmla="*/ 1 w 137"/>
                <a:gd name="T53" fmla="*/ 0 h 145"/>
                <a:gd name="T54" fmla="*/ 1 w 137"/>
                <a:gd name="T55" fmla="*/ 0 h 145"/>
                <a:gd name="T56" fmla="*/ 1 w 137"/>
                <a:gd name="T57" fmla="*/ 0 h 145"/>
                <a:gd name="T58" fmla="*/ 1 w 137"/>
                <a:gd name="T59" fmla="*/ 0 h 145"/>
                <a:gd name="T60" fmla="*/ 0 w 137"/>
                <a:gd name="T61" fmla="*/ 0 h 145"/>
                <a:gd name="T62" fmla="*/ 0 w 137"/>
                <a:gd name="T63" fmla="*/ 0 h 145"/>
                <a:gd name="T64" fmla="*/ 1 w 137"/>
                <a:gd name="T65" fmla="*/ 0 h 145"/>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37" h="145">
                  <a:moveTo>
                    <a:pt x="3" y="55"/>
                  </a:moveTo>
                  <a:lnTo>
                    <a:pt x="3" y="48"/>
                  </a:lnTo>
                  <a:lnTo>
                    <a:pt x="7" y="42"/>
                  </a:lnTo>
                  <a:lnTo>
                    <a:pt x="9" y="36"/>
                  </a:lnTo>
                  <a:lnTo>
                    <a:pt x="13" y="31"/>
                  </a:lnTo>
                  <a:lnTo>
                    <a:pt x="17" y="25"/>
                  </a:lnTo>
                  <a:lnTo>
                    <a:pt x="22" y="19"/>
                  </a:lnTo>
                  <a:lnTo>
                    <a:pt x="28" y="15"/>
                  </a:lnTo>
                  <a:lnTo>
                    <a:pt x="36" y="13"/>
                  </a:lnTo>
                  <a:lnTo>
                    <a:pt x="41" y="8"/>
                  </a:lnTo>
                  <a:lnTo>
                    <a:pt x="47" y="6"/>
                  </a:lnTo>
                  <a:lnTo>
                    <a:pt x="53" y="2"/>
                  </a:lnTo>
                  <a:lnTo>
                    <a:pt x="60" y="2"/>
                  </a:lnTo>
                  <a:lnTo>
                    <a:pt x="66" y="0"/>
                  </a:lnTo>
                  <a:lnTo>
                    <a:pt x="74" y="2"/>
                  </a:lnTo>
                  <a:lnTo>
                    <a:pt x="79" y="2"/>
                  </a:lnTo>
                  <a:lnTo>
                    <a:pt x="87" y="4"/>
                  </a:lnTo>
                  <a:lnTo>
                    <a:pt x="93" y="6"/>
                  </a:lnTo>
                  <a:lnTo>
                    <a:pt x="98" y="10"/>
                  </a:lnTo>
                  <a:lnTo>
                    <a:pt x="104" y="12"/>
                  </a:lnTo>
                  <a:lnTo>
                    <a:pt x="110" y="17"/>
                  </a:lnTo>
                  <a:lnTo>
                    <a:pt x="116" y="19"/>
                  </a:lnTo>
                  <a:lnTo>
                    <a:pt x="121" y="25"/>
                  </a:lnTo>
                  <a:lnTo>
                    <a:pt x="125" y="31"/>
                  </a:lnTo>
                  <a:lnTo>
                    <a:pt x="129" y="38"/>
                  </a:lnTo>
                  <a:lnTo>
                    <a:pt x="131" y="44"/>
                  </a:lnTo>
                  <a:lnTo>
                    <a:pt x="135" y="50"/>
                  </a:lnTo>
                  <a:lnTo>
                    <a:pt x="135" y="55"/>
                  </a:lnTo>
                  <a:lnTo>
                    <a:pt x="137" y="63"/>
                  </a:lnTo>
                  <a:lnTo>
                    <a:pt x="137" y="70"/>
                  </a:lnTo>
                  <a:lnTo>
                    <a:pt x="137" y="76"/>
                  </a:lnTo>
                  <a:lnTo>
                    <a:pt x="137" y="84"/>
                  </a:lnTo>
                  <a:lnTo>
                    <a:pt x="137" y="91"/>
                  </a:lnTo>
                  <a:lnTo>
                    <a:pt x="133" y="97"/>
                  </a:lnTo>
                  <a:lnTo>
                    <a:pt x="131" y="103"/>
                  </a:lnTo>
                  <a:lnTo>
                    <a:pt x="127" y="110"/>
                  </a:lnTo>
                  <a:lnTo>
                    <a:pt x="123" y="116"/>
                  </a:lnTo>
                  <a:lnTo>
                    <a:pt x="119" y="122"/>
                  </a:lnTo>
                  <a:lnTo>
                    <a:pt x="114" y="126"/>
                  </a:lnTo>
                  <a:lnTo>
                    <a:pt x="110" y="129"/>
                  </a:lnTo>
                  <a:lnTo>
                    <a:pt x="104" y="135"/>
                  </a:lnTo>
                  <a:lnTo>
                    <a:pt x="98" y="137"/>
                  </a:lnTo>
                  <a:lnTo>
                    <a:pt x="91" y="141"/>
                  </a:lnTo>
                  <a:lnTo>
                    <a:pt x="85" y="143"/>
                  </a:lnTo>
                  <a:lnTo>
                    <a:pt x="79" y="145"/>
                  </a:lnTo>
                  <a:lnTo>
                    <a:pt x="72" y="145"/>
                  </a:lnTo>
                  <a:lnTo>
                    <a:pt x="64" y="145"/>
                  </a:lnTo>
                  <a:lnTo>
                    <a:pt x="59" y="143"/>
                  </a:lnTo>
                  <a:lnTo>
                    <a:pt x="51" y="141"/>
                  </a:lnTo>
                  <a:lnTo>
                    <a:pt x="43" y="139"/>
                  </a:lnTo>
                  <a:lnTo>
                    <a:pt x="38" y="135"/>
                  </a:lnTo>
                  <a:lnTo>
                    <a:pt x="34" y="131"/>
                  </a:lnTo>
                  <a:lnTo>
                    <a:pt x="28" y="129"/>
                  </a:lnTo>
                  <a:lnTo>
                    <a:pt x="22" y="124"/>
                  </a:lnTo>
                  <a:lnTo>
                    <a:pt x="19" y="120"/>
                  </a:lnTo>
                  <a:lnTo>
                    <a:pt x="15" y="114"/>
                  </a:lnTo>
                  <a:lnTo>
                    <a:pt x="11" y="110"/>
                  </a:lnTo>
                  <a:lnTo>
                    <a:pt x="7" y="103"/>
                  </a:lnTo>
                  <a:lnTo>
                    <a:pt x="5" y="97"/>
                  </a:lnTo>
                  <a:lnTo>
                    <a:pt x="2" y="89"/>
                  </a:lnTo>
                  <a:lnTo>
                    <a:pt x="2" y="84"/>
                  </a:lnTo>
                  <a:lnTo>
                    <a:pt x="0" y="76"/>
                  </a:lnTo>
                  <a:lnTo>
                    <a:pt x="0" y="69"/>
                  </a:lnTo>
                  <a:lnTo>
                    <a:pt x="0" y="61"/>
                  </a:lnTo>
                  <a:lnTo>
                    <a:pt x="3" y="55"/>
                  </a:lnTo>
                  <a:close/>
                </a:path>
              </a:pathLst>
            </a:custGeom>
            <a:solidFill>
              <a:srgbClr val="FFFFFF">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7" name="Freeform 46"/>
            <p:cNvSpPr>
              <a:spLocks/>
            </p:cNvSpPr>
            <p:nvPr/>
          </p:nvSpPr>
          <p:spPr bwMode="auto">
            <a:xfrm>
              <a:off x="5466" y="3615"/>
              <a:ext cx="98" cy="227"/>
            </a:xfrm>
            <a:custGeom>
              <a:avLst/>
              <a:gdLst>
                <a:gd name="T0" fmla="*/ 0 w 195"/>
                <a:gd name="T1" fmla="*/ 1 h 455"/>
                <a:gd name="T2" fmla="*/ 1 w 195"/>
                <a:gd name="T3" fmla="*/ 1 h 455"/>
                <a:gd name="T4" fmla="*/ 1 w 195"/>
                <a:gd name="T5" fmla="*/ 1 h 455"/>
                <a:gd name="T6" fmla="*/ 1 w 195"/>
                <a:gd name="T7" fmla="*/ 1 h 455"/>
                <a:gd name="T8" fmla="*/ 1 w 195"/>
                <a:gd name="T9" fmla="*/ 1 h 455"/>
                <a:gd name="T10" fmla="*/ 1 w 195"/>
                <a:gd name="T11" fmla="*/ 1 h 455"/>
                <a:gd name="T12" fmla="*/ 1 w 195"/>
                <a:gd name="T13" fmla="*/ 1 h 455"/>
                <a:gd name="T14" fmla="*/ 1 w 195"/>
                <a:gd name="T15" fmla="*/ 1 h 455"/>
                <a:gd name="T16" fmla="*/ 1 w 195"/>
                <a:gd name="T17" fmla="*/ 1 h 455"/>
                <a:gd name="T18" fmla="*/ 1 w 195"/>
                <a:gd name="T19" fmla="*/ 0 h 455"/>
                <a:gd name="T20" fmla="*/ 1 w 195"/>
                <a:gd name="T21" fmla="*/ 0 h 455"/>
                <a:gd name="T22" fmla="*/ 1 w 195"/>
                <a:gd name="T23" fmla="*/ 0 h 455"/>
                <a:gd name="T24" fmla="*/ 1 w 195"/>
                <a:gd name="T25" fmla="*/ 0 h 455"/>
                <a:gd name="T26" fmla="*/ 1 w 195"/>
                <a:gd name="T27" fmla="*/ 0 h 455"/>
                <a:gd name="T28" fmla="*/ 1 w 195"/>
                <a:gd name="T29" fmla="*/ 0 h 455"/>
                <a:gd name="T30" fmla="*/ 1 w 195"/>
                <a:gd name="T31" fmla="*/ 0 h 455"/>
                <a:gd name="T32" fmla="*/ 1 w 195"/>
                <a:gd name="T33" fmla="*/ 0 h 455"/>
                <a:gd name="T34" fmla="*/ 1 w 195"/>
                <a:gd name="T35" fmla="*/ 0 h 455"/>
                <a:gd name="T36" fmla="*/ 1 w 195"/>
                <a:gd name="T37" fmla="*/ 0 h 455"/>
                <a:gd name="T38" fmla="*/ 1 w 195"/>
                <a:gd name="T39" fmla="*/ 0 h 455"/>
                <a:gd name="T40" fmla="*/ 1 w 195"/>
                <a:gd name="T41" fmla="*/ 0 h 455"/>
                <a:gd name="T42" fmla="*/ 1 w 195"/>
                <a:gd name="T43" fmla="*/ 0 h 455"/>
                <a:gd name="T44" fmla="*/ 1 w 195"/>
                <a:gd name="T45" fmla="*/ 0 h 455"/>
                <a:gd name="T46" fmla="*/ 1 w 195"/>
                <a:gd name="T47" fmla="*/ 0 h 455"/>
                <a:gd name="T48" fmla="*/ 1 w 195"/>
                <a:gd name="T49" fmla="*/ 0 h 455"/>
                <a:gd name="T50" fmla="*/ 1 w 195"/>
                <a:gd name="T51" fmla="*/ 0 h 455"/>
                <a:gd name="T52" fmla="*/ 1 w 195"/>
                <a:gd name="T53" fmla="*/ 0 h 455"/>
                <a:gd name="T54" fmla="*/ 1 w 195"/>
                <a:gd name="T55" fmla="*/ 0 h 455"/>
                <a:gd name="T56" fmla="*/ 1 w 195"/>
                <a:gd name="T57" fmla="*/ 0 h 455"/>
                <a:gd name="T58" fmla="*/ 1 w 195"/>
                <a:gd name="T59" fmla="*/ 0 h 455"/>
                <a:gd name="T60" fmla="*/ 1 w 195"/>
                <a:gd name="T61" fmla="*/ 0 h 455"/>
                <a:gd name="T62" fmla="*/ 1 w 195"/>
                <a:gd name="T63" fmla="*/ 0 h 455"/>
                <a:gd name="T64" fmla="*/ 1 w 195"/>
                <a:gd name="T65" fmla="*/ 0 h 455"/>
                <a:gd name="T66" fmla="*/ 1 w 195"/>
                <a:gd name="T67" fmla="*/ 0 h 455"/>
                <a:gd name="T68" fmla="*/ 1 w 195"/>
                <a:gd name="T69" fmla="*/ 0 h 455"/>
                <a:gd name="T70" fmla="*/ 1 w 195"/>
                <a:gd name="T71" fmla="*/ 0 h 455"/>
                <a:gd name="T72" fmla="*/ 1 w 195"/>
                <a:gd name="T73" fmla="*/ 0 h 455"/>
                <a:gd name="T74" fmla="*/ 1 w 195"/>
                <a:gd name="T75" fmla="*/ 1 h 455"/>
                <a:gd name="T76" fmla="*/ 1 w 195"/>
                <a:gd name="T77" fmla="*/ 1 h 455"/>
                <a:gd name="T78" fmla="*/ 1 w 195"/>
                <a:gd name="T79" fmla="*/ 1 h 455"/>
                <a:gd name="T80" fmla="*/ 1 w 195"/>
                <a:gd name="T81" fmla="*/ 1 h 455"/>
                <a:gd name="T82" fmla="*/ 1 w 195"/>
                <a:gd name="T83" fmla="*/ 1 h 455"/>
                <a:gd name="T84" fmla="*/ 1 w 195"/>
                <a:gd name="T85" fmla="*/ 1 h 455"/>
                <a:gd name="T86" fmla="*/ 1 w 195"/>
                <a:gd name="T87" fmla="*/ 1 h 455"/>
                <a:gd name="T88" fmla="*/ 1 w 195"/>
                <a:gd name="T89" fmla="*/ 1 h 455"/>
                <a:gd name="T90" fmla="*/ 1 w 195"/>
                <a:gd name="T91" fmla="*/ 1 h 455"/>
                <a:gd name="T92" fmla="*/ 1 w 195"/>
                <a:gd name="T93" fmla="*/ 1 h 455"/>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95" h="455">
                  <a:moveTo>
                    <a:pt x="19" y="455"/>
                  </a:moveTo>
                  <a:lnTo>
                    <a:pt x="0" y="455"/>
                  </a:lnTo>
                  <a:lnTo>
                    <a:pt x="0" y="447"/>
                  </a:lnTo>
                  <a:lnTo>
                    <a:pt x="2" y="439"/>
                  </a:lnTo>
                  <a:lnTo>
                    <a:pt x="2" y="432"/>
                  </a:lnTo>
                  <a:lnTo>
                    <a:pt x="3" y="424"/>
                  </a:lnTo>
                  <a:lnTo>
                    <a:pt x="3" y="417"/>
                  </a:lnTo>
                  <a:lnTo>
                    <a:pt x="5" y="409"/>
                  </a:lnTo>
                  <a:lnTo>
                    <a:pt x="7" y="401"/>
                  </a:lnTo>
                  <a:lnTo>
                    <a:pt x="9" y="394"/>
                  </a:lnTo>
                  <a:lnTo>
                    <a:pt x="9" y="386"/>
                  </a:lnTo>
                  <a:lnTo>
                    <a:pt x="11" y="379"/>
                  </a:lnTo>
                  <a:lnTo>
                    <a:pt x="13" y="371"/>
                  </a:lnTo>
                  <a:lnTo>
                    <a:pt x="15" y="363"/>
                  </a:lnTo>
                  <a:lnTo>
                    <a:pt x="15" y="356"/>
                  </a:lnTo>
                  <a:lnTo>
                    <a:pt x="17" y="348"/>
                  </a:lnTo>
                  <a:lnTo>
                    <a:pt x="19" y="341"/>
                  </a:lnTo>
                  <a:lnTo>
                    <a:pt x="21" y="333"/>
                  </a:lnTo>
                  <a:lnTo>
                    <a:pt x="21" y="325"/>
                  </a:lnTo>
                  <a:lnTo>
                    <a:pt x="22" y="318"/>
                  </a:lnTo>
                  <a:lnTo>
                    <a:pt x="22" y="310"/>
                  </a:lnTo>
                  <a:lnTo>
                    <a:pt x="24" y="303"/>
                  </a:lnTo>
                  <a:lnTo>
                    <a:pt x="24" y="295"/>
                  </a:lnTo>
                  <a:lnTo>
                    <a:pt x="26" y="287"/>
                  </a:lnTo>
                  <a:lnTo>
                    <a:pt x="26" y="280"/>
                  </a:lnTo>
                  <a:lnTo>
                    <a:pt x="28" y="272"/>
                  </a:lnTo>
                  <a:lnTo>
                    <a:pt x="28" y="265"/>
                  </a:lnTo>
                  <a:lnTo>
                    <a:pt x="30" y="257"/>
                  </a:lnTo>
                  <a:lnTo>
                    <a:pt x="30" y="249"/>
                  </a:lnTo>
                  <a:lnTo>
                    <a:pt x="32" y="242"/>
                  </a:lnTo>
                  <a:lnTo>
                    <a:pt x="32" y="234"/>
                  </a:lnTo>
                  <a:lnTo>
                    <a:pt x="34" y="227"/>
                  </a:lnTo>
                  <a:lnTo>
                    <a:pt x="34" y="219"/>
                  </a:lnTo>
                  <a:lnTo>
                    <a:pt x="36" y="211"/>
                  </a:lnTo>
                  <a:lnTo>
                    <a:pt x="36" y="204"/>
                  </a:lnTo>
                  <a:lnTo>
                    <a:pt x="36" y="194"/>
                  </a:lnTo>
                  <a:lnTo>
                    <a:pt x="38" y="189"/>
                  </a:lnTo>
                  <a:lnTo>
                    <a:pt x="38" y="181"/>
                  </a:lnTo>
                  <a:lnTo>
                    <a:pt x="38" y="173"/>
                  </a:lnTo>
                  <a:lnTo>
                    <a:pt x="40" y="168"/>
                  </a:lnTo>
                  <a:lnTo>
                    <a:pt x="40" y="160"/>
                  </a:lnTo>
                  <a:lnTo>
                    <a:pt x="41" y="154"/>
                  </a:lnTo>
                  <a:lnTo>
                    <a:pt x="41" y="147"/>
                  </a:lnTo>
                  <a:lnTo>
                    <a:pt x="43" y="141"/>
                  </a:lnTo>
                  <a:lnTo>
                    <a:pt x="43" y="133"/>
                  </a:lnTo>
                  <a:lnTo>
                    <a:pt x="45" y="128"/>
                  </a:lnTo>
                  <a:lnTo>
                    <a:pt x="47" y="122"/>
                  </a:lnTo>
                  <a:lnTo>
                    <a:pt x="49" y="116"/>
                  </a:lnTo>
                  <a:lnTo>
                    <a:pt x="49" y="111"/>
                  </a:lnTo>
                  <a:lnTo>
                    <a:pt x="51" y="107"/>
                  </a:lnTo>
                  <a:lnTo>
                    <a:pt x="51" y="101"/>
                  </a:lnTo>
                  <a:lnTo>
                    <a:pt x="53" y="95"/>
                  </a:lnTo>
                  <a:lnTo>
                    <a:pt x="53" y="90"/>
                  </a:lnTo>
                  <a:lnTo>
                    <a:pt x="55" y="86"/>
                  </a:lnTo>
                  <a:lnTo>
                    <a:pt x="59" y="76"/>
                  </a:lnTo>
                  <a:lnTo>
                    <a:pt x="60" y="69"/>
                  </a:lnTo>
                  <a:lnTo>
                    <a:pt x="64" y="61"/>
                  </a:lnTo>
                  <a:lnTo>
                    <a:pt x="66" y="54"/>
                  </a:lnTo>
                  <a:lnTo>
                    <a:pt x="70" y="48"/>
                  </a:lnTo>
                  <a:lnTo>
                    <a:pt x="74" y="42"/>
                  </a:lnTo>
                  <a:lnTo>
                    <a:pt x="76" y="36"/>
                  </a:lnTo>
                  <a:lnTo>
                    <a:pt x="79" y="33"/>
                  </a:lnTo>
                  <a:lnTo>
                    <a:pt x="81" y="29"/>
                  </a:lnTo>
                  <a:lnTo>
                    <a:pt x="87" y="25"/>
                  </a:lnTo>
                  <a:lnTo>
                    <a:pt x="95" y="17"/>
                  </a:lnTo>
                  <a:lnTo>
                    <a:pt x="102" y="12"/>
                  </a:lnTo>
                  <a:lnTo>
                    <a:pt x="110" y="6"/>
                  </a:lnTo>
                  <a:lnTo>
                    <a:pt x="121" y="4"/>
                  </a:lnTo>
                  <a:lnTo>
                    <a:pt x="129" y="0"/>
                  </a:lnTo>
                  <a:lnTo>
                    <a:pt x="140" y="0"/>
                  </a:lnTo>
                  <a:lnTo>
                    <a:pt x="144" y="0"/>
                  </a:lnTo>
                  <a:lnTo>
                    <a:pt x="150" y="2"/>
                  </a:lnTo>
                  <a:lnTo>
                    <a:pt x="154" y="2"/>
                  </a:lnTo>
                  <a:lnTo>
                    <a:pt x="159" y="6"/>
                  </a:lnTo>
                  <a:lnTo>
                    <a:pt x="165" y="8"/>
                  </a:lnTo>
                  <a:lnTo>
                    <a:pt x="169" y="10"/>
                  </a:lnTo>
                  <a:lnTo>
                    <a:pt x="174" y="14"/>
                  </a:lnTo>
                  <a:lnTo>
                    <a:pt x="180" y="19"/>
                  </a:lnTo>
                  <a:lnTo>
                    <a:pt x="186" y="27"/>
                  </a:lnTo>
                  <a:lnTo>
                    <a:pt x="192" y="36"/>
                  </a:lnTo>
                  <a:lnTo>
                    <a:pt x="194" y="42"/>
                  </a:lnTo>
                  <a:lnTo>
                    <a:pt x="194" y="48"/>
                  </a:lnTo>
                  <a:lnTo>
                    <a:pt x="195" y="54"/>
                  </a:lnTo>
                  <a:lnTo>
                    <a:pt x="195" y="61"/>
                  </a:lnTo>
                  <a:lnTo>
                    <a:pt x="195" y="65"/>
                  </a:lnTo>
                  <a:lnTo>
                    <a:pt x="195" y="69"/>
                  </a:lnTo>
                  <a:lnTo>
                    <a:pt x="194" y="74"/>
                  </a:lnTo>
                  <a:lnTo>
                    <a:pt x="194" y="80"/>
                  </a:lnTo>
                  <a:lnTo>
                    <a:pt x="192" y="86"/>
                  </a:lnTo>
                  <a:lnTo>
                    <a:pt x="192" y="92"/>
                  </a:lnTo>
                  <a:lnTo>
                    <a:pt x="190" y="97"/>
                  </a:lnTo>
                  <a:lnTo>
                    <a:pt x="190" y="105"/>
                  </a:lnTo>
                  <a:lnTo>
                    <a:pt x="186" y="111"/>
                  </a:lnTo>
                  <a:lnTo>
                    <a:pt x="180" y="120"/>
                  </a:lnTo>
                  <a:lnTo>
                    <a:pt x="178" y="124"/>
                  </a:lnTo>
                  <a:lnTo>
                    <a:pt x="176" y="130"/>
                  </a:lnTo>
                  <a:lnTo>
                    <a:pt x="173" y="135"/>
                  </a:lnTo>
                  <a:lnTo>
                    <a:pt x="171" y="143"/>
                  </a:lnTo>
                  <a:lnTo>
                    <a:pt x="165" y="149"/>
                  </a:lnTo>
                  <a:lnTo>
                    <a:pt x="161" y="156"/>
                  </a:lnTo>
                  <a:lnTo>
                    <a:pt x="157" y="164"/>
                  </a:lnTo>
                  <a:lnTo>
                    <a:pt x="154" y="173"/>
                  </a:lnTo>
                  <a:lnTo>
                    <a:pt x="148" y="181"/>
                  </a:lnTo>
                  <a:lnTo>
                    <a:pt x="144" y="190"/>
                  </a:lnTo>
                  <a:lnTo>
                    <a:pt x="140" y="194"/>
                  </a:lnTo>
                  <a:lnTo>
                    <a:pt x="138" y="200"/>
                  </a:lnTo>
                  <a:lnTo>
                    <a:pt x="135" y="206"/>
                  </a:lnTo>
                  <a:lnTo>
                    <a:pt x="133" y="211"/>
                  </a:lnTo>
                  <a:lnTo>
                    <a:pt x="127" y="219"/>
                  </a:lnTo>
                  <a:lnTo>
                    <a:pt x="123" y="228"/>
                  </a:lnTo>
                  <a:lnTo>
                    <a:pt x="119" y="236"/>
                  </a:lnTo>
                  <a:lnTo>
                    <a:pt x="114" y="246"/>
                  </a:lnTo>
                  <a:lnTo>
                    <a:pt x="110" y="253"/>
                  </a:lnTo>
                  <a:lnTo>
                    <a:pt x="106" y="261"/>
                  </a:lnTo>
                  <a:lnTo>
                    <a:pt x="102" y="270"/>
                  </a:lnTo>
                  <a:lnTo>
                    <a:pt x="98" y="278"/>
                  </a:lnTo>
                  <a:lnTo>
                    <a:pt x="93" y="285"/>
                  </a:lnTo>
                  <a:lnTo>
                    <a:pt x="89" y="295"/>
                  </a:lnTo>
                  <a:lnTo>
                    <a:pt x="85" y="303"/>
                  </a:lnTo>
                  <a:lnTo>
                    <a:pt x="81" y="310"/>
                  </a:lnTo>
                  <a:lnTo>
                    <a:pt x="78" y="318"/>
                  </a:lnTo>
                  <a:lnTo>
                    <a:pt x="74" y="325"/>
                  </a:lnTo>
                  <a:lnTo>
                    <a:pt x="70" y="333"/>
                  </a:lnTo>
                  <a:lnTo>
                    <a:pt x="68" y="342"/>
                  </a:lnTo>
                  <a:lnTo>
                    <a:pt x="62" y="348"/>
                  </a:lnTo>
                  <a:lnTo>
                    <a:pt x="59" y="356"/>
                  </a:lnTo>
                  <a:lnTo>
                    <a:pt x="55" y="363"/>
                  </a:lnTo>
                  <a:lnTo>
                    <a:pt x="53" y="371"/>
                  </a:lnTo>
                  <a:lnTo>
                    <a:pt x="49" y="377"/>
                  </a:lnTo>
                  <a:lnTo>
                    <a:pt x="45" y="384"/>
                  </a:lnTo>
                  <a:lnTo>
                    <a:pt x="43" y="392"/>
                  </a:lnTo>
                  <a:lnTo>
                    <a:pt x="40" y="400"/>
                  </a:lnTo>
                  <a:lnTo>
                    <a:pt x="38" y="405"/>
                  </a:lnTo>
                  <a:lnTo>
                    <a:pt x="34" y="413"/>
                  </a:lnTo>
                  <a:lnTo>
                    <a:pt x="32" y="420"/>
                  </a:lnTo>
                  <a:lnTo>
                    <a:pt x="28" y="428"/>
                  </a:lnTo>
                  <a:lnTo>
                    <a:pt x="26" y="434"/>
                  </a:lnTo>
                  <a:lnTo>
                    <a:pt x="24" y="441"/>
                  </a:lnTo>
                  <a:lnTo>
                    <a:pt x="21" y="447"/>
                  </a:lnTo>
                  <a:lnTo>
                    <a:pt x="19" y="455"/>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8" name="Freeform 47"/>
            <p:cNvSpPr>
              <a:spLocks/>
            </p:cNvSpPr>
            <p:nvPr/>
          </p:nvSpPr>
          <p:spPr bwMode="auto">
            <a:xfrm>
              <a:off x="5417" y="3863"/>
              <a:ext cx="73" cy="77"/>
            </a:xfrm>
            <a:custGeom>
              <a:avLst/>
              <a:gdLst>
                <a:gd name="T0" fmla="*/ 1 w 146"/>
                <a:gd name="T1" fmla="*/ 0 h 154"/>
                <a:gd name="T2" fmla="*/ 1 w 146"/>
                <a:gd name="T3" fmla="*/ 1 h 154"/>
                <a:gd name="T4" fmla="*/ 1 w 146"/>
                <a:gd name="T5" fmla="*/ 1 h 154"/>
                <a:gd name="T6" fmla="*/ 1 w 146"/>
                <a:gd name="T7" fmla="*/ 1 h 154"/>
                <a:gd name="T8" fmla="*/ 1 w 146"/>
                <a:gd name="T9" fmla="*/ 1 h 154"/>
                <a:gd name="T10" fmla="*/ 1 w 146"/>
                <a:gd name="T11" fmla="*/ 1 h 154"/>
                <a:gd name="T12" fmla="*/ 1 w 146"/>
                <a:gd name="T13" fmla="*/ 1 h 154"/>
                <a:gd name="T14" fmla="*/ 1 w 146"/>
                <a:gd name="T15" fmla="*/ 1 h 154"/>
                <a:gd name="T16" fmla="*/ 1 w 146"/>
                <a:gd name="T17" fmla="*/ 1 h 154"/>
                <a:gd name="T18" fmla="*/ 1 w 146"/>
                <a:gd name="T19" fmla="*/ 1 h 154"/>
                <a:gd name="T20" fmla="*/ 1 w 146"/>
                <a:gd name="T21" fmla="*/ 1 h 154"/>
                <a:gd name="T22" fmla="*/ 1 w 146"/>
                <a:gd name="T23" fmla="*/ 1 h 154"/>
                <a:gd name="T24" fmla="*/ 1 w 146"/>
                <a:gd name="T25" fmla="*/ 1 h 154"/>
                <a:gd name="T26" fmla="*/ 1 w 146"/>
                <a:gd name="T27" fmla="*/ 1 h 154"/>
                <a:gd name="T28" fmla="*/ 1 w 146"/>
                <a:gd name="T29" fmla="*/ 1 h 154"/>
                <a:gd name="T30" fmla="*/ 1 w 146"/>
                <a:gd name="T31" fmla="*/ 1 h 154"/>
                <a:gd name="T32" fmla="*/ 1 w 146"/>
                <a:gd name="T33" fmla="*/ 1 h 154"/>
                <a:gd name="T34" fmla="*/ 1 w 146"/>
                <a:gd name="T35" fmla="*/ 1 h 154"/>
                <a:gd name="T36" fmla="*/ 1 w 146"/>
                <a:gd name="T37" fmla="*/ 1 h 154"/>
                <a:gd name="T38" fmla="*/ 1 w 146"/>
                <a:gd name="T39" fmla="*/ 1 h 154"/>
                <a:gd name="T40" fmla="*/ 1 w 146"/>
                <a:gd name="T41" fmla="*/ 1 h 154"/>
                <a:gd name="T42" fmla="*/ 1 w 146"/>
                <a:gd name="T43" fmla="*/ 1 h 154"/>
                <a:gd name="T44" fmla="*/ 1 w 146"/>
                <a:gd name="T45" fmla="*/ 1 h 154"/>
                <a:gd name="T46" fmla="*/ 0 w 146"/>
                <a:gd name="T47" fmla="*/ 1 h 154"/>
                <a:gd name="T48" fmla="*/ 0 w 146"/>
                <a:gd name="T49" fmla="*/ 1 h 154"/>
                <a:gd name="T50" fmla="*/ 1 w 146"/>
                <a:gd name="T51" fmla="*/ 1 h 154"/>
                <a:gd name="T52" fmla="*/ 1 w 146"/>
                <a:gd name="T53" fmla="*/ 1 h 154"/>
                <a:gd name="T54" fmla="*/ 1 w 146"/>
                <a:gd name="T55" fmla="*/ 1 h 154"/>
                <a:gd name="T56" fmla="*/ 1 w 146"/>
                <a:gd name="T57" fmla="*/ 1 h 154"/>
                <a:gd name="T58" fmla="*/ 1 w 146"/>
                <a:gd name="T59" fmla="*/ 1 h 154"/>
                <a:gd name="T60" fmla="*/ 1 w 146"/>
                <a:gd name="T61" fmla="*/ 1 h 154"/>
                <a:gd name="T62" fmla="*/ 1 w 146"/>
                <a:gd name="T63" fmla="*/ 0 h 154"/>
                <a:gd name="T64" fmla="*/ 1 w 146"/>
                <a:gd name="T65" fmla="*/ 0 h 1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46" h="154">
                  <a:moveTo>
                    <a:pt x="74" y="0"/>
                  </a:moveTo>
                  <a:lnTo>
                    <a:pt x="80" y="0"/>
                  </a:lnTo>
                  <a:lnTo>
                    <a:pt x="87" y="2"/>
                  </a:lnTo>
                  <a:lnTo>
                    <a:pt x="93" y="2"/>
                  </a:lnTo>
                  <a:lnTo>
                    <a:pt x="101" y="6"/>
                  </a:lnTo>
                  <a:lnTo>
                    <a:pt x="106" y="8"/>
                  </a:lnTo>
                  <a:lnTo>
                    <a:pt x="112" y="12"/>
                  </a:lnTo>
                  <a:lnTo>
                    <a:pt x="118" y="16"/>
                  </a:lnTo>
                  <a:lnTo>
                    <a:pt x="125" y="23"/>
                  </a:lnTo>
                  <a:lnTo>
                    <a:pt x="129" y="29"/>
                  </a:lnTo>
                  <a:lnTo>
                    <a:pt x="133" y="35"/>
                  </a:lnTo>
                  <a:lnTo>
                    <a:pt x="137" y="40"/>
                  </a:lnTo>
                  <a:lnTo>
                    <a:pt x="140" y="48"/>
                  </a:lnTo>
                  <a:lnTo>
                    <a:pt x="142" y="54"/>
                  </a:lnTo>
                  <a:lnTo>
                    <a:pt x="144" y="61"/>
                  </a:lnTo>
                  <a:lnTo>
                    <a:pt x="146" y="67"/>
                  </a:lnTo>
                  <a:lnTo>
                    <a:pt x="146" y="76"/>
                  </a:lnTo>
                  <a:lnTo>
                    <a:pt x="146" y="84"/>
                  </a:lnTo>
                  <a:lnTo>
                    <a:pt x="144" y="92"/>
                  </a:lnTo>
                  <a:lnTo>
                    <a:pt x="142" y="99"/>
                  </a:lnTo>
                  <a:lnTo>
                    <a:pt x="140" y="107"/>
                  </a:lnTo>
                  <a:lnTo>
                    <a:pt x="137" y="113"/>
                  </a:lnTo>
                  <a:lnTo>
                    <a:pt x="133" y="118"/>
                  </a:lnTo>
                  <a:lnTo>
                    <a:pt x="129" y="124"/>
                  </a:lnTo>
                  <a:lnTo>
                    <a:pt x="125" y="132"/>
                  </a:lnTo>
                  <a:lnTo>
                    <a:pt x="118" y="135"/>
                  </a:lnTo>
                  <a:lnTo>
                    <a:pt x="112" y="139"/>
                  </a:lnTo>
                  <a:lnTo>
                    <a:pt x="106" y="143"/>
                  </a:lnTo>
                  <a:lnTo>
                    <a:pt x="101" y="147"/>
                  </a:lnTo>
                  <a:lnTo>
                    <a:pt x="93" y="149"/>
                  </a:lnTo>
                  <a:lnTo>
                    <a:pt x="87" y="152"/>
                  </a:lnTo>
                  <a:lnTo>
                    <a:pt x="80" y="152"/>
                  </a:lnTo>
                  <a:lnTo>
                    <a:pt x="74" y="154"/>
                  </a:lnTo>
                  <a:lnTo>
                    <a:pt x="64" y="152"/>
                  </a:lnTo>
                  <a:lnTo>
                    <a:pt x="57" y="152"/>
                  </a:lnTo>
                  <a:lnTo>
                    <a:pt x="49" y="149"/>
                  </a:lnTo>
                  <a:lnTo>
                    <a:pt x="43" y="147"/>
                  </a:lnTo>
                  <a:lnTo>
                    <a:pt x="38" y="143"/>
                  </a:lnTo>
                  <a:lnTo>
                    <a:pt x="32" y="139"/>
                  </a:lnTo>
                  <a:lnTo>
                    <a:pt x="26" y="135"/>
                  </a:lnTo>
                  <a:lnTo>
                    <a:pt x="21" y="132"/>
                  </a:lnTo>
                  <a:lnTo>
                    <a:pt x="15" y="124"/>
                  </a:lnTo>
                  <a:lnTo>
                    <a:pt x="11" y="118"/>
                  </a:lnTo>
                  <a:lnTo>
                    <a:pt x="7" y="113"/>
                  </a:lnTo>
                  <a:lnTo>
                    <a:pt x="5" y="107"/>
                  </a:lnTo>
                  <a:lnTo>
                    <a:pt x="2" y="99"/>
                  </a:lnTo>
                  <a:lnTo>
                    <a:pt x="2" y="92"/>
                  </a:lnTo>
                  <a:lnTo>
                    <a:pt x="0" y="84"/>
                  </a:lnTo>
                  <a:lnTo>
                    <a:pt x="0" y="76"/>
                  </a:lnTo>
                  <a:lnTo>
                    <a:pt x="0" y="67"/>
                  </a:lnTo>
                  <a:lnTo>
                    <a:pt x="2" y="61"/>
                  </a:lnTo>
                  <a:lnTo>
                    <a:pt x="2" y="54"/>
                  </a:lnTo>
                  <a:lnTo>
                    <a:pt x="5" y="48"/>
                  </a:lnTo>
                  <a:lnTo>
                    <a:pt x="7" y="40"/>
                  </a:lnTo>
                  <a:lnTo>
                    <a:pt x="11" y="35"/>
                  </a:lnTo>
                  <a:lnTo>
                    <a:pt x="15" y="29"/>
                  </a:lnTo>
                  <a:lnTo>
                    <a:pt x="21" y="23"/>
                  </a:lnTo>
                  <a:lnTo>
                    <a:pt x="26" y="16"/>
                  </a:lnTo>
                  <a:lnTo>
                    <a:pt x="32" y="12"/>
                  </a:lnTo>
                  <a:lnTo>
                    <a:pt x="38" y="8"/>
                  </a:lnTo>
                  <a:lnTo>
                    <a:pt x="43" y="6"/>
                  </a:lnTo>
                  <a:lnTo>
                    <a:pt x="49" y="2"/>
                  </a:lnTo>
                  <a:lnTo>
                    <a:pt x="57" y="2"/>
                  </a:lnTo>
                  <a:lnTo>
                    <a:pt x="64" y="0"/>
                  </a:lnTo>
                  <a:lnTo>
                    <a:pt x="74" y="0"/>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49" name="Freeform 48"/>
            <p:cNvSpPr>
              <a:spLocks/>
            </p:cNvSpPr>
            <p:nvPr/>
          </p:nvSpPr>
          <p:spPr bwMode="auto">
            <a:xfrm>
              <a:off x="5581" y="3803"/>
              <a:ext cx="117" cy="73"/>
            </a:xfrm>
            <a:custGeom>
              <a:avLst/>
              <a:gdLst>
                <a:gd name="T0" fmla="*/ 0 w 233"/>
                <a:gd name="T1" fmla="*/ 1 h 144"/>
                <a:gd name="T2" fmla="*/ 1 w 233"/>
                <a:gd name="T3" fmla="*/ 1 h 144"/>
                <a:gd name="T4" fmla="*/ 1 w 233"/>
                <a:gd name="T5" fmla="*/ 1 h 144"/>
                <a:gd name="T6" fmla="*/ 1 w 233"/>
                <a:gd name="T7" fmla="*/ 1 h 144"/>
                <a:gd name="T8" fmla="*/ 1 w 233"/>
                <a:gd name="T9" fmla="*/ 1 h 144"/>
                <a:gd name="T10" fmla="*/ 1 w 233"/>
                <a:gd name="T11" fmla="*/ 1 h 144"/>
                <a:gd name="T12" fmla="*/ 1 w 233"/>
                <a:gd name="T13" fmla="*/ 1 h 144"/>
                <a:gd name="T14" fmla="*/ 1 w 233"/>
                <a:gd name="T15" fmla="*/ 1 h 144"/>
                <a:gd name="T16" fmla="*/ 1 w 233"/>
                <a:gd name="T17" fmla="*/ 1 h 144"/>
                <a:gd name="T18" fmla="*/ 1 w 233"/>
                <a:gd name="T19" fmla="*/ 1 h 144"/>
                <a:gd name="T20" fmla="*/ 1 w 233"/>
                <a:gd name="T21" fmla="*/ 1 h 144"/>
                <a:gd name="T22" fmla="*/ 1 w 233"/>
                <a:gd name="T23" fmla="*/ 1 h 144"/>
                <a:gd name="T24" fmla="*/ 1 w 233"/>
                <a:gd name="T25" fmla="*/ 1 h 144"/>
                <a:gd name="T26" fmla="*/ 1 w 233"/>
                <a:gd name="T27" fmla="*/ 1 h 144"/>
                <a:gd name="T28" fmla="*/ 1 w 233"/>
                <a:gd name="T29" fmla="*/ 1 h 144"/>
                <a:gd name="T30" fmla="*/ 1 w 233"/>
                <a:gd name="T31" fmla="*/ 0 h 144"/>
                <a:gd name="T32" fmla="*/ 1 w 233"/>
                <a:gd name="T33" fmla="*/ 1 h 144"/>
                <a:gd name="T34" fmla="*/ 1 w 233"/>
                <a:gd name="T35" fmla="*/ 1 h 144"/>
                <a:gd name="T36" fmla="*/ 1 w 233"/>
                <a:gd name="T37" fmla="*/ 1 h 144"/>
                <a:gd name="T38" fmla="*/ 1 w 233"/>
                <a:gd name="T39" fmla="*/ 1 h 144"/>
                <a:gd name="T40" fmla="*/ 1 w 233"/>
                <a:gd name="T41" fmla="*/ 1 h 144"/>
                <a:gd name="T42" fmla="*/ 1 w 233"/>
                <a:gd name="T43" fmla="*/ 1 h 144"/>
                <a:gd name="T44" fmla="*/ 1 w 233"/>
                <a:gd name="T45" fmla="*/ 1 h 144"/>
                <a:gd name="T46" fmla="*/ 1 w 233"/>
                <a:gd name="T47" fmla="*/ 1 h 144"/>
                <a:gd name="T48" fmla="*/ 1 w 233"/>
                <a:gd name="T49" fmla="*/ 1 h 144"/>
                <a:gd name="T50" fmla="*/ 1 w 233"/>
                <a:gd name="T51" fmla="*/ 1 h 144"/>
                <a:gd name="T52" fmla="*/ 1 w 233"/>
                <a:gd name="T53" fmla="*/ 1 h 144"/>
                <a:gd name="T54" fmla="*/ 1 w 233"/>
                <a:gd name="T55" fmla="*/ 1 h 144"/>
                <a:gd name="T56" fmla="*/ 1 w 233"/>
                <a:gd name="T57" fmla="*/ 1 h 144"/>
                <a:gd name="T58" fmla="*/ 1 w 233"/>
                <a:gd name="T59" fmla="*/ 1 h 144"/>
                <a:gd name="T60" fmla="*/ 1 w 233"/>
                <a:gd name="T61" fmla="*/ 1 h 144"/>
                <a:gd name="T62" fmla="*/ 1 w 233"/>
                <a:gd name="T63" fmla="*/ 1 h 144"/>
                <a:gd name="T64" fmla="*/ 1 w 233"/>
                <a:gd name="T65" fmla="*/ 1 h 144"/>
                <a:gd name="T66" fmla="*/ 1 w 233"/>
                <a:gd name="T67" fmla="*/ 1 h 144"/>
                <a:gd name="T68" fmla="*/ 1 w 233"/>
                <a:gd name="T69" fmla="*/ 1 h 144"/>
                <a:gd name="T70" fmla="*/ 1 w 233"/>
                <a:gd name="T71" fmla="*/ 1 h 144"/>
                <a:gd name="T72" fmla="*/ 1 w 233"/>
                <a:gd name="T73" fmla="*/ 1 h 144"/>
                <a:gd name="T74" fmla="*/ 1 w 233"/>
                <a:gd name="T75" fmla="*/ 1 h 144"/>
                <a:gd name="T76" fmla="*/ 1 w 233"/>
                <a:gd name="T77" fmla="*/ 1 h 1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33" h="144">
                  <a:moveTo>
                    <a:pt x="9" y="144"/>
                  </a:moveTo>
                  <a:lnTo>
                    <a:pt x="0" y="137"/>
                  </a:lnTo>
                  <a:lnTo>
                    <a:pt x="5" y="131"/>
                  </a:lnTo>
                  <a:lnTo>
                    <a:pt x="13" y="127"/>
                  </a:lnTo>
                  <a:lnTo>
                    <a:pt x="21" y="121"/>
                  </a:lnTo>
                  <a:lnTo>
                    <a:pt x="26" y="118"/>
                  </a:lnTo>
                  <a:lnTo>
                    <a:pt x="32" y="112"/>
                  </a:lnTo>
                  <a:lnTo>
                    <a:pt x="40" y="106"/>
                  </a:lnTo>
                  <a:lnTo>
                    <a:pt x="47" y="102"/>
                  </a:lnTo>
                  <a:lnTo>
                    <a:pt x="53" y="97"/>
                  </a:lnTo>
                  <a:lnTo>
                    <a:pt x="59" y="91"/>
                  </a:lnTo>
                  <a:lnTo>
                    <a:pt x="66" y="85"/>
                  </a:lnTo>
                  <a:lnTo>
                    <a:pt x="72" y="80"/>
                  </a:lnTo>
                  <a:lnTo>
                    <a:pt x="79" y="76"/>
                  </a:lnTo>
                  <a:lnTo>
                    <a:pt x="85" y="70"/>
                  </a:lnTo>
                  <a:lnTo>
                    <a:pt x="93" y="66"/>
                  </a:lnTo>
                  <a:lnTo>
                    <a:pt x="98" y="61"/>
                  </a:lnTo>
                  <a:lnTo>
                    <a:pt x="104" y="57"/>
                  </a:lnTo>
                  <a:lnTo>
                    <a:pt x="110" y="49"/>
                  </a:lnTo>
                  <a:lnTo>
                    <a:pt x="117" y="43"/>
                  </a:lnTo>
                  <a:lnTo>
                    <a:pt x="123" y="38"/>
                  </a:lnTo>
                  <a:lnTo>
                    <a:pt x="129" y="34"/>
                  </a:lnTo>
                  <a:lnTo>
                    <a:pt x="133" y="28"/>
                  </a:lnTo>
                  <a:lnTo>
                    <a:pt x="138" y="26"/>
                  </a:lnTo>
                  <a:lnTo>
                    <a:pt x="144" y="23"/>
                  </a:lnTo>
                  <a:lnTo>
                    <a:pt x="150" y="19"/>
                  </a:lnTo>
                  <a:lnTo>
                    <a:pt x="157" y="13"/>
                  </a:lnTo>
                  <a:lnTo>
                    <a:pt x="167" y="7"/>
                  </a:lnTo>
                  <a:lnTo>
                    <a:pt x="175" y="3"/>
                  </a:lnTo>
                  <a:lnTo>
                    <a:pt x="182" y="2"/>
                  </a:lnTo>
                  <a:lnTo>
                    <a:pt x="188" y="0"/>
                  </a:lnTo>
                  <a:lnTo>
                    <a:pt x="194" y="0"/>
                  </a:lnTo>
                  <a:lnTo>
                    <a:pt x="199" y="0"/>
                  </a:lnTo>
                  <a:lnTo>
                    <a:pt x="205" y="2"/>
                  </a:lnTo>
                  <a:lnTo>
                    <a:pt x="214" y="5"/>
                  </a:lnTo>
                  <a:lnTo>
                    <a:pt x="224" y="13"/>
                  </a:lnTo>
                  <a:lnTo>
                    <a:pt x="228" y="17"/>
                  </a:lnTo>
                  <a:lnTo>
                    <a:pt x="232" y="23"/>
                  </a:lnTo>
                  <a:lnTo>
                    <a:pt x="232" y="28"/>
                  </a:lnTo>
                  <a:lnTo>
                    <a:pt x="233" y="36"/>
                  </a:lnTo>
                  <a:lnTo>
                    <a:pt x="233" y="42"/>
                  </a:lnTo>
                  <a:lnTo>
                    <a:pt x="232" y="47"/>
                  </a:lnTo>
                  <a:lnTo>
                    <a:pt x="230" y="53"/>
                  </a:lnTo>
                  <a:lnTo>
                    <a:pt x="228" y="57"/>
                  </a:lnTo>
                  <a:lnTo>
                    <a:pt x="222" y="62"/>
                  </a:lnTo>
                  <a:lnTo>
                    <a:pt x="216" y="66"/>
                  </a:lnTo>
                  <a:lnTo>
                    <a:pt x="211" y="70"/>
                  </a:lnTo>
                  <a:lnTo>
                    <a:pt x="207" y="74"/>
                  </a:lnTo>
                  <a:lnTo>
                    <a:pt x="201" y="74"/>
                  </a:lnTo>
                  <a:lnTo>
                    <a:pt x="197" y="76"/>
                  </a:lnTo>
                  <a:lnTo>
                    <a:pt x="192" y="80"/>
                  </a:lnTo>
                  <a:lnTo>
                    <a:pt x="184" y="81"/>
                  </a:lnTo>
                  <a:lnTo>
                    <a:pt x="180" y="81"/>
                  </a:lnTo>
                  <a:lnTo>
                    <a:pt x="175" y="83"/>
                  </a:lnTo>
                  <a:lnTo>
                    <a:pt x="171" y="83"/>
                  </a:lnTo>
                  <a:lnTo>
                    <a:pt x="167" y="85"/>
                  </a:lnTo>
                  <a:lnTo>
                    <a:pt x="161" y="87"/>
                  </a:lnTo>
                  <a:lnTo>
                    <a:pt x="155" y="89"/>
                  </a:lnTo>
                  <a:lnTo>
                    <a:pt x="150" y="91"/>
                  </a:lnTo>
                  <a:lnTo>
                    <a:pt x="144" y="93"/>
                  </a:lnTo>
                  <a:lnTo>
                    <a:pt x="138" y="95"/>
                  </a:lnTo>
                  <a:lnTo>
                    <a:pt x="133" y="97"/>
                  </a:lnTo>
                  <a:lnTo>
                    <a:pt x="129" y="97"/>
                  </a:lnTo>
                  <a:lnTo>
                    <a:pt x="125" y="99"/>
                  </a:lnTo>
                  <a:lnTo>
                    <a:pt x="114" y="102"/>
                  </a:lnTo>
                  <a:lnTo>
                    <a:pt x="106" y="106"/>
                  </a:lnTo>
                  <a:lnTo>
                    <a:pt x="97" y="108"/>
                  </a:lnTo>
                  <a:lnTo>
                    <a:pt x="87" y="112"/>
                  </a:lnTo>
                  <a:lnTo>
                    <a:pt x="78" y="116"/>
                  </a:lnTo>
                  <a:lnTo>
                    <a:pt x="70" y="119"/>
                  </a:lnTo>
                  <a:lnTo>
                    <a:pt x="60" y="121"/>
                  </a:lnTo>
                  <a:lnTo>
                    <a:pt x="53" y="125"/>
                  </a:lnTo>
                  <a:lnTo>
                    <a:pt x="45" y="129"/>
                  </a:lnTo>
                  <a:lnTo>
                    <a:pt x="38" y="131"/>
                  </a:lnTo>
                  <a:lnTo>
                    <a:pt x="28" y="135"/>
                  </a:lnTo>
                  <a:lnTo>
                    <a:pt x="22" y="138"/>
                  </a:lnTo>
                  <a:lnTo>
                    <a:pt x="15" y="140"/>
                  </a:lnTo>
                  <a:lnTo>
                    <a:pt x="9" y="144"/>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sp>
          <p:nvSpPr>
            <p:cNvPr id="50" name="Freeform 49"/>
            <p:cNvSpPr>
              <a:spLocks/>
            </p:cNvSpPr>
            <p:nvPr/>
          </p:nvSpPr>
          <p:spPr bwMode="auto">
            <a:xfrm>
              <a:off x="5536" y="3869"/>
              <a:ext cx="40" cy="42"/>
            </a:xfrm>
            <a:custGeom>
              <a:avLst/>
              <a:gdLst>
                <a:gd name="T0" fmla="*/ 1 w 80"/>
                <a:gd name="T1" fmla="*/ 1 h 83"/>
                <a:gd name="T2" fmla="*/ 1 w 80"/>
                <a:gd name="T3" fmla="*/ 1 h 83"/>
                <a:gd name="T4" fmla="*/ 1 w 80"/>
                <a:gd name="T5" fmla="*/ 1 h 83"/>
                <a:gd name="T6" fmla="*/ 1 w 80"/>
                <a:gd name="T7" fmla="*/ 1 h 83"/>
                <a:gd name="T8" fmla="*/ 1 w 80"/>
                <a:gd name="T9" fmla="*/ 1 h 83"/>
                <a:gd name="T10" fmla="*/ 1 w 80"/>
                <a:gd name="T11" fmla="*/ 1 h 83"/>
                <a:gd name="T12" fmla="*/ 1 w 80"/>
                <a:gd name="T13" fmla="*/ 1 h 83"/>
                <a:gd name="T14" fmla="*/ 1 w 80"/>
                <a:gd name="T15" fmla="*/ 1 h 83"/>
                <a:gd name="T16" fmla="*/ 1 w 80"/>
                <a:gd name="T17" fmla="*/ 1 h 83"/>
                <a:gd name="T18" fmla="*/ 1 w 80"/>
                <a:gd name="T19" fmla="*/ 1 h 83"/>
                <a:gd name="T20" fmla="*/ 1 w 80"/>
                <a:gd name="T21" fmla="*/ 1 h 83"/>
                <a:gd name="T22" fmla="*/ 1 w 80"/>
                <a:gd name="T23" fmla="*/ 1 h 83"/>
                <a:gd name="T24" fmla="*/ 1 w 80"/>
                <a:gd name="T25" fmla="*/ 1 h 83"/>
                <a:gd name="T26" fmla="*/ 1 w 80"/>
                <a:gd name="T27" fmla="*/ 1 h 83"/>
                <a:gd name="T28" fmla="*/ 1 w 80"/>
                <a:gd name="T29" fmla="*/ 1 h 83"/>
                <a:gd name="T30" fmla="*/ 1 w 80"/>
                <a:gd name="T31" fmla="*/ 1 h 83"/>
                <a:gd name="T32" fmla="*/ 1 w 80"/>
                <a:gd name="T33" fmla="*/ 1 h 83"/>
                <a:gd name="T34" fmla="*/ 1 w 80"/>
                <a:gd name="T35" fmla="*/ 1 h 83"/>
                <a:gd name="T36" fmla="*/ 1 w 80"/>
                <a:gd name="T37" fmla="*/ 1 h 83"/>
                <a:gd name="T38" fmla="*/ 0 w 80"/>
                <a:gd name="T39" fmla="*/ 1 h 83"/>
                <a:gd name="T40" fmla="*/ 0 w 80"/>
                <a:gd name="T41" fmla="*/ 1 h 83"/>
                <a:gd name="T42" fmla="*/ 0 w 80"/>
                <a:gd name="T43" fmla="*/ 1 h 83"/>
                <a:gd name="T44" fmla="*/ 1 w 80"/>
                <a:gd name="T45" fmla="*/ 1 h 83"/>
                <a:gd name="T46" fmla="*/ 1 w 80"/>
                <a:gd name="T47" fmla="*/ 1 h 83"/>
                <a:gd name="T48" fmla="*/ 1 w 80"/>
                <a:gd name="T49" fmla="*/ 1 h 83"/>
                <a:gd name="T50" fmla="*/ 1 w 80"/>
                <a:gd name="T51" fmla="*/ 1 h 83"/>
                <a:gd name="T52" fmla="*/ 1 w 80"/>
                <a:gd name="T53" fmla="*/ 1 h 83"/>
                <a:gd name="T54" fmla="*/ 1 w 80"/>
                <a:gd name="T55" fmla="*/ 0 h 83"/>
                <a:gd name="T56" fmla="*/ 1 w 80"/>
                <a:gd name="T57" fmla="*/ 0 h 83"/>
                <a:gd name="T58" fmla="*/ 1 w 80"/>
                <a:gd name="T59" fmla="*/ 0 h 83"/>
                <a:gd name="T60" fmla="*/ 1 w 80"/>
                <a:gd name="T61" fmla="*/ 1 h 83"/>
                <a:gd name="T62" fmla="*/ 1 w 80"/>
                <a:gd name="T63" fmla="*/ 1 h 83"/>
                <a:gd name="T64" fmla="*/ 1 w 80"/>
                <a:gd name="T65" fmla="*/ 1 h 83"/>
                <a:gd name="T66" fmla="*/ 1 w 80"/>
                <a:gd name="T67" fmla="*/ 1 h 8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80" h="83">
                  <a:moveTo>
                    <a:pt x="69" y="13"/>
                  </a:moveTo>
                  <a:lnTo>
                    <a:pt x="73" y="19"/>
                  </a:lnTo>
                  <a:lnTo>
                    <a:pt x="76" y="26"/>
                  </a:lnTo>
                  <a:lnTo>
                    <a:pt x="78" y="34"/>
                  </a:lnTo>
                  <a:lnTo>
                    <a:pt x="80" y="42"/>
                  </a:lnTo>
                  <a:lnTo>
                    <a:pt x="78" y="49"/>
                  </a:lnTo>
                  <a:lnTo>
                    <a:pt x="76" y="57"/>
                  </a:lnTo>
                  <a:lnTo>
                    <a:pt x="75" y="64"/>
                  </a:lnTo>
                  <a:lnTo>
                    <a:pt x="69" y="74"/>
                  </a:lnTo>
                  <a:lnTo>
                    <a:pt x="63" y="78"/>
                  </a:lnTo>
                  <a:lnTo>
                    <a:pt x="56" y="80"/>
                  </a:lnTo>
                  <a:lnTo>
                    <a:pt x="48" y="82"/>
                  </a:lnTo>
                  <a:lnTo>
                    <a:pt x="40" y="83"/>
                  </a:lnTo>
                  <a:lnTo>
                    <a:pt x="31" y="83"/>
                  </a:lnTo>
                  <a:lnTo>
                    <a:pt x="23" y="82"/>
                  </a:lnTo>
                  <a:lnTo>
                    <a:pt x="17" y="78"/>
                  </a:lnTo>
                  <a:lnTo>
                    <a:pt x="12" y="74"/>
                  </a:lnTo>
                  <a:lnTo>
                    <a:pt x="6" y="66"/>
                  </a:lnTo>
                  <a:lnTo>
                    <a:pt x="2" y="59"/>
                  </a:lnTo>
                  <a:lnTo>
                    <a:pt x="0" y="51"/>
                  </a:lnTo>
                  <a:lnTo>
                    <a:pt x="0" y="44"/>
                  </a:lnTo>
                  <a:lnTo>
                    <a:pt x="0" y="36"/>
                  </a:lnTo>
                  <a:lnTo>
                    <a:pt x="2" y="26"/>
                  </a:lnTo>
                  <a:lnTo>
                    <a:pt x="4" y="19"/>
                  </a:lnTo>
                  <a:lnTo>
                    <a:pt x="12" y="13"/>
                  </a:lnTo>
                  <a:lnTo>
                    <a:pt x="16" y="7"/>
                  </a:lnTo>
                  <a:lnTo>
                    <a:pt x="23" y="4"/>
                  </a:lnTo>
                  <a:lnTo>
                    <a:pt x="31" y="0"/>
                  </a:lnTo>
                  <a:lnTo>
                    <a:pt x="40" y="0"/>
                  </a:lnTo>
                  <a:lnTo>
                    <a:pt x="48" y="0"/>
                  </a:lnTo>
                  <a:lnTo>
                    <a:pt x="56" y="2"/>
                  </a:lnTo>
                  <a:lnTo>
                    <a:pt x="61" y="7"/>
                  </a:lnTo>
                  <a:lnTo>
                    <a:pt x="69" y="13"/>
                  </a:lnTo>
                  <a:close/>
                </a:path>
              </a:pathLst>
            </a:custGeom>
            <a:solidFill>
              <a:srgbClr val="000000">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sz="3029" dirty="0"/>
            </a:p>
          </p:txBody>
        </p:sp>
      </p:grpSp>
      <p:sp>
        <p:nvSpPr>
          <p:cNvPr id="2" name="Title 1"/>
          <p:cNvSpPr>
            <a:spLocks noGrp="1"/>
          </p:cNvSpPr>
          <p:nvPr>
            <p:ph type="title" hasCustomPrompt="1"/>
          </p:nvPr>
        </p:nvSpPr>
        <p:spPr>
          <a:xfrm>
            <a:off x="7277100" y="130057"/>
            <a:ext cx="5115161" cy="624725"/>
          </a:xfrm>
          <a:prstGeom prst="rect">
            <a:avLst/>
          </a:prstGeom>
        </p:spPr>
        <p:txBody>
          <a:bodyPr/>
          <a:lstStyle>
            <a:lvl1pPr algn="l">
              <a:defRPr sz="4400" baseline="0">
                <a:latin typeface="Fujitsu Sans" panose="020B0404060202020204" pitchFamily="34" charset="0"/>
              </a:defRPr>
            </a:lvl1pPr>
          </a:lstStyle>
          <a:p>
            <a:r>
              <a:rPr lang="en-US" dirty="0"/>
              <a:t>Unit x, # y</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stretch>
            <a:fillRect/>
          </a:stretch>
        </p:blipFill>
        <p:spPr>
          <a:xfrm>
            <a:off x="514532" y="-82186"/>
            <a:ext cx="6836049" cy="1155806"/>
          </a:xfrm>
          <a:prstGeom prst="rect">
            <a:avLst/>
          </a:prstGeom>
        </p:spPr>
      </p:pic>
    </p:spTree>
    <p:extLst>
      <p:ext uri="{BB962C8B-B14F-4D97-AF65-F5344CB8AC3E}">
        <p14:creationId xmlns:p14="http://schemas.microsoft.com/office/powerpoint/2010/main" val="991255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Defs and Terms">
    <p:spTree>
      <p:nvGrpSpPr>
        <p:cNvPr id="1" name=""/>
        <p:cNvGrpSpPr/>
        <p:nvPr/>
      </p:nvGrpSpPr>
      <p:grpSpPr>
        <a:xfrm>
          <a:off x="0" y="0"/>
          <a:ext cx="0" cy="0"/>
          <a:chOff x="0" y="0"/>
          <a:chExt cx="0" cy="0"/>
        </a:xfrm>
      </p:grpSpPr>
      <p:pic>
        <p:nvPicPr>
          <p:cNvPr id="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661635" y="5908238"/>
            <a:ext cx="2144677" cy="18754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Click to Edit Master Title Style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431339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tays the Sam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lum bright="70000" contrast="-70000"/>
          </a:blip>
          <a:stretch>
            <a:fillRect/>
          </a:stretch>
        </p:blipFill>
        <p:spPr>
          <a:xfrm>
            <a:off x="12070699" y="6063529"/>
            <a:ext cx="1744472" cy="1708871"/>
          </a:xfrm>
          <a:prstGeom prst="rect">
            <a:avLst/>
          </a:prstGeom>
        </p:spPr>
      </p:pic>
      <p:sp>
        <p:nvSpPr>
          <p:cNvPr id="7" name="Content Placeholder 2"/>
          <p:cNvSpPr>
            <a:spLocks noGrp="1"/>
          </p:cNvSpPr>
          <p:nvPr>
            <p:ph idx="1"/>
          </p:nvPr>
        </p:nvSpPr>
        <p:spPr>
          <a:xfrm>
            <a:off x="520701" y="1075808"/>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p:cNvPicPr>
            <a:picLocks noChangeAspect="1"/>
          </p:cNvPicPr>
          <p:nvPr userDrawn="1"/>
        </p:nvPicPr>
        <p:blipFill>
          <a:blip r:embed="rId3"/>
          <a:stretch>
            <a:fillRect/>
          </a:stretch>
        </p:blipFill>
        <p:spPr>
          <a:xfrm>
            <a:off x="520701" y="-52754"/>
            <a:ext cx="4925704" cy="1008185"/>
          </a:xfrm>
          <a:prstGeom prst="rect">
            <a:avLst/>
          </a:prstGeom>
        </p:spPr>
      </p:pic>
    </p:spTree>
    <p:extLst>
      <p:ext uri="{BB962C8B-B14F-4D97-AF65-F5344CB8AC3E}">
        <p14:creationId xmlns:p14="http://schemas.microsoft.com/office/powerpoint/2010/main" val="2383607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ps and Tricks">
    <p:spTree>
      <p:nvGrpSpPr>
        <p:cNvPr id="1" name=""/>
        <p:cNvGrpSpPr/>
        <p:nvPr/>
      </p:nvGrpSpPr>
      <p:grpSpPr>
        <a:xfrm>
          <a:off x="0" y="0"/>
          <a:ext cx="0" cy="0"/>
          <a:chOff x="0" y="0"/>
          <a:chExt cx="0" cy="0"/>
        </a:xfrm>
      </p:grpSpPr>
      <p:pic>
        <p:nvPicPr>
          <p:cNvPr id="5" name="Picture 5" descr="MCj03646500000[1]"/>
          <p:cNvPicPr>
            <a:picLocks noChangeAspect="1" noChangeArrowheads="1"/>
          </p:cNvPicPr>
          <p:nvPr userDrawn="1"/>
        </p:nvPicPr>
        <p:blipFill>
          <a:blip r:embed="rId2" cstate="print">
            <a:duotone>
              <a:prstClr val="black"/>
              <a:schemeClr val="accent1">
                <a:tint val="45000"/>
                <a:satMod val="400000"/>
              </a:schemeClr>
            </a:duotone>
            <a:lum bright="60000" contrast="-40000"/>
            <a:extLst>
              <a:ext uri="{28A0092B-C50C-407E-A947-70E740481C1C}">
                <a14:useLocalDpi xmlns:a14="http://schemas.microsoft.com/office/drawing/2010/main" val="0"/>
              </a:ext>
            </a:extLst>
          </a:blip>
          <a:srcRect/>
          <a:stretch>
            <a:fillRect/>
          </a:stretch>
        </p:blipFill>
        <p:spPr bwMode="auto">
          <a:xfrm>
            <a:off x="12189404" y="5873919"/>
            <a:ext cx="1631325" cy="1898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Tips and Tricks</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p:cNvSpPr/>
          <p:nvPr userDrawn="1"/>
        </p:nvSpPr>
        <p:spPr>
          <a:xfrm rot="20005975">
            <a:off x="4669960" y="3858814"/>
            <a:ext cx="4746997" cy="1569660"/>
          </a:xfrm>
          <a:prstGeom prst="rect">
            <a:avLst/>
          </a:prstGeom>
          <a:noFill/>
        </p:spPr>
        <p:txBody>
          <a:bodyPr wrap="square" lIns="91440" tIns="45720" rIns="91440" bIns="45720">
            <a:spAutoFit/>
          </a:bodyPr>
          <a:lstStyle/>
          <a:p>
            <a:pPr algn="ctr"/>
            <a:r>
              <a:rPr lang="en-US" sz="9600" b="1" cap="none" spc="0" dirty="0">
                <a:ln w="22225">
                  <a:solidFill>
                    <a:schemeClr val="accent2"/>
                  </a:solidFill>
                  <a:prstDash val="solid"/>
                </a:ln>
                <a:solidFill>
                  <a:schemeClr val="accent1">
                    <a:lumMod val="20000"/>
                    <a:lumOff val="80000"/>
                  </a:schemeClr>
                </a:solidFill>
                <a:effectLst/>
              </a:rPr>
              <a:t>Optional</a:t>
            </a:r>
          </a:p>
        </p:txBody>
      </p:sp>
    </p:spTree>
    <p:extLst>
      <p:ext uri="{BB962C8B-B14F-4D97-AF65-F5344CB8AC3E}">
        <p14:creationId xmlns:p14="http://schemas.microsoft.com/office/powerpoint/2010/main" val="16398460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ummary Slide -Unit">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stretch>
            <a:fillRect/>
          </a:stretch>
        </p:blipFill>
        <p:spPr>
          <a:xfrm>
            <a:off x="12198350" y="6124575"/>
            <a:ext cx="1619250" cy="1647825"/>
          </a:xfrm>
          <a:prstGeom prst="rect">
            <a:avLst/>
          </a:prstGeom>
        </p:spPr>
      </p:pic>
      <p:sp>
        <p:nvSpPr>
          <p:cNvPr id="6" name="Title 1"/>
          <p:cNvSpPr>
            <a:spLocks noGrp="1"/>
          </p:cNvSpPr>
          <p:nvPr>
            <p:ph type="title" hasCustomPrompt="1"/>
          </p:nvPr>
        </p:nvSpPr>
        <p:spPr>
          <a:xfrm>
            <a:off x="4578270" y="101482"/>
            <a:ext cx="8128316" cy="624725"/>
          </a:xfrm>
          <a:prstGeom prst="rect">
            <a:avLst/>
          </a:prstGeom>
        </p:spPr>
        <p:txBody>
          <a:bodyPr/>
          <a:lstStyle>
            <a:lvl1pPr algn="l">
              <a:defRPr sz="4400">
                <a:latin typeface="Fujitsu Sans" panose="020B0404060202020204" pitchFamily="34" charset="0"/>
              </a:defRPr>
            </a:lvl1pPr>
          </a:lstStyle>
          <a:p>
            <a:r>
              <a:rPr lang="en-US" dirty="0"/>
              <a:t>X</a:t>
            </a:r>
          </a:p>
        </p:txBody>
      </p:sp>
      <p:pic>
        <p:nvPicPr>
          <p:cNvPr id="7" name="Picture 6"/>
          <p:cNvPicPr>
            <a:picLocks noChangeAspect="1"/>
          </p:cNvPicPr>
          <p:nvPr userDrawn="1"/>
        </p:nvPicPr>
        <p:blipFill>
          <a:blip r:embed="rId3"/>
          <a:stretch>
            <a:fillRect/>
          </a:stretch>
        </p:blipFill>
        <p:spPr>
          <a:xfrm>
            <a:off x="424315" y="0"/>
            <a:ext cx="4153955" cy="963386"/>
          </a:xfrm>
          <a:prstGeom prst="rect">
            <a:avLst/>
          </a:prstGeom>
        </p:spPr>
      </p:pic>
      <p:sp>
        <p:nvSpPr>
          <p:cNvPr id="8"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406628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ummary Slide -- Course">
    <p:spTree>
      <p:nvGrpSpPr>
        <p:cNvPr id="1" name=""/>
        <p:cNvGrpSpPr/>
        <p:nvPr/>
      </p:nvGrpSpPr>
      <p:grpSpPr>
        <a:xfrm>
          <a:off x="0" y="0"/>
          <a:ext cx="0" cy="0"/>
          <a:chOff x="0" y="0"/>
          <a:chExt cx="0" cy="0"/>
        </a:xfrm>
      </p:grpSpPr>
      <p:pic>
        <p:nvPicPr>
          <p:cNvPr id="10" name="Picture 14" descr="MCTN00715_0000[1]"/>
          <p:cNvPicPr>
            <a:picLocks noChangeAspect="1" noChangeArrowheads="1"/>
          </p:cNvPicPr>
          <p:nvPr userDrawn="1"/>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flipH="1">
            <a:off x="11408945" y="5387937"/>
            <a:ext cx="2400088" cy="2385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hasCustomPrompt="1"/>
          </p:nvPr>
        </p:nvSpPr>
        <p:spPr>
          <a:xfrm>
            <a:off x="520700" y="101482"/>
            <a:ext cx="12185886" cy="624725"/>
          </a:xfrm>
          <a:prstGeom prst="rect">
            <a:avLst/>
          </a:prstGeom>
        </p:spPr>
        <p:txBody>
          <a:bodyPr/>
          <a:lstStyle>
            <a:lvl1pPr algn="l">
              <a:defRPr sz="4400" baseline="0">
                <a:latin typeface="Fujitsu Sans" panose="020B0404060202020204" pitchFamily="34" charset="0"/>
              </a:defRPr>
            </a:lvl1pPr>
          </a:lstStyle>
          <a:p>
            <a:r>
              <a:rPr lang="en-US" dirty="0"/>
              <a:t>Course Summary</a:t>
            </a:r>
          </a:p>
        </p:txBody>
      </p:sp>
      <p:sp>
        <p:nvSpPr>
          <p:cNvPr id="8"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8860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uestions &amp; Answers">
    <p:spTree>
      <p:nvGrpSpPr>
        <p:cNvPr id="1" name=""/>
        <p:cNvGrpSpPr/>
        <p:nvPr/>
      </p:nvGrpSpPr>
      <p:grpSpPr>
        <a:xfrm>
          <a:off x="0" y="0"/>
          <a:ext cx="0" cy="0"/>
          <a:chOff x="0" y="0"/>
          <a:chExt cx="0" cy="0"/>
        </a:xfrm>
      </p:grpSpPr>
      <p:pic>
        <p:nvPicPr>
          <p:cNvPr id="5"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386463" y="5935365"/>
            <a:ext cx="1431137" cy="1840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userDrawn="1"/>
        </p:nvPicPr>
        <p:blipFill>
          <a:blip r:embed="rId3"/>
          <a:stretch>
            <a:fillRect/>
          </a:stretch>
        </p:blipFill>
        <p:spPr>
          <a:xfrm>
            <a:off x="520700" y="1106381"/>
            <a:ext cx="13059113" cy="546788"/>
          </a:xfrm>
          <a:prstGeom prst="rect">
            <a:avLst/>
          </a:prstGeom>
        </p:spPr>
      </p:pic>
      <p:pic>
        <p:nvPicPr>
          <p:cNvPr id="4" name="Picture 3"/>
          <p:cNvPicPr>
            <a:picLocks noChangeAspect="1"/>
          </p:cNvPicPr>
          <p:nvPr userDrawn="1"/>
        </p:nvPicPr>
        <p:blipFill>
          <a:blip r:embed="rId4"/>
          <a:stretch>
            <a:fillRect/>
          </a:stretch>
        </p:blipFill>
        <p:spPr>
          <a:xfrm>
            <a:off x="520699" y="-76200"/>
            <a:ext cx="1850449" cy="1092955"/>
          </a:xfrm>
          <a:prstGeom prst="rect">
            <a:avLst/>
          </a:prstGeom>
        </p:spPr>
      </p:pic>
    </p:spTree>
    <p:extLst>
      <p:ext uri="{BB962C8B-B14F-4D97-AF65-F5344CB8AC3E}">
        <p14:creationId xmlns:p14="http://schemas.microsoft.com/office/powerpoint/2010/main" val="4164891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WIFFM">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9DB913-B61D-4E73-9599-3B5D8D001977}"/>
              </a:ext>
            </a:extLst>
          </p:cNvPr>
          <p:cNvPicPr>
            <a:picLocks noChangeAspect="1"/>
          </p:cNvPicPr>
          <p:nvPr userDrawn="1"/>
        </p:nvPicPr>
        <p:blipFill>
          <a:blip r:embed="rId2"/>
          <a:stretch>
            <a:fillRect/>
          </a:stretch>
        </p:blipFill>
        <p:spPr>
          <a:xfrm>
            <a:off x="10926769" y="6012815"/>
            <a:ext cx="2882265" cy="1759585"/>
          </a:xfrm>
          <a:prstGeom prst="rect">
            <a:avLst/>
          </a:prstGeom>
        </p:spPr>
      </p:pic>
      <p:sp>
        <p:nvSpPr>
          <p:cNvPr id="2" name="Title 1"/>
          <p:cNvSpPr>
            <a:spLocks noGrp="1"/>
          </p:cNvSpPr>
          <p:nvPr>
            <p:ph type="title" hasCustomPrompt="1"/>
          </p:nvPr>
        </p:nvSpPr>
        <p:spPr>
          <a:xfrm>
            <a:off x="529319" y="101482"/>
            <a:ext cx="12177267" cy="624725"/>
          </a:xfrm>
          <a:prstGeom prst="rect">
            <a:avLst/>
          </a:prstGeom>
        </p:spPr>
        <p:txBody>
          <a:bodyPr/>
          <a:lstStyle>
            <a:lvl1pPr algn="l">
              <a:defRPr sz="4400" baseline="0">
                <a:latin typeface="Fujitsu Sans" panose="020B0404060202020204" pitchFamily="34" charset="0"/>
              </a:defRPr>
            </a:lvl1pPr>
          </a:lstStyle>
          <a:p>
            <a:r>
              <a:rPr lang="en-US" dirty="0"/>
              <a:t>WIIFM – What’s In It For Me?</a:t>
            </a:r>
          </a:p>
        </p:txBody>
      </p:sp>
      <p:sp>
        <p:nvSpPr>
          <p:cNvPr id="3" name="Content Placeholder 2"/>
          <p:cNvSpPr>
            <a:spLocks noGrp="1"/>
          </p:cNvSpPr>
          <p:nvPr>
            <p:ph idx="1"/>
          </p:nvPr>
        </p:nvSpPr>
        <p:spPr>
          <a:xfrm>
            <a:off x="520700" y="1081669"/>
            <a:ext cx="12827000" cy="5880066"/>
          </a:xfrm>
          <a:prstGeom prst="rect">
            <a:avLst/>
          </a:prstGeom>
        </p:spPr>
        <p:txBody>
          <a:bodyPr/>
          <a:lstStyle>
            <a:lvl1pPr>
              <a:defRPr sz="3600">
                <a:latin typeface="Fujitsu Sans" panose="020B0404060202020204" pitchFamily="34" charset="0"/>
              </a:defRPr>
            </a:lvl1pPr>
            <a:lvl2pPr>
              <a:defRPr sz="3200">
                <a:latin typeface="Fujitsu Sans" panose="020B0404060202020204" pitchFamily="34" charset="0"/>
              </a:defRPr>
            </a:lvl2pPr>
            <a:lvl3pPr>
              <a:defRPr sz="2800">
                <a:latin typeface="Fujitsu Sans" panose="020B0404060202020204" pitchFamily="34" charset="0"/>
              </a:defRPr>
            </a:lvl3pPr>
            <a:lvl4pPr>
              <a:defRPr sz="2800">
                <a:latin typeface="Fujitsu Sans" panose="020B0404060202020204" pitchFamily="34" charset="0"/>
              </a:defRPr>
            </a:lvl4pPr>
            <a:lvl5pPr>
              <a:defRPr sz="2800">
                <a:latin typeface="Fujitsu Sans" panose="020B040406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885119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12" Type="http://schemas.microsoft.com/office/2007/relationships/hdphoto" Target="../media/hdphoto2.wdp"/><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1.xml"/><Relationship Id="rId11" Type="http://schemas.openxmlformats.org/officeDocument/2006/relationships/image" Target="../media/image4.png"/><Relationship Id="rId5" Type="http://schemas.openxmlformats.org/officeDocument/2006/relationships/theme" Target="../theme/theme1.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20" Type="http://schemas.openxmlformats.org/officeDocument/2006/relationships/image" Target="../media/image5.png"/><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image" Target="../media/image6.png"/><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bwMode="ltGray">
          <a:xfrm>
            <a:off x="-2154" y="2"/>
            <a:ext cx="13819753" cy="7775945"/>
          </a:xfrm>
          <a:prstGeom prst="rect">
            <a:avLst/>
          </a:prstGeom>
          <a:solidFill>
            <a:srgbClr val="681A14"/>
          </a:solidFill>
        </p:spPr>
      </p:pic>
      <p:sp>
        <p:nvSpPr>
          <p:cNvPr id="2" name="Rectangle 1"/>
          <p:cNvSpPr/>
          <p:nvPr userDrawn="1"/>
        </p:nvSpPr>
        <p:spPr>
          <a:xfrm>
            <a:off x="623412" y="602646"/>
            <a:ext cx="3758454" cy="4314162"/>
          </a:xfrm>
          <a:prstGeom prst="rect">
            <a:avLst/>
          </a:prstGeom>
          <a:blipFill dpi="0" rotWithShape="1">
            <a:blip r:embed="rId8">
              <a:alphaModFix amt="90000"/>
            </a:blip>
            <a:srcRect/>
            <a:stretch>
              <a:fillRect/>
            </a:stretch>
          </a:bli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4039" dirty="0">
              <a:solidFill>
                <a:schemeClr val="tx1"/>
              </a:solidFill>
            </a:endParaRPr>
          </a:p>
        </p:txBody>
      </p:sp>
      <p:sp>
        <p:nvSpPr>
          <p:cNvPr id="7" name="VCT_Marker_ID_7" hidden="1"/>
          <p:cNvSpPr/>
          <p:nvPr>
            <p:custDataLst>
              <p:tags r:id="rId6"/>
            </p:custDataLst>
          </p:nvPr>
        </p:nvSpPr>
        <p:spPr>
          <a:xfrm>
            <a:off x="1919111" y="143934"/>
            <a:ext cx="191911" cy="1439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9" dirty="0"/>
          </a:p>
        </p:txBody>
      </p:sp>
      <p:sp>
        <p:nvSpPr>
          <p:cNvPr id="19" name="Footer Placeholder 110"/>
          <p:cNvSpPr txBox="1">
            <a:spLocks/>
          </p:cNvSpPr>
          <p:nvPr userDrawn="1"/>
        </p:nvSpPr>
        <p:spPr>
          <a:xfrm>
            <a:off x="12131780" y="7449134"/>
            <a:ext cx="1310520" cy="30464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marL="0" algn="r" defTabSz="914400" rtl="0" eaLnBrk="1" fontAlgn="base" latinLnBrk="0" hangingPunct="1">
              <a:defRPr kumimoji="0" lang="de-DE" altLang="ja-JP" sz="800" kern="1200" noProof="0" dirty="0" smtClean="0">
                <a:solidFill>
                  <a:schemeClr val="tx1"/>
                </a:solidFill>
                <a:latin typeface="+mn-lt"/>
                <a:ea typeface="+mn-ea"/>
                <a:cs typeface="+mn-cs"/>
              </a:defRPr>
            </a:lvl1pPr>
          </a:lstStyle>
          <a:p>
            <a:r>
              <a:rPr lang="en-US" sz="1209" dirty="0">
                <a:solidFill>
                  <a:schemeClr val="bg1"/>
                </a:solidFill>
                <a:latin typeface="Fujitsu Sans" panose="020B0404060202020204" pitchFamily="34" charset="0"/>
              </a:rPr>
              <a:t>© 2021 FUJITSU</a:t>
            </a:r>
          </a:p>
        </p:txBody>
      </p:sp>
      <p:grpSp>
        <p:nvGrpSpPr>
          <p:cNvPr id="21" name="Group 20"/>
          <p:cNvGrpSpPr/>
          <p:nvPr userDrawn="1"/>
        </p:nvGrpSpPr>
        <p:grpSpPr bwMode="black">
          <a:xfrm>
            <a:off x="388620" y="7497818"/>
            <a:ext cx="955717" cy="213310"/>
            <a:chOff x="1219189" y="6312097"/>
            <a:chExt cx="632460" cy="210711"/>
          </a:xfrm>
        </p:grpSpPr>
        <p:sp>
          <p:nvSpPr>
            <p:cNvPr id="22" name="Rounded Rectangle 21"/>
            <p:cNvSpPr/>
            <p:nvPr userDrawn="1"/>
          </p:nvSpPr>
          <p:spPr bwMode="black">
            <a:xfrm>
              <a:off x="1219189" y="6312097"/>
              <a:ext cx="632460" cy="210711"/>
            </a:xfrm>
            <a:prstGeom prst="roundRect">
              <a:avLst>
                <a:gd name="adj" fmla="val 50000"/>
              </a:avLst>
            </a:prstGeom>
            <a:noFill/>
            <a:ln w="6350" cap="flat" cmpd="sng" algn="ctr">
              <a:solidFill>
                <a:schemeClr val="bg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1381750" rtl="0" eaLnBrk="1" fontAlgn="ctr" latinLnBrk="0" hangingPunct="1">
                <a:lnSpc>
                  <a:spcPct val="100000"/>
                </a:lnSpc>
                <a:spcBef>
                  <a:spcPct val="0"/>
                </a:spcBef>
                <a:spcAft>
                  <a:spcPct val="0"/>
                </a:spcAft>
                <a:buClrTx/>
                <a:buSzTx/>
                <a:buFontTx/>
                <a:buNone/>
                <a:tabLst/>
              </a:pPr>
              <a:endParaRPr kumimoji="1" lang="en-US" sz="1481" b="0" i="0" u="none" strike="noStrike" cap="none" normalizeH="0" baseline="0" dirty="0">
                <a:ln>
                  <a:noFill/>
                </a:ln>
                <a:solidFill>
                  <a:schemeClr val="bg1"/>
                </a:solidFill>
                <a:effectLst/>
                <a:latin typeface="Arial" charset="0"/>
                <a:ea typeface="Arial Unicode MS" pitchFamily="34" charset="-128"/>
                <a:cs typeface="Arial Unicode MS" pitchFamily="34" charset="-128"/>
              </a:endParaRPr>
            </a:p>
          </p:txBody>
        </p:sp>
        <p:sp>
          <p:nvSpPr>
            <p:cNvPr id="23" name="Rectangle 22"/>
            <p:cNvSpPr/>
            <p:nvPr userDrawn="1"/>
          </p:nvSpPr>
          <p:spPr bwMode="black">
            <a:xfrm>
              <a:off x="1243066" y="6322125"/>
              <a:ext cx="568578" cy="179903"/>
            </a:xfrm>
            <a:prstGeom prst="rect">
              <a:avLst/>
            </a:prstGeom>
          </p:spPr>
          <p:txBody>
            <a:bodyPr wrap="square" lIns="0" tIns="0" rIns="0" bIns="0" anchor="b">
              <a:noAutofit/>
            </a:bodyPr>
            <a:lstStyle/>
            <a:p>
              <a:pPr marL="0" marR="0" lvl="0" indent="0" algn="ctr" defTabSz="1841537" rtl="0" eaLnBrk="1" fontAlgn="ctr" latinLnBrk="0" hangingPunct="1">
                <a:lnSpc>
                  <a:spcPct val="100000"/>
                </a:lnSpc>
                <a:spcBef>
                  <a:spcPct val="0"/>
                </a:spcBef>
                <a:spcAft>
                  <a:spcPct val="0"/>
                </a:spcAft>
                <a:buClrTx/>
                <a:buSzTx/>
                <a:buFontTx/>
                <a:buNone/>
                <a:tabLst/>
                <a:defRPr/>
              </a:pPr>
              <a:r>
                <a:rPr kumimoji="1" lang="en-GB" altLang="ja-JP" sz="1133" b="0" i="0" u="none" strike="noStrike" kern="1200" cap="none" spc="0" normalizeH="0" baseline="0" noProof="0" dirty="0">
                  <a:ln>
                    <a:noFill/>
                  </a:ln>
                  <a:solidFill>
                    <a:schemeClr val="bg1"/>
                  </a:solidFill>
                  <a:effectLst/>
                  <a:uLnTx/>
                  <a:uFillTx/>
                  <a:latin typeface="Fujitsu Sans Medium" panose="020B0504060202020204" pitchFamily="34" charset="0"/>
                  <a:ea typeface="+mn-ea"/>
                  <a:cs typeface="+mn-cs"/>
                </a:rPr>
                <a:t>Unclassified</a:t>
              </a:r>
              <a:endParaRPr kumimoji="1" lang="en-US" altLang="ja-JP" sz="1133" b="0" i="0" u="none" strike="noStrike" kern="1200" cap="none" spc="0" normalizeH="0" baseline="0" noProof="0" dirty="0">
                <a:ln>
                  <a:noFill/>
                </a:ln>
                <a:solidFill>
                  <a:schemeClr val="bg1"/>
                </a:solidFill>
                <a:effectLst/>
                <a:uLnTx/>
                <a:uFillTx/>
                <a:latin typeface="Fujitsu Sans Medium" panose="020B0504060202020204" pitchFamily="34" charset="0"/>
                <a:ea typeface="+mn-ea"/>
                <a:cs typeface="+mn-cs"/>
              </a:endParaRPr>
            </a:p>
          </p:txBody>
        </p:sp>
      </p:grpSp>
      <p:pic>
        <p:nvPicPr>
          <p:cNvPr id="11" name="Picture 10"/>
          <p:cNvPicPr>
            <a:picLocks noChangeAspect="1"/>
          </p:cNvPicPr>
          <p:nvPr userDrawn="1"/>
        </p:nvPicPr>
        <p:blipFill>
          <a:blip r:embed="rId9" cstate="print">
            <a:extLst>
              <a:ext uri="{BEBA8EAE-BF5A-486C-A8C5-ECC9F3942E4B}">
                <a14:imgProps xmlns:a14="http://schemas.microsoft.com/office/drawing/2010/main">
                  <a14:imgLayer r:embed="rId10">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1922654" y="186446"/>
            <a:ext cx="1727025" cy="1070752"/>
          </a:xfrm>
          <a:prstGeom prst="rect">
            <a:avLst/>
          </a:prstGeom>
        </p:spPr>
      </p:pic>
      <p:pic>
        <p:nvPicPr>
          <p:cNvPr id="14" name="Picture 13"/>
          <p:cNvPicPr>
            <a:picLocks noChangeAspect="1"/>
          </p:cNvPicPr>
          <p:nvPr userDrawn="1"/>
        </p:nvPicPr>
        <p:blipFill>
          <a:blip r:embed="rId11" cstate="print">
            <a:extLst>
              <a:ext uri="{BEBA8EAE-BF5A-486C-A8C5-ECC9F3942E4B}">
                <a14:imgProps xmlns:a14="http://schemas.microsoft.com/office/drawing/2010/main">
                  <a14:imgLayer r:embed="rId12">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1490681" y="1030160"/>
            <a:ext cx="2053449" cy="340872"/>
          </a:xfrm>
          <a:prstGeom prst="rect">
            <a:avLst/>
          </a:prstGeom>
        </p:spPr>
      </p:pic>
      <p:sp>
        <p:nvSpPr>
          <p:cNvPr id="13" name="Rectangle 12"/>
          <p:cNvSpPr/>
          <p:nvPr userDrawn="1"/>
        </p:nvSpPr>
        <p:spPr>
          <a:xfrm rot="20005975">
            <a:off x="4555830" y="3010286"/>
            <a:ext cx="4406997" cy="1569660"/>
          </a:xfrm>
          <a:prstGeom prst="rect">
            <a:avLst/>
          </a:prstGeom>
          <a:noFill/>
        </p:spPr>
        <p:txBody>
          <a:bodyPr wrap="square" lIns="91440" tIns="45720" rIns="91440" bIns="45720">
            <a:spAutoFit/>
          </a:bodyPr>
          <a:lstStyle/>
          <a:p>
            <a:pPr algn="ctr"/>
            <a:r>
              <a:rPr lang="en-US" sz="9600" b="1" cap="none" spc="0" dirty="0">
                <a:ln w="22225">
                  <a:solidFill>
                    <a:schemeClr val="accent2"/>
                  </a:solidFill>
                  <a:prstDash val="solid"/>
                </a:ln>
                <a:solidFill>
                  <a:schemeClr val="accent5">
                    <a:lumMod val="10000"/>
                    <a:lumOff val="90000"/>
                  </a:schemeClr>
                </a:solidFill>
                <a:effectLst/>
              </a:rPr>
              <a:t>DRAFT</a:t>
            </a:r>
          </a:p>
        </p:txBody>
      </p:sp>
    </p:spTree>
    <p:extLst>
      <p:ext uri="{BB962C8B-B14F-4D97-AF65-F5344CB8AC3E}">
        <p14:creationId xmlns:p14="http://schemas.microsoft.com/office/powerpoint/2010/main" val="3269398692"/>
      </p:ext>
    </p:extLst>
  </p:cSld>
  <p:clrMap bg1="lt1" tx1="dk1" bg2="lt2" tx2="dk2" accent1="accent1" accent2="accent2" accent3="accent3" accent4="accent4" accent5="accent5" accent6="accent6" hlink="hlink" folHlink="folHlink"/>
  <p:sldLayoutIdLst>
    <p:sldLayoutId id="2147483694" r:id="rId1"/>
    <p:sldLayoutId id="2147483706" r:id="rId2"/>
    <p:sldLayoutId id="2147483693" r:id="rId3"/>
    <p:sldLayoutId id="2147483695"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1300"/>
                                        <p:tgtEl>
                                          <p:spTgt spid="43"/>
                                        </p:tgtEl>
                                      </p:cBhvr>
                                    </p:animEffect>
                                  </p:childTnLst>
                                </p:cTn>
                              </p:par>
                              <p:par>
                                <p:cTn id="8" presetID="6" presetClass="emph" presetSubtype="0" fill="hold" nodeType="withEffect">
                                  <p:stCondLst>
                                    <p:cond delay="0"/>
                                  </p:stCondLst>
                                  <p:childTnLst>
                                    <p:animScale>
                                      <p:cBhvr>
                                        <p:cTn id="9" dur="100" fill="hold"/>
                                        <p:tgtEl>
                                          <p:spTgt spid="43"/>
                                        </p:tgtEl>
                                      </p:cBhvr>
                                      <p:by x="111000" y="111000"/>
                                    </p:animScale>
                                  </p:childTnLst>
                                </p:cTn>
                              </p:par>
                              <p:par>
                                <p:cTn id="10" presetID="6" presetClass="emph" presetSubtype="0" decel="100000" fill="hold" nodeType="withEffect">
                                  <p:stCondLst>
                                    <p:cond delay="500"/>
                                  </p:stCondLst>
                                  <p:childTnLst>
                                    <p:animScale>
                                      <p:cBhvr>
                                        <p:cTn id="11" dur="2000" fill="hold"/>
                                        <p:tgtEl>
                                          <p:spTgt spid="43"/>
                                        </p:tgtEl>
                                      </p:cBhvr>
                                      <p:by x="90090" y="90090"/>
                                    </p:animScale>
                                  </p:childTnLst>
                                </p:cTn>
                              </p:par>
                              <p:par>
                                <p:cTn id="12" presetID="10" presetClass="entr" presetSubtype="0" fill="hold" grpId="0" nodeType="withEffect">
                                  <p:stCondLst>
                                    <p:cond delay="50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500"/>
                                        <p:tgtEl>
                                          <p:spTgt spid="2"/>
                                        </p:tgtEl>
                                      </p:cBhvr>
                                    </p:animEffect>
                                  </p:childTnLst>
                                </p:cTn>
                              </p:par>
                              <p:par>
                                <p:cTn id="15" presetID="6" presetClass="emph" presetSubtype="0" fill="hold" grpId="1" nodeType="withEffect">
                                  <p:stCondLst>
                                    <p:cond delay="0"/>
                                  </p:stCondLst>
                                  <p:childTnLst>
                                    <p:animScale>
                                      <p:cBhvr>
                                        <p:cTn id="16" dur="400" fill="hold"/>
                                        <p:tgtEl>
                                          <p:spTgt spid="2"/>
                                        </p:tgtEl>
                                      </p:cBhvr>
                                      <p:by x="10000" y="10000"/>
                                    </p:animScale>
                                  </p:childTnLst>
                                </p:cTn>
                              </p:par>
                              <p:par>
                                <p:cTn id="17" presetID="6" presetClass="emph" presetSubtype="0" decel="50000" fill="hold" grpId="2" nodeType="withEffect">
                                  <p:stCondLst>
                                    <p:cond delay="500"/>
                                  </p:stCondLst>
                                  <p:childTnLst>
                                    <p:animScale>
                                      <p:cBhvr>
                                        <p:cTn id="18" dur="1500" fill="hold"/>
                                        <p:tgtEl>
                                          <p:spTgt spid="2"/>
                                        </p:tgtEl>
                                      </p:cBhvr>
                                      <p:by x="1000000" y="1000000"/>
                                    </p:animScale>
                                  </p:childTnLst>
                                </p:cTn>
                              </p:par>
                              <p:par>
                                <p:cTn id="19" presetID="42" presetClass="path" presetSubtype="0" decel="50000" fill="hold" grpId="3" nodeType="withEffect">
                                  <p:stCondLst>
                                    <p:cond delay="500"/>
                                  </p:stCondLst>
                                  <p:childTnLst>
                                    <p:animMotion origin="layout" path="M 0.12309 0.19074 L 3.61111E-6 1.7284E-6 " pathEditMode="relative" rAng="0" ptsTypes="AA">
                                      <p:cBhvr>
                                        <p:cTn id="20" dur="1500" fill="hold"/>
                                        <p:tgtEl>
                                          <p:spTgt spid="2"/>
                                        </p:tgtEl>
                                        <p:attrNameLst>
                                          <p:attrName>ppt_x</p:attrName>
                                          <p:attrName>ppt_y</p:attrName>
                                        </p:attrNameLst>
                                      </p:cBhvr>
                                      <p:rCtr x="-6163" y="-953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animBg="1"/>
      <p:bldP spid="2" grpId="3" animBg="1"/>
      <p:bldP spid="2" grpId="4" animBg="1"/>
      <p:bldP spid="2" grpId="5" animBg="1"/>
      <p:bldP spid="2" grpId="6" animBg="1"/>
      <p:bldP spid="2" grpId="7" animBg="1"/>
    </p:bldLst>
  </p:timing>
  <p:hf sldNum="0" hdr="0" dt="0"/>
  <p:txStyles>
    <p:titleStyle>
      <a:lvl1pPr algn="l" defTabSz="1381750" rtl="0" eaLnBrk="1" latinLnBrk="0" hangingPunct="1">
        <a:lnSpc>
          <a:spcPct val="90000"/>
        </a:lnSpc>
        <a:spcBef>
          <a:spcPct val="0"/>
        </a:spcBef>
        <a:buNone/>
        <a:tabLst>
          <a:tab pos="4339559" algn="l"/>
          <a:tab pos="5555786" algn="l"/>
        </a:tabLst>
        <a:defRPr kumimoji="1" lang="de-DE" altLang="ja-JP" sz="4231" kern="1200" dirty="0" smtClean="0">
          <a:solidFill>
            <a:schemeClr val="tx1"/>
          </a:solidFill>
          <a:latin typeface="Fujitsu Sans" panose="020B0404060202020204" pitchFamily="34" charset="0"/>
          <a:ea typeface="+mj-ea"/>
          <a:cs typeface="+mj-cs"/>
        </a:defRPr>
      </a:lvl1pPr>
    </p:titleStyle>
    <p:bodyStyle>
      <a:lvl1pPr marL="407808" indent="-407808" algn="l" defTabSz="1381750" rtl="0" eaLnBrk="1" latinLnBrk="0" hangingPunct="1">
        <a:lnSpc>
          <a:spcPct val="110000"/>
        </a:lnSpc>
        <a:spcBef>
          <a:spcPts val="453"/>
        </a:spcBef>
        <a:spcAft>
          <a:spcPts val="302"/>
        </a:spcAft>
        <a:buClr>
          <a:schemeClr val="accent2"/>
        </a:buClr>
        <a:buFont typeface="Wingdings" pitchFamily="2" charset="2"/>
        <a:buChar char=""/>
        <a:defRPr sz="3324" b="0" kern="1200">
          <a:solidFill>
            <a:schemeClr val="tx1"/>
          </a:solidFill>
          <a:latin typeface="Fujitsu Sans" panose="020B0404060202020204" pitchFamily="34" charset="0"/>
          <a:ea typeface="+mn-ea"/>
          <a:cs typeface="+mn-cs"/>
        </a:defRPr>
      </a:lvl1pPr>
      <a:lvl2pPr marL="815616" indent="-407808" algn="l" defTabSz="1381750" rtl="0" eaLnBrk="1" latinLnBrk="0" hangingPunct="1">
        <a:lnSpc>
          <a:spcPct val="110000"/>
        </a:lnSpc>
        <a:spcBef>
          <a:spcPts val="453"/>
        </a:spcBef>
        <a:spcAft>
          <a:spcPts val="302"/>
        </a:spcAft>
        <a:buClr>
          <a:schemeClr val="tx2"/>
        </a:buClr>
        <a:buFont typeface="Wingdings" pitchFamily="2" charset="2"/>
        <a:buChar char=""/>
        <a:defRPr sz="2720" kern="1200">
          <a:solidFill>
            <a:schemeClr val="tx1"/>
          </a:solidFill>
          <a:latin typeface="Fujitsu Sans" panose="020B0404060202020204" pitchFamily="34" charset="0"/>
          <a:ea typeface="+mn-ea"/>
          <a:cs typeface="+mn-cs"/>
        </a:defRPr>
      </a:lvl2pPr>
      <a:lvl3pPr marL="1079492" indent="-263876" algn="l" defTabSz="1381750" rtl="0" eaLnBrk="1" latinLnBrk="0" hangingPunct="1">
        <a:lnSpc>
          <a:spcPct val="110000"/>
        </a:lnSpc>
        <a:spcBef>
          <a:spcPts val="453"/>
        </a:spcBef>
        <a:spcAft>
          <a:spcPts val="302"/>
        </a:spcAft>
        <a:buClr>
          <a:schemeClr val="tx2"/>
        </a:buClr>
        <a:buFont typeface="Arial" pitchFamily="34" charset="0"/>
        <a:buChar char="•"/>
        <a:tabLst/>
        <a:defRPr sz="2418" kern="1200">
          <a:solidFill>
            <a:schemeClr val="tx1"/>
          </a:solidFill>
          <a:latin typeface="Fujitsu Sans" panose="020B0404060202020204" pitchFamily="34" charset="0"/>
          <a:ea typeface="+mn-ea"/>
          <a:cs typeface="+mn-cs"/>
        </a:defRPr>
      </a:lvl3pPr>
      <a:lvl4pPr marL="1355363" indent="-275871" algn="l" defTabSz="1355363" rtl="0" eaLnBrk="1" latinLnBrk="0" hangingPunct="1">
        <a:lnSpc>
          <a:spcPct val="110000"/>
        </a:lnSpc>
        <a:spcBef>
          <a:spcPts val="453"/>
        </a:spcBef>
        <a:spcAft>
          <a:spcPts val="302"/>
        </a:spcAft>
        <a:buClr>
          <a:schemeClr val="tx2"/>
        </a:buClr>
        <a:buFont typeface="Arial" pitchFamily="34" charset="0"/>
        <a:buChar char="•"/>
        <a:defRPr sz="2116" kern="1200">
          <a:solidFill>
            <a:schemeClr val="tx1"/>
          </a:solidFill>
          <a:latin typeface="Fujitsu Sans" panose="020B0404060202020204" pitchFamily="34" charset="0"/>
          <a:ea typeface="+mn-ea"/>
          <a:cs typeface="+mn-cs"/>
        </a:defRPr>
      </a:lvl4pPr>
      <a:lvl5pPr marL="1631232" indent="-275871" algn="l" defTabSz="1381750" rtl="0" eaLnBrk="1" latinLnBrk="0" hangingPunct="1">
        <a:lnSpc>
          <a:spcPct val="110000"/>
        </a:lnSpc>
        <a:spcBef>
          <a:spcPts val="453"/>
        </a:spcBef>
        <a:spcAft>
          <a:spcPts val="302"/>
        </a:spcAft>
        <a:buClr>
          <a:schemeClr val="tx2"/>
        </a:buClr>
        <a:buFont typeface="Arial" pitchFamily="34" charset="0"/>
        <a:buChar char="•"/>
        <a:defRPr sz="1813" kern="1200">
          <a:solidFill>
            <a:schemeClr val="tx1"/>
          </a:solidFill>
          <a:latin typeface="Fujitsu Sans" panose="020B0404060202020204" pitchFamily="34" charset="0"/>
          <a:ea typeface="+mn-ea"/>
          <a:cs typeface="+mn-cs"/>
        </a:defRPr>
      </a:lvl5pPr>
      <a:lvl6pPr marL="3799812" indent="-345437" algn="l" defTabSz="1381750" rtl="0" eaLnBrk="1" latinLnBrk="0" hangingPunct="1">
        <a:spcBef>
          <a:spcPct val="20000"/>
        </a:spcBef>
        <a:buFont typeface="Arial" pitchFamily="34" charset="0"/>
        <a:buChar char="•"/>
        <a:defRPr sz="3022" kern="1200">
          <a:solidFill>
            <a:schemeClr val="tx1"/>
          </a:solidFill>
          <a:latin typeface="+mn-lt"/>
          <a:ea typeface="+mn-ea"/>
          <a:cs typeface="+mn-cs"/>
        </a:defRPr>
      </a:lvl6pPr>
      <a:lvl7pPr marL="4490687" indent="-345437" algn="l" defTabSz="1381750" rtl="0" eaLnBrk="1" latinLnBrk="0" hangingPunct="1">
        <a:spcBef>
          <a:spcPct val="20000"/>
        </a:spcBef>
        <a:buFont typeface="Arial" pitchFamily="34" charset="0"/>
        <a:buChar char="•"/>
        <a:defRPr sz="3022" kern="1200">
          <a:solidFill>
            <a:schemeClr val="tx1"/>
          </a:solidFill>
          <a:latin typeface="+mn-lt"/>
          <a:ea typeface="+mn-ea"/>
          <a:cs typeface="+mn-cs"/>
        </a:defRPr>
      </a:lvl7pPr>
      <a:lvl8pPr marL="5181562" indent="-345437" algn="l" defTabSz="1381750" rtl="0" eaLnBrk="1" latinLnBrk="0" hangingPunct="1">
        <a:spcBef>
          <a:spcPct val="20000"/>
        </a:spcBef>
        <a:buFont typeface="Arial" pitchFamily="34" charset="0"/>
        <a:buChar char="•"/>
        <a:defRPr sz="3022" kern="1200">
          <a:solidFill>
            <a:schemeClr val="tx1"/>
          </a:solidFill>
          <a:latin typeface="+mn-lt"/>
          <a:ea typeface="+mn-ea"/>
          <a:cs typeface="+mn-cs"/>
        </a:defRPr>
      </a:lvl8pPr>
      <a:lvl9pPr marL="5872437" indent="-345437" algn="l" defTabSz="1381750" rtl="0" eaLnBrk="1" latinLnBrk="0" hangingPunct="1">
        <a:spcBef>
          <a:spcPct val="20000"/>
        </a:spcBef>
        <a:buFont typeface="Arial" pitchFamily="34" charset="0"/>
        <a:buChar char="•"/>
        <a:defRPr sz="3022" kern="1200">
          <a:solidFill>
            <a:schemeClr val="tx1"/>
          </a:solidFill>
          <a:latin typeface="+mn-lt"/>
          <a:ea typeface="+mn-ea"/>
          <a:cs typeface="+mn-cs"/>
        </a:defRPr>
      </a:lvl9pPr>
    </p:bodyStyle>
    <p:otherStyle>
      <a:defPPr>
        <a:defRPr lang="de-DE"/>
      </a:defPPr>
      <a:lvl1pPr marL="0" algn="l" defTabSz="1381750" rtl="0" eaLnBrk="1" latinLnBrk="0" hangingPunct="1">
        <a:defRPr sz="2720" kern="1200">
          <a:solidFill>
            <a:schemeClr val="tx1"/>
          </a:solidFill>
          <a:latin typeface="+mn-lt"/>
          <a:ea typeface="+mn-ea"/>
          <a:cs typeface="+mn-cs"/>
        </a:defRPr>
      </a:lvl1pPr>
      <a:lvl2pPr marL="690875" algn="l" defTabSz="1381750" rtl="0" eaLnBrk="1" latinLnBrk="0" hangingPunct="1">
        <a:defRPr sz="2720" kern="1200">
          <a:solidFill>
            <a:schemeClr val="tx1"/>
          </a:solidFill>
          <a:latin typeface="+mn-lt"/>
          <a:ea typeface="+mn-ea"/>
          <a:cs typeface="+mn-cs"/>
        </a:defRPr>
      </a:lvl2pPr>
      <a:lvl3pPr marL="1381750" algn="l" defTabSz="1381750" rtl="0" eaLnBrk="1" latinLnBrk="0" hangingPunct="1">
        <a:defRPr sz="2720" kern="1200">
          <a:solidFill>
            <a:schemeClr val="tx1"/>
          </a:solidFill>
          <a:latin typeface="+mn-lt"/>
          <a:ea typeface="+mn-ea"/>
          <a:cs typeface="+mn-cs"/>
        </a:defRPr>
      </a:lvl3pPr>
      <a:lvl4pPr marL="2072625" algn="l" defTabSz="1381750" rtl="0" eaLnBrk="1" latinLnBrk="0" hangingPunct="1">
        <a:defRPr sz="2720" kern="1200">
          <a:solidFill>
            <a:schemeClr val="tx1"/>
          </a:solidFill>
          <a:latin typeface="+mn-lt"/>
          <a:ea typeface="+mn-ea"/>
          <a:cs typeface="+mn-cs"/>
        </a:defRPr>
      </a:lvl4pPr>
      <a:lvl5pPr marL="2763500" algn="l" defTabSz="1381750" rtl="0" eaLnBrk="1" latinLnBrk="0" hangingPunct="1">
        <a:defRPr sz="2720" kern="1200">
          <a:solidFill>
            <a:schemeClr val="tx1"/>
          </a:solidFill>
          <a:latin typeface="+mn-lt"/>
          <a:ea typeface="+mn-ea"/>
          <a:cs typeface="+mn-cs"/>
        </a:defRPr>
      </a:lvl5pPr>
      <a:lvl6pPr marL="3454375" algn="l" defTabSz="1381750" rtl="0" eaLnBrk="1" latinLnBrk="0" hangingPunct="1">
        <a:defRPr sz="2720" kern="1200">
          <a:solidFill>
            <a:schemeClr val="tx1"/>
          </a:solidFill>
          <a:latin typeface="+mn-lt"/>
          <a:ea typeface="+mn-ea"/>
          <a:cs typeface="+mn-cs"/>
        </a:defRPr>
      </a:lvl6pPr>
      <a:lvl7pPr marL="4145250" algn="l" defTabSz="1381750" rtl="0" eaLnBrk="1" latinLnBrk="0" hangingPunct="1">
        <a:defRPr sz="2720" kern="1200">
          <a:solidFill>
            <a:schemeClr val="tx1"/>
          </a:solidFill>
          <a:latin typeface="+mn-lt"/>
          <a:ea typeface="+mn-ea"/>
          <a:cs typeface="+mn-cs"/>
        </a:defRPr>
      </a:lvl7pPr>
      <a:lvl8pPr marL="4836124" algn="l" defTabSz="1381750" rtl="0" eaLnBrk="1" latinLnBrk="0" hangingPunct="1">
        <a:defRPr sz="2720" kern="1200">
          <a:solidFill>
            <a:schemeClr val="tx1"/>
          </a:solidFill>
          <a:latin typeface="+mn-lt"/>
          <a:ea typeface="+mn-ea"/>
          <a:cs typeface="+mn-cs"/>
        </a:defRPr>
      </a:lvl8pPr>
      <a:lvl9pPr marL="5526999" algn="l" defTabSz="1381750" rtl="0" eaLnBrk="1" latinLnBrk="0" hangingPunct="1">
        <a:defRPr sz="272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4" name="Group 23"/>
          <p:cNvGrpSpPr/>
          <p:nvPr userDrawn="1"/>
        </p:nvGrpSpPr>
        <p:grpSpPr>
          <a:xfrm>
            <a:off x="0" y="7559641"/>
            <a:ext cx="13817600" cy="218197"/>
            <a:chOff x="0" y="7559641"/>
            <a:chExt cx="13817600" cy="218197"/>
          </a:xfrm>
        </p:grpSpPr>
        <p:sp>
          <p:nvSpPr>
            <p:cNvPr id="11" name="Line 4"/>
            <p:cNvSpPr>
              <a:spLocks noChangeShapeType="1"/>
            </p:cNvSpPr>
            <p:nvPr userDrawn="1"/>
          </p:nvSpPr>
          <p:spPr bwMode="gray">
            <a:xfrm flipV="1">
              <a:off x="0" y="7559641"/>
              <a:ext cx="13817600" cy="16815"/>
            </a:xfrm>
            <a:prstGeom prst="line">
              <a:avLst/>
            </a:prstGeom>
            <a:noFill/>
            <a:ln w="12700">
              <a:solidFill>
                <a:srgbClr val="87867E"/>
              </a:solidFill>
              <a:round/>
              <a:headEnd/>
              <a:tailEnd/>
            </a:ln>
            <a:effectLst/>
          </p:spPr>
          <p:txBody>
            <a:bodyPr/>
            <a:lstStyle/>
            <a:p>
              <a:endParaRPr lang="en-GB" noProof="0" dirty="0">
                <a:latin typeface="Fujitsu Sans" panose="020B0404060202020204" pitchFamily="34" charset="0"/>
              </a:endParaRPr>
            </a:p>
          </p:txBody>
        </p:sp>
        <p:grpSp>
          <p:nvGrpSpPr>
            <p:cNvPr id="3" name="Group 2"/>
            <p:cNvGrpSpPr/>
            <p:nvPr userDrawn="1"/>
          </p:nvGrpSpPr>
          <p:grpSpPr>
            <a:xfrm>
              <a:off x="0" y="7570731"/>
              <a:ext cx="13569240" cy="207107"/>
              <a:chOff x="0" y="7570731"/>
              <a:chExt cx="13569240" cy="207107"/>
            </a:xfrm>
          </p:grpSpPr>
          <p:sp>
            <p:nvSpPr>
              <p:cNvPr id="9" name="Rectangle 8"/>
              <p:cNvSpPr/>
              <p:nvPr userDrawn="1"/>
            </p:nvSpPr>
            <p:spPr bwMode="gray">
              <a:xfrm>
                <a:off x="6461002" y="7570731"/>
                <a:ext cx="540000" cy="20160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p>
                <a:pPr marL="0" algn="ctr" defTabSz="914400" rtl="0" eaLnBrk="1" fontAlgn="base" latinLnBrk="0" hangingPunct="1">
                  <a:spcBef>
                    <a:spcPct val="0"/>
                  </a:spcBef>
                  <a:spcAft>
                    <a:spcPct val="0"/>
                  </a:spcAft>
                </a:pPr>
                <a:fld id="{AC746033-9F45-4508-8446-72AA2BBAAD2A}" type="slidenum">
                  <a:rPr kumimoji="0" lang="en-US" altLang="ja-JP" sz="800" kern="1200" noProof="0" smtClean="0">
                    <a:solidFill>
                      <a:schemeClr val="tx1"/>
                    </a:solidFill>
                    <a:latin typeface="Fujitsu Sans" panose="020B0404060202020204" pitchFamily="34" charset="0"/>
                    <a:ea typeface="ＭＳ Ｐゴシック" charset="-128"/>
                    <a:cs typeface="+mn-cs"/>
                  </a:rPr>
                  <a:pPr marL="0" algn="ctr" defTabSz="914400" rtl="0" eaLnBrk="1" fontAlgn="base" latinLnBrk="0" hangingPunct="1">
                    <a:spcBef>
                      <a:spcPct val="0"/>
                    </a:spcBef>
                    <a:spcAft>
                      <a:spcPct val="0"/>
                    </a:spcAft>
                  </a:pPr>
                  <a:t>‹#›</a:t>
                </a:fld>
                <a:endParaRPr kumimoji="0" lang="en-US" altLang="ja-JP" sz="800" kern="1200" noProof="0" dirty="0">
                  <a:solidFill>
                    <a:schemeClr val="tx1"/>
                  </a:solidFill>
                  <a:latin typeface="Fujitsu Sans" panose="020B0404060202020204" pitchFamily="34" charset="0"/>
                  <a:ea typeface="ＭＳ Ｐゴシック" charset="-128"/>
                  <a:cs typeface="+mn-cs"/>
                </a:endParaRPr>
              </a:p>
            </p:txBody>
          </p:sp>
          <p:sp>
            <p:nvSpPr>
              <p:cNvPr id="10" name="Footer Placeholder 110"/>
              <p:cNvSpPr txBox="1">
                <a:spLocks/>
              </p:cNvSpPr>
              <p:nvPr userDrawn="1"/>
            </p:nvSpPr>
            <p:spPr>
              <a:xfrm>
                <a:off x="9605640" y="7570800"/>
                <a:ext cx="3963600" cy="201600"/>
              </a:xfrm>
              <a:prstGeom prst="rect">
                <a:avLst/>
              </a:prstGeom>
              <a:noFill/>
              <a:ln w="9525">
                <a:noFill/>
                <a:miter lim="800000"/>
                <a:headEnd/>
                <a:tailEnd/>
              </a:ln>
              <a:effectLst/>
            </p:spPr>
            <p:txBody>
              <a:bodyPr vert="horz" wrap="square" lIns="0" tIns="0" rIns="0" bIns="0" numCol="1" anchor="ctr" anchorCtr="0" compatLnSpc="1">
                <a:prstTxWarp prst="textNoShape">
                  <a:avLst/>
                </a:prstTxWarp>
              </a:bodyPr>
              <a:lstStyle>
                <a:lvl1pPr marL="0" algn="r" defTabSz="914400" rtl="0" eaLnBrk="1" fontAlgn="base" latinLnBrk="0" hangingPunct="1">
                  <a:defRPr kumimoji="0" lang="de-DE" altLang="ja-JP" sz="800" kern="1200" noProof="0" dirty="0" smtClean="0">
                    <a:solidFill>
                      <a:schemeClr val="tx1"/>
                    </a:solidFill>
                    <a:latin typeface="+mn-lt"/>
                    <a:ea typeface="+mn-ea"/>
                    <a:cs typeface="+mn-cs"/>
                  </a:defRPr>
                </a:lvl1pPr>
              </a:lstStyle>
              <a:p>
                <a:r>
                  <a:rPr lang="en-US" dirty="0">
                    <a:solidFill>
                      <a:schemeClr val="tx1"/>
                    </a:solidFill>
                    <a:latin typeface="Fujitsu Sans" panose="020B0404060202020204" pitchFamily="34" charset="0"/>
                  </a:rPr>
                  <a:t>© 2020 FUJITSU</a:t>
                </a:r>
              </a:p>
            </p:txBody>
          </p:sp>
          <p:grpSp>
            <p:nvGrpSpPr>
              <p:cNvPr id="12" name="Group 11"/>
              <p:cNvGrpSpPr/>
              <p:nvPr userDrawn="1"/>
            </p:nvGrpSpPr>
            <p:grpSpPr bwMode="black">
              <a:xfrm>
                <a:off x="0" y="7636677"/>
                <a:ext cx="632460" cy="141161"/>
                <a:chOff x="1219189" y="6312097"/>
                <a:chExt cx="632460" cy="210711"/>
              </a:xfrm>
            </p:grpSpPr>
            <p:sp>
              <p:nvSpPr>
                <p:cNvPr id="13" name="Rounded Rectangle 12"/>
                <p:cNvSpPr/>
                <p:nvPr userDrawn="1"/>
              </p:nvSpPr>
              <p:spPr bwMode="black">
                <a:xfrm>
                  <a:off x="1219189" y="6312097"/>
                  <a:ext cx="632460" cy="210711"/>
                </a:xfrm>
                <a:prstGeom prst="roundRect">
                  <a:avLst>
                    <a:gd name="adj" fmla="val 50000"/>
                  </a:avLst>
                </a:prstGeom>
                <a:noFill/>
                <a:ln w="6350" cap="flat" cmpd="sng" algn="ctr">
                  <a:solidFill>
                    <a:srgbClr val="F00000"/>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ctr" latinLnBrk="0" hangingPunct="1">
                    <a:lnSpc>
                      <a:spcPct val="100000"/>
                    </a:lnSpc>
                    <a:spcBef>
                      <a:spcPct val="0"/>
                    </a:spcBef>
                    <a:spcAft>
                      <a:spcPct val="0"/>
                    </a:spcAft>
                    <a:buClrTx/>
                    <a:buSzTx/>
                    <a:buFontTx/>
                    <a:buNone/>
                    <a:tabLst/>
                  </a:pPr>
                  <a:endParaRPr kumimoji="1" lang="en-US" sz="980" b="0" i="0" u="none" strike="noStrike" cap="none" normalizeH="0" baseline="0" dirty="0">
                    <a:ln>
                      <a:noFill/>
                    </a:ln>
                    <a:solidFill>
                      <a:schemeClr val="bg1"/>
                    </a:solidFill>
                    <a:effectLst/>
                    <a:latin typeface="Arial" charset="0"/>
                    <a:ea typeface="Arial Unicode MS" pitchFamily="34" charset="-128"/>
                    <a:cs typeface="Arial Unicode MS" pitchFamily="34" charset="-128"/>
                  </a:endParaRPr>
                </a:p>
              </p:txBody>
            </p:sp>
            <p:sp>
              <p:nvSpPr>
                <p:cNvPr id="14" name="Rectangle 13"/>
                <p:cNvSpPr/>
                <p:nvPr userDrawn="1"/>
              </p:nvSpPr>
              <p:spPr bwMode="black">
                <a:xfrm>
                  <a:off x="1243066" y="6322125"/>
                  <a:ext cx="568578" cy="179903"/>
                </a:xfrm>
                <a:prstGeom prst="rect">
                  <a:avLst/>
                </a:prstGeom>
              </p:spPr>
              <p:txBody>
                <a:bodyPr wrap="square" lIns="0" tIns="0" rIns="0" bIns="0" anchor="b">
                  <a:noAutofit/>
                </a:bodyPr>
                <a:lstStyle/>
                <a:p>
                  <a:pPr marL="0" marR="0" lvl="0" indent="0" algn="ctr" defTabSz="1218673" rtl="0" eaLnBrk="1" fontAlgn="ctr" latinLnBrk="0" hangingPunct="1">
                    <a:lnSpc>
                      <a:spcPct val="100000"/>
                    </a:lnSpc>
                    <a:spcBef>
                      <a:spcPct val="0"/>
                    </a:spcBef>
                    <a:spcAft>
                      <a:spcPct val="0"/>
                    </a:spcAft>
                    <a:buClrTx/>
                    <a:buSzTx/>
                    <a:buFontTx/>
                    <a:buNone/>
                    <a:tabLst/>
                    <a:defRPr/>
                  </a:pPr>
                  <a:r>
                    <a:rPr kumimoji="1" lang="en-GB" altLang="ja-JP" sz="750" b="0" i="0" u="none" strike="noStrike" kern="1200" cap="none" spc="0" normalizeH="0" baseline="0" noProof="0" dirty="0">
                      <a:ln>
                        <a:noFill/>
                      </a:ln>
                      <a:solidFill>
                        <a:srgbClr val="F00000"/>
                      </a:solidFill>
                      <a:effectLst/>
                      <a:uLnTx/>
                      <a:uFillTx/>
                      <a:latin typeface="Fujitsu Sans Medium" panose="020B0504060202020204" pitchFamily="34" charset="0"/>
                      <a:ea typeface="+mn-ea"/>
                      <a:cs typeface="+mn-cs"/>
                    </a:rPr>
                    <a:t>Unclassified</a:t>
                  </a:r>
                  <a:endParaRPr kumimoji="1" lang="en-US" altLang="ja-JP" sz="750" b="0" i="0" u="none" strike="noStrike" kern="1200" cap="none" spc="0" normalizeH="0" baseline="0" noProof="0" dirty="0">
                    <a:ln>
                      <a:noFill/>
                    </a:ln>
                    <a:solidFill>
                      <a:srgbClr val="F00000"/>
                    </a:solidFill>
                    <a:effectLst/>
                    <a:uLnTx/>
                    <a:uFillTx/>
                    <a:latin typeface="Fujitsu Sans Medium" panose="020B0504060202020204" pitchFamily="34" charset="0"/>
                    <a:ea typeface="+mn-ea"/>
                    <a:cs typeface="+mn-cs"/>
                  </a:endParaRPr>
                </a:p>
              </p:txBody>
            </p:sp>
          </p:grpSp>
        </p:grpSp>
      </p:grpSp>
      <p:pic>
        <p:nvPicPr>
          <p:cNvPr id="16" name="図 1"/>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0" y="0"/>
            <a:ext cx="13817600" cy="1333500"/>
          </a:xfrm>
          <a:prstGeom prst="rect">
            <a:avLst/>
          </a:prstGeom>
        </p:spPr>
      </p:pic>
      <p:pic>
        <p:nvPicPr>
          <p:cNvPr id="15" name="Picture 4"/>
          <p:cNvPicPr>
            <a:picLocks noChangeAspect="1" noChangeArrowheads="1"/>
          </p:cNvPicPr>
          <p:nvPr userDrawn="1"/>
        </p:nvPicPr>
        <p:blipFill>
          <a:blip r:embed="rId20">
            <a:extLst>
              <a:ext uri="{28A0092B-C50C-407E-A947-70E740481C1C}">
                <a14:useLocalDpi xmlns:a14="http://schemas.microsoft.com/office/drawing/2010/main" val="0"/>
              </a:ext>
            </a:extLst>
          </a:blip>
          <a:srcRect/>
          <a:stretch>
            <a:fillRect/>
          </a:stretch>
        </p:blipFill>
        <p:spPr bwMode="auto">
          <a:xfrm>
            <a:off x="12511314" y="0"/>
            <a:ext cx="1306286" cy="86957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userDrawn="1"/>
        </p:nvSpPr>
        <p:spPr>
          <a:xfrm rot="20005975">
            <a:off x="4569255" y="3067149"/>
            <a:ext cx="4152715" cy="1569660"/>
          </a:xfrm>
          <a:prstGeom prst="rect">
            <a:avLst/>
          </a:prstGeom>
          <a:noFill/>
        </p:spPr>
        <p:txBody>
          <a:bodyPr wrap="square" lIns="91440" tIns="45720" rIns="91440" bIns="45720">
            <a:spAutoFit/>
          </a:bodyPr>
          <a:lstStyle/>
          <a:p>
            <a:pPr algn="ctr"/>
            <a:r>
              <a:rPr lang="en-US" sz="9600" b="1" cap="none" spc="0" dirty="0">
                <a:ln w="22225">
                  <a:solidFill>
                    <a:schemeClr val="accent2"/>
                  </a:solidFill>
                  <a:prstDash val="solid"/>
                </a:ln>
                <a:solidFill>
                  <a:schemeClr val="accent5">
                    <a:lumMod val="10000"/>
                    <a:lumOff val="90000"/>
                  </a:schemeClr>
                </a:solidFill>
                <a:effectLst/>
              </a:rPr>
              <a:t>DRAFT</a:t>
            </a:r>
          </a:p>
        </p:txBody>
      </p:sp>
    </p:spTree>
    <p:extLst>
      <p:ext uri="{BB962C8B-B14F-4D97-AF65-F5344CB8AC3E}">
        <p14:creationId xmlns:p14="http://schemas.microsoft.com/office/powerpoint/2010/main" val="4023744030"/>
      </p:ext>
    </p:extLst>
  </p:cSld>
  <p:clrMap bg1="lt1" tx1="dk1" bg2="lt2" tx2="dk2" accent1="accent1" accent2="accent2" accent3="accent3" accent4="accent4" accent5="accent5" accent6="accent6" hlink="hlink" folHlink="folHlink"/>
  <p:sldLayoutIdLst>
    <p:sldLayoutId id="2147483680" r:id="rId1"/>
    <p:sldLayoutId id="2147483698" r:id="rId2"/>
    <p:sldLayoutId id="2147483704" r:id="rId3"/>
    <p:sldLayoutId id="2147483703" r:id="rId4"/>
    <p:sldLayoutId id="2147483696" r:id="rId5"/>
    <p:sldLayoutId id="2147483678" r:id="rId6"/>
    <p:sldLayoutId id="2147483710" r:id="rId7"/>
    <p:sldLayoutId id="2147483711" r:id="rId8"/>
    <p:sldLayoutId id="2147483697" r:id="rId9"/>
    <p:sldLayoutId id="2147483699" r:id="rId10"/>
    <p:sldLayoutId id="2147483708" r:id="rId11"/>
    <p:sldLayoutId id="2147483705" r:id="rId12"/>
    <p:sldLayoutId id="2147483707" r:id="rId13"/>
    <p:sldLayoutId id="2147483701" r:id="rId14"/>
    <p:sldLayoutId id="2147483713" r:id="rId15"/>
    <p:sldLayoutId id="2147483702" r:id="rId16"/>
    <p:sldLayoutId id="2147483709" r:id="rId17"/>
  </p:sldLayoutIdLst>
  <p:hf sldNum="0" hdr="0" ftr="0" dt="0"/>
  <p:txStyles>
    <p:titleStyle>
      <a:lvl1pPr algn="ctr" defTabSz="1381683" rtl="0" eaLnBrk="1" latinLnBrk="0" hangingPunct="1">
        <a:spcBef>
          <a:spcPct val="0"/>
        </a:spcBef>
        <a:buNone/>
        <a:defRPr sz="6649" kern="1200">
          <a:solidFill>
            <a:schemeClr val="tx1"/>
          </a:solidFill>
          <a:latin typeface="+mj-lt"/>
          <a:ea typeface="+mj-ea"/>
          <a:cs typeface="+mj-cs"/>
        </a:defRPr>
      </a:lvl1pPr>
    </p:titleStyle>
    <p:bodyStyle>
      <a:lvl1pPr marL="518129" indent="-518129" algn="l" defTabSz="1381683" rtl="0" eaLnBrk="1" latinLnBrk="0" hangingPunct="1">
        <a:spcBef>
          <a:spcPct val="20000"/>
        </a:spcBef>
        <a:buFont typeface="Arial" panose="020B0604020202020204" pitchFamily="34" charset="0"/>
        <a:buChar char="•"/>
        <a:defRPr sz="4835" kern="1200">
          <a:solidFill>
            <a:schemeClr val="tx1"/>
          </a:solidFill>
          <a:latin typeface="+mn-lt"/>
          <a:ea typeface="+mn-ea"/>
          <a:cs typeface="+mn-cs"/>
        </a:defRPr>
      </a:lvl1pPr>
      <a:lvl2pPr marL="1122618" indent="-431777" algn="l" defTabSz="1381683" rtl="0" eaLnBrk="1" latinLnBrk="0" hangingPunct="1">
        <a:spcBef>
          <a:spcPct val="20000"/>
        </a:spcBef>
        <a:buFont typeface="Arial" panose="020B0604020202020204" pitchFamily="34" charset="0"/>
        <a:buChar char="–"/>
        <a:defRPr sz="4231" kern="1200">
          <a:solidFill>
            <a:schemeClr val="tx1"/>
          </a:solidFill>
          <a:latin typeface="+mn-lt"/>
          <a:ea typeface="+mn-ea"/>
          <a:cs typeface="+mn-cs"/>
        </a:defRPr>
      </a:lvl2pPr>
      <a:lvl3pPr marL="1727102" indent="-345421" algn="l" defTabSz="1381683" rtl="0" eaLnBrk="1" latinLnBrk="0" hangingPunct="1">
        <a:spcBef>
          <a:spcPct val="20000"/>
        </a:spcBef>
        <a:buFont typeface="Arial" panose="020B0604020202020204" pitchFamily="34" charset="0"/>
        <a:buChar char="•"/>
        <a:defRPr sz="3627" kern="1200">
          <a:solidFill>
            <a:schemeClr val="tx1"/>
          </a:solidFill>
          <a:latin typeface="+mn-lt"/>
          <a:ea typeface="+mn-ea"/>
          <a:cs typeface="+mn-cs"/>
        </a:defRPr>
      </a:lvl3pPr>
      <a:lvl4pPr marL="2417943"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4pPr>
      <a:lvl5pPr marL="3108786"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5pPr>
      <a:lvl6pPr marL="3799627"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6pPr>
      <a:lvl7pPr marL="4490467"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7pPr>
      <a:lvl8pPr marL="5181309"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8pPr>
      <a:lvl9pPr marL="5872150" indent="-345421" algn="l" defTabSz="1381683" rtl="0" eaLnBrk="1" latinLnBrk="0" hangingPunct="1">
        <a:spcBef>
          <a:spcPct val="20000"/>
        </a:spcBef>
        <a:buFont typeface="Arial" panose="020B0604020202020204" pitchFamily="34" charset="0"/>
        <a:buChar char="•"/>
        <a:defRPr sz="3022" kern="1200">
          <a:solidFill>
            <a:schemeClr val="tx1"/>
          </a:solidFill>
          <a:latin typeface="+mn-lt"/>
          <a:ea typeface="+mn-ea"/>
          <a:cs typeface="+mn-cs"/>
        </a:defRPr>
      </a:lvl9pPr>
    </p:bodyStyle>
    <p:otherStyle>
      <a:defPPr>
        <a:defRPr lang="en-US"/>
      </a:defPPr>
      <a:lvl1pPr marL="0" algn="l" defTabSz="1381683" rtl="0" eaLnBrk="1" latinLnBrk="0" hangingPunct="1">
        <a:defRPr sz="2720" kern="1200">
          <a:solidFill>
            <a:schemeClr val="tx1"/>
          </a:solidFill>
          <a:latin typeface="+mn-lt"/>
          <a:ea typeface="+mn-ea"/>
          <a:cs typeface="+mn-cs"/>
        </a:defRPr>
      </a:lvl1pPr>
      <a:lvl2pPr marL="690843" algn="l" defTabSz="1381683" rtl="0" eaLnBrk="1" latinLnBrk="0" hangingPunct="1">
        <a:defRPr sz="2720" kern="1200">
          <a:solidFill>
            <a:schemeClr val="tx1"/>
          </a:solidFill>
          <a:latin typeface="+mn-lt"/>
          <a:ea typeface="+mn-ea"/>
          <a:cs typeface="+mn-cs"/>
        </a:defRPr>
      </a:lvl2pPr>
      <a:lvl3pPr marL="1381683" algn="l" defTabSz="1381683" rtl="0" eaLnBrk="1" latinLnBrk="0" hangingPunct="1">
        <a:defRPr sz="2720" kern="1200">
          <a:solidFill>
            <a:schemeClr val="tx1"/>
          </a:solidFill>
          <a:latin typeface="+mn-lt"/>
          <a:ea typeface="+mn-ea"/>
          <a:cs typeface="+mn-cs"/>
        </a:defRPr>
      </a:lvl3pPr>
      <a:lvl4pPr marL="2072525" algn="l" defTabSz="1381683" rtl="0" eaLnBrk="1" latinLnBrk="0" hangingPunct="1">
        <a:defRPr sz="2720" kern="1200">
          <a:solidFill>
            <a:schemeClr val="tx1"/>
          </a:solidFill>
          <a:latin typeface="+mn-lt"/>
          <a:ea typeface="+mn-ea"/>
          <a:cs typeface="+mn-cs"/>
        </a:defRPr>
      </a:lvl4pPr>
      <a:lvl5pPr marL="2763365" algn="l" defTabSz="1381683" rtl="0" eaLnBrk="1" latinLnBrk="0" hangingPunct="1">
        <a:defRPr sz="2720" kern="1200">
          <a:solidFill>
            <a:schemeClr val="tx1"/>
          </a:solidFill>
          <a:latin typeface="+mn-lt"/>
          <a:ea typeface="+mn-ea"/>
          <a:cs typeface="+mn-cs"/>
        </a:defRPr>
      </a:lvl5pPr>
      <a:lvl6pPr marL="3454206" algn="l" defTabSz="1381683" rtl="0" eaLnBrk="1" latinLnBrk="0" hangingPunct="1">
        <a:defRPr sz="2720" kern="1200">
          <a:solidFill>
            <a:schemeClr val="tx1"/>
          </a:solidFill>
          <a:latin typeface="+mn-lt"/>
          <a:ea typeface="+mn-ea"/>
          <a:cs typeface="+mn-cs"/>
        </a:defRPr>
      </a:lvl6pPr>
      <a:lvl7pPr marL="4145045" algn="l" defTabSz="1381683" rtl="0" eaLnBrk="1" latinLnBrk="0" hangingPunct="1">
        <a:defRPr sz="2720" kern="1200">
          <a:solidFill>
            <a:schemeClr val="tx1"/>
          </a:solidFill>
          <a:latin typeface="+mn-lt"/>
          <a:ea typeface="+mn-ea"/>
          <a:cs typeface="+mn-cs"/>
        </a:defRPr>
      </a:lvl7pPr>
      <a:lvl8pPr marL="4835887" algn="l" defTabSz="1381683" rtl="0" eaLnBrk="1" latinLnBrk="0" hangingPunct="1">
        <a:defRPr sz="2720" kern="1200">
          <a:solidFill>
            <a:schemeClr val="tx1"/>
          </a:solidFill>
          <a:latin typeface="+mn-lt"/>
          <a:ea typeface="+mn-ea"/>
          <a:cs typeface="+mn-cs"/>
        </a:defRPr>
      </a:lvl8pPr>
      <a:lvl9pPr marL="5526729" algn="l" defTabSz="1381683" rtl="0" eaLnBrk="1" latinLnBrk="0" hangingPunct="1">
        <a:defRPr sz="27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6.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6.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2.xml"/><Relationship Id="rId1" Type="http://schemas.openxmlformats.org/officeDocument/2006/relationships/slideLayout" Target="../slideLayouts/slideLayout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2.xml"/><Relationship Id="rId1" Type="http://schemas.openxmlformats.org/officeDocument/2006/relationships/slideLayout" Target="../slideLayouts/slideLayout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6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59.xml"/><Relationship Id="rId1" Type="http://schemas.openxmlformats.org/officeDocument/2006/relationships/slideLayout" Target="../slideLayouts/slideLayout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6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62.xml"/><Relationship Id="rId1" Type="http://schemas.openxmlformats.org/officeDocument/2006/relationships/slideLayout" Target="../slideLayouts/slideLayout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0.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0.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4.xml"/><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5.xml"/><Relationship Id="rId1" Type="http://schemas.openxmlformats.org/officeDocument/2006/relationships/slideLayout" Target="../slideLayouts/slideLayout11.xml"/></Relationships>
</file>

<file path=ppt/slides/_rels/slide8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11.xml"/></Relationships>
</file>

<file path=ppt/slides/_rels/slide8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1.xml"/><Relationship Id="rId1" Type="http://schemas.openxmlformats.org/officeDocument/2006/relationships/slideLayout" Target="../slideLayouts/slideLayout11.xml"/></Relationships>
</file>

<file path=ppt/slides/_rels/slide9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4.xml"/><Relationship Id="rId1" Type="http://schemas.openxmlformats.org/officeDocument/2006/relationships/slideLayout" Target="../slideLayouts/slideLayout11.xml"/></Relationships>
</file>

<file path=ppt/slides/_rels/slide9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7.xml"/><Relationship Id="rId1" Type="http://schemas.openxmlformats.org/officeDocument/2006/relationships/slideLayout" Target="../slideLayouts/slideLayout11.xml"/></Relationships>
</file>

<file path=ppt/slides/_rels/slide9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9.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11.xml"/></Relationships>
</file>

<file path=ppt/slides/_rels/slide9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3.xml"/><Relationship Id="rId1" Type="http://schemas.openxmlformats.org/officeDocument/2006/relationships/slideLayout" Target="../slideLayouts/slideLayout11.xml"/></Relationships>
</file>

<file path=ppt/slides/_rels/slide10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11.xml"/></Relationships>
</file>

<file path=ppt/slides/_rels/slide10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9.xml"/><Relationship Id="rId1" Type="http://schemas.openxmlformats.org/officeDocument/2006/relationships/slideLayout" Target="../slideLayouts/slideLayout11.xml"/></Relationships>
</file>

<file path=ppt/slides/_rels/slide10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2.xml"/><Relationship Id="rId1" Type="http://schemas.openxmlformats.org/officeDocument/2006/relationships/slideLayout" Target="../slideLayouts/slideLayout11.xml"/></Relationships>
</file>

<file path=ppt/slides/_rels/slide1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4.xml"/></Relationships>
</file>

<file path=ppt/slides/_rels/slide1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6.xml"/><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20.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9.xml"/></Relationships>
</file>

<file path=ppt/slides/_rels/slide1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11.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460586" y="5216035"/>
            <a:ext cx="13049956" cy="1376787"/>
          </a:xfrm>
          <a:prstGeom prst="rect">
            <a:avLst/>
          </a:prstGeom>
          <a:noFill/>
          <a:ln>
            <a:noFill/>
          </a:ln>
        </p:spPr>
        <p:txBody>
          <a:bodyPr wrap="square" lIns="138176" tIns="69088" rIns="138176" bIns="69088" rtlCol="0">
            <a:spAutoFit/>
          </a:bodyPr>
          <a:lstStyle/>
          <a:p>
            <a:pPr algn="r"/>
            <a:r>
              <a:rPr lang="en-US" sz="5640" b="1" dirty="0">
                <a:solidFill>
                  <a:schemeClr val="bg1"/>
                </a:solidFill>
                <a:latin typeface="Fujitsu Sans Medium" panose="020B0504060202020204" pitchFamily="34" charset="0"/>
                <a:cs typeface="Arial" panose="020B0604020202020204" pitchFamily="34" charset="0"/>
              </a:rPr>
              <a:t>Managing Fixed Assets</a:t>
            </a:r>
            <a:br>
              <a:rPr lang="en-US" sz="5640" b="1" dirty="0">
                <a:solidFill>
                  <a:schemeClr val="bg1"/>
                </a:solidFill>
                <a:latin typeface="Fujitsu Sans Medium" panose="020B0504060202020204" pitchFamily="34" charset="0"/>
                <a:cs typeface="Arial" panose="020B0604020202020204" pitchFamily="34" charset="0"/>
              </a:rPr>
            </a:br>
            <a:r>
              <a:rPr lang="en-US" sz="2400" b="1" dirty="0" smtClean="0">
                <a:solidFill>
                  <a:schemeClr val="bg1"/>
                </a:solidFill>
                <a:latin typeface="Fujitsu Sans Medium" panose="020B0504060202020204" pitchFamily="34" charset="0"/>
                <a:cs typeface="Arial" panose="020B0604020202020204" pitchFamily="34" charset="0"/>
              </a:rPr>
              <a:t>RTR AA Managing Fixed Assets - DRAFTC</a:t>
            </a:r>
            <a:endParaRPr lang="en-US" sz="5640" b="1" dirty="0">
              <a:solidFill>
                <a:schemeClr val="tx1">
                  <a:lumMod val="50000"/>
                  <a:lumOff val="50000"/>
                </a:schemeClr>
              </a:solidFill>
              <a:latin typeface="Fujitsu Sans Medium" panose="020B0504060202020204" pitchFamily="34" charset="0"/>
              <a:cs typeface="Arial" panose="020B0604020202020204" pitchFamily="34" charset="0"/>
            </a:endParaRPr>
          </a:p>
        </p:txBody>
      </p:sp>
      <p:sp>
        <p:nvSpPr>
          <p:cNvPr id="7" name="Title 6"/>
          <p:cNvSpPr>
            <a:spLocks noGrp="1"/>
          </p:cNvSpPr>
          <p:nvPr>
            <p:ph type="title"/>
          </p:nvPr>
        </p:nvSpPr>
        <p:spPr/>
        <p:txBody>
          <a:bodyPr/>
          <a:lstStyle/>
          <a:p>
            <a:endParaRPr lang="en-US" dirty="0"/>
          </a:p>
        </p:txBody>
      </p:sp>
    </p:spTree>
    <p:extLst>
      <p:ext uri="{BB962C8B-B14F-4D97-AF65-F5344CB8AC3E}">
        <p14:creationId xmlns:p14="http://schemas.microsoft.com/office/powerpoint/2010/main" val="107744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10000"/>
          </a:blip>
          <a:stretch>
            <a:fillRect/>
          </a:stretch>
        </p:blipFill>
        <p:spPr>
          <a:xfrm>
            <a:off x="11806075" y="6449818"/>
            <a:ext cx="2011525" cy="1332309"/>
          </a:xfrm>
          <a:prstGeom prst="rect">
            <a:avLst/>
          </a:prstGeom>
        </p:spPr>
      </p:pic>
      <p:sp>
        <p:nvSpPr>
          <p:cNvPr id="2" name="Title 1"/>
          <p:cNvSpPr>
            <a:spLocks noGrp="1"/>
          </p:cNvSpPr>
          <p:nvPr>
            <p:ph type="title"/>
          </p:nvPr>
        </p:nvSpPr>
        <p:spPr/>
        <p:txBody>
          <a:bodyPr/>
          <a:lstStyle/>
          <a:p>
            <a:r>
              <a:rPr lang="en-US" dirty="0"/>
              <a:t>Prerequisites and Ground Rules</a:t>
            </a:r>
          </a:p>
        </p:txBody>
      </p:sp>
      <p:sp>
        <p:nvSpPr>
          <p:cNvPr id="10" name="Content Placeholder 9"/>
          <p:cNvSpPr>
            <a:spLocks noGrp="1"/>
          </p:cNvSpPr>
          <p:nvPr>
            <p:ph idx="1"/>
          </p:nvPr>
        </p:nvSpPr>
        <p:spPr/>
        <p:txBody>
          <a:bodyPr>
            <a:normAutofit fontScale="77500" lnSpcReduction="20000"/>
          </a:bodyPr>
          <a:lstStyle/>
          <a:p>
            <a:r>
              <a:rPr lang="en-US" dirty="0"/>
              <a:t>Ground Rules</a:t>
            </a:r>
          </a:p>
          <a:p>
            <a:pPr lvl="1"/>
            <a:r>
              <a:rPr lang="en-US" dirty="0"/>
              <a:t>Single conversation</a:t>
            </a:r>
          </a:p>
          <a:p>
            <a:pPr lvl="1"/>
            <a:r>
              <a:rPr lang="en-US" dirty="0"/>
              <a:t>Please “Raise Hand” in Teams</a:t>
            </a:r>
          </a:p>
          <a:p>
            <a:r>
              <a:rPr lang="en-US" altLang="en-US" dirty="0"/>
              <a:t>Prerequisites</a:t>
            </a:r>
          </a:p>
          <a:p>
            <a:pPr lvl="1"/>
            <a:r>
              <a:rPr lang="en-US" altLang="en-US" dirty="0"/>
              <a:t>SAP Overview &amp; Navigation</a:t>
            </a:r>
          </a:p>
          <a:p>
            <a:r>
              <a:rPr lang="en-US" altLang="en-US" dirty="0"/>
              <a:t>Roles</a:t>
            </a:r>
          </a:p>
          <a:p>
            <a:pPr lvl="1"/>
            <a:r>
              <a:rPr lang="en-US" altLang="en-US" dirty="0"/>
              <a:t>Employee </a:t>
            </a:r>
          </a:p>
          <a:p>
            <a:pPr lvl="1"/>
            <a:r>
              <a:rPr lang="en-US" altLang="en-US" dirty="0"/>
              <a:t>Asset Accountant </a:t>
            </a:r>
          </a:p>
          <a:p>
            <a:pPr lvl="1"/>
            <a:r>
              <a:rPr lang="en-US" altLang="en-US" dirty="0"/>
              <a:t>Accounts Payable Accountant</a:t>
            </a:r>
          </a:p>
          <a:p>
            <a:pPr lvl="1"/>
            <a:r>
              <a:rPr lang="en-US" altLang="en-US" dirty="0"/>
              <a:t>General Ledger Accountant</a:t>
            </a:r>
          </a:p>
          <a:p>
            <a:r>
              <a:rPr lang="en-US" altLang="en-US" dirty="0"/>
              <a:t>Duration of Class</a:t>
            </a:r>
          </a:p>
          <a:p>
            <a:pPr lvl="1"/>
            <a:r>
              <a:rPr lang="en-US" altLang="en-US" dirty="0"/>
              <a:t>5 hrs</a:t>
            </a:r>
          </a:p>
          <a:p>
            <a:r>
              <a:rPr lang="en-US" altLang="en-US" dirty="0"/>
              <a:t>Class Attendance</a:t>
            </a:r>
          </a:p>
          <a:p>
            <a:pPr lvl="1"/>
            <a:r>
              <a:rPr lang="en-US" altLang="en-US" dirty="0"/>
              <a:t>Attendance log</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r>
              <a:rPr lang="en-US" altLang="en-US" sz="1600" dirty="0"/>
              <a:t>2</a:t>
            </a:r>
          </a:p>
        </p:txBody>
      </p:sp>
    </p:spTree>
    <p:extLst>
      <p:ext uri="{BB962C8B-B14F-4D97-AF65-F5344CB8AC3E}">
        <p14:creationId xmlns:p14="http://schemas.microsoft.com/office/powerpoint/2010/main" val="2878668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lum bright="10000"/>
          </a:blip>
          <a:stretch>
            <a:fillRect/>
          </a:stretch>
        </p:blipFill>
        <p:spPr>
          <a:xfrm>
            <a:off x="11806075" y="6449818"/>
            <a:ext cx="2011525" cy="1332309"/>
          </a:xfrm>
          <a:prstGeom prst="rect">
            <a:avLst/>
          </a:prstGeom>
        </p:spPr>
      </p:pic>
      <p:sp>
        <p:nvSpPr>
          <p:cNvPr id="2" name="Title 1"/>
          <p:cNvSpPr>
            <a:spLocks noGrp="1"/>
          </p:cNvSpPr>
          <p:nvPr>
            <p:ph type="title"/>
          </p:nvPr>
        </p:nvSpPr>
        <p:spPr/>
        <p:txBody>
          <a:bodyPr/>
          <a:lstStyle/>
          <a:p>
            <a:r>
              <a:rPr lang="en-US" dirty="0"/>
              <a:t>Welcome!</a:t>
            </a:r>
          </a:p>
        </p:txBody>
      </p:sp>
      <p:sp>
        <p:nvSpPr>
          <p:cNvPr id="10" name="Content Placeholder 9"/>
          <p:cNvSpPr>
            <a:spLocks noGrp="1"/>
          </p:cNvSpPr>
          <p:nvPr>
            <p:ph idx="1"/>
          </p:nvPr>
        </p:nvSpPr>
        <p:spPr/>
        <p:txBody>
          <a:bodyPr/>
          <a:lstStyle/>
          <a:p>
            <a:r>
              <a:rPr lang="en-US" dirty="0"/>
              <a:t>Classroom Logistics</a:t>
            </a:r>
          </a:p>
          <a:p>
            <a:pPr lvl="1"/>
            <a:r>
              <a:rPr lang="en-US" dirty="0"/>
              <a:t>Computer and User IDs</a:t>
            </a:r>
          </a:p>
          <a:p>
            <a:pPr lvl="1"/>
            <a:r>
              <a:rPr lang="en-US" dirty="0"/>
              <a:t>Course schedule: duration and breaks</a:t>
            </a:r>
          </a:p>
          <a:p>
            <a:pPr lvl="1"/>
            <a:r>
              <a:rPr lang="en-US" dirty="0"/>
              <a:t>Facilities and breakroom</a:t>
            </a:r>
          </a:p>
          <a:p>
            <a:pPr lvl="1"/>
            <a:r>
              <a:rPr lang="en-US" dirty="0"/>
              <a:t>Attendance Sheet</a:t>
            </a:r>
          </a:p>
          <a:p>
            <a:pPr lvl="1"/>
            <a:r>
              <a:rPr lang="en-US" dirty="0"/>
              <a:t>Parking Lot</a:t>
            </a:r>
          </a:p>
          <a:p>
            <a:r>
              <a:rPr lang="en-US" dirty="0"/>
              <a:t>Safety concerns (as needed)</a:t>
            </a:r>
          </a:p>
          <a:p>
            <a:r>
              <a:rPr lang="en-US" dirty="0"/>
              <a:t>Hand out copies of all written materials (as appropriate)</a:t>
            </a:r>
            <a:endParaRPr lang="en-US" altLang="en-US" dirty="0"/>
          </a:p>
          <a:p>
            <a:pPr lvl="1"/>
            <a:endParaRPr 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r>
              <a:rPr lang="en-US" altLang="en-US" sz="1600" dirty="0"/>
              <a:t>3</a:t>
            </a:r>
          </a:p>
        </p:txBody>
      </p:sp>
      <p:sp>
        <p:nvSpPr>
          <p:cNvPr id="3" name="Rectangle 2">
            <a:extLst>
              <a:ext uri="{FF2B5EF4-FFF2-40B4-BE49-F238E27FC236}">
                <a16:creationId xmlns:a16="http://schemas.microsoft.com/office/drawing/2014/main" id="{D6519335-39E5-4BB2-B2BB-78DD3BA45AAC}"/>
              </a:ext>
            </a:extLst>
          </p:cNvPr>
          <p:cNvSpPr/>
          <p:nvPr/>
        </p:nvSpPr>
        <p:spPr>
          <a:xfrm>
            <a:off x="6777995" y="3634368"/>
            <a:ext cx="261610" cy="503664"/>
          </a:xfrm>
          <a:prstGeom prst="rect">
            <a:avLst/>
          </a:prstGeom>
        </p:spPr>
        <p:txBody>
          <a:bodyPr wrap="none">
            <a:spAutoFit/>
          </a:bodyPr>
          <a:lstStyle/>
          <a:p>
            <a:r>
              <a:rPr lang="en-US" dirty="0"/>
              <a:t> </a:t>
            </a:r>
          </a:p>
        </p:txBody>
      </p:sp>
    </p:spTree>
    <p:extLst>
      <p:ext uri="{BB962C8B-B14F-4D97-AF65-F5344CB8AC3E}">
        <p14:creationId xmlns:p14="http://schemas.microsoft.com/office/powerpoint/2010/main" val="7964670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lum bright="10000"/>
          </a:blip>
          <a:stretch>
            <a:fillRect/>
          </a:stretch>
        </p:blipFill>
        <p:spPr>
          <a:xfrm>
            <a:off x="11806075" y="6449818"/>
            <a:ext cx="2011525" cy="1332309"/>
          </a:xfrm>
          <a:prstGeom prst="rect">
            <a:avLst/>
          </a:prstGeom>
        </p:spPr>
      </p:pic>
      <p:sp>
        <p:nvSpPr>
          <p:cNvPr id="2" name="Title 1"/>
          <p:cNvSpPr>
            <a:spLocks noGrp="1"/>
          </p:cNvSpPr>
          <p:nvPr>
            <p:ph type="title"/>
          </p:nvPr>
        </p:nvSpPr>
        <p:spPr/>
        <p:txBody>
          <a:bodyPr/>
          <a:lstStyle/>
          <a:p>
            <a:r>
              <a:rPr lang="en-US" dirty="0"/>
              <a:t>Welcome to Virtual Training!</a:t>
            </a:r>
          </a:p>
        </p:txBody>
      </p:sp>
      <p:sp>
        <p:nvSpPr>
          <p:cNvPr id="10" name="Content Placeholder 9"/>
          <p:cNvSpPr>
            <a:spLocks noGrp="1"/>
          </p:cNvSpPr>
          <p:nvPr>
            <p:ph idx="1"/>
          </p:nvPr>
        </p:nvSpPr>
        <p:spPr/>
        <p:txBody>
          <a:bodyPr/>
          <a:lstStyle/>
          <a:p>
            <a:r>
              <a:rPr lang="en-US" dirty="0"/>
              <a:t>Classroom Logistics</a:t>
            </a:r>
          </a:p>
          <a:p>
            <a:pPr lvl="1"/>
            <a:r>
              <a:rPr lang="en-US" dirty="0"/>
              <a:t>Computer and User IDs</a:t>
            </a:r>
          </a:p>
          <a:p>
            <a:pPr lvl="1"/>
            <a:r>
              <a:rPr lang="en-US" dirty="0"/>
              <a:t>Course schedule: duration</a:t>
            </a:r>
          </a:p>
          <a:p>
            <a:pPr lvl="1"/>
            <a:r>
              <a:rPr lang="en-US" dirty="0"/>
              <a:t>Attendance Tracking</a:t>
            </a:r>
          </a:p>
          <a:p>
            <a:pPr lvl="1"/>
            <a:r>
              <a:rPr lang="en-US" dirty="0"/>
              <a:t>Parking Lot</a:t>
            </a:r>
          </a:p>
          <a:p>
            <a:r>
              <a:rPr lang="en-US" dirty="0"/>
              <a:t>Check: Participants have copies of all materials</a:t>
            </a:r>
          </a:p>
          <a:p>
            <a:r>
              <a:rPr lang="en-US" altLang="en-US" dirty="0"/>
              <a:t>Link to electronic versions of Work Instructions, Job Aids, and SIMs at </a:t>
            </a:r>
            <a:r>
              <a:rPr lang="en-US" altLang="en-US" dirty="0">
                <a:solidFill>
                  <a:srgbClr val="0070C0"/>
                </a:solidFill>
              </a:rPr>
              <a:t>SuccessFactors</a:t>
            </a:r>
          </a:p>
          <a:p>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r>
              <a:rPr lang="en-US" altLang="en-US" sz="1600" dirty="0"/>
              <a:t>3</a:t>
            </a:r>
          </a:p>
        </p:txBody>
      </p:sp>
      <p:sp>
        <p:nvSpPr>
          <p:cNvPr id="3" name="Rectangle 2">
            <a:extLst>
              <a:ext uri="{FF2B5EF4-FFF2-40B4-BE49-F238E27FC236}">
                <a16:creationId xmlns:a16="http://schemas.microsoft.com/office/drawing/2014/main" id="{D6519335-39E5-4BB2-B2BB-78DD3BA45AAC}"/>
              </a:ext>
            </a:extLst>
          </p:cNvPr>
          <p:cNvSpPr/>
          <p:nvPr/>
        </p:nvSpPr>
        <p:spPr>
          <a:xfrm>
            <a:off x="6777995" y="3634368"/>
            <a:ext cx="261610" cy="503664"/>
          </a:xfrm>
          <a:prstGeom prst="rect">
            <a:avLst/>
          </a:prstGeom>
        </p:spPr>
        <p:txBody>
          <a:bodyPr wrap="none">
            <a:spAutoFit/>
          </a:bodyPr>
          <a:lstStyle/>
          <a:p>
            <a:r>
              <a:rPr lang="en-US" dirty="0"/>
              <a:t> </a:t>
            </a:r>
          </a:p>
        </p:txBody>
      </p:sp>
    </p:spTree>
    <p:extLst>
      <p:ext uri="{BB962C8B-B14F-4D97-AF65-F5344CB8AC3E}">
        <p14:creationId xmlns:p14="http://schemas.microsoft.com/office/powerpoint/2010/main" val="36104991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ss00071"/>
          <p:cNvPicPr>
            <a:picLocks noChangeAspect="1" noChangeArrowheads="1"/>
          </p:cNvPicPr>
          <p:nvPr/>
        </p:nvPicPr>
        <p:blipFill>
          <a:blip r:embed="rId3">
            <a:lum bright="76000" contrast="-70000"/>
            <a:extLst>
              <a:ext uri="{28A0092B-C50C-407E-A947-70E740481C1C}">
                <a14:useLocalDpi xmlns:a14="http://schemas.microsoft.com/office/drawing/2010/main" val="0"/>
              </a:ext>
            </a:extLst>
          </a:blip>
          <a:srcRect t="16046"/>
          <a:stretch>
            <a:fillRect/>
          </a:stretch>
        </p:blipFill>
        <p:spPr bwMode="auto">
          <a:xfrm>
            <a:off x="12090401"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3"/>
          <p:cNvSpPr>
            <a:spLocks noGrp="1" noChangeArrowheads="1"/>
          </p:cNvSpPr>
          <p:nvPr>
            <p:ph type="title"/>
          </p:nvPr>
        </p:nvSpPr>
        <p:spPr/>
        <p:txBody>
          <a:bodyPr/>
          <a:lstStyle/>
          <a:p>
            <a:r>
              <a:rPr lang="en-US" altLang="en-US" dirty="0"/>
              <a:t>Course Objectives</a:t>
            </a:r>
          </a:p>
        </p:txBody>
      </p:sp>
      <p:sp>
        <p:nvSpPr>
          <p:cNvPr id="43013" name="Rectangle 4"/>
          <p:cNvSpPr>
            <a:spLocks noGrp="1" noChangeArrowheads="1"/>
          </p:cNvSpPr>
          <p:nvPr>
            <p:ph idx="1"/>
          </p:nvPr>
        </p:nvSpPr>
        <p:spPr/>
        <p:txBody>
          <a:bodyPr/>
          <a:lstStyle/>
          <a:p>
            <a:pPr marL="0" indent="0">
              <a:buNone/>
            </a:pPr>
            <a:r>
              <a:rPr lang="en-US" altLang="en-US" dirty="0"/>
              <a:t>You should be able to:</a:t>
            </a:r>
          </a:p>
          <a:p>
            <a:r>
              <a:rPr lang="en-US" altLang="en-US" dirty="0"/>
              <a:t>Describe the fixed assets process</a:t>
            </a:r>
          </a:p>
          <a:p>
            <a:r>
              <a:rPr lang="en-US" altLang="en-US" dirty="0"/>
              <a:t>Create Asset Master Data</a:t>
            </a:r>
          </a:p>
          <a:p>
            <a:r>
              <a:rPr lang="en-US" altLang="en-US" dirty="0"/>
              <a:t>Process different types of transfers</a:t>
            </a:r>
          </a:p>
          <a:p>
            <a:r>
              <a:rPr lang="en-US" altLang="en-US" dirty="0"/>
              <a:t>Perform the various methods for depreciating assets</a:t>
            </a:r>
          </a:p>
          <a:p>
            <a:r>
              <a:rPr lang="en-US" altLang="en-US" dirty="0"/>
              <a:t>Generate </a:t>
            </a:r>
            <a:r>
              <a:rPr lang="en-US" altLang="en-US" dirty="0" smtClean="0"/>
              <a:t>fixed assets reports</a:t>
            </a:r>
            <a:endParaRPr lang="en-US" altLang="en-US" dirty="0"/>
          </a:p>
          <a:p>
            <a:endParaRPr lang="en-US" altLang="en-US" dirty="0"/>
          </a:p>
          <a:p>
            <a:endParaRPr lang="en-US" altLang="en-US" dirty="0"/>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5</a:t>
            </a:fld>
            <a:endParaRPr lang="en-US" altLang="en-US" sz="1600" dirty="0"/>
          </a:p>
        </p:txBody>
      </p:sp>
    </p:spTree>
    <p:extLst>
      <p:ext uri="{BB962C8B-B14F-4D97-AF65-F5344CB8AC3E}">
        <p14:creationId xmlns:p14="http://schemas.microsoft.com/office/powerpoint/2010/main" val="289253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t>
            </a:r>
            <a:r>
              <a:rPr lang="en-US" altLang="en-US" dirty="0" smtClean="0"/>
              <a:t>Fixed Assets Reports (60 </a:t>
            </a:r>
            <a:r>
              <a:rPr lang="en-US" altLang="en-US" dirty="0"/>
              <a:t>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6</a:t>
            </a:fld>
            <a:endParaRPr lang="en-US" altLang="en-US" sz="1600" dirty="0"/>
          </a:p>
        </p:txBody>
      </p:sp>
      <p:sp>
        <p:nvSpPr>
          <p:cNvPr id="13" name="Rectangle 12"/>
          <p:cNvSpPr>
            <a:spLocks noChangeArrowheads="1"/>
          </p:cNvSpPr>
          <p:nvPr/>
        </p:nvSpPr>
        <p:spPr bwMode="auto">
          <a:xfrm>
            <a:off x="389791" y="1052831"/>
            <a:ext cx="9831170" cy="68988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2206585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1</a:t>
            </a:r>
          </a:p>
        </p:txBody>
      </p:sp>
      <p:sp>
        <p:nvSpPr>
          <p:cNvPr id="43013" name="Rectangle 4"/>
          <p:cNvSpPr>
            <a:spLocks noGrp="1" noChangeArrowheads="1"/>
          </p:cNvSpPr>
          <p:nvPr>
            <p:ph idx="1"/>
          </p:nvPr>
        </p:nvSpPr>
        <p:spPr/>
        <p:txBody>
          <a:bodyPr/>
          <a:lstStyle/>
          <a:p>
            <a:pPr marL="0" indent="0">
              <a:buNone/>
            </a:pPr>
            <a:r>
              <a:rPr lang="en-US" altLang="en-US" dirty="0"/>
              <a:t>You should be able to:</a:t>
            </a:r>
          </a:p>
          <a:p>
            <a:r>
              <a:rPr lang="en-US" altLang="en-US" dirty="0"/>
              <a:t>Describe the fixed assets process</a:t>
            </a:r>
          </a:p>
          <a:p>
            <a:r>
              <a:rPr lang="en-US" altLang="en-US" dirty="0"/>
              <a:t>Define new SAP terms for fixed assets</a:t>
            </a:r>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7</a:t>
            </a:fld>
            <a:endParaRPr lang="en-US" altLang="en-US" sz="1600" dirty="0"/>
          </a:p>
        </p:txBody>
      </p:sp>
    </p:spTree>
    <p:extLst>
      <p:ext uri="{BB962C8B-B14F-4D97-AF65-F5344CB8AC3E}">
        <p14:creationId xmlns:p14="http://schemas.microsoft.com/office/powerpoint/2010/main" val="298859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84C3-B887-46E1-8F0B-1609CFD1ED9B}"/>
              </a:ext>
            </a:extLst>
          </p:cNvPr>
          <p:cNvSpPr>
            <a:spLocks noGrp="1"/>
          </p:cNvSpPr>
          <p:nvPr>
            <p:ph type="title"/>
          </p:nvPr>
        </p:nvSpPr>
        <p:spPr/>
        <p:txBody>
          <a:bodyPr/>
          <a:lstStyle/>
          <a:p>
            <a:r>
              <a:rPr lang="en-US" dirty="0"/>
              <a:t>What Are Fixed Assets?</a:t>
            </a:r>
          </a:p>
        </p:txBody>
      </p:sp>
      <p:sp>
        <p:nvSpPr>
          <p:cNvPr id="3" name="Content Placeholder 2">
            <a:extLst>
              <a:ext uri="{FF2B5EF4-FFF2-40B4-BE49-F238E27FC236}">
                <a16:creationId xmlns:a16="http://schemas.microsoft.com/office/drawing/2014/main" id="{48A88B54-943C-46E9-A90E-CE3C972F3064}"/>
              </a:ext>
            </a:extLst>
          </p:cNvPr>
          <p:cNvSpPr>
            <a:spLocks noGrp="1"/>
          </p:cNvSpPr>
          <p:nvPr>
            <p:ph idx="1"/>
          </p:nvPr>
        </p:nvSpPr>
        <p:spPr/>
        <p:txBody>
          <a:bodyPr/>
          <a:lstStyle/>
          <a:p>
            <a:r>
              <a:rPr lang="en-US" dirty="0"/>
              <a:t>A Fixed Asset is a long-term </a:t>
            </a:r>
            <a:r>
              <a:rPr lang="en-US" dirty="0" smtClean="0"/>
              <a:t>tangible </a:t>
            </a:r>
            <a:r>
              <a:rPr lang="en-US" dirty="0"/>
              <a:t>or intangible </a:t>
            </a:r>
            <a:r>
              <a:rPr lang="en-US" dirty="0"/>
              <a:t>piece of property that FAI owns and/or leases and is not expected to be consumed or converted into cash in the near future</a:t>
            </a:r>
          </a:p>
          <a:p>
            <a:r>
              <a:rPr lang="en-US" dirty="0"/>
              <a:t>Examples of fixed assets for FAI include:</a:t>
            </a:r>
          </a:p>
          <a:p>
            <a:pPr lvl="1"/>
            <a:r>
              <a:rPr lang="en-US" sz="3600" dirty="0"/>
              <a:t>Computers</a:t>
            </a:r>
          </a:p>
          <a:p>
            <a:pPr lvl="1"/>
            <a:r>
              <a:rPr lang="en-US" sz="3600" dirty="0"/>
              <a:t>Office </a:t>
            </a:r>
            <a:r>
              <a:rPr lang="en-US" sz="3600" dirty="0"/>
              <a:t>Furniture</a:t>
            </a:r>
          </a:p>
          <a:p>
            <a:pPr lvl="1"/>
            <a:r>
              <a:rPr lang="en-US" sz="3600" dirty="0"/>
              <a:t>Software </a:t>
            </a:r>
          </a:p>
          <a:p>
            <a:pPr lvl="1"/>
            <a:r>
              <a:rPr lang="en-US" sz="3600" dirty="0"/>
              <a:t>Leasehold Improvements</a:t>
            </a:r>
            <a:endParaRPr lang="en-US" sz="3600" dirty="0"/>
          </a:p>
          <a:p>
            <a:r>
              <a:rPr lang="en-US" dirty="0"/>
              <a:t>The value of the asset is recorded on the organization’s balance sheet</a:t>
            </a:r>
          </a:p>
          <a:p>
            <a:pPr marL="690841" lvl="1" indent="0">
              <a:buNone/>
            </a:pPr>
            <a:endParaRPr lang="en-US" dirty="0"/>
          </a:p>
        </p:txBody>
      </p:sp>
    </p:spTree>
    <p:extLst>
      <p:ext uri="{BB962C8B-B14F-4D97-AF65-F5344CB8AC3E}">
        <p14:creationId xmlns:p14="http://schemas.microsoft.com/office/powerpoint/2010/main" val="3360083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Sub-Processes: Process Flow</a:t>
            </a:r>
          </a:p>
        </p:txBody>
      </p:sp>
      <p:sp>
        <p:nvSpPr>
          <p:cNvPr id="45060" name="Rectangle 4"/>
          <p:cNvSpPr>
            <a:spLocks noGrp="1" noChangeArrowheads="1"/>
          </p:cNvSpPr>
          <p:nvPr>
            <p:ph idx="1"/>
          </p:nvPr>
        </p:nvSpPr>
        <p:spPr>
          <a:xfrm>
            <a:off x="115664" y="3178623"/>
            <a:ext cx="13469707" cy="4062832"/>
          </a:xfrm>
        </p:spPr>
        <p:txBody>
          <a:bodyPr/>
          <a:lstStyle/>
          <a:p>
            <a:r>
              <a:rPr lang="en-US" altLang="en-US" sz="3200" dirty="0"/>
              <a:t>The Fixed Assets Life Cycle:</a:t>
            </a:r>
          </a:p>
          <a:p>
            <a:pPr lvl="1"/>
            <a:r>
              <a:rPr lang="en-US" altLang="en-US" sz="2500" dirty="0"/>
              <a:t>Starts with an asset being procured</a:t>
            </a:r>
          </a:p>
          <a:p>
            <a:pPr lvl="1"/>
            <a:r>
              <a:rPr lang="en-US" altLang="en-US" sz="2500" dirty="0"/>
              <a:t>The asset is registered (added) in </a:t>
            </a:r>
            <a:r>
              <a:rPr lang="en-US" altLang="en-US" sz="2500" dirty="0" smtClean="0"/>
              <a:t>the system</a:t>
            </a:r>
            <a:endParaRPr lang="en-US" altLang="en-US" sz="2500" dirty="0"/>
          </a:p>
          <a:p>
            <a:pPr lvl="1"/>
            <a:r>
              <a:rPr lang="en-US" altLang="en-US" sz="2500" dirty="0"/>
              <a:t>Any adjustments during the life of the asset made as required</a:t>
            </a:r>
          </a:p>
          <a:p>
            <a:pPr lvl="1"/>
            <a:r>
              <a:rPr lang="en-US" altLang="en-US" sz="2500" dirty="0"/>
              <a:t>Transfers when needed are performed in </a:t>
            </a:r>
            <a:r>
              <a:rPr lang="en-US" altLang="en-US" sz="2500" dirty="0" smtClean="0"/>
              <a:t>the system</a:t>
            </a:r>
            <a:endParaRPr lang="en-US" altLang="en-US" sz="2500" dirty="0"/>
          </a:p>
          <a:p>
            <a:pPr lvl="1"/>
            <a:r>
              <a:rPr lang="en-US" altLang="en-US" sz="2500" dirty="0"/>
              <a:t>Managing the depreciation of an asset as necessary using various methods</a:t>
            </a:r>
          </a:p>
          <a:p>
            <a:pPr lvl="1"/>
            <a:r>
              <a:rPr lang="en-US" altLang="en-US" sz="2500" dirty="0"/>
              <a:t>Removal of a fixed asset (disposal) when it is obsolete or no longer in use</a:t>
            </a:r>
          </a:p>
          <a:p>
            <a:pPr lvl="1"/>
            <a:endParaRPr lang="en-US" altLang="en-US" dirty="0"/>
          </a:p>
          <a:p>
            <a:pPr lvl="1"/>
            <a:endParaRPr lang="en-US" altLang="en-US" dirty="0"/>
          </a:p>
          <a:p>
            <a:pPr lvl="1"/>
            <a:endParaRPr lang="en-US" altLang="en-US" dirty="0"/>
          </a:p>
        </p:txBody>
      </p:sp>
      <p:sp>
        <p:nvSpPr>
          <p:cNvPr id="62466"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9</a:t>
            </a:fld>
            <a:endParaRPr lang="en-US" altLang="en-US" sz="1600" dirty="0"/>
          </a:p>
        </p:txBody>
      </p:sp>
      <p:graphicFrame>
        <p:nvGraphicFramePr>
          <p:cNvPr id="13" name="Diagram 12"/>
          <p:cNvGraphicFramePr/>
          <p:nvPr>
            <p:extLst>
              <p:ext uri="{D42A27DB-BD31-4B8C-83A1-F6EECF244321}">
                <p14:modId xmlns:p14="http://schemas.microsoft.com/office/powerpoint/2010/main" val="1482772697"/>
              </p:ext>
            </p:extLst>
          </p:nvPr>
        </p:nvGraphicFramePr>
        <p:xfrm>
          <a:off x="0" y="457200"/>
          <a:ext cx="13817599" cy="33032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9435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9DB913-B61D-4E73-9599-3B5D8D001977}"/>
              </a:ext>
            </a:extLst>
          </p:cNvPr>
          <p:cNvPicPr>
            <a:picLocks noChangeAspect="1"/>
          </p:cNvPicPr>
          <p:nvPr/>
        </p:nvPicPr>
        <p:blipFill>
          <a:blip r:embed="rId3"/>
          <a:stretch>
            <a:fillRect/>
          </a:stretch>
        </p:blipFill>
        <p:spPr>
          <a:xfrm>
            <a:off x="10926769" y="6012815"/>
            <a:ext cx="2882265" cy="1759585"/>
          </a:xfrm>
          <a:prstGeom prst="rect">
            <a:avLst/>
          </a:prstGeom>
        </p:spPr>
      </p:pic>
      <p:sp>
        <p:nvSpPr>
          <p:cNvPr id="62467" name="Rectangle 3"/>
          <p:cNvSpPr>
            <a:spLocks noGrp="1" noChangeArrowheads="1"/>
          </p:cNvSpPr>
          <p:nvPr>
            <p:ph type="title"/>
          </p:nvPr>
        </p:nvSpPr>
        <p:spPr/>
        <p:txBody>
          <a:bodyPr/>
          <a:lstStyle/>
          <a:p>
            <a:r>
              <a:rPr lang="en-US" altLang="en-US" dirty="0"/>
              <a:t>What’s In It For Me?</a:t>
            </a:r>
          </a:p>
        </p:txBody>
      </p:sp>
      <p:sp>
        <p:nvSpPr>
          <p:cNvPr id="45060" name="Rectangle 4"/>
          <p:cNvSpPr>
            <a:spLocks noGrp="1" noChangeArrowheads="1"/>
          </p:cNvSpPr>
          <p:nvPr>
            <p:ph idx="1"/>
          </p:nvPr>
        </p:nvSpPr>
        <p:spPr/>
        <p:txBody>
          <a:bodyPr lIns="91440" tIns="45720" rIns="91440" bIns="45720" anchor="t"/>
          <a:lstStyle/>
          <a:p>
            <a:pPr marL="0" indent="0">
              <a:buNone/>
              <a:defRPr/>
            </a:pPr>
            <a:r>
              <a:rPr lang="en-US" altLang="en-US" dirty="0"/>
              <a:t>The Bad:</a:t>
            </a:r>
          </a:p>
          <a:p>
            <a:pPr>
              <a:defRPr/>
            </a:pPr>
            <a:r>
              <a:rPr lang="en-US" altLang="en-US" sz="2493" dirty="0"/>
              <a:t>Potential process changes to accommodate navigation in a new environment</a:t>
            </a:r>
          </a:p>
          <a:p>
            <a:pPr>
              <a:defRPr/>
            </a:pPr>
            <a:r>
              <a:rPr lang="en-US" altLang="en-US" sz="2493" dirty="0"/>
              <a:t>Needing to invest time to learn a new system</a:t>
            </a:r>
            <a:endParaRPr lang="en-US" altLang="en-US" dirty="0"/>
          </a:p>
          <a:p>
            <a:pPr marL="0" indent="0">
              <a:buNone/>
              <a:defRPr/>
            </a:pPr>
            <a:r>
              <a:rPr lang="en-US" altLang="en-US" dirty="0"/>
              <a:t>The Good:</a:t>
            </a:r>
          </a:p>
          <a:p>
            <a:pPr>
              <a:defRPr/>
            </a:pPr>
            <a:r>
              <a:rPr lang="en-US" sz="2800" dirty="0"/>
              <a:t>A comprehensive Fixed Assets module which allows for the financial lifecycle of an asset to be captured and maintained from acquisition to retirement</a:t>
            </a:r>
            <a:endParaRPr lang="en-US" altLang="en-US" sz="2493" dirty="0"/>
          </a:p>
          <a:p>
            <a:pPr>
              <a:defRPr/>
            </a:pPr>
            <a:r>
              <a:rPr lang="en-US" sz="2800" dirty="0"/>
              <a:t>Helps to ensure the asset acquisition lifecycle is managed in a centralized location with on time results and minimal manual intervention</a:t>
            </a:r>
            <a:endParaRPr lang="en-US" altLang="en-US" sz="2380" dirty="0"/>
          </a:p>
          <a:p>
            <a:pPr marL="128905" lvl="1" indent="0">
              <a:buClr>
                <a:srgbClr val="867366"/>
              </a:buClr>
              <a:buSzPct val="85000"/>
              <a:buNone/>
              <a:defRPr/>
            </a:pPr>
            <a:r>
              <a:rPr lang="en-US" altLang="en-US" sz="3600" dirty="0"/>
              <a:t>For FAI:</a:t>
            </a:r>
          </a:p>
          <a:p>
            <a:r>
              <a:rPr lang="en-US" sz="2800" dirty="0"/>
              <a:t>Provides an integrated solution that includes other modules such as: Purchasing, Sales, and Projects</a:t>
            </a:r>
          </a:p>
          <a:p>
            <a:pPr>
              <a:defRPr/>
            </a:pPr>
            <a:endParaRPr lang="en-US" altLang="en-US" sz="2493" dirty="0"/>
          </a:p>
        </p:txBody>
      </p:sp>
      <p:sp>
        <p:nvSpPr>
          <p:cNvPr id="62466"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10</a:t>
            </a:fld>
            <a:endParaRPr lang="en-US" altLang="en-US" sz="1600" dirty="0"/>
          </a:p>
        </p:txBody>
      </p:sp>
      <p:sp>
        <p:nvSpPr>
          <p:cNvPr id="2" name="Rectangle 1"/>
          <p:cNvSpPr/>
          <p:nvPr/>
        </p:nvSpPr>
        <p:spPr>
          <a:xfrm>
            <a:off x="5678559" y="3634368"/>
            <a:ext cx="2460482" cy="503664"/>
          </a:xfrm>
          <a:prstGeom prst="rect">
            <a:avLst/>
          </a:prstGeom>
        </p:spPr>
        <p:txBody>
          <a:bodyPr wrap="none">
            <a:spAutoFit/>
          </a:bodyPr>
          <a:lstStyle/>
          <a:p>
            <a:r>
              <a:rPr lang="en-US" dirty="0"/>
              <a:t>I’ll just trike-out </a:t>
            </a:r>
          </a:p>
        </p:txBody>
      </p:sp>
    </p:spTree>
    <p:extLst>
      <p:ext uri="{BB962C8B-B14F-4D97-AF65-F5344CB8AC3E}">
        <p14:creationId xmlns:p14="http://schemas.microsoft.com/office/powerpoint/2010/main" val="3967038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3"/>
          <p:cNvSpPr>
            <a:spLocks noGrp="1" noChangeArrowheads="1"/>
          </p:cNvSpPr>
          <p:nvPr>
            <p:ph type="title"/>
          </p:nvPr>
        </p:nvSpPr>
        <p:spPr>
          <a:prstGeom prst="rect">
            <a:avLst/>
          </a:prstGeom>
        </p:spPr>
        <p:txBody>
          <a:bodyPr/>
          <a:lstStyle/>
          <a:p>
            <a:r>
              <a:rPr lang="en-US" altLang="en-US" dirty="0"/>
              <a:t>New Terms</a:t>
            </a:r>
          </a:p>
        </p:txBody>
      </p:sp>
      <p:graphicFrame>
        <p:nvGraphicFramePr>
          <p:cNvPr id="1097732" name="Group 4"/>
          <p:cNvGraphicFramePr>
            <a:graphicFrameLocks noGrp="1"/>
          </p:cNvGraphicFramePr>
          <p:nvPr>
            <p:ph idx="1"/>
            <p:extLst>
              <p:ext uri="{D42A27DB-BD31-4B8C-83A1-F6EECF244321}">
                <p14:modId xmlns:p14="http://schemas.microsoft.com/office/powerpoint/2010/main" val="3261061570"/>
              </p:ext>
            </p:extLst>
          </p:nvPr>
        </p:nvGraphicFramePr>
        <p:xfrm>
          <a:off x="436617" y="933943"/>
          <a:ext cx="12827005" cy="6276875"/>
        </p:xfrm>
        <a:graphic>
          <a:graphicData uri="http://schemas.openxmlformats.org/drawingml/2006/table">
            <a:tbl>
              <a:tblPr/>
              <a:tblGrid>
                <a:gridCol w="6022573">
                  <a:extLst>
                    <a:ext uri="{9D8B030D-6E8A-4147-A177-3AD203B41FA5}">
                      <a16:colId xmlns:a16="http://schemas.microsoft.com/office/drawing/2014/main" val="20000"/>
                    </a:ext>
                  </a:extLst>
                </a:gridCol>
                <a:gridCol w="6804432">
                  <a:extLst>
                    <a:ext uri="{9D8B030D-6E8A-4147-A177-3AD203B41FA5}">
                      <a16:colId xmlns:a16="http://schemas.microsoft.com/office/drawing/2014/main" val="20001"/>
                    </a:ext>
                  </a:extLst>
                </a:gridCol>
              </a:tblGrid>
              <a:tr h="641651">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ctr"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700" b="1" i="0" u="none" strike="noStrike" cap="none" normalizeH="0" baseline="0" dirty="0">
                          <a:ln>
                            <a:noFill/>
                          </a:ln>
                          <a:solidFill>
                            <a:schemeClr val="bg1"/>
                          </a:solidFill>
                          <a:effectLst/>
                          <a:latin typeface="Fujitsu Sans" panose="020B0404060202020204" pitchFamily="34" charset="0"/>
                        </a:rPr>
                        <a:t>New Term</a:t>
                      </a:r>
                    </a:p>
                  </a:txBody>
                  <a:tcPr marL="121249" marR="121249" marT="51816" marB="51816"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rgbClr val="FF0000"/>
                    </a:solid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ctr"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700" b="1" i="0" u="none" strike="noStrike" cap="none" normalizeH="0" baseline="0" dirty="0">
                          <a:ln>
                            <a:noFill/>
                          </a:ln>
                          <a:solidFill>
                            <a:schemeClr val="bg1"/>
                          </a:solidFill>
                          <a:effectLst/>
                          <a:latin typeface="Fujitsu Sans" panose="020B0404060202020204" pitchFamily="34" charset="0"/>
                        </a:rPr>
                        <a:t>Definition</a:t>
                      </a:r>
                    </a:p>
                  </a:txBody>
                  <a:tcPr marL="121249" marR="121249" marT="51816" marB="51816"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solidFill>
                      <a:schemeClr val="tx1">
                        <a:lumMod val="50000"/>
                        <a:lumOff val="50000"/>
                      </a:schemeClr>
                    </a:solidFill>
                  </a:tcPr>
                </a:tc>
                <a:extLst>
                  <a:ext uri="{0D108BD9-81ED-4DB2-BD59-A6C34878D82A}">
                    <a16:rowId xmlns:a16="http://schemas.microsoft.com/office/drawing/2014/main" val="10000"/>
                  </a:ext>
                </a:extLst>
              </a:tr>
              <a:tr h="1325261">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000" b="0" i="0" u="none" strike="noStrike" cap="none" normalizeH="0" baseline="0" dirty="0">
                          <a:ln>
                            <a:noFill/>
                          </a:ln>
                          <a:solidFill>
                            <a:srgbClr val="FF0000"/>
                          </a:solidFill>
                          <a:effectLst/>
                          <a:latin typeface="Fujitsu Sans" panose="020B0404060202020204" pitchFamily="34" charset="0"/>
                          <a:cs typeface="Arial" panose="020B0604020202020204" pitchFamily="34" charset="0"/>
                        </a:rPr>
                        <a:t>Fixed Asset</a:t>
                      </a:r>
                    </a:p>
                  </a:txBody>
                  <a:tcPr marL="121249" marR="121249" marT="51816" marB="5181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sz="2000" b="0" i="0" kern="1200" baseline="0" dirty="0" smtClean="0">
                          <a:solidFill>
                            <a:schemeClr val="tx1">
                              <a:lumMod val="50000"/>
                              <a:lumOff val="50000"/>
                            </a:schemeClr>
                          </a:solidFill>
                          <a:latin typeface="Fujitsu Sans" panose="020B0404060202020204" pitchFamily="34" charset="0"/>
                          <a:ea typeface="+mn-ea"/>
                          <a:cs typeface="Arial" panose="020B0604020202020204" pitchFamily="34" charset="0"/>
                        </a:rPr>
                        <a:t>Fixed assets are long-term assets property, equipment, or intellectual property a company owns and used in its operations to generate income.</a:t>
                      </a:r>
                    </a:p>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sz="2000" b="0" i="0" kern="1200" baseline="0" dirty="0" smtClean="0">
                          <a:solidFill>
                            <a:schemeClr val="tx1">
                              <a:lumMod val="50000"/>
                              <a:lumOff val="50000"/>
                            </a:schemeClr>
                          </a:solidFill>
                          <a:latin typeface="Fujitsu Sans" panose="020B0404060202020204" pitchFamily="34" charset="0"/>
                          <a:ea typeface="+mn-ea"/>
                          <a:cs typeface="Arial" panose="020B0604020202020204" pitchFamily="34" charset="0"/>
                        </a:rPr>
                        <a:t>Fixed </a:t>
                      </a:r>
                      <a:r>
                        <a:rPr lang="en-US" sz="2000" b="0" i="0" kern="1200" baseline="0" dirty="0">
                          <a:solidFill>
                            <a:schemeClr val="tx1">
                              <a:lumMod val="50000"/>
                              <a:lumOff val="50000"/>
                            </a:schemeClr>
                          </a:solidFill>
                          <a:latin typeface="Fujitsu Sans" panose="020B0404060202020204" pitchFamily="34" charset="0"/>
                          <a:ea typeface="+mn-ea"/>
                          <a:cs typeface="Arial" panose="020B0604020202020204" pitchFamily="34" charset="0"/>
                        </a:rPr>
                        <a:t>assets are also referred to as tangible </a:t>
                      </a:r>
                      <a:r>
                        <a:rPr lang="en-US" sz="2000" b="0" i="0" kern="1200" baseline="0" dirty="0" smtClean="0">
                          <a:solidFill>
                            <a:schemeClr val="tx1">
                              <a:lumMod val="50000"/>
                              <a:lumOff val="50000"/>
                            </a:schemeClr>
                          </a:solidFill>
                          <a:latin typeface="Fujitsu Sans" panose="020B0404060202020204" pitchFamily="34" charset="0"/>
                          <a:ea typeface="+mn-ea"/>
                          <a:cs typeface="Arial" panose="020B0604020202020204" pitchFamily="34" charset="0"/>
                        </a:rPr>
                        <a:t>assets having a physical</a:t>
                      </a:r>
                      <a:r>
                        <a:rPr lang="en-US" sz="2000" b="0" i="0" kern="1200" baseline="0" dirty="0">
                          <a:solidFill>
                            <a:schemeClr val="tx1">
                              <a:lumMod val="50000"/>
                              <a:lumOff val="50000"/>
                            </a:schemeClr>
                          </a:solidFill>
                          <a:latin typeface="Fujitsu Sans" panose="020B0404060202020204" pitchFamily="34" charset="0"/>
                          <a:ea typeface="+mn-ea"/>
                          <a:cs typeface="Arial" panose="020B0604020202020204" pitchFamily="34" charset="0"/>
                        </a:rPr>
                        <a:t> </a:t>
                      </a:r>
                      <a:r>
                        <a:rPr lang="en-US" sz="2000" b="0" i="0" kern="1200" baseline="0" dirty="0" smtClean="0">
                          <a:solidFill>
                            <a:schemeClr val="tx1">
                              <a:lumMod val="50000"/>
                              <a:lumOff val="50000"/>
                            </a:schemeClr>
                          </a:solidFill>
                          <a:latin typeface="Fujitsu Sans" panose="020B0404060202020204" pitchFamily="34" charset="0"/>
                          <a:ea typeface="+mn-ea"/>
                          <a:cs typeface="Arial" panose="020B0604020202020204" pitchFamily="34" charset="0"/>
                        </a:rPr>
                        <a:t>form or intangible having no physical form such as software.</a:t>
                      </a:r>
                      <a:endParaRPr lang="en-US" altLang="en-US" sz="2000" b="0" i="0" kern="1200" baseline="0" dirty="0">
                        <a:solidFill>
                          <a:schemeClr val="tx1">
                            <a:lumMod val="50000"/>
                            <a:lumOff val="50000"/>
                          </a:schemeClr>
                        </a:solidFill>
                        <a:latin typeface="Fujitsu Sans" panose="020B0404060202020204" pitchFamily="34" charset="0"/>
                        <a:ea typeface="+mn-ea"/>
                        <a:cs typeface="Arial" panose="020B0604020202020204" pitchFamily="34" charset="0"/>
                      </a:endParaRPr>
                    </a:p>
                  </a:txBody>
                  <a:tcPr marL="121249" marR="121249" marT="51816" marB="5181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933768">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000" b="0" i="0" u="none" strike="noStrike" cap="none" normalizeH="0" baseline="0" dirty="0">
                          <a:ln>
                            <a:noFill/>
                          </a:ln>
                          <a:solidFill>
                            <a:srgbClr val="FF0000"/>
                          </a:solidFill>
                          <a:effectLst/>
                          <a:latin typeface="Fujitsu Sans" panose="020B0404060202020204" pitchFamily="34" charset="0"/>
                          <a:cs typeface="Arial" panose="020B0604020202020204" pitchFamily="34" charset="0"/>
                        </a:rPr>
                        <a:t>Capitalization</a:t>
                      </a:r>
                    </a:p>
                  </a:txBody>
                  <a:tcPr marL="121249" marR="121249" marT="51816" marB="5181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altLang="en-US" sz="2000" b="0" i="0" kern="1200" baseline="0" dirty="0">
                          <a:solidFill>
                            <a:schemeClr val="tx1">
                              <a:lumMod val="50000"/>
                              <a:lumOff val="50000"/>
                            </a:schemeClr>
                          </a:solidFill>
                          <a:latin typeface="Fujitsu Sans" panose="020B0404060202020204" pitchFamily="34" charset="0"/>
                          <a:ea typeface="+mn-ea"/>
                          <a:cs typeface="Arial" panose="020B0604020202020204" pitchFamily="34" charset="0"/>
                        </a:rPr>
                        <a:t>Process of recording an acquisition and production cost as a fixed asset instead of as an expense</a:t>
                      </a:r>
                    </a:p>
                  </a:txBody>
                  <a:tcPr marL="121249" marR="121249" marT="51816" marB="5181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933768">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000" b="0" i="0" u="none" strike="noStrike" cap="none" normalizeH="0" baseline="0" dirty="0">
                          <a:ln>
                            <a:noFill/>
                          </a:ln>
                          <a:solidFill>
                            <a:srgbClr val="FF0000"/>
                          </a:solidFill>
                          <a:effectLst/>
                          <a:latin typeface="Fujitsu Sans" panose="020B0404060202020204" pitchFamily="34" charset="0"/>
                          <a:cs typeface="Arial" panose="020B0604020202020204" pitchFamily="34" charset="0"/>
                        </a:rPr>
                        <a:t>Depreciation Area</a:t>
                      </a:r>
                    </a:p>
                  </a:txBody>
                  <a:tcPr marL="121249" marR="121249" marT="51816" marB="5181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altLang="en-US" sz="2000" b="0" i="0" kern="1200" baseline="0" dirty="0">
                          <a:solidFill>
                            <a:schemeClr val="tx1">
                              <a:lumMod val="50000"/>
                              <a:lumOff val="50000"/>
                            </a:schemeClr>
                          </a:solidFill>
                          <a:latin typeface="Fujitsu Sans" panose="020B0404060202020204" pitchFamily="34" charset="0"/>
                          <a:ea typeface="+mn-ea"/>
                          <a:cs typeface="Arial" panose="020B0604020202020204" pitchFamily="34" charset="0"/>
                        </a:rPr>
                        <a:t>A dimension showing the valuation of an asset according to a particular accounting standard</a:t>
                      </a:r>
                    </a:p>
                  </a:txBody>
                  <a:tcPr marL="121249" marR="121249" marT="51816" marB="5181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931968">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000" b="0" i="0" u="none" strike="noStrike" cap="none" normalizeH="0" baseline="0" dirty="0">
                          <a:ln>
                            <a:noFill/>
                          </a:ln>
                          <a:solidFill>
                            <a:srgbClr val="FF0000"/>
                          </a:solidFill>
                          <a:effectLst/>
                          <a:latin typeface="Fujitsu Sans" panose="020B0404060202020204" pitchFamily="34" charset="0"/>
                          <a:cs typeface="Arial" panose="020B0604020202020204" pitchFamily="34" charset="0"/>
                        </a:rPr>
                        <a:t>Depreciation Type</a:t>
                      </a:r>
                    </a:p>
                  </a:txBody>
                  <a:tcPr marL="121249" marR="121249" marT="51816" marB="5181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altLang="en-US" sz="2000" b="0" i="0" kern="1200" dirty="0">
                          <a:solidFill>
                            <a:schemeClr val="tx1">
                              <a:lumMod val="50000"/>
                              <a:lumOff val="50000"/>
                            </a:schemeClr>
                          </a:solidFill>
                          <a:latin typeface="Fujitsu Sans" panose="020B0404060202020204" pitchFamily="34" charset="0"/>
                          <a:ea typeface="+mn-ea"/>
                          <a:cs typeface="Arial" panose="020B0604020202020204" pitchFamily="34" charset="0"/>
                        </a:rPr>
                        <a:t>Reason for the depreciation</a:t>
                      </a:r>
                    </a:p>
                  </a:txBody>
                  <a:tcPr marL="121249" marR="121249" marT="51816" marB="5181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933768">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0" marR="0" lvl="0" indent="0" algn="l" defTabSz="914400" rtl="0" eaLnBrk="1" fontAlgn="base" latinLnBrk="0" hangingPunct="1">
                        <a:lnSpc>
                          <a:spcPct val="90000"/>
                        </a:lnSpc>
                        <a:spcBef>
                          <a:spcPct val="50000"/>
                        </a:spcBef>
                        <a:spcAft>
                          <a:spcPct val="0"/>
                        </a:spcAft>
                        <a:buClr>
                          <a:srgbClr val="867366"/>
                        </a:buClr>
                        <a:buSzPct val="85000"/>
                        <a:buFont typeface="Wingdings" panose="05000000000000000000" pitchFamily="2" charset="2"/>
                        <a:buNone/>
                        <a:tabLst/>
                      </a:pPr>
                      <a:r>
                        <a:rPr kumimoji="0" lang="en-US" altLang="en-US" sz="2000" b="0" i="0" u="none" strike="noStrike" cap="none" normalizeH="0" baseline="0" dirty="0">
                          <a:ln>
                            <a:noFill/>
                          </a:ln>
                          <a:solidFill>
                            <a:srgbClr val="FF0000"/>
                          </a:solidFill>
                          <a:effectLst/>
                          <a:latin typeface="Fujitsu Sans" panose="020B0404060202020204" pitchFamily="34" charset="0"/>
                          <a:cs typeface="Arial" panose="020B0604020202020204" pitchFamily="34" charset="0"/>
                        </a:rPr>
                        <a:t>Retirement</a:t>
                      </a:r>
                    </a:p>
                  </a:txBody>
                  <a:tcPr marL="121249" marR="121249" marT="51816" marB="51816"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lnSpc>
                          <a:spcPct val="90000"/>
                        </a:lnSpc>
                        <a:spcBef>
                          <a:spcPct val="50000"/>
                        </a:spcBef>
                        <a:buClr>
                          <a:srgbClr val="867366"/>
                        </a:buClr>
                        <a:buSzPct val="85000"/>
                        <a:buFont typeface="Wingdings" panose="05000000000000000000" pitchFamily="2" charset="2"/>
                        <a:defRPr sz="2000" b="1">
                          <a:solidFill>
                            <a:schemeClr val="tx1"/>
                          </a:solidFill>
                          <a:latin typeface="Arial" panose="020B0604020202020204" pitchFamily="34" charset="0"/>
                        </a:defRPr>
                      </a:lvl1pPr>
                      <a:lvl2pPr marL="114300" algn="l">
                        <a:lnSpc>
                          <a:spcPct val="90000"/>
                        </a:lnSpc>
                        <a:spcBef>
                          <a:spcPct val="50000"/>
                        </a:spcBef>
                        <a:buClr>
                          <a:srgbClr val="FF0000"/>
                        </a:buClr>
                        <a:buSzPct val="120000"/>
                        <a:buFont typeface="Wingdings" panose="05000000000000000000" pitchFamily="2" charset="2"/>
                        <a:defRPr b="1">
                          <a:solidFill>
                            <a:schemeClr val="tx1"/>
                          </a:solidFill>
                          <a:latin typeface="Arial" panose="020B0604020202020204" pitchFamily="34" charset="0"/>
                        </a:defRPr>
                      </a:lvl2pPr>
                      <a:lvl3pPr marL="571500" algn="l">
                        <a:lnSpc>
                          <a:spcPct val="90000"/>
                        </a:lnSpc>
                        <a:spcBef>
                          <a:spcPct val="20000"/>
                        </a:spcBef>
                        <a:buClr>
                          <a:srgbClr val="867366"/>
                        </a:buClr>
                        <a:buSzPct val="120000"/>
                        <a:buFont typeface="Wingdings" panose="05000000000000000000" pitchFamily="2" charset="2"/>
                        <a:defRPr sz="1600" b="1">
                          <a:solidFill>
                            <a:schemeClr val="tx1"/>
                          </a:solidFill>
                          <a:latin typeface="Arial" panose="020B0604020202020204" pitchFamily="34" charset="0"/>
                        </a:defRPr>
                      </a:lvl3pPr>
                      <a:lvl4pPr marL="971550" algn="l">
                        <a:lnSpc>
                          <a:spcPct val="90000"/>
                        </a:lnSpc>
                        <a:spcBef>
                          <a:spcPct val="20000"/>
                        </a:spcBef>
                        <a:buClr>
                          <a:schemeClr val="tx1"/>
                        </a:buClr>
                        <a:buSzPct val="70000"/>
                        <a:buFont typeface="Wingdings" panose="05000000000000000000" pitchFamily="2" charset="2"/>
                        <a:defRPr sz="1400" b="1">
                          <a:solidFill>
                            <a:schemeClr val="tx1"/>
                          </a:solidFill>
                          <a:latin typeface="Arial" panose="020B0604020202020204" pitchFamily="34" charset="0"/>
                        </a:defRPr>
                      </a:lvl4pPr>
                      <a:lvl5pPr algn="l">
                        <a:spcBef>
                          <a:spcPct val="20000"/>
                        </a:spcBef>
                        <a:buSzPct val="80000"/>
                        <a:defRPr sz="1600">
                          <a:solidFill>
                            <a:schemeClr val="tx1"/>
                          </a:solidFill>
                          <a:latin typeface="Arial" panose="020B0604020202020204" pitchFamily="34" charset="0"/>
                        </a:defRPr>
                      </a:lvl5pPr>
                      <a:lvl6pPr fontAlgn="base">
                        <a:spcBef>
                          <a:spcPct val="20000"/>
                        </a:spcBef>
                        <a:spcAft>
                          <a:spcPct val="0"/>
                        </a:spcAft>
                        <a:buSzPct val="80000"/>
                        <a:defRPr sz="1600">
                          <a:solidFill>
                            <a:schemeClr val="tx1"/>
                          </a:solidFill>
                          <a:latin typeface="Arial" panose="020B0604020202020204" pitchFamily="34" charset="0"/>
                        </a:defRPr>
                      </a:lvl6pPr>
                      <a:lvl7pPr fontAlgn="base">
                        <a:spcBef>
                          <a:spcPct val="20000"/>
                        </a:spcBef>
                        <a:spcAft>
                          <a:spcPct val="0"/>
                        </a:spcAft>
                        <a:buSzPct val="80000"/>
                        <a:defRPr sz="1600">
                          <a:solidFill>
                            <a:schemeClr val="tx1"/>
                          </a:solidFill>
                          <a:latin typeface="Arial" panose="020B0604020202020204" pitchFamily="34" charset="0"/>
                        </a:defRPr>
                      </a:lvl7pPr>
                      <a:lvl8pPr fontAlgn="base">
                        <a:spcBef>
                          <a:spcPct val="20000"/>
                        </a:spcBef>
                        <a:spcAft>
                          <a:spcPct val="0"/>
                        </a:spcAft>
                        <a:buSzPct val="80000"/>
                        <a:defRPr sz="1600">
                          <a:solidFill>
                            <a:schemeClr val="tx1"/>
                          </a:solidFill>
                          <a:latin typeface="Arial" panose="020B0604020202020204" pitchFamily="34" charset="0"/>
                        </a:defRPr>
                      </a:lvl8pPr>
                      <a:lvl9pPr fontAlgn="base">
                        <a:spcBef>
                          <a:spcPct val="20000"/>
                        </a:spcBef>
                        <a:spcAft>
                          <a:spcPct val="0"/>
                        </a:spcAft>
                        <a:buSzPct val="80000"/>
                        <a:defRPr sz="1600">
                          <a:solidFill>
                            <a:schemeClr val="tx1"/>
                          </a:solidFill>
                          <a:latin typeface="Arial" panose="020B0604020202020204" pitchFamily="34" charset="0"/>
                        </a:defRPr>
                      </a:lvl9pPr>
                    </a:lstStyle>
                    <a:p>
                      <a:pPr marL="342900" marR="0" lvl="0" indent="-342900" algn="l" defTabSz="914400" rtl="0" eaLnBrk="1" fontAlgn="base" latinLnBrk="0" hangingPunct="1">
                        <a:lnSpc>
                          <a:spcPct val="90000"/>
                        </a:lnSpc>
                        <a:spcBef>
                          <a:spcPct val="50000"/>
                        </a:spcBef>
                        <a:spcAft>
                          <a:spcPct val="0"/>
                        </a:spcAft>
                        <a:buClr>
                          <a:srgbClr val="867366"/>
                        </a:buClr>
                        <a:buSzPct val="85000"/>
                        <a:buFont typeface="Arial" panose="020B0604020202020204" pitchFamily="34" charset="0"/>
                        <a:buChar char="•"/>
                        <a:tabLst/>
                      </a:pPr>
                      <a:r>
                        <a:rPr lang="en-US" altLang="en-US" sz="2000" b="0" i="0" kern="1200" dirty="0">
                          <a:solidFill>
                            <a:schemeClr val="tx1">
                              <a:lumMod val="50000"/>
                              <a:lumOff val="50000"/>
                            </a:schemeClr>
                          </a:solidFill>
                          <a:latin typeface="Fujitsu Sans" panose="020B0404060202020204" pitchFamily="34" charset="0"/>
                          <a:ea typeface="+mn-ea"/>
                          <a:cs typeface="Arial" panose="020B0604020202020204" pitchFamily="34" charset="0"/>
                        </a:rPr>
                        <a:t>Removal of an asset or part of an asset from the asset portfolio</a:t>
                      </a:r>
                    </a:p>
                  </a:txBody>
                  <a:tcPr marL="121249" marR="121249" marT="51816" marB="51816"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8922136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tLang="en-US" dirty="0"/>
              <a:t>Unit 1, # 1</a:t>
            </a:r>
          </a:p>
        </p:txBody>
      </p:sp>
      <p:sp>
        <p:nvSpPr>
          <p:cNvPr id="73733" name="Rectangle 3"/>
          <p:cNvSpPr>
            <a:spLocks noGrp="1" noChangeArrowheads="1"/>
          </p:cNvSpPr>
          <p:nvPr>
            <p:ph idx="1"/>
          </p:nvPr>
        </p:nvSpPr>
        <p:spPr/>
        <p:txBody>
          <a:bodyPr lIns="91440" tIns="45720" rIns="91440" bIns="45720" anchor="t"/>
          <a:lstStyle/>
          <a:p>
            <a:pPr marL="517525" indent="-517525"/>
            <a:r>
              <a:rPr lang="en-US" altLang="en-US" dirty="0">
                <a:latin typeface="Fujitsu Sans"/>
              </a:rPr>
              <a:t>What is a benefit of SAP?</a:t>
            </a:r>
            <a:endParaRPr lang="en-US" dirty="0">
              <a:latin typeface="Fujitsu Sans"/>
            </a:endParaRPr>
          </a:p>
          <a:p>
            <a:pPr marL="517525" indent="-517525"/>
            <a:endParaRPr lang="en-US" altLang="en-US" dirty="0"/>
          </a:p>
          <a:p>
            <a:pPr marL="517525" indent="-517525"/>
            <a:endParaRPr lang="en-US" altLang="en-US" dirty="0"/>
          </a:p>
          <a:p>
            <a:pPr marL="517525" indent="-517525"/>
            <a:endParaRPr lang="en-US" altLang="en-US" dirty="0"/>
          </a:p>
        </p:txBody>
      </p:sp>
      <p:sp>
        <p:nvSpPr>
          <p:cNvPr id="7" name="Slide Number Placeholder 3"/>
          <p:cNvSpPr>
            <a:spLocks noGrp="1"/>
          </p:cNvSpPr>
          <p:nvPr>
            <p:ph type="sldNum" sz="quarter" idx="4294967295"/>
          </p:nvPr>
        </p:nvSpPr>
        <p:spPr>
          <a:xfrm>
            <a:off x="0" y="0"/>
            <a:ext cx="0" cy="0"/>
          </a:xfrm>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DC67485-719C-460B-BE50-F908EA1276DE}" type="slidenum">
              <a:rPr lang="en-US" altLang="en-US" sz="1600" smtClean="0"/>
              <a:pPr/>
              <a:t>12</a:t>
            </a:fld>
            <a:endParaRPr lang="en-US" altLang="en-US" sz="1600" dirty="0"/>
          </a:p>
        </p:txBody>
      </p:sp>
    </p:spTree>
    <p:extLst>
      <p:ext uri="{BB962C8B-B14F-4D97-AF65-F5344CB8AC3E}">
        <p14:creationId xmlns:p14="http://schemas.microsoft.com/office/powerpoint/2010/main" val="3794506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Unit 1, # 1</a:t>
            </a:r>
          </a:p>
        </p:txBody>
      </p:sp>
      <p:sp>
        <p:nvSpPr>
          <p:cNvPr id="45060" name="Rectangle 4"/>
          <p:cNvSpPr>
            <a:spLocks noGrp="1" noChangeArrowheads="1"/>
          </p:cNvSpPr>
          <p:nvPr>
            <p:ph idx="1"/>
          </p:nvPr>
        </p:nvSpPr>
        <p:spPr/>
        <p:txBody>
          <a:bodyPr lIns="91440" tIns="45720" rIns="91440" bIns="45720" anchor="t"/>
          <a:lstStyle/>
          <a:p>
            <a:pPr marL="0" indent="0">
              <a:buNone/>
            </a:pPr>
            <a:r>
              <a:rPr lang="en-US" altLang="en-US" dirty="0">
                <a:latin typeface="Fujitsu Sans"/>
              </a:rPr>
              <a:t>What is a benefit of SAP?</a:t>
            </a:r>
          </a:p>
          <a:p>
            <a:pPr marL="517525" indent="-517525"/>
            <a:endParaRPr lang="en-US" altLang="en-US" dirty="0"/>
          </a:p>
          <a:p>
            <a:pPr marL="1122045" lvl="1" indent="-431165"/>
            <a:r>
              <a:rPr lang="en-US" i="1" dirty="0">
                <a:solidFill>
                  <a:srgbClr val="FF0000"/>
                </a:solidFill>
              </a:rPr>
              <a:t>Helps to ensure the asset acquisition lifecycle is managed in a centralized location with on time results and minimal manual intervention</a:t>
            </a:r>
          </a:p>
          <a:p>
            <a:pPr marL="1122045" lvl="1" indent="-431165"/>
            <a:endParaRPr lang="en-US" altLang="en-US" i="1" dirty="0">
              <a:solidFill>
                <a:srgbClr val="FF0000"/>
              </a:solidFill>
              <a:latin typeface="Fujitsu Sans"/>
            </a:endParaRPr>
          </a:p>
          <a:p>
            <a:pPr marL="690245" lvl="1" indent="0">
              <a:buNone/>
            </a:pPr>
            <a:endParaRPr lang="en-US" altLang="en-US" dirty="0"/>
          </a:p>
        </p:txBody>
      </p:sp>
      <p:sp>
        <p:nvSpPr>
          <p:cNvPr id="62466"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13</a:t>
            </a:fld>
            <a:endParaRPr lang="en-US" altLang="en-US" sz="1600" dirty="0"/>
          </a:p>
        </p:txBody>
      </p:sp>
    </p:spTree>
    <p:extLst>
      <p:ext uri="{BB962C8B-B14F-4D97-AF65-F5344CB8AC3E}">
        <p14:creationId xmlns:p14="http://schemas.microsoft.com/office/powerpoint/2010/main" val="19135070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MCj04415100000[1]"/>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957983" y="5924070"/>
            <a:ext cx="1859619" cy="185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tLang="en-US" dirty="0"/>
              <a:t>Summary – Unit </a:t>
            </a:r>
          </a:p>
        </p:txBody>
      </p:sp>
      <p:sp>
        <p:nvSpPr>
          <p:cNvPr id="77829"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Describe the fixed assets process</a:t>
            </a:r>
          </a:p>
          <a:p>
            <a:r>
              <a:rPr lang="en-US" altLang="en-US" dirty="0"/>
              <a:t>Define new SAP terms for fixed assets</a:t>
            </a:r>
          </a:p>
        </p:txBody>
      </p:sp>
      <p:sp>
        <p:nvSpPr>
          <p:cNvPr id="7782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64D916E-780F-4F36-9EEA-B0E6C110BE23}" type="slidenum">
              <a:rPr lang="en-US" altLang="en-US" sz="1600" smtClean="0"/>
              <a:pPr/>
              <a:t>14</a:t>
            </a:fld>
            <a:endParaRPr lang="en-US" altLang="en-US" sz="1600" dirty="0"/>
          </a:p>
        </p:txBody>
      </p:sp>
    </p:spTree>
    <p:extLst>
      <p:ext uri="{BB962C8B-B14F-4D97-AF65-F5344CB8AC3E}">
        <p14:creationId xmlns:p14="http://schemas.microsoft.com/office/powerpoint/2010/main" val="2830436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3" name="Rectangle 3"/>
          <p:cNvSpPr>
            <a:spLocks noGrp="1" noChangeArrowheads="1"/>
          </p:cNvSpPr>
          <p:nvPr>
            <p:ph idx="4294967295"/>
          </p:nvPr>
        </p:nvSpPr>
        <p:spPr>
          <a:xfrm>
            <a:off x="520700" y="1081669"/>
            <a:ext cx="12827000" cy="5880066"/>
          </a:xfrm>
          <a:prstGeom prst="rect">
            <a:avLst/>
          </a:prstGeom>
        </p:spPr>
        <p:txBody>
          <a:bodyPr/>
          <a:lstStyle/>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a:p>
            <a:pPr marL="0" indent="0">
              <a:buNone/>
            </a:pPr>
            <a:endParaRPr lang="en-US" altLang="en-US" dirty="0"/>
          </a:p>
        </p:txBody>
      </p:sp>
      <p:sp>
        <p:nvSpPr>
          <p:cNvPr id="8397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750A293A-6492-4A1F-A0D4-05E445FB280C}" type="slidenum">
              <a:rPr lang="en-US" altLang="en-US" sz="1600" smtClean="0"/>
              <a:pPr/>
              <a:t>15</a:t>
            </a:fld>
            <a:endParaRPr lang="en-US" altLang="en-US" sz="1600" dirty="0"/>
          </a:p>
        </p:txBody>
      </p:sp>
    </p:spTree>
    <p:extLst>
      <p:ext uri="{BB962C8B-B14F-4D97-AF65-F5344CB8AC3E}">
        <p14:creationId xmlns:p14="http://schemas.microsoft.com/office/powerpoint/2010/main" val="6364210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t>
            </a:r>
            <a:r>
              <a:rPr lang="en-US" altLang="en-US" dirty="0" smtClean="0"/>
              <a:t>Fixed Assets Reports (60 </a:t>
            </a:r>
            <a:r>
              <a:rPr lang="en-US" altLang="en-US" dirty="0"/>
              <a:t>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16</a:t>
            </a:fld>
            <a:endParaRPr lang="en-US" altLang="en-US" sz="1600" dirty="0"/>
          </a:p>
        </p:txBody>
      </p:sp>
      <p:sp>
        <p:nvSpPr>
          <p:cNvPr id="13" name="Rectangle 12"/>
          <p:cNvSpPr>
            <a:spLocks noChangeArrowheads="1"/>
          </p:cNvSpPr>
          <p:nvPr/>
        </p:nvSpPr>
        <p:spPr bwMode="auto">
          <a:xfrm>
            <a:off x="389791" y="1682751"/>
            <a:ext cx="9201250" cy="68988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42401357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ss00071"/>
          <p:cNvPicPr>
            <a:picLocks noChangeAspect="1" noChangeArrowheads="1"/>
          </p:cNvPicPr>
          <p:nvPr/>
        </p:nvPicPr>
        <p:blipFill>
          <a:blip r:embed="rId3">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3"/>
          <p:cNvSpPr>
            <a:spLocks noGrp="1" noChangeArrowheads="1"/>
          </p:cNvSpPr>
          <p:nvPr>
            <p:ph type="title"/>
          </p:nvPr>
        </p:nvSpPr>
        <p:spPr/>
        <p:txBody>
          <a:bodyPr/>
          <a:lstStyle/>
          <a:p>
            <a:r>
              <a:rPr lang="en-US" altLang="en-US" dirty="0"/>
              <a:t>2</a:t>
            </a:r>
          </a:p>
        </p:txBody>
      </p:sp>
      <p:sp>
        <p:nvSpPr>
          <p:cNvPr id="43013" name="Rectangle 4"/>
          <p:cNvSpPr>
            <a:spLocks noGrp="1" noChangeArrowheads="1"/>
          </p:cNvSpPr>
          <p:nvPr>
            <p:ph idx="1"/>
          </p:nvPr>
        </p:nvSpPr>
        <p:spPr>
          <a:xfrm>
            <a:off x="520700" y="1103440"/>
            <a:ext cx="12827000" cy="5880066"/>
          </a:xfrm>
        </p:spPr>
        <p:txBody>
          <a:bodyPr/>
          <a:lstStyle/>
          <a:p>
            <a:pPr marL="0" indent="0">
              <a:buNone/>
            </a:pPr>
            <a:r>
              <a:rPr lang="en-US" altLang="en-US" dirty="0"/>
              <a:t>You should be able to:</a:t>
            </a:r>
          </a:p>
          <a:p>
            <a:r>
              <a:rPr lang="en-US" altLang="en-US" dirty="0"/>
              <a:t>Explain the create asset master data </a:t>
            </a:r>
            <a:r>
              <a:rPr lang="en-US" altLang="en-US" dirty="0" smtClean="0"/>
              <a:t>process</a:t>
            </a:r>
          </a:p>
          <a:p>
            <a:r>
              <a:rPr lang="en-US" altLang="en-US" dirty="0" smtClean="0"/>
              <a:t>Create an asset number</a:t>
            </a:r>
          </a:p>
          <a:p>
            <a:r>
              <a:rPr lang="en-US" altLang="en-US" dirty="0" smtClean="0"/>
              <a:t>Change an asset number</a:t>
            </a:r>
            <a:endParaRPr lang="en-US" altLang="en-US" dirty="0"/>
          </a:p>
          <a:p>
            <a:r>
              <a:rPr lang="en-US" altLang="en-US" dirty="0"/>
              <a:t>Describe how to display calculations of an asset</a:t>
            </a:r>
          </a:p>
          <a:p>
            <a:pPr marL="0" indent="0">
              <a:buNone/>
            </a:pPr>
            <a:endParaRPr lang="en-US" altLang="en-US" dirty="0"/>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17</a:t>
            </a:fld>
            <a:endParaRPr lang="en-US" altLang="en-US" sz="1600" dirty="0"/>
          </a:p>
        </p:txBody>
      </p:sp>
    </p:spTree>
    <p:extLst>
      <p:ext uri="{BB962C8B-B14F-4D97-AF65-F5344CB8AC3E}">
        <p14:creationId xmlns:p14="http://schemas.microsoft.com/office/powerpoint/2010/main" val="3689162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Creating an Asset </a:t>
            </a:r>
            <a:r>
              <a:rPr lang="en-US" altLang="en-US" dirty="0" smtClean="0"/>
              <a:t>Number</a:t>
            </a:r>
            <a:endParaRPr lang="en-US" altLang="en-US" dirty="0"/>
          </a:p>
        </p:txBody>
      </p:sp>
      <p:sp>
        <p:nvSpPr>
          <p:cNvPr id="64516" name="Rectangle 4"/>
          <p:cNvSpPr>
            <a:spLocks noGrp="1" noChangeArrowheads="1"/>
          </p:cNvSpPr>
          <p:nvPr>
            <p:ph idx="1"/>
          </p:nvPr>
        </p:nvSpPr>
        <p:spPr>
          <a:xfrm>
            <a:off x="237674" y="951043"/>
            <a:ext cx="13296900" cy="5319131"/>
          </a:xfrm>
        </p:spPr>
        <p:txBody>
          <a:bodyPr/>
          <a:lstStyle/>
          <a:p>
            <a:r>
              <a:rPr lang="en-US" dirty="0" smtClean="0"/>
              <a:t>An asset number,</a:t>
            </a:r>
            <a:r>
              <a:rPr lang="en-US" dirty="0"/>
              <a:t> in combination with the company code, uniquely identifies an asset in the system</a:t>
            </a:r>
            <a:r>
              <a:rPr lang="en-US" dirty="0" smtClean="0"/>
              <a:t> </a:t>
            </a:r>
            <a:endParaRPr lang="en-US" dirty="0"/>
          </a:p>
          <a:p>
            <a:r>
              <a:rPr lang="en-US" dirty="0" smtClean="0"/>
              <a:t>Asset numbers allows the organization to report </a:t>
            </a:r>
            <a:r>
              <a:rPr lang="en-US" dirty="0" smtClean="0"/>
              <a:t>on </a:t>
            </a:r>
            <a:r>
              <a:rPr lang="en-US" dirty="0"/>
              <a:t>a </a:t>
            </a:r>
            <a:r>
              <a:rPr lang="en-US" dirty="0" smtClean="0"/>
              <a:t>balance </a:t>
            </a:r>
            <a:r>
              <a:rPr lang="en-US" dirty="0"/>
              <a:t>sheet and </a:t>
            </a:r>
            <a:r>
              <a:rPr lang="en-US" dirty="0" smtClean="0"/>
              <a:t>ensure assets are </a:t>
            </a:r>
            <a:r>
              <a:rPr lang="en-US" dirty="0"/>
              <a:t>bought or created to increase </a:t>
            </a:r>
            <a:r>
              <a:rPr lang="en-US" dirty="0" smtClean="0"/>
              <a:t>the </a:t>
            </a:r>
            <a:r>
              <a:rPr lang="en-US" dirty="0"/>
              <a:t>value or benefit the </a:t>
            </a:r>
            <a:r>
              <a:rPr lang="en-US" dirty="0" smtClean="0"/>
              <a:t>organization's </a:t>
            </a:r>
            <a:r>
              <a:rPr lang="en-US" dirty="0"/>
              <a:t>operations</a:t>
            </a:r>
            <a:endParaRPr lang="en-US" dirty="0"/>
          </a:p>
          <a:p>
            <a:r>
              <a:rPr lang="en-US" altLang="en-US" dirty="0" smtClean="0"/>
              <a:t>Utilize SAP t-code </a:t>
            </a:r>
            <a:r>
              <a:rPr lang="en-US" altLang="en-US" b="1" dirty="0" smtClean="0"/>
              <a:t>AS01 </a:t>
            </a:r>
            <a:r>
              <a:rPr lang="en-US" altLang="en-US" dirty="0" smtClean="0"/>
              <a:t>to create an asset number</a:t>
            </a:r>
            <a:endParaRPr lang="en-US" altLang="en-US" dirty="0"/>
          </a:p>
          <a:p>
            <a:pPr marL="690841" lvl="1" indent="0">
              <a:buNone/>
            </a:pPr>
            <a:endParaRPr 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18</a:t>
            </a:fld>
            <a:endParaRPr lang="en-US" altLang="en-US" sz="1600" dirty="0"/>
          </a:p>
        </p:txBody>
      </p:sp>
      <p:graphicFrame>
        <p:nvGraphicFramePr>
          <p:cNvPr id="7" name="Diagram 6"/>
          <p:cNvGraphicFramePr/>
          <p:nvPr>
            <p:extLst/>
          </p:nvPr>
        </p:nvGraphicFramePr>
        <p:xfrm>
          <a:off x="108859" y="638922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1400590" y="6609143"/>
            <a:ext cx="766408" cy="75979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43534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an Asset Number – SAP t-code: AS01</a:t>
            </a:r>
            <a:endParaRPr lang="en-US" dirty="0"/>
          </a:p>
        </p:txBody>
      </p:sp>
      <p:sp>
        <p:nvSpPr>
          <p:cNvPr id="3" name="Content Placeholder 2"/>
          <p:cNvSpPr>
            <a:spLocks noGrp="1"/>
          </p:cNvSpPr>
          <p:nvPr>
            <p:ph idx="1"/>
          </p:nvPr>
        </p:nvSpPr>
        <p:spPr>
          <a:xfrm>
            <a:off x="134620" y="939429"/>
            <a:ext cx="4010660" cy="5880066"/>
          </a:xfrm>
        </p:spPr>
        <p:txBody>
          <a:bodyPr/>
          <a:lstStyle/>
          <a:p>
            <a:r>
              <a:rPr lang="en-US" sz="3200" dirty="0" smtClean="0"/>
              <a:t>Important tabs that require entry include</a:t>
            </a:r>
            <a:r>
              <a:rPr lang="en-US" sz="3500" dirty="0" smtClean="0"/>
              <a:t>:</a:t>
            </a:r>
          </a:p>
          <a:p>
            <a:pPr lvl="1"/>
            <a:r>
              <a:rPr lang="en-US" sz="2800" dirty="0"/>
              <a:t>General</a:t>
            </a:r>
          </a:p>
          <a:p>
            <a:pPr lvl="1"/>
            <a:r>
              <a:rPr lang="en-US" sz="2800" dirty="0"/>
              <a:t>Time-dependent</a:t>
            </a:r>
          </a:p>
          <a:p>
            <a:pPr lvl="1"/>
            <a:r>
              <a:rPr lang="en-US" sz="2800" dirty="0" smtClean="0"/>
              <a:t>Origin</a:t>
            </a:r>
          </a:p>
          <a:p>
            <a:r>
              <a:rPr lang="en-US" sz="3200" dirty="0" smtClean="0"/>
              <a:t>You cannot move to the next tab without first completing the required fields of the tab you are currently on</a:t>
            </a:r>
          </a:p>
          <a:p>
            <a:pPr marL="690841" lvl="1" indent="0">
              <a:buNone/>
            </a:pPr>
            <a:endParaRPr lang="en-US" dirty="0"/>
          </a:p>
        </p:txBody>
      </p:sp>
      <p:pic>
        <p:nvPicPr>
          <p:cNvPr id="4" name="Picture 3"/>
          <p:cNvPicPr>
            <a:picLocks noChangeAspect="1"/>
          </p:cNvPicPr>
          <p:nvPr/>
        </p:nvPicPr>
        <p:blipFill>
          <a:blip r:embed="rId2"/>
          <a:stretch>
            <a:fillRect/>
          </a:stretch>
        </p:blipFill>
        <p:spPr>
          <a:xfrm>
            <a:off x="4303851" y="1000389"/>
            <a:ext cx="9513749" cy="6531664"/>
          </a:xfrm>
          <a:prstGeom prst="rect">
            <a:avLst/>
          </a:prstGeom>
        </p:spPr>
      </p:pic>
      <p:sp>
        <p:nvSpPr>
          <p:cNvPr id="5" name="Rectangle 4"/>
          <p:cNvSpPr/>
          <p:nvPr/>
        </p:nvSpPr>
        <p:spPr>
          <a:xfrm>
            <a:off x="4367310" y="2890583"/>
            <a:ext cx="5203410" cy="75979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768428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2.1</a:t>
            </a:r>
            <a:r>
              <a:rPr lang="en-US" altLang="en-US" sz="4200" dirty="0"/>
              <a:t>: Create </a:t>
            </a:r>
            <a:r>
              <a:rPr lang="en-US" altLang="en-US" sz="4200" dirty="0" smtClean="0"/>
              <a:t>an Asset Number</a:t>
            </a:r>
            <a:endParaRPr lang="en-US" altLang="en-US" sz="4200"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A new asset is available for </a:t>
            </a:r>
            <a:r>
              <a:rPr lang="en-US" altLang="en-US" dirty="0"/>
              <a:t>FAI </a:t>
            </a:r>
            <a:r>
              <a:rPr lang="en-US" altLang="en-US" dirty="0" smtClean="0"/>
              <a:t>and requires an asset number</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a:latin typeface="Fujitsu Sans"/>
              </a:rPr>
              <a:t>Code: </a:t>
            </a:r>
            <a:r>
              <a:rPr lang="en-US" altLang="en-US" dirty="0" smtClean="0">
                <a:latin typeface="Fujitsu Sans"/>
              </a:rPr>
              <a:t>AS01</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20</a:t>
            </a:fld>
            <a:endParaRPr lang="en-US" altLang="en-US" sz="1600" dirty="0"/>
          </a:p>
        </p:txBody>
      </p:sp>
    </p:spTree>
    <p:extLst>
      <p:ext uri="{BB962C8B-B14F-4D97-AF65-F5344CB8AC3E}">
        <p14:creationId xmlns:p14="http://schemas.microsoft.com/office/powerpoint/2010/main" val="974928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2.1</a:t>
            </a:r>
            <a:r>
              <a:rPr lang="en-US" altLang="en-US" sz="4200" dirty="0"/>
              <a:t>: Create </a:t>
            </a:r>
            <a:r>
              <a:rPr lang="en-US" altLang="en-US" sz="4200" dirty="0" smtClean="0"/>
              <a:t>an Asset Number</a:t>
            </a:r>
            <a:endParaRPr lang="en-US" altLang="en-US" sz="4200" dirty="0"/>
          </a:p>
        </p:txBody>
      </p:sp>
      <p:sp>
        <p:nvSpPr>
          <p:cNvPr id="69637" name="Rectangle 3"/>
          <p:cNvSpPr>
            <a:spLocks noGrp="1" noChangeArrowheads="1"/>
          </p:cNvSpPr>
          <p:nvPr>
            <p:ph idx="1"/>
          </p:nvPr>
        </p:nvSpPr>
        <p:spPr>
          <a:xfrm>
            <a:off x="299983" y="902993"/>
            <a:ext cx="12827000" cy="2967817"/>
          </a:xfrm>
        </p:spPr>
        <p:txBody>
          <a:bodyPr/>
          <a:lstStyle/>
          <a:p>
            <a:pPr marL="517525" indent="-517525"/>
            <a:r>
              <a:rPr lang="en-US" altLang="en-US" dirty="0"/>
              <a:t>A new asset is available for FAI and requires an asset number</a:t>
            </a:r>
            <a:endParaRPr lang="en-US" dirty="0"/>
          </a:p>
          <a:p>
            <a:r>
              <a:rPr lang="en-US" altLang="en-US" dirty="0" smtClean="0"/>
              <a:t>Create </a:t>
            </a:r>
            <a:r>
              <a:rPr lang="en-US" altLang="en-US" dirty="0"/>
              <a:t>Asset </a:t>
            </a:r>
            <a:r>
              <a:rPr lang="en-US" altLang="en-US" dirty="0" smtClean="0"/>
              <a:t>Number</a:t>
            </a:r>
            <a:endParaRPr lang="en-US" altLang="en-US" dirty="0" smtClean="0"/>
          </a:p>
          <a:p>
            <a:pPr marL="517525" indent="-517525"/>
            <a:r>
              <a:rPr lang="en-US" altLang="en-US" dirty="0"/>
              <a:t>Notes</a:t>
            </a:r>
          </a:p>
          <a:p>
            <a:pPr marL="1122045" lvl="1" indent="-431165"/>
            <a:r>
              <a:rPr lang="en-US" altLang="en-US" dirty="0">
                <a:latin typeface="Fujitsu Sans"/>
              </a:rPr>
              <a:t>Transaction Code: </a:t>
            </a:r>
            <a:r>
              <a:rPr lang="en-US" altLang="en-US" dirty="0" smtClean="0">
                <a:latin typeface="Fujitsu Sans"/>
              </a:rPr>
              <a:t>AS01</a:t>
            </a:r>
            <a:endParaRPr lang="en-US" altLang="en-US" dirty="0"/>
          </a:p>
          <a:p>
            <a:pPr marL="690880" lvl="1" indent="0">
              <a:buNone/>
            </a:pPr>
            <a:endParaRPr lang="en-US" altLang="en-US" strike="sngStrike" dirty="0" smtClean="0">
              <a:solidFill>
                <a:srgbClr val="FF0000"/>
              </a:solidFill>
            </a:endParaRPr>
          </a:p>
          <a:p>
            <a:pPr marL="690880" lvl="1" indent="0">
              <a:buNone/>
            </a:pPr>
            <a:endParaRPr lang="en-US" altLang="en-US" strike="sngStrike" dirty="0" smtClean="0">
              <a:solidFill>
                <a:srgbClr val="FF0000"/>
              </a:solidFill>
            </a:endParaRPr>
          </a:p>
          <a:p>
            <a:pPr marL="690880" lvl="1" indent="0">
              <a:buNone/>
            </a:pPr>
            <a:endParaRPr lang="en-US" altLang="en-US" strike="sngStrike" dirty="0">
              <a:solidFill>
                <a:srgbClr val="FF0000"/>
              </a:solidFill>
            </a:endParaRPr>
          </a:p>
          <a:p>
            <a:pPr marL="690880" lvl="1" indent="0">
              <a:buNone/>
            </a:pPr>
            <a:endParaRPr lang="en-US" altLang="en-US" dirty="0">
              <a:solidFill>
                <a:srgbClr val="FF0000"/>
              </a:solidFill>
            </a:endParaRP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21</a:t>
            </a:fld>
            <a:endParaRPr lang="en-US" altLang="en-US" sz="1600" dirty="0"/>
          </a:p>
        </p:txBody>
      </p:sp>
    </p:spTree>
    <p:extLst>
      <p:ext uri="{BB962C8B-B14F-4D97-AF65-F5344CB8AC3E}">
        <p14:creationId xmlns:p14="http://schemas.microsoft.com/office/powerpoint/2010/main" val="26209090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Change an Asset Number – SAP t-code: AS02</a:t>
            </a:r>
            <a:endParaRPr lang="en-US" dirty="0"/>
          </a:p>
        </p:txBody>
      </p:sp>
      <p:sp>
        <p:nvSpPr>
          <p:cNvPr id="3" name="Content Placeholder 2"/>
          <p:cNvSpPr>
            <a:spLocks noGrp="1"/>
          </p:cNvSpPr>
          <p:nvPr>
            <p:ph idx="1"/>
          </p:nvPr>
        </p:nvSpPr>
        <p:spPr>
          <a:xfrm>
            <a:off x="-7620" y="1081669"/>
            <a:ext cx="3769994" cy="5880066"/>
          </a:xfrm>
        </p:spPr>
        <p:txBody>
          <a:bodyPr/>
          <a:lstStyle/>
          <a:p>
            <a:r>
              <a:rPr lang="en-US" dirty="0" smtClean="0"/>
              <a:t>Use SAP t-code: AS02 to make changes to an asset number record</a:t>
            </a:r>
          </a:p>
          <a:p>
            <a:r>
              <a:rPr lang="en-US" dirty="0" smtClean="0"/>
              <a:t>Items that can be updated include:</a:t>
            </a:r>
          </a:p>
          <a:p>
            <a:pPr lvl="1"/>
            <a:r>
              <a:rPr lang="en-US" dirty="0" smtClean="0"/>
              <a:t>Description</a:t>
            </a:r>
          </a:p>
          <a:p>
            <a:pPr lvl="1"/>
            <a:r>
              <a:rPr lang="en-US" dirty="0" smtClean="0"/>
              <a:t>Inventory number</a:t>
            </a:r>
          </a:p>
          <a:p>
            <a:pPr lvl="1"/>
            <a:r>
              <a:rPr lang="en-US" dirty="0" smtClean="0"/>
              <a:t>Quantity</a:t>
            </a:r>
          </a:p>
        </p:txBody>
      </p:sp>
      <p:pic>
        <p:nvPicPr>
          <p:cNvPr id="4" name="Picture 3"/>
          <p:cNvPicPr>
            <a:picLocks noChangeAspect="1"/>
          </p:cNvPicPr>
          <p:nvPr/>
        </p:nvPicPr>
        <p:blipFill>
          <a:blip r:embed="rId2"/>
          <a:stretch>
            <a:fillRect/>
          </a:stretch>
        </p:blipFill>
        <p:spPr>
          <a:xfrm>
            <a:off x="3762374" y="1081669"/>
            <a:ext cx="9850721" cy="6427523"/>
          </a:xfrm>
          <a:prstGeom prst="rect">
            <a:avLst/>
          </a:prstGeom>
        </p:spPr>
      </p:pic>
      <p:sp>
        <p:nvSpPr>
          <p:cNvPr id="5" name="Rectangle 4"/>
          <p:cNvSpPr/>
          <p:nvPr/>
        </p:nvSpPr>
        <p:spPr>
          <a:xfrm>
            <a:off x="3960910" y="3764343"/>
            <a:ext cx="8393650" cy="2514537"/>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469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2.2: Change an Asset Number</a:t>
            </a:r>
            <a:endParaRPr lang="en-US" altLang="en-US" sz="4200"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An existing asset number requires a change to the Description, Business Area, and Cost Center</a:t>
            </a:r>
          </a:p>
          <a:p>
            <a:pPr marL="517525" indent="-517525"/>
            <a:r>
              <a:rPr lang="en-US" altLang="en-US" dirty="0" smtClean="0"/>
              <a:t>Notes</a:t>
            </a:r>
            <a:endParaRPr lang="en-US" altLang="en-US" dirty="0"/>
          </a:p>
          <a:p>
            <a:pPr marL="1122045" lvl="1" indent="-431165"/>
            <a:r>
              <a:rPr lang="en-US" altLang="en-US" dirty="0" smtClean="0">
                <a:latin typeface="Fujitsu Sans"/>
              </a:rPr>
              <a:t>Transaction </a:t>
            </a:r>
            <a:r>
              <a:rPr lang="en-US" altLang="en-US" dirty="0">
                <a:latin typeface="Fujitsu Sans"/>
              </a:rPr>
              <a:t>Code: </a:t>
            </a:r>
            <a:r>
              <a:rPr lang="en-US" altLang="en-US" dirty="0" smtClean="0">
                <a:latin typeface="Fujitsu Sans"/>
              </a:rPr>
              <a:t>AS02</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23</a:t>
            </a:fld>
            <a:endParaRPr lang="en-US" altLang="en-US" sz="1600" dirty="0"/>
          </a:p>
        </p:txBody>
      </p:sp>
    </p:spTree>
    <p:extLst>
      <p:ext uri="{BB962C8B-B14F-4D97-AF65-F5344CB8AC3E}">
        <p14:creationId xmlns:p14="http://schemas.microsoft.com/office/powerpoint/2010/main" val="39765756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2.2: Change an Asset Number</a:t>
            </a:r>
            <a:endParaRPr lang="en-US" altLang="en-US" sz="4200" dirty="0"/>
          </a:p>
        </p:txBody>
      </p:sp>
      <p:sp>
        <p:nvSpPr>
          <p:cNvPr id="69637" name="Rectangle 3"/>
          <p:cNvSpPr>
            <a:spLocks noGrp="1" noChangeArrowheads="1"/>
          </p:cNvSpPr>
          <p:nvPr>
            <p:ph idx="1"/>
          </p:nvPr>
        </p:nvSpPr>
        <p:spPr>
          <a:xfrm>
            <a:off x="299983" y="902993"/>
            <a:ext cx="12827000" cy="2967817"/>
          </a:xfrm>
        </p:spPr>
        <p:txBody>
          <a:bodyPr/>
          <a:lstStyle/>
          <a:p>
            <a:pPr marL="517525" indent="-517525"/>
            <a:r>
              <a:rPr lang="en-US" altLang="en-US" dirty="0"/>
              <a:t>An existing asset number requires a change to the Description, Business Area, and Cost Center</a:t>
            </a:r>
          </a:p>
          <a:p>
            <a:r>
              <a:rPr lang="en-US" altLang="en-US" dirty="0" smtClean="0"/>
              <a:t>Create </a:t>
            </a:r>
            <a:r>
              <a:rPr lang="en-US" altLang="en-US" dirty="0"/>
              <a:t>Asset </a:t>
            </a:r>
            <a:r>
              <a:rPr lang="en-US" altLang="en-US" dirty="0" smtClean="0"/>
              <a:t>Number</a:t>
            </a:r>
            <a:endParaRPr lang="en-US" altLang="en-US" dirty="0" smtClean="0"/>
          </a:p>
          <a:p>
            <a:pPr marL="517525" indent="-517525"/>
            <a:r>
              <a:rPr lang="en-US" altLang="en-US" dirty="0"/>
              <a:t>Notes</a:t>
            </a:r>
          </a:p>
          <a:p>
            <a:pPr marL="1122045" lvl="1" indent="-431165"/>
            <a:r>
              <a:rPr lang="en-US" altLang="en-US" dirty="0">
                <a:latin typeface="Fujitsu Sans"/>
              </a:rPr>
              <a:t>Transaction Code: </a:t>
            </a:r>
            <a:r>
              <a:rPr lang="en-US" altLang="en-US" dirty="0" smtClean="0">
                <a:latin typeface="Fujitsu Sans"/>
              </a:rPr>
              <a:t>AS02</a:t>
            </a:r>
          </a:p>
          <a:p>
            <a:pPr marL="1122045" lvl="1" indent="-431165"/>
            <a:r>
              <a:rPr lang="en-US" altLang="en-US" b="1" dirty="0" smtClean="0">
                <a:latin typeface="Fujitsu Sans"/>
              </a:rPr>
              <a:t>Business Area </a:t>
            </a:r>
            <a:r>
              <a:rPr lang="en-US" altLang="en-US" dirty="0" smtClean="0">
                <a:latin typeface="Fujitsu Sans"/>
              </a:rPr>
              <a:t>and </a:t>
            </a:r>
            <a:r>
              <a:rPr lang="en-US" altLang="en-US" b="1" dirty="0" smtClean="0">
                <a:latin typeface="Fujitsu Sans"/>
              </a:rPr>
              <a:t>Cost Center </a:t>
            </a:r>
            <a:r>
              <a:rPr lang="en-US" altLang="en-US" dirty="0" smtClean="0">
                <a:latin typeface="Fujitsu Sans"/>
              </a:rPr>
              <a:t>fields are located on the Time-Dependent tab</a:t>
            </a:r>
            <a:endParaRPr lang="en-US" altLang="en-US" dirty="0"/>
          </a:p>
          <a:p>
            <a:pPr marL="690880" lvl="1" indent="0">
              <a:buNone/>
            </a:pPr>
            <a:endParaRPr lang="en-US" altLang="en-US" strike="sngStrike" dirty="0" smtClean="0">
              <a:solidFill>
                <a:srgbClr val="FF0000"/>
              </a:solidFill>
            </a:endParaRPr>
          </a:p>
          <a:p>
            <a:pPr marL="690880" lvl="1" indent="0">
              <a:buNone/>
            </a:pPr>
            <a:endParaRPr lang="en-US" altLang="en-US" strike="sngStrike" dirty="0" smtClean="0">
              <a:solidFill>
                <a:srgbClr val="FF0000"/>
              </a:solidFill>
            </a:endParaRPr>
          </a:p>
          <a:p>
            <a:pPr marL="690880" lvl="1" indent="0">
              <a:buNone/>
            </a:pPr>
            <a:endParaRPr lang="en-US" altLang="en-US" strike="sngStrike" dirty="0">
              <a:solidFill>
                <a:srgbClr val="FF0000"/>
              </a:solidFill>
            </a:endParaRPr>
          </a:p>
          <a:p>
            <a:pPr marL="690880" lvl="1" indent="0">
              <a:buNone/>
            </a:pPr>
            <a:endParaRPr lang="en-US" altLang="en-US" dirty="0">
              <a:solidFill>
                <a:srgbClr val="FF0000"/>
              </a:solidFill>
            </a:endParaRP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24</a:t>
            </a:fld>
            <a:endParaRPr lang="en-US" altLang="en-US" sz="1600" dirty="0"/>
          </a:p>
        </p:txBody>
      </p:sp>
    </p:spTree>
    <p:extLst>
      <p:ext uri="{BB962C8B-B14F-4D97-AF65-F5344CB8AC3E}">
        <p14:creationId xmlns:p14="http://schemas.microsoft.com/office/powerpoint/2010/main" val="2098291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Creating an Asset Master Record</a:t>
            </a:r>
          </a:p>
        </p:txBody>
      </p:sp>
      <p:sp>
        <p:nvSpPr>
          <p:cNvPr id="64516" name="Rectangle 4"/>
          <p:cNvSpPr>
            <a:spLocks noGrp="1" noChangeArrowheads="1"/>
          </p:cNvSpPr>
          <p:nvPr>
            <p:ph idx="1"/>
          </p:nvPr>
        </p:nvSpPr>
        <p:spPr>
          <a:xfrm>
            <a:off x="237674" y="951043"/>
            <a:ext cx="13296900" cy="5319131"/>
          </a:xfrm>
        </p:spPr>
        <p:txBody>
          <a:bodyPr/>
          <a:lstStyle/>
          <a:p>
            <a:pPr marL="0" indent="0">
              <a:buNone/>
            </a:pPr>
            <a:r>
              <a:rPr lang="en-US" altLang="en-US" dirty="0"/>
              <a:t>Some things to consider when creating an asset:</a:t>
            </a:r>
          </a:p>
          <a:p>
            <a:r>
              <a:rPr lang="en-US" dirty="0"/>
              <a:t>Maintaining fixed assets involves creating, changing, and displaying asset master records </a:t>
            </a:r>
          </a:p>
          <a:p>
            <a:r>
              <a:rPr lang="en-US" dirty="0"/>
              <a:t>Key features of Asset Master Data are:</a:t>
            </a:r>
          </a:p>
          <a:p>
            <a:pPr lvl="1"/>
            <a:r>
              <a:rPr lang="en-US" dirty="0"/>
              <a:t>Master data does not change frequently</a:t>
            </a:r>
          </a:p>
          <a:p>
            <a:pPr lvl="1"/>
            <a:r>
              <a:rPr lang="en-US" dirty="0"/>
              <a:t>Fixed number of key attributes can be used to capture the relevant details of the asset for analysis and reporting</a:t>
            </a:r>
          </a:p>
          <a:p>
            <a:r>
              <a:rPr lang="en-US" altLang="en-US" dirty="0"/>
              <a:t>The data provided for the master record is based on the purchase information</a:t>
            </a:r>
          </a:p>
          <a:p>
            <a:pPr marL="690841" lvl="1" indent="0">
              <a:buNone/>
            </a:pPr>
            <a:endParaRPr 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25</a:t>
            </a:fld>
            <a:endParaRPr lang="en-US" altLang="en-US" sz="1600" dirty="0"/>
          </a:p>
        </p:txBody>
      </p:sp>
      <p:graphicFrame>
        <p:nvGraphicFramePr>
          <p:cNvPr id="7" name="Diagram 6"/>
          <p:cNvGraphicFramePr/>
          <p:nvPr>
            <p:extLst>
              <p:ext uri="{D42A27DB-BD31-4B8C-83A1-F6EECF244321}">
                <p14:modId xmlns:p14="http://schemas.microsoft.com/office/powerpoint/2010/main" val="2995691785"/>
              </p:ext>
            </p:extLst>
          </p:nvPr>
        </p:nvGraphicFramePr>
        <p:xfrm>
          <a:off x="108859" y="638922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1400590" y="6609143"/>
            <a:ext cx="766408" cy="75979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14965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84C3-B887-46E1-8F0B-1609CFD1ED9B}"/>
              </a:ext>
            </a:extLst>
          </p:cNvPr>
          <p:cNvSpPr>
            <a:spLocks noGrp="1"/>
          </p:cNvSpPr>
          <p:nvPr>
            <p:ph type="title"/>
          </p:nvPr>
        </p:nvSpPr>
        <p:spPr/>
        <p:txBody>
          <a:bodyPr/>
          <a:lstStyle/>
          <a:p>
            <a:r>
              <a:rPr lang="en-US" dirty="0"/>
              <a:t>Asset Master Data Attributes</a:t>
            </a:r>
          </a:p>
        </p:txBody>
      </p:sp>
      <p:sp>
        <p:nvSpPr>
          <p:cNvPr id="3" name="Content Placeholder 2">
            <a:extLst>
              <a:ext uri="{FF2B5EF4-FFF2-40B4-BE49-F238E27FC236}">
                <a16:creationId xmlns:a16="http://schemas.microsoft.com/office/drawing/2014/main" id="{48A88B54-943C-46E9-A90E-CE3C972F3064}"/>
              </a:ext>
            </a:extLst>
          </p:cNvPr>
          <p:cNvSpPr>
            <a:spLocks noGrp="1"/>
          </p:cNvSpPr>
          <p:nvPr>
            <p:ph idx="1"/>
          </p:nvPr>
        </p:nvSpPr>
        <p:spPr>
          <a:xfrm>
            <a:off x="170121" y="1020709"/>
            <a:ext cx="13375757" cy="5880066"/>
          </a:xfrm>
        </p:spPr>
        <p:txBody>
          <a:bodyPr/>
          <a:lstStyle/>
          <a:p>
            <a:r>
              <a:rPr lang="en-US" sz="3200" dirty="0"/>
              <a:t>Basic information is established when creating the asset master data record:</a:t>
            </a:r>
          </a:p>
          <a:p>
            <a:pPr lvl="1"/>
            <a:r>
              <a:rPr lang="en-US" sz="2700" dirty="0"/>
              <a:t>An asset number to identify the asset</a:t>
            </a:r>
          </a:p>
          <a:p>
            <a:pPr lvl="1"/>
            <a:r>
              <a:rPr lang="en-US" sz="2700" dirty="0"/>
              <a:t>Department responsible for the asset</a:t>
            </a:r>
          </a:p>
          <a:p>
            <a:pPr lvl="1"/>
            <a:r>
              <a:rPr lang="en-US" sz="2700" dirty="0"/>
              <a:t>Cost account for the asset</a:t>
            </a:r>
          </a:p>
          <a:p>
            <a:pPr lvl="1"/>
            <a:r>
              <a:rPr lang="en-US" sz="2700" dirty="0"/>
              <a:t>Date the asset was required</a:t>
            </a:r>
          </a:p>
          <a:p>
            <a:pPr lvl="1"/>
            <a:r>
              <a:rPr lang="en-US" sz="2700" dirty="0"/>
              <a:t>Description that allows you to locate the </a:t>
            </a:r>
            <a:r>
              <a:rPr lang="en-US" sz="2700" dirty="0" smtClean="0"/>
              <a:t>asset</a:t>
            </a:r>
          </a:p>
          <a:p>
            <a:pPr lvl="1"/>
            <a:r>
              <a:rPr lang="en-US" sz="2700" dirty="0"/>
              <a:t>Location</a:t>
            </a:r>
          </a:p>
          <a:p>
            <a:pPr lvl="1"/>
            <a:r>
              <a:rPr lang="en-US" sz="2700" dirty="0"/>
              <a:t>Asset end user</a:t>
            </a:r>
            <a:endParaRPr lang="en-US" sz="2700" dirty="0"/>
          </a:p>
          <a:p>
            <a:pPr marL="518129" lvl="1" indent="-518129">
              <a:buFont typeface="Arial" panose="020B0604020202020204" pitchFamily="34" charset="0"/>
              <a:buChar char="•"/>
            </a:pPr>
            <a:r>
              <a:rPr lang="en-US" dirty="0"/>
              <a:t>To create a master record enter:</a:t>
            </a:r>
          </a:p>
          <a:p>
            <a:pPr lvl="1"/>
            <a:r>
              <a:rPr lang="en-US" sz="2700" dirty="0"/>
              <a:t>General data of the asset</a:t>
            </a:r>
          </a:p>
          <a:p>
            <a:pPr lvl="1"/>
            <a:r>
              <a:rPr lang="en-US" sz="2700" dirty="0"/>
              <a:t>Asset depreciation group</a:t>
            </a:r>
          </a:p>
          <a:p>
            <a:pPr lvl="1"/>
            <a:r>
              <a:rPr lang="en-US" sz="2700" dirty="0"/>
              <a:t> Property tax or Transport tax </a:t>
            </a:r>
            <a:endParaRPr lang="en-US" sz="2700" dirty="0" smtClean="0"/>
          </a:p>
          <a:p>
            <a:pPr marL="690841" lvl="1" indent="0">
              <a:buNone/>
            </a:pPr>
            <a:endParaRPr lang="en-US" sz="2800" dirty="0"/>
          </a:p>
          <a:p>
            <a:pPr marL="690841" lvl="1" indent="0">
              <a:buNone/>
            </a:pPr>
            <a:endParaRPr lang="en-US" dirty="0"/>
          </a:p>
        </p:txBody>
      </p:sp>
    </p:spTree>
    <p:extLst>
      <p:ext uri="{BB962C8B-B14F-4D97-AF65-F5344CB8AC3E}">
        <p14:creationId xmlns:p14="http://schemas.microsoft.com/office/powerpoint/2010/main" val="1479245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2.3</a:t>
            </a:r>
            <a:r>
              <a:rPr lang="en-US" altLang="en-US" sz="4200" dirty="0" smtClean="0"/>
              <a:t>: </a:t>
            </a:r>
            <a:r>
              <a:rPr lang="en-US" altLang="en-US" sz="4200" dirty="0"/>
              <a:t>Create Asset Master Data Record</a:t>
            </a:r>
          </a:p>
        </p:txBody>
      </p:sp>
      <p:sp>
        <p:nvSpPr>
          <p:cNvPr id="79877" name="Rectangle 4"/>
          <p:cNvSpPr>
            <a:spLocks noGrp="1" noChangeArrowheads="1"/>
          </p:cNvSpPr>
          <p:nvPr>
            <p:ph idx="1"/>
          </p:nvPr>
        </p:nvSpPr>
        <p:spPr/>
        <p:txBody>
          <a:bodyPr lIns="91440" tIns="45720" rIns="91440" bIns="45720" anchor="t">
            <a:normAutofit fontScale="92500"/>
          </a:bodyPr>
          <a:lstStyle/>
          <a:p>
            <a:pPr marL="517525" indent="-517525"/>
            <a:r>
              <a:rPr lang="en-US" altLang="en-US" dirty="0"/>
              <a:t>The FAI organization has purchased computer equipment for the Dallas location. An asset master record must be created</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a:latin typeface="Fujitsu Sans"/>
              </a:rPr>
              <a:t>Code: </a:t>
            </a:r>
            <a:r>
              <a:rPr lang="en-US" altLang="en-US" dirty="0" smtClean="0">
                <a:latin typeface="Fujitsu Sans"/>
              </a:rPr>
              <a:t>AB01</a:t>
            </a:r>
            <a:endParaRPr lang="en-US" altLang="en-US" dirty="0"/>
          </a:p>
          <a:p>
            <a:pPr marL="1122045" lvl="1" indent="-431165"/>
            <a:r>
              <a:rPr lang="en-US" altLang="en-US" dirty="0"/>
              <a:t>An asset number must exist in </a:t>
            </a:r>
            <a:r>
              <a:rPr lang="en-US" altLang="en-US" dirty="0" smtClean="0"/>
              <a:t>the system </a:t>
            </a:r>
            <a:r>
              <a:rPr lang="en-US" altLang="en-US" dirty="0"/>
              <a:t>prior to creating a purchase requisition for </a:t>
            </a:r>
            <a:r>
              <a:rPr lang="en-US" altLang="en-US" dirty="0" smtClean="0"/>
              <a:t>the </a:t>
            </a:r>
            <a:r>
              <a:rPr lang="en-US" altLang="en-US" dirty="0" smtClean="0"/>
              <a:t>asset</a:t>
            </a:r>
            <a:endParaRPr lang="en-US" altLang="en-US" strike="sngStrike" dirty="0"/>
          </a:p>
          <a:p>
            <a:pPr marL="1122045" lvl="1" indent="-431165"/>
            <a:r>
              <a:rPr lang="en-US" altLang="en-US" dirty="0"/>
              <a:t>Prior </a:t>
            </a:r>
            <a:r>
              <a:rPr lang="en-US" altLang="en-US" dirty="0"/>
              <a:t>to the purchase of an asset, the PR </a:t>
            </a:r>
            <a:r>
              <a:rPr lang="en-US" altLang="en-US" dirty="0"/>
              <a:t>requestor sends </a:t>
            </a:r>
            <a:r>
              <a:rPr lang="en-US" altLang="en-US" dirty="0"/>
              <a:t>the accounting team a request for asset number via email </a:t>
            </a:r>
            <a:r>
              <a:rPr lang="en-US" altLang="en-US" dirty="0" smtClean="0"/>
              <a:t>which contains </a:t>
            </a:r>
            <a:r>
              <a:rPr lang="en-US" altLang="en-US" dirty="0"/>
              <a:t>all information </a:t>
            </a:r>
            <a:r>
              <a:rPr lang="en-US" altLang="en-US" dirty="0" smtClean="0"/>
              <a:t>required</a:t>
            </a:r>
          </a:p>
          <a:p>
            <a:pPr marL="1122045" lvl="1" indent="-431165"/>
            <a:r>
              <a:rPr lang="en-US" altLang="en-US" dirty="0" smtClean="0"/>
              <a:t>Once </a:t>
            </a:r>
            <a:r>
              <a:rPr lang="en-US" altLang="en-US" dirty="0"/>
              <a:t>approved the asset master record is created and the asset number is sent to the PR </a:t>
            </a:r>
            <a:r>
              <a:rPr lang="en-US" altLang="en-US" dirty="0" smtClean="0"/>
              <a:t>requestor</a:t>
            </a:r>
            <a:r>
              <a:rPr lang="en-US" altLang="en-US" dirty="0" smtClean="0">
                <a:solidFill>
                  <a:srgbClr val="00B0F0"/>
                </a:solidFill>
              </a:rPr>
              <a:t> </a:t>
            </a:r>
            <a:endParaRPr lang="en-US" altLang="en-US" strike="sngStrike" dirty="0">
              <a:solidFill>
                <a:srgbClr val="FF0000"/>
              </a:solidFill>
            </a:endParaRPr>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27</a:t>
            </a:fld>
            <a:endParaRPr lang="en-US" altLang="en-US" sz="1600" dirty="0"/>
          </a:p>
        </p:txBody>
      </p:sp>
    </p:spTree>
    <p:extLst>
      <p:ext uri="{BB962C8B-B14F-4D97-AF65-F5344CB8AC3E}">
        <p14:creationId xmlns:p14="http://schemas.microsoft.com/office/powerpoint/2010/main" val="36776844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2.3</a:t>
            </a:r>
            <a:r>
              <a:rPr lang="en-US" altLang="en-US" sz="4200" dirty="0" smtClean="0"/>
              <a:t>: </a:t>
            </a:r>
            <a:r>
              <a:rPr lang="en-US" altLang="en-US" sz="4200" dirty="0"/>
              <a:t>Create Asset Master Data Record</a:t>
            </a:r>
          </a:p>
        </p:txBody>
      </p:sp>
      <p:sp>
        <p:nvSpPr>
          <p:cNvPr id="69637" name="Rectangle 3"/>
          <p:cNvSpPr>
            <a:spLocks noGrp="1" noChangeArrowheads="1"/>
          </p:cNvSpPr>
          <p:nvPr>
            <p:ph idx="1"/>
          </p:nvPr>
        </p:nvSpPr>
        <p:spPr>
          <a:xfrm>
            <a:off x="299983" y="902993"/>
            <a:ext cx="12827000" cy="2967817"/>
          </a:xfrm>
        </p:spPr>
        <p:txBody>
          <a:bodyPr/>
          <a:lstStyle/>
          <a:p>
            <a:r>
              <a:rPr lang="en-US" altLang="en-US" dirty="0"/>
              <a:t>The FAI organization has purchased computer equipment for the Dallas location. An asset master record must be created</a:t>
            </a:r>
          </a:p>
          <a:p>
            <a:r>
              <a:rPr lang="en-US" altLang="en-US" dirty="0"/>
              <a:t>Create Asset Master Data </a:t>
            </a:r>
            <a:r>
              <a:rPr lang="en-US" altLang="en-US" dirty="0" smtClean="0"/>
              <a:t>Record</a:t>
            </a:r>
          </a:p>
          <a:p>
            <a:pPr marL="517525" indent="-517525"/>
            <a:r>
              <a:rPr lang="en-US" altLang="en-US" dirty="0"/>
              <a:t>Notes</a:t>
            </a:r>
          </a:p>
          <a:p>
            <a:pPr marL="1122045" lvl="1" indent="-431165"/>
            <a:r>
              <a:rPr lang="en-US" altLang="en-US" dirty="0">
                <a:latin typeface="Fujitsu Sans"/>
              </a:rPr>
              <a:t>Transaction Code: </a:t>
            </a:r>
            <a:r>
              <a:rPr lang="en-US" altLang="en-US" dirty="0" smtClean="0">
                <a:latin typeface="Fujitsu Sans"/>
              </a:rPr>
              <a:t>AB01</a:t>
            </a:r>
            <a:endParaRPr lang="en-US" altLang="en-US" dirty="0"/>
          </a:p>
          <a:p>
            <a:pPr marL="690880" lvl="1" indent="0">
              <a:buNone/>
            </a:pPr>
            <a:endParaRPr lang="en-US" altLang="en-US" strike="sngStrike" dirty="0" smtClean="0">
              <a:solidFill>
                <a:srgbClr val="FF0000"/>
              </a:solidFill>
            </a:endParaRPr>
          </a:p>
          <a:p>
            <a:pPr marL="690880" lvl="1" indent="0">
              <a:buNone/>
            </a:pPr>
            <a:endParaRPr lang="en-US" altLang="en-US" strike="sngStrike" dirty="0" smtClean="0">
              <a:solidFill>
                <a:srgbClr val="FF0000"/>
              </a:solidFill>
            </a:endParaRPr>
          </a:p>
          <a:p>
            <a:pPr marL="690880" lvl="1" indent="0">
              <a:buNone/>
            </a:pPr>
            <a:endParaRPr lang="en-US" altLang="en-US" strike="sngStrike" dirty="0">
              <a:solidFill>
                <a:srgbClr val="FF0000"/>
              </a:solidFill>
            </a:endParaRPr>
          </a:p>
          <a:p>
            <a:pPr marL="690880" lvl="1" indent="0">
              <a:buNone/>
            </a:pPr>
            <a:endParaRPr lang="en-US" altLang="en-US" dirty="0">
              <a:solidFill>
                <a:srgbClr val="FF0000"/>
              </a:solidFill>
            </a:endParaRP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28</a:t>
            </a:fld>
            <a:endParaRPr lang="en-US" altLang="en-US" sz="1600" dirty="0"/>
          </a:p>
        </p:txBody>
      </p:sp>
    </p:spTree>
    <p:extLst>
      <p:ext uri="{BB962C8B-B14F-4D97-AF65-F5344CB8AC3E}">
        <p14:creationId xmlns:p14="http://schemas.microsoft.com/office/powerpoint/2010/main" val="8270072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184C3-B887-46E1-8F0B-1609CFD1ED9B}"/>
              </a:ext>
            </a:extLst>
          </p:cNvPr>
          <p:cNvSpPr>
            <a:spLocks noGrp="1"/>
          </p:cNvSpPr>
          <p:nvPr>
            <p:ph type="title"/>
          </p:nvPr>
        </p:nvSpPr>
        <p:spPr/>
        <p:txBody>
          <a:bodyPr/>
          <a:lstStyle/>
          <a:p>
            <a:r>
              <a:rPr lang="en-US" dirty="0"/>
              <a:t>Adjusting an Asset - Revaluation</a:t>
            </a:r>
          </a:p>
        </p:txBody>
      </p:sp>
      <p:sp>
        <p:nvSpPr>
          <p:cNvPr id="3" name="Content Placeholder 2">
            <a:extLst>
              <a:ext uri="{FF2B5EF4-FFF2-40B4-BE49-F238E27FC236}">
                <a16:creationId xmlns:a16="http://schemas.microsoft.com/office/drawing/2014/main" id="{48A88B54-943C-46E9-A90E-CE3C972F3064}"/>
              </a:ext>
            </a:extLst>
          </p:cNvPr>
          <p:cNvSpPr>
            <a:spLocks noGrp="1"/>
          </p:cNvSpPr>
          <p:nvPr>
            <p:ph idx="1"/>
          </p:nvPr>
        </p:nvSpPr>
        <p:spPr>
          <a:xfrm>
            <a:off x="520700" y="938794"/>
            <a:ext cx="12827000" cy="5880066"/>
          </a:xfrm>
        </p:spPr>
        <p:txBody>
          <a:bodyPr/>
          <a:lstStyle/>
          <a:p>
            <a:r>
              <a:rPr lang="en-US" dirty="0"/>
              <a:t>Revaluation of fixed assets is the process of increasing or decreasing their carrying value in case of major changes in fair market value of the fixed asset </a:t>
            </a:r>
          </a:p>
          <a:p>
            <a:r>
              <a:rPr lang="en-US" dirty="0"/>
              <a:t>Perform the following to process asset revaluation/impairment:</a:t>
            </a:r>
          </a:p>
          <a:p>
            <a:pPr lvl="1"/>
            <a:r>
              <a:rPr lang="en-US" sz="3600" dirty="0"/>
              <a:t>Execute Asset revaluation </a:t>
            </a:r>
          </a:p>
          <a:p>
            <a:pPr lvl="1"/>
            <a:r>
              <a:rPr lang="en-US" sz="3600" dirty="0"/>
              <a:t>Run Depreciation (month End) </a:t>
            </a:r>
          </a:p>
          <a:p>
            <a:pPr marL="0" lvl="0" indent="0">
              <a:buNone/>
            </a:pPr>
            <a:r>
              <a:rPr lang="en-US" dirty="0"/>
              <a:t>* The posting is not reflected in G/L until the depreciation has been run for the period. </a:t>
            </a:r>
          </a:p>
          <a:p>
            <a:pPr marL="690841" lvl="1" indent="0">
              <a:buNone/>
            </a:pPr>
            <a:endParaRPr lang="en-US" dirty="0"/>
          </a:p>
        </p:txBody>
      </p:sp>
      <p:sp>
        <p:nvSpPr>
          <p:cNvPr id="6" name="Rectangle 5"/>
          <p:cNvSpPr/>
          <p:nvPr/>
        </p:nvSpPr>
        <p:spPr>
          <a:xfrm>
            <a:off x="2057815" y="6609143"/>
            <a:ext cx="766408" cy="75979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Diagram 6"/>
          <p:cNvGraphicFramePr/>
          <p:nvPr>
            <p:extLst>
              <p:ext uri="{D42A27DB-BD31-4B8C-83A1-F6EECF244321}">
                <p14:modId xmlns:p14="http://schemas.microsoft.com/office/powerpoint/2010/main" val="3052717739"/>
              </p:ext>
            </p:extLst>
          </p:nvPr>
        </p:nvGraphicFramePr>
        <p:xfrm>
          <a:off x="108859" y="6389225"/>
          <a:ext cx="5273370" cy="1187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583743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lIns="91440" tIns="45720" rIns="91440" bIns="45720" anchor="t"/>
          <a:lstStyle/>
          <a:p>
            <a:r>
              <a:rPr lang="en-US">
                <a:latin typeface="Fujitsu Sans"/>
              </a:rPr>
              <a:t>Revaluation/Impairments Process Flow</a:t>
            </a:r>
          </a:p>
        </p:txBody>
      </p:sp>
      <p:grpSp>
        <p:nvGrpSpPr>
          <p:cNvPr id="3" name="Group 2"/>
          <p:cNvGrpSpPr/>
          <p:nvPr/>
        </p:nvGrpSpPr>
        <p:grpSpPr>
          <a:xfrm>
            <a:off x="44712" y="915565"/>
            <a:ext cx="13561874" cy="6610649"/>
            <a:chOff x="255726" y="915566"/>
            <a:chExt cx="8714358" cy="3979826"/>
          </a:xfrm>
        </p:grpSpPr>
        <p:grpSp>
          <p:nvGrpSpPr>
            <p:cNvPr id="4" name="Group 3"/>
            <p:cNvGrpSpPr/>
            <p:nvPr/>
          </p:nvGrpSpPr>
          <p:grpSpPr>
            <a:xfrm>
              <a:off x="255726" y="915566"/>
              <a:ext cx="8713663" cy="3979826"/>
              <a:chOff x="250825" y="968188"/>
              <a:chExt cx="8425631" cy="3907818"/>
            </a:xfrm>
          </p:grpSpPr>
          <p:sp>
            <p:nvSpPr>
              <p:cNvPr id="7" name="Rectangle 6"/>
              <p:cNvSpPr/>
              <p:nvPr/>
            </p:nvSpPr>
            <p:spPr>
              <a:xfrm>
                <a:off x="250825" y="968188"/>
                <a:ext cx="8425631" cy="3907818"/>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sp>
            <p:nvSpPr>
              <p:cNvPr id="8" name="Rectangle 7"/>
              <p:cNvSpPr/>
              <p:nvPr/>
            </p:nvSpPr>
            <p:spPr>
              <a:xfrm>
                <a:off x="250825" y="968188"/>
                <a:ext cx="8425631" cy="235410"/>
              </a:xfrm>
              <a:prstGeom prst="rect">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bIns="0" rtlCol="0" anchor="t" anchorCtr="0">
                <a:normAutofit/>
              </a:bodyPr>
              <a:lstStyle/>
              <a:p>
                <a:pPr algn="ctr"/>
                <a:endParaRPr lang="en-US" sz="1600" dirty="0">
                  <a:solidFill>
                    <a:schemeClr val="tx1"/>
                  </a:solidFill>
                </a:endParaRPr>
              </a:p>
            </p:txBody>
          </p:sp>
        </p:grpSp>
        <p:sp>
          <p:nvSpPr>
            <p:cNvPr id="5" name="Flowchart: Process 4"/>
            <p:cNvSpPr/>
            <p:nvPr/>
          </p:nvSpPr>
          <p:spPr>
            <a:xfrm>
              <a:off x="256421" y="1871056"/>
              <a:ext cx="8713663" cy="792088"/>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sp>
          <p:nvSpPr>
            <p:cNvPr id="6" name="Flowchart: Process 5"/>
            <p:cNvSpPr/>
            <p:nvPr/>
          </p:nvSpPr>
          <p:spPr>
            <a:xfrm>
              <a:off x="255726" y="3388599"/>
              <a:ext cx="8713663" cy="792088"/>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grpSp>
      <p:sp>
        <p:nvSpPr>
          <p:cNvPr id="9" name="TextBox 8"/>
          <p:cNvSpPr txBox="1"/>
          <p:nvPr/>
        </p:nvSpPr>
        <p:spPr>
          <a:xfrm>
            <a:off x="234462" y="867509"/>
            <a:ext cx="6166338" cy="503664"/>
          </a:xfrm>
          <a:prstGeom prst="rect">
            <a:avLst/>
          </a:prstGeom>
          <a:noFill/>
        </p:spPr>
        <p:txBody>
          <a:bodyPr wrap="square" rtlCol="0">
            <a:spAutoFit/>
          </a:bodyPr>
          <a:lstStyle/>
          <a:p>
            <a:r>
              <a:rPr lang="en-US" dirty="0"/>
              <a:t>Revaluation</a:t>
            </a:r>
          </a:p>
        </p:txBody>
      </p:sp>
      <p:grpSp>
        <p:nvGrpSpPr>
          <p:cNvPr id="10" name="Group 9"/>
          <p:cNvGrpSpPr/>
          <p:nvPr/>
        </p:nvGrpSpPr>
        <p:grpSpPr>
          <a:xfrm>
            <a:off x="70338" y="1313796"/>
            <a:ext cx="1195754" cy="6260474"/>
            <a:chOff x="259525" y="1164260"/>
            <a:chExt cx="361430" cy="3721393"/>
          </a:xfrm>
        </p:grpSpPr>
        <p:sp>
          <p:nvSpPr>
            <p:cNvPr id="11" name="Flowchart: Process 10"/>
            <p:cNvSpPr/>
            <p:nvPr/>
          </p:nvSpPr>
          <p:spPr>
            <a:xfrm>
              <a:off x="259525" y="1164260"/>
              <a:ext cx="360735" cy="696264"/>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rIns="91440" bIns="27432" rtlCol="0" anchor="ctr" anchorCtr="1">
              <a:normAutofit/>
            </a:bodyPr>
            <a:lstStyle/>
            <a:p>
              <a:pPr algn="ctr"/>
              <a:r>
                <a:rPr lang="en-US" sz="1800" dirty="0">
                  <a:solidFill>
                    <a:schemeClr val="tx1"/>
                  </a:solidFill>
                  <a:cs typeface="Arial"/>
                </a:rPr>
                <a:t>BU</a:t>
              </a:r>
            </a:p>
          </p:txBody>
        </p:sp>
        <p:sp>
          <p:nvSpPr>
            <p:cNvPr id="12" name="Flowchart: Process 11"/>
            <p:cNvSpPr/>
            <p:nvPr/>
          </p:nvSpPr>
          <p:spPr>
            <a:xfrm>
              <a:off x="259525" y="1871056"/>
              <a:ext cx="360735" cy="782349"/>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rIns="91440" bIns="27432" rtlCol="0" anchor="ctr" anchorCtr="0">
              <a:normAutofit/>
            </a:bodyPr>
            <a:lstStyle/>
            <a:p>
              <a:pPr algn="ctr"/>
              <a:r>
                <a:rPr lang="en-US" sz="1800" dirty="0">
                  <a:solidFill>
                    <a:schemeClr val="tx1"/>
                  </a:solidFill>
                </a:rPr>
                <a:t>FA </a:t>
              </a:r>
            </a:p>
            <a:p>
              <a:pPr algn="ctr"/>
              <a:r>
                <a:rPr lang="en-US" sz="1800" dirty="0">
                  <a:solidFill>
                    <a:schemeClr val="tx1"/>
                  </a:solidFill>
                </a:rPr>
                <a:t>Accountant</a:t>
              </a:r>
            </a:p>
          </p:txBody>
        </p:sp>
        <p:sp>
          <p:nvSpPr>
            <p:cNvPr id="13" name="Flowchart: Process 12"/>
            <p:cNvSpPr/>
            <p:nvPr/>
          </p:nvSpPr>
          <p:spPr>
            <a:xfrm>
              <a:off x="259525" y="2663144"/>
              <a:ext cx="360735" cy="725455"/>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sp>
          <p:nvSpPr>
            <p:cNvPr id="14" name="Flowchart: Process 13"/>
            <p:cNvSpPr/>
            <p:nvPr/>
          </p:nvSpPr>
          <p:spPr>
            <a:xfrm>
              <a:off x="260220" y="3388599"/>
              <a:ext cx="360735" cy="782349"/>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sp>
          <p:nvSpPr>
            <p:cNvPr id="15" name="Flowchart: Process 14"/>
            <p:cNvSpPr/>
            <p:nvPr/>
          </p:nvSpPr>
          <p:spPr>
            <a:xfrm>
              <a:off x="260220" y="4180687"/>
              <a:ext cx="360735" cy="704966"/>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grpSp>
      <p:sp>
        <p:nvSpPr>
          <p:cNvPr id="16" name="Flowchart: Process 15"/>
          <p:cNvSpPr/>
          <p:nvPr/>
        </p:nvSpPr>
        <p:spPr>
          <a:xfrm>
            <a:off x="1427916" y="1361852"/>
            <a:ext cx="1683773" cy="1083443"/>
          </a:xfrm>
          <a:prstGeom prst="flowChartProcess">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Request Asset Revaluation</a:t>
            </a:r>
          </a:p>
        </p:txBody>
      </p:sp>
      <p:cxnSp>
        <p:nvCxnSpPr>
          <p:cNvPr id="17" name="Elbow Connector 16"/>
          <p:cNvCxnSpPr/>
          <p:nvPr/>
        </p:nvCxnSpPr>
        <p:spPr>
          <a:xfrm rot="16200000" flipV="1">
            <a:off x="2901578" y="2044830"/>
            <a:ext cx="1217759" cy="728325"/>
          </a:xfrm>
          <a:prstGeom prst="bentConnector3">
            <a:avLst>
              <a:gd name="adj1" fmla="val 100433"/>
            </a:avLst>
          </a:prstGeom>
          <a:ln w="1905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6484664" y="2044144"/>
            <a:ext cx="397146" cy="230832"/>
          </a:xfrm>
          <a:prstGeom prst="rect">
            <a:avLst/>
          </a:prstGeom>
          <a:noFill/>
        </p:spPr>
        <p:txBody>
          <a:bodyPr wrap="square" rtlCol="0">
            <a:spAutoFit/>
          </a:bodyPr>
          <a:lstStyle/>
          <a:p>
            <a:endParaRPr lang="en-US" sz="900" b="1" dirty="0">
              <a:solidFill>
                <a:srgbClr val="00973E"/>
              </a:solidFill>
            </a:endParaRPr>
          </a:p>
        </p:txBody>
      </p:sp>
      <p:cxnSp>
        <p:nvCxnSpPr>
          <p:cNvPr id="28" name="Elbow Connector 27"/>
          <p:cNvCxnSpPr/>
          <p:nvPr/>
        </p:nvCxnSpPr>
        <p:spPr>
          <a:xfrm rot="5400000">
            <a:off x="2061216" y="2675011"/>
            <a:ext cx="451779" cy="4"/>
          </a:xfrm>
          <a:prstGeom prst="bentConnector3">
            <a:avLst>
              <a:gd name="adj1" fmla="val 50000"/>
            </a:avLst>
          </a:prstGeom>
          <a:ln w="22225">
            <a:solidFill>
              <a:schemeClr val="tx1">
                <a:lumMod val="50000"/>
                <a:lumOff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0" name="Flowchart: Process 29"/>
          <p:cNvSpPr/>
          <p:nvPr/>
        </p:nvSpPr>
        <p:spPr>
          <a:xfrm>
            <a:off x="1364813" y="2834097"/>
            <a:ext cx="1844580" cy="984265"/>
          </a:xfrm>
          <a:prstGeom prst="flowChartProcess">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Execute Asset Revaluation?</a:t>
            </a:r>
          </a:p>
        </p:txBody>
      </p:sp>
      <p:sp>
        <p:nvSpPr>
          <p:cNvPr id="38" name="TextBox 37"/>
          <p:cNvSpPr txBox="1"/>
          <p:nvPr/>
        </p:nvSpPr>
        <p:spPr>
          <a:xfrm>
            <a:off x="3337556" y="1909469"/>
            <a:ext cx="425116" cy="307777"/>
          </a:xfrm>
          <a:prstGeom prst="rect">
            <a:avLst/>
          </a:prstGeom>
          <a:noFill/>
        </p:spPr>
        <p:txBody>
          <a:bodyPr wrap="none" rtlCol="0">
            <a:spAutoFit/>
          </a:bodyPr>
          <a:lstStyle/>
          <a:p>
            <a:r>
              <a:rPr lang="en-US" sz="1400" b="1" dirty="0">
                <a:solidFill>
                  <a:srgbClr val="FF0000"/>
                </a:solidFill>
              </a:rPr>
              <a:t>NO</a:t>
            </a:r>
          </a:p>
        </p:txBody>
      </p:sp>
      <p:sp>
        <p:nvSpPr>
          <p:cNvPr id="52" name="Flowchart: Process 51"/>
          <p:cNvSpPr/>
          <p:nvPr/>
        </p:nvSpPr>
        <p:spPr>
          <a:xfrm>
            <a:off x="4192185" y="2820449"/>
            <a:ext cx="1844580" cy="1013833"/>
          </a:xfrm>
          <a:prstGeom prst="flowChartProcess">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Run Depreciation</a:t>
            </a:r>
          </a:p>
        </p:txBody>
      </p:sp>
      <p:grpSp>
        <p:nvGrpSpPr>
          <p:cNvPr id="54" name="Group 53"/>
          <p:cNvGrpSpPr/>
          <p:nvPr/>
        </p:nvGrpSpPr>
        <p:grpSpPr>
          <a:xfrm>
            <a:off x="3209396" y="3236638"/>
            <a:ext cx="981706" cy="307777"/>
            <a:chOff x="3946467" y="1299286"/>
            <a:chExt cx="409509" cy="296489"/>
          </a:xfrm>
        </p:grpSpPr>
        <p:cxnSp>
          <p:nvCxnSpPr>
            <p:cNvPr id="55" name="Straight Arrow Connector 54"/>
            <p:cNvCxnSpPr/>
            <p:nvPr/>
          </p:nvCxnSpPr>
          <p:spPr>
            <a:xfrm flipV="1">
              <a:off x="3946467" y="1563638"/>
              <a:ext cx="409509" cy="9697"/>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068244" y="1299286"/>
              <a:ext cx="224030" cy="296489"/>
            </a:xfrm>
            <a:prstGeom prst="rect">
              <a:avLst/>
            </a:prstGeom>
            <a:noFill/>
          </p:spPr>
          <p:txBody>
            <a:bodyPr wrap="square" rtlCol="0">
              <a:spAutoFit/>
            </a:bodyPr>
            <a:lstStyle/>
            <a:p>
              <a:r>
                <a:rPr lang="en-US" sz="1400" b="1" dirty="0">
                  <a:solidFill>
                    <a:srgbClr val="00973E"/>
                  </a:solidFill>
                </a:rPr>
                <a:t>YES</a:t>
              </a:r>
            </a:p>
          </p:txBody>
        </p:sp>
      </p:grpSp>
      <p:cxnSp>
        <p:nvCxnSpPr>
          <p:cNvPr id="60" name="Straight Arrow Connector 59"/>
          <p:cNvCxnSpPr/>
          <p:nvPr/>
        </p:nvCxnSpPr>
        <p:spPr>
          <a:xfrm>
            <a:off x="3212128" y="3017872"/>
            <a:ext cx="662492" cy="0"/>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62" name="Straight Arrow Connector 61"/>
          <p:cNvCxnSpPr/>
          <p:nvPr/>
        </p:nvCxnSpPr>
        <p:spPr>
          <a:xfrm flipV="1">
            <a:off x="6050412" y="3534770"/>
            <a:ext cx="227558" cy="2270"/>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67" name="Flowchart: Process 66"/>
          <p:cNvSpPr/>
          <p:nvPr/>
        </p:nvSpPr>
        <p:spPr>
          <a:xfrm>
            <a:off x="8002197" y="2852289"/>
            <a:ext cx="1844580" cy="984265"/>
          </a:xfrm>
          <a:prstGeom prst="flowChartProcess">
            <a:avLst/>
          </a:prstGeom>
          <a:noFill/>
          <a:ln w="349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View Impaired Asset Values</a:t>
            </a:r>
          </a:p>
        </p:txBody>
      </p:sp>
      <p:sp>
        <p:nvSpPr>
          <p:cNvPr id="68" name="Flowchart: Predefined Process 67"/>
          <p:cNvSpPr/>
          <p:nvPr/>
        </p:nvSpPr>
        <p:spPr>
          <a:xfrm>
            <a:off x="6272442" y="2834097"/>
            <a:ext cx="1479485" cy="984265"/>
          </a:xfrm>
          <a:prstGeom prst="flowChartPredefinedProcess">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Asset Explorer</a:t>
            </a:r>
          </a:p>
          <a:p>
            <a:pPr algn="ctr"/>
            <a:r>
              <a:rPr lang="en-US" sz="1800" b="1" dirty="0">
                <a:solidFill>
                  <a:schemeClr val="tx1"/>
                </a:solidFill>
                <a:latin typeface="Calibri Light" panose="020F0302020204030204" pitchFamily="34" charset="0"/>
                <a:cs typeface="Calibri Light" panose="020F0302020204030204" pitchFamily="34" charset="0"/>
              </a:rPr>
              <a:t>AW01N</a:t>
            </a:r>
          </a:p>
        </p:txBody>
      </p:sp>
      <p:cxnSp>
        <p:nvCxnSpPr>
          <p:cNvPr id="71" name="Straight Arrow Connector 70"/>
          <p:cNvCxnSpPr/>
          <p:nvPr/>
        </p:nvCxnSpPr>
        <p:spPr>
          <a:xfrm flipV="1">
            <a:off x="7772312" y="3537042"/>
            <a:ext cx="227558" cy="2270"/>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V="1">
            <a:off x="9835404" y="3521120"/>
            <a:ext cx="346670" cy="6816"/>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3" name="Flowchart: Decision 72"/>
          <p:cNvSpPr/>
          <p:nvPr/>
        </p:nvSpPr>
        <p:spPr>
          <a:xfrm>
            <a:off x="9910198" y="2715904"/>
            <a:ext cx="1240020" cy="1102764"/>
          </a:xfrm>
          <a:prstGeom prst="flowChartDecision">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Looks Good?</a:t>
            </a:r>
          </a:p>
        </p:txBody>
      </p:sp>
      <p:grpSp>
        <p:nvGrpSpPr>
          <p:cNvPr id="76" name="Group 75"/>
          <p:cNvGrpSpPr/>
          <p:nvPr/>
        </p:nvGrpSpPr>
        <p:grpSpPr>
          <a:xfrm>
            <a:off x="10922671" y="3238910"/>
            <a:ext cx="981706" cy="307777"/>
            <a:chOff x="3946467" y="1299286"/>
            <a:chExt cx="409509" cy="296489"/>
          </a:xfrm>
        </p:grpSpPr>
        <p:cxnSp>
          <p:nvCxnSpPr>
            <p:cNvPr id="77" name="Straight Arrow Connector 76"/>
            <p:cNvCxnSpPr/>
            <p:nvPr/>
          </p:nvCxnSpPr>
          <p:spPr>
            <a:xfrm flipV="1">
              <a:off x="3946467" y="1563638"/>
              <a:ext cx="409509" cy="9697"/>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4068244" y="1299286"/>
              <a:ext cx="224030" cy="296489"/>
            </a:xfrm>
            <a:prstGeom prst="rect">
              <a:avLst/>
            </a:prstGeom>
            <a:noFill/>
          </p:spPr>
          <p:txBody>
            <a:bodyPr wrap="square" rtlCol="0">
              <a:spAutoFit/>
            </a:bodyPr>
            <a:lstStyle/>
            <a:p>
              <a:r>
                <a:rPr lang="en-US" sz="1400" b="1" dirty="0">
                  <a:solidFill>
                    <a:srgbClr val="00973E"/>
                  </a:solidFill>
                </a:rPr>
                <a:t>YES</a:t>
              </a:r>
            </a:p>
          </p:txBody>
        </p:sp>
      </p:grpSp>
      <p:cxnSp>
        <p:nvCxnSpPr>
          <p:cNvPr id="79" name="Elbow Connector 78"/>
          <p:cNvCxnSpPr/>
          <p:nvPr/>
        </p:nvCxnSpPr>
        <p:spPr>
          <a:xfrm rot="10800000">
            <a:off x="5114475" y="3868625"/>
            <a:ext cx="5407878" cy="260871"/>
          </a:xfrm>
          <a:prstGeom prst="bentConnector3">
            <a:avLst>
              <a:gd name="adj1" fmla="val 100021"/>
            </a:avLst>
          </a:prstGeom>
          <a:ln w="1905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p:nvPr/>
        </p:nvCxnSpPr>
        <p:spPr>
          <a:xfrm>
            <a:off x="10530209" y="3834282"/>
            <a:ext cx="17564" cy="395994"/>
          </a:xfrm>
          <a:prstGeom prst="straightConnector1">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6" name="TextBox 85"/>
          <p:cNvSpPr txBox="1"/>
          <p:nvPr/>
        </p:nvSpPr>
        <p:spPr>
          <a:xfrm>
            <a:off x="10122788" y="3860817"/>
            <a:ext cx="425116" cy="307777"/>
          </a:xfrm>
          <a:prstGeom prst="rect">
            <a:avLst/>
          </a:prstGeom>
          <a:noFill/>
        </p:spPr>
        <p:txBody>
          <a:bodyPr wrap="none" rtlCol="0">
            <a:spAutoFit/>
          </a:bodyPr>
          <a:lstStyle/>
          <a:p>
            <a:r>
              <a:rPr lang="en-US" sz="1400" b="1" dirty="0">
                <a:solidFill>
                  <a:srgbClr val="FF0000"/>
                </a:solidFill>
              </a:rPr>
              <a:t>NO</a:t>
            </a:r>
          </a:p>
        </p:txBody>
      </p:sp>
      <p:sp>
        <p:nvSpPr>
          <p:cNvPr id="87" name="Flowchart: Terminator 86"/>
          <p:cNvSpPr/>
          <p:nvPr/>
        </p:nvSpPr>
        <p:spPr>
          <a:xfrm>
            <a:off x="11897910" y="3316405"/>
            <a:ext cx="917338" cy="369626"/>
          </a:xfrm>
          <a:prstGeom prst="flowChartTerminator">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r>
              <a:rPr lang="en-US" sz="1800" dirty="0">
                <a:solidFill>
                  <a:srgbClr val="FF0000"/>
                </a:solidFill>
                <a:latin typeface="Calibri Light" panose="020F0302020204030204" pitchFamily="34" charset="0"/>
                <a:cs typeface="Calibri Light" panose="020F0302020204030204" pitchFamily="34" charset="0"/>
              </a:rPr>
              <a:t>End</a:t>
            </a:r>
          </a:p>
        </p:txBody>
      </p:sp>
    </p:spTree>
    <p:extLst>
      <p:ext uri="{BB962C8B-B14F-4D97-AF65-F5344CB8AC3E}">
        <p14:creationId xmlns:p14="http://schemas.microsoft.com/office/powerpoint/2010/main" val="26033406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Asset Write Up</a:t>
            </a:r>
          </a:p>
        </p:txBody>
      </p:sp>
      <p:sp>
        <p:nvSpPr>
          <p:cNvPr id="64516" name="Rectangle 4"/>
          <p:cNvSpPr>
            <a:spLocks noGrp="1" noChangeArrowheads="1"/>
          </p:cNvSpPr>
          <p:nvPr>
            <p:ph idx="1"/>
          </p:nvPr>
        </p:nvSpPr>
        <p:spPr/>
        <p:txBody>
          <a:bodyPr/>
          <a:lstStyle/>
          <a:p>
            <a:r>
              <a:rPr lang="en-US" dirty="0"/>
              <a:t>A write-up is a change to the valuation of an asset (reversal of depreciation)</a:t>
            </a:r>
          </a:p>
          <a:p>
            <a:r>
              <a:rPr lang="en-US" dirty="0"/>
              <a:t>Write-ups increase the book value of a fixed asset and can only be created for depreciation in prior years </a:t>
            </a:r>
          </a:p>
          <a:p>
            <a:r>
              <a:rPr lang="en-US" dirty="0"/>
              <a:t>Typical reasons to perform a write up include:</a:t>
            </a:r>
          </a:p>
          <a:p>
            <a:pPr lvl="1"/>
            <a:r>
              <a:rPr lang="en-US" sz="3600" dirty="0"/>
              <a:t>Forgot to capitalize an asset in a fiscal year that is now closed (usually called post-capitalization). </a:t>
            </a:r>
          </a:p>
          <a:p>
            <a:pPr lvl="1"/>
            <a:r>
              <a:rPr lang="en-US" sz="3600" dirty="0"/>
              <a:t>The value adjustments that were calculated in the past were too high and must now be corrected using a write-up in the current fiscal year</a:t>
            </a:r>
          </a:p>
          <a:p>
            <a:pPr lvl="1"/>
            <a:endParaRPr lang="en-US" altLang="en-US" dirty="0"/>
          </a:p>
          <a:p>
            <a:pPr lvl="1"/>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31</a:t>
            </a:fld>
            <a:endParaRPr lang="en-US" altLang="en-US" sz="1600" dirty="0"/>
          </a:p>
        </p:txBody>
      </p:sp>
    </p:spTree>
    <p:extLst>
      <p:ext uri="{BB962C8B-B14F-4D97-AF65-F5344CB8AC3E}">
        <p14:creationId xmlns:p14="http://schemas.microsoft.com/office/powerpoint/2010/main" val="17608875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2.4</a:t>
            </a:r>
            <a:r>
              <a:rPr lang="en-US" altLang="en-US" sz="4200" dirty="0" smtClean="0"/>
              <a:t>: </a:t>
            </a:r>
            <a:r>
              <a:rPr lang="en-US" altLang="en-US" sz="4200" dirty="0"/>
              <a:t>Perform an Asset Revaluation</a:t>
            </a:r>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a:latin typeface="Fujitsu Sans"/>
              </a:rPr>
              <a:t>The fair </a:t>
            </a:r>
            <a:r>
              <a:rPr lang="en-US" altLang="en-US" dirty="0" smtClean="0">
                <a:latin typeface="Fujitsu Sans"/>
              </a:rPr>
              <a:t>market </a:t>
            </a:r>
            <a:r>
              <a:rPr lang="en-US" altLang="en-US" dirty="0">
                <a:latin typeface="Fujitsu Sans"/>
              </a:rPr>
              <a:t>value </a:t>
            </a:r>
            <a:r>
              <a:rPr lang="en-US" altLang="en-US" dirty="0" smtClean="0">
                <a:latin typeface="Fujitsu Sans"/>
              </a:rPr>
              <a:t>of </a:t>
            </a:r>
            <a:r>
              <a:rPr lang="en-US" altLang="en-US" dirty="0">
                <a:latin typeface="Fujitsu Sans"/>
              </a:rPr>
              <a:t>a laptop has increased and a revaluation must be processed to increase the carrying value</a:t>
            </a:r>
            <a:endParaRPr lang="en-US" dirty="0">
              <a:latin typeface="Fujitsu Sans"/>
            </a:endParaRPr>
          </a:p>
          <a:p>
            <a:pPr marL="517525" indent="-517525"/>
            <a:r>
              <a:rPr lang="en-US" altLang="en-US" dirty="0"/>
              <a:t>Notes</a:t>
            </a:r>
          </a:p>
          <a:p>
            <a:pPr marL="1122045" lvl="1" indent="-431165"/>
            <a:r>
              <a:rPr lang="en-US" altLang="en-US" dirty="0" smtClean="0">
                <a:latin typeface="Fujitsu Sans"/>
              </a:rPr>
              <a:t>Transaction </a:t>
            </a:r>
            <a:r>
              <a:rPr lang="en-US" altLang="en-US" dirty="0">
                <a:latin typeface="Fujitsu Sans"/>
              </a:rPr>
              <a:t>Code: ABAW/AR29N</a:t>
            </a:r>
            <a:endParaRPr lang="en-US" altLang="en-US" dirty="0"/>
          </a:p>
          <a:p>
            <a:pPr marL="690245" lvl="1" indent="0">
              <a:buNone/>
            </a:pP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32</a:t>
            </a:fld>
            <a:endParaRPr lang="en-US" altLang="en-US" sz="1600" dirty="0"/>
          </a:p>
        </p:txBody>
      </p:sp>
    </p:spTree>
    <p:extLst>
      <p:ext uri="{BB962C8B-B14F-4D97-AF65-F5344CB8AC3E}">
        <p14:creationId xmlns:p14="http://schemas.microsoft.com/office/powerpoint/2010/main" val="55155337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2.4</a:t>
            </a:r>
            <a:r>
              <a:rPr lang="en-US" altLang="en-US" sz="4200" dirty="0" smtClean="0"/>
              <a:t>: </a:t>
            </a:r>
            <a:r>
              <a:rPr lang="en-US" altLang="en-US" sz="4200" dirty="0"/>
              <a:t>Perform an Asset Revaluation</a:t>
            </a:r>
          </a:p>
        </p:txBody>
      </p:sp>
      <p:sp>
        <p:nvSpPr>
          <p:cNvPr id="69637" name="Rectangle 3"/>
          <p:cNvSpPr>
            <a:spLocks noGrp="1" noChangeArrowheads="1"/>
          </p:cNvSpPr>
          <p:nvPr>
            <p:ph idx="1"/>
          </p:nvPr>
        </p:nvSpPr>
        <p:spPr>
          <a:xfrm>
            <a:off x="520700" y="1081669"/>
            <a:ext cx="12827000" cy="2946045"/>
          </a:xfrm>
        </p:spPr>
        <p:txBody>
          <a:bodyPr lIns="91440" tIns="45720" rIns="91440" bIns="45720" anchor="t"/>
          <a:lstStyle/>
          <a:p>
            <a:pPr marL="517525" indent="-517525"/>
            <a:r>
              <a:rPr lang="en-US" altLang="en-US" dirty="0">
                <a:latin typeface="Fujitsu Sans"/>
              </a:rPr>
              <a:t>The fair market value of a laptop has increased and a revaluation must be processed to increase the carrying value</a:t>
            </a:r>
            <a:endParaRPr lang="en-US" dirty="0">
              <a:latin typeface="Fujitsu Sans"/>
            </a:endParaRPr>
          </a:p>
          <a:p>
            <a:pPr marL="517525" indent="-517525"/>
            <a:r>
              <a:rPr lang="en-US" altLang="en-US" dirty="0" smtClean="0"/>
              <a:t>Generate </a:t>
            </a:r>
            <a:r>
              <a:rPr lang="en-US" altLang="en-US" dirty="0"/>
              <a:t>an asset revaluation</a:t>
            </a:r>
          </a:p>
          <a:p>
            <a:pPr marL="517525" indent="-517525"/>
            <a:r>
              <a:rPr lang="en-US" altLang="en-US" dirty="0"/>
              <a:t>Notes</a:t>
            </a:r>
          </a:p>
          <a:p>
            <a:pPr marL="1122045" lvl="1" indent="-431165"/>
            <a:r>
              <a:rPr lang="en-US" altLang="en-US" dirty="0" smtClean="0">
                <a:latin typeface="Fujitsu Sans"/>
              </a:rPr>
              <a:t>Transaction </a:t>
            </a:r>
            <a:r>
              <a:rPr lang="en-US" altLang="en-US" dirty="0">
                <a:latin typeface="Fujitsu Sans"/>
              </a:rPr>
              <a:t>Code: ABAW/AR29N</a:t>
            </a:r>
            <a:endParaRPr lang="en-US" altLang="en-US" dirty="0"/>
          </a:p>
          <a:p>
            <a:pPr marL="517525" indent="-517525"/>
            <a:endParaRPr lang="en-US" altLang="en-US" dirty="0"/>
          </a:p>
          <a:p>
            <a:pPr marL="1122045" lvl="1" indent="-431165"/>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33</a:t>
            </a:fld>
            <a:endParaRPr lang="en-US" altLang="en-US" sz="1600" dirty="0"/>
          </a:p>
        </p:txBody>
      </p:sp>
    </p:spTree>
    <p:extLst>
      <p:ext uri="{BB962C8B-B14F-4D97-AF65-F5344CB8AC3E}">
        <p14:creationId xmlns:p14="http://schemas.microsoft.com/office/powerpoint/2010/main" val="26557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tLang="en-US" dirty="0"/>
              <a:t>Unit 2, # 1</a:t>
            </a:r>
          </a:p>
        </p:txBody>
      </p:sp>
      <p:sp>
        <p:nvSpPr>
          <p:cNvPr id="73733" name="Rectangle 3"/>
          <p:cNvSpPr>
            <a:spLocks noGrp="1" noChangeArrowheads="1"/>
          </p:cNvSpPr>
          <p:nvPr>
            <p:ph idx="1"/>
          </p:nvPr>
        </p:nvSpPr>
        <p:spPr/>
        <p:txBody>
          <a:bodyPr lIns="91440" tIns="45720" rIns="91440" bIns="45720" anchor="t"/>
          <a:lstStyle/>
          <a:p>
            <a:pPr marL="517525" indent="-517525"/>
            <a:r>
              <a:rPr lang="en-US" altLang="en-US" dirty="0">
                <a:latin typeface="Fujitsu Sans"/>
              </a:rPr>
              <a:t>What is one of the main components needed in order to create asset master data in </a:t>
            </a:r>
            <a:r>
              <a:rPr lang="en-US" altLang="en-US" dirty="0" smtClean="0">
                <a:latin typeface="Fujitsu Sans"/>
              </a:rPr>
              <a:t>the system?</a:t>
            </a:r>
            <a:endParaRPr lang="en-US" dirty="0">
              <a:latin typeface="Fujitsu Sans"/>
            </a:endParaRPr>
          </a:p>
          <a:p>
            <a:pPr marL="517525" indent="-517525"/>
            <a:endParaRPr lang="en-US" altLang="en-US" dirty="0"/>
          </a:p>
          <a:p>
            <a:pPr marL="517525" indent="-517525"/>
            <a:endParaRPr lang="en-US" altLang="en-US" dirty="0"/>
          </a:p>
          <a:p>
            <a:pPr marL="517525" indent="-517525"/>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DC67485-719C-460B-BE50-F908EA1276DE}" type="slidenum">
              <a:rPr lang="en-US" altLang="en-US" sz="1600" smtClean="0"/>
              <a:pPr/>
              <a:t>34</a:t>
            </a:fld>
            <a:endParaRPr lang="en-US" altLang="en-US" sz="1600" dirty="0"/>
          </a:p>
        </p:txBody>
      </p:sp>
    </p:spTree>
    <p:extLst>
      <p:ext uri="{BB962C8B-B14F-4D97-AF65-F5344CB8AC3E}">
        <p14:creationId xmlns:p14="http://schemas.microsoft.com/office/powerpoint/2010/main" val="8823149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Unit 2, # 1</a:t>
            </a:r>
          </a:p>
        </p:txBody>
      </p:sp>
      <p:sp>
        <p:nvSpPr>
          <p:cNvPr id="45060" name="Rectangle 4"/>
          <p:cNvSpPr>
            <a:spLocks noGrp="1" noChangeArrowheads="1"/>
          </p:cNvSpPr>
          <p:nvPr>
            <p:ph idx="1"/>
          </p:nvPr>
        </p:nvSpPr>
        <p:spPr/>
        <p:txBody>
          <a:bodyPr lIns="91440" tIns="45720" rIns="91440" bIns="45720" anchor="t"/>
          <a:lstStyle/>
          <a:p>
            <a:pPr marL="517525" indent="-517525"/>
            <a:r>
              <a:rPr lang="en-US" altLang="en-US" dirty="0">
                <a:latin typeface="Fujitsu Sans"/>
              </a:rPr>
              <a:t>What is one of the main components needed in order to create asset master data in </a:t>
            </a:r>
            <a:r>
              <a:rPr lang="en-US" altLang="en-US" dirty="0" smtClean="0">
                <a:latin typeface="Fujitsu Sans"/>
              </a:rPr>
              <a:t>the system?</a:t>
            </a:r>
            <a:endParaRPr lang="en-US" dirty="0">
              <a:latin typeface="Fujitsu Sans"/>
            </a:endParaRPr>
          </a:p>
          <a:p>
            <a:pPr marL="517525" indent="-517525"/>
            <a:endParaRPr lang="en-US" altLang="en-US" dirty="0"/>
          </a:p>
          <a:p>
            <a:pPr lvl="1"/>
            <a:r>
              <a:rPr lang="en-US" i="1" dirty="0">
                <a:solidFill>
                  <a:srgbClr val="FF0000"/>
                </a:solidFill>
              </a:rPr>
              <a:t>You must enter general data of the asset in order to create the master data record in </a:t>
            </a:r>
            <a:r>
              <a:rPr lang="en-US" i="1" dirty="0" smtClean="0">
                <a:solidFill>
                  <a:srgbClr val="FF0000"/>
                </a:solidFill>
              </a:rPr>
              <a:t>the system</a:t>
            </a:r>
            <a:endParaRPr lang="en-US" i="1" dirty="0">
              <a:solidFill>
                <a:srgbClr val="FF0000"/>
              </a:solidFill>
            </a:endParaRPr>
          </a:p>
          <a:p>
            <a:pPr marL="690245" lvl="1" indent="0">
              <a:buNone/>
            </a:pPr>
            <a:endParaRPr lang="en-US" altLang="en-US" dirty="0"/>
          </a:p>
        </p:txBody>
      </p:sp>
      <p:sp>
        <p:nvSpPr>
          <p:cNvPr id="62466" name="Slide Number Placeholder 3"/>
          <p:cNvSpPr>
            <a:spLocks noGrp="1"/>
          </p:cNvSpPr>
          <p:nvPr>
            <p:ph type="sldNum" sz="quarter" idx="4294967295"/>
          </p:nvPr>
        </p:nvSpPr>
        <p:spPr>
          <a:xfrm>
            <a:off x="41124" y="-10281"/>
            <a:ext cx="0" cy="0"/>
          </a:xfrm>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35</a:t>
            </a:fld>
            <a:endParaRPr lang="en-US" altLang="en-US" sz="1600" dirty="0"/>
          </a:p>
        </p:txBody>
      </p:sp>
    </p:spTree>
    <p:extLst>
      <p:ext uri="{BB962C8B-B14F-4D97-AF65-F5344CB8AC3E}">
        <p14:creationId xmlns:p14="http://schemas.microsoft.com/office/powerpoint/2010/main" val="2739467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MCj04415100000[1]"/>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957983" y="5924070"/>
            <a:ext cx="1859619" cy="185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tLang="en-US" dirty="0"/>
              <a:t>2</a:t>
            </a:r>
          </a:p>
        </p:txBody>
      </p:sp>
      <p:sp>
        <p:nvSpPr>
          <p:cNvPr id="77829"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Explain the create asset master data process</a:t>
            </a:r>
          </a:p>
          <a:p>
            <a:r>
              <a:rPr lang="en-US" altLang="en-US" dirty="0"/>
              <a:t>Create an asset number</a:t>
            </a:r>
          </a:p>
          <a:p>
            <a:r>
              <a:rPr lang="en-US" altLang="en-US" dirty="0"/>
              <a:t>Change an asset number</a:t>
            </a:r>
          </a:p>
          <a:p>
            <a:r>
              <a:rPr lang="en-US" altLang="en-US" dirty="0"/>
              <a:t>Describe how to display calculations of an </a:t>
            </a:r>
            <a:r>
              <a:rPr lang="en-US" altLang="en-US" dirty="0" smtClean="0"/>
              <a:t>asset</a:t>
            </a:r>
            <a:endParaRPr lang="en-US" altLang="en-US" dirty="0"/>
          </a:p>
        </p:txBody>
      </p:sp>
      <p:sp>
        <p:nvSpPr>
          <p:cNvPr id="7782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64D916E-780F-4F36-9EEA-B0E6C110BE23}" type="slidenum">
              <a:rPr lang="en-US" altLang="en-US" sz="1600" smtClean="0"/>
              <a:pPr/>
              <a:t>36</a:t>
            </a:fld>
            <a:endParaRPr lang="en-US" altLang="en-US" sz="1600" dirty="0"/>
          </a:p>
        </p:txBody>
      </p:sp>
    </p:spTree>
    <p:extLst>
      <p:ext uri="{BB962C8B-B14F-4D97-AF65-F5344CB8AC3E}">
        <p14:creationId xmlns:p14="http://schemas.microsoft.com/office/powerpoint/2010/main" val="192967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Time for a Break!</a:t>
            </a:r>
          </a:p>
        </p:txBody>
      </p:sp>
      <p:sp>
        <p:nvSpPr>
          <p:cNvPr id="4" name="Content Placeholder 3"/>
          <p:cNvSpPr>
            <a:spLocks noGrp="1"/>
          </p:cNvSpPr>
          <p:nvPr>
            <p:ph idx="1"/>
          </p:nvPr>
        </p:nvSpPr>
        <p:spPr/>
        <p:txBody>
          <a:bodyPr/>
          <a:lstStyle/>
          <a:p>
            <a:r>
              <a:rPr lang="en-US" altLang="en-US" dirty="0"/>
              <a:t>Class starts again in 10 minutes</a:t>
            </a:r>
          </a:p>
          <a:p>
            <a:endParaRPr lang="en-US" dirty="0"/>
          </a:p>
        </p:txBody>
      </p:sp>
      <p:sp>
        <p:nvSpPr>
          <p:cNvPr id="6" name="Slide Number Placeholder 3"/>
          <p:cNvSpPr>
            <a:spLocks noGrp="1"/>
          </p:cNvSpPr>
          <p:nvPr>
            <p:ph type="sldNum" sz="quarter" idx="4294967295"/>
          </p:nvPr>
        </p:nvSpPr>
        <p:spPr/>
        <p:txBody>
          <a:bodyPr/>
          <a:lstStyle>
            <a:lvl1pPr>
              <a:defRPr>
                <a:solidFill>
                  <a:schemeClr val="tx1"/>
                </a:solidFill>
                <a:latin typeface="Arial" panose="020B0604020202020204" pitchFamily="34" charset="0"/>
              </a:defRPr>
            </a:lvl1pPr>
            <a:lvl2pPr marL="841985" indent="-323840">
              <a:defRPr>
                <a:solidFill>
                  <a:schemeClr val="tx1"/>
                </a:solidFill>
                <a:latin typeface="Arial" panose="020B0604020202020204" pitchFamily="34" charset="0"/>
              </a:defRPr>
            </a:lvl2pPr>
            <a:lvl3pPr marL="1295362" indent="-259072">
              <a:defRPr>
                <a:solidFill>
                  <a:schemeClr val="tx1"/>
                </a:solidFill>
                <a:latin typeface="Arial" panose="020B0604020202020204" pitchFamily="34" charset="0"/>
              </a:defRPr>
            </a:lvl3pPr>
            <a:lvl4pPr marL="1813507" indent="-259072">
              <a:defRPr>
                <a:solidFill>
                  <a:schemeClr val="tx1"/>
                </a:solidFill>
                <a:latin typeface="Arial" panose="020B0604020202020204" pitchFamily="34" charset="0"/>
              </a:defRPr>
            </a:lvl4pPr>
            <a:lvl5pPr marL="2331651" indent="-259072">
              <a:defRPr>
                <a:solidFill>
                  <a:schemeClr val="tx1"/>
                </a:solidFill>
                <a:latin typeface="Arial" panose="020B0604020202020204" pitchFamily="34" charset="0"/>
              </a:defRPr>
            </a:lvl5pPr>
            <a:lvl6pPr marL="2849796" indent="-259072" eaLnBrk="0" fontAlgn="base" hangingPunct="0">
              <a:spcBef>
                <a:spcPct val="0"/>
              </a:spcBef>
              <a:spcAft>
                <a:spcPct val="0"/>
              </a:spcAft>
              <a:defRPr>
                <a:solidFill>
                  <a:schemeClr val="tx1"/>
                </a:solidFill>
                <a:latin typeface="Arial" panose="020B0604020202020204" pitchFamily="34" charset="0"/>
              </a:defRPr>
            </a:lvl6pPr>
            <a:lvl7pPr marL="3367941" indent="-259072" eaLnBrk="0" fontAlgn="base" hangingPunct="0">
              <a:spcBef>
                <a:spcPct val="0"/>
              </a:spcBef>
              <a:spcAft>
                <a:spcPct val="0"/>
              </a:spcAft>
              <a:defRPr>
                <a:solidFill>
                  <a:schemeClr val="tx1"/>
                </a:solidFill>
                <a:latin typeface="Arial" panose="020B0604020202020204" pitchFamily="34" charset="0"/>
              </a:defRPr>
            </a:lvl7pPr>
            <a:lvl8pPr marL="3886086" indent="-259072" eaLnBrk="0" fontAlgn="base" hangingPunct="0">
              <a:spcBef>
                <a:spcPct val="0"/>
              </a:spcBef>
              <a:spcAft>
                <a:spcPct val="0"/>
              </a:spcAft>
              <a:defRPr>
                <a:solidFill>
                  <a:schemeClr val="tx1"/>
                </a:solidFill>
                <a:latin typeface="Arial" panose="020B0604020202020204" pitchFamily="34" charset="0"/>
              </a:defRPr>
            </a:lvl8pPr>
            <a:lvl9pPr marL="4404230" indent="-259072" eaLnBrk="0" fontAlgn="base" hangingPunct="0">
              <a:spcBef>
                <a:spcPct val="0"/>
              </a:spcBef>
              <a:spcAft>
                <a:spcPct val="0"/>
              </a:spcAft>
              <a:defRPr>
                <a:solidFill>
                  <a:schemeClr val="tx1"/>
                </a:solidFill>
                <a:latin typeface="Arial" panose="020B0604020202020204" pitchFamily="34" charset="0"/>
              </a:defRPr>
            </a:lvl9pPr>
          </a:lstStyle>
          <a:p>
            <a:fld id="{92BE6A29-3330-4120-8C4F-D901DC38695C}" type="slidenum">
              <a:rPr lang="en-US" altLang="en-US" sz="1600" smtClean="0"/>
              <a:pPr/>
              <a:t>37</a:t>
            </a:fld>
            <a:endParaRPr lang="en-US" altLang="en-US" sz="1600" dirty="0"/>
          </a:p>
        </p:txBody>
      </p:sp>
      <p:pic>
        <p:nvPicPr>
          <p:cNvPr id="2" name="Picture 1"/>
          <p:cNvPicPr>
            <a:picLocks noChangeAspect="1"/>
          </p:cNvPicPr>
          <p:nvPr/>
        </p:nvPicPr>
        <p:blipFill>
          <a:blip r:embed="rId3"/>
          <a:stretch>
            <a:fillRect/>
          </a:stretch>
        </p:blipFill>
        <p:spPr>
          <a:xfrm>
            <a:off x="4577080" y="2125028"/>
            <a:ext cx="4663440" cy="4652645"/>
          </a:xfrm>
          <a:prstGeom prst="rect">
            <a:avLst/>
          </a:prstGeom>
        </p:spPr>
      </p:pic>
    </p:spTree>
    <p:extLst>
      <p:ext uri="{BB962C8B-B14F-4D97-AF65-F5344CB8AC3E}">
        <p14:creationId xmlns:p14="http://schemas.microsoft.com/office/powerpoint/2010/main" val="29577413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750A293A-6492-4A1F-A0D4-05E445FB280C}" type="slidenum">
              <a:rPr lang="en-US" altLang="en-US" sz="1600" smtClean="0"/>
              <a:pPr/>
              <a:t>38</a:t>
            </a:fld>
            <a:endParaRPr lang="en-US" altLang="en-US" sz="1600" dirty="0"/>
          </a:p>
        </p:txBody>
      </p:sp>
    </p:spTree>
    <p:extLst>
      <p:ext uri="{BB962C8B-B14F-4D97-AF65-F5344CB8AC3E}">
        <p14:creationId xmlns:p14="http://schemas.microsoft.com/office/powerpoint/2010/main" val="21038446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t>
            </a:r>
            <a:r>
              <a:rPr lang="en-US" altLang="en-US" dirty="0" smtClean="0"/>
              <a:t>Fixed Assets Reports (60 </a:t>
            </a:r>
            <a:r>
              <a:rPr lang="en-US" altLang="en-US" dirty="0"/>
              <a:t>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39</a:t>
            </a:fld>
            <a:endParaRPr lang="en-US" altLang="en-US" sz="1600" dirty="0"/>
          </a:p>
        </p:txBody>
      </p:sp>
      <p:sp>
        <p:nvSpPr>
          <p:cNvPr id="13" name="Rectangle 12"/>
          <p:cNvSpPr>
            <a:spLocks noChangeArrowheads="1"/>
          </p:cNvSpPr>
          <p:nvPr/>
        </p:nvSpPr>
        <p:spPr bwMode="auto">
          <a:xfrm>
            <a:off x="389791" y="2353311"/>
            <a:ext cx="10115650" cy="68988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130464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ss00071"/>
          <p:cNvPicPr>
            <a:picLocks noChangeAspect="1" noChangeArrowheads="1"/>
          </p:cNvPicPr>
          <p:nvPr/>
        </p:nvPicPr>
        <p:blipFill>
          <a:blip r:embed="rId3">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3"/>
          <p:cNvSpPr>
            <a:spLocks noGrp="1" noChangeArrowheads="1"/>
          </p:cNvSpPr>
          <p:nvPr>
            <p:ph type="title"/>
          </p:nvPr>
        </p:nvSpPr>
        <p:spPr/>
        <p:txBody>
          <a:bodyPr/>
          <a:lstStyle/>
          <a:p>
            <a:r>
              <a:rPr lang="en-US" altLang="en-US" dirty="0"/>
              <a:t>3</a:t>
            </a:r>
          </a:p>
        </p:txBody>
      </p:sp>
      <p:sp>
        <p:nvSpPr>
          <p:cNvPr id="43013" name="Rectangle 4"/>
          <p:cNvSpPr>
            <a:spLocks noGrp="1" noChangeArrowheads="1"/>
          </p:cNvSpPr>
          <p:nvPr>
            <p:ph idx="1"/>
          </p:nvPr>
        </p:nvSpPr>
        <p:spPr/>
        <p:txBody>
          <a:bodyPr/>
          <a:lstStyle/>
          <a:p>
            <a:pPr marL="0" indent="0">
              <a:buNone/>
            </a:pPr>
            <a:r>
              <a:rPr lang="en-US" altLang="en-US" dirty="0"/>
              <a:t>You should be able to:</a:t>
            </a:r>
          </a:p>
          <a:p>
            <a:r>
              <a:rPr lang="en-US" altLang="en-US" dirty="0"/>
              <a:t>Perform the steps needed to process an intracompany transfer</a:t>
            </a:r>
          </a:p>
          <a:p>
            <a:r>
              <a:rPr lang="en-US" altLang="en-US" dirty="0"/>
              <a:t>Initiate the process for a transfer within a company code from </a:t>
            </a:r>
            <a:r>
              <a:rPr lang="en-US" altLang="en-US" dirty="0" smtClean="0"/>
              <a:t>one </a:t>
            </a:r>
            <a:r>
              <a:rPr lang="en-US" altLang="en-US" dirty="0"/>
              <a:t>asset to another</a:t>
            </a:r>
          </a:p>
          <a:p>
            <a:r>
              <a:rPr lang="en-US" altLang="en-US" dirty="0"/>
              <a:t>Complete the steps needed to process a transfer between affiliated companies</a:t>
            </a:r>
          </a:p>
          <a:p>
            <a:endParaRPr lang="en-US" altLang="en-US" dirty="0"/>
          </a:p>
          <a:p>
            <a:pPr marL="0" indent="0">
              <a:buNone/>
            </a:pPr>
            <a:endParaRPr lang="en-US" altLang="en-US" dirty="0"/>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40</a:t>
            </a:fld>
            <a:endParaRPr lang="en-US" altLang="en-US" sz="1600" dirty="0"/>
          </a:p>
        </p:txBody>
      </p:sp>
    </p:spTree>
    <p:extLst>
      <p:ext uri="{BB962C8B-B14F-4D97-AF65-F5344CB8AC3E}">
        <p14:creationId xmlns:p14="http://schemas.microsoft.com/office/powerpoint/2010/main" val="26760829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Intracompany Transfers</a:t>
            </a:r>
          </a:p>
        </p:txBody>
      </p:sp>
      <p:sp>
        <p:nvSpPr>
          <p:cNvPr id="3" name="Content Placeholder 2"/>
          <p:cNvSpPr>
            <a:spLocks noGrp="1"/>
          </p:cNvSpPr>
          <p:nvPr>
            <p:ph idx="1"/>
          </p:nvPr>
        </p:nvSpPr>
        <p:spPr>
          <a:xfrm>
            <a:off x="520700" y="985873"/>
            <a:ext cx="12827000" cy="5880066"/>
          </a:xfrm>
        </p:spPr>
        <p:txBody>
          <a:bodyPr/>
          <a:lstStyle/>
          <a:p>
            <a:r>
              <a:rPr lang="en-US" dirty="0"/>
              <a:t>Reasons for processing an intracompany </a:t>
            </a:r>
            <a:r>
              <a:rPr lang="en-US" dirty="0" smtClean="0"/>
              <a:t>transfer (transferring one fixed asset to another within the same company code):</a:t>
            </a:r>
            <a:endParaRPr lang="en-US" dirty="0"/>
          </a:p>
          <a:p>
            <a:pPr lvl="1"/>
            <a:r>
              <a:rPr lang="en-US" sz="3600" dirty="0"/>
              <a:t>Changes made to an org structure (reclassification)</a:t>
            </a:r>
          </a:p>
          <a:p>
            <a:pPr lvl="1"/>
            <a:r>
              <a:rPr lang="en-US" sz="3600" dirty="0"/>
              <a:t>Account assignments are incorrect (e.g. incorrect asset class</a:t>
            </a:r>
            <a:r>
              <a:rPr lang="en-US" sz="3600" dirty="0" smtClean="0"/>
              <a:t>) </a:t>
            </a:r>
            <a:endParaRPr lang="en-US" sz="3600" dirty="0"/>
          </a:p>
          <a:p>
            <a:pPr lvl="1"/>
            <a:r>
              <a:rPr lang="en-US" sz="3600" dirty="0"/>
              <a:t>Asset is ready for a summary </a:t>
            </a:r>
            <a:r>
              <a:rPr lang="en-US" sz="3600" dirty="0" smtClean="0"/>
              <a:t>settlement</a:t>
            </a:r>
            <a:endParaRPr lang="en-US" sz="3600" dirty="0"/>
          </a:p>
          <a:p>
            <a:r>
              <a:rPr lang="en-US" dirty="0" smtClean="0"/>
              <a:t>Intracompany transfers </a:t>
            </a:r>
            <a:r>
              <a:rPr lang="en-US" dirty="0" smtClean="0"/>
              <a:t>can </a:t>
            </a:r>
            <a:r>
              <a:rPr lang="en-US" dirty="0"/>
              <a:t>be carried out in one step using </a:t>
            </a:r>
            <a:r>
              <a:rPr lang="en-US" dirty="0" smtClean="0"/>
              <a:t>transaction code</a:t>
            </a:r>
            <a:r>
              <a:rPr lang="en-US" dirty="0"/>
              <a:t>: ABT1N</a:t>
            </a:r>
          </a:p>
        </p:txBody>
      </p:sp>
      <p:graphicFrame>
        <p:nvGraphicFramePr>
          <p:cNvPr id="5" name="Diagram 4"/>
          <p:cNvGraphicFramePr/>
          <p:nvPr>
            <p:extLst>
              <p:ext uri="{D42A27DB-BD31-4B8C-83A1-F6EECF244321}">
                <p14:modId xmlns:p14="http://schemas.microsoft.com/office/powerpoint/2010/main" val="501326902"/>
              </p:ext>
            </p:extLst>
          </p:nvPr>
        </p:nvGraphicFramePr>
        <p:xfrm>
          <a:off x="108859" y="6389225"/>
          <a:ext cx="5273370" cy="11872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Rectangle 5"/>
          <p:cNvSpPr/>
          <p:nvPr/>
        </p:nvSpPr>
        <p:spPr>
          <a:xfrm>
            <a:off x="2743200" y="6389225"/>
            <a:ext cx="904858" cy="11151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432111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Intracompany Transfer – ABT1N</a:t>
            </a:r>
          </a:p>
        </p:txBody>
      </p:sp>
      <p:sp>
        <p:nvSpPr>
          <p:cNvPr id="64516" name="Rectangle 4"/>
          <p:cNvSpPr>
            <a:spLocks noGrp="1" noChangeArrowheads="1"/>
          </p:cNvSpPr>
          <p:nvPr>
            <p:ph idx="1"/>
          </p:nvPr>
        </p:nvSpPr>
        <p:spPr>
          <a:xfrm>
            <a:off x="520700" y="907501"/>
            <a:ext cx="13042900" cy="5880066"/>
          </a:xfrm>
        </p:spPr>
        <p:txBody>
          <a:bodyPr/>
          <a:lstStyle/>
          <a:p>
            <a:pPr marL="0" indent="0">
              <a:buNone/>
            </a:pPr>
            <a:r>
              <a:rPr lang="en-US" altLang="en-US" dirty="0"/>
              <a:t>Some things to consider when performing an intracompany transfer:</a:t>
            </a:r>
          </a:p>
          <a:p>
            <a:r>
              <a:rPr lang="en-US" altLang="en-US" dirty="0"/>
              <a:t>A master record </a:t>
            </a:r>
            <a:r>
              <a:rPr lang="en-US" altLang="en-US" dirty="0" smtClean="0"/>
              <a:t>for the target asset must exist </a:t>
            </a:r>
            <a:r>
              <a:rPr lang="en-US" altLang="en-US" dirty="0"/>
              <a:t>prior to processing the </a:t>
            </a:r>
            <a:r>
              <a:rPr lang="en-US" altLang="en-US" dirty="0" smtClean="0"/>
              <a:t>transfer</a:t>
            </a:r>
            <a:endParaRPr lang="en-US" altLang="en-US" dirty="0">
              <a:solidFill>
                <a:srgbClr val="FF0000"/>
              </a:solidFill>
            </a:endParaRPr>
          </a:p>
          <a:p>
            <a:r>
              <a:rPr lang="en-US" dirty="0"/>
              <a:t>If a current-year acquisition must be transferred, first perform a reverse posting, followed by a (correct) acquisition posting</a:t>
            </a:r>
          </a:p>
          <a:p>
            <a:r>
              <a:rPr lang="en-US" dirty="0"/>
              <a:t>Intracompany transfers are only possible if no values from the sending asset are lost and every area of the target asset is supplied with values</a:t>
            </a:r>
            <a:endParaRPr lang="en-US" altLang="en-US" dirty="0"/>
          </a:p>
          <a:p>
            <a:pPr lvl="1"/>
            <a:endParaRPr lang="en-US" altLang="en-US" dirty="0"/>
          </a:p>
          <a:p>
            <a:pPr lvl="1"/>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42</a:t>
            </a:fld>
            <a:endParaRPr lang="en-US" altLang="en-US" sz="1600" dirty="0"/>
          </a:p>
        </p:txBody>
      </p:sp>
    </p:spTree>
    <p:extLst>
      <p:ext uri="{BB962C8B-B14F-4D97-AF65-F5344CB8AC3E}">
        <p14:creationId xmlns:p14="http://schemas.microsoft.com/office/powerpoint/2010/main" val="28073471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3.5: </a:t>
            </a:r>
            <a:r>
              <a:rPr lang="en-US" altLang="en-US" sz="4200" dirty="0"/>
              <a:t>Process an Intracompany Transfer</a:t>
            </a:r>
          </a:p>
        </p:txBody>
      </p:sp>
      <p:sp>
        <p:nvSpPr>
          <p:cNvPr id="79877" name="Rectangle 4"/>
          <p:cNvSpPr>
            <a:spLocks noGrp="1" noChangeArrowheads="1"/>
          </p:cNvSpPr>
          <p:nvPr>
            <p:ph idx="1"/>
          </p:nvPr>
        </p:nvSpPr>
        <p:spPr/>
        <p:txBody>
          <a:bodyPr>
            <a:normAutofit/>
          </a:bodyPr>
          <a:lstStyle/>
          <a:p>
            <a:r>
              <a:rPr lang="en-US" altLang="en-US" dirty="0"/>
              <a:t>An asset settlement must now be processed</a:t>
            </a:r>
          </a:p>
          <a:p>
            <a:r>
              <a:rPr lang="en-US" altLang="en-US" dirty="0"/>
              <a:t>Notes</a:t>
            </a:r>
          </a:p>
          <a:p>
            <a:pPr lvl="1"/>
            <a:r>
              <a:rPr lang="en-US" altLang="en-US" dirty="0" smtClean="0"/>
              <a:t>Transaction </a:t>
            </a:r>
            <a:r>
              <a:rPr lang="en-US" altLang="en-US" dirty="0"/>
              <a:t>Code: ABT1N</a:t>
            </a:r>
          </a:p>
          <a:p>
            <a:pPr lvl="1"/>
            <a:r>
              <a:rPr lang="en-US" altLang="en-US" dirty="0"/>
              <a:t>An asset master record must exist </a:t>
            </a:r>
            <a:r>
              <a:rPr lang="en-US" altLang="en-US" dirty="0" smtClean="0"/>
              <a:t>prior </a:t>
            </a:r>
            <a:r>
              <a:rPr lang="en-US" altLang="en-US" dirty="0"/>
              <a:t>to processing a transfer</a:t>
            </a:r>
          </a:p>
          <a:p>
            <a:pPr lvl="1"/>
            <a:endParaRPr lang="en-US" altLang="en-US" dirty="0"/>
          </a:p>
          <a:p>
            <a:pPr marL="690841" lvl="1" indent="0">
              <a:buNone/>
            </a:pPr>
            <a:r>
              <a:rPr lang="en-US" altLang="en-US" dirty="0" smtClean="0">
                <a:solidFill>
                  <a:schemeClr val="tx2">
                    <a:lumMod val="60000"/>
                    <a:lumOff val="40000"/>
                  </a:schemeClr>
                </a:solidFill>
              </a:rPr>
              <a:t>Training for mass changes for upload via template</a:t>
            </a:r>
            <a:endParaRPr lang="en-US" altLang="en-US" dirty="0">
              <a:solidFill>
                <a:schemeClr val="tx2">
                  <a:lumMod val="60000"/>
                  <a:lumOff val="40000"/>
                </a:schemeClr>
              </a:solidFill>
            </a:endParaRPr>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43</a:t>
            </a:fld>
            <a:endParaRPr lang="en-US" altLang="en-US" sz="1600" dirty="0"/>
          </a:p>
        </p:txBody>
      </p:sp>
    </p:spTree>
    <p:extLst>
      <p:ext uri="{BB962C8B-B14F-4D97-AF65-F5344CB8AC3E}">
        <p14:creationId xmlns:p14="http://schemas.microsoft.com/office/powerpoint/2010/main" val="14523968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376922" y="101482"/>
            <a:ext cx="12177267" cy="624725"/>
          </a:xfrm>
        </p:spPr>
        <p:txBody>
          <a:bodyPr/>
          <a:lstStyle/>
          <a:p>
            <a:r>
              <a:rPr lang="en-US" altLang="en-US" sz="4200" dirty="0"/>
              <a:t>Exercise </a:t>
            </a:r>
            <a:r>
              <a:rPr lang="en-US" altLang="en-US" sz="4200" dirty="0" smtClean="0"/>
              <a:t>3.5: </a:t>
            </a:r>
            <a:r>
              <a:rPr lang="en-US" altLang="en-US" sz="4200" dirty="0"/>
              <a:t>Process an Intracompany Transfer</a:t>
            </a:r>
          </a:p>
        </p:txBody>
      </p:sp>
      <p:sp>
        <p:nvSpPr>
          <p:cNvPr id="69637" name="Rectangle 3"/>
          <p:cNvSpPr>
            <a:spLocks noGrp="1" noChangeArrowheads="1"/>
          </p:cNvSpPr>
          <p:nvPr>
            <p:ph idx="1"/>
          </p:nvPr>
        </p:nvSpPr>
        <p:spPr>
          <a:xfrm>
            <a:off x="108858" y="994585"/>
            <a:ext cx="13708742" cy="4034617"/>
          </a:xfrm>
        </p:spPr>
        <p:txBody>
          <a:bodyPr/>
          <a:lstStyle/>
          <a:p>
            <a:r>
              <a:rPr lang="en-US" altLang="en-US" dirty="0"/>
              <a:t>An asset settlement must now be processed</a:t>
            </a:r>
          </a:p>
          <a:p>
            <a:r>
              <a:rPr lang="en-US" altLang="en-US" dirty="0"/>
              <a:t>Process an intracompany transfer</a:t>
            </a:r>
          </a:p>
          <a:p>
            <a:r>
              <a:rPr lang="en-US" altLang="en-US" dirty="0"/>
              <a:t>Notes</a:t>
            </a:r>
          </a:p>
          <a:p>
            <a:pPr lvl="1"/>
            <a:r>
              <a:rPr lang="en-US" altLang="en-US" dirty="0" smtClean="0"/>
              <a:t>Transaction </a:t>
            </a:r>
            <a:r>
              <a:rPr lang="en-US" altLang="en-US" dirty="0"/>
              <a:t>Code: ABT1N</a:t>
            </a:r>
          </a:p>
          <a:p>
            <a:pPr lvl="1"/>
            <a:r>
              <a:rPr lang="en-US" altLang="en-US" dirty="0"/>
              <a:t>An asset master record must exist </a:t>
            </a:r>
            <a:r>
              <a:rPr lang="en-US" altLang="en-US" dirty="0" smtClean="0"/>
              <a:t>prior </a:t>
            </a:r>
            <a:r>
              <a:rPr lang="en-US" altLang="en-US" dirty="0"/>
              <a:t>to processing a transfer</a:t>
            </a:r>
          </a:p>
          <a:p>
            <a:pPr marL="0" indent="0">
              <a:buNone/>
            </a:pPr>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44</a:t>
            </a:fld>
            <a:endParaRPr lang="en-US" altLang="en-US" sz="1600" dirty="0"/>
          </a:p>
        </p:txBody>
      </p:sp>
    </p:spTree>
    <p:extLst>
      <p:ext uri="{BB962C8B-B14F-4D97-AF65-F5344CB8AC3E}">
        <p14:creationId xmlns:p14="http://schemas.microsoft.com/office/powerpoint/2010/main" val="2213252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Transfers </a:t>
            </a:r>
            <a:r>
              <a:rPr lang="en-US" dirty="0"/>
              <a:t>B</a:t>
            </a:r>
            <a:r>
              <a:rPr lang="en-US" dirty="0" smtClean="0"/>
              <a:t>etween </a:t>
            </a:r>
            <a:r>
              <a:rPr lang="en-US" dirty="0" smtClean="0"/>
              <a:t>Companies</a:t>
            </a:r>
            <a:endParaRPr lang="en-US" dirty="0"/>
          </a:p>
        </p:txBody>
      </p:sp>
      <p:sp>
        <p:nvSpPr>
          <p:cNvPr id="3" name="Content Placeholder 2"/>
          <p:cNvSpPr>
            <a:spLocks noGrp="1"/>
          </p:cNvSpPr>
          <p:nvPr>
            <p:ph idx="1"/>
          </p:nvPr>
        </p:nvSpPr>
        <p:spPr>
          <a:xfrm>
            <a:off x="520700" y="883003"/>
            <a:ext cx="12827000" cy="5880066"/>
          </a:xfrm>
        </p:spPr>
        <p:txBody>
          <a:bodyPr/>
          <a:lstStyle/>
          <a:p>
            <a:r>
              <a:rPr lang="en-US" dirty="0"/>
              <a:t>Moving fixed assets from one corporate group company to another (intercompany)</a:t>
            </a:r>
          </a:p>
          <a:p>
            <a:r>
              <a:rPr lang="en-US" dirty="0"/>
              <a:t>An intercompany transfer represents a retirement for one company and an acquisition for the other</a:t>
            </a:r>
          </a:p>
          <a:p>
            <a:r>
              <a:rPr lang="en-US" dirty="0"/>
              <a:t>An intercompany asset transfer may be necessary for one of the following reasons:</a:t>
            </a:r>
          </a:p>
          <a:p>
            <a:pPr lvl="1"/>
            <a:r>
              <a:rPr lang="en-US" dirty="0"/>
              <a:t>The physical location of the asset has changed, making it necessary to assign the asset to a new company code</a:t>
            </a:r>
          </a:p>
          <a:p>
            <a:pPr lvl="1"/>
            <a:r>
              <a:rPr lang="en-US" dirty="0"/>
              <a:t>The organizational structure of the corporate group has changed, requiring the asset assignment to a different company code</a:t>
            </a:r>
          </a:p>
        </p:txBody>
      </p:sp>
      <p:sp>
        <p:nvSpPr>
          <p:cNvPr id="4" name="Rectangle 3"/>
          <p:cNvSpPr/>
          <p:nvPr/>
        </p:nvSpPr>
        <p:spPr>
          <a:xfrm>
            <a:off x="4878412" y="6601877"/>
            <a:ext cx="584542" cy="87053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Diagram 4"/>
          <p:cNvGraphicFramePr/>
          <p:nvPr>
            <p:extLst>
              <p:ext uri="{D42A27DB-BD31-4B8C-83A1-F6EECF244321}">
                <p14:modId xmlns:p14="http://schemas.microsoft.com/office/powerpoint/2010/main" val="580035230"/>
              </p:ext>
            </p:extLst>
          </p:nvPr>
        </p:nvGraphicFramePr>
        <p:xfrm>
          <a:off x="2194834" y="6446375"/>
          <a:ext cx="5273370" cy="10260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1892366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p:txBody>
          <a:bodyPr/>
          <a:lstStyle/>
          <a:p>
            <a:r>
              <a:rPr lang="en-US" altLang="en-US" sz="4200" dirty="0"/>
              <a:t>Demo </a:t>
            </a:r>
            <a:r>
              <a:rPr lang="en-US" altLang="en-US" sz="4200" dirty="0" smtClean="0"/>
              <a:t>3.6</a:t>
            </a:r>
            <a:r>
              <a:rPr lang="en-US" altLang="en-US" sz="4200" dirty="0" smtClean="0"/>
              <a:t>: </a:t>
            </a:r>
            <a:r>
              <a:rPr lang="en-US" altLang="en-US" sz="4200" dirty="0"/>
              <a:t>Process </a:t>
            </a:r>
            <a:r>
              <a:rPr lang="en-US" altLang="en-US" sz="4200" dirty="0" smtClean="0"/>
              <a:t>an Intercompany Transfer</a:t>
            </a:r>
            <a:endParaRPr lang="en-US" altLang="en-US" sz="4200" dirty="0">
              <a:solidFill>
                <a:srgbClr val="FF0000"/>
              </a:solidFill>
            </a:endParaRPr>
          </a:p>
        </p:txBody>
      </p:sp>
      <p:sp>
        <p:nvSpPr>
          <p:cNvPr id="79877" name="Rectangle 4"/>
          <p:cNvSpPr>
            <a:spLocks noGrp="1" noChangeArrowheads="1"/>
          </p:cNvSpPr>
          <p:nvPr>
            <p:ph idx="1"/>
          </p:nvPr>
        </p:nvSpPr>
        <p:spPr/>
        <p:txBody>
          <a:bodyPr>
            <a:normAutofit/>
          </a:bodyPr>
          <a:lstStyle/>
          <a:p>
            <a:r>
              <a:rPr lang="en-US" altLang="en-US" dirty="0"/>
              <a:t>A fixed asset must be reassigned from one cost center to another</a:t>
            </a:r>
          </a:p>
          <a:p>
            <a:r>
              <a:rPr lang="en-US" altLang="en-US" dirty="0"/>
              <a:t>Notes</a:t>
            </a:r>
          </a:p>
          <a:p>
            <a:pPr lvl="1"/>
            <a:r>
              <a:rPr lang="en-US" altLang="en-US" dirty="0" smtClean="0"/>
              <a:t>Transaction </a:t>
            </a:r>
            <a:r>
              <a:rPr lang="en-US" altLang="en-US" dirty="0"/>
              <a:t>Code: ABUMN</a:t>
            </a:r>
          </a:p>
          <a:p>
            <a:pPr lvl="1"/>
            <a:endParaRPr lang="en-US" altLang="en-US" dirty="0"/>
          </a:p>
          <a:p>
            <a:pPr marL="690841" lvl="1" indent="0">
              <a:buNone/>
            </a:pP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46</a:t>
            </a:fld>
            <a:endParaRPr lang="en-US" altLang="en-US" sz="1600" dirty="0"/>
          </a:p>
        </p:txBody>
      </p:sp>
    </p:spTree>
    <p:extLst>
      <p:ext uri="{BB962C8B-B14F-4D97-AF65-F5344CB8AC3E}">
        <p14:creationId xmlns:p14="http://schemas.microsoft.com/office/powerpoint/2010/main" val="8644504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152400" y="101482"/>
            <a:ext cx="12627429" cy="624725"/>
          </a:xfrm>
        </p:spPr>
        <p:txBody>
          <a:bodyPr/>
          <a:lstStyle/>
          <a:p>
            <a:r>
              <a:rPr lang="en-US" altLang="en-US" sz="4200" dirty="0"/>
              <a:t>Exercise </a:t>
            </a:r>
            <a:r>
              <a:rPr lang="en-US" altLang="en-US" sz="4200" dirty="0" smtClean="0"/>
              <a:t>3.6</a:t>
            </a:r>
            <a:r>
              <a:rPr lang="en-US" altLang="en-US" sz="4200" dirty="0" smtClean="0"/>
              <a:t>: </a:t>
            </a:r>
            <a:r>
              <a:rPr lang="en-US" altLang="en-US" sz="4200" dirty="0"/>
              <a:t>Process </a:t>
            </a:r>
            <a:r>
              <a:rPr lang="en-US" altLang="en-US" sz="4200" dirty="0" smtClean="0"/>
              <a:t>an Intercompany Transfer</a:t>
            </a:r>
            <a:endParaRPr lang="en-US" altLang="en-US" sz="4200" dirty="0"/>
          </a:p>
        </p:txBody>
      </p:sp>
      <p:sp>
        <p:nvSpPr>
          <p:cNvPr id="69637" name="Rectangle 3"/>
          <p:cNvSpPr>
            <a:spLocks noGrp="1" noChangeArrowheads="1"/>
          </p:cNvSpPr>
          <p:nvPr>
            <p:ph idx="1"/>
          </p:nvPr>
        </p:nvSpPr>
        <p:spPr/>
        <p:txBody>
          <a:bodyPr/>
          <a:lstStyle/>
          <a:p>
            <a:r>
              <a:rPr lang="en-US" altLang="en-US" dirty="0"/>
              <a:t>A fixed asset must be reassigned from one cost center to another</a:t>
            </a:r>
          </a:p>
          <a:p>
            <a:r>
              <a:rPr lang="en-US" altLang="en-US" dirty="0"/>
              <a:t>Process a transfer within the same company code</a:t>
            </a:r>
          </a:p>
          <a:p>
            <a:r>
              <a:rPr lang="en-US" altLang="en-US" dirty="0"/>
              <a:t>Notes</a:t>
            </a:r>
          </a:p>
          <a:p>
            <a:pPr lvl="1"/>
            <a:r>
              <a:rPr lang="en-US" altLang="en-US" dirty="0" smtClean="0"/>
              <a:t>Transaction </a:t>
            </a:r>
            <a:r>
              <a:rPr lang="en-US" altLang="en-US" dirty="0"/>
              <a:t>Code: ABUMN</a:t>
            </a:r>
          </a:p>
          <a:p>
            <a:pPr marL="0" indent="0">
              <a:buNone/>
            </a:pPr>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47</a:t>
            </a:fld>
            <a:endParaRPr lang="en-US" altLang="en-US" sz="1600" dirty="0"/>
          </a:p>
        </p:txBody>
      </p:sp>
    </p:spTree>
    <p:extLst>
      <p:ext uri="{BB962C8B-B14F-4D97-AF65-F5344CB8AC3E}">
        <p14:creationId xmlns:p14="http://schemas.microsoft.com/office/powerpoint/2010/main" val="14058767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Transfers Within Affiliated Companies</a:t>
            </a:r>
          </a:p>
        </p:txBody>
      </p:sp>
      <p:sp>
        <p:nvSpPr>
          <p:cNvPr id="3" name="Content Placeholder 2"/>
          <p:cNvSpPr>
            <a:spLocks noGrp="1"/>
          </p:cNvSpPr>
          <p:nvPr>
            <p:ph idx="1"/>
          </p:nvPr>
        </p:nvSpPr>
        <p:spPr>
          <a:xfrm>
            <a:off x="520700" y="1168753"/>
            <a:ext cx="12827000" cy="5880066"/>
          </a:xfrm>
        </p:spPr>
        <p:txBody>
          <a:bodyPr/>
          <a:lstStyle/>
          <a:p>
            <a:r>
              <a:rPr lang="en-US" dirty="0"/>
              <a:t>Initiated when a parent company needs to make an asset transfer to a subsidiary company</a:t>
            </a:r>
          </a:p>
          <a:p>
            <a:r>
              <a:rPr lang="en-US" dirty="0"/>
              <a:t>May be necessary for one of the following reasons:</a:t>
            </a:r>
          </a:p>
          <a:p>
            <a:pPr lvl="1"/>
            <a:r>
              <a:rPr lang="en-US" dirty="0"/>
              <a:t>The physical location of the asset has changed</a:t>
            </a:r>
          </a:p>
          <a:p>
            <a:pPr lvl="1"/>
            <a:r>
              <a:rPr lang="en-US" dirty="0"/>
              <a:t>The organizational structure of the corporate group has changed</a:t>
            </a:r>
          </a:p>
        </p:txBody>
      </p:sp>
      <p:graphicFrame>
        <p:nvGraphicFramePr>
          <p:cNvPr id="4" name="Diagram 3"/>
          <p:cNvGraphicFramePr/>
          <p:nvPr>
            <p:extLst>
              <p:ext uri="{D42A27DB-BD31-4B8C-83A1-F6EECF244321}">
                <p14:modId xmlns:p14="http://schemas.microsoft.com/office/powerpoint/2010/main" val="449073898"/>
              </p:ext>
            </p:extLst>
          </p:nvPr>
        </p:nvGraphicFramePr>
        <p:xfrm>
          <a:off x="131571" y="644637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4"/>
          <p:cNvSpPr/>
          <p:nvPr/>
        </p:nvSpPr>
        <p:spPr>
          <a:xfrm>
            <a:off x="2791709" y="6578431"/>
            <a:ext cx="854906" cy="87053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666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0048" y="5953196"/>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 y="101482"/>
            <a:ext cx="12706586" cy="624725"/>
          </a:xfrm>
        </p:spPr>
        <p:txBody>
          <a:bodyPr/>
          <a:lstStyle/>
          <a:p>
            <a:r>
              <a:rPr lang="en-US" altLang="en-US" sz="3700" dirty="0" smtClean="0"/>
              <a:t>Demo 3.7: </a:t>
            </a:r>
            <a:r>
              <a:rPr lang="en-US" altLang="en-US" sz="3700" dirty="0"/>
              <a:t>Process a Transfer Within Affiliated Companies</a:t>
            </a:r>
          </a:p>
        </p:txBody>
      </p:sp>
      <p:sp>
        <p:nvSpPr>
          <p:cNvPr id="79877" name="Rectangle 4"/>
          <p:cNvSpPr>
            <a:spLocks noGrp="1" noChangeArrowheads="1"/>
          </p:cNvSpPr>
          <p:nvPr>
            <p:ph idx="1"/>
          </p:nvPr>
        </p:nvSpPr>
        <p:spPr>
          <a:xfrm>
            <a:off x="529319" y="991386"/>
            <a:ext cx="12827000" cy="5880066"/>
          </a:xfrm>
        </p:spPr>
        <p:txBody>
          <a:bodyPr>
            <a:normAutofit/>
          </a:bodyPr>
          <a:lstStyle/>
          <a:p>
            <a:r>
              <a:rPr lang="en-US" altLang="en-US" dirty="0"/>
              <a:t>A fixed asset is being transferred from Fujitsu Japan to the Dallas location</a:t>
            </a:r>
          </a:p>
          <a:p>
            <a:r>
              <a:rPr lang="en-US" altLang="en-US" dirty="0"/>
              <a:t>Notes</a:t>
            </a:r>
          </a:p>
          <a:p>
            <a:pPr lvl="1"/>
            <a:r>
              <a:rPr lang="en-US" altLang="en-US" dirty="0" smtClean="0"/>
              <a:t>Transaction </a:t>
            </a:r>
            <a:r>
              <a:rPr lang="en-US" altLang="en-US" dirty="0"/>
              <a:t>Code: ABZP</a:t>
            </a:r>
          </a:p>
          <a:p>
            <a:pPr lvl="1"/>
            <a:r>
              <a:rPr lang="en-US" altLang="en-US" dirty="0"/>
              <a:t>A sales transaction is typically required to start the process</a:t>
            </a:r>
          </a:p>
          <a:p>
            <a:pPr lvl="1"/>
            <a:endParaRPr lang="en-US" altLang="en-US" dirty="0"/>
          </a:p>
          <a:p>
            <a:pPr marL="690841" lvl="1" indent="0">
              <a:buNone/>
            </a:pP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49</a:t>
            </a:fld>
            <a:endParaRPr lang="en-US" altLang="en-US" sz="1600" dirty="0"/>
          </a:p>
        </p:txBody>
      </p:sp>
    </p:spTree>
    <p:extLst>
      <p:ext uri="{BB962C8B-B14F-4D97-AF65-F5344CB8AC3E}">
        <p14:creationId xmlns:p14="http://schemas.microsoft.com/office/powerpoint/2010/main" val="369209044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10160" y="101482"/>
            <a:ext cx="12627429" cy="624725"/>
          </a:xfrm>
        </p:spPr>
        <p:txBody>
          <a:bodyPr/>
          <a:lstStyle/>
          <a:p>
            <a:r>
              <a:rPr lang="en-US" altLang="en-US" sz="3600" dirty="0"/>
              <a:t>Exercise </a:t>
            </a:r>
            <a:r>
              <a:rPr lang="en-US" altLang="en-US" sz="3600" dirty="0" smtClean="0"/>
              <a:t>3.7</a:t>
            </a:r>
            <a:r>
              <a:rPr lang="en-US" altLang="en-US" sz="3600" dirty="0" smtClean="0"/>
              <a:t>: </a:t>
            </a:r>
            <a:r>
              <a:rPr lang="en-US" altLang="en-US" sz="3600" dirty="0"/>
              <a:t>Process a Transfer Within Affiliated Companies</a:t>
            </a:r>
          </a:p>
        </p:txBody>
      </p:sp>
      <p:sp>
        <p:nvSpPr>
          <p:cNvPr id="69637" name="Rectangle 3"/>
          <p:cNvSpPr>
            <a:spLocks noGrp="1" noChangeArrowheads="1"/>
          </p:cNvSpPr>
          <p:nvPr>
            <p:ph idx="1"/>
          </p:nvPr>
        </p:nvSpPr>
        <p:spPr/>
        <p:txBody>
          <a:bodyPr/>
          <a:lstStyle/>
          <a:p>
            <a:r>
              <a:rPr lang="en-US" altLang="en-US" dirty="0"/>
              <a:t>A fixed asset is being transferred from Fujitsu Japan to the Dallas location</a:t>
            </a:r>
          </a:p>
          <a:p>
            <a:r>
              <a:rPr lang="en-US" altLang="en-US" dirty="0"/>
              <a:t>Process a transfer from the parent to the subsidiary location</a:t>
            </a:r>
          </a:p>
          <a:p>
            <a:r>
              <a:rPr lang="en-US" altLang="en-US" dirty="0"/>
              <a:t>Notes</a:t>
            </a:r>
          </a:p>
          <a:p>
            <a:pPr lvl="1"/>
            <a:r>
              <a:rPr lang="en-US" altLang="en-US" dirty="0" smtClean="0"/>
              <a:t>Transaction </a:t>
            </a:r>
            <a:r>
              <a:rPr lang="en-US" altLang="en-US" dirty="0"/>
              <a:t>Code: ABZP</a:t>
            </a:r>
          </a:p>
          <a:p>
            <a:pPr lvl="1"/>
            <a:r>
              <a:rPr lang="en-US" altLang="en-US" dirty="0"/>
              <a:t>A sales transaction is typically required to start the process</a:t>
            </a:r>
          </a:p>
          <a:p>
            <a:pPr marL="0" indent="0">
              <a:buNone/>
            </a:pPr>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50</a:t>
            </a:fld>
            <a:endParaRPr lang="en-US" altLang="en-US" sz="1600" dirty="0"/>
          </a:p>
        </p:txBody>
      </p:sp>
    </p:spTree>
    <p:extLst>
      <p:ext uri="{BB962C8B-B14F-4D97-AF65-F5344CB8AC3E}">
        <p14:creationId xmlns:p14="http://schemas.microsoft.com/office/powerpoint/2010/main" val="37012166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tLang="en-US" dirty="0"/>
              <a:t>Unit 3, # 1</a:t>
            </a:r>
          </a:p>
        </p:txBody>
      </p:sp>
      <p:sp>
        <p:nvSpPr>
          <p:cNvPr id="73733" name="Rectangle 3"/>
          <p:cNvSpPr>
            <a:spLocks noGrp="1" noChangeArrowheads="1"/>
          </p:cNvSpPr>
          <p:nvPr>
            <p:ph idx="1"/>
          </p:nvPr>
        </p:nvSpPr>
        <p:spPr/>
        <p:txBody>
          <a:bodyPr lIns="91440" tIns="45720" rIns="91440" bIns="45720" anchor="t"/>
          <a:lstStyle/>
          <a:p>
            <a:pPr marL="517525" indent="-517525"/>
            <a:r>
              <a:rPr lang="en-US" altLang="en-US" dirty="0">
                <a:latin typeface="Fujitsu Sans"/>
              </a:rPr>
              <a:t>What important item is needed in order to process an intracompany transfer?</a:t>
            </a:r>
            <a:endParaRPr lang="en-US" dirty="0">
              <a:latin typeface="Fujitsu Sans"/>
            </a:endParaRPr>
          </a:p>
          <a:p>
            <a:pPr marL="517525" indent="-517525"/>
            <a:endParaRPr lang="en-US" altLang="en-US" dirty="0"/>
          </a:p>
          <a:p>
            <a:pPr marL="517525" indent="-517525"/>
            <a:endParaRPr lang="en-US" altLang="en-US" dirty="0"/>
          </a:p>
          <a:p>
            <a:pPr marL="517525" indent="-517525"/>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DC67485-719C-460B-BE50-F908EA1276DE}" type="slidenum">
              <a:rPr lang="en-US" altLang="en-US" sz="1600" smtClean="0"/>
              <a:pPr/>
              <a:t>51</a:t>
            </a:fld>
            <a:endParaRPr lang="en-US" altLang="en-US" sz="1600" dirty="0"/>
          </a:p>
        </p:txBody>
      </p:sp>
    </p:spTree>
    <p:extLst>
      <p:ext uri="{BB962C8B-B14F-4D97-AF65-F5344CB8AC3E}">
        <p14:creationId xmlns:p14="http://schemas.microsoft.com/office/powerpoint/2010/main" val="11481683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Unit 3, # 1</a:t>
            </a:r>
          </a:p>
        </p:txBody>
      </p:sp>
      <p:sp>
        <p:nvSpPr>
          <p:cNvPr id="45060" name="Rectangle 4"/>
          <p:cNvSpPr>
            <a:spLocks noGrp="1" noChangeArrowheads="1"/>
          </p:cNvSpPr>
          <p:nvPr>
            <p:ph idx="1"/>
          </p:nvPr>
        </p:nvSpPr>
        <p:spPr/>
        <p:txBody>
          <a:bodyPr lIns="91440" tIns="45720" rIns="91440" bIns="45720" anchor="t"/>
          <a:lstStyle/>
          <a:p>
            <a:pPr marL="517525" indent="-517525"/>
            <a:r>
              <a:rPr lang="en-US" altLang="en-US" dirty="0">
                <a:latin typeface="Fujitsu Sans"/>
              </a:rPr>
              <a:t>What important item is needed in order to process an intracompany transfer?</a:t>
            </a:r>
            <a:endParaRPr lang="en-US" dirty="0">
              <a:latin typeface="Fujitsu Sans"/>
            </a:endParaRPr>
          </a:p>
          <a:p>
            <a:pPr marL="517525" indent="-517525"/>
            <a:endParaRPr lang="en-US" altLang="en-US" dirty="0"/>
          </a:p>
          <a:p>
            <a:pPr marL="1122045" lvl="1" indent="-431165"/>
            <a:r>
              <a:rPr lang="en-US" altLang="en-US" i="1" dirty="0">
                <a:solidFill>
                  <a:srgbClr val="FF0000"/>
                </a:solidFill>
                <a:latin typeface="Fujitsu Sans"/>
              </a:rPr>
              <a:t>An existing master record must be available </a:t>
            </a:r>
            <a:r>
              <a:rPr lang="en-US" altLang="en-US" i="1" dirty="0" smtClean="0">
                <a:solidFill>
                  <a:srgbClr val="FF0000"/>
                </a:solidFill>
                <a:latin typeface="Fujitsu Sans"/>
              </a:rPr>
              <a:t>prior </a:t>
            </a:r>
            <a:r>
              <a:rPr lang="en-US" altLang="en-US" i="1" dirty="0">
                <a:solidFill>
                  <a:srgbClr val="FF0000"/>
                </a:solidFill>
                <a:latin typeface="Fujitsu Sans"/>
              </a:rPr>
              <a:t>to processing the transfer</a:t>
            </a:r>
          </a:p>
          <a:p>
            <a:pPr marL="690245" lvl="1" indent="0">
              <a:buNone/>
            </a:pPr>
            <a:endParaRPr lang="en-US" altLang="en-US" dirty="0"/>
          </a:p>
        </p:txBody>
      </p:sp>
      <p:sp>
        <p:nvSpPr>
          <p:cNvPr id="62466" name="Slide Number Placeholder 3"/>
          <p:cNvSpPr>
            <a:spLocks noGrp="1"/>
          </p:cNvSpPr>
          <p:nvPr>
            <p:ph type="sldNum" sz="quarter" idx="4294967295"/>
          </p:nvPr>
        </p:nvSpPr>
        <p:spPr>
          <a:xfrm>
            <a:off x="41124" y="-10281"/>
            <a:ext cx="0" cy="0"/>
          </a:xfrm>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52</a:t>
            </a:fld>
            <a:endParaRPr lang="en-US" altLang="en-US" sz="1600" dirty="0"/>
          </a:p>
        </p:txBody>
      </p:sp>
    </p:spTree>
    <p:extLst>
      <p:ext uri="{BB962C8B-B14F-4D97-AF65-F5344CB8AC3E}">
        <p14:creationId xmlns:p14="http://schemas.microsoft.com/office/powerpoint/2010/main" val="36669935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MCj04415100000[1]"/>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957983" y="5924070"/>
            <a:ext cx="1859619" cy="185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tLang="en-US" dirty="0"/>
              <a:t>3</a:t>
            </a:r>
          </a:p>
        </p:txBody>
      </p:sp>
      <p:sp>
        <p:nvSpPr>
          <p:cNvPr id="77829"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Perform the steps needed to process an intracompany transfer</a:t>
            </a:r>
          </a:p>
          <a:p>
            <a:r>
              <a:rPr lang="en-US" altLang="en-US" dirty="0"/>
              <a:t>Initiate the process for a transfer within a company code from on asset to another</a:t>
            </a:r>
          </a:p>
          <a:p>
            <a:r>
              <a:rPr lang="en-US" altLang="en-US" dirty="0"/>
              <a:t>Complete the steps needed to process a transfer between affiliated companies</a:t>
            </a:r>
          </a:p>
          <a:p>
            <a:pPr marL="0" indent="0">
              <a:buNone/>
            </a:pPr>
            <a:endParaRPr lang="en-US" altLang="en-US" dirty="0"/>
          </a:p>
        </p:txBody>
      </p:sp>
      <p:sp>
        <p:nvSpPr>
          <p:cNvPr id="7782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64D916E-780F-4F36-9EEA-B0E6C110BE23}" type="slidenum">
              <a:rPr lang="en-US" altLang="en-US" sz="1600" smtClean="0"/>
              <a:pPr/>
              <a:t>53</a:t>
            </a:fld>
            <a:endParaRPr lang="en-US" altLang="en-US" sz="1600" dirty="0"/>
          </a:p>
        </p:txBody>
      </p:sp>
    </p:spTree>
    <p:extLst>
      <p:ext uri="{BB962C8B-B14F-4D97-AF65-F5344CB8AC3E}">
        <p14:creationId xmlns:p14="http://schemas.microsoft.com/office/powerpoint/2010/main" val="2338226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Time for a Break!</a:t>
            </a:r>
          </a:p>
        </p:txBody>
      </p:sp>
      <p:sp>
        <p:nvSpPr>
          <p:cNvPr id="4" name="Content Placeholder 3"/>
          <p:cNvSpPr>
            <a:spLocks noGrp="1"/>
          </p:cNvSpPr>
          <p:nvPr>
            <p:ph idx="1"/>
          </p:nvPr>
        </p:nvSpPr>
        <p:spPr/>
        <p:txBody>
          <a:bodyPr/>
          <a:lstStyle/>
          <a:p>
            <a:r>
              <a:rPr lang="en-US" altLang="en-US" dirty="0"/>
              <a:t>Class starts again in 60 minutes</a:t>
            </a:r>
          </a:p>
          <a:p>
            <a:endParaRPr lang="en-US" dirty="0"/>
          </a:p>
        </p:txBody>
      </p:sp>
      <p:sp>
        <p:nvSpPr>
          <p:cNvPr id="6" name="Slide Number Placeholder 3"/>
          <p:cNvSpPr>
            <a:spLocks noGrp="1"/>
          </p:cNvSpPr>
          <p:nvPr>
            <p:ph type="sldNum" sz="quarter" idx="4294967295"/>
          </p:nvPr>
        </p:nvSpPr>
        <p:spPr/>
        <p:txBody>
          <a:bodyPr/>
          <a:lstStyle>
            <a:lvl1pPr>
              <a:defRPr>
                <a:solidFill>
                  <a:schemeClr val="tx1"/>
                </a:solidFill>
                <a:latin typeface="Arial" panose="020B0604020202020204" pitchFamily="34" charset="0"/>
              </a:defRPr>
            </a:lvl1pPr>
            <a:lvl2pPr marL="841985" indent="-323840">
              <a:defRPr>
                <a:solidFill>
                  <a:schemeClr val="tx1"/>
                </a:solidFill>
                <a:latin typeface="Arial" panose="020B0604020202020204" pitchFamily="34" charset="0"/>
              </a:defRPr>
            </a:lvl2pPr>
            <a:lvl3pPr marL="1295362" indent="-259072">
              <a:defRPr>
                <a:solidFill>
                  <a:schemeClr val="tx1"/>
                </a:solidFill>
                <a:latin typeface="Arial" panose="020B0604020202020204" pitchFamily="34" charset="0"/>
              </a:defRPr>
            </a:lvl3pPr>
            <a:lvl4pPr marL="1813507" indent="-259072">
              <a:defRPr>
                <a:solidFill>
                  <a:schemeClr val="tx1"/>
                </a:solidFill>
                <a:latin typeface="Arial" panose="020B0604020202020204" pitchFamily="34" charset="0"/>
              </a:defRPr>
            </a:lvl4pPr>
            <a:lvl5pPr marL="2331651" indent="-259072">
              <a:defRPr>
                <a:solidFill>
                  <a:schemeClr val="tx1"/>
                </a:solidFill>
                <a:latin typeface="Arial" panose="020B0604020202020204" pitchFamily="34" charset="0"/>
              </a:defRPr>
            </a:lvl5pPr>
            <a:lvl6pPr marL="2849796" indent="-259072" eaLnBrk="0" fontAlgn="base" hangingPunct="0">
              <a:spcBef>
                <a:spcPct val="0"/>
              </a:spcBef>
              <a:spcAft>
                <a:spcPct val="0"/>
              </a:spcAft>
              <a:defRPr>
                <a:solidFill>
                  <a:schemeClr val="tx1"/>
                </a:solidFill>
                <a:latin typeface="Arial" panose="020B0604020202020204" pitchFamily="34" charset="0"/>
              </a:defRPr>
            </a:lvl6pPr>
            <a:lvl7pPr marL="3367941" indent="-259072" eaLnBrk="0" fontAlgn="base" hangingPunct="0">
              <a:spcBef>
                <a:spcPct val="0"/>
              </a:spcBef>
              <a:spcAft>
                <a:spcPct val="0"/>
              </a:spcAft>
              <a:defRPr>
                <a:solidFill>
                  <a:schemeClr val="tx1"/>
                </a:solidFill>
                <a:latin typeface="Arial" panose="020B0604020202020204" pitchFamily="34" charset="0"/>
              </a:defRPr>
            </a:lvl7pPr>
            <a:lvl8pPr marL="3886086" indent="-259072" eaLnBrk="0" fontAlgn="base" hangingPunct="0">
              <a:spcBef>
                <a:spcPct val="0"/>
              </a:spcBef>
              <a:spcAft>
                <a:spcPct val="0"/>
              </a:spcAft>
              <a:defRPr>
                <a:solidFill>
                  <a:schemeClr val="tx1"/>
                </a:solidFill>
                <a:latin typeface="Arial" panose="020B0604020202020204" pitchFamily="34" charset="0"/>
              </a:defRPr>
            </a:lvl8pPr>
            <a:lvl9pPr marL="4404230" indent="-259072" eaLnBrk="0" fontAlgn="base" hangingPunct="0">
              <a:spcBef>
                <a:spcPct val="0"/>
              </a:spcBef>
              <a:spcAft>
                <a:spcPct val="0"/>
              </a:spcAft>
              <a:defRPr>
                <a:solidFill>
                  <a:schemeClr val="tx1"/>
                </a:solidFill>
                <a:latin typeface="Arial" panose="020B0604020202020204" pitchFamily="34" charset="0"/>
              </a:defRPr>
            </a:lvl9pPr>
          </a:lstStyle>
          <a:p>
            <a:fld id="{92BE6A29-3330-4120-8C4F-D901DC38695C}" type="slidenum">
              <a:rPr lang="en-US" altLang="en-US" sz="1600" smtClean="0"/>
              <a:pPr/>
              <a:t>54</a:t>
            </a:fld>
            <a:endParaRPr lang="en-US" altLang="en-US" sz="1600" dirty="0"/>
          </a:p>
        </p:txBody>
      </p:sp>
      <p:pic>
        <p:nvPicPr>
          <p:cNvPr id="2" name="Picture 1"/>
          <p:cNvPicPr>
            <a:picLocks noChangeAspect="1"/>
          </p:cNvPicPr>
          <p:nvPr/>
        </p:nvPicPr>
        <p:blipFill>
          <a:blip r:embed="rId3"/>
          <a:stretch>
            <a:fillRect/>
          </a:stretch>
        </p:blipFill>
        <p:spPr>
          <a:xfrm>
            <a:off x="4577080" y="2125028"/>
            <a:ext cx="4663440" cy="4652645"/>
          </a:xfrm>
          <a:prstGeom prst="rect">
            <a:avLst/>
          </a:prstGeom>
        </p:spPr>
      </p:pic>
    </p:spTree>
    <p:extLst>
      <p:ext uri="{BB962C8B-B14F-4D97-AF65-F5344CB8AC3E}">
        <p14:creationId xmlns:p14="http://schemas.microsoft.com/office/powerpoint/2010/main" val="4839829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750A293A-6492-4A1F-A0D4-05E445FB280C}" type="slidenum">
              <a:rPr lang="en-US" altLang="en-US" sz="1600" smtClean="0"/>
              <a:pPr/>
              <a:t>55</a:t>
            </a:fld>
            <a:endParaRPr lang="en-US" altLang="en-US" sz="1600" dirty="0"/>
          </a:p>
        </p:txBody>
      </p:sp>
    </p:spTree>
    <p:extLst>
      <p:ext uri="{BB962C8B-B14F-4D97-AF65-F5344CB8AC3E}">
        <p14:creationId xmlns:p14="http://schemas.microsoft.com/office/powerpoint/2010/main" val="19323258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t>
            </a:r>
            <a:r>
              <a:rPr lang="en-US" altLang="en-US" dirty="0" smtClean="0"/>
              <a:t>Fixed Assets Reports (60 </a:t>
            </a:r>
            <a:r>
              <a:rPr lang="en-US" altLang="en-US" dirty="0"/>
              <a:t>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56</a:t>
            </a:fld>
            <a:endParaRPr lang="en-US" altLang="en-US" sz="1600" dirty="0"/>
          </a:p>
        </p:txBody>
      </p:sp>
      <p:sp>
        <p:nvSpPr>
          <p:cNvPr id="13" name="Rectangle 12"/>
          <p:cNvSpPr>
            <a:spLocks noChangeArrowheads="1"/>
          </p:cNvSpPr>
          <p:nvPr/>
        </p:nvSpPr>
        <p:spPr bwMode="auto">
          <a:xfrm>
            <a:off x="389791" y="3023871"/>
            <a:ext cx="9404450" cy="68988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28970488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ss00071"/>
          <p:cNvPicPr>
            <a:picLocks noChangeAspect="1" noChangeArrowheads="1"/>
          </p:cNvPicPr>
          <p:nvPr/>
        </p:nvPicPr>
        <p:blipFill>
          <a:blip r:embed="rId3">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3"/>
          <p:cNvSpPr>
            <a:spLocks noGrp="1" noChangeArrowheads="1"/>
          </p:cNvSpPr>
          <p:nvPr>
            <p:ph type="title"/>
          </p:nvPr>
        </p:nvSpPr>
        <p:spPr/>
        <p:txBody>
          <a:bodyPr/>
          <a:lstStyle/>
          <a:p>
            <a:r>
              <a:rPr lang="en-US" altLang="en-US" dirty="0"/>
              <a:t>4</a:t>
            </a:r>
          </a:p>
        </p:txBody>
      </p:sp>
      <p:sp>
        <p:nvSpPr>
          <p:cNvPr id="43013" name="Rectangle 4"/>
          <p:cNvSpPr>
            <a:spLocks noGrp="1" noChangeArrowheads="1"/>
          </p:cNvSpPr>
          <p:nvPr>
            <p:ph idx="1"/>
          </p:nvPr>
        </p:nvSpPr>
        <p:spPr/>
        <p:txBody>
          <a:bodyPr/>
          <a:lstStyle/>
          <a:p>
            <a:pPr marL="0" indent="0">
              <a:buNone/>
            </a:pPr>
            <a:r>
              <a:rPr lang="en-US" altLang="en-US" dirty="0"/>
              <a:t>You should be able to:</a:t>
            </a:r>
          </a:p>
          <a:p>
            <a:r>
              <a:rPr lang="en-US" altLang="en-US" dirty="0"/>
              <a:t>Complete an asset sale without a customer</a:t>
            </a:r>
          </a:p>
          <a:p>
            <a:r>
              <a:rPr lang="en-US" altLang="en-US" dirty="0" smtClean="0"/>
              <a:t>Scrap an asset</a:t>
            </a:r>
            <a:endParaRPr lang="en-US" altLang="en-US" dirty="0"/>
          </a:p>
          <a:p>
            <a:r>
              <a:rPr lang="en-US" altLang="en-US" dirty="0"/>
              <a:t>Perform a manual depreciation when required</a:t>
            </a:r>
          </a:p>
          <a:p>
            <a:r>
              <a:rPr lang="en-US" altLang="en-US" dirty="0"/>
              <a:t>Process a monthly depreciation calculation</a:t>
            </a:r>
          </a:p>
          <a:p>
            <a:r>
              <a:rPr lang="en-US" altLang="en-US" dirty="0"/>
              <a:t>Perform an asset retirement using the scrap process</a:t>
            </a:r>
          </a:p>
          <a:p>
            <a:pPr marL="0" indent="0">
              <a:buNone/>
            </a:pPr>
            <a:endParaRPr lang="en-US" altLang="en-US" dirty="0"/>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57</a:t>
            </a:fld>
            <a:endParaRPr lang="en-US" altLang="en-US" sz="1600" dirty="0"/>
          </a:p>
        </p:txBody>
      </p:sp>
    </p:spTree>
    <p:extLst>
      <p:ext uri="{BB962C8B-B14F-4D97-AF65-F5344CB8AC3E}">
        <p14:creationId xmlns:p14="http://schemas.microsoft.com/office/powerpoint/2010/main" val="405898270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Asset Sale Without Customer – ABAON</a:t>
            </a:r>
          </a:p>
        </p:txBody>
      </p:sp>
      <p:sp>
        <p:nvSpPr>
          <p:cNvPr id="64516" name="Rectangle 4"/>
          <p:cNvSpPr>
            <a:spLocks noGrp="1" noChangeArrowheads="1"/>
          </p:cNvSpPr>
          <p:nvPr>
            <p:ph idx="1"/>
          </p:nvPr>
        </p:nvSpPr>
        <p:spPr>
          <a:xfrm>
            <a:off x="520700" y="1277608"/>
            <a:ext cx="12827000" cy="5880066"/>
          </a:xfrm>
        </p:spPr>
        <p:txBody>
          <a:bodyPr/>
          <a:lstStyle/>
          <a:p>
            <a:r>
              <a:rPr lang="en-US" altLang="en-US" dirty="0"/>
              <a:t>Reasons for processing an asset sale without a customer transaction include:</a:t>
            </a:r>
          </a:p>
          <a:p>
            <a:pPr lvl="1"/>
            <a:r>
              <a:rPr lang="en-US" dirty="0"/>
              <a:t>The book value of the asset is lower than the revenue (sales price)</a:t>
            </a:r>
          </a:p>
          <a:p>
            <a:pPr lvl="1"/>
            <a:r>
              <a:rPr lang="en-US" dirty="0"/>
              <a:t>Value is bigger than the revenue (sales price) </a:t>
            </a:r>
          </a:p>
          <a:p>
            <a:pPr lvl="1"/>
            <a:r>
              <a:rPr lang="en-US" dirty="0"/>
              <a:t>Equal to the revenue (sales price): no additional account has to be posted.</a:t>
            </a:r>
          </a:p>
          <a:p>
            <a:endParaRPr lang="en-US" altLang="en-US" dirty="0"/>
          </a:p>
          <a:p>
            <a:pPr lvl="1"/>
            <a:endParaRPr lang="en-US" altLang="en-US" dirty="0"/>
          </a:p>
          <a:p>
            <a:pPr lvl="1"/>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58</a:t>
            </a:fld>
            <a:endParaRPr lang="en-US" altLang="en-US" sz="1600" dirty="0"/>
          </a:p>
        </p:txBody>
      </p:sp>
      <p:graphicFrame>
        <p:nvGraphicFramePr>
          <p:cNvPr id="7" name="Diagram 6"/>
          <p:cNvGraphicFramePr/>
          <p:nvPr>
            <p:extLst>
              <p:ext uri="{D42A27DB-BD31-4B8C-83A1-F6EECF244321}">
                <p14:modId xmlns:p14="http://schemas.microsoft.com/office/powerpoint/2010/main" val="3904366271"/>
              </p:ext>
            </p:extLst>
          </p:nvPr>
        </p:nvGraphicFramePr>
        <p:xfrm>
          <a:off x="131571" y="644637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3471643" y="6578431"/>
            <a:ext cx="854906" cy="870539"/>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564164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Asset Sale Without a Customer Process Flow</a:t>
            </a:r>
          </a:p>
        </p:txBody>
      </p:sp>
      <p:grpSp>
        <p:nvGrpSpPr>
          <p:cNvPr id="3" name="Group 2"/>
          <p:cNvGrpSpPr/>
          <p:nvPr/>
        </p:nvGrpSpPr>
        <p:grpSpPr>
          <a:xfrm>
            <a:off x="44712" y="929213"/>
            <a:ext cx="13561874" cy="6610649"/>
            <a:chOff x="255726" y="915566"/>
            <a:chExt cx="8714358" cy="3979826"/>
          </a:xfrm>
        </p:grpSpPr>
        <p:grpSp>
          <p:nvGrpSpPr>
            <p:cNvPr id="4" name="Group 3"/>
            <p:cNvGrpSpPr/>
            <p:nvPr/>
          </p:nvGrpSpPr>
          <p:grpSpPr>
            <a:xfrm>
              <a:off x="255726" y="915566"/>
              <a:ext cx="8713663" cy="3979826"/>
              <a:chOff x="250825" y="968188"/>
              <a:chExt cx="8425631" cy="3907818"/>
            </a:xfrm>
          </p:grpSpPr>
          <p:sp>
            <p:nvSpPr>
              <p:cNvPr id="7" name="Rectangle 6"/>
              <p:cNvSpPr/>
              <p:nvPr/>
            </p:nvSpPr>
            <p:spPr>
              <a:xfrm>
                <a:off x="250825" y="968188"/>
                <a:ext cx="8425631" cy="3907818"/>
              </a:xfrm>
              <a:prstGeom prst="rect">
                <a:avLst/>
              </a:prstGeom>
              <a:solidFill>
                <a:schemeClr val="bg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sp>
            <p:nvSpPr>
              <p:cNvPr id="8" name="Rectangle 7"/>
              <p:cNvSpPr/>
              <p:nvPr/>
            </p:nvSpPr>
            <p:spPr>
              <a:xfrm>
                <a:off x="250825" y="968188"/>
                <a:ext cx="8425631" cy="235410"/>
              </a:xfrm>
              <a:prstGeom prst="rect">
                <a:avLst/>
              </a:prstGeom>
              <a:solidFill>
                <a:schemeClr val="bg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bIns="0" rtlCol="0" anchor="t" anchorCtr="0">
                <a:normAutofit/>
              </a:bodyPr>
              <a:lstStyle/>
              <a:p>
                <a:pPr algn="ctr"/>
                <a:endParaRPr lang="en-US" sz="1600" dirty="0">
                  <a:solidFill>
                    <a:schemeClr val="tx1"/>
                  </a:solidFill>
                </a:endParaRPr>
              </a:p>
            </p:txBody>
          </p:sp>
        </p:grpSp>
        <p:sp>
          <p:nvSpPr>
            <p:cNvPr id="5" name="Flowchart: Process 4"/>
            <p:cNvSpPr/>
            <p:nvPr/>
          </p:nvSpPr>
          <p:spPr>
            <a:xfrm>
              <a:off x="256421" y="1871056"/>
              <a:ext cx="8713663" cy="792088"/>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sp>
          <p:nvSpPr>
            <p:cNvPr id="6" name="Flowchart: Process 5"/>
            <p:cNvSpPr/>
            <p:nvPr/>
          </p:nvSpPr>
          <p:spPr>
            <a:xfrm>
              <a:off x="255726" y="3388599"/>
              <a:ext cx="8713663" cy="792088"/>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dirty="0">
                <a:solidFill>
                  <a:schemeClr val="tx1"/>
                </a:solidFill>
              </a:endParaRPr>
            </a:p>
          </p:txBody>
        </p:sp>
      </p:grpSp>
      <p:sp>
        <p:nvSpPr>
          <p:cNvPr id="9" name="TextBox 8"/>
          <p:cNvSpPr txBox="1"/>
          <p:nvPr/>
        </p:nvSpPr>
        <p:spPr>
          <a:xfrm>
            <a:off x="234461" y="867509"/>
            <a:ext cx="8854948" cy="503664"/>
          </a:xfrm>
          <a:prstGeom prst="rect">
            <a:avLst/>
          </a:prstGeom>
          <a:noFill/>
        </p:spPr>
        <p:txBody>
          <a:bodyPr wrap="square" rtlCol="0">
            <a:spAutoFit/>
          </a:bodyPr>
          <a:lstStyle/>
          <a:p>
            <a:r>
              <a:rPr lang="en-US" dirty="0"/>
              <a:t>Asset Retirement with Revenue but no Customer Involvement</a:t>
            </a:r>
          </a:p>
        </p:txBody>
      </p:sp>
      <p:grpSp>
        <p:nvGrpSpPr>
          <p:cNvPr id="10" name="Group 9"/>
          <p:cNvGrpSpPr/>
          <p:nvPr/>
        </p:nvGrpSpPr>
        <p:grpSpPr>
          <a:xfrm>
            <a:off x="70338" y="1313796"/>
            <a:ext cx="1195754" cy="6260474"/>
            <a:chOff x="259525" y="1164260"/>
            <a:chExt cx="361430" cy="3721393"/>
          </a:xfrm>
        </p:grpSpPr>
        <p:sp>
          <p:nvSpPr>
            <p:cNvPr id="11" name="Flowchart: Process 10"/>
            <p:cNvSpPr/>
            <p:nvPr/>
          </p:nvSpPr>
          <p:spPr>
            <a:xfrm>
              <a:off x="259525" y="1164260"/>
              <a:ext cx="360735" cy="696264"/>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rIns="91440" bIns="27432" rtlCol="0" anchor="ctr" anchorCtr="1">
              <a:normAutofit/>
            </a:bodyPr>
            <a:lstStyle/>
            <a:p>
              <a:pPr algn="ctr"/>
              <a:r>
                <a:rPr lang="en-US" sz="1800" dirty="0">
                  <a:solidFill>
                    <a:schemeClr val="tx1"/>
                  </a:solidFill>
                  <a:cs typeface="Arial"/>
                </a:rPr>
                <a:t>BU</a:t>
              </a:r>
            </a:p>
          </p:txBody>
        </p:sp>
        <p:sp>
          <p:nvSpPr>
            <p:cNvPr id="12" name="Flowchart: Process 11"/>
            <p:cNvSpPr/>
            <p:nvPr/>
          </p:nvSpPr>
          <p:spPr>
            <a:xfrm>
              <a:off x="259525" y="1871056"/>
              <a:ext cx="360735" cy="782349"/>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rIns="91440" bIns="27432" rtlCol="0" anchor="ctr" anchorCtr="0">
              <a:normAutofit/>
            </a:bodyPr>
            <a:lstStyle/>
            <a:p>
              <a:pPr algn="ctr"/>
              <a:r>
                <a:rPr lang="en-US" sz="1800" dirty="0">
                  <a:solidFill>
                    <a:schemeClr val="tx1"/>
                  </a:solidFill>
                </a:rPr>
                <a:t>FA </a:t>
              </a:r>
            </a:p>
            <a:p>
              <a:pPr algn="ctr"/>
              <a:r>
                <a:rPr lang="en-US" sz="1800" dirty="0">
                  <a:solidFill>
                    <a:schemeClr val="tx1"/>
                  </a:solidFill>
                </a:rPr>
                <a:t>Accountant</a:t>
              </a:r>
            </a:p>
          </p:txBody>
        </p:sp>
        <p:sp>
          <p:nvSpPr>
            <p:cNvPr id="13" name="Flowchart: Process 12"/>
            <p:cNvSpPr/>
            <p:nvPr/>
          </p:nvSpPr>
          <p:spPr>
            <a:xfrm>
              <a:off x="259525" y="2663144"/>
              <a:ext cx="360735" cy="725455"/>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sp>
          <p:nvSpPr>
            <p:cNvPr id="14" name="Flowchart: Process 13"/>
            <p:cNvSpPr/>
            <p:nvPr/>
          </p:nvSpPr>
          <p:spPr>
            <a:xfrm>
              <a:off x="260220" y="3388599"/>
              <a:ext cx="360735" cy="782349"/>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sp>
          <p:nvSpPr>
            <p:cNvPr id="15" name="Flowchart: Process 14"/>
            <p:cNvSpPr/>
            <p:nvPr/>
          </p:nvSpPr>
          <p:spPr>
            <a:xfrm>
              <a:off x="260220" y="4180687"/>
              <a:ext cx="360735" cy="704966"/>
            </a:xfrm>
            <a:prstGeom prst="flowChartProcess">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vert270" lIns="0" tIns="27432" bIns="27432" rtlCol="0" anchor="ctr" anchorCtr="1">
              <a:normAutofit/>
            </a:bodyPr>
            <a:lstStyle/>
            <a:p>
              <a:pPr algn="ctr"/>
              <a:endParaRPr lang="en-US" sz="1050" dirty="0">
                <a:solidFill>
                  <a:schemeClr val="tx1"/>
                </a:solidFill>
              </a:endParaRPr>
            </a:p>
          </p:txBody>
        </p:sp>
      </p:grpSp>
      <p:sp>
        <p:nvSpPr>
          <p:cNvPr id="16" name="Flowchart: Process 15"/>
          <p:cNvSpPr/>
          <p:nvPr/>
        </p:nvSpPr>
        <p:spPr>
          <a:xfrm>
            <a:off x="1427916" y="1361852"/>
            <a:ext cx="1683773" cy="1083443"/>
          </a:xfrm>
          <a:prstGeom prst="flowChart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Review Asset List for assets to be disposed</a:t>
            </a:r>
          </a:p>
        </p:txBody>
      </p:sp>
      <p:sp>
        <p:nvSpPr>
          <p:cNvPr id="20" name="TextBox 19"/>
          <p:cNvSpPr txBox="1"/>
          <p:nvPr/>
        </p:nvSpPr>
        <p:spPr>
          <a:xfrm>
            <a:off x="6484664" y="2044144"/>
            <a:ext cx="397146" cy="230832"/>
          </a:xfrm>
          <a:prstGeom prst="rect">
            <a:avLst/>
          </a:prstGeom>
          <a:noFill/>
        </p:spPr>
        <p:txBody>
          <a:bodyPr wrap="square" rtlCol="0">
            <a:spAutoFit/>
          </a:bodyPr>
          <a:lstStyle/>
          <a:p>
            <a:endParaRPr lang="en-US" sz="900" b="1" dirty="0">
              <a:solidFill>
                <a:srgbClr val="00973E"/>
              </a:solidFill>
            </a:endParaRPr>
          </a:p>
        </p:txBody>
      </p:sp>
      <p:cxnSp>
        <p:nvCxnSpPr>
          <p:cNvPr id="28" name="Elbow Connector 27"/>
          <p:cNvCxnSpPr>
            <a:stCxn id="16" idx="3"/>
          </p:cNvCxnSpPr>
          <p:nvPr/>
        </p:nvCxnSpPr>
        <p:spPr>
          <a:xfrm flipV="1">
            <a:off x="3111689" y="1900515"/>
            <a:ext cx="545957" cy="3059"/>
          </a:xfrm>
          <a:prstGeom prst="bentConnector3">
            <a:avLst>
              <a:gd name="adj1" fmla="val 50000"/>
            </a:avLst>
          </a:prstGeom>
          <a:ln w="22225">
            <a:solidFill>
              <a:schemeClr val="tx1">
                <a:lumMod val="50000"/>
                <a:lumOff val="50000"/>
              </a:schemeClr>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4" name="Group 53"/>
          <p:cNvGrpSpPr/>
          <p:nvPr/>
        </p:nvGrpSpPr>
        <p:grpSpPr>
          <a:xfrm>
            <a:off x="7099018" y="2936383"/>
            <a:ext cx="981706" cy="307777"/>
            <a:chOff x="3946467" y="1299286"/>
            <a:chExt cx="409509" cy="296489"/>
          </a:xfrm>
        </p:grpSpPr>
        <p:cxnSp>
          <p:nvCxnSpPr>
            <p:cNvPr id="55" name="Straight Arrow Connector 54"/>
            <p:cNvCxnSpPr/>
            <p:nvPr/>
          </p:nvCxnSpPr>
          <p:spPr>
            <a:xfrm flipV="1">
              <a:off x="3946467" y="1563638"/>
              <a:ext cx="409509" cy="9697"/>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068244" y="1299286"/>
              <a:ext cx="224030" cy="296489"/>
            </a:xfrm>
            <a:prstGeom prst="rect">
              <a:avLst/>
            </a:prstGeom>
            <a:noFill/>
          </p:spPr>
          <p:txBody>
            <a:bodyPr wrap="square" rtlCol="0">
              <a:spAutoFit/>
            </a:bodyPr>
            <a:lstStyle/>
            <a:p>
              <a:r>
                <a:rPr lang="en-US" sz="1400" b="1" dirty="0">
                  <a:solidFill>
                    <a:srgbClr val="00973E"/>
                  </a:solidFill>
                </a:rPr>
                <a:t>YES</a:t>
              </a:r>
            </a:p>
          </p:txBody>
        </p:sp>
      </p:grpSp>
      <p:sp>
        <p:nvSpPr>
          <p:cNvPr id="68" name="Flowchart: Predefined Process 67"/>
          <p:cNvSpPr/>
          <p:nvPr/>
        </p:nvSpPr>
        <p:spPr>
          <a:xfrm>
            <a:off x="8087601" y="2711265"/>
            <a:ext cx="1479485" cy="984265"/>
          </a:xfrm>
          <a:prstGeom prst="flowChartPredefinedProcess">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chemeClr val="tx1"/>
                </a:solidFill>
                <a:latin typeface="Calibri Light" panose="020F0302020204030204" pitchFamily="34" charset="0"/>
                <a:cs typeface="Calibri Light" panose="020F0302020204030204" pitchFamily="34" charset="0"/>
              </a:rPr>
              <a:t>Asset Sale Without Customer</a:t>
            </a:r>
          </a:p>
          <a:p>
            <a:pPr algn="ctr"/>
            <a:r>
              <a:rPr lang="en-US" sz="1600" b="1" dirty="0">
                <a:solidFill>
                  <a:schemeClr val="tx1"/>
                </a:solidFill>
                <a:latin typeface="Calibri Light" panose="020F0302020204030204" pitchFamily="34" charset="0"/>
                <a:cs typeface="Calibri Light" panose="020F0302020204030204" pitchFamily="34" charset="0"/>
              </a:rPr>
              <a:t>ABAON</a:t>
            </a:r>
          </a:p>
        </p:txBody>
      </p:sp>
      <p:sp>
        <p:nvSpPr>
          <p:cNvPr id="73" name="Flowchart: Decision 72"/>
          <p:cNvSpPr/>
          <p:nvPr/>
        </p:nvSpPr>
        <p:spPr>
          <a:xfrm>
            <a:off x="5738247" y="2647664"/>
            <a:ext cx="1385871" cy="1102764"/>
          </a:xfrm>
          <a:prstGeom prst="flowChartDecision">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sz="1600" dirty="0">
                <a:solidFill>
                  <a:schemeClr val="tx1"/>
                </a:solidFill>
                <a:latin typeface="Calibri Light" panose="020F0302020204030204" pitchFamily="34" charset="0"/>
                <a:cs typeface="Calibri Light" panose="020F0302020204030204" pitchFamily="34" charset="0"/>
              </a:rPr>
              <a:t>Approve?</a:t>
            </a:r>
          </a:p>
        </p:txBody>
      </p:sp>
      <p:cxnSp>
        <p:nvCxnSpPr>
          <p:cNvPr id="77" name="Straight Arrow Connector 76"/>
          <p:cNvCxnSpPr/>
          <p:nvPr/>
        </p:nvCxnSpPr>
        <p:spPr>
          <a:xfrm flipV="1">
            <a:off x="9609080" y="3213858"/>
            <a:ext cx="981706" cy="10066"/>
          </a:xfrm>
          <a:prstGeom prst="straightConnector1">
            <a:avLst/>
          </a:prstGeom>
          <a:ln w="22225">
            <a:solidFill>
              <a:schemeClr val="bg2">
                <a:lumMod val="5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9" name="Elbow Connector 78"/>
          <p:cNvCxnSpPr/>
          <p:nvPr/>
        </p:nvCxnSpPr>
        <p:spPr>
          <a:xfrm rot="10800000">
            <a:off x="2227275" y="2518194"/>
            <a:ext cx="3589470" cy="680855"/>
          </a:xfrm>
          <a:prstGeom prst="bentConnector3">
            <a:avLst>
              <a:gd name="adj1" fmla="val 100189"/>
            </a:avLst>
          </a:prstGeom>
          <a:ln w="19050">
            <a:solidFill>
              <a:srgbClr val="FF0000"/>
            </a:solidFill>
            <a:prstDash val="dash"/>
            <a:tailEnd type="stealth" w="lg" len="lg"/>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5335102" y="2970521"/>
            <a:ext cx="425116" cy="307777"/>
          </a:xfrm>
          <a:prstGeom prst="rect">
            <a:avLst/>
          </a:prstGeom>
          <a:noFill/>
        </p:spPr>
        <p:txBody>
          <a:bodyPr wrap="none" rtlCol="0">
            <a:spAutoFit/>
          </a:bodyPr>
          <a:lstStyle/>
          <a:p>
            <a:r>
              <a:rPr lang="en-US" sz="1400" b="1" dirty="0">
                <a:solidFill>
                  <a:srgbClr val="FF0000"/>
                </a:solidFill>
              </a:rPr>
              <a:t>NO</a:t>
            </a:r>
          </a:p>
        </p:txBody>
      </p:sp>
      <p:sp>
        <p:nvSpPr>
          <p:cNvPr id="87" name="Flowchart: Terminator 86"/>
          <p:cNvSpPr/>
          <p:nvPr/>
        </p:nvSpPr>
        <p:spPr>
          <a:xfrm>
            <a:off x="10564011" y="3034078"/>
            <a:ext cx="917338" cy="369626"/>
          </a:xfrm>
          <a:prstGeom prst="flowChartTerminator">
            <a:avLst/>
          </a:prstGeom>
          <a:solidFill>
            <a:schemeClr val="bg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lstStyle/>
          <a:p>
            <a:pPr algn="ctr"/>
            <a:r>
              <a:rPr lang="en-US" sz="1800" dirty="0">
                <a:solidFill>
                  <a:srgbClr val="FF0000"/>
                </a:solidFill>
                <a:latin typeface="Calibri Light" panose="020F0302020204030204" pitchFamily="34" charset="0"/>
                <a:cs typeface="Calibri Light" panose="020F0302020204030204" pitchFamily="34" charset="0"/>
              </a:rPr>
              <a:t>End</a:t>
            </a:r>
          </a:p>
        </p:txBody>
      </p:sp>
      <p:sp>
        <p:nvSpPr>
          <p:cNvPr id="40" name="Flowchart: Process 39"/>
          <p:cNvSpPr/>
          <p:nvPr/>
        </p:nvSpPr>
        <p:spPr>
          <a:xfrm>
            <a:off x="3657646" y="1380993"/>
            <a:ext cx="1664982" cy="1072591"/>
          </a:xfrm>
          <a:prstGeom prst="flowChartProcess">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 tIns="30256" rIns="27432" bIns="30256" numCol="1" spcCol="0" rtlCol="0" fromWordArt="0" anchor="ctr" anchorCtr="0" forceAA="0" compatLnSpc="1">
            <a:prstTxWarp prst="textNoShape">
              <a:avLst/>
            </a:prstTxWarp>
            <a:noAutofit/>
          </a:bodyPr>
          <a:lstStyle/>
          <a:p>
            <a:pPr algn="ctr"/>
            <a:r>
              <a:rPr lang="en-US" sz="1800" dirty="0">
                <a:solidFill>
                  <a:schemeClr val="tx1"/>
                </a:solidFill>
                <a:latin typeface="Calibri Light" panose="020F0302020204030204" pitchFamily="34" charset="0"/>
                <a:cs typeface="Calibri Light" panose="020F0302020204030204" pitchFamily="34" charset="0"/>
              </a:rPr>
              <a:t>Send the List of assets to be disposed</a:t>
            </a:r>
          </a:p>
        </p:txBody>
      </p:sp>
      <p:cxnSp>
        <p:nvCxnSpPr>
          <p:cNvPr id="45" name="Elbow Connector 44"/>
          <p:cNvCxnSpPr>
            <a:endCxn id="73" idx="0"/>
          </p:cNvCxnSpPr>
          <p:nvPr/>
        </p:nvCxnSpPr>
        <p:spPr>
          <a:xfrm>
            <a:off x="5344401" y="1949236"/>
            <a:ext cx="1086782" cy="698428"/>
          </a:xfrm>
          <a:prstGeom prst="bentConnector2">
            <a:avLst/>
          </a:prstGeom>
          <a:ln w="22225">
            <a:solidFill>
              <a:schemeClr val="tx1">
                <a:lumMod val="50000"/>
                <a:lumOff val="50000"/>
              </a:schemeClr>
            </a:solidFill>
            <a:tailEnd type="stealth"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7116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3800" dirty="0"/>
              <a:t>Demo </a:t>
            </a:r>
            <a:r>
              <a:rPr lang="en-US" altLang="en-US" sz="3800" dirty="0" smtClean="0"/>
              <a:t>4.8</a:t>
            </a:r>
            <a:r>
              <a:rPr lang="en-US" altLang="en-US" sz="3800" dirty="0" smtClean="0"/>
              <a:t>: </a:t>
            </a:r>
            <a:r>
              <a:rPr lang="en-US" altLang="en-US" sz="3800" dirty="0"/>
              <a:t>Process an Asset Sale Without a Customer</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a:normAutofit/>
          </a:bodyPr>
          <a:lstStyle/>
          <a:p>
            <a:r>
              <a:rPr lang="en-US" altLang="en-US" dirty="0"/>
              <a:t>A laptop is being retired with revenue that must be recorded</a:t>
            </a:r>
          </a:p>
          <a:p>
            <a:r>
              <a:rPr lang="en-US" altLang="en-US" dirty="0"/>
              <a:t>Notes</a:t>
            </a:r>
          </a:p>
          <a:p>
            <a:pPr lvl="1"/>
            <a:r>
              <a:rPr lang="en-US" altLang="en-US" dirty="0" smtClean="0"/>
              <a:t>Transaction Code</a:t>
            </a:r>
            <a:r>
              <a:rPr lang="en-US" altLang="en-US" dirty="0"/>
              <a:t>: ABAON</a:t>
            </a:r>
          </a:p>
          <a:p>
            <a:pPr lvl="1"/>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60</a:t>
            </a:fld>
            <a:endParaRPr lang="en-US" altLang="en-US" sz="1600" dirty="0"/>
          </a:p>
        </p:txBody>
      </p:sp>
    </p:spTree>
    <p:extLst>
      <p:ext uri="{BB962C8B-B14F-4D97-AF65-F5344CB8AC3E}">
        <p14:creationId xmlns:p14="http://schemas.microsoft.com/office/powerpoint/2010/main" val="320307504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427719" y="101482"/>
            <a:ext cx="12177267" cy="624725"/>
          </a:xfrm>
        </p:spPr>
        <p:txBody>
          <a:bodyPr/>
          <a:lstStyle/>
          <a:p>
            <a:r>
              <a:rPr lang="en-US" altLang="en-US" sz="3700" dirty="0"/>
              <a:t>Exercise </a:t>
            </a:r>
            <a:r>
              <a:rPr lang="en-US" altLang="en-US" sz="3700" dirty="0" smtClean="0"/>
              <a:t>4.8</a:t>
            </a:r>
            <a:r>
              <a:rPr lang="en-US" altLang="en-US" sz="3700" dirty="0" smtClean="0"/>
              <a:t>: </a:t>
            </a:r>
            <a:r>
              <a:rPr lang="en-US" altLang="en-US" sz="3700" dirty="0"/>
              <a:t>Process an Asset Sale Without a Customer</a:t>
            </a:r>
          </a:p>
        </p:txBody>
      </p:sp>
      <p:sp>
        <p:nvSpPr>
          <p:cNvPr id="69637" name="Rectangle 3"/>
          <p:cNvSpPr>
            <a:spLocks noGrp="1" noChangeArrowheads="1"/>
          </p:cNvSpPr>
          <p:nvPr>
            <p:ph idx="1"/>
          </p:nvPr>
        </p:nvSpPr>
        <p:spPr/>
        <p:txBody>
          <a:bodyPr/>
          <a:lstStyle/>
          <a:p>
            <a:r>
              <a:rPr lang="en-US" altLang="en-US" dirty="0"/>
              <a:t>A laptop is being retired with revenue that must be recorded</a:t>
            </a:r>
          </a:p>
          <a:p>
            <a:r>
              <a:rPr lang="en-US" altLang="en-US" dirty="0"/>
              <a:t>Process an asset sale without a customer </a:t>
            </a:r>
          </a:p>
          <a:p>
            <a:r>
              <a:rPr lang="en-US" altLang="en-US" dirty="0"/>
              <a:t>Notes</a:t>
            </a:r>
          </a:p>
          <a:p>
            <a:pPr lvl="1"/>
            <a:r>
              <a:rPr lang="en-US" altLang="en-US" dirty="0" smtClean="0"/>
              <a:t>Transaction Code</a:t>
            </a:r>
            <a:r>
              <a:rPr lang="en-US" altLang="en-US" dirty="0"/>
              <a:t>: ABAON</a:t>
            </a: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61</a:t>
            </a:fld>
            <a:endParaRPr lang="en-US" altLang="en-US" sz="1600" dirty="0"/>
          </a:p>
        </p:txBody>
      </p:sp>
    </p:spTree>
    <p:extLst>
      <p:ext uri="{BB962C8B-B14F-4D97-AF65-F5344CB8AC3E}">
        <p14:creationId xmlns:p14="http://schemas.microsoft.com/office/powerpoint/2010/main" val="683945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smtClean="0"/>
              <a:t>Scrapping </a:t>
            </a:r>
            <a:r>
              <a:rPr lang="en-US" altLang="en-US" dirty="0" smtClean="0"/>
              <a:t>an Asset</a:t>
            </a:r>
            <a:endParaRPr lang="en-US" altLang="en-US" dirty="0"/>
          </a:p>
        </p:txBody>
      </p:sp>
      <p:sp>
        <p:nvSpPr>
          <p:cNvPr id="64516" name="Rectangle 4"/>
          <p:cNvSpPr>
            <a:spLocks noGrp="1" noChangeArrowheads="1"/>
          </p:cNvSpPr>
          <p:nvPr>
            <p:ph idx="1"/>
          </p:nvPr>
        </p:nvSpPr>
        <p:spPr/>
        <p:txBody>
          <a:bodyPr/>
          <a:lstStyle/>
          <a:p>
            <a:r>
              <a:rPr lang="en-US" dirty="0"/>
              <a:t>Result of an unexpected permanent reduction in the value of an asset</a:t>
            </a:r>
          </a:p>
          <a:p>
            <a:r>
              <a:rPr lang="en-US" altLang="en-US" dirty="0"/>
              <a:t>After completion, it </a:t>
            </a:r>
            <a:r>
              <a:rPr lang="en-US" dirty="0"/>
              <a:t>is posted to all of the depreciation areas specified and is displayed separately</a:t>
            </a:r>
          </a:p>
          <a:p>
            <a:r>
              <a:rPr lang="en-US" dirty="0"/>
              <a:t>Posted to Financial Accounting during the depreciation posting run</a:t>
            </a:r>
          </a:p>
          <a:p>
            <a:endParaRPr lang="en-US" altLang="en-US" dirty="0"/>
          </a:p>
          <a:p>
            <a:pPr lvl="1"/>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62</a:t>
            </a:fld>
            <a:endParaRPr lang="en-US" altLang="en-US" sz="1600" dirty="0"/>
          </a:p>
        </p:txBody>
      </p:sp>
      <p:graphicFrame>
        <p:nvGraphicFramePr>
          <p:cNvPr id="7" name="Diagram 6"/>
          <p:cNvGraphicFramePr/>
          <p:nvPr>
            <p:extLst>
              <p:ext uri="{D42A27DB-BD31-4B8C-83A1-F6EECF244321}">
                <p14:modId xmlns:p14="http://schemas.microsoft.com/office/powerpoint/2010/main" val="1858669428"/>
              </p:ext>
            </p:extLst>
          </p:nvPr>
        </p:nvGraphicFramePr>
        <p:xfrm>
          <a:off x="40918" y="6493267"/>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p:cNvSpPr/>
          <p:nvPr/>
        </p:nvSpPr>
        <p:spPr>
          <a:xfrm>
            <a:off x="3443456" y="6518028"/>
            <a:ext cx="805506" cy="93282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31256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4.9</a:t>
            </a:r>
            <a:r>
              <a:rPr lang="en-US" altLang="en-US" sz="4200" dirty="0" smtClean="0"/>
              <a:t>: </a:t>
            </a:r>
            <a:r>
              <a:rPr lang="en-US" altLang="en-US" sz="4200" dirty="0"/>
              <a:t>Process </a:t>
            </a:r>
            <a:r>
              <a:rPr lang="en-US" altLang="en-US" sz="4200" dirty="0" smtClean="0"/>
              <a:t>a Retirement by Scrapping</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a:normAutofit/>
          </a:bodyPr>
          <a:lstStyle/>
          <a:p>
            <a:r>
              <a:rPr lang="en-US" altLang="en-US" dirty="0"/>
              <a:t>A laptop asset has depreciated in value and must be </a:t>
            </a:r>
            <a:r>
              <a:rPr lang="en-US" altLang="en-US" dirty="0" smtClean="0"/>
              <a:t>scrapped</a:t>
            </a:r>
            <a:endParaRPr lang="en-US" altLang="en-US" dirty="0"/>
          </a:p>
          <a:p>
            <a:r>
              <a:rPr lang="en-US" altLang="en-US" dirty="0"/>
              <a:t>Notes</a:t>
            </a:r>
          </a:p>
          <a:p>
            <a:pPr lvl="1"/>
            <a:r>
              <a:rPr lang="en-US" altLang="en-US" dirty="0" smtClean="0"/>
              <a:t>Transaction Code</a:t>
            </a:r>
            <a:r>
              <a:rPr lang="en-US" altLang="en-US" dirty="0"/>
              <a:t>: </a:t>
            </a:r>
            <a:r>
              <a:rPr lang="en-US" altLang="en-US" dirty="0" smtClean="0"/>
              <a:t>AB08</a:t>
            </a:r>
            <a:endParaRPr lang="en-US" altLang="en-US" dirty="0"/>
          </a:p>
          <a:p>
            <a:pPr lvl="1"/>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63</a:t>
            </a:fld>
            <a:endParaRPr lang="en-US" altLang="en-US" sz="1600" dirty="0"/>
          </a:p>
        </p:txBody>
      </p:sp>
    </p:spTree>
    <p:extLst>
      <p:ext uri="{BB962C8B-B14F-4D97-AF65-F5344CB8AC3E}">
        <p14:creationId xmlns:p14="http://schemas.microsoft.com/office/powerpoint/2010/main" val="36979521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4.9</a:t>
            </a:r>
            <a:r>
              <a:rPr lang="en-US" altLang="en-US" sz="4200" dirty="0" smtClean="0"/>
              <a:t>: </a:t>
            </a:r>
            <a:r>
              <a:rPr lang="en-US" altLang="en-US" sz="4200" dirty="0"/>
              <a:t>Process </a:t>
            </a:r>
            <a:r>
              <a:rPr lang="en-US" altLang="en-US" sz="4200" dirty="0" smtClean="0"/>
              <a:t>a Retirement by Scrapping</a:t>
            </a:r>
            <a:endParaRPr lang="en-US" altLang="en-US" sz="4200" dirty="0"/>
          </a:p>
        </p:txBody>
      </p:sp>
      <p:sp>
        <p:nvSpPr>
          <p:cNvPr id="69637" name="Rectangle 3"/>
          <p:cNvSpPr>
            <a:spLocks noGrp="1" noChangeArrowheads="1"/>
          </p:cNvSpPr>
          <p:nvPr>
            <p:ph idx="1"/>
          </p:nvPr>
        </p:nvSpPr>
        <p:spPr/>
        <p:txBody>
          <a:bodyPr/>
          <a:lstStyle/>
          <a:p>
            <a:r>
              <a:rPr lang="en-US" altLang="en-US" dirty="0"/>
              <a:t>A laptop asset has depreciated in value and must be </a:t>
            </a:r>
            <a:r>
              <a:rPr lang="en-US" altLang="en-US" dirty="0" smtClean="0"/>
              <a:t>scrapped</a:t>
            </a:r>
            <a:endParaRPr lang="en-US" altLang="en-US" dirty="0"/>
          </a:p>
          <a:p>
            <a:r>
              <a:rPr lang="en-US" altLang="en-US" dirty="0"/>
              <a:t>Process </a:t>
            </a:r>
            <a:r>
              <a:rPr lang="en-US" altLang="en-US" dirty="0" smtClean="0"/>
              <a:t>a Retirement by Scrapping</a:t>
            </a:r>
            <a:endParaRPr lang="en-US" altLang="en-US" dirty="0"/>
          </a:p>
          <a:p>
            <a:r>
              <a:rPr lang="en-US" altLang="en-US" dirty="0"/>
              <a:t>Notes</a:t>
            </a:r>
          </a:p>
          <a:p>
            <a:pPr lvl="1"/>
            <a:r>
              <a:rPr lang="en-US" altLang="en-US" dirty="0" smtClean="0"/>
              <a:t>Transaction Code</a:t>
            </a:r>
            <a:r>
              <a:rPr lang="en-US" altLang="en-US" dirty="0"/>
              <a:t>: </a:t>
            </a:r>
            <a:r>
              <a:rPr lang="en-US" altLang="en-US" dirty="0" smtClean="0"/>
              <a:t>AB08</a:t>
            </a:r>
            <a:endParaRPr lang="en-US" altLang="en-US" dirty="0"/>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64</a:t>
            </a:fld>
            <a:endParaRPr lang="en-US" altLang="en-US" sz="1600" dirty="0"/>
          </a:p>
        </p:txBody>
      </p:sp>
    </p:spTree>
    <p:extLst>
      <p:ext uri="{BB962C8B-B14F-4D97-AF65-F5344CB8AC3E}">
        <p14:creationId xmlns:p14="http://schemas.microsoft.com/office/powerpoint/2010/main" val="87138417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Process a Manual Depreciation</a:t>
            </a:r>
          </a:p>
        </p:txBody>
      </p:sp>
      <p:sp>
        <p:nvSpPr>
          <p:cNvPr id="64516" name="Rectangle 4"/>
          <p:cNvSpPr>
            <a:spLocks noGrp="1" noChangeArrowheads="1"/>
          </p:cNvSpPr>
          <p:nvPr>
            <p:ph idx="1"/>
          </p:nvPr>
        </p:nvSpPr>
        <p:spPr/>
        <p:txBody>
          <a:bodyPr/>
          <a:lstStyle/>
          <a:p>
            <a:r>
              <a:rPr lang="en-US" dirty="0"/>
              <a:t>Depreciation of fixed assets that are designated as manual depreciation is determined by the percentage that is entered for each interval in the calendar year</a:t>
            </a:r>
          </a:p>
          <a:p>
            <a:r>
              <a:rPr lang="en-US" dirty="0"/>
              <a:t>Intervals include:</a:t>
            </a:r>
          </a:p>
          <a:p>
            <a:pPr lvl="1"/>
            <a:r>
              <a:rPr lang="en-US" dirty="0"/>
              <a:t>Yearly</a:t>
            </a:r>
          </a:p>
          <a:p>
            <a:pPr lvl="1"/>
            <a:r>
              <a:rPr lang="en-US" dirty="0"/>
              <a:t>Monthly</a:t>
            </a:r>
          </a:p>
          <a:p>
            <a:pPr lvl="1"/>
            <a:r>
              <a:rPr lang="en-US" dirty="0"/>
              <a:t>Quarterly</a:t>
            </a:r>
          </a:p>
          <a:p>
            <a:r>
              <a:rPr lang="en-US" dirty="0"/>
              <a:t>Possible roadblock to manual depreciation is if postings exist against the asset. Manual depreciation cannot be completed with existing postings</a:t>
            </a:r>
          </a:p>
          <a:p>
            <a:pPr marL="690841" lvl="1" indent="0">
              <a:buNone/>
            </a:pPr>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65</a:t>
            </a:fld>
            <a:endParaRPr lang="en-US" altLang="en-US" sz="1600" dirty="0"/>
          </a:p>
        </p:txBody>
      </p:sp>
      <p:graphicFrame>
        <p:nvGraphicFramePr>
          <p:cNvPr id="6" name="Diagram 5"/>
          <p:cNvGraphicFramePr/>
          <p:nvPr>
            <p:extLst>
              <p:ext uri="{D42A27DB-BD31-4B8C-83A1-F6EECF244321}">
                <p14:modId xmlns:p14="http://schemas.microsoft.com/office/powerpoint/2010/main" val="3274846913"/>
              </p:ext>
            </p:extLst>
          </p:nvPr>
        </p:nvGraphicFramePr>
        <p:xfrm>
          <a:off x="7493674" y="644637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Rectangle 6"/>
          <p:cNvSpPr/>
          <p:nvPr/>
        </p:nvSpPr>
        <p:spPr>
          <a:xfrm>
            <a:off x="10879003" y="6518028"/>
            <a:ext cx="805506" cy="93282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7241489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4.10</a:t>
            </a:r>
            <a:r>
              <a:rPr lang="en-US" altLang="en-US" sz="4200" dirty="0" smtClean="0"/>
              <a:t>: </a:t>
            </a:r>
            <a:r>
              <a:rPr lang="en-US" altLang="en-US" sz="4200" dirty="0"/>
              <a:t>Process a Manual Depreciation</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a:normAutofit/>
          </a:bodyPr>
          <a:lstStyle/>
          <a:p>
            <a:r>
              <a:rPr lang="en-US" altLang="en-US" dirty="0"/>
              <a:t>A computer asset must be depreciated and the depreciation value must be calculated manually</a:t>
            </a:r>
          </a:p>
          <a:p>
            <a:r>
              <a:rPr lang="en-US" altLang="en-US" dirty="0"/>
              <a:t>Notes</a:t>
            </a:r>
          </a:p>
          <a:p>
            <a:pPr lvl="1"/>
            <a:r>
              <a:rPr lang="en-US" altLang="en-US" dirty="0" smtClean="0"/>
              <a:t>Transaction Code</a:t>
            </a:r>
            <a:r>
              <a:rPr lang="en-US" altLang="en-US" dirty="0"/>
              <a:t>: </a:t>
            </a:r>
            <a:r>
              <a:rPr lang="en-US" altLang="en-US" dirty="0" smtClean="0"/>
              <a:t>ABNE</a:t>
            </a:r>
            <a:endParaRPr lang="en-US" altLang="en-US" dirty="0"/>
          </a:p>
          <a:p>
            <a:pPr lvl="1"/>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66</a:t>
            </a:fld>
            <a:endParaRPr lang="en-US" altLang="en-US" sz="1600" dirty="0"/>
          </a:p>
        </p:txBody>
      </p:sp>
    </p:spTree>
    <p:extLst>
      <p:ext uri="{BB962C8B-B14F-4D97-AF65-F5344CB8AC3E}">
        <p14:creationId xmlns:p14="http://schemas.microsoft.com/office/powerpoint/2010/main" val="228846870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 </a:t>
            </a:r>
            <a:r>
              <a:rPr lang="en-US" altLang="en-US" sz="4200" dirty="0" smtClean="0"/>
              <a:t>4.10</a:t>
            </a:r>
            <a:r>
              <a:rPr lang="en-US" altLang="en-US" sz="4200" dirty="0" smtClean="0"/>
              <a:t>: </a:t>
            </a:r>
            <a:r>
              <a:rPr lang="en-US" altLang="en-US" sz="4200" dirty="0"/>
              <a:t>Process a Manual Depreciation</a:t>
            </a:r>
          </a:p>
        </p:txBody>
      </p:sp>
      <p:sp>
        <p:nvSpPr>
          <p:cNvPr id="69637" name="Rectangle 3"/>
          <p:cNvSpPr>
            <a:spLocks noGrp="1" noChangeArrowheads="1"/>
          </p:cNvSpPr>
          <p:nvPr>
            <p:ph idx="1"/>
          </p:nvPr>
        </p:nvSpPr>
        <p:spPr/>
        <p:txBody>
          <a:bodyPr/>
          <a:lstStyle/>
          <a:p>
            <a:r>
              <a:rPr lang="en-US" altLang="en-US" dirty="0"/>
              <a:t>A computer asset must be depreciated and the depreciation value must be calculated manually</a:t>
            </a:r>
          </a:p>
          <a:p>
            <a:r>
              <a:rPr lang="en-US" altLang="en-US" dirty="0"/>
              <a:t>Process a manual depreciation</a:t>
            </a:r>
          </a:p>
          <a:p>
            <a:r>
              <a:rPr lang="en-US" altLang="en-US" dirty="0"/>
              <a:t>Notes</a:t>
            </a:r>
          </a:p>
          <a:p>
            <a:pPr lvl="1"/>
            <a:r>
              <a:rPr lang="en-US" altLang="en-US" dirty="0" smtClean="0"/>
              <a:t>Transaction Code</a:t>
            </a:r>
            <a:r>
              <a:rPr lang="en-US" altLang="en-US" dirty="0"/>
              <a:t>: </a:t>
            </a:r>
            <a:r>
              <a:rPr lang="en-US" altLang="en-US" dirty="0" smtClean="0"/>
              <a:t>ABNE</a:t>
            </a:r>
            <a:endParaRPr lang="en-US" altLang="en-US" dirty="0"/>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67</a:t>
            </a:fld>
            <a:endParaRPr lang="en-US" altLang="en-US" sz="1600" dirty="0"/>
          </a:p>
        </p:txBody>
      </p:sp>
    </p:spTree>
    <p:extLst>
      <p:ext uri="{BB962C8B-B14F-4D97-AF65-F5344CB8AC3E}">
        <p14:creationId xmlns:p14="http://schemas.microsoft.com/office/powerpoint/2010/main" val="34411692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Post Depreciation Processing </a:t>
            </a:r>
          </a:p>
        </p:txBody>
      </p:sp>
      <p:sp>
        <p:nvSpPr>
          <p:cNvPr id="64516" name="Rectangle 4"/>
          <p:cNvSpPr>
            <a:spLocks noGrp="1" noChangeArrowheads="1"/>
          </p:cNvSpPr>
          <p:nvPr>
            <p:ph idx="1"/>
          </p:nvPr>
        </p:nvSpPr>
        <p:spPr/>
        <p:txBody>
          <a:bodyPr/>
          <a:lstStyle/>
          <a:p>
            <a:r>
              <a:rPr lang="en-US" dirty="0"/>
              <a:t>The depreciation run is a periodic processing program in asset accounting that posts planned depreciation to all relevant assets</a:t>
            </a:r>
          </a:p>
          <a:p>
            <a:r>
              <a:rPr lang="en-US" dirty="0"/>
              <a:t>Post depreciation process is typically generated:</a:t>
            </a:r>
          </a:p>
          <a:p>
            <a:pPr lvl="1"/>
            <a:r>
              <a:rPr lang="en-US" dirty="0"/>
              <a:t>Monthly</a:t>
            </a:r>
          </a:p>
          <a:p>
            <a:pPr lvl="1"/>
            <a:r>
              <a:rPr lang="en-US" dirty="0"/>
              <a:t>Quarterly</a:t>
            </a:r>
          </a:p>
          <a:p>
            <a:pPr lvl="1"/>
            <a:r>
              <a:rPr lang="en-US" dirty="0"/>
              <a:t>Yearly</a:t>
            </a:r>
          </a:p>
          <a:p>
            <a:pPr marL="518129" lvl="1" indent="-518129">
              <a:buFont typeface="Arial" panose="020B0604020202020204" pitchFamily="34" charset="0"/>
              <a:buChar char="•"/>
            </a:pPr>
            <a:r>
              <a:rPr lang="en-US" sz="3600" dirty="0" smtClean="0"/>
              <a:t>The system looks </a:t>
            </a:r>
            <a:r>
              <a:rPr lang="en-US" sz="3600" dirty="0"/>
              <a:t>at the depreciation key and calculates the depreciation which is posted to the General ledger</a:t>
            </a:r>
            <a:endParaRPr lang="en-US" altLang="en-US" sz="36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68</a:t>
            </a:fld>
            <a:endParaRPr lang="en-US" altLang="en-US" sz="1600" dirty="0"/>
          </a:p>
        </p:txBody>
      </p:sp>
      <p:graphicFrame>
        <p:nvGraphicFramePr>
          <p:cNvPr id="5" name="Diagram 4"/>
          <p:cNvGraphicFramePr/>
          <p:nvPr>
            <p:extLst>
              <p:ext uri="{D42A27DB-BD31-4B8C-83A1-F6EECF244321}">
                <p14:modId xmlns:p14="http://schemas.microsoft.com/office/powerpoint/2010/main" val="3060476955"/>
              </p:ext>
            </p:extLst>
          </p:nvPr>
        </p:nvGraphicFramePr>
        <p:xfrm>
          <a:off x="131571" y="6446375"/>
          <a:ext cx="5273370" cy="11872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ectangle 5"/>
          <p:cNvSpPr/>
          <p:nvPr/>
        </p:nvSpPr>
        <p:spPr>
          <a:xfrm>
            <a:off x="3493474" y="6541474"/>
            <a:ext cx="805506" cy="93282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85592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4.11</a:t>
            </a:r>
            <a:r>
              <a:rPr lang="en-US" altLang="en-US" sz="4200" dirty="0" smtClean="0"/>
              <a:t>: </a:t>
            </a:r>
            <a:r>
              <a:rPr lang="en-US" altLang="en-US" sz="4200" dirty="0"/>
              <a:t>Initiate Depreciation Process</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a:normAutofit/>
          </a:bodyPr>
          <a:lstStyle/>
          <a:p>
            <a:r>
              <a:rPr lang="en-US" altLang="en-US" dirty="0"/>
              <a:t>A monthly scheduled post depreciation requires processing</a:t>
            </a:r>
          </a:p>
          <a:p>
            <a:r>
              <a:rPr lang="en-US" altLang="en-US" dirty="0"/>
              <a:t>Notes</a:t>
            </a:r>
          </a:p>
          <a:p>
            <a:pPr lvl="1"/>
            <a:r>
              <a:rPr lang="en-US" altLang="en-US" dirty="0" smtClean="0"/>
              <a:t>Transaction Code</a:t>
            </a:r>
            <a:r>
              <a:rPr lang="en-US" altLang="en-US" dirty="0"/>
              <a:t>: AFAB</a:t>
            </a:r>
          </a:p>
          <a:p>
            <a:pPr lvl="1"/>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69</a:t>
            </a:fld>
            <a:endParaRPr lang="en-US" altLang="en-US" sz="1600" dirty="0"/>
          </a:p>
        </p:txBody>
      </p:sp>
    </p:spTree>
    <p:extLst>
      <p:ext uri="{BB962C8B-B14F-4D97-AF65-F5344CB8AC3E}">
        <p14:creationId xmlns:p14="http://schemas.microsoft.com/office/powerpoint/2010/main" val="1551432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4.11</a:t>
            </a:r>
            <a:r>
              <a:rPr lang="en-US" altLang="en-US" sz="4200" dirty="0" smtClean="0"/>
              <a:t>: </a:t>
            </a:r>
            <a:r>
              <a:rPr lang="en-US" altLang="en-US" sz="4200" dirty="0"/>
              <a:t>Initiate Depreciation Process</a:t>
            </a:r>
          </a:p>
        </p:txBody>
      </p:sp>
      <p:sp>
        <p:nvSpPr>
          <p:cNvPr id="69637" name="Rectangle 3"/>
          <p:cNvSpPr>
            <a:spLocks noGrp="1" noChangeArrowheads="1"/>
          </p:cNvSpPr>
          <p:nvPr>
            <p:ph idx="1"/>
          </p:nvPr>
        </p:nvSpPr>
        <p:spPr/>
        <p:txBody>
          <a:bodyPr/>
          <a:lstStyle/>
          <a:p>
            <a:r>
              <a:rPr lang="en-US" altLang="en-US" dirty="0"/>
              <a:t>A monthly scheduled post depreciation requires processing</a:t>
            </a:r>
          </a:p>
          <a:p>
            <a:r>
              <a:rPr lang="en-US" altLang="en-US" dirty="0"/>
              <a:t>Initiate the Depreciation Process</a:t>
            </a:r>
          </a:p>
          <a:p>
            <a:r>
              <a:rPr lang="en-US" altLang="en-US" dirty="0"/>
              <a:t>Notes</a:t>
            </a:r>
          </a:p>
          <a:p>
            <a:pPr lvl="1"/>
            <a:r>
              <a:rPr lang="en-US" altLang="en-US" dirty="0" smtClean="0"/>
              <a:t>Transaction Code</a:t>
            </a:r>
            <a:r>
              <a:rPr lang="en-US" altLang="en-US" dirty="0"/>
              <a:t>: AFAB</a:t>
            </a: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70</a:t>
            </a:fld>
            <a:endParaRPr lang="en-US" altLang="en-US" sz="1600" dirty="0"/>
          </a:p>
        </p:txBody>
      </p:sp>
    </p:spTree>
    <p:extLst>
      <p:ext uri="{BB962C8B-B14F-4D97-AF65-F5344CB8AC3E}">
        <p14:creationId xmlns:p14="http://schemas.microsoft.com/office/powerpoint/2010/main" val="369136351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p:txBody>
          <a:bodyPr/>
          <a:lstStyle/>
          <a:p>
            <a:r>
              <a:rPr lang="en-US" altLang="en-US" dirty="0"/>
              <a:t>Asset Retirement</a:t>
            </a:r>
          </a:p>
        </p:txBody>
      </p:sp>
      <p:sp>
        <p:nvSpPr>
          <p:cNvPr id="64516" name="Rectangle 4"/>
          <p:cNvSpPr>
            <a:spLocks noGrp="1" noChangeArrowheads="1"/>
          </p:cNvSpPr>
          <p:nvPr>
            <p:ph idx="1"/>
          </p:nvPr>
        </p:nvSpPr>
        <p:spPr>
          <a:xfrm>
            <a:off x="217713" y="939429"/>
            <a:ext cx="13324115" cy="5880066"/>
          </a:xfrm>
        </p:spPr>
        <p:txBody>
          <a:bodyPr/>
          <a:lstStyle/>
          <a:p>
            <a:r>
              <a:rPr lang="en-US" sz="3200" dirty="0"/>
              <a:t>Reasons for retirement include</a:t>
            </a:r>
            <a:r>
              <a:rPr lang="en-US" sz="3200" dirty="0" smtClean="0"/>
              <a:t>:</a:t>
            </a:r>
          </a:p>
          <a:p>
            <a:r>
              <a:rPr lang="en-US" sz="3200" dirty="0" smtClean="0"/>
              <a:t>Donation</a:t>
            </a:r>
          </a:p>
          <a:p>
            <a:r>
              <a:rPr lang="en-US" sz="3200" dirty="0" smtClean="0"/>
              <a:t>Stolen/lost</a:t>
            </a:r>
          </a:p>
          <a:p>
            <a:r>
              <a:rPr lang="en-US" sz="3200" dirty="0" smtClean="0"/>
              <a:t>Scrapped</a:t>
            </a:r>
            <a:endParaRPr lang="en-US" sz="3200" dirty="0"/>
          </a:p>
          <a:p>
            <a:pPr marL="890239" lvl="1" indent="-285750" defTabSz="1358130">
              <a:spcBef>
                <a:spcPts val="0"/>
              </a:spcBef>
              <a:defRPr/>
            </a:pPr>
            <a:r>
              <a:rPr lang="en-US" sz="2800" dirty="0"/>
              <a:t>An asset is scrapped, with no revenue</a:t>
            </a:r>
          </a:p>
          <a:p>
            <a:pPr marL="890239" lvl="1" indent="-285750"/>
            <a:r>
              <a:rPr lang="en-US" sz="2800" dirty="0"/>
              <a:t>An asset is sold, resulting in revenue</a:t>
            </a:r>
            <a:br>
              <a:rPr lang="en-US" sz="2800" dirty="0"/>
            </a:br>
            <a:r>
              <a:rPr lang="en-US" sz="2800" dirty="0"/>
              <a:t>- The sale is posted with a customer</a:t>
            </a:r>
            <a:br>
              <a:rPr lang="en-US" sz="2800" dirty="0"/>
            </a:br>
            <a:r>
              <a:rPr lang="en-US" sz="2800" dirty="0"/>
              <a:t>- The sale is posted against a clearing account</a:t>
            </a:r>
          </a:p>
          <a:p>
            <a:r>
              <a:rPr lang="en-US" sz="3200" dirty="0"/>
              <a:t>Complete/Partial Retirement can be performed as required</a:t>
            </a:r>
          </a:p>
          <a:p>
            <a:r>
              <a:rPr lang="en-US" sz="3200" dirty="0"/>
              <a:t>Determination for complete/partial retirement based on</a:t>
            </a:r>
          </a:p>
          <a:p>
            <a:pPr lvl="1"/>
            <a:r>
              <a:rPr lang="en-US" sz="2800" dirty="0"/>
              <a:t>Retirement dates entered</a:t>
            </a:r>
          </a:p>
          <a:p>
            <a:pPr lvl="1"/>
            <a:r>
              <a:rPr lang="en-US" sz="2800" dirty="0"/>
              <a:t>The amounts to be charged off for each depreciation area</a:t>
            </a:r>
          </a:p>
          <a:p>
            <a:pPr marL="690841" lvl="1" indent="0">
              <a:buNone/>
            </a:pPr>
            <a:endParaRPr lang="en-US" alt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71</a:t>
            </a:fld>
            <a:endParaRPr lang="en-US" altLang="en-US" sz="1600" dirty="0"/>
          </a:p>
        </p:txBody>
      </p:sp>
    </p:spTree>
    <p:extLst>
      <p:ext uri="{BB962C8B-B14F-4D97-AF65-F5344CB8AC3E}">
        <p14:creationId xmlns:p14="http://schemas.microsoft.com/office/powerpoint/2010/main" val="25478099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Asset Retirement (Cont.)</a:t>
            </a:r>
          </a:p>
        </p:txBody>
      </p:sp>
      <p:sp>
        <p:nvSpPr>
          <p:cNvPr id="3" name="Content Placeholder 2"/>
          <p:cNvSpPr>
            <a:spLocks noGrp="1"/>
          </p:cNvSpPr>
          <p:nvPr>
            <p:ph idx="1"/>
          </p:nvPr>
        </p:nvSpPr>
        <p:spPr/>
        <p:txBody>
          <a:bodyPr/>
          <a:lstStyle/>
          <a:p>
            <a:r>
              <a:rPr lang="en-US" dirty="0"/>
              <a:t>Initiate the partial retirement of a fixed asset by entering one of the following:</a:t>
            </a:r>
          </a:p>
          <a:p>
            <a:pPr lvl="1"/>
            <a:r>
              <a:rPr lang="en-US" dirty="0"/>
              <a:t>The acquisition and production costs being retired</a:t>
            </a:r>
          </a:p>
          <a:p>
            <a:pPr lvl="1"/>
            <a:r>
              <a:rPr lang="en-US" dirty="0"/>
              <a:t>Retirement percentage</a:t>
            </a:r>
          </a:p>
          <a:p>
            <a:pPr lvl="1"/>
            <a:r>
              <a:rPr lang="en-US" dirty="0"/>
              <a:t>Quantity</a:t>
            </a:r>
          </a:p>
          <a:p>
            <a:pPr lvl="1"/>
            <a:r>
              <a:rPr lang="en-US" dirty="0"/>
              <a:t>Retirement type (e.g., stolen or donated</a:t>
            </a:r>
            <a:r>
              <a:rPr lang="en-US" dirty="0" smtClean="0"/>
              <a:t>)</a:t>
            </a:r>
          </a:p>
          <a:p>
            <a:pPr lvl="1"/>
            <a:r>
              <a:rPr lang="en-US" dirty="0" smtClean="0"/>
              <a:t>Retirement date</a:t>
            </a:r>
            <a:endParaRPr lang="en-US" dirty="0"/>
          </a:p>
          <a:p>
            <a:endParaRPr lang="en-US" dirty="0"/>
          </a:p>
        </p:txBody>
      </p:sp>
    </p:spTree>
    <p:extLst>
      <p:ext uri="{BB962C8B-B14F-4D97-AF65-F5344CB8AC3E}">
        <p14:creationId xmlns:p14="http://schemas.microsoft.com/office/powerpoint/2010/main" val="32618051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4.12</a:t>
            </a:r>
            <a:r>
              <a:rPr lang="en-US" altLang="en-US" sz="4200" dirty="0" smtClean="0"/>
              <a:t>: </a:t>
            </a:r>
            <a:r>
              <a:rPr lang="en-US" altLang="en-US" sz="4200" dirty="0"/>
              <a:t>Asset Retirement by Scrapping</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a:normAutofit/>
          </a:bodyPr>
          <a:lstStyle/>
          <a:p>
            <a:r>
              <a:rPr lang="en-US" altLang="en-US" dirty="0"/>
              <a:t>Fuji laptops have depreciated in value and are set for retirement</a:t>
            </a:r>
          </a:p>
          <a:p>
            <a:r>
              <a:rPr lang="en-US" altLang="en-US" dirty="0"/>
              <a:t>Notes</a:t>
            </a:r>
          </a:p>
          <a:p>
            <a:pPr lvl="1"/>
            <a:r>
              <a:rPr lang="en-US" altLang="en-US" dirty="0" smtClean="0"/>
              <a:t>Transaction Code</a:t>
            </a:r>
            <a:r>
              <a:rPr lang="en-US" altLang="en-US" dirty="0"/>
              <a:t>: ABAVN</a:t>
            </a:r>
          </a:p>
          <a:p>
            <a:pPr lvl="1"/>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73</a:t>
            </a:fld>
            <a:endParaRPr lang="en-US" altLang="en-US" sz="1600" dirty="0"/>
          </a:p>
        </p:txBody>
      </p:sp>
    </p:spTree>
    <p:extLst>
      <p:ext uri="{BB962C8B-B14F-4D97-AF65-F5344CB8AC3E}">
        <p14:creationId xmlns:p14="http://schemas.microsoft.com/office/powerpoint/2010/main" val="666174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4.12</a:t>
            </a:r>
            <a:r>
              <a:rPr lang="en-US" altLang="en-US" sz="4200" dirty="0" smtClean="0"/>
              <a:t>: </a:t>
            </a:r>
            <a:r>
              <a:rPr lang="en-US" altLang="en-US" sz="4200" dirty="0"/>
              <a:t>Asset Retirement by Scrapping</a:t>
            </a:r>
          </a:p>
        </p:txBody>
      </p:sp>
      <p:sp>
        <p:nvSpPr>
          <p:cNvPr id="69637" name="Rectangle 3"/>
          <p:cNvSpPr>
            <a:spLocks noGrp="1" noChangeArrowheads="1"/>
          </p:cNvSpPr>
          <p:nvPr>
            <p:ph idx="1"/>
          </p:nvPr>
        </p:nvSpPr>
        <p:spPr/>
        <p:txBody>
          <a:bodyPr/>
          <a:lstStyle/>
          <a:p>
            <a:r>
              <a:rPr lang="en-US" altLang="en-US" dirty="0"/>
              <a:t>Fuji laptops have depreciated in value and are set for retirement</a:t>
            </a:r>
          </a:p>
          <a:p>
            <a:r>
              <a:rPr lang="en-US" altLang="en-US" dirty="0"/>
              <a:t>Process an a</a:t>
            </a:r>
            <a:r>
              <a:rPr lang="en-US" altLang="en-US" dirty="0" smtClean="0"/>
              <a:t>sset </a:t>
            </a:r>
            <a:r>
              <a:rPr lang="en-US" altLang="en-US" dirty="0"/>
              <a:t>r</a:t>
            </a:r>
            <a:r>
              <a:rPr lang="en-US" altLang="en-US" dirty="0" smtClean="0"/>
              <a:t>etirement </a:t>
            </a:r>
            <a:r>
              <a:rPr lang="en-US" altLang="en-US" dirty="0"/>
              <a:t>by s</a:t>
            </a:r>
            <a:r>
              <a:rPr lang="en-US" altLang="en-US" dirty="0" smtClean="0"/>
              <a:t>crapping </a:t>
            </a:r>
            <a:endParaRPr lang="en-US" altLang="en-US" dirty="0"/>
          </a:p>
          <a:p>
            <a:r>
              <a:rPr lang="en-US" altLang="en-US" dirty="0"/>
              <a:t>Notes</a:t>
            </a:r>
          </a:p>
          <a:p>
            <a:pPr lvl="1"/>
            <a:r>
              <a:rPr lang="en-US" altLang="en-US" dirty="0" smtClean="0"/>
              <a:t>Transaction Code</a:t>
            </a:r>
            <a:r>
              <a:rPr lang="en-US" altLang="en-US" dirty="0"/>
              <a:t>: ABAVN</a:t>
            </a: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74</a:t>
            </a:fld>
            <a:endParaRPr lang="en-US" altLang="en-US" sz="1600" dirty="0"/>
          </a:p>
        </p:txBody>
      </p:sp>
    </p:spTree>
    <p:extLst>
      <p:ext uri="{BB962C8B-B14F-4D97-AF65-F5344CB8AC3E}">
        <p14:creationId xmlns:p14="http://schemas.microsoft.com/office/powerpoint/2010/main" val="31968301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tLang="en-US" dirty="0"/>
              <a:t>Unit 4, # 1</a:t>
            </a:r>
          </a:p>
        </p:txBody>
      </p:sp>
      <p:sp>
        <p:nvSpPr>
          <p:cNvPr id="73733" name="Rectangle 3"/>
          <p:cNvSpPr>
            <a:spLocks noGrp="1" noChangeArrowheads="1"/>
          </p:cNvSpPr>
          <p:nvPr>
            <p:ph idx="1"/>
          </p:nvPr>
        </p:nvSpPr>
        <p:spPr/>
        <p:txBody>
          <a:bodyPr lIns="91440" tIns="45720" rIns="91440" bIns="45720" anchor="t"/>
          <a:lstStyle/>
          <a:p>
            <a:pPr marL="517525" indent="-517525"/>
            <a:r>
              <a:rPr lang="en-US" altLang="en-US" dirty="0">
                <a:latin typeface="Fujitsu Sans"/>
              </a:rPr>
              <a:t>What is one potential roadblock that may prevent a manual depreciation from being processed?</a:t>
            </a:r>
            <a:endParaRPr lang="en-US" altLang="en-US" dirty="0"/>
          </a:p>
          <a:p>
            <a:pPr marL="517525" indent="-517525"/>
            <a:endParaRPr lang="en-US" altLang="en-US" dirty="0"/>
          </a:p>
          <a:p>
            <a:pPr marL="517525" indent="-517525"/>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DC67485-719C-460B-BE50-F908EA1276DE}" type="slidenum">
              <a:rPr lang="en-US" altLang="en-US" sz="1600" smtClean="0"/>
              <a:pPr/>
              <a:t>75</a:t>
            </a:fld>
            <a:endParaRPr lang="en-US" altLang="en-US" sz="1600" dirty="0"/>
          </a:p>
        </p:txBody>
      </p:sp>
    </p:spTree>
    <p:extLst>
      <p:ext uri="{BB962C8B-B14F-4D97-AF65-F5344CB8AC3E}">
        <p14:creationId xmlns:p14="http://schemas.microsoft.com/office/powerpoint/2010/main" val="21653721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Unit 4, # 1</a:t>
            </a:r>
          </a:p>
        </p:txBody>
      </p:sp>
      <p:sp>
        <p:nvSpPr>
          <p:cNvPr id="45060" name="Rectangle 4"/>
          <p:cNvSpPr>
            <a:spLocks noGrp="1" noChangeArrowheads="1"/>
          </p:cNvSpPr>
          <p:nvPr>
            <p:ph idx="1"/>
          </p:nvPr>
        </p:nvSpPr>
        <p:spPr/>
        <p:txBody>
          <a:bodyPr lIns="91440" tIns="45720" rIns="91440" bIns="45720" anchor="t"/>
          <a:lstStyle/>
          <a:p>
            <a:pPr marL="517525" indent="-517525"/>
            <a:r>
              <a:rPr lang="en-US" altLang="en-US" dirty="0">
                <a:latin typeface="Fujitsu Sans"/>
              </a:rPr>
              <a:t>What is one potential roadblock that may prevent a manual depreciation of an asset from being processed?</a:t>
            </a:r>
            <a:endParaRPr lang="en-US" altLang="en-US" dirty="0"/>
          </a:p>
          <a:p>
            <a:pPr marL="517525" indent="-517525"/>
            <a:endParaRPr lang="en-US" altLang="en-US" dirty="0"/>
          </a:p>
          <a:p>
            <a:pPr lvl="1"/>
            <a:r>
              <a:rPr lang="en-US" i="1" dirty="0">
                <a:solidFill>
                  <a:srgbClr val="FF0000"/>
                </a:solidFill>
                <a:latin typeface="Fujitsu Sans"/>
              </a:rPr>
              <a:t>Manual depreciation cannot be processed if postings exist against the asset</a:t>
            </a:r>
          </a:p>
          <a:p>
            <a:pPr marL="690245" lvl="1" indent="0">
              <a:buNone/>
            </a:pPr>
            <a:r>
              <a:rPr lang="en-US" altLang="en-US" dirty="0"/>
              <a:t>	</a:t>
            </a:r>
          </a:p>
        </p:txBody>
      </p:sp>
      <p:sp>
        <p:nvSpPr>
          <p:cNvPr id="62466" name="Slide Number Placeholder 3"/>
          <p:cNvSpPr>
            <a:spLocks noGrp="1"/>
          </p:cNvSpPr>
          <p:nvPr>
            <p:ph type="sldNum" sz="quarter" idx="4294967295"/>
          </p:nvPr>
        </p:nvSpPr>
        <p:spPr>
          <a:xfrm>
            <a:off x="41124" y="-10281"/>
            <a:ext cx="0" cy="0"/>
          </a:xfrm>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76</a:t>
            </a:fld>
            <a:endParaRPr lang="en-US" altLang="en-US" sz="1600" dirty="0"/>
          </a:p>
        </p:txBody>
      </p:sp>
    </p:spTree>
    <p:extLst>
      <p:ext uri="{BB962C8B-B14F-4D97-AF65-F5344CB8AC3E}">
        <p14:creationId xmlns:p14="http://schemas.microsoft.com/office/powerpoint/2010/main" val="10901676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MCj04415100000[1]"/>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957983" y="5924070"/>
            <a:ext cx="1859619" cy="185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tLang="en-US" dirty="0"/>
              <a:t>4</a:t>
            </a:r>
          </a:p>
        </p:txBody>
      </p:sp>
      <p:sp>
        <p:nvSpPr>
          <p:cNvPr id="77829"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Complete an asset sale without a customer</a:t>
            </a:r>
          </a:p>
          <a:p>
            <a:r>
              <a:rPr lang="en-US" altLang="en-US" dirty="0" smtClean="0"/>
              <a:t>Scrap an asset</a:t>
            </a:r>
            <a:endParaRPr lang="en-US" altLang="en-US" dirty="0"/>
          </a:p>
          <a:p>
            <a:r>
              <a:rPr lang="en-US" altLang="en-US" dirty="0"/>
              <a:t>Perform a manual depreciation when required</a:t>
            </a:r>
          </a:p>
          <a:p>
            <a:r>
              <a:rPr lang="en-US" altLang="en-US" dirty="0"/>
              <a:t>Process a monthly depreciation calculation</a:t>
            </a:r>
          </a:p>
          <a:p>
            <a:r>
              <a:rPr lang="en-US" altLang="en-US" dirty="0"/>
              <a:t>Perform an asset retirement using the scrap process</a:t>
            </a:r>
          </a:p>
        </p:txBody>
      </p:sp>
      <p:sp>
        <p:nvSpPr>
          <p:cNvPr id="7782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64D916E-780F-4F36-9EEA-B0E6C110BE23}" type="slidenum">
              <a:rPr lang="en-US" altLang="en-US" sz="1600" smtClean="0"/>
              <a:pPr/>
              <a:t>77</a:t>
            </a:fld>
            <a:endParaRPr lang="en-US" altLang="en-US" sz="1600" dirty="0"/>
          </a:p>
        </p:txBody>
      </p:sp>
    </p:spTree>
    <p:extLst>
      <p:ext uri="{BB962C8B-B14F-4D97-AF65-F5344CB8AC3E}">
        <p14:creationId xmlns:p14="http://schemas.microsoft.com/office/powerpoint/2010/main" val="11853460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750A293A-6492-4A1F-A0D4-05E445FB280C}" type="slidenum">
              <a:rPr lang="en-US" altLang="en-US" sz="1600" smtClean="0"/>
              <a:pPr/>
              <a:t>78</a:t>
            </a:fld>
            <a:endParaRPr lang="en-US" altLang="en-US" sz="1600" dirty="0"/>
          </a:p>
        </p:txBody>
      </p:sp>
    </p:spTree>
    <p:extLst>
      <p:ext uri="{BB962C8B-B14F-4D97-AF65-F5344CB8AC3E}">
        <p14:creationId xmlns:p14="http://schemas.microsoft.com/office/powerpoint/2010/main" val="51149457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Time for a Break!</a:t>
            </a:r>
          </a:p>
        </p:txBody>
      </p:sp>
      <p:sp>
        <p:nvSpPr>
          <p:cNvPr id="4" name="Content Placeholder 3"/>
          <p:cNvSpPr>
            <a:spLocks noGrp="1"/>
          </p:cNvSpPr>
          <p:nvPr>
            <p:ph idx="1"/>
          </p:nvPr>
        </p:nvSpPr>
        <p:spPr/>
        <p:txBody>
          <a:bodyPr/>
          <a:lstStyle/>
          <a:p>
            <a:r>
              <a:rPr lang="en-US" altLang="en-US" dirty="0"/>
              <a:t>Class starts again in 10 minutes</a:t>
            </a:r>
          </a:p>
          <a:p>
            <a:endParaRPr lang="en-US" dirty="0"/>
          </a:p>
        </p:txBody>
      </p:sp>
      <p:sp>
        <p:nvSpPr>
          <p:cNvPr id="6" name="Slide Number Placeholder 3"/>
          <p:cNvSpPr>
            <a:spLocks noGrp="1"/>
          </p:cNvSpPr>
          <p:nvPr>
            <p:ph type="sldNum" sz="quarter" idx="4294967295"/>
          </p:nvPr>
        </p:nvSpPr>
        <p:spPr/>
        <p:txBody>
          <a:bodyPr/>
          <a:lstStyle>
            <a:lvl1pPr>
              <a:defRPr>
                <a:solidFill>
                  <a:schemeClr val="tx1"/>
                </a:solidFill>
                <a:latin typeface="Arial" panose="020B0604020202020204" pitchFamily="34" charset="0"/>
              </a:defRPr>
            </a:lvl1pPr>
            <a:lvl2pPr marL="841985" indent="-323840">
              <a:defRPr>
                <a:solidFill>
                  <a:schemeClr val="tx1"/>
                </a:solidFill>
                <a:latin typeface="Arial" panose="020B0604020202020204" pitchFamily="34" charset="0"/>
              </a:defRPr>
            </a:lvl2pPr>
            <a:lvl3pPr marL="1295362" indent="-259072">
              <a:defRPr>
                <a:solidFill>
                  <a:schemeClr val="tx1"/>
                </a:solidFill>
                <a:latin typeface="Arial" panose="020B0604020202020204" pitchFamily="34" charset="0"/>
              </a:defRPr>
            </a:lvl3pPr>
            <a:lvl4pPr marL="1813507" indent="-259072">
              <a:defRPr>
                <a:solidFill>
                  <a:schemeClr val="tx1"/>
                </a:solidFill>
                <a:latin typeface="Arial" panose="020B0604020202020204" pitchFamily="34" charset="0"/>
              </a:defRPr>
            </a:lvl4pPr>
            <a:lvl5pPr marL="2331651" indent="-259072">
              <a:defRPr>
                <a:solidFill>
                  <a:schemeClr val="tx1"/>
                </a:solidFill>
                <a:latin typeface="Arial" panose="020B0604020202020204" pitchFamily="34" charset="0"/>
              </a:defRPr>
            </a:lvl5pPr>
            <a:lvl6pPr marL="2849796" indent="-259072" eaLnBrk="0" fontAlgn="base" hangingPunct="0">
              <a:spcBef>
                <a:spcPct val="0"/>
              </a:spcBef>
              <a:spcAft>
                <a:spcPct val="0"/>
              </a:spcAft>
              <a:defRPr>
                <a:solidFill>
                  <a:schemeClr val="tx1"/>
                </a:solidFill>
                <a:latin typeface="Arial" panose="020B0604020202020204" pitchFamily="34" charset="0"/>
              </a:defRPr>
            </a:lvl6pPr>
            <a:lvl7pPr marL="3367941" indent="-259072" eaLnBrk="0" fontAlgn="base" hangingPunct="0">
              <a:spcBef>
                <a:spcPct val="0"/>
              </a:spcBef>
              <a:spcAft>
                <a:spcPct val="0"/>
              </a:spcAft>
              <a:defRPr>
                <a:solidFill>
                  <a:schemeClr val="tx1"/>
                </a:solidFill>
                <a:latin typeface="Arial" panose="020B0604020202020204" pitchFamily="34" charset="0"/>
              </a:defRPr>
            </a:lvl7pPr>
            <a:lvl8pPr marL="3886086" indent="-259072" eaLnBrk="0" fontAlgn="base" hangingPunct="0">
              <a:spcBef>
                <a:spcPct val="0"/>
              </a:spcBef>
              <a:spcAft>
                <a:spcPct val="0"/>
              </a:spcAft>
              <a:defRPr>
                <a:solidFill>
                  <a:schemeClr val="tx1"/>
                </a:solidFill>
                <a:latin typeface="Arial" panose="020B0604020202020204" pitchFamily="34" charset="0"/>
              </a:defRPr>
            </a:lvl8pPr>
            <a:lvl9pPr marL="4404230" indent="-259072" eaLnBrk="0" fontAlgn="base" hangingPunct="0">
              <a:spcBef>
                <a:spcPct val="0"/>
              </a:spcBef>
              <a:spcAft>
                <a:spcPct val="0"/>
              </a:spcAft>
              <a:defRPr>
                <a:solidFill>
                  <a:schemeClr val="tx1"/>
                </a:solidFill>
                <a:latin typeface="Arial" panose="020B0604020202020204" pitchFamily="34" charset="0"/>
              </a:defRPr>
            </a:lvl9pPr>
          </a:lstStyle>
          <a:p>
            <a:fld id="{92BE6A29-3330-4120-8C4F-D901DC38695C}" type="slidenum">
              <a:rPr lang="en-US" altLang="en-US" sz="1600" smtClean="0"/>
              <a:pPr/>
              <a:t>79</a:t>
            </a:fld>
            <a:endParaRPr lang="en-US" altLang="en-US" sz="1600" dirty="0"/>
          </a:p>
        </p:txBody>
      </p:sp>
      <p:pic>
        <p:nvPicPr>
          <p:cNvPr id="2" name="Picture 1"/>
          <p:cNvPicPr>
            <a:picLocks noChangeAspect="1"/>
          </p:cNvPicPr>
          <p:nvPr/>
        </p:nvPicPr>
        <p:blipFill>
          <a:blip r:embed="rId3"/>
          <a:stretch>
            <a:fillRect/>
          </a:stretch>
        </p:blipFill>
        <p:spPr>
          <a:xfrm>
            <a:off x="4577080" y="2125028"/>
            <a:ext cx="4663440" cy="4652645"/>
          </a:xfrm>
          <a:prstGeom prst="rect">
            <a:avLst/>
          </a:prstGeom>
        </p:spPr>
      </p:pic>
    </p:spTree>
    <p:extLst>
      <p:ext uri="{BB962C8B-B14F-4D97-AF65-F5344CB8AC3E}">
        <p14:creationId xmlns:p14="http://schemas.microsoft.com/office/powerpoint/2010/main" val="19527582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t>
            </a:r>
            <a:r>
              <a:rPr lang="en-US" altLang="en-US" dirty="0" smtClean="0"/>
              <a:t>Fixed Assets Reports (60 </a:t>
            </a:r>
            <a:r>
              <a:rPr lang="en-US" altLang="en-US" dirty="0"/>
              <a:t>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80</a:t>
            </a:fld>
            <a:endParaRPr lang="en-US" altLang="en-US" sz="1600" dirty="0"/>
          </a:p>
        </p:txBody>
      </p:sp>
      <p:sp>
        <p:nvSpPr>
          <p:cNvPr id="13" name="Rectangle 12"/>
          <p:cNvSpPr>
            <a:spLocks noChangeArrowheads="1"/>
          </p:cNvSpPr>
          <p:nvPr/>
        </p:nvSpPr>
        <p:spPr bwMode="auto">
          <a:xfrm>
            <a:off x="389790" y="3714751"/>
            <a:ext cx="11192609" cy="68988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42673308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2" descr="bss00071"/>
          <p:cNvPicPr>
            <a:picLocks noChangeAspect="1" noChangeArrowheads="1"/>
          </p:cNvPicPr>
          <p:nvPr/>
        </p:nvPicPr>
        <p:blipFill>
          <a:blip r:embed="rId3">
            <a:lum bright="76000" contrast="-70000"/>
            <a:extLst>
              <a:ext uri="{28A0092B-C50C-407E-A947-70E740481C1C}">
                <a14:useLocalDpi xmlns:a14="http://schemas.microsoft.com/office/drawing/2010/main" val="0"/>
              </a:ext>
            </a:extLst>
          </a:blip>
          <a:srcRect t="16046"/>
          <a:stretch>
            <a:fillRect/>
          </a:stretch>
        </p:blipFill>
        <p:spPr bwMode="auto">
          <a:xfrm>
            <a:off x="12090400" y="5732544"/>
            <a:ext cx="1727200" cy="2039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Rectangle 3"/>
          <p:cNvSpPr>
            <a:spLocks noGrp="1" noChangeArrowheads="1"/>
          </p:cNvSpPr>
          <p:nvPr>
            <p:ph type="title"/>
          </p:nvPr>
        </p:nvSpPr>
        <p:spPr/>
        <p:txBody>
          <a:bodyPr/>
          <a:lstStyle/>
          <a:p>
            <a:r>
              <a:rPr lang="en-US" altLang="en-US" dirty="0"/>
              <a:t>5</a:t>
            </a:r>
          </a:p>
        </p:txBody>
      </p:sp>
      <p:sp>
        <p:nvSpPr>
          <p:cNvPr id="43013" name="Rectangle 4"/>
          <p:cNvSpPr>
            <a:spLocks noGrp="1" noChangeArrowheads="1"/>
          </p:cNvSpPr>
          <p:nvPr>
            <p:ph idx="1"/>
          </p:nvPr>
        </p:nvSpPr>
        <p:spPr/>
        <p:txBody>
          <a:bodyPr/>
          <a:lstStyle/>
          <a:p>
            <a:pPr marL="0" indent="0">
              <a:buNone/>
            </a:pPr>
            <a:r>
              <a:rPr lang="en-US" altLang="en-US" dirty="0"/>
              <a:t>You should be able to:</a:t>
            </a:r>
          </a:p>
          <a:p>
            <a:r>
              <a:rPr lang="en-US" altLang="en-US" dirty="0"/>
              <a:t>Generate </a:t>
            </a:r>
            <a:r>
              <a:rPr lang="en-US" altLang="en-US" dirty="0" smtClean="0"/>
              <a:t>fixed assets reports</a:t>
            </a:r>
            <a:endParaRPr lang="en-US" altLang="en-US" dirty="0"/>
          </a:p>
        </p:txBody>
      </p:sp>
      <p:sp>
        <p:nvSpPr>
          <p:cNvPr id="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81</a:t>
            </a:fld>
            <a:endParaRPr lang="en-US" altLang="en-US" sz="1600" dirty="0"/>
          </a:p>
        </p:txBody>
      </p:sp>
    </p:spTree>
    <p:extLst>
      <p:ext uri="{BB962C8B-B14F-4D97-AF65-F5344CB8AC3E}">
        <p14:creationId xmlns:p14="http://schemas.microsoft.com/office/powerpoint/2010/main" val="314469049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6081" y="101482"/>
            <a:ext cx="12320506" cy="624725"/>
          </a:xfrm>
        </p:spPr>
        <p:txBody>
          <a:bodyPr/>
          <a:lstStyle/>
          <a:p>
            <a:r>
              <a:rPr lang="en-US" sz="3900" dirty="0" smtClean="0"/>
              <a:t>Asset Balance Report - </a:t>
            </a:r>
            <a:r>
              <a:rPr lang="en-US" altLang="en-US" sz="3900" dirty="0"/>
              <a:t>SAP t-code: </a:t>
            </a:r>
            <a:r>
              <a:rPr lang="en-US" sz="3900" dirty="0"/>
              <a:t>S_ALR_87011963</a:t>
            </a:r>
          </a:p>
        </p:txBody>
      </p:sp>
      <p:sp>
        <p:nvSpPr>
          <p:cNvPr id="3" name="Content Placeholder 2"/>
          <p:cNvSpPr>
            <a:spLocks noGrp="1"/>
          </p:cNvSpPr>
          <p:nvPr>
            <p:ph idx="1"/>
          </p:nvPr>
        </p:nvSpPr>
        <p:spPr>
          <a:xfrm>
            <a:off x="33020" y="1081669"/>
            <a:ext cx="4112260" cy="5880066"/>
          </a:xfrm>
        </p:spPr>
        <p:txBody>
          <a:bodyPr/>
          <a:lstStyle/>
          <a:p>
            <a:r>
              <a:rPr lang="en-US" sz="2800" dirty="0" smtClean="0"/>
              <a:t>Enables </a:t>
            </a:r>
            <a:r>
              <a:rPr lang="en-US" sz="2800" dirty="0"/>
              <a:t>you to understand the netbook value of fixed assets derived from acquisition and production costs (APC) and depreciation</a:t>
            </a:r>
            <a:endParaRPr lang="en-US" sz="2800" dirty="0" smtClean="0"/>
          </a:p>
          <a:p>
            <a:r>
              <a:rPr lang="en-US" sz="2800" dirty="0" smtClean="0"/>
              <a:t>Report displays information including:</a:t>
            </a:r>
          </a:p>
          <a:p>
            <a:pPr lvl="1"/>
            <a:r>
              <a:rPr lang="en-US" sz="2400" dirty="0" smtClean="0"/>
              <a:t>Acquisition valuation</a:t>
            </a:r>
          </a:p>
          <a:p>
            <a:pPr lvl="1"/>
            <a:r>
              <a:rPr lang="en-US" sz="2400" dirty="0" smtClean="0"/>
              <a:t>Accumulated depreciation</a:t>
            </a:r>
          </a:p>
          <a:p>
            <a:pPr lvl="1"/>
            <a:r>
              <a:rPr lang="en-US" sz="2400" dirty="0" smtClean="0"/>
              <a:t>Book value</a:t>
            </a:r>
            <a:endParaRPr lang="en-US" sz="2400" dirty="0"/>
          </a:p>
        </p:txBody>
      </p:sp>
      <p:pic>
        <p:nvPicPr>
          <p:cNvPr id="4" name="Picture 3"/>
          <p:cNvPicPr>
            <a:picLocks noChangeAspect="1"/>
          </p:cNvPicPr>
          <p:nvPr/>
        </p:nvPicPr>
        <p:blipFill>
          <a:blip r:embed="rId2"/>
          <a:stretch>
            <a:fillRect/>
          </a:stretch>
        </p:blipFill>
        <p:spPr>
          <a:xfrm>
            <a:off x="4145280" y="2132266"/>
            <a:ext cx="9617633" cy="5284533"/>
          </a:xfrm>
          <a:prstGeom prst="rect">
            <a:avLst/>
          </a:prstGeom>
        </p:spPr>
      </p:pic>
      <p:sp>
        <p:nvSpPr>
          <p:cNvPr id="5" name="Rectangle 4"/>
          <p:cNvSpPr/>
          <p:nvPr/>
        </p:nvSpPr>
        <p:spPr>
          <a:xfrm>
            <a:off x="9264354" y="4164034"/>
            <a:ext cx="3923326" cy="6314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99322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5.13</a:t>
            </a:r>
            <a:r>
              <a:rPr lang="en-US" altLang="en-US" sz="4200" dirty="0" smtClean="0"/>
              <a:t>: </a:t>
            </a:r>
            <a:r>
              <a:rPr lang="en-US" altLang="en-US" sz="4200" dirty="0"/>
              <a:t>Generate an Asset Balance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a:t>A laptop is being retired with revenue that must be recorded. Generate the report and review the Accumulated Depreciation and Net Book Value of the asset</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smtClean="0"/>
              <a:t>S_ALR_87011963</a:t>
            </a:r>
            <a:endParaRPr lang="en-US" altLang="en-US" dirty="0">
              <a:latin typeface="Fujitsu Sans"/>
            </a:endParaRPr>
          </a:p>
          <a:p>
            <a:pPr marL="1122045" lvl="1" indent="-431165"/>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83</a:t>
            </a:fld>
            <a:endParaRPr lang="en-US" altLang="en-US" sz="1600" dirty="0"/>
          </a:p>
        </p:txBody>
      </p:sp>
    </p:spTree>
    <p:extLst>
      <p:ext uri="{BB962C8B-B14F-4D97-AF65-F5344CB8AC3E}">
        <p14:creationId xmlns:p14="http://schemas.microsoft.com/office/powerpoint/2010/main" val="202145703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5.13</a:t>
            </a:r>
            <a:r>
              <a:rPr lang="en-US" altLang="en-US" sz="4200" dirty="0" smtClean="0"/>
              <a:t>: </a:t>
            </a:r>
            <a:r>
              <a:rPr lang="en-US" altLang="en-US" sz="4200" dirty="0"/>
              <a:t>Generate an Asset Balance Report</a:t>
            </a:r>
          </a:p>
        </p:txBody>
      </p:sp>
      <p:sp>
        <p:nvSpPr>
          <p:cNvPr id="69637" name="Rectangle 3"/>
          <p:cNvSpPr>
            <a:spLocks noGrp="1" noChangeArrowheads="1"/>
          </p:cNvSpPr>
          <p:nvPr>
            <p:ph idx="1"/>
          </p:nvPr>
        </p:nvSpPr>
        <p:spPr/>
        <p:txBody>
          <a:bodyPr/>
          <a:lstStyle/>
          <a:p>
            <a:r>
              <a:rPr lang="en-US" altLang="en-US" dirty="0"/>
              <a:t>A laptop is being retired with revenue that must be recorded. Generate the report and review the Accumulated Depreciation and Net Book Value of the asset</a:t>
            </a:r>
          </a:p>
          <a:p>
            <a:r>
              <a:rPr lang="en-US" altLang="en-US" dirty="0"/>
              <a:t>Generate an asset balance report</a:t>
            </a:r>
          </a:p>
          <a:p>
            <a:r>
              <a:rPr lang="en-US" altLang="en-US" dirty="0"/>
              <a:t>Notes</a:t>
            </a:r>
          </a:p>
          <a:p>
            <a:pPr marL="1122045" lvl="1" indent="-431165"/>
            <a:r>
              <a:rPr lang="en-US" altLang="en-US" dirty="0" smtClean="0"/>
              <a:t>Transaction Code</a:t>
            </a:r>
            <a:r>
              <a:rPr lang="en-US" altLang="en-US" dirty="0"/>
              <a:t>: </a:t>
            </a:r>
            <a:r>
              <a:rPr lang="en-US" dirty="0"/>
              <a:t>S_ALR_87011963</a:t>
            </a:r>
            <a:endParaRPr lang="en-US" altLang="en-US" dirty="0">
              <a:latin typeface="Fujitsu Sans"/>
            </a:endParaRPr>
          </a:p>
          <a:p>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84</a:t>
            </a:fld>
            <a:endParaRPr lang="en-US" altLang="en-US" sz="1600" dirty="0"/>
          </a:p>
        </p:txBody>
      </p:sp>
    </p:spTree>
    <p:extLst>
      <p:ext uri="{BB962C8B-B14F-4D97-AF65-F5344CB8AC3E}">
        <p14:creationId xmlns:p14="http://schemas.microsoft.com/office/powerpoint/2010/main" val="21378862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a:xfrm>
            <a:off x="427719" y="101482"/>
            <a:ext cx="12177267" cy="624725"/>
          </a:xfrm>
        </p:spPr>
        <p:txBody>
          <a:bodyPr/>
          <a:lstStyle/>
          <a:p>
            <a:r>
              <a:rPr lang="en-US" altLang="en-US" sz="4000" dirty="0" smtClean="0"/>
              <a:t>Depreciation Report </a:t>
            </a:r>
            <a:r>
              <a:rPr lang="en-US" altLang="en-US" sz="4000" dirty="0"/>
              <a:t>– </a:t>
            </a:r>
            <a:r>
              <a:rPr lang="en-US" altLang="en-US" sz="4000" dirty="0" smtClean="0"/>
              <a:t>SAP t-code: </a:t>
            </a:r>
            <a:r>
              <a:rPr lang="en-US" sz="4000" dirty="0"/>
              <a:t>S_ALR_87012004</a:t>
            </a:r>
            <a:endParaRPr lang="en-US" altLang="en-US" sz="4000" dirty="0"/>
          </a:p>
        </p:txBody>
      </p:sp>
      <p:sp>
        <p:nvSpPr>
          <p:cNvPr id="64516" name="Rectangle 4"/>
          <p:cNvSpPr>
            <a:spLocks noGrp="1" noChangeArrowheads="1"/>
          </p:cNvSpPr>
          <p:nvPr>
            <p:ph idx="1"/>
          </p:nvPr>
        </p:nvSpPr>
        <p:spPr>
          <a:xfrm>
            <a:off x="73660" y="959749"/>
            <a:ext cx="13743940" cy="5880066"/>
          </a:xfrm>
        </p:spPr>
        <p:txBody>
          <a:bodyPr/>
          <a:lstStyle/>
          <a:p>
            <a:r>
              <a:rPr lang="en-US" sz="3000" dirty="0"/>
              <a:t>Report enables you to </a:t>
            </a:r>
            <a:r>
              <a:rPr lang="en-US" sz="3000" dirty="0" smtClean="0"/>
              <a:t>view the reduction in value of an asset</a:t>
            </a:r>
            <a:endParaRPr lang="en-US" sz="3000" dirty="0"/>
          </a:p>
          <a:p>
            <a:r>
              <a:rPr lang="en-US" altLang="en-US" sz="3000" dirty="0"/>
              <a:t>Items available for review include:</a:t>
            </a:r>
          </a:p>
          <a:p>
            <a:pPr lvl="1"/>
            <a:r>
              <a:rPr lang="en-US" sz="2800" dirty="0" smtClean="0"/>
              <a:t>Cumulative acquisition value</a:t>
            </a:r>
            <a:endParaRPr lang="en-US" sz="2800" dirty="0"/>
          </a:p>
          <a:p>
            <a:pPr lvl="1"/>
            <a:r>
              <a:rPr lang="en-US" sz="2800" dirty="0"/>
              <a:t>Accumulated depreciation</a:t>
            </a:r>
          </a:p>
          <a:p>
            <a:pPr lvl="1"/>
            <a:r>
              <a:rPr lang="en-US" sz="2800" dirty="0" smtClean="0"/>
              <a:t>End</a:t>
            </a:r>
            <a:r>
              <a:rPr lang="en-US" sz="2800" dirty="0" smtClean="0"/>
              <a:t> </a:t>
            </a:r>
            <a:r>
              <a:rPr lang="en-US" sz="2800" dirty="0"/>
              <a:t>book </a:t>
            </a:r>
            <a:r>
              <a:rPr lang="en-US" sz="2800" dirty="0" smtClean="0"/>
              <a:t>value</a:t>
            </a:r>
          </a:p>
          <a:p>
            <a:pPr lvl="1"/>
            <a:endParaRPr lang="en-US" altLang="en-US" dirty="0">
              <a:solidFill>
                <a:schemeClr val="tx2">
                  <a:lumMod val="60000"/>
                  <a:lumOff val="40000"/>
                </a:schemeClr>
              </a:solidFill>
            </a:endParaRPr>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85</a:t>
            </a:fld>
            <a:endParaRPr lang="en-US" altLang="en-US" sz="1600" dirty="0"/>
          </a:p>
        </p:txBody>
      </p:sp>
      <p:pic>
        <p:nvPicPr>
          <p:cNvPr id="2" name="Picture 1"/>
          <p:cNvPicPr>
            <a:picLocks noChangeAspect="1"/>
          </p:cNvPicPr>
          <p:nvPr/>
        </p:nvPicPr>
        <p:blipFill>
          <a:blip r:embed="rId3"/>
          <a:stretch>
            <a:fillRect/>
          </a:stretch>
        </p:blipFill>
        <p:spPr>
          <a:xfrm>
            <a:off x="1056641" y="3623308"/>
            <a:ext cx="12350246" cy="4149092"/>
          </a:xfrm>
          <a:prstGeom prst="rect">
            <a:avLst/>
          </a:prstGeom>
        </p:spPr>
      </p:pic>
      <p:sp>
        <p:nvSpPr>
          <p:cNvPr id="6" name="Rectangle 5"/>
          <p:cNvSpPr/>
          <p:nvPr/>
        </p:nvSpPr>
        <p:spPr>
          <a:xfrm>
            <a:off x="8331200" y="5383234"/>
            <a:ext cx="4856480" cy="63148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7959011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212651" y="101482"/>
            <a:ext cx="12493935" cy="624725"/>
          </a:xfrm>
        </p:spPr>
        <p:txBody>
          <a:bodyPr/>
          <a:lstStyle/>
          <a:p>
            <a:r>
              <a:rPr lang="en-US" altLang="en-US" sz="4200" dirty="0"/>
              <a:t>Demo </a:t>
            </a:r>
            <a:r>
              <a:rPr lang="en-US" altLang="en-US" sz="4200" dirty="0" smtClean="0"/>
              <a:t>5.14</a:t>
            </a:r>
            <a:r>
              <a:rPr lang="en-US" altLang="en-US" sz="4200" dirty="0" smtClean="0"/>
              <a:t>: </a:t>
            </a:r>
            <a:r>
              <a:rPr lang="en-US" altLang="en-US" sz="4200" dirty="0"/>
              <a:t>Generate </a:t>
            </a:r>
            <a:r>
              <a:rPr lang="en-US" altLang="en-US" sz="4200" dirty="0" smtClean="0"/>
              <a:t>a Depreciation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the depreciation of laptops the organization has on the books. </a:t>
            </a:r>
            <a:r>
              <a:rPr lang="en-US" altLang="en-US" dirty="0"/>
              <a:t>Generate the </a:t>
            </a:r>
            <a:r>
              <a:rPr lang="en-US" altLang="en-US" dirty="0" smtClean="0"/>
              <a:t>depreciation report </a:t>
            </a:r>
            <a:r>
              <a:rPr lang="en-US" altLang="en-US" dirty="0"/>
              <a:t>and review the </a:t>
            </a:r>
            <a:r>
              <a:rPr lang="en-US" altLang="en-US" dirty="0" smtClean="0"/>
              <a:t>Cumulative  Acquisition value, Accumulated Depreciation, </a:t>
            </a:r>
            <a:r>
              <a:rPr lang="en-US" altLang="en-US" dirty="0"/>
              <a:t>and </a:t>
            </a:r>
            <a:r>
              <a:rPr lang="en-US" altLang="en-US" dirty="0" smtClean="0"/>
              <a:t>End</a:t>
            </a:r>
            <a:r>
              <a:rPr lang="en-US" altLang="en-US" dirty="0" smtClean="0"/>
              <a:t> </a:t>
            </a:r>
            <a:r>
              <a:rPr lang="en-US" altLang="en-US" dirty="0"/>
              <a:t>Book Value of the </a:t>
            </a:r>
            <a:r>
              <a:rPr lang="en-US" altLang="en-US" dirty="0" smtClean="0"/>
              <a:t>assets</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S_ALR_87012004</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86</a:t>
            </a:fld>
            <a:endParaRPr lang="en-US" altLang="en-US" sz="1600" dirty="0"/>
          </a:p>
        </p:txBody>
      </p:sp>
    </p:spTree>
    <p:extLst>
      <p:ext uri="{BB962C8B-B14F-4D97-AF65-F5344CB8AC3E}">
        <p14:creationId xmlns:p14="http://schemas.microsoft.com/office/powerpoint/2010/main" val="15605584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p:txBody>
          <a:bodyPr/>
          <a:lstStyle/>
          <a:p>
            <a:r>
              <a:rPr lang="en-US" altLang="en-US" sz="4200" dirty="0"/>
              <a:t>Exercise </a:t>
            </a:r>
            <a:r>
              <a:rPr lang="en-US" altLang="en-US" sz="4200" dirty="0" smtClean="0"/>
              <a:t>5.14</a:t>
            </a:r>
            <a:r>
              <a:rPr lang="en-US" altLang="en-US" sz="4200" dirty="0" smtClean="0"/>
              <a:t>: Generate a Depreciation Report</a:t>
            </a:r>
            <a:endParaRPr lang="en-US" altLang="en-US" sz="4200" dirty="0"/>
          </a:p>
        </p:txBody>
      </p:sp>
      <p:sp>
        <p:nvSpPr>
          <p:cNvPr id="69637" name="Rectangle 3"/>
          <p:cNvSpPr>
            <a:spLocks noGrp="1" noChangeArrowheads="1"/>
          </p:cNvSpPr>
          <p:nvPr>
            <p:ph idx="1"/>
          </p:nvPr>
        </p:nvSpPr>
        <p:spPr/>
        <p:txBody>
          <a:bodyPr/>
          <a:lstStyle/>
          <a:p>
            <a:pPr marL="517525" indent="-517525"/>
            <a:r>
              <a:rPr lang="en-US" altLang="en-US" dirty="0"/>
              <a:t>You need to review the depreciation of laptops the organization has on the books. Generate the depreciation report and review the Cumulative  Acquisition value, Accumulated Depreciation, and End Book Value of the assets</a:t>
            </a:r>
            <a:endParaRPr lang="en-US" dirty="0"/>
          </a:p>
          <a:p>
            <a:r>
              <a:rPr lang="en-US" altLang="en-US" dirty="0" smtClean="0"/>
              <a:t>Generate a depreciation report</a:t>
            </a:r>
            <a:endParaRPr lang="en-US" altLang="en-US" dirty="0"/>
          </a:p>
          <a:p>
            <a:r>
              <a:rPr lang="en-US" altLang="en-US" dirty="0"/>
              <a:t>Notes</a:t>
            </a:r>
          </a:p>
          <a:p>
            <a:pPr marL="1122045" lvl="1" indent="-431165"/>
            <a:r>
              <a:rPr lang="en-US" altLang="en-US" dirty="0" smtClean="0"/>
              <a:t>Transaction Code</a:t>
            </a:r>
            <a:r>
              <a:rPr lang="en-US" altLang="en-US" dirty="0"/>
              <a:t>: </a:t>
            </a:r>
            <a:r>
              <a:rPr lang="en-US" dirty="0"/>
              <a:t>S_ALR_87012004</a:t>
            </a:r>
            <a:endParaRPr lang="en-US" altLang="en-US" dirty="0"/>
          </a:p>
          <a:p>
            <a:pPr lvl="1"/>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87</a:t>
            </a:fld>
            <a:endParaRPr lang="en-US" altLang="en-US" sz="1600" dirty="0"/>
          </a:p>
        </p:txBody>
      </p:sp>
    </p:spTree>
    <p:extLst>
      <p:ext uri="{BB962C8B-B14F-4D97-AF65-F5344CB8AC3E}">
        <p14:creationId xmlns:p14="http://schemas.microsoft.com/office/powerpoint/2010/main" val="349923443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type="title"/>
          </p:nvPr>
        </p:nvSpPr>
        <p:spPr>
          <a:xfrm>
            <a:off x="427719" y="101482"/>
            <a:ext cx="12177267" cy="624725"/>
          </a:xfrm>
        </p:spPr>
        <p:txBody>
          <a:bodyPr/>
          <a:lstStyle/>
          <a:p>
            <a:r>
              <a:rPr lang="en-US" altLang="en-US" sz="4000" dirty="0" smtClean="0"/>
              <a:t>Posted Depreciation by Asset and Posting Period</a:t>
            </a:r>
            <a:endParaRPr lang="en-US" altLang="en-US" sz="4000" dirty="0"/>
          </a:p>
        </p:txBody>
      </p:sp>
      <p:sp>
        <p:nvSpPr>
          <p:cNvPr id="64516" name="Rectangle 4"/>
          <p:cNvSpPr>
            <a:spLocks noGrp="1" noChangeArrowheads="1"/>
          </p:cNvSpPr>
          <p:nvPr>
            <p:ph idx="1"/>
          </p:nvPr>
        </p:nvSpPr>
        <p:spPr>
          <a:xfrm>
            <a:off x="73660" y="959749"/>
            <a:ext cx="13743940" cy="5880066"/>
          </a:xfrm>
        </p:spPr>
        <p:txBody>
          <a:bodyPr/>
          <a:lstStyle/>
          <a:p>
            <a:r>
              <a:rPr lang="en-US" sz="3000" dirty="0" smtClean="0"/>
              <a:t>SAP t-code </a:t>
            </a:r>
            <a:r>
              <a:rPr lang="en-US" sz="3000" dirty="0" smtClean="0"/>
              <a:t>S_P99_41000192 allows you to review depreciation for each asset</a:t>
            </a:r>
            <a:endParaRPr lang="en-US" sz="3000" dirty="0"/>
          </a:p>
          <a:p>
            <a:r>
              <a:rPr lang="en-US" altLang="en-US" sz="3000" dirty="0" smtClean="0"/>
              <a:t>Items available for review include:</a:t>
            </a:r>
          </a:p>
          <a:p>
            <a:pPr lvl="1"/>
            <a:r>
              <a:rPr lang="en-US" sz="2800" dirty="0" smtClean="0"/>
              <a:t>Ordinary depreciation</a:t>
            </a:r>
            <a:endParaRPr lang="en-US" sz="2800" dirty="0"/>
          </a:p>
          <a:p>
            <a:pPr lvl="1"/>
            <a:r>
              <a:rPr lang="en-US" sz="2800" dirty="0" smtClean="0"/>
              <a:t>Unplanned depreciation</a:t>
            </a:r>
            <a:endParaRPr lang="en-US" sz="28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88</a:t>
            </a:fld>
            <a:endParaRPr lang="en-US" altLang="en-US" sz="1600" dirty="0"/>
          </a:p>
        </p:txBody>
      </p:sp>
      <p:pic>
        <p:nvPicPr>
          <p:cNvPr id="3" name="Picture 2"/>
          <p:cNvPicPr>
            <a:picLocks noChangeAspect="1"/>
          </p:cNvPicPr>
          <p:nvPr/>
        </p:nvPicPr>
        <p:blipFill>
          <a:blip r:embed="rId3"/>
          <a:stretch>
            <a:fillRect/>
          </a:stretch>
        </p:blipFill>
        <p:spPr>
          <a:xfrm>
            <a:off x="1153477" y="3644587"/>
            <a:ext cx="11959509" cy="3853175"/>
          </a:xfrm>
          <a:prstGeom prst="rect">
            <a:avLst/>
          </a:prstGeom>
        </p:spPr>
      </p:pic>
      <p:sp>
        <p:nvSpPr>
          <p:cNvPr id="7" name="Rectangle 6"/>
          <p:cNvSpPr/>
          <p:nvPr/>
        </p:nvSpPr>
        <p:spPr>
          <a:xfrm>
            <a:off x="3371554" y="5425440"/>
            <a:ext cx="3679486" cy="32512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6394651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200" dirty="0"/>
              <a:t>Demo </a:t>
            </a:r>
            <a:r>
              <a:rPr lang="en-US" altLang="en-US" sz="4200" dirty="0" smtClean="0"/>
              <a:t>5.15</a:t>
            </a:r>
            <a:r>
              <a:rPr lang="en-US" altLang="en-US" sz="4200" dirty="0" smtClean="0"/>
              <a:t>: </a:t>
            </a:r>
            <a:r>
              <a:rPr lang="en-US" altLang="en-US" sz="4200" dirty="0"/>
              <a:t>Generate </a:t>
            </a:r>
            <a:r>
              <a:rPr lang="en-US" altLang="en-US" sz="4200" dirty="0" smtClean="0"/>
              <a:t>a Posted Depreciation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assets currently held by the organization. </a:t>
            </a:r>
            <a:r>
              <a:rPr lang="en-US" altLang="en-US" dirty="0"/>
              <a:t>Generate the </a:t>
            </a:r>
            <a:r>
              <a:rPr lang="en-US" altLang="en-US" dirty="0" smtClean="0"/>
              <a:t>posted depreciation report </a:t>
            </a:r>
            <a:r>
              <a:rPr lang="en-US" altLang="en-US" dirty="0"/>
              <a:t>and review the </a:t>
            </a:r>
            <a:r>
              <a:rPr lang="en-US" altLang="en-US" dirty="0" smtClean="0"/>
              <a:t>Ordinary Depreciation and Unplanned Depreciation </a:t>
            </a:r>
            <a:r>
              <a:rPr lang="en-US" altLang="en-US" dirty="0"/>
              <a:t>of the </a:t>
            </a:r>
            <a:r>
              <a:rPr lang="en-US" altLang="en-US" dirty="0" smtClean="0"/>
              <a:t>assets</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S_P99_41000192</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89</a:t>
            </a:fld>
            <a:endParaRPr lang="en-US" altLang="en-US" sz="1600" dirty="0"/>
          </a:p>
        </p:txBody>
      </p:sp>
    </p:spTree>
    <p:extLst>
      <p:ext uri="{BB962C8B-B14F-4D97-AF65-F5344CB8AC3E}">
        <p14:creationId xmlns:p14="http://schemas.microsoft.com/office/powerpoint/2010/main" val="216493254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366759" y="101482"/>
            <a:ext cx="12177267" cy="624725"/>
          </a:xfrm>
        </p:spPr>
        <p:txBody>
          <a:bodyPr/>
          <a:lstStyle/>
          <a:p>
            <a:r>
              <a:rPr lang="en-US" altLang="en-US" sz="3900" dirty="0"/>
              <a:t>Exercise </a:t>
            </a:r>
            <a:r>
              <a:rPr lang="en-US" altLang="en-US" sz="3900" dirty="0" smtClean="0"/>
              <a:t>5.15</a:t>
            </a:r>
            <a:r>
              <a:rPr lang="en-US" altLang="en-US" sz="3900" dirty="0" smtClean="0"/>
              <a:t>: Generate a Posted Depreciation Report</a:t>
            </a:r>
            <a:endParaRPr lang="en-US" altLang="en-US" sz="3900" dirty="0"/>
          </a:p>
        </p:txBody>
      </p:sp>
      <p:sp>
        <p:nvSpPr>
          <p:cNvPr id="69637" name="Rectangle 3"/>
          <p:cNvSpPr>
            <a:spLocks noGrp="1" noChangeArrowheads="1"/>
          </p:cNvSpPr>
          <p:nvPr>
            <p:ph idx="1"/>
          </p:nvPr>
        </p:nvSpPr>
        <p:spPr/>
        <p:txBody>
          <a:bodyPr/>
          <a:lstStyle/>
          <a:p>
            <a:pPr marL="517525" indent="-517525"/>
            <a:r>
              <a:rPr lang="en-US" altLang="en-US" dirty="0"/>
              <a:t>You need to review assets currently held by the organization. Generate the posted depreciation report and review the Ordinary Depreciation and Unplanned Depreciation of the assets</a:t>
            </a:r>
            <a:endParaRPr lang="en-US" dirty="0"/>
          </a:p>
          <a:p>
            <a:r>
              <a:rPr lang="en-US" altLang="en-US" dirty="0" smtClean="0"/>
              <a:t>Generate a posted depreciation report</a:t>
            </a:r>
            <a:endParaRPr lang="en-US" altLang="en-US" dirty="0"/>
          </a:p>
          <a:p>
            <a:r>
              <a:rPr lang="en-US" altLang="en-US" dirty="0"/>
              <a:t>Notes</a:t>
            </a:r>
          </a:p>
          <a:p>
            <a:pPr marL="1122045" lvl="1" indent="-431165"/>
            <a:r>
              <a:rPr lang="en-US" altLang="en-US" dirty="0" smtClean="0"/>
              <a:t>Transaction Code</a:t>
            </a:r>
            <a:r>
              <a:rPr lang="en-US" altLang="en-US" dirty="0"/>
              <a:t>: </a:t>
            </a:r>
            <a:r>
              <a:rPr lang="en-US" dirty="0"/>
              <a:t>S_P99_41000192</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90</a:t>
            </a:fld>
            <a:endParaRPr lang="en-US" altLang="en-US" sz="1600" dirty="0"/>
          </a:p>
        </p:txBody>
      </p:sp>
    </p:spTree>
    <p:extLst>
      <p:ext uri="{BB962C8B-B14F-4D97-AF65-F5344CB8AC3E}">
        <p14:creationId xmlns:p14="http://schemas.microsoft.com/office/powerpoint/2010/main" val="314535128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900805" y="1605280"/>
            <a:ext cx="9721230" cy="5510846"/>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sz="4000" dirty="0" smtClean="0"/>
              <a:t>Asset Acquisitions – SAP t-code: </a:t>
            </a:r>
            <a:r>
              <a:rPr lang="en-US" sz="4000" dirty="0"/>
              <a:t>S_ALR_87012050</a:t>
            </a:r>
            <a:endParaRPr lang="en-US" altLang="en-US" sz="4000" dirty="0"/>
          </a:p>
        </p:txBody>
      </p:sp>
      <p:sp>
        <p:nvSpPr>
          <p:cNvPr id="64516" name="Rectangle 4"/>
          <p:cNvSpPr>
            <a:spLocks noGrp="1" noChangeArrowheads="1"/>
          </p:cNvSpPr>
          <p:nvPr>
            <p:ph idx="1"/>
          </p:nvPr>
        </p:nvSpPr>
        <p:spPr>
          <a:xfrm>
            <a:off x="12700" y="1244229"/>
            <a:ext cx="3949700" cy="5880066"/>
          </a:xfrm>
        </p:spPr>
        <p:txBody>
          <a:bodyPr/>
          <a:lstStyle/>
          <a:p>
            <a:r>
              <a:rPr lang="en-US" sz="3400" dirty="0" smtClean="0"/>
              <a:t>Allows you to view all acquisitions in a given period</a:t>
            </a:r>
            <a:endParaRPr lang="en-US" sz="3400" dirty="0"/>
          </a:p>
          <a:p>
            <a:r>
              <a:rPr lang="en-US" altLang="en-US" sz="3400" dirty="0" smtClean="0"/>
              <a:t>Items available for review include:</a:t>
            </a:r>
          </a:p>
          <a:p>
            <a:pPr lvl="1"/>
            <a:r>
              <a:rPr lang="en-US" dirty="0" smtClean="0"/>
              <a:t>APC Class</a:t>
            </a:r>
          </a:p>
          <a:p>
            <a:pPr lvl="1"/>
            <a:r>
              <a:rPr lang="en-US" dirty="0" smtClean="0"/>
              <a:t>Acquisition Currency</a:t>
            </a:r>
            <a:endParaRPr 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91</a:t>
            </a:fld>
            <a:endParaRPr lang="en-US" altLang="en-US" sz="1600" dirty="0"/>
          </a:p>
        </p:txBody>
      </p:sp>
      <p:sp>
        <p:nvSpPr>
          <p:cNvPr id="7" name="Rectangle 6"/>
          <p:cNvSpPr/>
          <p:nvPr/>
        </p:nvSpPr>
        <p:spPr>
          <a:xfrm>
            <a:off x="4124960" y="3799840"/>
            <a:ext cx="912368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008560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200" dirty="0"/>
              <a:t>Demo </a:t>
            </a:r>
            <a:r>
              <a:rPr lang="en-US" altLang="en-US" sz="4200" dirty="0" smtClean="0"/>
              <a:t>5.16</a:t>
            </a:r>
            <a:r>
              <a:rPr lang="en-US" altLang="en-US" sz="4200" dirty="0" smtClean="0"/>
              <a:t>: </a:t>
            </a:r>
            <a:r>
              <a:rPr lang="en-US" altLang="en-US" sz="4200" dirty="0"/>
              <a:t>Generate </a:t>
            </a:r>
            <a:r>
              <a:rPr lang="en-US" altLang="en-US" sz="4200" dirty="0" smtClean="0"/>
              <a:t>an As</a:t>
            </a:r>
            <a:r>
              <a:rPr lang="en-US" altLang="en-US" sz="4200" dirty="0" smtClean="0"/>
              <a:t>set Acquisitions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the asset acquisitions acquired between the months of March and July 2021. Generate an asset acquisitions report </a:t>
            </a:r>
            <a:r>
              <a:rPr lang="en-US" altLang="en-US" dirty="0"/>
              <a:t>and review the </a:t>
            </a:r>
            <a:r>
              <a:rPr lang="en-US" altLang="en-US" dirty="0" smtClean="0"/>
              <a:t>APC Class and Acquisition Currency</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S_ALR_87012050</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92</a:t>
            </a:fld>
            <a:endParaRPr lang="en-US" altLang="en-US" sz="1600" dirty="0"/>
          </a:p>
        </p:txBody>
      </p:sp>
    </p:spTree>
    <p:extLst>
      <p:ext uri="{BB962C8B-B14F-4D97-AF65-F5344CB8AC3E}">
        <p14:creationId xmlns:p14="http://schemas.microsoft.com/office/powerpoint/2010/main" val="384464141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264161" y="101482"/>
            <a:ext cx="12442426" cy="624725"/>
          </a:xfrm>
        </p:spPr>
        <p:txBody>
          <a:bodyPr/>
          <a:lstStyle/>
          <a:p>
            <a:r>
              <a:rPr lang="en-US" altLang="en-US" sz="4000" dirty="0"/>
              <a:t>Exercise </a:t>
            </a:r>
            <a:r>
              <a:rPr lang="en-US" altLang="en-US" sz="4000" dirty="0" smtClean="0"/>
              <a:t>5.16</a:t>
            </a:r>
            <a:r>
              <a:rPr lang="en-US" altLang="en-US" sz="4000" dirty="0" smtClean="0"/>
              <a:t>: Generate an Asset Acquisitions Report</a:t>
            </a:r>
            <a:endParaRPr lang="en-US" altLang="en-US" sz="4000" dirty="0"/>
          </a:p>
        </p:txBody>
      </p:sp>
      <p:sp>
        <p:nvSpPr>
          <p:cNvPr id="69637" name="Rectangle 3"/>
          <p:cNvSpPr>
            <a:spLocks noGrp="1" noChangeArrowheads="1"/>
          </p:cNvSpPr>
          <p:nvPr>
            <p:ph idx="1"/>
          </p:nvPr>
        </p:nvSpPr>
        <p:spPr/>
        <p:txBody>
          <a:bodyPr/>
          <a:lstStyle/>
          <a:p>
            <a:pPr marL="517525" indent="-517525"/>
            <a:r>
              <a:rPr lang="en-US" altLang="en-US" dirty="0"/>
              <a:t>You need to review the asset acquisitions acquired between the months of March and July 2021. Generate an asset acquisitions report and review the APC Class and Acquisition Currency</a:t>
            </a:r>
            <a:endParaRPr lang="en-US" dirty="0"/>
          </a:p>
          <a:p>
            <a:r>
              <a:rPr lang="en-US" altLang="en-US" dirty="0" smtClean="0"/>
              <a:t>Generate an asset acquisitions report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S_ALR_87012050</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93</a:t>
            </a:fld>
            <a:endParaRPr lang="en-US" altLang="en-US" sz="1600" dirty="0"/>
          </a:p>
        </p:txBody>
      </p:sp>
    </p:spTree>
    <p:extLst>
      <p:ext uri="{BB962C8B-B14F-4D97-AF65-F5344CB8AC3E}">
        <p14:creationId xmlns:p14="http://schemas.microsoft.com/office/powerpoint/2010/main" val="311627657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583304" y="2357120"/>
            <a:ext cx="10160207" cy="4719320"/>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sz="4300" dirty="0" smtClean="0"/>
              <a:t>Asset Transfers – SAP t-code: </a:t>
            </a:r>
            <a:r>
              <a:rPr lang="en-US" sz="4300" dirty="0"/>
              <a:t>S_ALR_87012054</a:t>
            </a:r>
            <a:endParaRPr lang="en-US" altLang="en-US" sz="4300" dirty="0"/>
          </a:p>
        </p:txBody>
      </p:sp>
      <p:sp>
        <p:nvSpPr>
          <p:cNvPr id="64516" name="Rectangle 4"/>
          <p:cNvSpPr>
            <a:spLocks noGrp="1" noChangeArrowheads="1"/>
          </p:cNvSpPr>
          <p:nvPr>
            <p:ph idx="1"/>
          </p:nvPr>
        </p:nvSpPr>
        <p:spPr>
          <a:xfrm>
            <a:off x="12700" y="1244229"/>
            <a:ext cx="3949700" cy="5880066"/>
          </a:xfrm>
        </p:spPr>
        <p:txBody>
          <a:bodyPr/>
          <a:lstStyle/>
          <a:p>
            <a:r>
              <a:rPr lang="en-US" sz="3400" dirty="0" smtClean="0"/>
              <a:t>Allows you to view all assets transferred within the organization</a:t>
            </a:r>
            <a:endParaRPr lang="en-US" sz="3400" dirty="0"/>
          </a:p>
          <a:p>
            <a:r>
              <a:rPr lang="en-US" altLang="en-US" sz="3400" dirty="0" smtClean="0"/>
              <a:t>Items available for review include:</a:t>
            </a:r>
          </a:p>
          <a:p>
            <a:pPr lvl="1"/>
            <a:r>
              <a:rPr lang="en-US" dirty="0" smtClean="0"/>
              <a:t>APC Class</a:t>
            </a:r>
          </a:p>
          <a:p>
            <a:pPr lvl="1"/>
            <a:r>
              <a:rPr lang="en-US" dirty="0" smtClean="0"/>
              <a:t>Transfer amount</a:t>
            </a:r>
            <a:endParaRPr 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94</a:t>
            </a:fld>
            <a:endParaRPr lang="en-US" altLang="en-US" sz="1600" dirty="0"/>
          </a:p>
        </p:txBody>
      </p:sp>
      <p:sp>
        <p:nvSpPr>
          <p:cNvPr id="7" name="Rectangle 6"/>
          <p:cNvSpPr/>
          <p:nvPr/>
        </p:nvSpPr>
        <p:spPr>
          <a:xfrm>
            <a:off x="3738880" y="3799840"/>
            <a:ext cx="991616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857228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200" dirty="0"/>
              <a:t>Demo </a:t>
            </a:r>
            <a:r>
              <a:rPr lang="en-US" altLang="en-US" sz="4200" dirty="0" smtClean="0"/>
              <a:t>5.17</a:t>
            </a:r>
            <a:r>
              <a:rPr lang="en-US" altLang="en-US" sz="4200" dirty="0" smtClean="0"/>
              <a:t>: </a:t>
            </a:r>
            <a:r>
              <a:rPr lang="en-US" altLang="en-US" sz="4200" dirty="0"/>
              <a:t>Generate </a:t>
            </a:r>
            <a:r>
              <a:rPr lang="en-US" altLang="en-US" sz="4200" dirty="0" smtClean="0"/>
              <a:t>an As</a:t>
            </a:r>
            <a:r>
              <a:rPr lang="en-US" altLang="en-US" sz="4200" dirty="0" smtClean="0"/>
              <a:t>set Transfer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a list of assets that have been transferred as of March 31st 2021. Generate an asset transfer report </a:t>
            </a:r>
            <a:r>
              <a:rPr lang="en-US" altLang="en-US" dirty="0"/>
              <a:t>and review the </a:t>
            </a:r>
            <a:r>
              <a:rPr lang="en-US" altLang="en-US" dirty="0" smtClean="0"/>
              <a:t>APC Class and Transfer amount</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S_ALR_87012054</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95</a:t>
            </a:fld>
            <a:endParaRPr lang="en-US" altLang="en-US" sz="1600" dirty="0"/>
          </a:p>
        </p:txBody>
      </p:sp>
    </p:spTree>
    <p:extLst>
      <p:ext uri="{BB962C8B-B14F-4D97-AF65-F5344CB8AC3E}">
        <p14:creationId xmlns:p14="http://schemas.microsoft.com/office/powerpoint/2010/main" val="76223501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264161" y="101482"/>
            <a:ext cx="12442426" cy="624725"/>
          </a:xfrm>
        </p:spPr>
        <p:txBody>
          <a:bodyPr/>
          <a:lstStyle/>
          <a:p>
            <a:r>
              <a:rPr lang="en-US" altLang="en-US" sz="4000" dirty="0"/>
              <a:t>Exercise </a:t>
            </a:r>
            <a:r>
              <a:rPr lang="en-US" altLang="en-US" sz="4000" dirty="0" smtClean="0"/>
              <a:t>5.17</a:t>
            </a:r>
            <a:r>
              <a:rPr lang="en-US" altLang="en-US" sz="4000" dirty="0" smtClean="0"/>
              <a:t>: Generate an Asset Transfer Report</a:t>
            </a:r>
            <a:endParaRPr lang="en-US" altLang="en-US" sz="4000" dirty="0"/>
          </a:p>
        </p:txBody>
      </p:sp>
      <p:sp>
        <p:nvSpPr>
          <p:cNvPr id="69637" name="Rectangle 3"/>
          <p:cNvSpPr>
            <a:spLocks noGrp="1" noChangeArrowheads="1"/>
          </p:cNvSpPr>
          <p:nvPr>
            <p:ph idx="1"/>
          </p:nvPr>
        </p:nvSpPr>
        <p:spPr/>
        <p:txBody>
          <a:bodyPr/>
          <a:lstStyle/>
          <a:p>
            <a:pPr marL="517525" indent="-517525"/>
            <a:r>
              <a:rPr lang="en-US" altLang="en-US" dirty="0"/>
              <a:t>You need to review a list of assets that have been transferred as of March 31st 2021. Generate an asset transfer report and review the APC Class and Transfer amount</a:t>
            </a:r>
            <a:endParaRPr lang="en-US" dirty="0"/>
          </a:p>
          <a:p>
            <a:r>
              <a:rPr lang="en-US" altLang="en-US" dirty="0" smtClean="0"/>
              <a:t>Generate an asset transfer report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S_ALR_87012054</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96</a:t>
            </a:fld>
            <a:endParaRPr lang="en-US" altLang="en-US" sz="1600" dirty="0"/>
          </a:p>
        </p:txBody>
      </p:sp>
    </p:spTree>
    <p:extLst>
      <p:ext uri="{BB962C8B-B14F-4D97-AF65-F5344CB8AC3E}">
        <p14:creationId xmlns:p14="http://schemas.microsoft.com/office/powerpoint/2010/main" val="40599906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569017" y="1991360"/>
            <a:ext cx="10190267" cy="5132936"/>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sz="4100" dirty="0" smtClean="0"/>
              <a:t>Asset Transaction – SAP t-code: </a:t>
            </a:r>
            <a:r>
              <a:rPr lang="en-US" sz="4100" dirty="0"/>
              <a:t>S_ALR_87012048</a:t>
            </a:r>
            <a:endParaRPr lang="en-US" altLang="en-US" sz="4100" dirty="0"/>
          </a:p>
        </p:txBody>
      </p:sp>
      <p:sp>
        <p:nvSpPr>
          <p:cNvPr id="64516" name="Rectangle 4"/>
          <p:cNvSpPr>
            <a:spLocks noGrp="1" noChangeArrowheads="1"/>
          </p:cNvSpPr>
          <p:nvPr>
            <p:ph idx="1"/>
          </p:nvPr>
        </p:nvSpPr>
        <p:spPr>
          <a:xfrm>
            <a:off x="12700" y="1244229"/>
            <a:ext cx="3949700" cy="5880066"/>
          </a:xfrm>
        </p:spPr>
        <p:txBody>
          <a:bodyPr/>
          <a:lstStyle/>
          <a:p>
            <a:r>
              <a:rPr lang="en-US" sz="3400" dirty="0" smtClean="0"/>
              <a:t>Allows you to view all asset transactions within the organization</a:t>
            </a:r>
            <a:endParaRPr lang="en-US" sz="3400" dirty="0"/>
          </a:p>
          <a:p>
            <a:r>
              <a:rPr lang="en-US" altLang="en-US" sz="3400" dirty="0" smtClean="0"/>
              <a:t>Items available for review include:</a:t>
            </a:r>
          </a:p>
          <a:p>
            <a:pPr lvl="1"/>
            <a:r>
              <a:rPr lang="en-US" dirty="0" smtClean="0"/>
              <a:t>APC Class</a:t>
            </a:r>
          </a:p>
          <a:p>
            <a:pPr lvl="1"/>
            <a:r>
              <a:rPr lang="en-US" dirty="0" smtClean="0"/>
              <a:t>APC</a:t>
            </a:r>
            <a:endParaRPr lang="en-US"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97</a:t>
            </a:fld>
            <a:endParaRPr lang="en-US" altLang="en-US" sz="1600" dirty="0"/>
          </a:p>
        </p:txBody>
      </p:sp>
      <p:sp>
        <p:nvSpPr>
          <p:cNvPr id="7" name="Rectangle 6"/>
          <p:cNvSpPr/>
          <p:nvPr/>
        </p:nvSpPr>
        <p:spPr>
          <a:xfrm>
            <a:off x="3738880" y="3799840"/>
            <a:ext cx="991616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598477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200" dirty="0"/>
              <a:t>Demo </a:t>
            </a:r>
            <a:r>
              <a:rPr lang="en-US" altLang="en-US" sz="4200" dirty="0" smtClean="0"/>
              <a:t>5.18</a:t>
            </a:r>
            <a:r>
              <a:rPr lang="en-US" altLang="en-US" sz="4200" dirty="0" smtClean="0"/>
              <a:t>: </a:t>
            </a:r>
            <a:r>
              <a:rPr lang="en-US" altLang="en-US" sz="4200" dirty="0"/>
              <a:t>Generate </a:t>
            </a:r>
            <a:r>
              <a:rPr lang="en-US" altLang="en-US" sz="4200" dirty="0" smtClean="0"/>
              <a:t>an As</a:t>
            </a:r>
            <a:r>
              <a:rPr lang="en-US" altLang="en-US" sz="4200" dirty="0" smtClean="0"/>
              <a:t>set Transaction Report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a list of asset transactions as of March 31st 2021. Generate an asset transfer report </a:t>
            </a:r>
            <a:r>
              <a:rPr lang="en-US" altLang="en-US" dirty="0"/>
              <a:t>and review the </a:t>
            </a:r>
            <a:r>
              <a:rPr lang="en-US" altLang="en-US" dirty="0" smtClean="0"/>
              <a:t>APC Class and APC</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S_ALR_87012048</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98</a:t>
            </a:fld>
            <a:endParaRPr lang="en-US" altLang="en-US" sz="1600" dirty="0"/>
          </a:p>
        </p:txBody>
      </p:sp>
    </p:spTree>
    <p:extLst>
      <p:ext uri="{BB962C8B-B14F-4D97-AF65-F5344CB8AC3E}">
        <p14:creationId xmlns:p14="http://schemas.microsoft.com/office/powerpoint/2010/main" val="77355435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264161" y="101482"/>
            <a:ext cx="12442426" cy="624725"/>
          </a:xfrm>
        </p:spPr>
        <p:txBody>
          <a:bodyPr/>
          <a:lstStyle/>
          <a:p>
            <a:r>
              <a:rPr lang="en-US" altLang="en-US" sz="4000" dirty="0"/>
              <a:t>Exercise </a:t>
            </a:r>
            <a:r>
              <a:rPr lang="en-US" altLang="en-US" sz="4000" dirty="0" smtClean="0"/>
              <a:t>5.18</a:t>
            </a:r>
            <a:r>
              <a:rPr lang="en-US" altLang="en-US" sz="4000" dirty="0" smtClean="0"/>
              <a:t>: Generate an Asset Transaction Report</a:t>
            </a:r>
            <a:endParaRPr lang="en-US" altLang="en-US" sz="4000" dirty="0"/>
          </a:p>
        </p:txBody>
      </p:sp>
      <p:sp>
        <p:nvSpPr>
          <p:cNvPr id="69637" name="Rectangle 3"/>
          <p:cNvSpPr>
            <a:spLocks noGrp="1" noChangeArrowheads="1"/>
          </p:cNvSpPr>
          <p:nvPr>
            <p:ph idx="1"/>
          </p:nvPr>
        </p:nvSpPr>
        <p:spPr/>
        <p:txBody>
          <a:bodyPr/>
          <a:lstStyle/>
          <a:p>
            <a:pPr marL="517525" indent="-517525"/>
            <a:r>
              <a:rPr lang="en-US" altLang="en-US" dirty="0"/>
              <a:t>You need to review a list of asset transactions as of March 31st 2021. Generate an asset transfer report and review the APC Class and APC</a:t>
            </a:r>
            <a:endParaRPr lang="en-US" dirty="0"/>
          </a:p>
          <a:p>
            <a:r>
              <a:rPr lang="en-US" altLang="en-US" dirty="0" smtClean="0"/>
              <a:t>Generate an asset transaction report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S_ALR_87012048</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99</a:t>
            </a:fld>
            <a:endParaRPr lang="en-US" altLang="en-US" sz="1600" dirty="0"/>
          </a:p>
        </p:txBody>
      </p:sp>
    </p:spTree>
    <p:extLst>
      <p:ext uri="{BB962C8B-B14F-4D97-AF65-F5344CB8AC3E}">
        <p14:creationId xmlns:p14="http://schemas.microsoft.com/office/powerpoint/2010/main" val="917954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596639" y="2174240"/>
            <a:ext cx="10163371" cy="4705465"/>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sz="4100" dirty="0" smtClean="0"/>
              <a:t>List of Origins by Asset Debits</a:t>
            </a:r>
            <a:endParaRPr lang="en-US" altLang="en-US" sz="4100" dirty="0"/>
          </a:p>
        </p:txBody>
      </p:sp>
      <p:sp>
        <p:nvSpPr>
          <p:cNvPr id="64516" name="Rectangle 4"/>
          <p:cNvSpPr>
            <a:spLocks noGrp="1" noChangeArrowheads="1"/>
          </p:cNvSpPr>
          <p:nvPr>
            <p:ph idx="1"/>
          </p:nvPr>
        </p:nvSpPr>
        <p:spPr>
          <a:xfrm>
            <a:off x="12701" y="898789"/>
            <a:ext cx="3258820" cy="5880066"/>
          </a:xfrm>
        </p:spPr>
        <p:txBody>
          <a:bodyPr/>
          <a:lstStyle/>
          <a:p>
            <a:r>
              <a:rPr lang="en-US" sz="2800" dirty="0" smtClean="0"/>
              <a:t>SAP t-code </a:t>
            </a:r>
            <a:r>
              <a:rPr lang="en-US" sz="2800" dirty="0"/>
              <a:t>S_ALR_87012058</a:t>
            </a:r>
            <a:r>
              <a:rPr lang="en-US" sz="2800" dirty="0" smtClean="0"/>
              <a:t> Allows you to understand how the acquisition cost of an asset originated </a:t>
            </a:r>
            <a:endParaRPr lang="en-US" sz="2800" dirty="0"/>
          </a:p>
          <a:p>
            <a:r>
              <a:rPr lang="en-US" altLang="en-US" sz="2800" dirty="0" smtClean="0"/>
              <a:t>Items available for review include:</a:t>
            </a:r>
          </a:p>
          <a:p>
            <a:pPr lvl="1"/>
            <a:r>
              <a:rPr lang="en-US" sz="2700" dirty="0" smtClean="0"/>
              <a:t>Acquisition/Partial Acquisition</a:t>
            </a:r>
          </a:p>
          <a:p>
            <a:pPr lvl="1"/>
            <a:r>
              <a:rPr lang="en-US" sz="2700" dirty="0" smtClean="0"/>
              <a:t>Origin</a:t>
            </a:r>
            <a:endParaRPr lang="en-US" sz="27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100</a:t>
            </a:fld>
            <a:endParaRPr lang="en-US" altLang="en-US" sz="1600" dirty="0"/>
          </a:p>
        </p:txBody>
      </p:sp>
      <p:sp>
        <p:nvSpPr>
          <p:cNvPr id="7" name="Rectangle 6"/>
          <p:cNvSpPr/>
          <p:nvPr/>
        </p:nvSpPr>
        <p:spPr>
          <a:xfrm>
            <a:off x="8737600" y="3799840"/>
            <a:ext cx="491744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32741761"/>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200" dirty="0"/>
              <a:t>Demo </a:t>
            </a:r>
            <a:r>
              <a:rPr lang="en-US" altLang="en-US" sz="4200" dirty="0" smtClean="0"/>
              <a:t>5.19</a:t>
            </a:r>
            <a:r>
              <a:rPr lang="en-US" altLang="en-US" sz="4200" dirty="0" smtClean="0"/>
              <a:t>: </a:t>
            </a:r>
            <a:r>
              <a:rPr lang="en-US" altLang="en-US" sz="4200" dirty="0"/>
              <a:t>Generate </a:t>
            </a:r>
            <a:r>
              <a:rPr lang="en-US" altLang="en-US" sz="4200" dirty="0" smtClean="0"/>
              <a:t>List of Origins by Asset Debit</a:t>
            </a:r>
            <a:r>
              <a:rPr lang="en-US" altLang="en-US" dirty="0"/>
              <a:t/>
            </a:r>
            <a:br>
              <a:rPr lang="en-US" altLang="en-US" dirty="0"/>
            </a:b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the acquisition cost of an asset as of March 31st 2021. Generate a list of origins by asset debit report </a:t>
            </a:r>
            <a:r>
              <a:rPr lang="en-US" altLang="en-US" dirty="0"/>
              <a:t>and review the </a:t>
            </a:r>
            <a:r>
              <a:rPr lang="en-US" altLang="en-US" dirty="0" smtClean="0"/>
              <a:t>Acquisition/Partial Acquisition and Origin</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smtClean="0"/>
              <a:t>S_ALR_87012058</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101</a:t>
            </a:fld>
            <a:endParaRPr lang="en-US" altLang="en-US" sz="1600" dirty="0"/>
          </a:p>
        </p:txBody>
      </p:sp>
    </p:spTree>
    <p:extLst>
      <p:ext uri="{BB962C8B-B14F-4D97-AF65-F5344CB8AC3E}">
        <p14:creationId xmlns:p14="http://schemas.microsoft.com/office/powerpoint/2010/main" val="33326580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264161" y="101482"/>
            <a:ext cx="12442426" cy="624725"/>
          </a:xfrm>
        </p:spPr>
        <p:txBody>
          <a:bodyPr/>
          <a:lstStyle/>
          <a:p>
            <a:r>
              <a:rPr lang="en-US" altLang="en-US" sz="4000" dirty="0"/>
              <a:t>Exercise </a:t>
            </a:r>
            <a:r>
              <a:rPr lang="en-US" altLang="en-US" sz="4000" dirty="0" smtClean="0"/>
              <a:t>5.19</a:t>
            </a:r>
            <a:r>
              <a:rPr lang="en-US" altLang="en-US" sz="4000" dirty="0" smtClean="0"/>
              <a:t>: Generate List of Origins by Asset Debit</a:t>
            </a:r>
            <a:endParaRPr lang="en-US" altLang="en-US" sz="4000" dirty="0"/>
          </a:p>
        </p:txBody>
      </p:sp>
      <p:sp>
        <p:nvSpPr>
          <p:cNvPr id="69637" name="Rectangle 3"/>
          <p:cNvSpPr>
            <a:spLocks noGrp="1" noChangeArrowheads="1"/>
          </p:cNvSpPr>
          <p:nvPr>
            <p:ph idx="1"/>
          </p:nvPr>
        </p:nvSpPr>
        <p:spPr/>
        <p:txBody>
          <a:bodyPr/>
          <a:lstStyle/>
          <a:p>
            <a:pPr marL="517525" indent="-517525"/>
            <a:r>
              <a:rPr lang="en-US" altLang="en-US" dirty="0"/>
              <a:t>You need to review the acquisition cost of an asset as of March 31st 2021. Generate a list of origins by asset debit report and review the Acquisition/Partial Acquisition and Origin</a:t>
            </a:r>
            <a:endParaRPr lang="en-US" dirty="0"/>
          </a:p>
          <a:p>
            <a:r>
              <a:rPr lang="en-US" altLang="en-US" dirty="0" smtClean="0"/>
              <a:t>Generate list of origins by asset debit </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smtClean="0"/>
              <a:t>S_ALR_87012058</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102</a:t>
            </a:fld>
            <a:endParaRPr lang="en-US" altLang="en-US" sz="1600" dirty="0"/>
          </a:p>
        </p:txBody>
      </p:sp>
    </p:spTree>
    <p:extLst>
      <p:ext uri="{BB962C8B-B14F-4D97-AF65-F5344CB8AC3E}">
        <p14:creationId xmlns:p14="http://schemas.microsoft.com/office/powerpoint/2010/main" val="344518772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3271520" y="1828800"/>
            <a:ext cx="10291389" cy="5572372"/>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sz="4000" dirty="0" smtClean="0"/>
              <a:t>Asset History Sheet – SAP t-code: </a:t>
            </a:r>
            <a:r>
              <a:rPr lang="en-US" sz="4000" dirty="0"/>
              <a:t>S_ALR_87011990</a:t>
            </a:r>
            <a:r>
              <a:rPr lang="en-US" altLang="en-US" sz="4000" dirty="0"/>
              <a:t/>
            </a:r>
            <a:br>
              <a:rPr lang="en-US" altLang="en-US" sz="4000" dirty="0"/>
            </a:br>
            <a:r>
              <a:rPr lang="en-US" altLang="en-US" sz="4100" dirty="0" smtClean="0"/>
              <a:t> </a:t>
            </a:r>
            <a:endParaRPr lang="en-US" altLang="en-US" sz="4100" dirty="0"/>
          </a:p>
        </p:txBody>
      </p:sp>
      <p:sp>
        <p:nvSpPr>
          <p:cNvPr id="64516" name="Rectangle 4"/>
          <p:cNvSpPr>
            <a:spLocks noGrp="1" noChangeArrowheads="1"/>
          </p:cNvSpPr>
          <p:nvPr>
            <p:ph idx="1"/>
          </p:nvPr>
        </p:nvSpPr>
        <p:spPr>
          <a:xfrm>
            <a:off x="12701" y="898789"/>
            <a:ext cx="3258820" cy="5880066"/>
          </a:xfrm>
        </p:spPr>
        <p:txBody>
          <a:bodyPr/>
          <a:lstStyle/>
          <a:p>
            <a:r>
              <a:rPr lang="en-US" sz="2800" dirty="0"/>
              <a:t>P</a:t>
            </a:r>
            <a:r>
              <a:rPr lang="en-US" sz="2800" dirty="0" smtClean="0"/>
              <a:t>rovides </a:t>
            </a:r>
            <a:r>
              <a:rPr lang="en-US" sz="2800" dirty="0"/>
              <a:t>year to date balance per asset </a:t>
            </a:r>
            <a:r>
              <a:rPr lang="en-US" sz="2800" dirty="0" smtClean="0"/>
              <a:t>class </a:t>
            </a:r>
          </a:p>
          <a:p>
            <a:r>
              <a:rPr lang="en-US" sz="2800" dirty="0" smtClean="0"/>
              <a:t>Can </a:t>
            </a:r>
            <a:r>
              <a:rPr lang="en-US" sz="2800" dirty="0"/>
              <a:t>be drilled down to </a:t>
            </a:r>
            <a:r>
              <a:rPr lang="en-US" sz="2800" dirty="0" smtClean="0"/>
              <a:t>view individual asset information</a:t>
            </a:r>
            <a:endParaRPr lang="en-US" sz="2800" dirty="0"/>
          </a:p>
          <a:p>
            <a:r>
              <a:rPr lang="en-US" altLang="en-US" sz="2800" dirty="0" smtClean="0"/>
              <a:t>Items available for review include:</a:t>
            </a:r>
          </a:p>
          <a:p>
            <a:pPr lvl="1"/>
            <a:r>
              <a:rPr lang="en-US" sz="2700" dirty="0" smtClean="0"/>
              <a:t>APC FY start</a:t>
            </a:r>
          </a:p>
          <a:p>
            <a:pPr lvl="1"/>
            <a:r>
              <a:rPr lang="en-US" sz="2700" dirty="0" smtClean="0"/>
              <a:t>Current APC</a:t>
            </a:r>
            <a:endParaRPr lang="en-US" sz="27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103</a:t>
            </a:fld>
            <a:endParaRPr lang="en-US" altLang="en-US" sz="1600" dirty="0"/>
          </a:p>
        </p:txBody>
      </p:sp>
      <p:sp>
        <p:nvSpPr>
          <p:cNvPr id="7" name="Rectangle 6"/>
          <p:cNvSpPr/>
          <p:nvPr/>
        </p:nvSpPr>
        <p:spPr>
          <a:xfrm>
            <a:off x="3474720" y="3799840"/>
            <a:ext cx="1018032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52378336"/>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dirty="0" smtClean="0"/>
              <a:t>Demo </a:t>
            </a:r>
            <a:r>
              <a:rPr lang="en-US" altLang="en-US" dirty="0" smtClean="0"/>
              <a:t>5.20</a:t>
            </a:r>
            <a:r>
              <a:rPr lang="en-US" altLang="en-US" dirty="0" smtClean="0"/>
              <a:t>: Generate an Asset History Sheet</a:t>
            </a:r>
            <a:endParaRPr lang="en-US" altLang="en-US"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You need to review the current balance of assets as of March 31st 2021. Generate an asset history sheet </a:t>
            </a:r>
            <a:r>
              <a:rPr lang="en-US" altLang="en-US" dirty="0"/>
              <a:t>and review the </a:t>
            </a:r>
            <a:r>
              <a:rPr lang="en-US" altLang="en-US" dirty="0" smtClean="0"/>
              <a:t>Acquisition Depreciation for Year and Current APC Accumulation Depreciation</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S_ALR_87011990</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104</a:t>
            </a:fld>
            <a:endParaRPr lang="en-US" altLang="en-US" sz="1600" dirty="0"/>
          </a:p>
        </p:txBody>
      </p:sp>
    </p:spTree>
    <p:extLst>
      <p:ext uri="{BB962C8B-B14F-4D97-AF65-F5344CB8AC3E}">
        <p14:creationId xmlns:p14="http://schemas.microsoft.com/office/powerpoint/2010/main" val="383912985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264161" y="101482"/>
            <a:ext cx="12442426" cy="624725"/>
          </a:xfrm>
        </p:spPr>
        <p:txBody>
          <a:bodyPr/>
          <a:lstStyle/>
          <a:p>
            <a:r>
              <a:rPr lang="en-US" altLang="en-US" dirty="0"/>
              <a:t>Exercise </a:t>
            </a:r>
            <a:r>
              <a:rPr lang="en-US" altLang="en-US" dirty="0" smtClean="0"/>
              <a:t>5.20</a:t>
            </a:r>
            <a:r>
              <a:rPr lang="en-US" altLang="en-US" dirty="0" smtClean="0"/>
              <a:t>: Generate an Asset History Sheet</a:t>
            </a:r>
            <a:endParaRPr lang="en-US" altLang="en-US" dirty="0"/>
          </a:p>
        </p:txBody>
      </p:sp>
      <p:sp>
        <p:nvSpPr>
          <p:cNvPr id="69637" name="Rectangle 3"/>
          <p:cNvSpPr>
            <a:spLocks noGrp="1" noChangeArrowheads="1"/>
          </p:cNvSpPr>
          <p:nvPr>
            <p:ph idx="1"/>
          </p:nvPr>
        </p:nvSpPr>
        <p:spPr/>
        <p:txBody>
          <a:bodyPr/>
          <a:lstStyle/>
          <a:p>
            <a:pPr marL="517525" indent="-517525"/>
            <a:r>
              <a:rPr lang="en-US" altLang="en-US" dirty="0"/>
              <a:t>You need to review the current balance of assets as of March 31st 2021. Generate an asset history sheet and review the Acquisition Depreciation for Year and Current APC Accumulation Depreciation</a:t>
            </a:r>
            <a:endParaRPr lang="en-US" dirty="0"/>
          </a:p>
          <a:p>
            <a:r>
              <a:rPr lang="en-US" altLang="en-US" dirty="0" smtClean="0"/>
              <a:t>Generate an asset history sheet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S_ALR_87011990</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105</a:t>
            </a:fld>
            <a:endParaRPr lang="en-US" altLang="en-US" sz="1600" dirty="0"/>
          </a:p>
        </p:txBody>
      </p:sp>
    </p:spTree>
    <p:extLst>
      <p:ext uri="{BB962C8B-B14F-4D97-AF65-F5344CB8AC3E}">
        <p14:creationId xmlns:p14="http://schemas.microsoft.com/office/powerpoint/2010/main" val="28472685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677920" y="1102447"/>
            <a:ext cx="9834879" cy="6255615"/>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dirty="0" smtClean="0"/>
              <a:t>Asset Master Changes </a:t>
            </a:r>
            <a:r>
              <a:rPr lang="en-US" altLang="en-US" sz="4000" dirty="0"/>
              <a:t/>
            </a:r>
            <a:br>
              <a:rPr lang="en-US" altLang="en-US" sz="4000" dirty="0"/>
            </a:br>
            <a:r>
              <a:rPr lang="en-US" altLang="en-US" sz="4100" dirty="0" smtClean="0"/>
              <a:t> </a:t>
            </a:r>
            <a:endParaRPr lang="en-US" altLang="en-US" sz="4100" dirty="0"/>
          </a:p>
        </p:txBody>
      </p:sp>
      <p:sp>
        <p:nvSpPr>
          <p:cNvPr id="64516" name="Rectangle 4"/>
          <p:cNvSpPr>
            <a:spLocks noGrp="1" noChangeArrowheads="1"/>
          </p:cNvSpPr>
          <p:nvPr>
            <p:ph idx="1"/>
          </p:nvPr>
        </p:nvSpPr>
        <p:spPr>
          <a:xfrm>
            <a:off x="12700" y="1284869"/>
            <a:ext cx="3868419" cy="5880066"/>
          </a:xfrm>
        </p:spPr>
        <p:txBody>
          <a:bodyPr/>
          <a:lstStyle/>
          <a:p>
            <a:r>
              <a:rPr lang="en-US" sz="2900" dirty="0" smtClean="0"/>
              <a:t>SAP t-code S_ALR_87012037 displays master data change information </a:t>
            </a:r>
            <a:endParaRPr lang="en-US" sz="2900" dirty="0"/>
          </a:p>
          <a:p>
            <a:r>
              <a:rPr lang="en-US" altLang="en-US" sz="2900" dirty="0" smtClean="0"/>
              <a:t>Items available for review include:</a:t>
            </a:r>
          </a:p>
          <a:p>
            <a:pPr lvl="1"/>
            <a:r>
              <a:rPr lang="en-US" sz="2700" dirty="0" smtClean="0"/>
              <a:t>Attribut</a:t>
            </a:r>
            <a:r>
              <a:rPr lang="en-US" sz="2700" dirty="0" smtClean="0"/>
              <a:t>e Description</a:t>
            </a:r>
            <a:endParaRPr lang="en-US" sz="2700" dirty="0" smtClean="0"/>
          </a:p>
          <a:p>
            <a:pPr lvl="1"/>
            <a:r>
              <a:rPr lang="en-US" sz="2700" dirty="0" smtClean="0"/>
              <a:t>New Prepared Value</a:t>
            </a:r>
          </a:p>
          <a:p>
            <a:pPr lvl="1"/>
            <a:r>
              <a:rPr lang="en-US" sz="2700" dirty="0" smtClean="0"/>
              <a:t>Old Value</a:t>
            </a:r>
            <a:endParaRPr lang="en-US" sz="27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106</a:t>
            </a:fld>
            <a:endParaRPr lang="en-US" altLang="en-US" sz="1600" dirty="0"/>
          </a:p>
        </p:txBody>
      </p:sp>
      <p:sp>
        <p:nvSpPr>
          <p:cNvPr id="7" name="Rectangle 6"/>
          <p:cNvSpPr/>
          <p:nvPr/>
        </p:nvSpPr>
        <p:spPr>
          <a:xfrm>
            <a:off x="9286240" y="3799840"/>
            <a:ext cx="4368800" cy="3324456"/>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12767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000" dirty="0" smtClean="0"/>
              <a:t>Demo </a:t>
            </a:r>
            <a:r>
              <a:rPr lang="en-US" altLang="en-US" sz="4000" dirty="0" smtClean="0"/>
              <a:t>5.21</a:t>
            </a:r>
            <a:r>
              <a:rPr lang="en-US" altLang="en-US" sz="4000" dirty="0" smtClean="0"/>
              <a:t>: Generate an Asset Master Change Report</a:t>
            </a:r>
            <a:endParaRPr lang="en-US" altLang="en-US" sz="4000"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Review the history of changes made to an asset. </a:t>
            </a:r>
            <a:r>
              <a:rPr lang="en-US" altLang="en-US" dirty="0" smtClean="0"/>
              <a:t>Generate an asset master change report and review </a:t>
            </a:r>
            <a:r>
              <a:rPr lang="en-US" altLang="en-US" dirty="0"/>
              <a:t>the </a:t>
            </a:r>
            <a:r>
              <a:rPr lang="en-US" altLang="en-US" dirty="0" smtClean="0"/>
              <a:t>Attribute Description, New Prepared Value, and the Old Value</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S_ALR_87012037</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107</a:t>
            </a:fld>
            <a:endParaRPr lang="en-US" altLang="en-US" sz="1600" dirty="0"/>
          </a:p>
        </p:txBody>
      </p:sp>
    </p:spTree>
    <p:extLst>
      <p:ext uri="{BB962C8B-B14F-4D97-AF65-F5344CB8AC3E}">
        <p14:creationId xmlns:p14="http://schemas.microsoft.com/office/powerpoint/2010/main" val="33708566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142241" y="101482"/>
            <a:ext cx="12442426" cy="624725"/>
          </a:xfrm>
        </p:spPr>
        <p:txBody>
          <a:bodyPr/>
          <a:lstStyle/>
          <a:p>
            <a:r>
              <a:rPr lang="en-US" altLang="en-US" sz="3800" dirty="0"/>
              <a:t>Exercise </a:t>
            </a:r>
            <a:r>
              <a:rPr lang="en-US" altLang="en-US" sz="3800" dirty="0" smtClean="0"/>
              <a:t>5.21</a:t>
            </a:r>
            <a:r>
              <a:rPr lang="en-US" altLang="en-US" sz="3800" dirty="0" smtClean="0"/>
              <a:t>: Generate an Asset Master Change Report</a:t>
            </a:r>
            <a:endParaRPr lang="en-US" altLang="en-US" sz="3800" dirty="0"/>
          </a:p>
        </p:txBody>
      </p:sp>
      <p:sp>
        <p:nvSpPr>
          <p:cNvPr id="69637" name="Rectangle 3"/>
          <p:cNvSpPr>
            <a:spLocks noGrp="1" noChangeArrowheads="1"/>
          </p:cNvSpPr>
          <p:nvPr>
            <p:ph idx="1"/>
          </p:nvPr>
        </p:nvSpPr>
        <p:spPr/>
        <p:txBody>
          <a:bodyPr/>
          <a:lstStyle/>
          <a:p>
            <a:pPr marL="517525" indent="-517525"/>
            <a:r>
              <a:rPr lang="en-US" altLang="en-US" dirty="0"/>
              <a:t>Review the history of changes made to an asset. Generate an asset master change report and review the Attribute Description, New Prepared Value, and the Old Value</a:t>
            </a:r>
            <a:endParaRPr lang="en-US" dirty="0"/>
          </a:p>
          <a:p>
            <a:r>
              <a:rPr lang="en-US" altLang="en-US" dirty="0" smtClean="0"/>
              <a:t>Generate an asset master change report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S_ALR_87012037</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108</a:t>
            </a:fld>
            <a:endParaRPr lang="en-US" altLang="en-US" sz="1600" dirty="0"/>
          </a:p>
        </p:txBody>
      </p:sp>
    </p:spTree>
    <p:extLst>
      <p:ext uri="{BB962C8B-B14F-4D97-AF65-F5344CB8AC3E}">
        <p14:creationId xmlns:p14="http://schemas.microsoft.com/office/powerpoint/2010/main" val="18038907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373121" y="1828800"/>
            <a:ext cx="10370894" cy="5634673"/>
          </a:xfrm>
          <a:prstGeom prst="rect">
            <a:avLst/>
          </a:prstGeom>
        </p:spPr>
      </p:pic>
      <p:sp>
        <p:nvSpPr>
          <p:cNvPr id="64515" name="Rectangle 3"/>
          <p:cNvSpPr>
            <a:spLocks noGrp="1" noChangeArrowheads="1"/>
          </p:cNvSpPr>
          <p:nvPr>
            <p:ph type="title"/>
          </p:nvPr>
        </p:nvSpPr>
        <p:spPr>
          <a:xfrm>
            <a:off x="427719" y="101482"/>
            <a:ext cx="12177267" cy="624725"/>
          </a:xfrm>
        </p:spPr>
        <p:txBody>
          <a:bodyPr/>
          <a:lstStyle/>
          <a:p>
            <a:r>
              <a:rPr lang="en-US" altLang="en-US" dirty="0" smtClean="0"/>
              <a:t>Revaluation Report – T-code: </a:t>
            </a:r>
            <a:r>
              <a:rPr lang="en-US" dirty="0"/>
              <a:t>S_ALR_87010173</a:t>
            </a:r>
            <a:endParaRPr lang="en-US" altLang="en-US" sz="4100" dirty="0"/>
          </a:p>
        </p:txBody>
      </p:sp>
      <p:sp>
        <p:nvSpPr>
          <p:cNvPr id="64516" name="Rectangle 4"/>
          <p:cNvSpPr>
            <a:spLocks noGrp="1" noChangeArrowheads="1"/>
          </p:cNvSpPr>
          <p:nvPr>
            <p:ph idx="1"/>
          </p:nvPr>
        </p:nvSpPr>
        <p:spPr>
          <a:xfrm>
            <a:off x="12700" y="1284869"/>
            <a:ext cx="3611147" cy="5880066"/>
          </a:xfrm>
        </p:spPr>
        <p:txBody>
          <a:bodyPr/>
          <a:lstStyle/>
          <a:p>
            <a:r>
              <a:rPr lang="en-US" sz="2900" dirty="0" smtClean="0"/>
              <a:t>Displays asset revaluation balances as required</a:t>
            </a:r>
            <a:endParaRPr lang="en-US" sz="2900" dirty="0"/>
          </a:p>
          <a:p>
            <a:r>
              <a:rPr lang="en-US" altLang="en-US" sz="2900" dirty="0" smtClean="0"/>
              <a:t>Items available for review include:</a:t>
            </a:r>
          </a:p>
          <a:p>
            <a:pPr lvl="1"/>
            <a:r>
              <a:rPr lang="en-US" sz="2700" dirty="0" smtClean="0"/>
              <a:t>Acquisition</a:t>
            </a:r>
          </a:p>
          <a:p>
            <a:pPr lvl="1"/>
            <a:r>
              <a:rPr lang="en-US" sz="2700" dirty="0" smtClean="0"/>
              <a:t>Revaluation</a:t>
            </a:r>
            <a:endParaRPr lang="en-US" sz="2700" dirty="0"/>
          </a:p>
        </p:txBody>
      </p:sp>
      <p:sp>
        <p:nvSpPr>
          <p:cNvPr id="64514"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B6FE162-D387-498F-AEA6-BD416347918F}" type="slidenum">
              <a:rPr lang="en-US" altLang="en-US" sz="1600" smtClean="0"/>
              <a:pPr/>
              <a:t>109</a:t>
            </a:fld>
            <a:endParaRPr lang="en-US" altLang="en-US" sz="1600" dirty="0"/>
          </a:p>
        </p:txBody>
      </p:sp>
      <p:sp>
        <p:nvSpPr>
          <p:cNvPr id="7" name="Rectangle 6"/>
          <p:cNvSpPr/>
          <p:nvPr/>
        </p:nvSpPr>
        <p:spPr>
          <a:xfrm>
            <a:off x="8371840" y="3108959"/>
            <a:ext cx="4734560" cy="4354513"/>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98029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874"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78616" y="5942179"/>
            <a:ext cx="2538984" cy="1830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Rectangle 3"/>
          <p:cNvSpPr>
            <a:spLocks noGrp="1" noChangeArrowheads="1"/>
          </p:cNvSpPr>
          <p:nvPr>
            <p:ph type="title"/>
          </p:nvPr>
        </p:nvSpPr>
        <p:spPr>
          <a:xfrm>
            <a:off x="151691" y="101482"/>
            <a:ext cx="12493935" cy="624725"/>
          </a:xfrm>
        </p:spPr>
        <p:txBody>
          <a:bodyPr/>
          <a:lstStyle/>
          <a:p>
            <a:r>
              <a:rPr lang="en-US" altLang="en-US" sz="4000" dirty="0" smtClean="0"/>
              <a:t>Demo </a:t>
            </a:r>
            <a:r>
              <a:rPr lang="en-US" altLang="en-US" sz="4000" dirty="0" smtClean="0"/>
              <a:t>5.22</a:t>
            </a:r>
            <a:r>
              <a:rPr lang="en-US" altLang="en-US" sz="4000" dirty="0" smtClean="0"/>
              <a:t>: Generate a Revaluation Report</a:t>
            </a:r>
            <a:endParaRPr lang="en-US" altLang="en-US" sz="4000" dirty="0"/>
          </a:p>
        </p:txBody>
      </p:sp>
      <p:sp>
        <p:nvSpPr>
          <p:cNvPr id="79877" name="Rectangle 4"/>
          <p:cNvSpPr>
            <a:spLocks noGrp="1" noChangeArrowheads="1"/>
          </p:cNvSpPr>
          <p:nvPr>
            <p:ph idx="1"/>
          </p:nvPr>
        </p:nvSpPr>
        <p:spPr/>
        <p:txBody>
          <a:bodyPr lIns="91440" tIns="45720" rIns="91440" bIns="45720" anchor="t">
            <a:normAutofit/>
          </a:bodyPr>
          <a:lstStyle/>
          <a:p>
            <a:pPr marL="517525" indent="-517525"/>
            <a:r>
              <a:rPr lang="en-US" altLang="en-US" dirty="0" smtClean="0"/>
              <a:t>Review the revaluation balances made to an asset. </a:t>
            </a:r>
            <a:r>
              <a:rPr lang="en-US" altLang="en-US" dirty="0" smtClean="0"/>
              <a:t>Generate a revaluation report  and review the Acquisition and Revaluation balances</a:t>
            </a:r>
            <a:endParaRPr lang="en-US" dirty="0"/>
          </a:p>
          <a:p>
            <a:pPr marL="517525" indent="-517525"/>
            <a:r>
              <a:rPr lang="en-US" altLang="en-US" dirty="0"/>
              <a:t>Notes</a:t>
            </a:r>
          </a:p>
          <a:p>
            <a:pPr marL="1122045" lvl="1" indent="-431165"/>
            <a:r>
              <a:rPr lang="en-US" altLang="en-US" dirty="0" smtClean="0">
                <a:latin typeface="Fujitsu Sans"/>
              </a:rPr>
              <a:t>Transaction </a:t>
            </a:r>
            <a:r>
              <a:rPr lang="en-US" altLang="en-US" dirty="0" smtClean="0">
                <a:latin typeface="Fujitsu Sans"/>
              </a:rPr>
              <a:t>Code: </a:t>
            </a:r>
            <a:r>
              <a:rPr lang="en-US" dirty="0"/>
              <a:t>S_ALR_87010173</a:t>
            </a:r>
            <a:endParaRPr lang="en-US" altLang="en-US" dirty="0"/>
          </a:p>
        </p:txBody>
      </p:sp>
      <p:sp>
        <p:nvSpPr>
          <p:cNvPr id="79875"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5D56DF02-B972-47C9-B00D-779435B411F7}" type="slidenum">
              <a:rPr lang="en-US" altLang="en-US" sz="1600" smtClean="0"/>
              <a:pPr/>
              <a:t>110</a:t>
            </a:fld>
            <a:endParaRPr lang="en-US" altLang="en-US" sz="1600" dirty="0"/>
          </a:p>
        </p:txBody>
      </p:sp>
    </p:spTree>
    <p:extLst>
      <p:ext uri="{BB962C8B-B14F-4D97-AF65-F5344CB8AC3E}">
        <p14:creationId xmlns:p14="http://schemas.microsoft.com/office/powerpoint/2010/main" val="10274022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4" name="Picture 2" descr="MPj04225930000[1]"/>
          <p:cNvPicPr>
            <a:picLocks noChangeAspect="1" noChangeArrowheads="1"/>
          </p:cNvPicPr>
          <p:nvPr/>
        </p:nvPicPr>
        <p:blipFill>
          <a:blip r:embed="rId3">
            <a:lum bright="54000" contrast="-66000"/>
            <a:extLst>
              <a:ext uri="{28A0092B-C50C-407E-A947-70E740481C1C}">
                <a14:useLocalDpi xmlns:a14="http://schemas.microsoft.com/office/drawing/2010/main" val="0"/>
              </a:ext>
            </a:extLst>
          </a:blip>
          <a:srcRect/>
          <a:stretch>
            <a:fillRect/>
          </a:stretch>
        </p:blipFill>
        <p:spPr bwMode="auto">
          <a:xfrm>
            <a:off x="11493077" y="6187335"/>
            <a:ext cx="2324523" cy="15850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Rectangle 2"/>
          <p:cNvSpPr>
            <a:spLocks noGrp="1" noChangeArrowheads="1"/>
          </p:cNvSpPr>
          <p:nvPr>
            <p:ph type="title"/>
          </p:nvPr>
        </p:nvSpPr>
        <p:spPr>
          <a:xfrm>
            <a:off x="142241" y="101482"/>
            <a:ext cx="12442426" cy="624725"/>
          </a:xfrm>
        </p:spPr>
        <p:txBody>
          <a:bodyPr/>
          <a:lstStyle/>
          <a:p>
            <a:r>
              <a:rPr lang="en-US" altLang="en-US" sz="3800" dirty="0"/>
              <a:t>Exercise </a:t>
            </a:r>
            <a:r>
              <a:rPr lang="en-US" altLang="en-US" sz="3800" dirty="0" smtClean="0"/>
              <a:t>5.22</a:t>
            </a:r>
            <a:r>
              <a:rPr lang="en-US" altLang="en-US" sz="3800" dirty="0" smtClean="0"/>
              <a:t>: Generate a Revaluation Report</a:t>
            </a:r>
            <a:endParaRPr lang="en-US" altLang="en-US" sz="3800" dirty="0"/>
          </a:p>
        </p:txBody>
      </p:sp>
      <p:sp>
        <p:nvSpPr>
          <p:cNvPr id="69637" name="Rectangle 3"/>
          <p:cNvSpPr>
            <a:spLocks noGrp="1" noChangeArrowheads="1"/>
          </p:cNvSpPr>
          <p:nvPr>
            <p:ph idx="1"/>
          </p:nvPr>
        </p:nvSpPr>
        <p:spPr/>
        <p:txBody>
          <a:bodyPr/>
          <a:lstStyle/>
          <a:p>
            <a:pPr marL="517525" indent="-517525"/>
            <a:r>
              <a:rPr lang="en-US" altLang="en-US" dirty="0"/>
              <a:t>Review the revaluation balances made to an asset. Generate a revaluation report  and review the Acquisition and Revaluation balances</a:t>
            </a:r>
            <a:endParaRPr lang="en-US" dirty="0"/>
          </a:p>
          <a:p>
            <a:r>
              <a:rPr lang="en-US" altLang="en-US" dirty="0" smtClean="0"/>
              <a:t>Generate a revaluation report</a:t>
            </a:r>
          </a:p>
          <a:p>
            <a:r>
              <a:rPr lang="en-US" altLang="en-US" dirty="0" smtClean="0"/>
              <a:t>Notes</a:t>
            </a:r>
            <a:endParaRPr lang="en-US" altLang="en-US" dirty="0"/>
          </a:p>
          <a:p>
            <a:pPr marL="1122045" lvl="1" indent="-431165"/>
            <a:r>
              <a:rPr lang="en-US" altLang="en-US" dirty="0" smtClean="0"/>
              <a:t>Transaction Code</a:t>
            </a:r>
            <a:r>
              <a:rPr lang="en-US" altLang="en-US" dirty="0"/>
              <a:t>: </a:t>
            </a:r>
            <a:r>
              <a:rPr lang="en-US" dirty="0"/>
              <a:t>S_ALR_87010173</a:t>
            </a:r>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0C94C66-C52E-487D-82B9-B896A1AB6338}" type="slidenum">
              <a:rPr lang="en-US" altLang="en-US" sz="1600" smtClean="0"/>
              <a:pPr/>
              <a:t>111</a:t>
            </a:fld>
            <a:endParaRPr lang="en-US" altLang="en-US" sz="1600" dirty="0"/>
          </a:p>
        </p:txBody>
      </p:sp>
    </p:spTree>
    <p:extLst>
      <p:ext uri="{BB962C8B-B14F-4D97-AF65-F5344CB8AC3E}">
        <p14:creationId xmlns:p14="http://schemas.microsoft.com/office/powerpoint/2010/main" val="364767336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93830" y="6152110"/>
            <a:ext cx="2223770"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Rectangle 2"/>
          <p:cNvSpPr>
            <a:spLocks noGrp="1" noChangeArrowheads="1"/>
          </p:cNvSpPr>
          <p:nvPr>
            <p:ph type="title"/>
          </p:nvPr>
        </p:nvSpPr>
        <p:spPr/>
        <p:txBody>
          <a:bodyPr/>
          <a:lstStyle/>
          <a:p>
            <a:r>
              <a:rPr lang="en-US" altLang="en-US" dirty="0"/>
              <a:t>Unit 5, # 1</a:t>
            </a:r>
          </a:p>
        </p:txBody>
      </p:sp>
      <p:sp>
        <p:nvSpPr>
          <p:cNvPr id="73733" name="Rectangle 3"/>
          <p:cNvSpPr>
            <a:spLocks noGrp="1" noChangeArrowheads="1"/>
          </p:cNvSpPr>
          <p:nvPr>
            <p:ph idx="1"/>
          </p:nvPr>
        </p:nvSpPr>
        <p:spPr/>
        <p:txBody>
          <a:bodyPr lIns="91440" tIns="45720" rIns="91440" bIns="45720" anchor="t"/>
          <a:lstStyle/>
          <a:p>
            <a:pPr marL="517525" indent="-517525"/>
            <a:r>
              <a:rPr lang="en-US" altLang="en-US" dirty="0">
                <a:latin typeface="Fujitsu Sans"/>
              </a:rPr>
              <a:t>What does generating </a:t>
            </a:r>
            <a:r>
              <a:rPr lang="en-US" altLang="en-US" dirty="0" smtClean="0">
                <a:latin typeface="Fujitsu Sans"/>
              </a:rPr>
              <a:t>asset balance report allow </a:t>
            </a:r>
            <a:r>
              <a:rPr lang="en-US" altLang="en-US" dirty="0">
                <a:latin typeface="Fujitsu Sans"/>
              </a:rPr>
              <a:t>you to understand regarding an asset?</a:t>
            </a:r>
            <a:endParaRPr lang="en-US" altLang="en-US" dirty="0"/>
          </a:p>
          <a:p>
            <a:pPr marL="517525" indent="-517525"/>
            <a:endParaRPr lang="en-US" altLang="en-US" dirty="0"/>
          </a:p>
          <a:p>
            <a:pPr marL="517525" indent="-517525"/>
            <a:endParaRPr lang="en-US" altLang="en-US" dirty="0"/>
          </a:p>
        </p:txBody>
      </p:sp>
      <p:sp>
        <p:nvSpPr>
          <p:cNvPr id="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DC67485-719C-460B-BE50-F908EA1276DE}" type="slidenum">
              <a:rPr lang="en-US" altLang="en-US" sz="1600" smtClean="0"/>
              <a:pPr/>
              <a:t>112</a:t>
            </a:fld>
            <a:endParaRPr lang="en-US" altLang="en-US" sz="1600" dirty="0"/>
          </a:p>
        </p:txBody>
      </p:sp>
    </p:spTree>
    <p:extLst>
      <p:ext uri="{BB962C8B-B14F-4D97-AF65-F5344CB8AC3E}">
        <p14:creationId xmlns:p14="http://schemas.microsoft.com/office/powerpoint/2010/main" val="15749917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type="title"/>
          </p:nvPr>
        </p:nvSpPr>
        <p:spPr/>
        <p:txBody>
          <a:bodyPr/>
          <a:lstStyle/>
          <a:p>
            <a:r>
              <a:rPr lang="en-US" altLang="en-US" dirty="0"/>
              <a:t>Unit 5, # 1</a:t>
            </a:r>
          </a:p>
        </p:txBody>
      </p:sp>
      <p:sp>
        <p:nvSpPr>
          <p:cNvPr id="45060" name="Rectangle 4"/>
          <p:cNvSpPr>
            <a:spLocks noGrp="1" noChangeArrowheads="1"/>
          </p:cNvSpPr>
          <p:nvPr>
            <p:ph idx="1"/>
          </p:nvPr>
        </p:nvSpPr>
        <p:spPr/>
        <p:txBody>
          <a:bodyPr lIns="91440" tIns="45720" rIns="91440" bIns="45720" anchor="t"/>
          <a:lstStyle/>
          <a:p>
            <a:pPr marL="517525" indent="-517525"/>
            <a:r>
              <a:rPr lang="en-US" altLang="en-US" dirty="0">
                <a:latin typeface="Fujitsu Sans"/>
              </a:rPr>
              <a:t>What does generating </a:t>
            </a:r>
            <a:r>
              <a:rPr lang="en-US" altLang="en-US" dirty="0" smtClean="0">
                <a:latin typeface="Fujitsu Sans"/>
              </a:rPr>
              <a:t>an asset balance</a:t>
            </a:r>
            <a:r>
              <a:rPr lang="en-US" altLang="en-US" dirty="0" smtClean="0">
                <a:latin typeface="Fujitsu Sans"/>
              </a:rPr>
              <a:t> </a:t>
            </a:r>
            <a:r>
              <a:rPr lang="en-US" altLang="en-US" dirty="0">
                <a:latin typeface="Fujitsu Sans"/>
              </a:rPr>
              <a:t>report allow you to understand regarding an asset?</a:t>
            </a:r>
            <a:endParaRPr lang="en-US" altLang="en-US" dirty="0"/>
          </a:p>
          <a:p>
            <a:pPr marL="517525" indent="-517525"/>
            <a:endParaRPr lang="en-US" altLang="en-US" dirty="0"/>
          </a:p>
          <a:p>
            <a:pPr lvl="1"/>
            <a:r>
              <a:rPr lang="en-US" i="1" dirty="0">
                <a:solidFill>
                  <a:srgbClr val="FF0000"/>
                </a:solidFill>
                <a:latin typeface="Fujitsu Sans"/>
              </a:rPr>
              <a:t>It enables you to understand the netbook value of fixed assets derived from acquisition and production costs (APC) and depreciation</a:t>
            </a:r>
          </a:p>
          <a:p>
            <a:pPr lvl="1"/>
            <a:endParaRPr lang="en-US" i="1" dirty="0">
              <a:solidFill>
                <a:srgbClr val="FF0000"/>
              </a:solidFill>
              <a:latin typeface="Fujitsu Sans"/>
            </a:endParaRPr>
          </a:p>
          <a:p>
            <a:pPr marL="690245" lvl="1" indent="0">
              <a:buNone/>
            </a:pPr>
            <a:r>
              <a:rPr lang="en-US" altLang="en-US" dirty="0"/>
              <a:t>	</a:t>
            </a:r>
          </a:p>
        </p:txBody>
      </p:sp>
      <p:sp>
        <p:nvSpPr>
          <p:cNvPr id="62466" name="Slide Number Placeholder 3"/>
          <p:cNvSpPr>
            <a:spLocks noGrp="1"/>
          </p:cNvSpPr>
          <p:nvPr>
            <p:ph type="sldNum" sz="quarter" idx="4294967295"/>
          </p:nvPr>
        </p:nvSpPr>
        <p:spPr>
          <a:xfrm>
            <a:off x="41124" y="-10281"/>
            <a:ext cx="0" cy="0"/>
          </a:xfrm>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B130D220-9093-409D-9FE0-EFE0B999B6BA}" type="slidenum">
              <a:rPr lang="en-US" altLang="en-US" sz="1600" smtClean="0"/>
              <a:pPr/>
              <a:t>113</a:t>
            </a:fld>
            <a:endParaRPr lang="en-US" altLang="en-US" sz="1600" dirty="0"/>
          </a:p>
        </p:txBody>
      </p:sp>
    </p:spTree>
    <p:extLst>
      <p:ext uri="{BB962C8B-B14F-4D97-AF65-F5344CB8AC3E}">
        <p14:creationId xmlns:p14="http://schemas.microsoft.com/office/powerpoint/2010/main" val="22819383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5" descr="MCj04415100000[1]"/>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11957983" y="5924070"/>
            <a:ext cx="1859619" cy="185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Rectangle 3"/>
          <p:cNvSpPr>
            <a:spLocks noGrp="1" noChangeArrowheads="1"/>
          </p:cNvSpPr>
          <p:nvPr>
            <p:ph type="title"/>
          </p:nvPr>
        </p:nvSpPr>
        <p:spPr/>
        <p:txBody>
          <a:bodyPr/>
          <a:lstStyle/>
          <a:p>
            <a:r>
              <a:rPr lang="en-US" altLang="en-US" dirty="0"/>
              <a:t>5</a:t>
            </a:r>
          </a:p>
        </p:txBody>
      </p:sp>
      <p:sp>
        <p:nvSpPr>
          <p:cNvPr id="77829"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Generate </a:t>
            </a:r>
            <a:r>
              <a:rPr lang="en-US" altLang="en-US" dirty="0" smtClean="0"/>
              <a:t>fixed assets </a:t>
            </a:r>
            <a:r>
              <a:rPr lang="en-US" altLang="en-US" dirty="0"/>
              <a:t>r</a:t>
            </a:r>
            <a:r>
              <a:rPr lang="en-US" altLang="en-US" dirty="0" smtClean="0"/>
              <a:t>eports</a:t>
            </a:r>
            <a:endParaRPr lang="en-US" altLang="en-US" dirty="0"/>
          </a:p>
          <a:p>
            <a:pPr marL="0" indent="0">
              <a:buNone/>
            </a:pPr>
            <a:endParaRPr lang="en-US" altLang="en-US" dirty="0"/>
          </a:p>
        </p:txBody>
      </p:sp>
      <p:sp>
        <p:nvSpPr>
          <p:cNvPr id="77827"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64D916E-780F-4F36-9EEA-B0E6C110BE23}" type="slidenum">
              <a:rPr lang="en-US" altLang="en-US" sz="1600" smtClean="0"/>
              <a:pPr/>
              <a:t>114</a:t>
            </a:fld>
            <a:endParaRPr lang="en-US" altLang="en-US" sz="1600" dirty="0"/>
          </a:p>
        </p:txBody>
      </p:sp>
    </p:spTree>
    <p:extLst>
      <p:ext uri="{BB962C8B-B14F-4D97-AF65-F5344CB8AC3E}">
        <p14:creationId xmlns:p14="http://schemas.microsoft.com/office/powerpoint/2010/main" val="25412688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750A293A-6492-4A1F-A0D4-05E445FB280C}" type="slidenum">
              <a:rPr lang="en-US" altLang="en-US" sz="1600" smtClean="0"/>
              <a:pPr/>
              <a:t>115</a:t>
            </a:fld>
            <a:endParaRPr lang="en-US" altLang="en-US" sz="1600" dirty="0"/>
          </a:p>
        </p:txBody>
      </p:sp>
    </p:spTree>
    <p:extLst>
      <p:ext uri="{BB962C8B-B14F-4D97-AF65-F5344CB8AC3E}">
        <p14:creationId xmlns:p14="http://schemas.microsoft.com/office/powerpoint/2010/main" val="309314495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3"/>
          <p:cNvSpPr>
            <a:spLocks noGrp="1" noChangeArrowheads="1"/>
          </p:cNvSpPr>
          <p:nvPr>
            <p:ph type="title"/>
          </p:nvPr>
        </p:nvSpPr>
        <p:spPr/>
        <p:txBody>
          <a:bodyPr/>
          <a:lstStyle/>
          <a:p>
            <a:r>
              <a:rPr lang="en-US" altLang="en-US" dirty="0"/>
              <a:t>Agenda</a:t>
            </a:r>
          </a:p>
        </p:txBody>
      </p:sp>
      <p:sp>
        <p:nvSpPr>
          <p:cNvPr id="38917" name="Rectangle 4"/>
          <p:cNvSpPr>
            <a:spLocks noGrp="1" noChangeArrowheads="1"/>
          </p:cNvSpPr>
          <p:nvPr>
            <p:ph idx="1"/>
          </p:nvPr>
        </p:nvSpPr>
        <p:spPr/>
        <p:txBody>
          <a:bodyPr/>
          <a:lstStyle/>
          <a:p>
            <a:r>
              <a:rPr lang="en-US" altLang="en-US" dirty="0"/>
              <a:t>Unit 1 – Introduction – Fixed Assets (20 mins) </a:t>
            </a:r>
          </a:p>
          <a:p>
            <a:r>
              <a:rPr lang="en-US" altLang="en-US" dirty="0"/>
              <a:t>Unit 2 – Creating/Editing Assets (60 mins)</a:t>
            </a:r>
          </a:p>
          <a:p>
            <a:r>
              <a:rPr lang="en-US" altLang="en-US" dirty="0"/>
              <a:t>Unit 3 – Processing Asset Transfers (60 mins)</a:t>
            </a:r>
          </a:p>
          <a:p>
            <a:r>
              <a:rPr lang="en-US" altLang="en-US" dirty="0"/>
              <a:t>Unit 4 – Depreciating an Asset (110 mins)</a:t>
            </a:r>
          </a:p>
          <a:p>
            <a:r>
              <a:rPr lang="en-US" altLang="en-US" dirty="0"/>
              <a:t>Unit 5 – Generating an Asset Report (30 mins)</a:t>
            </a:r>
          </a:p>
          <a:p>
            <a:r>
              <a:rPr lang="en-US" altLang="en-US" dirty="0"/>
              <a:t>Unit 6 – Summary (10 mins)</a:t>
            </a:r>
          </a:p>
        </p:txBody>
      </p:sp>
      <p:sp>
        <p:nvSpPr>
          <p:cNvPr id="9"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0DC3236A-0750-4F69-BC22-0115EAA85BF4}" type="slidenum">
              <a:rPr lang="en-US" altLang="en-US" sz="1600" smtClean="0"/>
              <a:pPr/>
              <a:t>116</a:t>
            </a:fld>
            <a:endParaRPr lang="en-US" altLang="en-US" sz="1600" dirty="0"/>
          </a:p>
        </p:txBody>
      </p:sp>
      <p:sp>
        <p:nvSpPr>
          <p:cNvPr id="13" name="Rectangle 12"/>
          <p:cNvSpPr>
            <a:spLocks noChangeArrowheads="1"/>
          </p:cNvSpPr>
          <p:nvPr/>
        </p:nvSpPr>
        <p:spPr bwMode="auto">
          <a:xfrm>
            <a:off x="389791" y="4377065"/>
            <a:ext cx="6620609" cy="640412"/>
          </a:xfrm>
          <a:prstGeom prst="rect">
            <a:avLst/>
          </a:prstGeom>
          <a:noFill/>
          <a:ln w="28575">
            <a:solidFill>
              <a:srgbClr val="FF000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a:lnSpc>
                <a:spcPct val="90000"/>
              </a:lnSpc>
              <a:spcBef>
                <a:spcPct val="50000"/>
              </a:spcBef>
              <a:buClr>
                <a:srgbClr val="867366"/>
              </a:buClr>
              <a:buSzPct val="85000"/>
              <a:buFont typeface="Wingdings" panose="05000000000000000000" pitchFamily="2" charset="2"/>
              <a:defRPr sz="2400" b="1">
                <a:solidFill>
                  <a:schemeClr val="tx1"/>
                </a:solidFill>
                <a:latin typeface="Arial" panose="020B0604020202020204" pitchFamily="34" charset="0"/>
              </a:defRPr>
            </a:lvl1pPr>
            <a:lvl2pPr indent="-342900" defTabSz="762000">
              <a:lnSpc>
                <a:spcPct val="90000"/>
              </a:lnSpc>
              <a:spcBef>
                <a:spcPct val="50000"/>
              </a:spcBef>
              <a:buClr>
                <a:srgbClr val="FF0000"/>
              </a:buClr>
              <a:buSzPct val="120000"/>
              <a:buFont typeface="Wingdings" panose="05000000000000000000" pitchFamily="2" charset="2"/>
              <a:buChar char="q"/>
              <a:defRPr sz="2000" b="1">
                <a:solidFill>
                  <a:schemeClr val="tx1"/>
                </a:solidFill>
                <a:latin typeface="Arial" panose="020B0604020202020204" pitchFamily="34" charset="0"/>
              </a:defRPr>
            </a:lvl2pPr>
            <a:lvl3pPr marL="857250" indent="-285750" defTabSz="762000">
              <a:lnSpc>
                <a:spcPct val="90000"/>
              </a:lnSpc>
              <a:spcBef>
                <a:spcPct val="20000"/>
              </a:spcBef>
              <a:buClr>
                <a:srgbClr val="867366"/>
              </a:buClr>
              <a:buSzPct val="120000"/>
              <a:buFont typeface="Wingdings" panose="05000000000000000000" pitchFamily="2" charset="2"/>
              <a:buChar char="§"/>
              <a:defRPr b="1">
                <a:solidFill>
                  <a:schemeClr val="tx1"/>
                </a:solidFill>
                <a:latin typeface="Arial" panose="020B0604020202020204" pitchFamily="34" charset="0"/>
              </a:defRPr>
            </a:lvl3pPr>
            <a:lvl4pPr marL="1187450" indent="-215900" defTabSz="762000">
              <a:lnSpc>
                <a:spcPct val="90000"/>
              </a:lnSpc>
              <a:spcBef>
                <a:spcPct val="20000"/>
              </a:spcBef>
              <a:buClr>
                <a:schemeClr val="tx1"/>
              </a:buClr>
              <a:buSzPct val="70000"/>
              <a:buFont typeface="Wingdings" panose="05000000000000000000" pitchFamily="2" charset="2"/>
              <a:buChar char="o"/>
              <a:defRPr sz="1600" b="1">
                <a:solidFill>
                  <a:schemeClr val="tx1"/>
                </a:solidFill>
                <a:latin typeface="Arial" panose="020B0604020202020204" pitchFamily="34" charset="0"/>
              </a:defRPr>
            </a:lvl4pPr>
            <a:lvl5pPr marL="2057400" indent="-228600" defTabSz="762000">
              <a:spcBef>
                <a:spcPct val="20000"/>
              </a:spcBef>
              <a:buSzPct val="80000"/>
              <a:buChar char="•"/>
              <a:defRPr>
                <a:solidFill>
                  <a:schemeClr val="tx1"/>
                </a:solidFill>
                <a:latin typeface="Arial" panose="020B0604020202020204" pitchFamily="34" charset="0"/>
              </a:defRPr>
            </a:lvl5pPr>
            <a:lvl6pPr marL="25146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6pPr>
            <a:lvl7pPr marL="29718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7pPr>
            <a:lvl8pPr marL="34290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8pPr>
            <a:lvl9pPr marL="3886200" indent="-228600" defTabSz="762000" eaLnBrk="0" fontAlgn="base" hangingPunct="0">
              <a:spcBef>
                <a:spcPct val="20000"/>
              </a:spcBef>
              <a:spcAft>
                <a:spcPct val="0"/>
              </a:spcAft>
              <a:buSzPct val="80000"/>
              <a:buChar char="•"/>
              <a:defRPr>
                <a:solidFill>
                  <a:schemeClr val="tx1"/>
                </a:solidFill>
                <a:latin typeface="Arial" panose="020B0604020202020204" pitchFamily="34" charset="0"/>
              </a:defRPr>
            </a:lvl9pPr>
          </a:lstStyle>
          <a:p>
            <a:pPr algn="ctr">
              <a:lnSpc>
                <a:spcPct val="100000"/>
              </a:lnSpc>
              <a:spcBef>
                <a:spcPct val="0"/>
              </a:spcBef>
              <a:buClrTx/>
              <a:buSzTx/>
              <a:buFontTx/>
              <a:buNone/>
            </a:pPr>
            <a:endParaRPr lang="en-US" altLang="en-US" sz="3200" b="0" dirty="0">
              <a:solidFill>
                <a:schemeClr val="accent1"/>
              </a:solidFill>
            </a:endParaRPr>
          </a:p>
        </p:txBody>
      </p:sp>
    </p:spTree>
    <p:extLst>
      <p:ext uri="{BB962C8B-B14F-4D97-AF65-F5344CB8AC3E}">
        <p14:creationId xmlns:p14="http://schemas.microsoft.com/office/powerpoint/2010/main" val="170041114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Key Points</a:t>
            </a:r>
          </a:p>
        </p:txBody>
      </p:sp>
      <p:sp>
        <p:nvSpPr>
          <p:cNvPr id="3" name="Content Placeholder 2"/>
          <p:cNvSpPr>
            <a:spLocks noGrp="1"/>
          </p:cNvSpPr>
          <p:nvPr>
            <p:ph idx="1"/>
          </p:nvPr>
        </p:nvSpPr>
        <p:spPr/>
        <p:txBody>
          <a:bodyPr/>
          <a:lstStyle/>
          <a:p>
            <a:pPr lvl="1"/>
            <a:r>
              <a:rPr lang="en-US" sz="3400" dirty="0" smtClean="0"/>
              <a:t>A </a:t>
            </a:r>
            <a:r>
              <a:rPr lang="en-US" sz="3400" dirty="0"/>
              <a:t>Fixed Asset is a long-term tangible piece of property that FAI owns and/or leases and is not expected to be consumed or converted into cash in the near future</a:t>
            </a:r>
          </a:p>
          <a:p>
            <a:pPr lvl="1"/>
            <a:r>
              <a:rPr lang="en-US" sz="3400" dirty="0"/>
              <a:t>Asset Management Lifecycle consists of:</a:t>
            </a:r>
          </a:p>
          <a:p>
            <a:pPr lvl="2"/>
            <a:r>
              <a:rPr lang="en-US" sz="3200" dirty="0"/>
              <a:t>Procuring Assets</a:t>
            </a:r>
          </a:p>
          <a:p>
            <a:pPr lvl="2"/>
            <a:r>
              <a:rPr lang="en-US" sz="3200" dirty="0"/>
              <a:t>Registering Assets</a:t>
            </a:r>
          </a:p>
          <a:p>
            <a:pPr lvl="2"/>
            <a:r>
              <a:rPr lang="en-US" sz="3200" dirty="0"/>
              <a:t>Adjusting Assets</a:t>
            </a:r>
          </a:p>
          <a:p>
            <a:pPr lvl="2"/>
            <a:r>
              <a:rPr lang="en-US" sz="3200" dirty="0"/>
              <a:t>Transferring Assets</a:t>
            </a:r>
          </a:p>
          <a:p>
            <a:pPr lvl="2"/>
            <a:r>
              <a:rPr lang="en-US" sz="3200" dirty="0"/>
              <a:t>Depreciating Assets</a:t>
            </a:r>
          </a:p>
          <a:p>
            <a:pPr lvl="2"/>
            <a:r>
              <a:rPr lang="en-US" sz="3200" dirty="0"/>
              <a:t>Disposing Assets</a:t>
            </a:r>
          </a:p>
        </p:txBody>
      </p:sp>
    </p:spTree>
    <p:extLst>
      <p:ext uri="{BB962C8B-B14F-4D97-AF65-F5344CB8AC3E}">
        <p14:creationId xmlns:p14="http://schemas.microsoft.com/office/powerpoint/2010/main" val="13336423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Key Points (Cont.)</a:t>
            </a:r>
          </a:p>
        </p:txBody>
      </p:sp>
      <p:sp>
        <p:nvSpPr>
          <p:cNvPr id="3" name="Content Placeholder 2"/>
          <p:cNvSpPr>
            <a:spLocks noGrp="1"/>
          </p:cNvSpPr>
          <p:nvPr>
            <p:ph idx="1"/>
          </p:nvPr>
        </p:nvSpPr>
        <p:spPr/>
        <p:txBody>
          <a:bodyPr/>
          <a:lstStyle/>
          <a:p>
            <a:pPr lvl="1"/>
            <a:r>
              <a:rPr lang="en-US" dirty="0" smtClean="0"/>
              <a:t>Master </a:t>
            </a:r>
            <a:r>
              <a:rPr lang="en-US" dirty="0"/>
              <a:t>data does not change frequently</a:t>
            </a:r>
          </a:p>
          <a:p>
            <a:pPr lvl="1"/>
            <a:r>
              <a:rPr lang="en-US" dirty="0"/>
              <a:t>Revaluation of fixed assets is the process of increasing or decreasing their carrying value in case of major changes in fair market value of the fixed asset </a:t>
            </a:r>
          </a:p>
          <a:p>
            <a:pPr lvl="1"/>
            <a:r>
              <a:rPr lang="en-US" dirty="0"/>
              <a:t>Transfers from one fixed asset to another within the same company code can be carried out in one step using </a:t>
            </a:r>
            <a:r>
              <a:rPr lang="en-US" dirty="0" smtClean="0"/>
              <a:t>transaction code</a:t>
            </a:r>
            <a:r>
              <a:rPr lang="en-US" dirty="0"/>
              <a:t>: ABT1N</a:t>
            </a:r>
          </a:p>
          <a:p>
            <a:pPr lvl="1"/>
            <a:r>
              <a:rPr lang="en-US" altLang="en-US" dirty="0"/>
              <a:t>A master record must exist </a:t>
            </a:r>
            <a:r>
              <a:rPr lang="en-US" altLang="en-US" dirty="0" smtClean="0"/>
              <a:t>prior </a:t>
            </a:r>
            <a:r>
              <a:rPr lang="en-US" altLang="en-US" dirty="0"/>
              <a:t>to processing the transfer</a:t>
            </a:r>
          </a:p>
          <a:p>
            <a:pPr lvl="1"/>
            <a:r>
              <a:rPr lang="en-US" dirty="0"/>
              <a:t>An intercompany transfer represents a retirement for one company and an acquisition for the other</a:t>
            </a:r>
          </a:p>
          <a:p>
            <a:pPr lvl="1"/>
            <a:endParaRPr lang="en-US" altLang="en-US" dirty="0"/>
          </a:p>
          <a:p>
            <a:pPr lvl="1"/>
            <a:endParaRPr 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14072039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Key Points (Cont.)</a:t>
            </a:r>
          </a:p>
        </p:txBody>
      </p:sp>
      <p:sp>
        <p:nvSpPr>
          <p:cNvPr id="3" name="Content Placeholder 2"/>
          <p:cNvSpPr>
            <a:spLocks noGrp="1"/>
          </p:cNvSpPr>
          <p:nvPr>
            <p:ph idx="1"/>
          </p:nvPr>
        </p:nvSpPr>
        <p:spPr/>
        <p:txBody>
          <a:bodyPr/>
          <a:lstStyle/>
          <a:p>
            <a:pPr lvl="1"/>
            <a:r>
              <a:rPr lang="en-US" sz="3400" dirty="0" smtClean="0"/>
              <a:t>Possible </a:t>
            </a:r>
            <a:r>
              <a:rPr lang="en-US" sz="3400" dirty="0"/>
              <a:t>roadblock to manual depreciation is if postings exist against the asset. Manual depreciation cannot be completed with existing postings</a:t>
            </a:r>
          </a:p>
          <a:p>
            <a:pPr lvl="1"/>
            <a:r>
              <a:rPr lang="en-US" sz="3400" dirty="0"/>
              <a:t>The depreciation run is a periodic processing program in asset accounting that posts planned depreciation to all relevant assets</a:t>
            </a:r>
          </a:p>
          <a:p>
            <a:pPr lvl="1"/>
            <a:r>
              <a:rPr lang="en-US" sz="3400" dirty="0"/>
              <a:t>Determination for complete/partial retirement based on</a:t>
            </a:r>
          </a:p>
          <a:p>
            <a:pPr lvl="2"/>
            <a:r>
              <a:rPr lang="en-US" sz="3200" dirty="0"/>
              <a:t>Retirement dates entered</a:t>
            </a:r>
          </a:p>
          <a:p>
            <a:pPr lvl="2"/>
            <a:r>
              <a:rPr lang="en-US" sz="3200" dirty="0"/>
              <a:t>The amounts to be charged off for each depreciation area</a:t>
            </a:r>
          </a:p>
          <a:p>
            <a:pPr lvl="1"/>
            <a:endParaRPr lang="en-US" dirty="0"/>
          </a:p>
          <a:p>
            <a:pPr lvl="1"/>
            <a:endParaRPr lang="en-US" dirty="0"/>
          </a:p>
          <a:p>
            <a:pPr lvl="1"/>
            <a:endParaRPr lang="en-US" dirty="0"/>
          </a:p>
          <a:p>
            <a:pPr lvl="1"/>
            <a:endParaRPr lang="en-US" altLang="en-US" dirty="0"/>
          </a:p>
          <a:p>
            <a:pPr lvl="1"/>
            <a:endParaRPr lang="en-US" dirty="0"/>
          </a:p>
          <a:p>
            <a:pPr lvl="1"/>
            <a:endParaRPr lang="en-US" dirty="0"/>
          </a:p>
          <a:p>
            <a:pPr lvl="1"/>
            <a:endParaRPr lang="en-US" dirty="0"/>
          </a:p>
        </p:txBody>
      </p:sp>
    </p:spTree>
    <p:extLst>
      <p:ext uri="{BB962C8B-B14F-4D97-AF65-F5344CB8AC3E}">
        <p14:creationId xmlns:p14="http://schemas.microsoft.com/office/powerpoint/2010/main" val="3137818395"/>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4" name="Rectangle 3"/>
          <p:cNvSpPr>
            <a:spLocks noGrp="1" noChangeArrowheads="1"/>
          </p:cNvSpPr>
          <p:nvPr>
            <p:ph type="title"/>
          </p:nvPr>
        </p:nvSpPr>
        <p:spPr/>
        <p:txBody>
          <a:bodyPr/>
          <a:lstStyle/>
          <a:p>
            <a:r>
              <a:rPr lang="en-US" altLang="en-US" dirty="0"/>
              <a:t>Course Summary</a:t>
            </a:r>
          </a:p>
        </p:txBody>
      </p:sp>
      <p:sp>
        <p:nvSpPr>
          <p:cNvPr id="92165" name="Rectangle 4"/>
          <p:cNvSpPr>
            <a:spLocks noGrp="1" noChangeArrowheads="1"/>
          </p:cNvSpPr>
          <p:nvPr>
            <p:ph idx="1"/>
          </p:nvPr>
        </p:nvSpPr>
        <p:spPr/>
        <p:txBody>
          <a:bodyPr/>
          <a:lstStyle/>
          <a:p>
            <a:pPr marL="0" indent="0">
              <a:buNone/>
            </a:pPr>
            <a:r>
              <a:rPr lang="en-US" altLang="en-US" dirty="0"/>
              <a:t>You should now be able to:</a:t>
            </a:r>
          </a:p>
          <a:p>
            <a:r>
              <a:rPr lang="en-US" altLang="en-US" dirty="0"/>
              <a:t>Describe the fixed assets process</a:t>
            </a:r>
          </a:p>
          <a:p>
            <a:r>
              <a:rPr lang="en-US" altLang="en-US" dirty="0"/>
              <a:t>Create Asset Master Data</a:t>
            </a:r>
          </a:p>
          <a:p>
            <a:r>
              <a:rPr lang="en-US" altLang="en-US" dirty="0"/>
              <a:t>Process different types of transfers</a:t>
            </a:r>
          </a:p>
          <a:p>
            <a:r>
              <a:rPr lang="en-US" altLang="en-US" dirty="0"/>
              <a:t>Perform the various methods for depreciating assets</a:t>
            </a:r>
          </a:p>
          <a:p>
            <a:r>
              <a:rPr lang="en-US" altLang="en-US" dirty="0"/>
              <a:t>Generate </a:t>
            </a:r>
            <a:r>
              <a:rPr lang="en-US" altLang="en-US" dirty="0" smtClean="0"/>
              <a:t>fixed assets reports</a:t>
            </a:r>
            <a:endParaRPr lang="en-US" altLang="en-US" dirty="0"/>
          </a:p>
        </p:txBody>
      </p:sp>
      <p:sp>
        <p:nvSpPr>
          <p:cNvPr id="92163"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1FD34F68-3957-42CF-922E-A1857DB71FED}" type="slidenum">
              <a:rPr lang="en-US" altLang="en-US" sz="1600" smtClean="0"/>
              <a:pPr/>
              <a:t>120</a:t>
            </a:fld>
            <a:endParaRPr lang="en-US" altLang="en-US" sz="1600" dirty="0"/>
          </a:p>
        </p:txBody>
      </p:sp>
    </p:spTree>
    <p:extLst>
      <p:ext uri="{BB962C8B-B14F-4D97-AF65-F5344CB8AC3E}">
        <p14:creationId xmlns:p14="http://schemas.microsoft.com/office/powerpoint/2010/main" val="381522166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210"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81990" y="6108171"/>
            <a:ext cx="2135610" cy="1664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Rectangle 3"/>
          <p:cNvSpPr>
            <a:spLocks noGrp="1" noChangeArrowheads="1"/>
          </p:cNvSpPr>
          <p:nvPr>
            <p:ph type="title"/>
          </p:nvPr>
        </p:nvSpPr>
        <p:spPr/>
        <p:txBody>
          <a:bodyPr/>
          <a:lstStyle/>
          <a:p>
            <a:r>
              <a:rPr lang="en-US" altLang="en-US" dirty="0"/>
              <a:t>Next Steps</a:t>
            </a:r>
          </a:p>
        </p:txBody>
      </p:sp>
      <p:sp>
        <p:nvSpPr>
          <p:cNvPr id="94213" name="Rectangle 4"/>
          <p:cNvSpPr>
            <a:spLocks noGrp="1" noChangeArrowheads="1"/>
          </p:cNvSpPr>
          <p:nvPr>
            <p:ph idx="1"/>
          </p:nvPr>
        </p:nvSpPr>
        <p:spPr/>
        <p:txBody>
          <a:bodyPr/>
          <a:lstStyle/>
          <a:p>
            <a:r>
              <a:rPr lang="en-US" altLang="en-US" dirty="0"/>
              <a:t>Practice: Prior to go live, be sure to practice the transactions exercised today using the following resources available:</a:t>
            </a:r>
          </a:p>
          <a:p>
            <a:pPr lvl="1"/>
            <a:r>
              <a:rPr lang="en-US" altLang="en-US" dirty="0"/>
              <a:t>Training Environment and Training ID </a:t>
            </a:r>
            <a:r>
              <a:rPr lang="en-US" altLang="en-US" dirty="0">
                <a:solidFill>
                  <a:srgbClr val="FF0000"/>
                </a:solidFill>
              </a:rPr>
              <a:t>(TBD)</a:t>
            </a:r>
          </a:p>
          <a:p>
            <a:pPr lvl="1"/>
            <a:r>
              <a:rPr lang="en-US" altLang="en-US" dirty="0" err="1"/>
              <a:t>uPerform</a:t>
            </a:r>
            <a:r>
              <a:rPr lang="en-US" altLang="en-US" dirty="0"/>
              <a:t> recordings located in the LMS </a:t>
            </a:r>
            <a:r>
              <a:rPr lang="en-US" altLang="en-US" dirty="0">
                <a:solidFill>
                  <a:srgbClr val="FF0000"/>
                </a:solidFill>
              </a:rPr>
              <a:t>(TBD)</a:t>
            </a:r>
          </a:p>
          <a:p>
            <a:r>
              <a:rPr lang="en-US" altLang="en-US" dirty="0"/>
              <a:t>If you have questions...</a:t>
            </a:r>
          </a:p>
          <a:p>
            <a:pPr lvl="1"/>
            <a:r>
              <a:rPr lang="en-US" dirty="0"/>
              <a:t>Help Desk </a:t>
            </a:r>
            <a:r>
              <a:rPr lang="en-US" dirty="0">
                <a:solidFill>
                  <a:srgbClr val="FF0000"/>
                </a:solidFill>
              </a:rPr>
              <a:t>(TBD)</a:t>
            </a:r>
          </a:p>
          <a:p>
            <a:pPr lvl="1"/>
            <a:r>
              <a:rPr lang="en-US" dirty="0"/>
              <a:t>LMS/SharePoint site for reference materials </a:t>
            </a:r>
            <a:r>
              <a:rPr lang="en-US" dirty="0">
                <a:solidFill>
                  <a:srgbClr val="FF0000"/>
                </a:solidFill>
              </a:rPr>
              <a:t>(TBD)</a:t>
            </a:r>
          </a:p>
          <a:p>
            <a:pPr lvl="1"/>
            <a:r>
              <a:rPr lang="en-US" dirty="0"/>
              <a:t>Other Users</a:t>
            </a:r>
          </a:p>
          <a:p>
            <a:pPr lvl="1"/>
            <a:r>
              <a:rPr lang="en-US" dirty="0"/>
              <a:t>Super Users</a:t>
            </a:r>
          </a:p>
          <a:p>
            <a:endParaRPr lang="en-US" altLang="en-US" dirty="0"/>
          </a:p>
          <a:p>
            <a:pPr lvl="1"/>
            <a:endParaRPr lang="en-US" altLang="en-US" dirty="0"/>
          </a:p>
        </p:txBody>
      </p:sp>
      <p:sp>
        <p:nvSpPr>
          <p:cNvPr id="94211"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3ED3A692-8E4D-4AE1-8533-5DF08E717955}" type="slidenum">
              <a:rPr lang="en-US" altLang="en-US" sz="1600" smtClean="0"/>
              <a:pPr/>
              <a:t>121</a:t>
            </a:fld>
            <a:endParaRPr lang="en-US" altLang="en-US" sz="1600" dirty="0"/>
          </a:p>
        </p:txBody>
      </p:sp>
    </p:spTree>
    <p:extLst>
      <p:ext uri="{BB962C8B-B14F-4D97-AF65-F5344CB8AC3E}">
        <p14:creationId xmlns:p14="http://schemas.microsoft.com/office/powerpoint/2010/main" val="157354536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9" name="Rectangle 2"/>
          <p:cNvSpPr>
            <a:spLocks noGrp="1" noChangeArrowheads="1"/>
          </p:cNvSpPr>
          <p:nvPr>
            <p:ph type="title"/>
          </p:nvPr>
        </p:nvSpPr>
        <p:spPr/>
        <p:txBody>
          <a:bodyPr/>
          <a:lstStyle/>
          <a:p>
            <a:r>
              <a:rPr lang="en-US" altLang="en-US" dirty="0"/>
              <a:t>Before You Leave…</a:t>
            </a:r>
          </a:p>
        </p:txBody>
      </p:sp>
      <p:sp>
        <p:nvSpPr>
          <p:cNvPr id="96260" name="Rectangle 3"/>
          <p:cNvSpPr>
            <a:spLocks noGrp="1" noChangeArrowheads="1"/>
          </p:cNvSpPr>
          <p:nvPr>
            <p:ph idx="1"/>
          </p:nvPr>
        </p:nvSpPr>
        <p:spPr/>
        <p:txBody>
          <a:bodyPr/>
          <a:lstStyle/>
          <a:p>
            <a:pPr marL="690841" lvl="1" indent="0">
              <a:buNone/>
            </a:pPr>
            <a:r>
              <a:rPr lang="en-US" altLang="en-US" dirty="0"/>
              <a:t> </a:t>
            </a:r>
          </a:p>
          <a:p>
            <a:pPr lvl="1"/>
            <a:endParaRPr lang="en-US" altLang="en-US" dirty="0"/>
          </a:p>
          <a:p>
            <a:r>
              <a:rPr lang="en-US" altLang="en-US" dirty="0"/>
              <a:t>Last chance for Q &amp; A!</a:t>
            </a:r>
          </a:p>
          <a:p>
            <a:endParaRPr lang="en-US" altLang="en-US" dirty="0"/>
          </a:p>
          <a:p>
            <a:r>
              <a:rPr lang="en-US" altLang="en-US" dirty="0"/>
              <a:t>Please be sure to complete the Class evaluation in order to help us improve on future classes!</a:t>
            </a:r>
          </a:p>
          <a:p>
            <a:endParaRPr lang="en-US" altLang="en-US" dirty="0"/>
          </a:p>
        </p:txBody>
      </p:sp>
      <p:sp>
        <p:nvSpPr>
          <p:cNvPr id="96258" name="Slide Number Placeholder 3"/>
          <p:cNvSpPr>
            <a:spLocks noGrp="1"/>
          </p:cNvSpPr>
          <p:nvPr>
            <p:ph type="sldNum" sz="quarter" idx="4294967295"/>
          </p:nvPr>
        </p:nvSpPr>
        <p:spPr/>
        <p:txBody>
          <a:bodyPr/>
          <a:lstStyle>
            <a:lvl1pPr>
              <a:defRPr sz="3627">
                <a:solidFill>
                  <a:schemeClr val="tx1"/>
                </a:solidFill>
                <a:latin typeface="Arial" panose="020B0604020202020204" pitchFamily="34" charset="0"/>
              </a:defRPr>
            </a:lvl1pPr>
            <a:lvl2pPr marL="841985" indent="-323840">
              <a:defRPr sz="3627">
                <a:solidFill>
                  <a:schemeClr val="tx1"/>
                </a:solidFill>
                <a:latin typeface="Arial" panose="020B0604020202020204" pitchFamily="34" charset="0"/>
              </a:defRPr>
            </a:lvl2pPr>
            <a:lvl3pPr marL="1295362" indent="-259072">
              <a:defRPr sz="3627">
                <a:solidFill>
                  <a:schemeClr val="tx1"/>
                </a:solidFill>
                <a:latin typeface="Arial" panose="020B0604020202020204" pitchFamily="34" charset="0"/>
              </a:defRPr>
            </a:lvl3pPr>
            <a:lvl4pPr marL="1813507" indent="-259072">
              <a:defRPr sz="3627">
                <a:solidFill>
                  <a:schemeClr val="tx1"/>
                </a:solidFill>
                <a:latin typeface="Arial" panose="020B0604020202020204" pitchFamily="34" charset="0"/>
              </a:defRPr>
            </a:lvl4pPr>
            <a:lvl5pPr marL="2331651" indent="-259072">
              <a:defRPr sz="3627">
                <a:solidFill>
                  <a:schemeClr val="tx1"/>
                </a:solidFill>
                <a:latin typeface="Arial" panose="020B0604020202020204" pitchFamily="34" charset="0"/>
              </a:defRPr>
            </a:lvl5pPr>
            <a:lvl6pPr marL="2849796" indent="-259072" eaLnBrk="0" fontAlgn="base" hangingPunct="0">
              <a:spcBef>
                <a:spcPct val="0"/>
              </a:spcBef>
              <a:spcAft>
                <a:spcPct val="0"/>
              </a:spcAft>
              <a:defRPr sz="3627">
                <a:solidFill>
                  <a:schemeClr val="tx1"/>
                </a:solidFill>
                <a:latin typeface="Arial" panose="020B0604020202020204" pitchFamily="34" charset="0"/>
              </a:defRPr>
            </a:lvl6pPr>
            <a:lvl7pPr marL="3367941" indent="-259072" eaLnBrk="0" fontAlgn="base" hangingPunct="0">
              <a:spcBef>
                <a:spcPct val="0"/>
              </a:spcBef>
              <a:spcAft>
                <a:spcPct val="0"/>
              </a:spcAft>
              <a:defRPr sz="3627">
                <a:solidFill>
                  <a:schemeClr val="tx1"/>
                </a:solidFill>
                <a:latin typeface="Arial" panose="020B0604020202020204" pitchFamily="34" charset="0"/>
              </a:defRPr>
            </a:lvl7pPr>
            <a:lvl8pPr marL="3886086" indent="-259072" eaLnBrk="0" fontAlgn="base" hangingPunct="0">
              <a:spcBef>
                <a:spcPct val="0"/>
              </a:spcBef>
              <a:spcAft>
                <a:spcPct val="0"/>
              </a:spcAft>
              <a:defRPr sz="3627">
                <a:solidFill>
                  <a:schemeClr val="tx1"/>
                </a:solidFill>
                <a:latin typeface="Arial" panose="020B0604020202020204" pitchFamily="34" charset="0"/>
              </a:defRPr>
            </a:lvl8pPr>
            <a:lvl9pPr marL="4404230" indent="-259072" eaLnBrk="0" fontAlgn="base" hangingPunct="0">
              <a:spcBef>
                <a:spcPct val="0"/>
              </a:spcBef>
              <a:spcAft>
                <a:spcPct val="0"/>
              </a:spcAft>
              <a:defRPr sz="3627">
                <a:solidFill>
                  <a:schemeClr val="tx1"/>
                </a:solidFill>
                <a:latin typeface="Arial" panose="020B0604020202020204" pitchFamily="34" charset="0"/>
              </a:defRPr>
            </a:lvl9pPr>
          </a:lstStyle>
          <a:p>
            <a:fld id="{28F12887-6F99-41DE-B96D-957CF2C7DD91}" type="slidenum">
              <a:rPr lang="en-US" altLang="en-US" sz="1800" smtClean="0"/>
              <a:pPr/>
              <a:t>122</a:t>
            </a:fld>
            <a:endParaRPr lang="en-US" altLang="en-US" sz="1800" dirty="0"/>
          </a:p>
        </p:txBody>
      </p:sp>
      <p:pic>
        <p:nvPicPr>
          <p:cNvPr id="10" name="Picture 9"/>
          <p:cNvPicPr>
            <a:picLocks noChangeAspect="1"/>
          </p:cNvPicPr>
          <p:nvPr/>
        </p:nvPicPr>
        <p:blipFill>
          <a:blip r:embed="rId3"/>
          <a:stretch>
            <a:fillRect/>
          </a:stretch>
        </p:blipFill>
        <p:spPr>
          <a:xfrm>
            <a:off x="12114567" y="5615559"/>
            <a:ext cx="1689414" cy="2156841"/>
          </a:xfrm>
          <a:prstGeom prst="rect">
            <a:avLst/>
          </a:prstGeom>
        </p:spPr>
      </p:pic>
      <p:sp>
        <p:nvSpPr>
          <p:cNvPr id="13" name="Slide Number Placeholder 3"/>
          <p:cNvSpPr txBox="1">
            <a:spLocks/>
          </p:cNvSpPr>
          <p:nvPr/>
        </p:nvSpPr>
        <p:spPr>
          <a:xfrm>
            <a:off x="10055013" y="7356280"/>
            <a:ext cx="3224107" cy="415007"/>
          </a:xfrm>
          <a:prstGeom prst="rect">
            <a:avLst/>
          </a:prstGeom>
        </p:spPr>
        <p:txBody>
          <a:bodyPr vert="horz" lIns="91440" tIns="45720" rIns="91440" bIns="45720" rtlCol="0" anchor="ctr"/>
          <a:lstStyle>
            <a:defPPr>
              <a:defRPr lang="en-US"/>
            </a:defPPr>
            <a:lvl1pPr marL="0" algn="r" defTabSz="1358130" rtl="0" eaLnBrk="1" latinLnBrk="0" hangingPunct="1">
              <a:defRPr sz="3627" b="1" kern="1200">
                <a:solidFill>
                  <a:schemeClr val="tx1"/>
                </a:solidFill>
                <a:latin typeface="Arial" panose="020B0604020202020204" pitchFamily="34" charset="0"/>
                <a:ea typeface="+mn-ea"/>
                <a:cs typeface="+mn-cs"/>
              </a:defRPr>
            </a:lvl1pPr>
            <a:lvl2pPr marL="841985" indent="-323840" algn="l" defTabSz="1358130" rtl="0" eaLnBrk="1" latinLnBrk="0" hangingPunct="1">
              <a:defRPr sz="3627" kern="1200">
                <a:solidFill>
                  <a:schemeClr val="tx1"/>
                </a:solidFill>
                <a:latin typeface="Arial" panose="020B0604020202020204" pitchFamily="34" charset="0"/>
                <a:ea typeface="+mn-ea"/>
                <a:cs typeface="+mn-cs"/>
              </a:defRPr>
            </a:lvl2pPr>
            <a:lvl3pPr marL="1295362" indent="-259072" algn="l" defTabSz="1358130" rtl="0" eaLnBrk="1" latinLnBrk="0" hangingPunct="1">
              <a:defRPr sz="3627" kern="1200">
                <a:solidFill>
                  <a:schemeClr val="tx1"/>
                </a:solidFill>
                <a:latin typeface="Arial" panose="020B0604020202020204" pitchFamily="34" charset="0"/>
                <a:ea typeface="+mn-ea"/>
                <a:cs typeface="+mn-cs"/>
              </a:defRPr>
            </a:lvl3pPr>
            <a:lvl4pPr marL="1813507" indent="-259072" algn="l" defTabSz="1358130" rtl="0" eaLnBrk="1" latinLnBrk="0" hangingPunct="1">
              <a:defRPr sz="3627" kern="1200">
                <a:solidFill>
                  <a:schemeClr val="tx1"/>
                </a:solidFill>
                <a:latin typeface="Arial" panose="020B0604020202020204" pitchFamily="34" charset="0"/>
                <a:ea typeface="+mn-ea"/>
                <a:cs typeface="+mn-cs"/>
              </a:defRPr>
            </a:lvl4pPr>
            <a:lvl5pPr marL="2331651" indent="-259072" algn="l" defTabSz="1358130" rtl="0" eaLnBrk="1" latinLnBrk="0" hangingPunct="1">
              <a:defRPr sz="3627" kern="1200">
                <a:solidFill>
                  <a:schemeClr val="tx1"/>
                </a:solidFill>
                <a:latin typeface="Arial" panose="020B0604020202020204" pitchFamily="34" charset="0"/>
                <a:ea typeface="+mn-ea"/>
                <a:cs typeface="+mn-cs"/>
              </a:defRPr>
            </a:lvl5pPr>
            <a:lvl6pPr marL="2849796" indent="-259072" algn="l" defTabSz="1358130" rtl="0" eaLnBrk="0" fontAlgn="base" latinLnBrk="0" hangingPunct="0">
              <a:spcBef>
                <a:spcPct val="0"/>
              </a:spcBef>
              <a:spcAft>
                <a:spcPct val="0"/>
              </a:spcAft>
              <a:defRPr sz="3627" kern="1200">
                <a:solidFill>
                  <a:schemeClr val="tx1"/>
                </a:solidFill>
                <a:latin typeface="Arial" panose="020B0604020202020204" pitchFamily="34" charset="0"/>
                <a:ea typeface="+mn-ea"/>
                <a:cs typeface="+mn-cs"/>
              </a:defRPr>
            </a:lvl6pPr>
            <a:lvl7pPr marL="3367941" indent="-259072" algn="l" defTabSz="1358130" rtl="0" eaLnBrk="0" fontAlgn="base" latinLnBrk="0" hangingPunct="0">
              <a:spcBef>
                <a:spcPct val="0"/>
              </a:spcBef>
              <a:spcAft>
                <a:spcPct val="0"/>
              </a:spcAft>
              <a:defRPr sz="3627" kern="1200">
                <a:solidFill>
                  <a:schemeClr val="tx1"/>
                </a:solidFill>
                <a:latin typeface="Arial" panose="020B0604020202020204" pitchFamily="34" charset="0"/>
                <a:ea typeface="+mn-ea"/>
                <a:cs typeface="+mn-cs"/>
              </a:defRPr>
            </a:lvl7pPr>
            <a:lvl8pPr marL="3886086" indent="-259072" algn="l" defTabSz="1358130" rtl="0" eaLnBrk="0" fontAlgn="base" latinLnBrk="0" hangingPunct="0">
              <a:spcBef>
                <a:spcPct val="0"/>
              </a:spcBef>
              <a:spcAft>
                <a:spcPct val="0"/>
              </a:spcAft>
              <a:defRPr sz="3627" kern="1200">
                <a:solidFill>
                  <a:schemeClr val="tx1"/>
                </a:solidFill>
                <a:latin typeface="Arial" panose="020B0604020202020204" pitchFamily="34" charset="0"/>
                <a:ea typeface="+mn-ea"/>
                <a:cs typeface="+mn-cs"/>
              </a:defRPr>
            </a:lvl8pPr>
            <a:lvl9pPr marL="4404230" indent="-259072" algn="l" defTabSz="1358130" rtl="0" eaLnBrk="0" fontAlgn="base" latinLnBrk="0" hangingPunct="0">
              <a:spcBef>
                <a:spcPct val="0"/>
              </a:spcBef>
              <a:spcAft>
                <a:spcPct val="0"/>
              </a:spcAft>
              <a:defRPr sz="3627" kern="1200">
                <a:solidFill>
                  <a:schemeClr val="tx1"/>
                </a:solidFill>
                <a:latin typeface="Arial" panose="020B0604020202020204" pitchFamily="34" charset="0"/>
                <a:ea typeface="+mn-ea"/>
                <a:cs typeface="+mn-cs"/>
              </a:defRPr>
            </a:lvl9pPr>
          </a:lstStyle>
          <a:p>
            <a:r>
              <a:rPr lang="en-US" altLang="en-US" sz="1600" dirty="0"/>
              <a:t>57</a:t>
            </a:r>
          </a:p>
        </p:txBody>
      </p:sp>
    </p:spTree>
    <p:extLst>
      <p:ext uri="{BB962C8B-B14F-4D97-AF65-F5344CB8AC3E}">
        <p14:creationId xmlns:p14="http://schemas.microsoft.com/office/powerpoint/2010/main" val="42487343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7" name="Picture 5" descr="j0341499[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8080" y="2008125"/>
            <a:ext cx="3574287" cy="4623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2"/>
          <p:cNvSpPr>
            <a:spLocks noGrp="1"/>
          </p:cNvSpPr>
          <p:nvPr>
            <p:ph type="title"/>
          </p:nvPr>
        </p:nvSpPr>
        <p:spPr/>
        <p:txBody>
          <a:bodyPr/>
          <a:lstStyle/>
          <a:p>
            <a:r>
              <a:rPr lang="en-US" dirty="0"/>
              <a:t>Congratulations!</a:t>
            </a:r>
          </a:p>
        </p:txBody>
      </p:sp>
      <p:sp>
        <p:nvSpPr>
          <p:cNvPr id="4" name="Content Placeholder 3"/>
          <p:cNvSpPr>
            <a:spLocks noGrp="1"/>
          </p:cNvSpPr>
          <p:nvPr>
            <p:ph idx="1"/>
          </p:nvPr>
        </p:nvSpPr>
        <p:spPr/>
        <p:txBody>
          <a:bodyPr/>
          <a:lstStyle/>
          <a:p>
            <a:r>
              <a:rPr lang="en-US" altLang="en-US" dirty="0"/>
              <a:t>You have completed this course!</a:t>
            </a:r>
          </a:p>
          <a:p>
            <a:endParaRPr lang="en-US" dirty="0"/>
          </a:p>
        </p:txBody>
      </p:sp>
      <p:sp>
        <p:nvSpPr>
          <p:cNvPr id="6" name="Slide Number Placeholder 3"/>
          <p:cNvSpPr>
            <a:spLocks noGrp="1"/>
          </p:cNvSpPr>
          <p:nvPr>
            <p:ph type="sldNum" sz="quarter" idx="4294967295"/>
          </p:nvPr>
        </p:nvSpPr>
        <p:spPr/>
        <p:txBody>
          <a:bodyPr/>
          <a:lstStyle>
            <a:lvl1pPr>
              <a:defRPr>
                <a:solidFill>
                  <a:schemeClr val="tx1"/>
                </a:solidFill>
                <a:latin typeface="Arial" panose="020B0604020202020204" pitchFamily="34" charset="0"/>
              </a:defRPr>
            </a:lvl1pPr>
            <a:lvl2pPr marL="841985" indent="-323840">
              <a:defRPr>
                <a:solidFill>
                  <a:schemeClr val="tx1"/>
                </a:solidFill>
                <a:latin typeface="Arial" panose="020B0604020202020204" pitchFamily="34" charset="0"/>
              </a:defRPr>
            </a:lvl2pPr>
            <a:lvl3pPr marL="1295362" indent="-259072">
              <a:defRPr>
                <a:solidFill>
                  <a:schemeClr val="tx1"/>
                </a:solidFill>
                <a:latin typeface="Arial" panose="020B0604020202020204" pitchFamily="34" charset="0"/>
              </a:defRPr>
            </a:lvl3pPr>
            <a:lvl4pPr marL="1813507" indent="-259072">
              <a:defRPr>
                <a:solidFill>
                  <a:schemeClr val="tx1"/>
                </a:solidFill>
                <a:latin typeface="Arial" panose="020B0604020202020204" pitchFamily="34" charset="0"/>
              </a:defRPr>
            </a:lvl4pPr>
            <a:lvl5pPr marL="2331651" indent="-259072">
              <a:defRPr>
                <a:solidFill>
                  <a:schemeClr val="tx1"/>
                </a:solidFill>
                <a:latin typeface="Arial" panose="020B0604020202020204" pitchFamily="34" charset="0"/>
              </a:defRPr>
            </a:lvl5pPr>
            <a:lvl6pPr marL="2849796" indent="-259072" eaLnBrk="0" fontAlgn="base" hangingPunct="0">
              <a:spcBef>
                <a:spcPct val="0"/>
              </a:spcBef>
              <a:spcAft>
                <a:spcPct val="0"/>
              </a:spcAft>
              <a:defRPr>
                <a:solidFill>
                  <a:schemeClr val="tx1"/>
                </a:solidFill>
                <a:latin typeface="Arial" panose="020B0604020202020204" pitchFamily="34" charset="0"/>
              </a:defRPr>
            </a:lvl6pPr>
            <a:lvl7pPr marL="3367941" indent="-259072" eaLnBrk="0" fontAlgn="base" hangingPunct="0">
              <a:spcBef>
                <a:spcPct val="0"/>
              </a:spcBef>
              <a:spcAft>
                <a:spcPct val="0"/>
              </a:spcAft>
              <a:defRPr>
                <a:solidFill>
                  <a:schemeClr val="tx1"/>
                </a:solidFill>
                <a:latin typeface="Arial" panose="020B0604020202020204" pitchFamily="34" charset="0"/>
              </a:defRPr>
            </a:lvl7pPr>
            <a:lvl8pPr marL="3886086" indent="-259072" eaLnBrk="0" fontAlgn="base" hangingPunct="0">
              <a:spcBef>
                <a:spcPct val="0"/>
              </a:spcBef>
              <a:spcAft>
                <a:spcPct val="0"/>
              </a:spcAft>
              <a:defRPr>
                <a:solidFill>
                  <a:schemeClr val="tx1"/>
                </a:solidFill>
                <a:latin typeface="Arial" panose="020B0604020202020204" pitchFamily="34" charset="0"/>
              </a:defRPr>
            </a:lvl8pPr>
            <a:lvl9pPr marL="4404230" indent="-259072" eaLnBrk="0" fontAlgn="base" hangingPunct="0">
              <a:spcBef>
                <a:spcPct val="0"/>
              </a:spcBef>
              <a:spcAft>
                <a:spcPct val="0"/>
              </a:spcAft>
              <a:defRPr>
                <a:solidFill>
                  <a:schemeClr val="tx1"/>
                </a:solidFill>
                <a:latin typeface="Arial" panose="020B0604020202020204" pitchFamily="34" charset="0"/>
              </a:defRPr>
            </a:lvl9pPr>
          </a:lstStyle>
          <a:p>
            <a:fld id="{92BE6A29-3330-4120-8C4F-D901DC38695C}" type="slidenum">
              <a:rPr lang="en-US" altLang="en-US" sz="1800" smtClean="0"/>
              <a:pPr/>
              <a:t>123</a:t>
            </a:fld>
            <a:endParaRPr lang="en-US" altLang="en-US" sz="1800" dirty="0"/>
          </a:p>
        </p:txBody>
      </p:sp>
    </p:spTree>
    <p:extLst>
      <p:ext uri="{BB962C8B-B14F-4D97-AF65-F5344CB8AC3E}">
        <p14:creationId xmlns:p14="http://schemas.microsoft.com/office/powerpoint/2010/main" val="1458955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TYLE" val="VCT_Marker"/>
  <p:tag name="DATE" val="12.10.2010 13:26:00"/>
  <p:tag name="VCTMASTER" val="Fujitsu Master 16-9 red"/>
  <p:tag name="VCTORDER" val="1"/>
</p:tagLst>
</file>

<file path=ppt/tags/tag2.xml><?xml version="1.0" encoding="utf-8"?>
<p:tagLst xmlns:a="http://schemas.openxmlformats.org/drawingml/2006/main" xmlns:r="http://schemas.openxmlformats.org/officeDocument/2006/relationships" xmlns:p="http://schemas.openxmlformats.org/presentationml/2006/main">
  <p:tag name="STYLE" val="VCT_Marker"/>
  <p:tag name="DATE" val="12.10.2010 13:26:00"/>
  <p:tag name="VCTMASTER" val="Fujitsu"/>
  <p:tag name="VCTLAYOUT" val="title"/>
  <p:tag name="VCTORDER" val="1"/>
</p:tagLst>
</file>

<file path=ppt/theme/theme1.xml><?xml version="1.0" encoding="utf-8"?>
<a:theme xmlns:a="http://schemas.openxmlformats.org/drawingml/2006/main" name="Master-16-9-Fujitsu Graphical Examples">
  <a:themeElements>
    <a:clrScheme name="Fujitsu">
      <a:dk1>
        <a:srgbClr val="000000"/>
      </a:dk1>
      <a:lt1>
        <a:srgbClr val="FFFFFF"/>
      </a:lt1>
      <a:dk2>
        <a:srgbClr val="87867E"/>
      </a:dk2>
      <a:lt2>
        <a:srgbClr val="DAD9D6"/>
      </a:lt2>
      <a:accent1>
        <a:srgbClr val="FF0000"/>
      </a:accent1>
      <a:accent2>
        <a:srgbClr val="A30B1A"/>
      </a:accent2>
      <a:accent3>
        <a:srgbClr val="861718"/>
      </a:accent3>
      <a:accent4>
        <a:srgbClr val="681A14"/>
      </a:accent4>
      <a:accent5>
        <a:srgbClr val="48190A"/>
      </a:accent5>
      <a:accent6>
        <a:srgbClr val="3C3C35"/>
      </a:accent6>
      <a:hlink>
        <a:srgbClr val="1782DB"/>
      </a:hlink>
      <a:folHlink>
        <a:srgbClr val="FF0000"/>
      </a:folHlink>
    </a:clrScheme>
    <a:fontScheme name="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9525">
          <a:solidFill>
            <a:schemeClr val="tx1"/>
          </a:solidFill>
        </a:ln>
      </a:spPr>
      <a:bodyPr rtlCol="0" anchor="t" anchorCtr="0"/>
      <a:lstStyle>
        <a:defPPr algn="ctr">
          <a:defRPr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5928-006-Key-Visual-2019-Template-External-MS2016-16x9-v1.0.potx" id="{092E281F-9F9D-4FF0-989A-A9BCE9B5733D}" vid="{384363C2-5FF3-448A-85E0-FDB9AD8AD2F2}"/>
    </a:ext>
  </a:extLst>
</a:theme>
</file>

<file path=ppt/theme/theme2.xml><?xml version="1.0" encoding="utf-8"?>
<a:theme xmlns:a="http://schemas.openxmlformats.org/drawingml/2006/main" name="Cover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16E97D27D404C43B460E8F3C4B9BE0C" ma:contentTypeVersion="11" ma:contentTypeDescription="Create a new document." ma:contentTypeScope="" ma:versionID="e6d9edfe604d12914df16e555a60cc6b">
  <xsd:schema xmlns:xsd="http://www.w3.org/2001/XMLSchema" xmlns:xs="http://www.w3.org/2001/XMLSchema" xmlns:p="http://schemas.microsoft.com/office/2006/metadata/properties" xmlns:ns2="5a0746e4-744f-4c97-89f2-fcb5166a034f" xmlns:ns3="dc6d9ee9-d14a-41b6-85ce-5bd9a4947433" targetNamespace="http://schemas.microsoft.com/office/2006/metadata/properties" ma:root="true" ma:fieldsID="97e403c7b5e88de8cc5676c94817c6d2" ns2:_="" ns3:_="">
    <xsd:import namespace="5a0746e4-744f-4c97-89f2-fcb5166a034f"/>
    <xsd:import namespace="dc6d9ee9-d14a-41b6-85ce-5bd9a4947433"/>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0746e4-744f-4c97-89f2-fcb5166a03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c6d9ee9-d14a-41b6-85ce-5bd9a4947433"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c6d9ee9-d14a-41b6-85ce-5bd9a4947433">
      <UserInfo>
        <DisplayName>Mali, Umesh</DisplayName>
        <AccountId>62</AccountId>
        <AccountType/>
      </UserInfo>
      <UserInfo>
        <DisplayName>Awasthi, Anupam</DisplayName>
        <AccountId>50</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7A52CFD-E2CC-408D-A795-C9785E0931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0746e4-744f-4c97-89f2-fcb5166a034f"/>
    <ds:schemaRef ds:uri="dc6d9ee9-d14a-41b6-85ce-5bd9a494743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3F86441-E60D-4495-9820-50FFC7B27329}">
  <ds:schemaRefs>
    <ds:schemaRef ds:uri="http://schemas.microsoft.com/office/2006/metadata/properties"/>
    <ds:schemaRef ds:uri="http://purl.org/dc/terms/"/>
    <ds:schemaRef ds:uri="5a0746e4-744f-4c97-89f2-fcb5166a034f"/>
    <ds:schemaRef ds:uri="http://schemas.microsoft.com/office/2006/documentManagement/types"/>
    <ds:schemaRef ds:uri="dc6d9ee9-d14a-41b6-85ce-5bd9a4947433"/>
    <ds:schemaRef ds:uri="http://schemas.openxmlformats.org/package/2006/metadata/core-properties"/>
    <ds:schemaRef ds:uri="http://purl.org/dc/elements/1.1/"/>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5373712F-8FAF-4E78-8CC0-FB8B33919E5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39984</TotalTime>
  <Words>7879</Words>
  <Application>Microsoft Office PowerPoint</Application>
  <PresentationFormat>Custom</PresentationFormat>
  <Paragraphs>1559</Paragraphs>
  <Slides>123</Slides>
  <Notes>112</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123</vt:i4>
      </vt:variant>
    </vt:vector>
  </HeadingPairs>
  <TitlesOfParts>
    <vt:vector size="134" baseType="lpstr">
      <vt:lpstr>MS PGothic</vt:lpstr>
      <vt:lpstr>Arial</vt:lpstr>
      <vt:lpstr>Arial Unicode MS</vt:lpstr>
      <vt:lpstr>Calibri</vt:lpstr>
      <vt:lpstr>Calibri Light</vt:lpstr>
      <vt:lpstr>Fujitsu Sans</vt:lpstr>
      <vt:lpstr>Fujitsu Sans Medium</vt:lpstr>
      <vt:lpstr>Times New Roman</vt:lpstr>
      <vt:lpstr>Wingdings</vt:lpstr>
      <vt:lpstr>Master-16-9-Fujitsu Graphical Examples</vt:lpstr>
      <vt:lpstr>Cover Master</vt:lpstr>
      <vt:lpstr>PowerPoint Presentation</vt:lpstr>
      <vt:lpstr>Prerequisites and Ground Rules</vt:lpstr>
      <vt:lpstr>Welcome!</vt:lpstr>
      <vt:lpstr>Welcome to Virtual Training!</vt:lpstr>
      <vt:lpstr>Course Objectives</vt:lpstr>
      <vt:lpstr>Agenda</vt:lpstr>
      <vt:lpstr>1</vt:lpstr>
      <vt:lpstr>What Are Fixed Assets?</vt:lpstr>
      <vt:lpstr>Sub-Processes: Process Flow</vt:lpstr>
      <vt:lpstr>What’s In It For Me?</vt:lpstr>
      <vt:lpstr>New Terms</vt:lpstr>
      <vt:lpstr>Unit 1, # 1</vt:lpstr>
      <vt:lpstr>Unit 1, # 1</vt:lpstr>
      <vt:lpstr>Summary – Unit </vt:lpstr>
      <vt:lpstr>PowerPoint Presentation</vt:lpstr>
      <vt:lpstr>Agenda</vt:lpstr>
      <vt:lpstr>2</vt:lpstr>
      <vt:lpstr>Creating an Asset Number</vt:lpstr>
      <vt:lpstr>Create an Asset Number – SAP t-code: AS01</vt:lpstr>
      <vt:lpstr>Demo 2.1: Create an Asset Number</vt:lpstr>
      <vt:lpstr>Exercise 2.1: Create an Asset Number</vt:lpstr>
      <vt:lpstr>Change an Asset Number – SAP t-code: AS02</vt:lpstr>
      <vt:lpstr>Demo 2.2: Change an Asset Number</vt:lpstr>
      <vt:lpstr>Exercise 2.2: Change an Asset Number</vt:lpstr>
      <vt:lpstr>Creating an Asset Master Record</vt:lpstr>
      <vt:lpstr>Asset Master Data Attributes</vt:lpstr>
      <vt:lpstr>Demo 2.3: Create Asset Master Data Record</vt:lpstr>
      <vt:lpstr>Exercise 2.3: Create Asset Master Data Record</vt:lpstr>
      <vt:lpstr>Adjusting an Asset - Revaluation</vt:lpstr>
      <vt:lpstr>Revaluation/Impairments Process Flow</vt:lpstr>
      <vt:lpstr>Asset Write Up</vt:lpstr>
      <vt:lpstr>Demo 2.4: Perform an Asset Revaluation</vt:lpstr>
      <vt:lpstr>Exercise 2.4: Perform an Asset Revaluation</vt:lpstr>
      <vt:lpstr>Unit 2, # 1</vt:lpstr>
      <vt:lpstr>Unit 2, # 1</vt:lpstr>
      <vt:lpstr>2</vt:lpstr>
      <vt:lpstr>Time for a Break!</vt:lpstr>
      <vt:lpstr>PowerPoint Presentation</vt:lpstr>
      <vt:lpstr>Agenda</vt:lpstr>
      <vt:lpstr>3</vt:lpstr>
      <vt:lpstr>Intracompany Transfers</vt:lpstr>
      <vt:lpstr>Intracompany Transfer – ABT1N</vt:lpstr>
      <vt:lpstr>Demo 3.5: Process an Intracompany Transfer</vt:lpstr>
      <vt:lpstr>Exercise 3.5: Process an Intracompany Transfer</vt:lpstr>
      <vt:lpstr>Transfers Between Companies</vt:lpstr>
      <vt:lpstr>Demo 3.6: Process an Intercompany Transfer</vt:lpstr>
      <vt:lpstr>Exercise 3.6: Process an Intercompany Transfer</vt:lpstr>
      <vt:lpstr>Transfers Within Affiliated Companies</vt:lpstr>
      <vt:lpstr>Demo 3.7: Process a Transfer Within Affiliated Companies</vt:lpstr>
      <vt:lpstr>Exercise 3.7: Process a Transfer Within Affiliated Companies</vt:lpstr>
      <vt:lpstr>Unit 3, # 1</vt:lpstr>
      <vt:lpstr>Unit 3, # 1</vt:lpstr>
      <vt:lpstr>3</vt:lpstr>
      <vt:lpstr>Time for a Break!</vt:lpstr>
      <vt:lpstr>PowerPoint Presentation</vt:lpstr>
      <vt:lpstr>Agenda</vt:lpstr>
      <vt:lpstr>4</vt:lpstr>
      <vt:lpstr>Asset Sale Without Customer – ABAON</vt:lpstr>
      <vt:lpstr>Asset Sale Without a Customer Process Flow</vt:lpstr>
      <vt:lpstr>Demo 4.8: Process an Asset Sale Without a Customer </vt:lpstr>
      <vt:lpstr>Exercise 4.8: Process an Asset Sale Without a Customer</vt:lpstr>
      <vt:lpstr>Scrapping an Asset</vt:lpstr>
      <vt:lpstr>Demo 4.9: Process a Retirement by Scrapping </vt:lpstr>
      <vt:lpstr>Exercise 4.9: Process a Retirement by Scrapping</vt:lpstr>
      <vt:lpstr>Process a Manual Depreciation</vt:lpstr>
      <vt:lpstr>Demo 4.10: Process a Manual Depreciation </vt:lpstr>
      <vt:lpstr>Exercise  4.10: Process a Manual Depreciation</vt:lpstr>
      <vt:lpstr>Post Depreciation Processing </vt:lpstr>
      <vt:lpstr>Demo 4.11: Initiate Depreciation Process </vt:lpstr>
      <vt:lpstr>Exercise 4.11: Initiate Depreciation Process</vt:lpstr>
      <vt:lpstr>Asset Retirement</vt:lpstr>
      <vt:lpstr>Asset Retirement (Cont.)</vt:lpstr>
      <vt:lpstr>Demo 4.12: Asset Retirement by Scrapping </vt:lpstr>
      <vt:lpstr>Exercise 4.12: Asset Retirement by Scrapping</vt:lpstr>
      <vt:lpstr>Unit 4, # 1</vt:lpstr>
      <vt:lpstr>Unit 4, # 1</vt:lpstr>
      <vt:lpstr>4</vt:lpstr>
      <vt:lpstr>PowerPoint Presentation</vt:lpstr>
      <vt:lpstr>Time for a Break!</vt:lpstr>
      <vt:lpstr>Agenda</vt:lpstr>
      <vt:lpstr>5</vt:lpstr>
      <vt:lpstr>Asset Balance Report - SAP t-code: S_ALR_87011963</vt:lpstr>
      <vt:lpstr>Demo 5.13: Generate an Asset Balance Report </vt:lpstr>
      <vt:lpstr>Exercise 5.13: Generate an Asset Balance Report</vt:lpstr>
      <vt:lpstr>Depreciation Report – SAP t-code: S_ALR_87012004</vt:lpstr>
      <vt:lpstr>Demo 5.14: Generate a Depreciation Report </vt:lpstr>
      <vt:lpstr>Exercise 5.14: Generate a Depreciation Report</vt:lpstr>
      <vt:lpstr>Posted Depreciation by Asset and Posting Period</vt:lpstr>
      <vt:lpstr>Demo 5.15: Generate a Posted Depreciation Report </vt:lpstr>
      <vt:lpstr>Exercise 5.15: Generate a Posted Depreciation Report</vt:lpstr>
      <vt:lpstr>Asset Acquisitions – SAP t-code: S_ALR_87012050</vt:lpstr>
      <vt:lpstr>Demo 5.16: Generate an Asset Acquisitions Report </vt:lpstr>
      <vt:lpstr>Exercise 5.16: Generate an Asset Acquisitions Report</vt:lpstr>
      <vt:lpstr>Asset Transfers – SAP t-code: S_ALR_87012054</vt:lpstr>
      <vt:lpstr>Demo 5.17: Generate an Asset Transfer Report </vt:lpstr>
      <vt:lpstr>Exercise 5.17: Generate an Asset Transfer Report</vt:lpstr>
      <vt:lpstr>Asset Transaction – SAP t-code: S_ALR_87012048</vt:lpstr>
      <vt:lpstr>Demo 5.18: Generate an Asset Transaction Report </vt:lpstr>
      <vt:lpstr>Exercise 5.18: Generate an Asset Transaction Report</vt:lpstr>
      <vt:lpstr>List of Origins by Asset Debits</vt:lpstr>
      <vt:lpstr>Demo 5.19: Generate List of Origins by Asset Debit </vt:lpstr>
      <vt:lpstr>Exercise 5.19: Generate List of Origins by Asset Debit</vt:lpstr>
      <vt:lpstr>Asset History Sheet – SAP t-code: S_ALR_87011990  </vt:lpstr>
      <vt:lpstr>Demo 5.20: Generate an Asset History Sheet</vt:lpstr>
      <vt:lpstr>Exercise 5.20: Generate an Asset History Sheet</vt:lpstr>
      <vt:lpstr>Asset Master Changes   </vt:lpstr>
      <vt:lpstr>Demo 5.21: Generate an Asset Master Change Report</vt:lpstr>
      <vt:lpstr>Exercise 5.21: Generate an Asset Master Change Report</vt:lpstr>
      <vt:lpstr>Revaluation Report – T-code: S_ALR_87010173</vt:lpstr>
      <vt:lpstr>Demo 5.22: Generate a Revaluation Report</vt:lpstr>
      <vt:lpstr>Exercise 5.22: Generate a Revaluation Report</vt:lpstr>
      <vt:lpstr>Unit 5, # 1</vt:lpstr>
      <vt:lpstr>Unit 5, # 1</vt:lpstr>
      <vt:lpstr>5</vt:lpstr>
      <vt:lpstr>PowerPoint Presentation</vt:lpstr>
      <vt:lpstr>Agenda</vt:lpstr>
      <vt:lpstr>Course Key Points</vt:lpstr>
      <vt:lpstr>Course Key Points (Cont.)</vt:lpstr>
      <vt:lpstr>Course Key Points (Cont.)</vt:lpstr>
      <vt:lpstr>Course Summary</vt:lpstr>
      <vt:lpstr>Next Steps</vt:lpstr>
      <vt:lpstr>Before You Leave…</vt:lpstr>
      <vt:lpstr>Congratulations!</vt:lpstr>
    </vt:vector>
  </TitlesOfParts>
  <Company>New York State - Office of General Services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 Conti</dc:creator>
  <cp:lastModifiedBy>Deloatch, Eugene</cp:lastModifiedBy>
  <cp:revision>1747</cp:revision>
  <cp:lastPrinted>2017-08-16T19:16:43Z</cp:lastPrinted>
  <dcterms:created xsi:type="dcterms:W3CDTF">2014-12-09T18:34:34Z</dcterms:created>
  <dcterms:modified xsi:type="dcterms:W3CDTF">2021-06-25T21:45:27Z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0x010100516E97D27D404C43B460E8F3C4B9BE0C</vt:lpwstr>
  </property>
</Properties>
</file>