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2" r:id="rId4"/>
    <p:sldMasterId id="2147483673" r:id="rId5"/>
  </p:sldMasterIdLst>
  <p:notesMasterIdLst>
    <p:notesMasterId r:id="rId84"/>
  </p:notesMasterIdLst>
  <p:handoutMasterIdLst>
    <p:handoutMasterId r:id="rId85"/>
  </p:handoutMasterIdLst>
  <p:sldIdLst>
    <p:sldId id="277" r:id="rId6"/>
    <p:sldId id="696" r:id="rId7"/>
    <p:sldId id="759" r:id="rId8"/>
    <p:sldId id="698" r:id="rId9"/>
    <p:sldId id="896" r:id="rId10"/>
    <p:sldId id="700" r:id="rId11"/>
    <p:sldId id="782" r:id="rId12"/>
    <p:sldId id="901" r:id="rId13"/>
    <p:sldId id="701" r:id="rId14"/>
    <p:sldId id="792" r:id="rId15"/>
    <p:sldId id="762" r:id="rId16"/>
    <p:sldId id="773" r:id="rId17"/>
    <p:sldId id="774" r:id="rId18"/>
    <p:sldId id="715" r:id="rId19"/>
    <p:sldId id="716" r:id="rId20"/>
    <p:sldId id="949" r:id="rId21"/>
    <p:sldId id="964" r:id="rId22"/>
    <p:sldId id="965" r:id="rId23"/>
    <p:sldId id="966" r:id="rId24"/>
    <p:sldId id="967" r:id="rId25"/>
    <p:sldId id="968" r:id="rId26"/>
    <p:sldId id="969" r:id="rId27"/>
    <p:sldId id="970" r:id="rId28"/>
    <p:sldId id="971" r:id="rId29"/>
    <p:sldId id="972" r:id="rId30"/>
    <p:sldId id="973" r:id="rId31"/>
    <p:sldId id="974" r:id="rId32"/>
    <p:sldId id="975" r:id="rId33"/>
    <p:sldId id="977" r:id="rId34"/>
    <p:sldId id="978" r:id="rId35"/>
    <p:sldId id="976" r:id="rId36"/>
    <p:sldId id="979" r:id="rId37"/>
    <p:sldId id="980" r:id="rId38"/>
    <p:sldId id="981" r:id="rId39"/>
    <p:sldId id="982" r:id="rId40"/>
    <p:sldId id="950" r:id="rId41"/>
    <p:sldId id="819" r:id="rId42"/>
    <p:sldId id="934" r:id="rId43"/>
    <p:sldId id="935" r:id="rId44"/>
    <p:sldId id="936" r:id="rId45"/>
    <p:sldId id="937" r:id="rId46"/>
    <p:sldId id="938" r:id="rId47"/>
    <p:sldId id="983" r:id="rId48"/>
    <p:sldId id="939" r:id="rId49"/>
    <p:sldId id="940" r:id="rId50"/>
    <p:sldId id="941" r:id="rId51"/>
    <p:sldId id="942" r:id="rId52"/>
    <p:sldId id="943" r:id="rId53"/>
    <p:sldId id="907" r:id="rId54"/>
    <p:sldId id="800" r:id="rId55"/>
    <p:sldId id="864" r:id="rId56"/>
    <p:sldId id="802" r:id="rId57"/>
    <p:sldId id="805" r:id="rId58"/>
    <p:sldId id="865" r:id="rId59"/>
    <p:sldId id="807" r:id="rId60"/>
    <p:sldId id="821" r:id="rId61"/>
    <p:sldId id="822" r:id="rId62"/>
    <p:sldId id="823" r:id="rId63"/>
    <p:sldId id="824" r:id="rId64"/>
    <p:sldId id="825" r:id="rId65"/>
    <p:sldId id="951" r:id="rId66"/>
    <p:sldId id="953" r:id="rId67"/>
    <p:sldId id="954" r:id="rId68"/>
    <p:sldId id="955" r:id="rId69"/>
    <p:sldId id="956" r:id="rId70"/>
    <p:sldId id="957" r:id="rId71"/>
    <p:sldId id="958" r:id="rId72"/>
    <p:sldId id="959" r:id="rId73"/>
    <p:sldId id="960" r:id="rId74"/>
    <p:sldId id="961" r:id="rId75"/>
    <p:sldId id="963" r:id="rId76"/>
    <p:sldId id="952" r:id="rId77"/>
    <p:sldId id="874" r:id="rId78"/>
    <p:sldId id="875" r:id="rId79"/>
    <p:sldId id="749" r:id="rId80"/>
    <p:sldId id="751" r:id="rId81"/>
    <p:sldId id="752" r:id="rId82"/>
    <p:sldId id="753" r:id="rId83"/>
  </p:sldIdLst>
  <p:sldSz cx="13817600" cy="7772400"/>
  <p:notesSz cx="7010400" cy="9296400"/>
  <p:defaultTextStyle>
    <a:defPPr>
      <a:defRPr lang="en-US"/>
    </a:defPPr>
    <a:lvl1pPr marL="0" algn="l" defTabSz="1358130" rtl="0" eaLnBrk="1" latinLnBrk="0" hangingPunct="1">
      <a:defRPr sz="2673" kern="1200">
        <a:solidFill>
          <a:schemeClr val="tx1"/>
        </a:solidFill>
        <a:latin typeface="+mn-lt"/>
        <a:ea typeface="+mn-ea"/>
        <a:cs typeface="+mn-cs"/>
      </a:defRPr>
    </a:lvl1pPr>
    <a:lvl2pPr marL="679064" algn="l" defTabSz="1358130" rtl="0" eaLnBrk="1" latinLnBrk="0" hangingPunct="1">
      <a:defRPr sz="2673" kern="1200">
        <a:solidFill>
          <a:schemeClr val="tx1"/>
        </a:solidFill>
        <a:latin typeface="+mn-lt"/>
        <a:ea typeface="+mn-ea"/>
        <a:cs typeface="+mn-cs"/>
      </a:defRPr>
    </a:lvl2pPr>
    <a:lvl3pPr marL="1358130" algn="l" defTabSz="1358130" rtl="0" eaLnBrk="1" latinLnBrk="0" hangingPunct="1">
      <a:defRPr sz="2673" kern="1200">
        <a:solidFill>
          <a:schemeClr val="tx1"/>
        </a:solidFill>
        <a:latin typeface="+mn-lt"/>
        <a:ea typeface="+mn-ea"/>
        <a:cs typeface="+mn-cs"/>
      </a:defRPr>
    </a:lvl3pPr>
    <a:lvl4pPr marL="2037191" algn="l" defTabSz="1358130" rtl="0" eaLnBrk="1" latinLnBrk="0" hangingPunct="1">
      <a:defRPr sz="2673" kern="1200">
        <a:solidFill>
          <a:schemeClr val="tx1"/>
        </a:solidFill>
        <a:latin typeface="+mn-lt"/>
        <a:ea typeface="+mn-ea"/>
        <a:cs typeface="+mn-cs"/>
      </a:defRPr>
    </a:lvl4pPr>
    <a:lvl5pPr marL="2716256" algn="l" defTabSz="1358130" rtl="0" eaLnBrk="1" latinLnBrk="0" hangingPunct="1">
      <a:defRPr sz="2673" kern="1200">
        <a:solidFill>
          <a:schemeClr val="tx1"/>
        </a:solidFill>
        <a:latin typeface="+mn-lt"/>
        <a:ea typeface="+mn-ea"/>
        <a:cs typeface="+mn-cs"/>
      </a:defRPr>
    </a:lvl5pPr>
    <a:lvl6pPr marL="3395319" algn="l" defTabSz="1358130" rtl="0" eaLnBrk="1" latinLnBrk="0" hangingPunct="1">
      <a:defRPr sz="2673" kern="1200">
        <a:solidFill>
          <a:schemeClr val="tx1"/>
        </a:solidFill>
        <a:latin typeface="+mn-lt"/>
        <a:ea typeface="+mn-ea"/>
        <a:cs typeface="+mn-cs"/>
      </a:defRPr>
    </a:lvl6pPr>
    <a:lvl7pPr marL="4074384" algn="l" defTabSz="1358130" rtl="0" eaLnBrk="1" latinLnBrk="0" hangingPunct="1">
      <a:defRPr sz="2673" kern="1200">
        <a:solidFill>
          <a:schemeClr val="tx1"/>
        </a:solidFill>
        <a:latin typeface="+mn-lt"/>
        <a:ea typeface="+mn-ea"/>
        <a:cs typeface="+mn-cs"/>
      </a:defRPr>
    </a:lvl7pPr>
    <a:lvl8pPr marL="4753447" algn="l" defTabSz="1358130" rtl="0" eaLnBrk="1" latinLnBrk="0" hangingPunct="1">
      <a:defRPr sz="2673" kern="1200">
        <a:solidFill>
          <a:schemeClr val="tx1"/>
        </a:solidFill>
        <a:latin typeface="+mn-lt"/>
        <a:ea typeface="+mn-ea"/>
        <a:cs typeface="+mn-cs"/>
      </a:defRPr>
    </a:lvl8pPr>
    <a:lvl9pPr marL="5432512" algn="l" defTabSz="1358130" rtl="0" eaLnBrk="1" latinLnBrk="0" hangingPunct="1">
      <a:defRPr sz="267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43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eila Robinson" initials="SR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DCDC"/>
    <a:srgbClr val="1F3261"/>
    <a:srgbClr val="8064A2"/>
    <a:srgbClr val="F4F4F3"/>
    <a:srgbClr val="537ABA"/>
    <a:srgbClr val="553278"/>
    <a:srgbClr val="95B3D7"/>
    <a:srgbClr val="002D73"/>
    <a:srgbClr val="FF9900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8" autoAdjust="0"/>
    <p:restoredTop sz="92346" autoAdjust="0"/>
  </p:normalViewPr>
  <p:slideViewPr>
    <p:cSldViewPr snapToGrid="0">
      <p:cViewPr varScale="1">
        <p:scale>
          <a:sx n="47" d="100"/>
          <a:sy n="47" d="100"/>
        </p:scale>
        <p:origin x="1050" y="48"/>
      </p:cViewPr>
      <p:guideLst>
        <p:guide orient="horz" pos="2448"/>
        <p:guide pos="4352"/>
      </p:guideLst>
    </p:cSldViewPr>
  </p:slideViewPr>
  <p:outlineViewPr>
    <p:cViewPr>
      <p:scale>
        <a:sx n="33" d="100"/>
        <a:sy n="33" d="100"/>
      </p:scale>
      <p:origin x="0" y="-357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5648"/>
    </p:cViewPr>
  </p:sorterViewPr>
  <p:notesViewPr>
    <p:cSldViewPr snapToGrid="0">
      <p:cViewPr varScale="1">
        <p:scale>
          <a:sx n="41" d="100"/>
          <a:sy n="41" d="100"/>
        </p:scale>
        <p:origin x="2892" y="4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76" Type="http://schemas.openxmlformats.org/officeDocument/2006/relationships/slide" Target="slides/slide71.xml"/><Relationship Id="rId84" Type="http://schemas.openxmlformats.org/officeDocument/2006/relationships/notesMaster" Target="notesMasters/notesMaster1.xml"/><Relationship Id="rId89" Type="http://schemas.openxmlformats.org/officeDocument/2006/relationships/theme" Target="theme/theme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87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90" Type="http://schemas.openxmlformats.org/officeDocument/2006/relationships/tableStyles" Target="tableStyles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slide" Target="slides/slide75.xml"/><Relationship Id="rId85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799885-90EC-448B-A5E6-EF402A2B4455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B533C0-8C15-4C19-BD96-9D21D3988BD5}">
      <dgm:prSet phldrT="[Text]" custT="1"/>
      <dgm:spPr>
        <a:solidFill>
          <a:schemeClr val="bg1">
            <a:lumMod val="85000"/>
            <a:alpha val="89804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2000" dirty="0" smtClean="0">
              <a:latin typeface="+mn-lt"/>
            </a:rPr>
            <a:t>Invoice Receipt/ Verification</a:t>
          </a:r>
          <a:endParaRPr lang="en-US" sz="2000" dirty="0">
            <a:latin typeface="+mn-lt"/>
          </a:endParaRPr>
        </a:p>
      </dgm:t>
    </dgm:pt>
    <dgm:pt modelId="{DF88C67E-A8C4-4033-8E86-B3F3B9095760}" type="parTrans" cxnId="{3A8C18B6-1BE6-4E6B-98B6-0CC4E5625D18}">
      <dgm:prSet/>
      <dgm:spPr/>
      <dgm:t>
        <a:bodyPr/>
        <a:lstStyle/>
        <a:p>
          <a:endParaRPr lang="en-US"/>
        </a:p>
      </dgm:t>
    </dgm:pt>
    <dgm:pt modelId="{C605212A-447D-44E7-82CE-D04C08348439}" type="sibTrans" cxnId="{3A8C18B6-1BE6-4E6B-98B6-0CC4E5625D18}">
      <dgm:prSet/>
      <dgm:spPr/>
      <dgm:t>
        <a:bodyPr/>
        <a:lstStyle/>
        <a:p>
          <a:endParaRPr lang="en-US"/>
        </a:p>
      </dgm:t>
    </dgm:pt>
    <dgm:pt modelId="{909A296E-D754-48F8-860D-6EE69996442F}">
      <dgm:prSet phldrT="[Text]" custT="1"/>
      <dgm:spPr>
        <a:solidFill>
          <a:srgbClr val="F4DCDC">
            <a:alpha val="89804"/>
          </a:srgbClr>
        </a:solidFill>
        <a:ln w="12700">
          <a:solidFill>
            <a:srgbClr val="002D73"/>
          </a:solidFill>
        </a:ln>
      </dgm:spPr>
      <dgm:t>
        <a:bodyPr/>
        <a:lstStyle/>
        <a:p>
          <a:r>
            <a:rPr lang="en-US" sz="2000" dirty="0" smtClean="0">
              <a:latin typeface="+mn-lt"/>
            </a:rPr>
            <a:t>Release Payment</a:t>
          </a:r>
          <a:endParaRPr lang="en-US" sz="2000" dirty="0">
            <a:latin typeface="+mn-lt"/>
          </a:endParaRPr>
        </a:p>
      </dgm:t>
    </dgm:pt>
    <dgm:pt modelId="{D31AABF4-3ACD-432D-B0F9-388309FE970F}" type="parTrans" cxnId="{B95D2A61-3C7F-4F30-BE7D-79B0196E9DDF}">
      <dgm:prSet/>
      <dgm:spPr/>
      <dgm:t>
        <a:bodyPr/>
        <a:lstStyle/>
        <a:p>
          <a:endParaRPr lang="en-US"/>
        </a:p>
      </dgm:t>
    </dgm:pt>
    <dgm:pt modelId="{143C2BE0-AC6B-4C22-A020-96F5B9FC1043}" type="sibTrans" cxnId="{B95D2A61-3C7F-4F30-BE7D-79B0196E9DDF}">
      <dgm:prSet/>
      <dgm:spPr/>
      <dgm:t>
        <a:bodyPr/>
        <a:lstStyle/>
        <a:p>
          <a:endParaRPr lang="en-US"/>
        </a:p>
      </dgm:t>
    </dgm:pt>
    <dgm:pt modelId="{4C8FD9CC-C9E1-4C2A-9A24-DEFDBAD349EF}">
      <dgm:prSet phldrT="[Text]" custT="1"/>
      <dgm:spPr>
        <a:solidFill>
          <a:schemeClr val="accent2">
            <a:lumMod val="75000"/>
            <a:alpha val="89804"/>
          </a:schemeClr>
        </a:solidFill>
        <a:ln>
          <a:solidFill>
            <a:srgbClr val="002D73"/>
          </a:solidFill>
        </a:ln>
      </dgm:spPr>
      <dgm:t>
        <a:bodyPr/>
        <a:lstStyle/>
        <a:p>
          <a:r>
            <a:rPr lang="en-US" sz="2000" b="0" dirty="0" smtClean="0">
              <a:solidFill>
                <a:schemeClr val="bg1"/>
              </a:solidFill>
            </a:rPr>
            <a:t>Reconciliation</a:t>
          </a:r>
          <a:endParaRPr lang="en-US" sz="2000" b="0" dirty="0">
            <a:solidFill>
              <a:schemeClr val="bg1"/>
            </a:solidFill>
            <a:latin typeface="+mn-lt"/>
          </a:endParaRPr>
        </a:p>
      </dgm:t>
    </dgm:pt>
    <dgm:pt modelId="{9011253C-D600-4247-AFB3-5C07F854DEC4}" type="parTrans" cxnId="{B5D90AA4-21C3-4438-AE1C-0BE8775FFE68}">
      <dgm:prSet/>
      <dgm:spPr/>
      <dgm:t>
        <a:bodyPr/>
        <a:lstStyle/>
        <a:p>
          <a:endParaRPr lang="en-US"/>
        </a:p>
      </dgm:t>
    </dgm:pt>
    <dgm:pt modelId="{D6182908-C37E-44FB-B4E3-CCAB86FB606F}" type="sibTrans" cxnId="{B5D90AA4-21C3-4438-AE1C-0BE8775FFE68}">
      <dgm:prSet/>
      <dgm:spPr/>
      <dgm:t>
        <a:bodyPr/>
        <a:lstStyle/>
        <a:p>
          <a:endParaRPr lang="en-US"/>
        </a:p>
      </dgm:t>
    </dgm:pt>
    <dgm:pt modelId="{0DFA0304-874C-4A65-B995-CBD988A4EA1D}">
      <dgm:prSet phldrT="[Text]" custT="1"/>
      <dgm:spPr>
        <a:solidFill>
          <a:srgbClr val="FF0000"/>
        </a:solidFill>
        <a:ln w="12700">
          <a:solidFill>
            <a:srgbClr val="002D73"/>
          </a:solidFill>
        </a:ln>
      </dgm:spPr>
      <dgm:t>
        <a:bodyPr/>
        <a:lstStyle/>
        <a:p>
          <a:r>
            <a:rPr lang="en-US" sz="2000" dirty="0" smtClean="0">
              <a:solidFill>
                <a:schemeClr val="bg1"/>
              </a:solidFill>
              <a:latin typeface="+mn-lt"/>
            </a:rPr>
            <a:t>Make Payment</a:t>
          </a:r>
          <a:endParaRPr lang="en-US" sz="2000" dirty="0">
            <a:solidFill>
              <a:schemeClr val="bg1"/>
            </a:solidFill>
            <a:latin typeface="+mn-lt"/>
          </a:endParaRPr>
        </a:p>
      </dgm:t>
    </dgm:pt>
    <dgm:pt modelId="{C1E6120F-647F-458C-AF8E-55F23B80F52F}" type="parTrans" cxnId="{571972C6-CAAF-4EEC-A9D6-318CE2ADBDD3}">
      <dgm:prSet/>
      <dgm:spPr/>
      <dgm:t>
        <a:bodyPr/>
        <a:lstStyle/>
        <a:p>
          <a:endParaRPr lang="en-US"/>
        </a:p>
      </dgm:t>
    </dgm:pt>
    <dgm:pt modelId="{32EF71EF-5D86-43FB-941B-865CC03A6A0C}" type="sibTrans" cxnId="{571972C6-CAAF-4EEC-A9D6-318CE2ADBDD3}">
      <dgm:prSet/>
      <dgm:spPr/>
      <dgm:t>
        <a:bodyPr/>
        <a:lstStyle/>
        <a:p>
          <a:endParaRPr lang="en-US"/>
        </a:p>
      </dgm:t>
    </dgm:pt>
    <dgm:pt modelId="{B0FCABA2-AA67-4284-A582-E04F8A7A2495}">
      <dgm:prSet phldrT="[Text]" custT="1"/>
      <dgm:spPr>
        <a:solidFill>
          <a:schemeClr val="bg1">
            <a:lumMod val="85000"/>
            <a:alpha val="89804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2000" dirty="0" smtClean="0">
              <a:latin typeface="+mn-lt"/>
            </a:rPr>
            <a:t>Reporting</a:t>
          </a:r>
          <a:endParaRPr lang="en-US" sz="2000" dirty="0">
            <a:latin typeface="+mn-lt"/>
          </a:endParaRPr>
        </a:p>
      </dgm:t>
    </dgm:pt>
    <dgm:pt modelId="{51E3E0F4-ED85-46AE-A477-C63A2EB51350}" type="parTrans" cxnId="{DFA8449F-2ABD-4AF7-91E5-03A127D982F6}">
      <dgm:prSet/>
      <dgm:spPr/>
      <dgm:t>
        <a:bodyPr/>
        <a:lstStyle/>
        <a:p>
          <a:endParaRPr lang="en-US"/>
        </a:p>
      </dgm:t>
    </dgm:pt>
    <dgm:pt modelId="{BE5DE984-1E8D-4ACE-BA8B-7DB8EAB88D02}" type="sibTrans" cxnId="{DFA8449F-2ABD-4AF7-91E5-03A127D982F6}">
      <dgm:prSet/>
      <dgm:spPr/>
      <dgm:t>
        <a:bodyPr/>
        <a:lstStyle/>
        <a:p>
          <a:endParaRPr lang="en-US"/>
        </a:p>
      </dgm:t>
    </dgm:pt>
    <dgm:pt modelId="{EA46A26D-FC15-4FBA-AD8D-B2C03D9EC9F4}" type="pres">
      <dgm:prSet presAssocID="{B7799885-90EC-448B-A5E6-EF402A2B4455}" presName="Name0" presStyleCnt="0">
        <dgm:presLayoutVars>
          <dgm:chMax val="11"/>
          <dgm:chPref val="11"/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56264BB1-ED82-4F90-8CF3-175F1AE56A5D}" type="pres">
      <dgm:prSet presAssocID="{B0FCABA2-AA67-4284-A582-E04F8A7A2495}" presName="Accent5" presStyleCnt="0"/>
      <dgm:spPr/>
    </dgm:pt>
    <dgm:pt modelId="{F5BF9BC4-6BAB-4577-A90C-A74021483097}" type="pres">
      <dgm:prSet presAssocID="{B0FCABA2-AA67-4284-A582-E04F8A7A2495}" presName="Accent" presStyleLbl="node1" presStyleIdx="0" presStyleCnt="5"/>
      <dgm:spPr/>
    </dgm:pt>
    <dgm:pt modelId="{A29D1413-6E39-4052-B462-E74493969C80}" type="pres">
      <dgm:prSet presAssocID="{B0FCABA2-AA67-4284-A582-E04F8A7A2495}" presName="ParentBackground5" presStyleCnt="0"/>
      <dgm:spPr/>
    </dgm:pt>
    <dgm:pt modelId="{1BCF17FA-19B1-4BE6-9799-112FC038D689}" type="pres">
      <dgm:prSet presAssocID="{B0FCABA2-AA67-4284-A582-E04F8A7A2495}" presName="ParentBackground" presStyleLbl="fgAcc1" presStyleIdx="0" presStyleCnt="5"/>
      <dgm:spPr/>
      <dgm:t>
        <a:bodyPr/>
        <a:lstStyle/>
        <a:p>
          <a:endParaRPr lang="en-US"/>
        </a:p>
      </dgm:t>
    </dgm:pt>
    <dgm:pt modelId="{FFE42FB5-1618-4650-B8D1-3F4094546AE4}" type="pres">
      <dgm:prSet presAssocID="{B0FCABA2-AA67-4284-A582-E04F8A7A2495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D8EA84-F14D-4CDF-826C-624781F29B78}" type="pres">
      <dgm:prSet presAssocID="{4C8FD9CC-C9E1-4C2A-9A24-DEFDBAD349EF}" presName="Accent4" presStyleCnt="0"/>
      <dgm:spPr/>
    </dgm:pt>
    <dgm:pt modelId="{912B6635-5F98-4686-858B-65F2692317D9}" type="pres">
      <dgm:prSet presAssocID="{4C8FD9CC-C9E1-4C2A-9A24-DEFDBAD349EF}" presName="Accent" presStyleLbl="node1" presStyleIdx="1" presStyleCnt="5"/>
      <dgm:spPr>
        <a:noFill/>
        <a:ln w="28575">
          <a:solidFill>
            <a:schemeClr val="tx1"/>
          </a:solidFill>
        </a:ln>
      </dgm:spPr>
    </dgm:pt>
    <dgm:pt modelId="{4D898C36-F6D8-473C-A22B-581ABB0C809A}" type="pres">
      <dgm:prSet presAssocID="{4C8FD9CC-C9E1-4C2A-9A24-DEFDBAD349EF}" presName="ParentBackground4" presStyleCnt="0"/>
      <dgm:spPr/>
    </dgm:pt>
    <dgm:pt modelId="{C42AEE01-8096-42F3-A396-A4FC48EADBB4}" type="pres">
      <dgm:prSet presAssocID="{4C8FD9CC-C9E1-4C2A-9A24-DEFDBAD349EF}" presName="ParentBackground" presStyleLbl="fgAcc1" presStyleIdx="1" presStyleCnt="5" custScaleX="119976" custScaleY="120445" custLinFactNeighborX="-2"/>
      <dgm:spPr/>
      <dgm:t>
        <a:bodyPr/>
        <a:lstStyle/>
        <a:p>
          <a:endParaRPr lang="en-US"/>
        </a:p>
      </dgm:t>
    </dgm:pt>
    <dgm:pt modelId="{43E09396-D415-4C1D-8646-ED9BDE6564B3}" type="pres">
      <dgm:prSet presAssocID="{4C8FD9CC-C9E1-4C2A-9A24-DEFDBAD349EF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597770-BCF3-400A-8F1B-F352A56C3964}" type="pres">
      <dgm:prSet presAssocID="{0DFA0304-874C-4A65-B995-CBD988A4EA1D}" presName="Accent3" presStyleCnt="0"/>
      <dgm:spPr/>
    </dgm:pt>
    <dgm:pt modelId="{F3345FD4-D68E-4CC4-8A5E-DB56D2182E02}" type="pres">
      <dgm:prSet presAssocID="{0DFA0304-874C-4A65-B995-CBD988A4EA1D}" presName="Accent" presStyleLbl="node1" presStyleIdx="2" presStyleCnt="5" custLinFactNeighborX="-1658"/>
      <dgm:spPr>
        <a:noFill/>
        <a:ln>
          <a:solidFill>
            <a:schemeClr val="tx1"/>
          </a:solidFill>
        </a:ln>
      </dgm:spPr>
    </dgm:pt>
    <dgm:pt modelId="{B85AFE10-4879-4EA2-A6CE-4AEE0BE79A46}" type="pres">
      <dgm:prSet presAssocID="{0DFA0304-874C-4A65-B995-CBD988A4EA1D}" presName="ParentBackground3" presStyleCnt="0"/>
      <dgm:spPr/>
    </dgm:pt>
    <dgm:pt modelId="{39E53DC8-941D-4DDE-AAD9-FCAFD3EC4023}" type="pres">
      <dgm:prSet presAssocID="{0DFA0304-874C-4A65-B995-CBD988A4EA1D}" presName="ParentBackground" presStyleLbl="fgAcc1" presStyleIdx="2" presStyleCnt="5" custScaleX="97683" custLinFactNeighborX="-2516"/>
      <dgm:spPr/>
      <dgm:t>
        <a:bodyPr/>
        <a:lstStyle/>
        <a:p>
          <a:endParaRPr lang="en-US"/>
        </a:p>
      </dgm:t>
    </dgm:pt>
    <dgm:pt modelId="{1F3219CD-F50B-4754-8F7D-0EDB92C55F23}" type="pres">
      <dgm:prSet presAssocID="{0DFA0304-874C-4A65-B995-CBD988A4EA1D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A03842-9E67-4199-A565-26AADC44A5ED}" type="pres">
      <dgm:prSet presAssocID="{909A296E-D754-48F8-860D-6EE69996442F}" presName="Accent2" presStyleCnt="0"/>
      <dgm:spPr/>
    </dgm:pt>
    <dgm:pt modelId="{89DFBE28-7300-41D6-AB92-AC502E6D90FC}" type="pres">
      <dgm:prSet presAssocID="{909A296E-D754-48F8-860D-6EE69996442F}" presName="Accent" presStyleLbl="node1" presStyleIdx="3" presStyleCnt="5"/>
      <dgm:spPr>
        <a:noFill/>
        <a:ln w="28575">
          <a:solidFill>
            <a:schemeClr val="tx1"/>
          </a:solidFill>
        </a:ln>
      </dgm:spPr>
    </dgm:pt>
    <dgm:pt modelId="{F7CC27F8-2EE0-4532-9BCE-86986465764E}" type="pres">
      <dgm:prSet presAssocID="{909A296E-D754-48F8-860D-6EE69996442F}" presName="ParentBackground2" presStyleCnt="0"/>
      <dgm:spPr/>
    </dgm:pt>
    <dgm:pt modelId="{776D4B27-0EF4-4AD6-A9B5-748DCDFB24D0}" type="pres">
      <dgm:prSet presAssocID="{909A296E-D754-48F8-860D-6EE69996442F}" presName="ParentBackground" presStyleLbl="fgAcc1" presStyleIdx="3" presStyleCnt="5"/>
      <dgm:spPr/>
      <dgm:t>
        <a:bodyPr/>
        <a:lstStyle/>
        <a:p>
          <a:endParaRPr lang="en-US"/>
        </a:p>
      </dgm:t>
    </dgm:pt>
    <dgm:pt modelId="{E45A6CF2-9276-4B3D-BAA0-379B52AAB91D}" type="pres">
      <dgm:prSet presAssocID="{909A296E-D754-48F8-860D-6EE69996442F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E45637-F4F6-4BEA-8D04-9DB0837747EE}" type="pres">
      <dgm:prSet presAssocID="{73B533C0-8C15-4C19-BD96-9D21D3988BD5}" presName="Accent1" presStyleCnt="0"/>
      <dgm:spPr/>
    </dgm:pt>
    <dgm:pt modelId="{5A182BD6-932E-4A6A-A774-6DAEB079B70F}" type="pres">
      <dgm:prSet presAssocID="{73B533C0-8C15-4C19-BD96-9D21D3988BD5}" presName="Accent" presStyleLbl="node1" presStyleIdx="4" presStyleCnt="5"/>
      <dgm:spPr>
        <a:noFill/>
        <a:ln>
          <a:solidFill>
            <a:schemeClr val="tx1"/>
          </a:solidFill>
        </a:ln>
      </dgm:spPr>
    </dgm:pt>
    <dgm:pt modelId="{68F1AD57-99A8-4DED-9A92-8F8F21DBE104}" type="pres">
      <dgm:prSet presAssocID="{73B533C0-8C15-4C19-BD96-9D21D3988BD5}" presName="ParentBackground1" presStyleCnt="0"/>
      <dgm:spPr/>
    </dgm:pt>
    <dgm:pt modelId="{22BAC551-0C08-45D2-9FCA-06BA1703163F}" type="pres">
      <dgm:prSet presAssocID="{73B533C0-8C15-4C19-BD96-9D21D3988BD5}" presName="ParentBackground" presStyleLbl="fgAcc1" presStyleIdx="4" presStyleCnt="5"/>
      <dgm:spPr/>
      <dgm:t>
        <a:bodyPr/>
        <a:lstStyle/>
        <a:p>
          <a:endParaRPr lang="en-US"/>
        </a:p>
      </dgm:t>
    </dgm:pt>
    <dgm:pt modelId="{717D1FF3-F88B-4432-AD35-88675A8D81D6}" type="pres">
      <dgm:prSet presAssocID="{73B533C0-8C15-4C19-BD96-9D21D3988BD5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D7E17F3-CC39-4DEB-A7C0-DEE899CAC1F1}" type="presOf" srcId="{4C8FD9CC-C9E1-4C2A-9A24-DEFDBAD349EF}" destId="{C42AEE01-8096-42F3-A396-A4FC48EADBB4}" srcOrd="0" destOrd="0" presId="urn:microsoft.com/office/officeart/2011/layout/CircleProcess"/>
    <dgm:cxn modelId="{3FC13C44-0D49-40A6-9AB6-372D670A839A}" type="presOf" srcId="{0DFA0304-874C-4A65-B995-CBD988A4EA1D}" destId="{39E53DC8-941D-4DDE-AAD9-FCAFD3EC4023}" srcOrd="0" destOrd="0" presId="urn:microsoft.com/office/officeart/2011/layout/CircleProcess"/>
    <dgm:cxn modelId="{C29D29C0-CF88-476C-96B0-C5AB1A754610}" type="presOf" srcId="{4C8FD9CC-C9E1-4C2A-9A24-DEFDBAD349EF}" destId="{43E09396-D415-4C1D-8646-ED9BDE6564B3}" srcOrd="1" destOrd="0" presId="urn:microsoft.com/office/officeart/2011/layout/CircleProcess"/>
    <dgm:cxn modelId="{3A8C18B6-1BE6-4E6B-98B6-0CC4E5625D18}" srcId="{B7799885-90EC-448B-A5E6-EF402A2B4455}" destId="{73B533C0-8C15-4C19-BD96-9D21D3988BD5}" srcOrd="0" destOrd="0" parTransId="{DF88C67E-A8C4-4033-8E86-B3F3B9095760}" sibTransId="{C605212A-447D-44E7-82CE-D04C08348439}"/>
    <dgm:cxn modelId="{93314DF7-CE8B-494B-A47E-DCE53056899F}" type="presOf" srcId="{909A296E-D754-48F8-860D-6EE69996442F}" destId="{776D4B27-0EF4-4AD6-A9B5-748DCDFB24D0}" srcOrd="0" destOrd="0" presId="urn:microsoft.com/office/officeart/2011/layout/CircleProcess"/>
    <dgm:cxn modelId="{571972C6-CAAF-4EEC-A9D6-318CE2ADBDD3}" srcId="{B7799885-90EC-448B-A5E6-EF402A2B4455}" destId="{0DFA0304-874C-4A65-B995-CBD988A4EA1D}" srcOrd="2" destOrd="0" parTransId="{C1E6120F-647F-458C-AF8E-55F23B80F52F}" sibTransId="{32EF71EF-5D86-43FB-941B-865CC03A6A0C}"/>
    <dgm:cxn modelId="{B95D2A61-3C7F-4F30-BE7D-79B0196E9DDF}" srcId="{B7799885-90EC-448B-A5E6-EF402A2B4455}" destId="{909A296E-D754-48F8-860D-6EE69996442F}" srcOrd="1" destOrd="0" parTransId="{D31AABF4-3ACD-432D-B0F9-388309FE970F}" sibTransId="{143C2BE0-AC6B-4C22-A020-96F5B9FC1043}"/>
    <dgm:cxn modelId="{C5BBAF29-CD59-4F40-B70D-C86D244E3B94}" type="presOf" srcId="{B0FCABA2-AA67-4284-A582-E04F8A7A2495}" destId="{1BCF17FA-19B1-4BE6-9799-112FC038D689}" srcOrd="0" destOrd="0" presId="urn:microsoft.com/office/officeart/2011/layout/CircleProcess"/>
    <dgm:cxn modelId="{E34EE762-D0A8-4807-890C-B4CE6257B002}" type="presOf" srcId="{909A296E-D754-48F8-860D-6EE69996442F}" destId="{E45A6CF2-9276-4B3D-BAA0-379B52AAB91D}" srcOrd="1" destOrd="0" presId="urn:microsoft.com/office/officeart/2011/layout/CircleProcess"/>
    <dgm:cxn modelId="{529E5301-823E-4D8F-838C-295FC016A56D}" type="presOf" srcId="{73B533C0-8C15-4C19-BD96-9D21D3988BD5}" destId="{22BAC551-0C08-45D2-9FCA-06BA1703163F}" srcOrd="0" destOrd="0" presId="urn:microsoft.com/office/officeart/2011/layout/CircleProcess"/>
    <dgm:cxn modelId="{04A5BC76-F42A-4CBC-A9EC-259D936C44B7}" type="presOf" srcId="{B7799885-90EC-448B-A5E6-EF402A2B4455}" destId="{EA46A26D-FC15-4FBA-AD8D-B2C03D9EC9F4}" srcOrd="0" destOrd="0" presId="urn:microsoft.com/office/officeart/2011/layout/CircleProcess"/>
    <dgm:cxn modelId="{DFA8449F-2ABD-4AF7-91E5-03A127D982F6}" srcId="{B7799885-90EC-448B-A5E6-EF402A2B4455}" destId="{B0FCABA2-AA67-4284-A582-E04F8A7A2495}" srcOrd="4" destOrd="0" parTransId="{51E3E0F4-ED85-46AE-A477-C63A2EB51350}" sibTransId="{BE5DE984-1E8D-4ACE-BA8B-7DB8EAB88D02}"/>
    <dgm:cxn modelId="{87E64112-439C-45AF-A8E0-2856D51901C2}" type="presOf" srcId="{73B533C0-8C15-4C19-BD96-9D21D3988BD5}" destId="{717D1FF3-F88B-4432-AD35-88675A8D81D6}" srcOrd="1" destOrd="0" presId="urn:microsoft.com/office/officeart/2011/layout/CircleProcess"/>
    <dgm:cxn modelId="{F2F28B1C-3745-4E1B-9640-D12EED0379C2}" type="presOf" srcId="{0DFA0304-874C-4A65-B995-CBD988A4EA1D}" destId="{1F3219CD-F50B-4754-8F7D-0EDB92C55F23}" srcOrd="1" destOrd="0" presId="urn:microsoft.com/office/officeart/2011/layout/CircleProcess"/>
    <dgm:cxn modelId="{BADF13F1-9E51-4BDF-920B-FEBAE49A8E7E}" type="presOf" srcId="{B0FCABA2-AA67-4284-A582-E04F8A7A2495}" destId="{FFE42FB5-1618-4650-B8D1-3F4094546AE4}" srcOrd="1" destOrd="0" presId="urn:microsoft.com/office/officeart/2011/layout/CircleProcess"/>
    <dgm:cxn modelId="{B5D90AA4-21C3-4438-AE1C-0BE8775FFE68}" srcId="{B7799885-90EC-448B-A5E6-EF402A2B4455}" destId="{4C8FD9CC-C9E1-4C2A-9A24-DEFDBAD349EF}" srcOrd="3" destOrd="0" parTransId="{9011253C-D600-4247-AFB3-5C07F854DEC4}" sibTransId="{D6182908-C37E-44FB-B4E3-CCAB86FB606F}"/>
    <dgm:cxn modelId="{704D9B28-899A-4C34-A411-CA4A5BC3249B}" type="presParOf" srcId="{EA46A26D-FC15-4FBA-AD8D-B2C03D9EC9F4}" destId="{56264BB1-ED82-4F90-8CF3-175F1AE56A5D}" srcOrd="0" destOrd="0" presId="urn:microsoft.com/office/officeart/2011/layout/CircleProcess"/>
    <dgm:cxn modelId="{F0D6A209-CB65-41C9-ABEE-28C0C28EECA9}" type="presParOf" srcId="{56264BB1-ED82-4F90-8CF3-175F1AE56A5D}" destId="{F5BF9BC4-6BAB-4577-A90C-A74021483097}" srcOrd="0" destOrd="0" presId="urn:microsoft.com/office/officeart/2011/layout/CircleProcess"/>
    <dgm:cxn modelId="{915F44A9-6471-498D-820E-F96674CAC7EF}" type="presParOf" srcId="{EA46A26D-FC15-4FBA-AD8D-B2C03D9EC9F4}" destId="{A29D1413-6E39-4052-B462-E74493969C80}" srcOrd="1" destOrd="0" presId="urn:microsoft.com/office/officeart/2011/layout/CircleProcess"/>
    <dgm:cxn modelId="{CF356DC1-C30D-4611-9190-89E9C74C61F6}" type="presParOf" srcId="{A29D1413-6E39-4052-B462-E74493969C80}" destId="{1BCF17FA-19B1-4BE6-9799-112FC038D689}" srcOrd="0" destOrd="0" presId="urn:microsoft.com/office/officeart/2011/layout/CircleProcess"/>
    <dgm:cxn modelId="{ECAC81EC-3C60-4E4F-A495-F0DCD8FA53DB}" type="presParOf" srcId="{EA46A26D-FC15-4FBA-AD8D-B2C03D9EC9F4}" destId="{FFE42FB5-1618-4650-B8D1-3F4094546AE4}" srcOrd="2" destOrd="0" presId="urn:microsoft.com/office/officeart/2011/layout/CircleProcess"/>
    <dgm:cxn modelId="{DEA621DB-CAF7-49C7-8F96-8B7B43D4C71D}" type="presParOf" srcId="{EA46A26D-FC15-4FBA-AD8D-B2C03D9EC9F4}" destId="{ECD8EA84-F14D-4CDF-826C-624781F29B78}" srcOrd="3" destOrd="0" presId="urn:microsoft.com/office/officeart/2011/layout/CircleProcess"/>
    <dgm:cxn modelId="{C292402D-28D9-49C8-9C79-8F1854B868C6}" type="presParOf" srcId="{ECD8EA84-F14D-4CDF-826C-624781F29B78}" destId="{912B6635-5F98-4686-858B-65F2692317D9}" srcOrd="0" destOrd="0" presId="urn:microsoft.com/office/officeart/2011/layout/CircleProcess"/>
    <dgm:cxn modelId="{53923695-51E7-4BBC-8A6C-822B368497C4}" type="presParOf" srcId="{EA46A26D-FC15-4FBA-AD8D-B2C03D9EC9F4}" destId="{4D898C36-F6D8-473C-A22B-581ABB0C809A}" srcOrd="4" destOrd="0" presId="urn:microsoft.com/office/officeart/2011/layout/CircleProcess"/>
    <dgm:cxn modelId="{EDF2716E-A1E8-4802-A596-017CBF6261EA}" type="presParOf" srcId="{4D898C36-F6D8-473C-A22B-581ABB0C809A}" destId="{C42AEE01-8096-42F3-A396-A4FC48EADBB4}" srcOrd="0" destOrd="0" presId="urn:microsoft.com/office/officeart/2011/layout/CircleProcess"/>
    <dgm:cxn modelId="{BEFC4137-11C2-46B3-A7BB-F158B9156571}" type="presParOf" srcId="{EA46A26D-FC15-4FBA-AD8D-B2C03D9EC9F4}" destId="{43E09396-D415-4C1D-8646-ED9BDE6564B3}" srcOrd="5" destOrd="0" presId="urn:microsoft.com/office/officeart/2011/layout/CircleProcess"/>
    <dgm:cxn modelId="{B0E94C97-C304-463D-A7BC-BB25F2373CA3}" type="presParOf" srcId="{EA46A26D-FC15-4FBA-AD8D-B2C03D9EC9F4}" destId="{1F597770-BCF3-400A-8F1B-F352A56C3964}" srcOrd="6" destOrd="0" presId="urn:microsoft.com/office/officeart/2011/layout/CircleProcess"/>
    <dgm:cxn modelId="{32890799-9D90-44C9-9B3B-B422D8C853F2}" type="presParOf" srcId="{1F597770-BCF3-400A-8F1B-F352A56C3964}" destId="{F3345FD4-D68E-4CC4-8A5E-DB56D2182E02}" srcOrd="0" destOrd="0" presId="urn:microsoft.com/office/officeart/2011/layout/CircleProcess"/>
    <dgm:cxn modelId="{99B48C6B-1838-4750-85EF-CF93D586AF03}" type="presParOf" srcId="{EA46A26D-FC15-4FBA-AD8D-B2C03D9EC9F4}" destId="{B85AFE10-4879-4EA2-A6CE-4AEE0BE79A46}" srcOrd="7" destOrd="0" presId="urn:microsoft.com/office/officeart/2011/layout/CircleProcess"/>
    <dgm:cxn modelId="{925FD409-1FA0-46AB-A528-991169A56BBF}" type="presParOf" srcId="{B85AFE10-4879-4EA2-A6CE-4AEE0BE79A46}" destId="{39E53DC8-941D-4DDE-AAD9-FCAFD3EC4023}" srcOrd="0" destOrd="0" presId="urn:microsoft.com/office/officeart/2011/layout/CircleProcess"/>
    <dgm:cxn modelId="{04677058-F6AE-4E66-82CC-2B8B28DA75ED}" type="presParOf" srcId="{EA46A26D-FC15-4FBA-AD8D-B2C03D9EC9F4}" destId="{1F3219CD-F50B-4754-8F7D-0EDB92C55F23}" srcOrd="8" destOrd="0" presId="urn:microsoft.com/office/officeart/2011/layout/CircleProcess"/>
    <dgm:cxn modelId="{4ED53A24-1B01-4A72-B9E4-D76963A6590C}" type="presParOf" srcId="{EA46A26D-FC15-4FBA-AD8D-B2C03D9EC9F4}" destId="{FCA03842-9E67-4199-A565-26AADC44A5ED}" srcOrd="9" destOrd="0" presId="urn:microsoft.com/office/officeart/2011/layout/CircleProcess"/>
    <dgm:cxn modelId="{1CEE687B-2A2F-45A1-96A8-C0CBE11C5CB6}" type="presParOf" srcId="{FCA03842-9E67-4199-A565-26AADC44A5ED}" destId="{89DFBE28-7300-41D6-AB92-AC502E6D90FC}" srcOrd="0" destOrd="0" presId="urn:microsoft.com/office/officeart/2011/layout/CircleProcess"/>
    <dgm:cxn modelId="{9CEE7D86-D9FF-4FCD-A06B-EAB148D3461E}" type="presParOf" srcId="{EA46A26D-FC15-4FBA-AD8D-B2C03D9EC9F4}" destId="{F7CC27F8-2EE0-4532-9BCE-86986465764E}" srcOrd="10" destOrd="0" presId="urn:microsoft.com/office/officeart/2011/layout/CircleProcess"/>
    <dgm:cxn modelId="{E9076B69-AF3D-439F-ABE7-2AA37DEC0F1A}" type="presParOf" srcId="{F7CC27F8-2EE0-4532-9BCE-86986465764E}" destId="{776D4B27-0EF4-4AD6-A9B5-748DCDFB24D0}" srcOrd="0" destOrd="0" presId="urn:microsoft.com/office/officeart/2011/layout/CircleProcess"/>
    <dgm:cxn modelId="{7E751E4F-3700-4A63-BA8B-94CFC8B3878C}" type="presParOf" srcId="{EA46A26D-FC15-4FBA-AD8D-B2C03D9EC9F4}" destId="{E45A6CF2-9276-4B3D-BAA0-379B52AAB91D}" srcOrd="11" destOrd="0" presId="urn:microsoft.com/office/officeart/2011/layout/CircleProcess"/>
    <dgm:cxn modelId="{D0570CAA-60EA-4F04-A9C7-2C479F87F7B7}" type="presParOf" srcId="{EA46A26D-FC15-4FBA-AD8D-B2C03D9EC9F4}" destId="{84E45637-F4F6-4BEA-8D04-9DB0837747EE}" srcOrd="12" destOrd="0" presId="urn:microsoft.com/office/officeart/2011/layout/CircleProcess"/>
    <dgm:cxn modelId="{FE2C659F-0CE1-47D9-BECC-3B08ACF639BB}" type="presParOf" srcId="{84E45637-F4F6-4BEA-8D04-9DB0837747EE}" destId="{5A182BD6-932E-4A6A-A774-6DAEB079B70F}" srcOrd="0" destOrd="0" presId="urn:microsoft.com/office/officeart/2011/layout/CircleProcess"/>
    <dgm:cxn modelId="{7601C8A7-578F-4EF6-ABF1-2B94753A2037}" type="presParOf" srcId="{EA46A26D-FC15-4FBA-AD8D-B2C03D9EC9F4}" destId="{68F1AD57-99A8-4DED-9A92-8F8F21DBE104}" srcOrd="13" destOrd="0" presId="urn:microsoft.com/office/officeart/2011/layout/CircleProcess"/>
    <dgm:cxn modelId="{0848A2C4-B94E-484F-85CF-84CD4F183C2D}" type="presParOf" srcId="{68F1AD57-99A8-4DED-9A92-8F8F21DBE104}" destId="{22BAC551-0C08-45D2-9FCA-06BA1703163F}" srcOrd="0" destOrd="0" presId="urn:microsoft.com/office/officeart/2011/layout/CircleProcess"/>
    <dgm:cxn modelId="{E7D65495-4CDD-4E16-A1C7-DB3BDE0F2FFA}" type="presParOf" srcId="{EA46A26D-FC15-4FBA-AD8D-B2C03D9EC9F4}" destId="{717D1FF3-F88B-4432-AD35-88675A8D81D6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799885-90EC-448B-A5E6-EF402A2B4455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B533C0-8C15-4C19-BD96-9D21D3988BD5}">
      <dgm:prSet phldrT="[Text]" custT="1"/>
      <dgm:spPr>
        <a:solidFill>
          <a:schemeClr val="bg1">
            <a:lumMod val="85000"/>
            <a:alpha val="89804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Invoice Receipt/ Verification</a:t>
          </a:r>
          <a:endParaRPr lang="en-US" sz="500" dirty="0">
            <a:latin typeface="+mn-lt"/>
          </a:endParaRPr>
        </a:p>
      </dgm:t>
    </dgm:pt>
    <dgm:pt modelId="{DF88C67E-A8C4-4033-8E86-B3F3B9095760}" type="parTrans" cxnId="{3A8C18B6-1BE6-4E6B-98B6-0CC4E5625D18}">
      <dgm:prSet/>
      <dgm:spPr/>
      <dgm:t>
        <a:bodyPr/>
        <a:lstStyle/>
        <a:p>
          <a:endParaRPr lang="en-US"/>
        </a:p>
      </dgm:t>
    </dgm:pt>
    <dgm:pt modelId="{C605212A-447D-44E7-82CE-D04C08348439}" type="sibTrans" cxnId="{3A8C18B6-1BE6-4E6B-98B6-0CC4E5625D18}">
      <dgm:prSet/>
      <dgm:spPr/>
      <dgm:t>
        <a:bodyPr/>
        <a:lstStyle/>
        <a:p>
          <a:endParaRPr lang="en-US"/>
        </a:p>
      </dgm:t>
    </dgm:pt>
    <dgm:pt modelId="{909A296E-D754-48F8-860D-6EE69996442F}">
      <dgm:prSet phldrT="[Text]" custT="1"/>
      <dgm:spPr>
        <a:solidFill>
          <a:srgbClr val="F4DCDC">
            <a:alpha val="89804"/>
          </a:srgbClr>
        </a:solidFill>
        <a:ln w="12700">
          <a:solidFill>
            <a:srgbClr val="002D73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Release Payment</a:t>
          </a:r>
          <a:endParaRPr lang="en-US" sz="500" dirty="0">
            <a:latin typeface="+mn-lt"/>
          </a:endParaRPr>
        </a:p>
      </dgm:t>
    </dgm:pt>
    <dgm:pt modelId="{D31AABF4-3ACD-432D-B0F9-388309FE970F}" type="parTrans" cxnId="{B95D2A61-3C7F-4F30-BE7D-79B0196E9DDF}">
      <dgm:prSet/>
      <dgm:spPr/>
      <dgm:t>
        <a:bodyPr/>
        <a:lstStyle/>
        <a:p>
          <a:endParaRPr lang="en-US"/>
        </a:p>
      </dgm:t>
    </dgm:pt>
    <dgm:pt modelId="{143C2BE0-AC6B-4C22-A020-96F5B9FC1043}" type="sibTrans" cxnId="{B95D2A61-3C7F-4F30-BE7D-79B0196E9DDF}">
      <dgm:prSet/>
      <dgm:spPr/>
      <dgm:t>
        <a:bodyPr/>
        <a:lstStyle/>
        <a:p>
          <a:endParaRPr lang="en-US"/>
        </a:p>
      </dgm:t>
    </dgm:pt>
    <dgm:pt modelId="{4C8FD9CC-C9E1-4C2A-9A24-DEFDBAD349EF}">
      <dgm:prSet phldrT="[Text]" custT="1"/>
      <dgm:spPr>
        <a:solidFill>
          <a:schemeClr val="accent2">
            <a:lumMod val="75000"/>
            <a:alpha val="89804"/>
          </a:schemeClr>
        </a:solidFill>
        <a:ln>
          <a:solidFill>
            <a:srgbClr val="002D73"/>
          </a:solidFill>
        </a:ln>
      </dgm:spPr>
      <dgm:t>
        <a:bodyPr/>
        <a:lstStyle/>
        <a:p>
          <a:r>
            <a:rPr lang="en-US" sz="500" b="0" dirty="0" smtClean="0">
              <a:solidFill>
                <a:schemeClr val="bg1"/>
              </a:solidFill>
            </a:rPr>
            <a:t>Reconciliation</a:t>
          </a:r>
          <a:endParaRPr lang="en-US" sz="500" b="0" dirty="0">
            <a:solidFill>
              <a:schemeClr val="bg1"/>
            </a:solidFill>
            <a:latin typeface="+mn-lt"/>
          </a:endParaRPr>
        </a:p>
      </dgm:t>
    </dgm:pt>
    <dgm:pt modelId="{9011253C-D600-4247-AFB3-5C07F854DEC4}" type="parTrans" cxnId="{B5D90AA4-21C3-4438-AE1C-0BE8775FFE68}">
      <dgm:prSet/>
      <dgm:spPr/>
      <dgm:t>
        <a:bodyPr/>
        <a:lstStyle/>
        <a:p>
          <a:endParaRPr lang="en-US"/>
        </a:p>
      </dgm:t>
    </dgm:pt>
    <dgm:pt modelId="{D6182908-C37E-44FB-B4E3-CCAB86FB606F}" type="sibTrans" cxnId="{B5D90AA4-21C3-4438-AE1C-0BE8775FFE68}">
      <dgm:prSet/>
      <dgm:spPr/>
      <dgm:t>
        <a:bodyPr/>
        <a:lstStyle/>
        <a:p>
          <a:endParaRPr lang="en-US"/>
        </a:p>
      </dgm:t>
    </dgm:pt>
    <dgm:pt modelId="{0DFA0304-874C-4A65-B995-CBD988A4EA1D}">
      <dgm:prSet phldrT="[Text]" custT="1"/>
      <dgm:spPr>
        <a:solidFill>
          <a:srgbClr val="FF0000"/>
        </a:solidFill>
        <a:ln w="12700">
          <a:solidFill>
            <a:srgbClr val="002D73"/>
          </a:solidFill>
        </a:ln>
      </dgm:spPr>
      <dgm:t>
        <a:bodyPr/>
        <a:lstStyle/>
        <a:p>
          <a:r>
            <a:rPr lang="en-US" sz="500" dirty="0" smtClean="0">
              <a:solidFill>
                <a:schemeClr val="bg1"/>
              </a:solidFill>
              <a:latin typeface="+mn-lt"/>
            </a:rPr>
            <a:t>Make Payment</a:t>
          </a:r>
          <a:endParaRPr lang="en-US" sz="500" dirty="0">
            <a:solidFill>
              <a:schemeClr val="bg1"/>
            </a:solidFill>
            <a:latin typeface="+mn-lt"/>
          </a:endParaRPr>
        </a:p>
      </dgm:t>
    </dgm:pt>
    <dgm:pt modelId="{C1E6120F-647F-458C-AF8E-55F23B80F52F}" type="parTrans" cxnId="{571972C6-CAAF-4EEC-A9D6-318CE2ADBDD3}">
      <dgm:prSet/>
      <dgm:spPr/>
      <dgm:t>
        <a:bodyPr/>
        <a:lstStyle/>
        <a:p>
          <a:endParaRPr lang="en-US"/>
        </a:p>
      </dgm:t>
    </dgm:pt>
    <dgm:pt modelId="{32EF71EF-5D86-43FB-941B-865CC03A6A0C}" type="sibTrans" cxnId="{571972C6-CAAF-4EEC-A9D6-318CE2ADBDD3}">
      <dgm:prSet/>
      <dgm:spPr/>
      <dgm:t>
        <a:bodyPr/>
        <a:lstStyle/>
        <a:p>
          <a:endParaRPr lang="en-US"/>
        </a:p>
      </dgm:t>
    </dgm:pt>
    <dgm:pt modelId="{B0FCABA2-AA67-4284-A582-E04F8A7A2495}">
      <dgm:prSet phldrT="[Text]" custT="1"/>
      <dgm:spPr>
        <a:solidFill>
          <a:schemeClr val="bg1">
            <a:lumMod val="85000"/>
            <a:alpha val="89804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Reporting</a:t>
          </a:r>
          <a:endParaRPr lang="en-US" sz="500" dirty="0">
            <a:latin typeface="+mn-lt"/>
          </a:endParaRPr>
        </a:p>
      </dgm:t>
    </dgm:pt>
    <dgm:pt modelId="{51E3E0F4-ED85-46AE-A477-C63A2EB51350}" type="parTrans" cxnId="{DFA8449F-2ABD-4AF7-91E5-03A127D982F6}">
      <dgm:prSet/>
      <dgm:spPr/>
      <dgm:t>
        <a:bodyPr/>
        <a:lstStyle/>
        <a:p>
          <a:endParaRPr lang="en-US"/>
        </a:p>
      </dgm:t>
    </dgm:pt>
    <dgm:pt modelId="{BE5DE984-1E8D-4ACE-BA8B-7DB8EAB88D02}" type="sibTrans" cxnId="{DFA8449F-2ABD-4AF7-91E5-03A127D982F6}">
      <dgm:prSet/>
      <dgm:spPr/>
      <dgm:t>
        <a:bodyPr/>
        <a:lstStyle/>
        <a:p>
          <a:endParaRPr lang="en-US"/>
        </a:p>
      </dgm:t>
    </dgm:pt>
    <dgm:pt modelId="{EA46A26D-FC15-4FBA-AD8D-B2C03D9EC9F4}" type="pres">
      <dgm:prSet presAssocID="{B7799885-90EC-448B-A5E6-EF402A2B4455}" presName="Name0" presStyleCnt="0">
        <dgm:presLayoutVars>
          <dgm:chMax val="11"/>
          <dgm:chPref val="11"/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56264BB1-ED82-4F90-8CF3-175F1AE56A5D}" type="pres">
      <dgm:prSet presAssocID="{B0FCABA2-AA67-4284-A582-E04F8A7A2495}" presName="Accent5" presStyleCnt="0"/>
      <dgm:spPr/>
    </dgm:pt>
    <dgm:pt modelId="{F5BF9BC4-6BAB-4577-A90C-A74021483097}" type="pres">
      <dgm:prSet presAssocID="{B0FCABA2-AA67-4284-A582-E04F8A7A2495}" presName="Accent" presStyleLbl="node1" presStyleIdx="0" presStyleCnt="5"/>
      <dgm:spPr/>
    </dgm:pt>
    <dgm:pt modelId="{A29D1413-6E39-4052-B462-E74493969C80}" type="pres">
      <dgm:prSet presAssocID="{B0FCABA2-AA67-4284-A582-E04F8A7A2495}" presName="ParentBackground5" presStyleCnt="0"/>
      <dgm:spPr/>
    </dgm:pt>
    <dgm:pt modelId="{1BCF17FA-19B1-4BE6-9799-112FC038D689}" type="pres">
      <dgm:prSet presAssocID="{B0FCABA2-AA67-4284-A582-E04F8A7A2495}" presName="ParentBackground" presStyleLbl="fgAcc1" presStyleIdx="0" presStyleCnt="5"/>
      <dgm:spPr/>
      <dgm:t>
        <a:bodyPr/>
        <a:lstStyle/>
        <a:p>
          <a:endParaRPr lang="en-US"/>
        </a:p>
      </dgm:t>
    </dgm:pt>
    <dgm:pt modelId="{FFE42FB5-1618-4650-B8D1-3F4094546AE4}" type="pres">
      <dgm:prSet presAssocID="{B0FCABA2-AA67-4284-A582-E04F8A7A2495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D8EA84-F14D-4CDF-826C-624781F29B78}" type="pres">
      <dgm:prSet presAssocID="{4C8FD9CC-C9E1-4C2A-9A24-DEFDBAD349EF}" presName="Accent4" presStyleCnt="0"/>
      <dgm:spPr/>
    </dgm:pt>
    <dgm:pt modelId="{912B6635-5F98-4686-858B-65F2692317D9}" type="pres">
      <dgm:prSet presAssocID="{4C8FD9CC-C9E1-4C2A-9A24-DEFDBAD349EF}" presName="Accent" presStyleLbl="node1" presStyleIdx="1" presStyleCnt="5"/>
      <dgm:spPr>
        <a:noFill/>
        <a:ln w="28575">
          <a:solidFill>
            <a:schemeClr val="tx1"/>
          </a:solidFill>
        </a:ln>
      </dgm:spPr>
    </dgm:pt>
    <dgm:pt modelId="{4D898C36-F6D8-473C-A22B-581ABB0C809A}" type="pres">
      <dgm:prSet presAssocID="{4C8FD9CC-C9E1-4C2A-9A24-DEFDBAD349EF}" presName="ParentBackground4" presStyleCnt="0"/>
      <dgm:spPr/>
    </dgm:pt>
    <dgm:pt modelId="{C42AEE01-8096-42F3-A396-A4FC48EADBB4}" type="pres">
      <dgm:prSet presAssocID="{4C8FD9CC-C9E1-4C2A-9A24-DEFDBAD349EF}" presName="ParentBackground" presStyleLbl="fgAcc1" presStyleIdx="1" presStyleCnt="5" custScaleX="115087" custLinFactNeighborX="2514"/>
      <dgm:spPr/>
      <dgm:t>
        <a:bodyPr/>
        <a:lstStyle/>
        <a:p>
          <a:endParaRPr lang="en-US"/>
        </a:p>
      </dgm:t>
    </dgm:pt>
    <dgm:pt modelId="{43E09396-D415-4C1D-8646-ED9BDE6564B3}" type="pres">
      <dgm:prSet presAssocID="{4C8FD9CC-C9E1-4C2A-9A24-DEFDBAD349EF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597770-BCF3-400A-8F1B-F352A56C3964}" type="pres">
      <dgm:prSet presAssocID="{0DFA0304-874C-4A65-B995-CBD988A4EA1D}" presName="Accent3" presStyleCnt="0"/>
      <dgm:spPr/>
    </dgm:pt>
    <dgm:pt modelId="{F3345FD4-D68E-4CC4-8A5E-DB56D2182E02}" type="pres">
      <dgm:prSet presAssocID="{0DFA0304-874C-4A65-B995-CBD988A4EA1D}" presName="Accent" presStyleLbl="node1" presStyleIdx="2" presStyleCnt="5" custLinFactNeighborX="-1658"/>
      <dgm:spPr>
        <a:noFill/>
        <a:ln>
          <a:solidFill>
            <a:schemeClr val="tx1"/>
          </a:solidFill>
        </a:ln>
      </dgm:spPr>
    </dgm:pt>
    <dgm:pt modelId="{B85AFE10-4879-4EA2-A6CE-4AEE0BE79A46}" type="pres">
      <dgm:prSet presAssocID="{0DFA0304-874C-4A65-B995-CBD988A4EA1D}" presName="ParentBackground3" presStyleCnt="0"/>
      <dgm:spPr/>
    </dgm:pt>
    <dgm:pt modelId="{39E53DC8-941D-4DDE-AAD9-FCAFD3EC4023}" type="pres">
      <dgm:prSet presAssocID="{0DFA0304-874C-4A65-B995-CBD988A4EA1D}" presName="ParentBackground" presStyleLbl="fgAcc1" presStyleIdx="2" presStyleCnt="5"/>
      <dgm:spPr/>
      <dgm:t>
        <a:bodyPr/>
        <a:lstStyle/>
        <a:p>
          <a:endParaRPr lang="en-US"/>
        </a:p>
      </dgm:t>
    </dgm:pt>
    <dgm:pt modelId="{1F3219CD-F50B-4754-8F7D-0EDB92C55F23}" type="pres">
      <dgm:prSet presAssocID="{0DFA0304-874C-4A65-B995-CBD988A4EA1D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A03842-9E67-4199-A565-26AADC44A5ED}" type="pres">
      <dgm:prSet presAssocID="{909A296E-D754-48F8-860D-6EE69996442F}" presName="Accent2" presStyleCnt="0"/>
      <dgm:spPr/>
    </dgm:pt>
    <dgm:pt modelId="{89DFBE28-7300-41D6-AB92-AC502E6D90FC}" type="pres">
      <dgm:prSet presAssocID="{909A296E-D754-48F8-860D-6EE69996442F}" presName="Accent" presStyleLbl="node1" presStyleIdx="3" presStyleCnt="5"/>
      <dgm:spPr>
        <a:noFill/>
        <a:ln w="28575">
          <a:solidFill>
            <a:schemeClr val="tx1"/>
          </a:solidFill>
        </a:ln>
      </dgm:spPr>
    </dgm:pt>
    <dgm:pt modelId="{F7CC27F8-2EE0-4532-9BCE-86986465764E}" type="pres">
      <dgm:prSet presAssocID="{909A296E-D754-48F8-860D-6EE69996442F}" presName="ParentBackground2" presStyleCnt="0"/>
      <dgm:spPr/>
    </dgm:pt>
    <dgm:pt modelId="{776D4B27-0EF4-4AD6-A9B5-748DCDFB24D0}" type="pres">
      <dgm:prSet presAssocID="{909A296E-D754-48F8-860D-6EE69996442F}" presName="ParentBackground" presStyleLbl="fgAcc1" presStyleIdx="3" presStyleCnt="5"/>
      <dgm:spPr/>
      <dgm:t>
        <a:bodyPr/>
        <a:lstStyle/>
        <a:p>
          <a:endParaRPr lang="en-US"/>
        </a:p>
      </dgm:t>
    </dgm:pt>
    <dgm:pt modelId="{E45A6CF2-9276-4B3D-BAA0-379B52AAB91D}" type="pres">
      <dgm:prSet presAssocID="{909A296E-D754-48F8-860D-6EE69996442F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E45637-F4F6-4BEA-8D04-9DB0837747EE}" type="pres">
      <dgm:prSet presAssocID="{73B533C0-8C15-4C19-BD96-9D21D3988BD5}" presName="Accent1" presStyleCnt="0"/>
      <dgm:spPr/>
    </dgm:pt>
    <dgm:pt modelId="{5A182BD6-932E-4A6A-A774-6DAEB079B70F}" type="pres">
      <dgm:prSet presAssocID="{73B533C0-8C15-4C19-BD96-9D21D3988BD5}" presName="Accent" presStyleLbl="node1" presStyleIdx="4" presStyleCnt="5"/>
      <dgm:spPr>
        <a:noFill/>
        <a:ln>
          <a:solidFill>
            <a:schemeClr val="tx1"/>
          </a:solidFill>
        </a:ln>
      </dgm:spPr>
    </dgm:pt>
    <dgm:pt modelId="{68F1AD57-99A8-4DED-9A92-8F8F21DBE104}" type="pres">
      <dgm:prSet presAssocID="{73B533C0-8C15-4C19-BD96-9D21D3988BD5}" presName="ParentBackground1" presStyleCnt="0"/>
      <dgm:spPr/>
    </dgm:pt>
    <dgm:pt modelId="{22BAC551-0C08-45D2-9FCA-06BA1703163F}" type="pres">
      <dgm:prSet presAssocID="{73B533C0-8C15-4C19-BD96-9D21D3988BD5}" presName="ParentBackground" presStyleLbl="fgAcc1" presStyleIdx="4" presStyleCnt="5"/>
      <dgm:spPr/>
      <dgm:t>
        <a:bodyPr/>
        <a:lstStyle/>
        <a:p>
          <a:endParaRPr lang="en-US"/>
        </a:p>
      </dgm:t>
    </dgm:pt>
    <dgm:pt modelId="{717D1FF3-F88B-4432-AD35-88675A8D81D6}" type="pres">
      <dgm:prSet presAssocID="{73B533C0-8C15-4C19-BD96-9D21D3988BD5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D7E17F3-CC39-4DEB-A7C0-DEE899CAC1F1}" type="presOf" srcId="{4C8FD9CC-C9E1-4C2A-9A24-DEFDBAD349EF}" destId="{C42AEE01-8096-42F3-A396-A4FC48EADBB4}" srcOrd="0" destOrd="0" presId="urn:microsoft.com/office/officeart/2011/layout/CircleProcess"/>
    <dgm:cxn modelId="{3FC13C44-0D49-40A6-9AB6-372D670A839A}" type="presOf" srcId="{0DFA0304-874C-4A65-B995-CBD988A4EA1D}" destId="{39E53DC8-941D-4DDE-AAD9-FCAFD3EC4023}" srcOrd="0" destOrd="0" presId="urn:microsoft.com/office/officeart/2011/layout/CircleProcess"/>
    <dgm:cxn modelId="{C29D29C0-CF88-476C-96B0-C5AB1A754610}" type="presOf" srcId="{4C8FD9CC-C9E1-4C2A-9A24-DEFDBAD349EF}" destId="{43E09396-D415-4C1D-8646-ED9BDE6564B3}" srcOrd="1" destOrd="0" presId="urn:microsoft.com/office/officeart/2011/layout/CircleProcess"/>
    <dgm:cxn modelId="{3A8C18B6-1BE6-4E6B-98B6-0CC4E5625D18}" srcId="{B7799885-90EC-448B-A5E6-EF402A2B4455}" destId="{73B533C0-8C15-4C19-BD96-9D21D3988BD5}" srcOrd="0" destOrd="0" parTransId="{DF88C67E-A8C4-4033-8E86-B3F3B9095760}" sibTransId="{C605212A-447D-44E7-82CE-D04C08348439}"/>
    <dgm:cxn modelId="{93314DF7-CE8B-494B-A47E-DCE53056899F}" type="presOf" srcId="{909A296E-D754-48F8-860D-6EE69996442F}" destId="{776D4B27-0EF4-4AD6-A9B5-748DCDFB24D0}" srcOrd="0" destOrd="0" presId="urn:microsoft.com/office/officeart/2011/layout/CircleProcess"/>
    <dgm:cxn modelId="{571972C6-CAAF-4EEC-A9D6-318CE2ADBDD3}" srcId="{B7799885-90EC-448B-A5E6-EF402A2B4455}" destId="{0DFA0304-874C-4A65-B995-CBD988A4EA1D}" srcOrd="2" destOrd="0" parTransId="{C1E6120F-647F-458C-AF8E-55F23B80F52F}" sibTransId="{32EF71EF-5D86-43FB-941B-865CC03A6A0C}"/>
    <dgm:cxn modelId="{B95D2A61-3C7F-4F30-BE7D-79B0196E9DDF}" srcId="{B7799885-90EC-448B-A5E6-EF402A2B4455}" destId="{909A296E-D754-48F8-860D-6EE69996442F}" srcOrd="1" destOrd="0" parTransId="{D31AABF4-3ACD-432D-B0F9-388309FE970F}" sibTransId="{143C2BE0-AC6B-4C22-A020-96F5B9FC1043}"/>
    <dgm:cxn modelId="{C5BBAF29-CD59-4F40-B70D-C86D244E3B94}" type="presOf" srcId="{B0FCABA2-AA67-4284-A582-E04F8A7A2495}" destId="{1BCF17FA-19B1-4BE6-9799-112FC038D689}" srcOrd="0" destOrd="0" presId="urn:microsoft.com/office/officeart/2011/layout/CircleProcess"/>
    <dgm:cxn modelId="{E34EE762-D0A8-4807-890C-B4CE6257B002}" type="presOf" srcId="{909A296E-D754-48F8-860D-6EE69996442F}" destId="{E45A6CF2-9276-4B3D-BAA0-379B52AAB91D}" srcOrd="1" destOrd="0" presId="urn:microsoft.com/office/officeart/2011/layout/CircleProcess"/>
    <dgm:cxn modelId="{529E5301-823E-4D8F-838C-295FC016A56D}" type="presOf" srcId="{73B533C0-8C15-4C19-BD96-9D21D3988BD5}" destId="{22BAC551-0C08-45D2-9FCA-06BA1703163F}" srcOrd="0" destOrd="0" presId="urn:microsoft.com/office/officeart/2011/layout/CircleProcess"/>
    <dgm:cxn modelId="{04A5BC76-F42A-4CBC-A9EC-259D936C44B7}" type="presOf" srcId="{B7799885-90EC-448B-A5E6-EF402A2B4455}" destId="{EA46A26D-FC15-4FBA-AD8D-B2C03D9EC9F4}" srcOrd="0" destOrd="0" presId="urn:microsoft.com/office/officeart/2011/layout/CircleProcess"/>
    <dgm:cxn modelId="{DFA8449F-2ABD-4AF7-91E5-03A127D982F6}" srcId="{B7799885-90EC-448B-A5E6-EF402A2B4455}" destId="{B0FCABA2-AA67-4284-A582-E04F8A7A2495}" srcOrd="4" destOrd="0" parTransId="{51E3E0F4-ED85-46AE-A477-C63A2EB51350}" sibTransId="{BE5DE984-1E8D-4ACE-BA8B-7DB8EAB88D02}"/>
    <dgm:cxn modelId="{87E64112-439C-45AF-A8E0-2856D51901C2}" type="presOf" srcId="{73B533C0-8C15-4C19-BD96-9D21D3988BD5}" destId="{717D1FF3-F88B-4432-AD35-88675A8D81D6}" srcOrd="1" destOrd="0" presId="urn:microsoft.com/office/officeart/2011/layout/CircleProcess"/>
    <dgm:cxn modelId="{F2F28B1C-3745-4E1B-9640-D12EED0379C2}" type="presOf" srcId="{0DFA0304-874C-4A65-B995-CBD988A4EA1D}" destId="{1F3219CD-F50B-4754-8F7D-0EDB92C55F23}" srcOrd="1" destOrd="0" presId="urn:microsoft.com/office/officeart/2011/layout/CircleProcess"/>
    <dgm:cxn modelId="{BADF13F1-9E51-4BDF-920B-FEBAE49A8E7E}" type="presOf" srcId="{B0FCABA2-AA67-4284-A582-E04F8A7A2495}" destId="{FFE42FB5-1618-4650-B8D1-3F4094546AE4}" srcOrd="1" destOrd="0" presId="urn:microsoft.com/office/officeart/2011/layout/CircleProcess"/>
    <dgm:cxn modelId="{B5D90AA4-21C3-4438-AE1C-0BE8775FFE68}" srcId="{B7799885-90EC-448B-A5E6-EF402A2B4455}" destId="{4C8FD9CC-C9E1-4C2A-9A24-DEFDBAD349EF}" srcOrd="3" destOrd="0" parTransId="{9011253C-D600-4247-AFB3-5C07F854DEC4}" sibTransId="{D6182908-C37E-44FB-B4E3-CCAB86FB606F}"/>
    <dgm:cxn modelId="{704D9B28-899A-4C34-A411-CA4A5BC3249B}" type="presParOf" srcId="{EA46A26D-FC15-4FBA-AD8D-B2C03D9EC9F4}" destId="{56264BB1-ED82-4F90-8CF3-175F1AE56A5D}" srcOrd="0" destOrd="0" presId="urn:microsoft.com/office/officeart/2011/layout/CircleProcess"/>
    <dgm:cxn modelId="{F0D6A209-CB65-41C9-ABEE-28C0C28EECA9}" type="presParOf" srcId="{56264BB1-ED82-4F90-8CF3-175F1AE56A5D}" destId="{F5BF9BC4-6BAB-4577-A90C-A74021483097}" srcOrd="0" destOrd="0" presId="urn:microsoft.com/office/officeart/2011/layout/CircleProcess"/>
    <dgm:cxn modelId="{915F44A9-6471-498D-820E-F96674CAC7EF}" type="presParOf" srcId="{EA46A26D-FC15-4FBA-AD8D-B2C03D9EC9F4}" destId="{A29D1413-6E39-4052-B462-E74493969C80}" srcOrd="1" destOrd="0" presId="urn:microsoft.com/office/officeart/2011/layout/CircleProcess"/>
    <dgm:cxn modelId="{CF356DC1-C30D-4611-9190-89E9C74C61F6}" type="presParOf" srcId="{A29D1413-6E39-4052-B462-E74493969C80}" destId="{1BCF17FA-19B1-4BE6-9799-112FC038D689}" srcOrd="0" destOrd="0" presId="urn:microsoft.com/office/officeart/2011/layout/CircleProcess"/>
    <dgm:cxn modelId="{ECAC81EC-3C60-4E4F-A495-F0DCD8FA53DB}" type="presParOf" srcId="{EA46A26D-FC15-4FBA-AD8D-B2C03D9EC9F4}" destId="{FFE42FB5-1618-4650-B8D1-3F4094546AE4}" srcOrd="2" destOrd="0" presId="urn:microsoft.com/office/officeart/2011/layout/CircleProcess"/>
    <dgm:cxn modelId="{DEA621DB-CAF7-49C7-8F96-8B7B43D4C71D}" type="presParOf" srcId="{EA46A26D-FC15-4FBA-AD8D-B2C03D9EC9F4}" destId="{ECD8EA84-F14D-4CDF-826C-624781F29B78}" srcOrd="3" destOrd="0" presId="urn:microsoft.com/office/officeart/2011/layout/CircleProcess"/>
    <dgm:cxn modelId="{C292402D-28D9-49C8-9C79-8F1854B868C6}" type="presParOf" srcId="{ECD8EA84-F14D-4CDF-826C-624781F29B78}" destId="{912B6635-5F98-4686-858B-65F2692317D9}" srcOrd="0" destOrd="0" presId="urn:microsoft.com/office/officeart/2011/layout/CircleProcess"/>
    <dgm:cxn modelId="{53923695-51E7-4BBC-8A6C-822B368497C4}" type="presParOf" srcId="{EA46A26D-FC15-4FBA-AD8D-B2C03D9EC9F4}" destId="{4D898C36-F6D8-473C-A22B-581ABB0C809A}" srcOrd="4" destOrd="0" presId="urn:microsoft.com/office/officeart/2011/layout/CircleProcess"/>
    <dgm:cxn modelId="{EDF2716E-A1E8-4802-A596-017CBF6261EA}" type="presParOf" srcId="{4D898C36-F6D8-473C-A22B-581ABB0C809A}" destId="{C42AEE01-8096-42F3-A396-A4FC48EADBB4}" srcOrd="0" destOrd="0" presId="urn:microsoft.com/office/officeart/2011/layout/CircleProcess"/>
    <dgm:cxn modelId="{BEFC4137-11C2-46B3-A7BB-F158B9156571}" type="presParOf" srcId="{EA46A26D-FC15-4FBA-AD8D-B2C03D9EC9F4}" destId="{43E09396-D415-4C1D-8646-ED9BDE6564B3}" srcOrd="5" destOrd="0" presId="urn:microsoft.com/office/officeart/2011/layout/CircleProcess"/>
    <dgm:cxn modelId="{B0E94C97-C304-463D-A7BC-BB25F2373CA3}" type="presParOf" srcId="{EA46A26D-FC15-4FBA-AD8D-B2C03D9EC9F4}" destId="{1F597770-BCF3-400A-8F1B-F352A56C3964}" srcOrd="6" destOrd="0" presId="urn:microsoft.com/office/officeart/2011/layout/CircleProcess"/>
    <dgm:cxn modelId="{32890799-9D90-44C9-9B3B-B422D8C853F2}" type="presParOf" srcId="{1F597770-BCF3-400A-8F1B-F352A56C3964}" destId="{F3345FD4-D68E-4CC4-8A5E-DB56D2182E02}" srcOrd="0" destOrd="0" presId="urn:microsoft.com/office/officeart/2011/layout/CircleProcess"/>
    <dgm:cxn modelId="{99B48C6B-1838-4750-85EF-CF93D586AF03}" type="presParOf" srcId="{EA46A26D-FC15-4FBA-AD8D-B2C03D9EC9F4}" destId="{B85AFE10-4879-4EA2-A6CE-4AEE0BE79A46}" srcOrd="7" destOrd="0" presId="urn:microsoft.com/office/officeart/2011/layout/CircleProcess"/>
    <dgm:cxn modelId="{925FD409-1FA0-46AB-A528-991169A56BBF}" type="presParOf" srcId="{B85AFE10-4879-4EA2-A6CE-4AEE0BE79A46}" destId="{39E53DC8-941D-4DDE-AAD9-FCAFD3EC4023}" srcOrd="0" destOrd="0" presId="urn:microsoft.com/office/officeart/2011/layout/CircleProcess"/>
    <dgm:cxn modelId="{04677058-F6AE-4E66-82CC-2B8B28DA75ED}" type="presParOf" srcId="{EA46A26D-FC15-4FBA-AD8D-B2C03D9EC9F4}" destId="{1F3219CD-F50B-4754-8F7D-0EDB92C55F23}" srcOrd="8" destOrd="0" presId="urn:microsoft.com/office/officeart/2011/layout/CircleProcess"/>
    <dgm:cxn modelId="{4ED53A24-1B01-4A72-B9E4-D76963A6590C}" type="presParOf" srcId="{EA46A26D-FC15-4FBA-AD8D-B2C03D9EC9F4}" destId="{FCA03842-9E67-4199-A565-26AADC44A5ED}" srcOrd="9" destOrd="0" presId="urn:microsoft.com/office/officeart/2011/layout/CircleProcess"/>
    <dgm:cxn modelId="{1CEE687B-2A2F-45A1-96A8-C0CBE11C5CB6}" type="presParOf" srcId="{FCA03842-9E67-4199-A565-26AADC44A5ED}" destId="{89DFBE28-7300-41D6-AB92-AC502E6D90FC}" srcOrd="0" destOrd="0" presId="urn:microsoft.com/office/officeart/2011/layout/CircleProcess"/>
    <dgm:cxn modelId="{9CEE7D86-D9FF-4FCD-A06B-EAB148D3461E}" type="presParOf" srcId="{EA46A26D-FC15-4FBA-AD8D-B2C03D9EC9F4}" destId="{F7CC27F8-2EE0-4532-9BCE-86986465764E}" srcOrd="10" destOrd="0" presId="urn:microsoft.com/office/officeart/2011/layout/CircleProcess"/>
    <dgm:cxn modelId="{E9076B69-AF3D-439F-ABE7-2AA37DEC0F1A}" type="presParOf" srcId="{F7CC27F8-2EE0-4532-9BCE-86986465764E}" destId="{776D4B27-0EF4-4AD6-A9B5-748DCDFB24D0}" srcOrd="0" destOrd="0" presId="urn:microsoft.com/office/officeart/2011/layout/CircleProcess"/>
    <dgm:cxn modelId="{7E751E4F-3700-4A63-BA8B-94CFC8B3878C}" type="presParOf" srcId="{EA46A26D-FC15-4FBA-AD8D-B2C03D9EC9F4}" destId="{E45A6CF2-9276-4B3D-BAA0-379B52AAB91D}" srcOrd="11" destOrd="0" presId="urn:microsoft.com/office/officeart/2011/layout/CircleProcess"/>
    <dgm:cxn modelId="{D0570CAA-60EA-4F04-A9C7-2C479F87F7B7}" type="presParOf" srcId="{EA46A26D-FC15-4FBA-AD8D-B2C03D9EC9F4}" destId="{84E45637-F4F6-4BEA-8D04-9DB0837747EE}" srcOrd="12" destOrd="0" presId="urn:microsoft.com/office/officeart/2011/layout/CircleProcess"/>
    <dgm:cxn modelId="{FE2C659F-0CE1-47D9-BECC-3B08ACF639BB}" type="presParOf" srcId="{84E45637-F4F6-4BEA-8D04-9DB0837747EE}" destId="{5A182BD6-932E-4A6A-A774-6DAEB079B70F}" srcOrd="0" destOrd="0" presId="urn:microsoft.com/office/officeart/2011/layout/CircleProcess"/>
    <dgm:cxn modelId="{7601C8A7-578F-4EF6-ABF1-2B94753A2037}" type="presParOf" srcId="{EA46A26D-FC15-4FBA-AD8D-B2C03D9EC9F4}" destId="{68F1AD57-99A8-4DED-9A92-8F8F21DBE104}" srcOrd="13" destOrd="0" presId="urn:microsoft.com/office/officeart/2011/layout/CircleProcess"/>
    <dgm:cxn modelId="{0848A2C4-B94E-484F-85CF-84CD4F183C2D}" type="presParOf" srcId="{68F1AD57-99A8-4DED-9A92-8F8F21DBE104}" destId="{22BAC551-0C08-45D2-9FCA-06BA1703163F}" srcOrd="0" destOrd="0" presId="urn:microsoft.com/office/officeart/2011/layout/CircleProcess"/>
    <dgm:cxn modelId="{E7D65495-4CDD-4E16-A1C7-DB3BDE0F2FFA}" type="presParOf" srcId="{EA46A26D-FC15-4FBA-AD8D-B2C03D9EC9F4}" destId="{717D1FF3-F88B-4432-AD35-88675A8D81D6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799885-90EC-448B-A5E6-EF402A2B4455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B533C0-8C15-4C19-BD96-9D21D3988BD5}">
      <dgm:prSet phldrT="[Text]" custT="1"/>
      <dgm:spPr>
        <a:solidFill>
          <a:schemeClr val="bg1">
            <a:lumMod val="85000"/>
            <a:alpha val="89804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Invoice Receipt/ Verification</a:t>
          </a:r>
          <a:endParaRPr lang="en-US" sz="500" dirty="0">
            <a:latin typeface="+mn-lt"/>
          </a:endParaRPr>
        </a:p>
      </dgm:t>
    </dgm:pt>
    <dgm:pt modelId="{DF88C67E-A8C4-4033-8E86-B3F3B9095760}" type="parTrans" cxnId="{3A8C18B6-1BE6-4E6B-98B6-0CC4E5625D18}">
      <dgm:prSet/>
      <dgm:spPr/>
      <dgm:t>
        <a:bodyPr/>
        <a:lstStyle/>
        <a:p>
          <a:endParaRPr lang="en-US"/>
        </a:p>
      </dgm:t>
    </dgm:pt>
    <dgm:pt modelId="{C605212A-447D-44E7-82CE-D04C08348439}" type="sibTrans" cxnId="{3A8C18B6-1BE6-4E6B-98B6-0CC4E5625D18}">
      <dgm:prSet/>
      <dgm:spPr/>
      <dgm:t>
        <a:bodyPr/>
        <a:lstStyle/>
        <a:p>
          <a:endParaRPr lang="en-US"/>
        </a:p>
      </dgm:t>
    </dgm:pt>
    <dgm:pt modelId="{909A296E-D754-48F8-860D-6EE69996442F}">
      <dgm:prSet phldrT="[Text]" custT="1"/>
      <dgm:spPr>
        <a:solidFill>
          <a:srgbClr val="F4DCDC">
            <a:alpha val="89804"/>
          </a:srgbClr>
        </a:solidFill>
        <a:ln w="12700">
          <a:solidFill>
            <a:srgbClr val="002D73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Release Payment</a:t>
          </a:r>
          <a:endParaRPr lang="en-US" sz="500" dirty="0">
            <a:latin typeface="+mn-lt"/>
          </a:endParaRPr>
        </a:p>
      </dgm:t>
    </dgm:pt>
    <dgm:pt modelId="{D31AABF4-3ACD-432D-B0F9-388309FE970F}" type="parTrans" cxnId="{B95D2A61-3C7F-4F30-BE7D-79B0196E9DDF}">
      <dgm:prSet/>
      <dgm:spPr/>
      <dgm:t>
        <a:bodyPr/>
        <a:lstStyle/>
        <a:p>
          <a:endParaRPr lang="en-US"/>
        </a:p>
      </dgm:t>
    </dgm:pt>
    <dgm:pt modelId="{143C2BE0-AC6B-4C22-A020-96F5B9FC1043}" type="sibTrans" cxnId="{B95D2A61-3C7F-4F30-BE7D-79B0196E9DDF}">
      <dgm:prSet/>
      <dgm:spPr/>
      <dgm:t>
        <a:bodyPr/>
        <a:lstStyle/>
        <a:p>
          <a:endParaRPr lang="en-US"/>
        </a:p>
      </dgm:t>
    </dgm:pt>
    <dgm:pt modelId="{4C8FD9CC-C9E1-4C2A-9A24-DEFDBAD349EF}">
      <dgm:prSet phldrT="[Text]" custT="1"/>
      <dgm:spPr>
        <a:solidFill>
          <a:schemeClr val="accent2">
            <a:lumMod val="75000"/>
            <a:alpha val="89804"/>
          </a:schemeClr>
        </a:solidFill>
        <a:ln>
          <a:solidFill>
            <a:srgbClr val="002D73"/>
          </a:solidFill>
        </a:ln>
      </dgm:spPr>
      <dgm:t>
        <a:bodyPr/>
        <a:lstStyle/>
        <a:p>
          <a:r>
            <a:rPr lang="en-US" sz="500" b="0" dirty="0" smtClean="0">
              <a:solidFill>
                <a:schemeClr val="bg1"/>
              </a:solidFill>
            </a:rPr>
            <a:t>Reconciliation</a:t>
          </a:r>
          <a:endParaRPr lang="en-US" sz="500" b="0" dirty="0">
            <a:solidFill>
              <a:schemeClr val="bg1"/>
            </a:solidFill>
            <a:latin typeface="+mn-lt"/>
          </a:endParaRPr>
        </a:p>
      </dgm:t>
    </dgm:pt>
    <dgm:pt modelId="{9011253C-D600-4247-AFB3-5C07F854DEC4}" type="parTrans" cxnId="{B5D90AA4-21C3-4438-AE1C-0BE8775FFE68}">
      <dgm:prSet/>
      <dgm:spPr/>
      <dgm:t>
        <a:bodyPr/>
        <a:lstStyle/>
        <a:p>
          <a:endParaRPr lang="en-US"/>
        </a:p>
      </dgm:t>
    </dgm:pt>
    <dgm:pt modelId="{D6182908-C37E-44FB-B4E3-CCAB86FB606F}" type="sibTrans" cxnId="{B5D90AA4-21C3-4438-AE1C-0BE8775FFE68}">
      <dgm:prSet/>
      <dgm:spPr/>
      <dgm:t>
        <a:bodyPr/>
        <a:lstStyle/>
        <a:p>
          <a:endParaRPr lang="en-US"/>
        </a:p>
      </dgm:t>
    </dgm:pt>
    <dgm:pt modelId="{0DFA0304-874C-4A65-B995-CBD988A4EA1D}">
      <dgm:prSet phldrT="[Text]" custT="1"/>
      <dgm:spPr>
        <a:solidFill>
          <a:srgbClr val="FF0000"/>
        </a:solidFill>
        <a:ln w="12700">
          <a:solidFill>
            <a:srgbClr val="002D73"/>
          </a:solidFill>
        </a:ln>
      </dgm:spPr>
      <dgm:t>
        <a:bodyPr/>
        <a:lstStyle/>
        <a:p>
          <a:r>
            <a:rPr lang="en-US" sz="500" dirty="0" smtClean="0">
              <a:solidFill>
                <a:schemeClr val="bg1"/>
              </a:solidFill>
              <a:latin typeface="+mn-lt"/>
            </a:rPr>
            <a:t>Make Payment</a:t>
          </a:r>
          <a:endParaRPr lang="en-US" sz="500" dirty="0">
            <a:solidFill>
              <a:schemeClr val="bg1"/>
            </a:solidFill>
            <a:latin typeface="+mn-lt"/>
          </a:endParaRPr>
        </a:p>
      </dgm:t>
    </dgm:pt>
    <dgm:pt modelId="{C1E6120F-647F-458C-AF8E-55F23B80F52F}" type="parTrans" cxnId="{571972C6-CAAF-4EEC-A9D6-318CE2ADBDD3}">
      <dgm:prSet/>
      <dgm:spPr/>
      <dgm:t>
        <a:bodyPr/>
        <a:lstStyle/>
        <a:p>
          <a:endParaRPr lang="en-US"/>
        </a:p>
      </dgm:t>
    </dgm:pt>
    <dgm:pt modelId="{32EF71EF-5D86-43FB-941B-865CC03A6A0C}" type="sibTrans" cxnId="{571972C6-CAAF-4EEC-A9D6-318CE2ADBDD3}">
      <dgm:prSet/>
      <dgm:spPr/>
      <dgm:t>
        <a:bodyPr/>
        <a:lstStyle/>
        <a:p>
          <a:endParaRPr lang="en-US"/>
        </a:p>
      </dgm:t>
    </dgm:pt>
    <dgm:pt modelId="{B0FCABA2-AA67-4284-A582-E04F8A7A2495}">
      <dgm:prSet phldrT="[Text]" custT="1"/>
      <dgm:spPr>
        <a:solidFill>
          <a:schemeClr val="bg1">
            <a:lumMod val="85000"/>
            <a:alpha val="89804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Reporting</a:t>
          </a:r>
          <a:endParaRPr lang="en-US" sz="500" dirty="0">
            <a:latin typeface="+mn-lt"/>
          </a:endParaRPr>
        </a:p>
      </dgm:t>
    </dgm:pt>
    <dgm:pt modelId="{51E3E0F4-ED85-46AE-A477-C63A2EB51350}" type="parTrans" cxnId="{DFA8449F-2ABD-4AF7-91E5-03A127D982F6}">
      <dgm:prSet/>
      <dgm:spPr/>
      <dgm:t>
        <a:bodyPr/>
        <a:lstStyle/>
        <a:p>
          <a:endParaRPr lang="en-US"/>
        </a:p>
      </dgm:t>
    </dgm:pt>
    <dgm:pt modelId="{BE5DE984-1E8D-4ACE-BA8B-7DB8EAB88D02}" type="sibTrans" cxnId="{DFA8449F-2ABD-4AF7-91E5-03A127D982F6}">
      <dgm:prSet/>
      <dgm:spPr/>
      <dgm:t>
        <a:bodyPr/>
        <a:lstStyle/>
        <a:p>
          <a:endParaRPr lang="en-US"/>
        </a:p>
      </dgm:t>
    </dgm:pt>
    <dgm:pt modelId="{EA46A26D-FC15-4FBA-AD8D-B2C03D9EC9F4}" type="pres">
      <dgm:prSet presAssocID="{B7799885-90EC-448B-A5E6-EF402A2B4455}" presName="Name0" presStyleCnt="0">
        <dgm:presLayoutVars>
          <dgm:chMax val="11"/>
          <dgm:chPref val="11"/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56264BB1-ED82-4F90-8CF3-175F1AE56A5D}" type="pres">
      <dgm:prSet presAssocID="{B0FCABA2-AA67-4284-A582-E04F8A7A2495}" presName="Accent5" presStyleCnt="0"/>
      <dgm:spPr/>
    </dgm:pt>
    <dgm:pt modelId="{F5BF9BC4-6BAB-4577-A90C-A74021483097}" type="pres">
      <dgm:prSet presAssocID="{B0FCABA2-AA67-4284-A582-E04F8A7A2495}" presName="Accent" presStyleLbl="node1" presStyleIdx="0" presStyleCnt="5"/>
      <dgm:spPr/>
    </dgm:pt>
    <dgm:pt modelId="{A29D1413-6E39-4052-B462-E74493969C80}" type="pres">
      <dgm:prSet presAssocID="{B0FCABA2-AA67-4284-A582-E04F8A7A2495}" presName="ParentBackground5" presStyleCnt="0"/>
      <dgm:spPr/>
    </dgm:pt>
    <dgm:pt modelId="{1BCF17FA-19B1-4BE6-9799-112FC038D689}" type="pres">
      <dgm:prSet presAssocID="{B0FCABA2-AA67-4284-A582-E04F8A7A2495}" presName="ParentBackground" presStyleLbl="fgAcc1" presStyleIdx="0" presStyleCnt="5"/>
      <dgm:spPr/>
      <dgm:t>
        <a:bodyPr/>
        <a:lstStyle/>
        <a:p>
          <a:endParaRPr lang="en-US"/>
        </a:p>
      </dgm:t>
    </dgm:pt>
    <dgm:pt modelId="{FFE42FB5-1618-4650-B8D1-3F4094546AE4}" type="pres">
      <dgm:prSet presAssocID="{B0FCABA2-AA67-4284-A582-E04F8A7A2495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D8EA84-F14D-4CDF-826C-624781F29B78}" type="pres">
      <dgm:prSet presAssocID="{4C8FD9CC-C9E1-4C2A-9A24-DEFDBAD349EF}" presName="Accent4" presStyleCnt="0"/>
      <dgm:spPr/>
    </dgm:pt>
    <dgm:pt modelId="{912B6635-5F98-4686-858B-65F2692317D9}" type="pres">
      <dgm:prSet presAssocID="{4C8FD9CC-C9E1-4C2A-9A24-DEFDBAD349EF}" presName="Accent" presStyleLbl="node1" presStyleIdx="1" presStyleCnt="5"/>
      <dgm:spPr>
        <a:noFill/>
        <a:ln w="28575">
          <a:solidFill>
            <a:schemeClr val="tx1"/>
          </a:solidFill>
        </a:ln>
      </dgm:spPr>
    </dgm:pt>
    <dgm:pt modelId="{4D898C36-F6D8-473C-A22B-581ABB0C809A}" type="pres">
      <dgm:prSet presAssocID="{4C8FD9CC-C9E1-4C2A-9A24-DEFDBAD349EF}" presName="ParentBackground4" presStyleCnt="0"/>
      <dgm:spPr/>
    </dgm:pt>
    <dgm:pt modelId="{C42AEE01-8096-42F3-A396-A4FC48EADBB4}" type="pres">
      <dgm:prSet presAssocID="{4C8FD9CC-C9E1-4C2A-9A24-DEFDBAD349EF}" presName="ParentBackground" presStyleLbl="fgAcc1" presStyleIdx="1" presStyleCnt="5" custScaleX="115087" custLinFactNeighborX="2514"/>
      <dgm:spPr/>
      <dgm:t>
        <a:bodyPr/>
        <a:lstStyle/>
        <a:p>
          <a:endParaRPr lang="en-US"/>
        </a:p>
      </dgm:t>
    </dgm:pt>
    <dgm:pt modelId="{43E09396-D415-4C1D-8646-ED9BDE6564B3}" type="pres">
      <dgm:prSet presAssocID="{4C8FD9CC-C9E1-4C2A-9A24-DEFDBAD349EF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597770-BCF3-400A-8F1B-F352A56C3964}" type="pres">
      <dgm:prSet presAssocID="{0DFA0304-874C-4A65-B995-CBD988A4EA1D}" presName="Accent3" presStyleCnt="0"/>
      <dgm:spPr/>
    </dgm:pt>
    <dgm:pt modelId="{F3345FD4-D68E-4CC4-8A5E-DB56D2182E02}" type="pres">
      <dgm:prSet presAssocID="{0DFA0304-874C-4A65-B995-CBD988A4EA1D}" presName="Accent" presStyleLbl="node1" presStyleIdx="2" presStyleCnt="5" custLinFactNeighborX="-1658"/>
      <dgm:spPr>
        <a:noFill/>
        <a:ln>
          <a:solidFill>
            <a:schemeClr val="tx1"/>
          </a:solidFill>
        </a:ln>
      </dgm:spPr>
    </dgm:pt>
    <dgm:pt modelId="{B85AFE10-4879-4EA2-A6CE-4AEE0BE79A46}" type="pres">
      <dgm:prSet presAssocID="{0DFA0304-874C-4A65-B995-CBD988A4EA1D}" presName="ParentBackground3" presStyleCnt="0"/>
      <dgm:spPr/>
    </dgm:pt>
    <dgm:pt modelId="{39E53DC8-941D-4DDE-AAD9-FCAFD3EC4023}" type="pres">
      <dgm:prSet presAssocID="{0DFA0304-874C-4A65-B995-CBD988A4EA1D}" presName="ParentBackground" presStyleLbl="fgAcc1" presStyleIdx="2" presStyleCnt="5"/>
      <dgm:spPr/>
      <dgm:t>
        <a:bodyPr/>
        <a:lstStyle/>
        <a:p>
          <a:endParaRPr lang="en-US"/>
        </a:p>
      </dgm:t>
    </dgm:pt>
    <dgm:pt modelId="{1F3219CD-F50B-4754-8F7D-0EDB92C55F23}" type="pres">
      <dgm:prSet presAssocID="{0DFA0304-874C-4A65-B995-CBD988A4EA1D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A03842-9E67-4199-A565-26AADC44A5ED}" type="pres">
      <dgm:prSet presAssocID="{909A296E-D754-48F8-860D-6EE69996442F}" presName="Accent2" presStyleCnt="0"/>
      <dgm:spPr/>
    </dgm:pt>
    <dgm:pt modelId="{89DFBE28-7300-41D6-AB92-AC502E6D90FC}" type="pres">
      <dgm:prSet presAssocID="{909A296E-D754-48F8-860D-6EE69996442F}" presName="Accent" presStyleLbl="node1" presStyleIdx="3" presStyleCnt="5"/>
      <dgm:spPr>
        <a:noFill/>
        <a:ln w="28575">
          <a:solidFill>
            <a:schemeClr val="tx1"/>
          </a:solidFill>
        </a:ln>
      </dgm:spPr>
    </dgm:pt>
    <dgm:pt modelId="{F7CC27F8-2EE0-4532-9BCE-86986465764E}" type="pres">
      <dgm:prSet presAssocID="{909A296E-D754-48F8-860D-6EE69996442F}" presName="ParentBackground2" presStyleCnt="0"/>
      <dgm:spPr/>
    </dgm:pt>
    <dgm:pt modelId="{776D4B27-0EF4-4AD6-A9B5-748DCDFB24D0}" type="pres">
      <dgm:prSet presAssocID="{909A296E-D754-48F8-860D-6EE69996442F}" presName="ParentBackground" presStyleLbl="fgAcc1" presStyleIdx="3" presStyleCnt="5"/>
      <dgm:spPr/>
      <dgm:t>
        <a:bodyPr/>
        <a:lstStyle/>
        <a:p>
          <a:endParaRPr lang="en-US"/>
        </a:p>
      </dgm:t>
    </dgm:pt>
    <dgm:pt modelId="{E45A6CF2-9276-4B3D-BAA0-379B52AAB91D}" type="pres">
      <dgm:prSet presAssocID="{909A296E-D754-48F8-860D-6EE69996442F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E45637-F4F6-4BEA-8D04-9DB0837747EE}" type="pres">
      <dgm:prSet presAssocID="{73B533C0-8C15-4C19-BD96-9D21D3988BD5}" presName="Accent1" presStyleCnt="0"/>
      <dgm:spPr/>
    </dgm:pt>
    <dgm:pt modelId="{5A182BD6-932E-4A6A-A774-6DAEB079B70F}" type="pres">
      <dgm:prSet presAssocID="{73B533C0-8C15-4C19-BD96-9D21D3988BD5}" presName="Accent" presStyleLbl="node1" presStyleIdx="4" presStyleCnt="5"/>
      <dgm:spPr>
        <a:noFill/>
        <a:ln>
          <a:solidFill>
            <a:schemeClr val="tx1"/>
          </a:solidFill>
        </a:ln>
      </dgm:spPr>
    </dgm:pt>
    <dgm:pt modelId="{68F1AD57-99A8-4DED-9A92-8F8F21DBE104}" type="pres">
      <dgm:prSet presAssocID="{73B533C0-8C15-4C19-BD96-9D21D3988BD5}" presName="ParentBackground1" presStyleCnt="0"/>
      <dgm:spPr/>
    </dgm:pt>
    <dgm:pt modelId="{22BAC551-0C08-45D2-9FCA-06BA1703163F}" type="pres">
      <dgm:prSet presAssocID="{73B533C0-8C15-4C19-BD96-9D21D3988BD5}" presName="ParentBackground" presStyleLbl="fgAcc1" presStyleIdx="4" presStyleCnt="5"/>
      <dgm:spPr/>
      <dgm:t>
        <a:bodyPr/>
        <a:lstStyle/>
        <a:p>
          <a:endParaRPr lang="en-US"/>
        </a:p>
      </dgm:t>
    </dgm:pt>
    <dgm:pt modelId="{717D1FF3-F88B-4432-AD35-88675A8D81D6}" type="pres">
      <dgm:prSet presAssocID="{73B533C0-8C15-4C19-BD96-9D21D3988BD5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D7E17F3-CC39-4DEB-A7C0-DEE899CAC1F1}" type="presOf" srcId="{4C8FD9CC-C9E1-4C2A-9A24-DEFDBAD349EF}" destId="{C42AEE01-8096-42F3-A396-A4FC48EADBB4}" srcOrd="0" destOrd="0" presId="urn:microsoft.com/office/officeart/2011/layout/CircleProcess"/>
    <dgm:cxn modelId="{3FC13C44-0D49-40A6-9AB6-372D670A839A}" type="presOf" srcId="{0DFA0304-874C-4A65-B995-CBD988A4EA1D}" destId="{39E53DC8-941D-4DDE-AAD9-FCAFD3EC4023}" srcOrd="0" destOrd="0" presId="urn:microsoft.com/office/officeart/2011/layout/CircleProcess"/>
    <dgm:cxn modelId="{C29D29C0-CF88-476C-96B0-C5AB1A754610}" type="presOf" srcId="{4C8FD9CC-C9E1-4C2A-9A24-DEFDBAD349EF}" destId="{43E09396-D415-4C1D-8646-ED9BDE6564B3}" srcOrd="1" destOrd="0" presId="urn:microsoft.com/office/officeart/2011/layout/CircleProcess"/>
    <dgm:cxn modelId="{3A8C18B6-1BE6-4E6B-98B6-0CC4E5625D18}" srcId="{B7799885-90EC-448B-A5E6-EF402A2B4455}" destId="{73B533C0-8C15-4C19-BD96-9D21D3988BD5}" srcOrd="0" destOrd="0" parTransId="{DF88C67E-A8C4-4033-8E86-B3F3B9095760}" sibTransId="{C605212A-447D-44E7-82CE-D04C08348439}"/>
    <dgm:cxn modelId="{93314DF7-CE8B-494B-A47E-DCE53056899F}" type="presOf" srcId="{909A296E-D754-48F8-860D-6EE69996442F}" destId="{776D4B27-0EF4-4AD6-A9B5-748DCDFB24D0}" srcOrd="0" destOrd="0" presId="urn:microsoft.com/office/officeart/2011/layout/CircleProcess"/>
    <dgm:cxn modelId="{571972C6-CAAF-4EEC-A9D6-318CE2ADBDD3}" srcId="{B7799885-90EC-448B-A5E6-EF402A2B4455}" destId="{0DFA0304-874C-4A65-B995-CBD988A4EA1D}" srcOrd="2" destOrd="0" parTransId="{C1E6120F-647F-458C-AF8E-55F23B80F52F}" sibTransId="{32EF71EF-5D86-43FB-941B-865CC03A6A0C}"/>
    <dgm:cxn modelId="{B95D2A61-3C7F-4F30-BE7D-79B0196E9DDF}" srcId="{B7799885-90EC-448B-A5E6-EF402A2B4455}" destId="{909A296E-D754-48F8-860D-6EE69996442F}" srcOrd="1" destOrd="0" parTransId="{D31AABF4-3ACD-432D-B0F9-388309FE970F}" sibTransId="{143C2BE0-AC6B-4C22-A020-96F5B9FC1043}"/>
    <dgm:cxn modelId="{C5BBAF29-CD59-4F40-B70D-C86D244E3B94}" type="presOf" srcId="{B0FCABA2-AA67-4284-A582-E04F8A7A2495}" destId="{1BCF17FA-19B1-4BE6-9799-112FC038D689}" srcOrd="0" destOrd="0" presId="urn:microsoft.com/office/officeart/2011/layout/CircleProcess"/>
    <dgm:cxn modelId="{E34EE762-D0A8-4807-890C-B4CE6257B002}" type="presOf" srcId="{909A296E-D754-48F8-860D-6EE69996442F}" destId="{E45A6CF2-9276-4B3D-BAA0-379B52AAB91D}" srcOrd="1" destOrd="0" presId="urn:microsoft.com/office/officeart/2011/layout/CircleProcess"/>
    <dgm:cxn modelId="{529E5301-823E-4D8F-838C-295FC016A56D}" type="presOf" srcId="{73B533C0-8C15-4C19-BD96-9D21D3988BD5}" destId="{22BAC551-0C08-45D2-9FCA-06BA1703163F}" srcOrd="0" destOrd="0" presId="urn:microsoft.com/office/officeart/2011/layout/CircleProcess"/>
    <dgm:cxn modelId="{04A5BC76-F42A-4CBC-A9EC-259D936C44B7}" type="presOf" srcId="{B7799885-90EC-448B-A5E6-EF402A2B4455}" destId="{EA46A26D-FC15-4FBA-AD8D-B2C03D9EC9F4}" srcOrd="0" destOrd="0" presId="urn:microsoft.com/office/officeart/2011/layout/CircleProcess"/>
    <dgm:cxn modelId="{DFA8449F-2ABD-4AF7-91E5-03A127D982F6}" srcId="{B7799885-90EC-448B-A5E6-EF402A2B4455}" destId="{B0FCABA2-AA67-4284-A582-E04F8A7A2495}" srcOrd="4" destOrd="0" parTransId="{51E3E0F4-ED85-46AE-A477-C63A2EB51350}" sibTransId="{BE5DE984-1E8D-4ACE-BA8B-7DB8EAB88D02}"/>
    <dgm:cxn modelId="{87E64112-439C-45AF-A8E0-2856D51901C2}" type="presOf" srcId="{73B533C0-8C15-4C19-BD96-9D21D3988BD5}" destId="{717D1FF3-F88B-4432-AD35-88675A8D81D6}" srcOrd="1" destOrd="0" presId="urn:microsoft.com/office/officeart/2011/layout/CircleProcess"/>
    <dgm:cxn modelId="{F2F28B1C-3745-4E1B-9640-D12EED0379C2}" type="presOf" srcId="{0DFA0304-874C-4A65-B995-CBD988A4EA1D}" destId="{1F3219CD-F50B-4754-8F7D-0EDB92C55F23}" srcOrd="1" destOrd="0" presId="urn:microsoft.com/office/officeart/2011/layout/CircleProcess"/>
    <dgm:cxn modelId="{BADF13F1-9E51-4BDF-920B-FEBAE49A8E7E}" type="presOf" srcId="{B0FCABA2-AA67-4284-A582-E04F8A7A2495}" destId="{FFE42FB5-1618-4650-B8D1-3F4094546AE4}" srcOrd="1" destOrd="0" presId="urn:microsoft.com/office/officeart/2011/layout/CircleProcess"/>
    <dgm:cxn modelId="{B5D90AA4-21C3-4438-AE1C-0BE8775FFE68}" srcId="{B7799885-90EC-448B-A5E6-EF402A2B4455}" destId="{4C8FD9CC-C9E1-4C2A-9A24-DEFDBAD349EF}" srcOrd="3" destOrd="0" parTransId="{9011253C-D600-4247-AFB3-5C07F854DEC4}" sibTransId="{D6182908-C37E-44FB-B4E3-CCAB86FB606F}"/>
    <dgm:cxn modelId="{704D9B28-899A-4C34-A411-CA4A5BC3249B}" type="presParOf" srcId="{EA46A26D-FC15-4FBA-AD8D-B2C03D9EC9F4}" destId="{56264BB1-ED82-4F90-8CF3-175F1AE56A5D}" srcOrd="0" destOrd="0" presId="urn:microsoft.com/office/officeart/2011/layout/CircleProcess"/>
    <dgm:cxn modelId="{F0D6A209-CB65-41C9-ABEE-28C0C28EECA9}" type="presParOf" srcId="{56264BB1-ED82-4F90-8CF3-175F1AE56A5D}" destId="{F5BF9BC4-6BAB-4577-A90C-A74021483097}" srcOrd="0" destOrd="0" presId="urn:microsoft.com/office/officeart/2011/layout/CircleProcess"/>
    <dgm:cxn modelId="{915F44A9-6471-498D-820E-F96674CAC7EF}" type="presParOf" srcId="{EA46A26D-FC15-4FBA-AD8D-B2C03D9EC9F4}" destId="{A29D1413-6E39-4052-B462-E74493969C80}" srcOrd="1" destOrd="0" presId="urn:microsoft.com/office/officeart/2011/layout/CircleProcess"/>
    <dgm:cxn modelId="{CF356DC1-C30D-4611-9190-89E9C74C61F6}" type="presParOf" srcId="{A29D1413-6E39-4052-B462-E74493969C80}" destId="{1BCF17FA-19B1-4BE6-9799-112FC038D689}" srcOrd="0" destOrd="0" presId="urn:microsoft.com/office/officeart/2011/layout/CircleProcess"/>
    <dgm:cxn modelId="{ECAC81EC-3C60-4E4F-A495-F0DCD8FA53DB}" type="presParOf" srcId="{EA46A26D-FC15-4FBA-AD8D-B2C03D9EC9F4}" destId="{FFE42FB5-1618-4650-B8D1-3F4094546AE4}" srcOrd="2" destOrd="0" presId="urn:microsoft.com/office/officeart/2011/layout/CircleProcess"/>
    <dgm:cxn modelId="{DEA621DB-CAF7-49C7-8F96-8B7B43D4C71D}" type="presParOf" srcId="{EA46A26D-FC15-4FBA-AD8D-B2C03D9EC9F4}" destId="{ECD8EA84-F14D-4CDF-826C-624781F29B78}" srcOrd="3" destOrd="0" presId="urn:microsoft.com/office/officeart/2011/layout/CircleProcess"/>
    <dgm:cxn modelId="{C292402D-28D9-49C8-9C79-8F1854B868C6}" type="presParOf" srcId="{ECD8EA84-F14D-4CDF-826C-624781F29B78}" destId="{912B6635-5F98-4686-858B-65F2692317D9}" srcOrd="0" destOrd="0" presId="urn:microsoft.com/office/officeart/2011/layout/CircleProcess"/>
    <dgm:cxn modelId="{53923695-51E7-4BBC-8A6C-822B368497C4}" type="presParOf" srcId="{EA46A26D-FC15-4FBA-AD8D-B2C03D9EC9F4}" destId="{4D898C36-F6D8-473C-A22B-581ABB0C809A}" srcOrd="4" destOrd="0" presId="urn:microsoft.com/office/officeart/2011/layout/CircleProcess"/>
    <dgm:cxn modelId="{EDF2716E-A1E8-4802-A596-017CBF6261EA}" type="presParOf" srcId="{4D898C36-F6D8-473C-A22B-581ABB0C809A}" destId="{C42AEE01-8096-42F3-A396-A4FC48EADBB4}" srcOrd="0" destOrd="0" presId="urn:microsoft.com/office/officeart/2011/layout/CircleProcess"/>
    <dgm:cxn modelId="{BEFC4137-11C2-46B3-A7BB-F158B9156571}" type="presParOf" srcId="{EA46A26D-FC15-4FBA-AD8D-B2C03D9EC9F4}" destId="{43E09396-D415-4C1D-8646-ED9BDE6564B3}" srcOrd="5" destOrd="0" presId="urn:microsoft.com/office/officeart/2011/layout/CircleProcess"/>
    <dgm:cxn modelId="{B0E94C97-C304-463D-A7BC-BB25F2373CA3}" type="presParOf" srcId="{EA46A26D-FC15-4FBA-AD8D-B2C03D9EC9F4}" destId="{1F597770-BCF3-400A-8F1B-F352A56C3964}" srcOrd="6" destOrd="0" presId="urn:microsoft.com/office/officeart/2011/layout/CircleProcess"/>
    <dgm:cxn modelId="{32890799-9D90-44C9-9B3B-B422D8C853F2}" type="presParOf" srcId="{1F597770-BCF3-400A-8F1B-F352A56C3964}" destId="{F3345FD4-D68E-4CC4-8A5E-DB56D2182E02}" srcOrd="0" destOrd="0" presId="urn:microsoft.com/office/officeart/2011/layout/CircleProcess"/>
    <dgm:cxn modelId="{99B48C6B-1838-4750-85EF-CF93D586AF03}" type="presParOf" srcId="{EA46A26D-FC15-4FBA-AD8D-B2C03D9EC9F4}" destId="{B85AFE10-4879-4EA2-A6CE-4AEE0BE79A46}" srcOrd="7" destOrd="0" presId="urn:microsoft.com/office/officeart/2011/layout/CircleProcess"/>
    <dgm:cxn modelId="{925FD409-1FA0-46AB-A528-991169A56BBF}" type="presParOf" srcId="{B85AFE10-4879-4EA2-A6CE-4AEE0BE79A46}" destId="{39E53DC8-941D-4DDE-AAD9-FCAFD3EC4023}" srcOrd="0" destOrd="0" presId="urn:microsoft.com/office/officeart/2011/layout/CircleProcess"/>
    <dgm:cxn modelId="{04677058-F6AE-4E66-82CC-2B8B28DA75ED}" type="presParOf" srcId="{EA46A26D-FC15-4FBA-AD8D-B2C03D9EC9F4}" destId="{1F3219CD-F50B-4754-8F7D-0EDB92C55F23}" srcOrd="8" destOrd="0" presId="urn:microsoft.com/office/officeart/2011/layout/CircleProcess"/>
    <dgm:cxn modelId="{4ED53A24-1B01-4A72-B9E4-D76963A6590C}" type="presParOf" srcId="{EA46A26D-FC15-4FBA-AD8D-B2C03D9EC9F4}" destId="{FCA03842-9E67-4199-A565-26AADC44A5ED}" srcOrd="9" destOrd="0" presId="urn:microsoft.com/office/officeart/2011/layout/CircleProcess"/>
    <dgm:cxn modelId="{1CEE687B-2A2F-45A1-96A8-C0CBE11C5CB6}" type="presParOf" srcId="{FCA03842-9E67-4199-A565-26AADC44A5ED}" destId="{89DFBE28-7300-41D6-AB92-AC502E6D90FC}" srcOrd="0" destOrd="0" presId="urn:microsoft.com/office/officeart/2011/layout/CircleProcess"/>
    <dgm:cxn modelId="{9CEE7D86-D9FF-4FCD-A06B-EAB148D3461E}" type="presParOf" srcId="{EA46A26D-FC15-4FBA-AD8D-B2C03D9EC9F4}" destId="{F7CC27F8-2EE0-4532-9BCE-86986465764E}" srcOrd="10" destOrd="0" presId="urn:microsoft.com/office/officeart/2011/layout/CircleProcess"/>
    <dgm:cxn modelId="{E9076B69-AF3D-439F-ABE7-2AA37DEC0F1A}" type="presParOf" srcId="{F7CC27F8-2EE0-4532-9BCE-86986465764E}" destId="{776D4B27-0EF4-4AD6-A9B5-748DCDFB24D0}" srcOrd="0" destOrd="0" presId="urn:microsoft.com/office/officeart/2011/layout/CircleProcess"/>
    <dgm:cxn modelId="{7E751E4F-3700-4A63-BA8B-94CFC8B3878C}" type="presParOf" srcId="{EA46A26D-FC15-4FBA-AD8D-B2C03D9EC9F4}" destId="{E45A6CF2-9276-4B3D-BAA0-379B52AAB91D}" srcOrd="11" destOrd="0" presId="urn:microsoft.com/office/officeart/2011/layout/CircleProcess"/>
    <dgm:cxn modelId="{D0570CAA-60EA-4F04-A9C7-2C479F87F7B7}" type="presParOf" srcId="{EA46A26D-FC15-4FBA-AD8D-B2C03D9EC9F4}" destId="{84E45637-F4F6-4BEA-8D04-9DB0837747EE}" srcOrd="12" destOrd="0" presId="urn:microsoft.com/office/officeart/2011/layout/CircleProcess"/>
    <dgm:cxn modelId="{FE2C659F-0CE1-47D9-BECC-3B08ACF639BB}" type="presParOf" srcId="{84E45637-F4F6-4BEA-8D04-9DB0837747EE}" destId="{5A182BD6-932E-4A6A-A774-6DAEB079B70F}" srcOrd="0" destOrd="0" presId="urn:microsoft.com/office/officeart/2011/layout/CircleProcess"/>
    <dgm:cxn modelId="{7601C8A7-578F-4EF6-ABF1-2B94753A2037}" type="presParOf" srcId="{EA46A26D-FC15-4FBA-AD8D-B2C03D9EC9F4}" destId="{68F1AD57-99A8-4DED-9A92-8F8F21DBE104}" srcOrd="13" destOrd="0" presId="urn:microsoft.com/office/officeart/2011/layout/CircleProcess"/>
    <dgm:cxn modelId="{0848A2C4-B94E-484F-85CF-84CD4F183C2D}" type="presParOf" srcId="{68F1AD57-99A8-4DED-9A92-8F8F21DBE104}" destId="{22BAC551-0C08-45D2-9FCA-06BA1703163F}" srcOrd="0" destOrd="0" presId="urn:microsoft.com/office/officeart/2011/layout/CircleProcess"/>
    <dgm:cxn modelId="{E7D65495-4CDD-4E16-A1C7-DB3BDE0F2FFA}" type="presParOf" srcId="{EA46A26D-FC15-4FBA-AD8D-B2C03D9EC9F4}" destId="{717D1FF3-F88B-4432-AD35-88675A8D81D6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799885-90EC-448B-A5E6-EF402A2B4455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B533C0-8C15-4C19-BD96-9D21D3988BD5}">
      <dgm:prSet phldrT="[Text]" custT="1"/>
      <dgm:spPr>
        <a:solidFill>
          <a:schemeClr val="bg1">
            <a:lumMod val="85000"/>
            <a:alpha val="89804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Invoice Receipt/ Verification</a:t>
          </a:r>
          <a:endParaRPr lang="en-US" sz="500" dirty="0">
            <a:latin typeface="+mn-lt"/>
          </a:endParaRPr>
        </a:p>
      </dgm:t>
    </dgm:pt>
    <dgm:pt modelId="{DF88C67E-A8C4-4033-8E86-B3F3B9095760}" type="parTrans" cxnId="{3A8C18B6-1BE6-4E6B-98B6-0CC4E5625D18}">
      <dgm:prSet/>
      <dgm:spPr/>
      <dgm:t>
        <a:bodyPr/>
        <a:lstStyle/>
        <a:p>
          <a:endParaRPr lang="en-US"/>
        </a:p>
      </dgm:t>
    </dgm:pt>
    <dgm:pt modelId="{C605212A-447D-44E7-82CE-D04C08348439}" type="sibTrans" cxnId="{3A8C18B6-1BE6-4E6B-98B6-0CC4E5625D18}">
      <dgm:prSet/>
      <dgm:spPr/>
      <dgm:t>
        <a:bodyPr/>
        <a:lstStyle/>
        <a:p>
          <a:endParaRPr lang="en-US"/>
        </a:p>
      </dgm:t>
    </dgm:pt>
    <dgm:pt modelId="{909A296E-D754-48F8-860D-6EE69996442F}">
      <dgm:prSet phldrT="[Text]" custT="1"/>
      <dgm:spPr>
        <a:solidFill>
          <a:srgbClr val="F4DCDC">
            <a:alpha val="89804"/>
          </a:srgbClr>
        </a:solidFill>
        <a:ln w="12700">
          <a:solidFill>
            <a:srgbClr val="002D73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Release Payment</a:t>
          </a:r>
          <a:endParaRPr lang="en-US" sz="500" dirty="0">
            <a:latin typeface="+mn-lt"/>
          </a:endParaRPr>
        </a:p>
      </dgm:t>
    </dgm:pt>
    <dgm:pt modelId="{D31AABF4-3ACD-432D-B0F9-388309FE970F}" type="parTrans" cxnId="{B95D2A61-3C7F-4F30-BE7D-79B0196E9DDF}">
      <dgm:prSet/>
      <dgm:spPr/>
      <dgm:t>
        <a:bodyPr/>
        <a:lstStyle/>
        <a:p>
          <a:endParaRPr lang="en-US"/>
        </a:p>
      </dgm:t>
    </dgm:pt>
    <dgm:pt modelId="{143C2BE0-AC6B-4C22-A020-96F5B9FC1043}" type="sibTrans" cxnId="{B95D2A61-3C7F-4F30-BE7D-79B0196E9DDF}">
      <dgm:prSet/>
      <dgm:spPr/>
      <dgm:t>
        <a:bodyPr/>
        <a:lstStyle/>
        <a:p>
          <a:endParaRPr lang="en-US"/>
        </a:p>
      </dgm:t>
    </dgm:pt>
    <dgm:pt modelId="{4C8FD9CC-C9E1-4C2A-9A24-DEFDBAD349EF}">
      <dgm:prSet phldrT="[Text]" custT="1"/>
      <dgm:spPr>
        <a:solidFill>
          <a:schemeClr val="accent2">
            <a:lumMod val="75000"/>
            <a:alpha val="89804"/>
          </a:schemeClr>
        </a:solidFill>
        <a:ln>
          <a:solidFill>
            <a:srgbClr val="002D73"/>
          </a:solidFill>
        </a:ln>
      </dgm:spPr>
      <dgm:t>
        <a:bodyPr/>
        <a:lstStyle/>
        <a:p>
          <a:r>
            <a:rPr lang="en-US" sz="500" b="0" dirty="0" smtClean="0">
              <a:solidFill>
                <a:schemeClr val="bg1"/>
              </a:solidFill>
            </a:rPr>
            <a:t>Reconciliation</a:t>
          </a:r>
          <a:endParaRPr lang="en-US" sz="500" b="0" dirty="0">
            <a:solidFill>
              <a:schemeClr val="bg1"/>
            </a:solidFill>
            <a:latin typeface="+mn-lt"/>
          </a:endParaRPr>
        </a:p>
      </dgm:t>
    </dgm:pt>
    <dgm:pt modelId="{9011253C-D600-4247-AFB3-5C07F854DEC4}" type="parTrans" cxnId="{B5D90AA4-21C3-4438-AE1C-0BE8775FFE68}">
      <dgm:prSet/>
      <dgm:spPr/>
      <dgm:t>
        <a:bodyPr/>
        <a:lstStyle/>
        <a:p>
          <a:endParaRPr lang="en-US"/>
        </a:p>
      </dgm:t>
    </dgm:pt>
    <dgm:pt modelId="{D6182908-C37E-44FB-B4E3-CCAB86FB606F}" type="sibTrans" cxnId="{B5D90AA4-21C3-4438-AE1C-0BE8775FFE68}">
      <dgm:prSet/>
      <dgm:spPr/>
      <dgm:t>
        <a:bodyPr/>
        <a:lstStyle/>
        <a:p>
          <a:endParaRPr lang="en-US"/>
        </a:p>
      </dgm:t>
    </dgm:pt>
    <dgm:pt modelId="{0DFA0304-874C-4A65-B995-CBD988A4EA1D}">
      <dgm:prSet phldrT="[Text]" custT="1"/>
      <dgm:spPr>
        <a:solidFill>
          <a:srgbClr val="FF0000"/>
        </a:solidFill>
        <a:ln w="12700">
          <a:solidFill>
            <a:srgbClr val="002D73"/>
          </a:solidFill>
        </a:ln>
      </dgm:spPr>
      <dgm:t>
        <a:bodyPr/>
        <a:lstStyle/>
        <a:p>
          <a:r>
            <a:rPr lang="en-US" sz="500" dirty="0" smtClean="0">
              <a:solidFill>
                <a:schemeClr val="bg1"/>
              </a:solidFill>
              <a:latin typeface="+mn-lt"/>
            </a:rPr>
            <a:t>Make Payment</a:t>
          </a:r>
          <a:endParaRPr lang="en-US" sz="500" dirty="0">
            <a:solidFill>
              <a:schemeClr val="bg1"/>
            </a:solidFill>
            <a:latin typeface="+mn-lt"/>
          </a:endParaRPr>
        </a:p>
      </dgm:t>
    </dgm:pt>
    <dgm:pt modelId="{C1E6120F-647F-458C-AF8E-55F23B80F52F}" type="parTrans" cxnId="{571972C6-CAAF-4EEC-A9D6-318CE2ADBDD3}">
      <dgm:prSet/>
      <dgm:spPr/>
      <dgm:t>
        <a:bodyPr/>
        <a:lstStyle/>
        <a:p>
          <a:endParaRPr lang="en-US"/>
        </a:p>
      </dgm:t>
    </dgm:pt>
    <dgm:pt modelId="{32EF71EF-5D86-43FB-941B-865CC03A6A0C}" type="sibTrans" cxnId="{571972C6-CAAF-4EEC-A9D6-318CE2ADBDD3}">
      <dgm:prSet/>
      <dgm:spPr/>
      <dgm:t>
        <a:bodyPr/>
        <a:lstStyle/>
        <a:p>
          <a:endParaRPr lang="en-US"/>
        </a:p>
      </dgm:t>
    </dgm:pt>
    <dgm:pt modelId="{B0FCABA2-AA67-4284-A582-E04F8A7A2495}">
      <dgm:prSet phldrT="[Text]" custT="1"/>
      <dgm:spPr>
        <a:solidFill>
          <a:schemeClr val="bg1">
            <a:lumMod val="85000"/>
            <a:alpha val="89804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Reporting</a:t>
          </a:r>
          <a:endParaRPr lang="en-US" sz="500" dirty="0">
            <a:latin typeface="+mn-lt"/>
          </a:endParaRPr>
        </a:p>
      </dgm:t>
    </dgm:pt>
    <dgm:pt modelId="{51E3E0F4-ED85-46AE-A477-C63A2EB51350}" type="parTrans" cxnId="{DFA8449F-2ABD-4AF7-91E5-03A127D982F6}">
      <dgm:prSet/>
      <dgm:spPr/>
      <dgm:t>
        <a:bodyPr/>
        <a:lstStyle/>
        <a:p>
          <a:endParaRPr lang="en-US"/>
        </a:p>
      </dgm:t>
    </dgm:pt>
    <dgm:pt modelId="{BE5DE984-1E8D-4ACE-BA8B-7DB8EAB88D02}" type="sibTrans" cxnId="{DFA8449F-2ABD-4AF7-91E5-03A127D982F6}">
      <dgm:prSet/>
      <dgm:spPr/>
      <dgm:t>
        <a:bodyPr/>
        <a:lstStyle/>
        <a:p>
          <a:endParaRPr lang="en-US"/>
        </a:p>
      </dgm:t>
    </dgm:pt>
    <dgm:pt modelId="{EA46A26D-FC15-4FBA-AD8D-B2C03D9EC9F4}" type="pres">
      <dgm:prSet presAssocID="{B7799885-90EC-448B-A5E6-EF402A2B4455}" presName="Name0" presStyleCnt="0">
        <dgm:presLayoutVars>
          <dgm:chMax val="11"/>
          <dgm:chPref val="11"/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56264BB1-ED82-4F90-8CF3-175F1AE56A5D}" type="pres">
      <dgm:prSet presAssocID="{B0FCABA2-AA67-4284-A582-E04F8A7A2495}" presName="Accent5" presStyleCnt="0"/>
      <dgm:spPr/>
    </dgm:pt>
    <dgm:pt modelId="{F5BF9BC4-6BAB-4577-A90C-A74021483097}" type="pres">
      <dgm:prSet presAssocID="{B0FCABA2-AA67-4284-A582-E04F8A7A2495}" presName="Accent" presStyleLbl="node1" presStyleIdx="0" presStyleCnt="5"/>
      <dgm:spPr/>
    </dgm:pt>
    <dgm:pt modelId="{A29D1413-6E39-4052-B462-E74493969C80}" type="pres">
      <dgm:prSet presAssocID="{B0FCABA2-AA67-4284-A582-E04F8A7A2495}" presName="ParentBackground5" presStyleCnt="0"/>
      <dgm:spPr/>
    </dgm:pt>
    <dgm:pt modelId="{1BCF17FA-19B1-4BE6-9799-112FC038D689}" type="pres">
      <dgm:prSet presAssocID="{B0FCABA2-AA67-4284-A582-E04F8A7A2495}" presName="ParentBackground" presStyleLbl="fgAcc1" presStyleIdx="0" presStyleCnt="5"/>
      <dgm:spPr/>
      <dgm:t>
        <a:bodyPr/>
        <a:lstStyle/>
        <a:p>
          <a:endParaRPr lang="en-US"/>
        </a:p>
      </dgm:t>
    </dgm:pt>
    <dgm:pt modelId="{FFE42FB5-1618-4650-B8D1-3F4094546AE4}" type="pres">
      <dgm:prSet presAssocID="{B0FCABA2-AA67-4284-A582-E04F8A7A2495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D8EA84-F14D-4CDF-826C-624781F29B78}" type="pres">
      <dgm:prSet presAssocID="{4C8FD9CC-C9E1-4C2A-9A24-DEFDBAD349EF}" presName="Accent4" presStyleCnt="0"/>
      <dgm:spPr/>
    </dgm:pt>
    <dgm:pt modelId="{912B6635-5F98-4686-858B-65F2692317D9}" type="pres">
      <dgm:prSet presAssocID="{4C8FD9CC-C9E1-4C2A-9A24-DEFDBAD349EF}" presName="Accent" presStyleLbl="node1" presStyleIdx="1" presStyleCnt="5"/>
      <dgm:spPr>
        <a:noFill/>
        <a:ln w="28575">
          <a:solidFill>
            <a:schemeClr val="tx1"/>
          </a:solidFill>
        </a:ln>
      </dgm:spPr>
    </dgm:pt>
    <dgm:pt modelId="{4D898C36-F6D8-473C-A22B-581ABB0C809A}" type="pres">
      <dgm:prSet presAssocID="{4C8FD9CC-C9E1-4C2A-9A24-DEFDBAD349EF}" presName="ParentBackground4" presStyleCnt="0"/>
      <dgm:spPr/>
    </dgm:pt>
    <dgm:pt modelId="{C42AEE01-8096-42F3-A396-A4FC48EADBB4}" type="pres">
      <dgm:prSet presAssocID="{4C8FD9CC-C9E1-4C2A-9A24-DEFDBAD349EF}" presName="ParentBackground" presStyleLbl="fgAcc1" presStyleIdx="1" presStyleCnt="5" custScaleX="115087" custLinFactNeighborX="2514"/>
      <dgm:spPr/>
      <dgm:t>
        <a:bodyPr/>
        <a:lstStyle/>
        <a:p>
          <a:endParaRPr lang="en-US"/>
        </a:p>
      </dgm:t>
    </dgm:pt>
    <dgm:pt modelId="{43E09396-D415-4C1D-8646-ED9BDE6564B3}" type="pres">
      <dgm:prSet presAssocID="{4C8FD9CC-C9E1-4C2A-9A24-DEFDBAD349EF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597770-BCF3-400A-8F1B-F352A56C3964}" type="pres">
      <dgm:prSet presAssocID="{0DFA0304-874C-4A65-B995-CBD988A4EA1D}" presName="Accent3" presStyleCnt="0"/>
      <dgm:spPr/>
    </dgm:pt>
    <dgm:pt modelId="{F3345FD4-D68E-4CC4-8A5E-DB56D2182E02}" type="pres">
      <dgm:prSet presAssocID="{0DFA0304-874C-4A65-B995-CBD988A4EA1D}" presName="Accent" presStyleLbl="node1" presStyleIdx="2" presStyleCnt="5" custLinFactNeighborX="-1658"/>
      <dgm:spPr>
        <a:noFill/>
        <a:ln>
          <a:solidFill>
            <a:schemeClr val="tx1"/>
          </a:solidFill>
        </a:ln>
      </dgm:spPr>
    </dgm:pt>
    <dgm:pt modelId="{B85AFE10-4879-4EA2-A6CE-4AEE0BE79A46}" type="pres">
      <dgm:prSet presAssocID="{0DFA0304-874C-4A65-B995-CBD988A4EA1D}" presName="ParentBackground3" presStyleCnt="0"/>
      <dgm:spPr/>
    </dgm:pt>
    <dgm:pt modelId="{39E53DC8-941D-4DDE-AAD9-FCAFD3EC4023}" type="pres">
      <dgm:prSet presAssocID="{0DFA0304-874C-4A65-B995-CBD988A4EA1D}" presName="ParentBackground" presStyleLbl="fgAcc1" presStyleIdx="2" presStyleCnt="5"/>
      <dgm:spPr/>
      <dgm:t>
        <a:bodyPr/>
        <a:lstStyle/>
        <a:p>
          <a:endParaRPr lang="en-US"/>
        </a:p>
      </dgm:t>
    </dgm:pt>
    <dgm:pt modelId="{1F3219CD-F50B-4754-8F7D-0EDB92C55F23}" type="pres">
      <dgm:prSet presAssocID="{0DFA0304-874C-4A65-B995-CBD988A4EA1D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A03842-9E67-4199-A565-26AADC44A5ED}" type="pres">
      <dgm:prSet presAssocID="{909A296E-D754-48F8-860D-6EE69996442F}" presName="Accent2" presStyleCnt="0"/>
      <dgm:spPr/>
    </dgm:pt>
    <dgm:pt modelId="{89DFBE28-7300-41D6-AB92-AC502E6D90FC}" type="pres">
      <dgm:prSet presAssocID="{909A296E-D754-48F8-860D-6EE69996442F}" presName="Accent" presStyleLbl="node1" presStyleIdx="3" presStyleCnt="5"/>
      <dgm:spPr>
        <a:noFill/>
        <a:ln w="28575">
          <a:solidFill>
            <a:schemeClr val="tx1"/>
          </a:solidFill>
        </a:ln>
      </dgm:spPr>
    </dgm:pt>
    <dgm:pt modelId="{F7CC27F8-2EE0-4532-9BCE-86986465764E}" type="pres">
      <dgm:prSet presAssocID="{909A296E-D754-48F8-860D-6EE69996442F}" presName="ParentBackground2" presStyleCnt="0"/>
      <dgm:spPr/>
    </dgm:pt>
    <dgm:pt modelId="{776D4B27-0EF4-4AD6-A9B5-748DCDFB24D0}" type="pres">
      <dgm:prSet presAssocID="{909A296E-D754-48F8-860D-6EE69996442F}" presName="ParentBackground" presStyleLbl="fgAcc1" presStyleIdx="3" presStyleCnt="5"/>
      <dgm:spPr/>
      <dgm:t>
        <a:bodyPr/>
        <a:lstStyle/>
        <a:p>
          <a:endParaRPr lang="en-US"/>
        </a:p>
      </dgm:t>
    </dgm:pt>
    <dgm:pt modelId="{E45A6CF2-9276-4B3D-BAA0-379B52AAB91D}" type="pres">
      <dgm:prSet presAssocID="{909A296E-D754-48F8-860D-6EE69996442F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E45637-F4F6-4BEA-8D04-9DB0837747EE}" type="pres">
      <dgm:prSet presAssocID="{73B533C0-8C15-4C19-BD96-9D21D3988BD5}" presName="Accent1" presStyleCnt="0"/>
      <dgm:spPr/>
    </dgm:pt>
    <dgm:pt modelId="{5A182BD6-932E-4A6A-A774-6DAEB079B70F}" type="pres">
      <dgm:prSet presAssocID="{73B533C0-8C15-4C19-BD96-9D21D3988BD5}" presName="Accent" presStyleLbl="node1" presStyleIdx="4" presStyleCnt="5"/>
      <dgm:spPr>
        <a:noFill/>
        <a:ln>
          <a:solidFill>
            <a:schemeClr val="tx1"/>
          </a:solidFill>
        </a:ln>
      </dgm:spPr>
    </dgm:pt>
    <dgm:pt modelId="{68F1AD57-99A8-4DED-9A92-8F8F21DBE104}" type="pres">
      <dgm:prSet presAssocID="{73B533C0-8C15-4C19-BD96-9D21D3988BD5}" presName="ParentBackground1" presStyleCnt="0"/>
      <dgm:spPr/>
    </dgm:pt>
    <dgm:pt modelId="{22BAC551-0C08-45D2-9FCA-06BA1703163F}" type="pres">
      <dgm:prSet presAssocID="{73B533C0-8C15-4C19-BD96-9D21D3988BD5}" presName="ParentBackground" presStyleLbl="fgAcc1" presStyleIdx="4" presStyleCnt="5"/>
      <dgm:spPr/>
      <dgm:t>
        <a:bodyPr/>
        <a:lstStyle/>
        <a:p>
          <a:endParaRPr lang="en-US"/>
        </a:p>
      </dgm:t>
    </dgm:pt>
    <dgm:pt modelId="{717D1FF3-F88B-4432-AD35-88675A8D81D6}" type="pres">
      <dgm:prSet presAssocID="{73B533C0-8C15-4C19-BD96-9D21D3988BD5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D7E17F3-CC39-4DEB-A7C0-DEE899CAC1F1}" type="presOf" srcId="{4C8FD9CC-C9E1-4C2A-9A24-DEFDBAD349EF}" destId="{C42AEE01-8096-42F3-A396-A4FC48EADBB4}" srcOrd="0" destOrd="0" presId="urn:microsoft.com/office/officeart/2011/layout/CircleProcess"/>
    <dgm:cxn modelId="{3FC13C44-0D49-40A6-9AB6-372D670A839A}" type="presOf" srcId="{0DFA0304-874C-4A65-B995-CBD988A4EA1D}" destId="{39E53DC8-941D-4DDE-AAD9-FCAFD3EC4023}" srcOrd="0" destOrd="0" presId="urn:microsoft.com/office/officeart/2011/layout/CircleProcess"/>
    <dgm:cxn modelId="{C29D29C0-CF88-476C-96B0-C5AB1A754610}" type="presOf" srcId="{4C8FD9CC-C9E1-4C2A-9A24-DEFDBAD349EF}" destId="{43E09396-D415-4C1D-8646-ED9BDE6564B3}" srcOrd="1" destOrd="0" presId="urn:microsoft.com/office/officeart/2011/layout/CircleProcess"/>
    <dgm:cxn modelId="{3A8C18B6-1BE6-4E6B-98B6-0CC4E5625D18}" srcId="{B7799885-90EC-448B-A5E6-EF402A2B4455}" destId="{73B533C0-8C15-4C19-BD96-9D21D3988BD5}" srcOrd="0" destOrd="0" parTransId="{DF88C67E-A8C4-4033-8E86-B3F3B9095760}" sibTransId="{C605212A-447D-44E7-82CE-D04C08348439}"/>
    <dgm:cxn modelId="{93314DF7-CE8B-494B-A47E-DCE53056899F}" type="presOf" srcId="{909A296E-D754-48F8-860D-6EE69996442F}" destId="{776D4B27-0EF4-4AD6-A9B5-748DCDFB24D0}" srcOrd="0" destOrd="0" presId="urn:microsoft.com/office/officeart/2011/layout/CircleProcess"/>
    <dgm:cxn modelId="{571972C6-CAAF-4EEC-A9D6-318CE2ADBDD3}" srcId="{B7799885-90EC-448B-A5E6-EF402A2B4455}" destId="{0DFA0304-874C-4A65-B995-CBD988A4EA1D}" srcOrd="2" destOrd="0" parTransId="{C1E6120F-647F-458C-AF8E-55F23B80F52F}" sibTransId="{32EF71EF-5D86-43FB-941B-865CC03A6A0C}"/>
    <dgm:cxn modelId="{B95D2A61-3C7F-4F30-BE7D-79B0196E9DDF}" srcId="{B7799885-90EC-448B-A5E6-EF402A2B4455}" destId="{909A296E-D754-48F8-860D-6EE69996442F}" srcOrd="1" destOrd="0" parTransId="{D31AABF4-3ACD-432D-B0F9-388309FE970F}" sibTransId="{143C2BE0-AC6B-4C22-A020-96F5B9FC1043}"/>
    <dgm:cxn modelId="{C5BBAF29-CD59-4F40-B70D-C86D244E3B94}" type="presOf" srcId="{B0FCABA2-AA67-4284-A582-E04F8A7A2495}" destId="{1BCF17FA-19B1-4BE6-9799-112FC038D689}" srcOrd="0" destOrd="0" presId="urn:microsoft.com/office/officeart/2011/layout/CircleProcess"/>
    <dgm:cxn modelId="{E34EE762-D0A8-4807-890C-B4CE6257B002}" type="presOf" srcId="{909A296E-D754-48F8-860D-6EE69996442F}" destId="{E45A6CF2-9276-4B3D-BAA0-379B52AAB91D}" srcOrd="1" destOrd="0" presId="urn:microsoft.com/office/officeart/2011/layout/CircleProcess"/>
    <dgm:cxn modelId="{529E5301-823E-4D8F-838C-295FC016A56D}" type="presOf" srcId="{73B533C0-8C15-4C19-BD96-9D21D3988BD5}" destId="{22BAC551-0C08-45D2-9FCA-06BA1703163F}" srcOrd="0" destOrd="0" presId="urn:microsoft.com/office/officeart/2011/layout/CircleProcess"/>
    <dgm:cxn modelId="{04A5BC76-F42A-4CBC-A9EC-259D936C44B7}" type="presOf" srcId="{B7799885-90EC-448B-A5E6-EF402A2B4455}" destId="{EA46A26D-FC15-4FBA-AD8D-B2C03D9EC9F4}" srcOrd="0" destOrd="0" presId="urn:microsoft.com/office/officeart/2011/layout/CircleProcess"/>
    <dgm:cxn modelId="{DFA8449F-2ABD-4AF7-91E5-03A127D982F6}" srcId="{B7799885-90EC-448B-A5E6-EF402A2B4455}" destId="{B0FCABA2-AA67-4284-A582-E04F8A7A2495}" srcOrd="4" destOrd="0" parTransId="{51E3E0F4-ED85-46AE-A477-C63A2EB51350}" sibTransId="{BE5DE984-1E8D-4ACE-BA8B-7DB8EAB88D02}"/>
    <dgm:cxn modelId="{87E64112-439C-45AF-A8E0-2856D51901C2}" type="presOf" srcId="{73B533C0-8C15-4C19-BD96-9D21D3988BD5}" destId="{717D1FF3-F88B-4432-AD35-88675A8D81D6}" srcOrd="1" destOrd="0" presId="urn:microsoft.com/office/officeart/2011/layout/CircleProcess"/>
    <dgm:cxn modelId="{F2F28B1C-3745-4E1B-9640-D12EED0379C2}" type="presOf" srcId="{0DFA0304-874C-4A65-B995-CBD988A4EA1D}" destId="{1F3219CD-F50B-4754-8F7D-0EDB92C55F23}" srcOrd="1" destOrd="0" presId="urn:microsoft.com/office/officeart/2011/layout/CircleProcess"/>
    <dgm:cxn modelId="{BADF13F1-9E51-4BDF-920B-FEBAE49A8E7E}" type="presOf" srcId="{B0FCABA2-AA67-4284-A582-E04F8A7A2495}" destId="{FFE42FB5-1618-4650-B8D1-3F4094546AE4}" srcOrd="1" destOrd="0" presId="urn:microsoft.com/office/officeart/2011/layout/CircleProcess"/>
    <dgm:cxn modelId="{B5D90AA4-21C3-4438-AE1C-0BE8775FFE68}" srcId="{B7799885-90EC-448B-A5E6-EF402A2B4455}" destId="{4C8FD9CC-C9E1-4C2A-9A24-DEFDBAD349EF}" srcOrd="3" destOrd="0" parTransId="{9011253C-D600-4247-AFB3-5C07F854DEC4}" sibTransId="{D6182908-C37E-44FB-B4E3-CCAB86FB606F}"/>
    <dgm:cxn modelId="{704D9B28-899A-4C34-A411-CA4A5BC3249B}" type="presParOf" srcId="{EA46A26D-FC15-4FBA-AD8D-B2C03D9EC9F4}" destId="{56264BB1-ED82-4F90-8CF3-175F1AE56A5D}" srcOrd="0" destOrd="0" presId="urn:microsoft.com/office/officeart/2011/layout/CircleProcess"/>
    <dgm:cxn modelId="{F0D6A209-CB65-41C9-ABEE-28C0C28EECA9}" type="presParOf" srcId="{56264BB1-ED82-4F90-8CF3-175F1AE56A5D}" destId="{F5BF9BC4-6BAB-4577-A90C-A74021483097}" srcOrd="0" destOrd="0" presId="urn:microsoft.com/office/officeart/2011/layout/CircleProcess"/>
    <dgm:cxn modelId="{915F44A9-6471-498D-820E-F96674CAC7EF}" type="presParOf" srcId="{EA46A26D-FC15-4FBA-AD8D-B2C03D9EC9F4}" destId="{A29D1413-6E39-4052-B462-E74493969C80}" srcOrd="1" destOrd="0" presId="urn:microsoft.com/office/officeart/2011/layout/CircleProcess"/>
    <dgm:cxn modelId="{CF356DC1-C30D-4611-9190-89E9C74C61F6}" type="presParOf" srcId="{A29D1413-6E39-4052-B462-E74493969C80}" destId="{1BCF17FA-19B1-4BE6-9799-112FC038D689}" srcOrd="0" destOrd="0" presId="urn:microsoft.com/office/officeart/2011/layout/CircleProcess"/>
    <dgm:cxn modelId="{ECAC81EC-3C60-4E4F-A495-F0DCD8FA53DB}" type="presParOf" srcId="{EA46A26D-FC15-4FBA-AD8D-B2C03D9EC9F4}" destId="{FFE42FB5-1618-4650-B8D1-3F4094546AE4}" srcOrd="2" destOrd="0" presId="urn:microsoft.com/office/officeart/2011/layout/CircleProcess"/>
    <dgm:cxn modelId="{DEA621DB-CAF7-49C7-8F96-8B7B43D4C71D}" type="presParOf" srcId="{EA46A26D-FC15-4FBA-AD8D-B2C03D9EC9F4}" destId="{ECD8EA84-F14D-4CDF-826C-624781F29B78}" srcOrd="3" destOrd="0" presId="urn:microsoft.com/office/officeart/2011/layout/CircleProcess"/>
    <dgm:cxn modelId="{C292402D-28D9-49C8-9C79-8F1854B868C6}" type="presParOf" srcId="{ECD8EA84-F14D-4CDF-826C-624781F29B78}" destId="{912B6635-5F98-4686-858B-65F2692317D9}" srcOrd="0" destOrd="0" presId="urn:microsoft.com/office/officeart/2011/layout/CircleProcess"/>
    <dgm:cxn modelId="{53923695-51E7-4BBC-8A6C-822B368497C4}" type="presParOf" srcId="{EA46A26D-FC15-4FBA-AD8D-B2C03D9EC9F4}" destId="{4D898C36-F6D8-473C-A22B-581ABB0C809A}" srcOrd="4" destOrd="0" presId="urn:microsoft.com/office/officeart/2011/layout/CircleProcess"/>
    <dgm:cxn modelId="{EDF2716E-A1E8-4802-A596-017CBF6261EA}" type="presParOf" srcId="{4D898C36-F6D8-473C-A22B-581ABB0C809A}" destId="{C42AEE01-8096-42F3-A396-A4FC48EADBB4}" srcOrd="0" destOrd="0" presId="urn:microsoft.com/office/officeart/2011/layout/CircleProcess"/>
    <dgm:cxn modelId="{BEFC4137-11C2-46B3-A7BB-F158B9156571}" type="presParOf" srcId="{EA46A26D-FC15-4FBA-AD8D-B2C03D9EC9F4}" destId="{43E09396-D415-4C1D-8646-ED9BDE6564B3}" srcOrd="5" destOrd="0" presId="urn:microsoft.com/office/officeart/2011/layout/CircleProcess"/>
    <dgm:cxn modelId="{B0E94C97-C304-463D-A7BC-BB25F2373CA3}" type="presParOf" srcId="{EA46A26D-FC15-4FBA-AD8D-B2C03D9EC9F4}" destId="{1F597770-BCF3-400A-8F1B-F352A56C3964}" srcOrd="6" destOrd="0" presId="urn:microsoft.com/office/officeart/2011/layout/CircleProcess"/>
    <dgm:cxn modelId="{32890799-9D90-44C9-9B3B-B422D8C853F2}" type="presParOf" srcId="{1F597770-BCF3-400A-8F1B-F352A56C3964}" destId="{F3345FD4-D68E-4CC4-8A5E-DB56D2182E02}" srcOrd="0" destOrd="0" presId="urn:microsoft.com/office/officeart/2011/layout/CircleProcess"/>
    <dgm:cxn modelId="{99B48C6B-1838-4750-85EF-CF93D586AF03}" type="presParOf" srcId="{EA46A26D-FC15-4FBA-AD8D-B2C03D9EC9F4}" destId="{B85AFE10-4879-4EA2-A6CE-4AEE0BE79A46}" srcOrd="7" destOrd="0" presId="urn:microsoft.com/office/officeart/2011/layout/CircleProcess"/>
    <dgm:cxn modelId="{925FD409-1FA0-46AB-A528-991169A56BBF}" type="presParOf" srcId="{B85AFE10-4879-4EA2-A6CE-4AEE0BE79A46}" destId="{39E53DC8-941D-4DDE-AAD9-FCAFD3EC4023}" srcOrd="0" destOrd="0" presId="urn:microsoft.com/office/officeart/2011/layout/CircleProcess"/>
    <dgm:cxn modelId="{04677058-F6AE-4E66-82CC-2B8B28DA75ED}" type="presParOf" srcId="{EA46A26D-FC15-4FBA-AD8D-B2C03D9EC9F4}" destId="{1F3219CD-F50B-4754-8F7D-0EDB92C55F23}" srcOrd="8" destOrd="0" presId="urn:microsoft.com/office/officeart/2011/layout/CircleProcess"/>
    <dgm:cxn modelId="{4ED53A24-1B01-4A72-B9E4-D76963A6590C}" type="presParOf" srcId="{EA46A26D-FC15-4FBA-AD8D-B2C03D9EC9F4}" destId="{FCA03842-9E67-4199-A565-26AADC44A5ED}" srcOrd="9" destOrd="0" presId="urn:microsoft.com/office/officeart/2011/layout/CircleProcess"/>
    <dgm:cxn modelId="{1CEE687B-2A2F-45A1-96A8-C0CBE11C5CB6}" type="presParOf" srcId="{FCA03842-9E67-4199-A565-26AADC44A5ED}" destId="{89DFBE28-7300-41D6-AB92-AC502E6D90FC}" srcOrd="0" destOrd="0" presId="urn:microsoft.com/office/officeart/2011/layout/CircleProcess"/>
    <dgm:cxn modelId="{9CEE7D86-D9FF-4FCD-A06B-EAB148D3461E}" type="presParOf" srcId="{EA46A26D-FC15-4FBA-AD8D-B2C03D9EC9F4}" destId="{F7CC27F8-2EE0-4532-9BCE-86986465764E}" srcOrd="10" destOrd="0" presId="urn:microsoft.com/office/officeart/2011/layout/CircleProcess"/>
    <dgm:cxn modelId="{E9076B69-AF3D-439F-ABE7-2AA37DEC0F1A}" type="presParOf" srcId="{F7CC27F8-2EE0-4532-9BCE-86986465764E}" destId="{776D4B27-0EF4-4AD6-A9B5-748DCDFB24D0}" srcOrd="0" destOrd="0" presId="urn:microsoft.com/office/officeart/2011/layout/CircleProcess"/>
    <dgm:cxn modelId="{7E751E4F-3700-4A63-BA8B-94CFC8B3878C}" type="presParOf" srcId="{EA46A26D-FC15-4FBA-AD8D-B2C03D9EC9F4}" destId="{E45A6CF2-9276-4B3D-BAA0-379B52AAB91D}" srcOrd="11" destOrd="0" presId="urn:microsoft.com/office/officeart/2011/layout/CircleProcess"/>
    <dgm:cxn modelId="{D0570CAA-60EA-4F04-A9C7-2C479F87F7B7}" type="presParOf" srcId="{EA46A26D-FC15-4FBA-AD8D-B2C03D9EC9F4}" destId="{84E45637-F4F6-4BEA-8D04-9DB0837747EE}" srcOrd="12" destOrd="0" presId="urn:microsoft.com/office/officeart/2011/layout/CircleProcess"/>
    <dgm:cxn modelId="{FE2C659F-0CE1-47D9-BECC-3B08ACF639BB}" type="presParOf" srcId="{84E45637-F4F6-4BEA-8D04-9DB0837747EE}" destId="{5A182BD6-932E-4A6A-A774-6DAEB079B70F}" srcOrd="0" destOrd="0" presId="urn:microsoft.com/office/officeart/2011/layout/CircleProcess"/>
    <dgm:cxn modelId="{7601C8A7-578F-4EF6-ABF1-2B94753A2037}" type="presParOf" srcId="{EA46A26D-FC15-4FBA-AD8D-B2C03D9EC9F4}" destId="{68F1AD57-99A8-4DED-9A92-8F8F21DBE104}" srcOrd="13" destOrd="0" presId="urn:microsoft.com/office/officeart/2011/layout/CircleProcess"/>
    <dgm:cxn modelId="{0848A2C4-B94E-484F-85CF-84CD4F183C2D}" type="presParOf" srcId="{68F1AD57-99A8-4DED-9A92-8F8F21DBE104}" destId="{22BAC551-0C08-45D2-9FCA-06BA1703163F}" srcOrd="0" destOrd="0" presId="urn:microsoft.com/office/officeart/2011/layout/CircleProcess"/>
    <dgm:cxn modelId="{E7D65495-4CDD-4E16-A1C7-DB3BDE0F2FFA}" type="presParOf" srcId="{EA46A26D-FC15-4FBA-AD8D-B2C03D9EC9F4}" destId="{717D1FF3-F88B-4432-AD35-88675A8D81D6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7799885-90EC-448B-A5E6-EF402A2B4455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B533C0-8C15-4C19-BD96-9D21D3988BD5}">
      <dgm:prSet phldrT="[Text]" custT="1"/>
      <dgm:spPr>
        <a:solidFill>
          <a:schemeClr val="bg1">
            <a:lumMod val="85000"/>
            <a:alpha val="89804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Invoice Receipt/ Verification</a:t>
          </a:r>
          <a:endParaRPr lang="en-US" sz="500" dirty="0">
            <a:latin typeface="+mn-lt"/>
          </a:endParaRPr>
        </a:p>
      </dgm:t>
    </dgm:pt>
    <dgm:pt modelId="{DF88C67E-A8C4-4033-8E86-B3F3B9095760}" type="parTrans" cxnId="{3A8C18B6-1BE6-4E6B-98B6-0CC4E5625D18}">
      <dgm:prSet/>
      <dgm:spPr/>
      <dgm:t>
        <a:bodyPr/>
        <a:lstStyle/>
        <a:p>
          <a:endParaRPr lang="en-US"/>
        </a:p>
      </dgm:t>
    </dgm:pt>
    <dgm:pt modelId="{C605212A-447D-44E7-82CE-D04C08348439}" type="sibTrans" cxnId="{3A8C18B6-1BE6-4E6B-98B6-0CC4E5625D18}">
      <dgm:prSet/>
      <dgm:spPr/>
      <dgm:t>
        <a:bodyPr/>
        <a:lstStyle/>
        <a:p>
          <a:endParaRPr lang="en-US"/>
        </a:p>
      </dgm:t>
    </dgm:pt>
    <dgm:pt modelId="{909A296E-D754-48F8-860D-6EE69996442F}">
      <dgm:prSet phldrT="[Text]" custT="1"/>
      <dgm:spPr>
        <a:solidFill>
          <a:srgbClr val="F4DCDC">
            <a:alpha val="89804"/>
          </a:srgbClr>
        </a:solidFill>
        <a:ln w="12700">
          <a:solidFill>
            <a:srgbClr val="002D73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Release Payment</a:t>
          </a:r>
          <a:endParaRPr lang="en-US" sz="500" dirty="0">
            <a:latin typeface="+mn-lt"/>
          </a:endParaRPr>
        </a:p>
      </dgm:t>
    </dgm:pt>
    <dgm:pt modelId="{D31AABF4-3ACD-432D-B0F9-388309FE970F}" type="parTrans" cxnId="{B95D2A61-3C7F-4F30-BE7D-79B0196E9DDF}">
      <dgm:prSet/>
      <dgm:spPr/>
      <dgm:t>
        <a:bodyPr/>
        <a:lstStyle/>
        <a:p>
          <a:endParaRPr lang="en-US"/>
        </a:p>
      </dgm:t>
    </dgm:pt>
    <dgm:pt modelId="{143C2BE0-AC6B-4C22-A020-96F5B9FC1043}" type="sibTrans" cxnId="{B95D2A61-3C7F-4F30-BE7D-79B0196E9DDF}">
      <dgm:prSet/>
      <dgm:spPr/>
      <dgm:t>
        <a:bodyPr/>
        <a:lstStyle/>
        <a:p>
          <a:endParaRPr lang="en-US"/>
        </a:p>
      </dgm:t>
    </dgm:pt>
    <dgm:pt modelId="{4C8FD9CC-C9E1-4C2A-9A24-DEFDBAD349EF}">
      <dgm:prSet phldrT="[Text]" custT="1"/>
      <dgm:spPr>
        <a:solidFill>
          <a:schemeClr val="accent2">
            <a:lumMod val="75000"/>
            <a:alpha val="89804"/>
          </a:schemeClr>
        </a:solidFill>
        <a:ln>
          <a:solidFill>
            <a:srgbClr val="002D73"/>
          </a:solidFill>
        </a:ln>
      </dgm:spPr>
      <dgm:t>
        <a:bodyPr/>
        <a:lstStyle/>
        <a:p>
          <a:r>
            <a:rPr lang="en-US" sz="500" b="0" dirty="0" smtClean="0">
              <a:solidFill>
                <a:schemeClr val="bg1"/>
              </a:solidFill>
            </a:rPr>
            <a:t>Reconciliation</a:t>
          </a:r>
          <a:endParaRPr lang="en-US" sz="500" b="0" dirty="0">
            <a:solidFill>
              <a:schemeClr val="bg1"/>
            </a:solidFill>
            <a:latin typeface="+mn-lt"/>
          </a:endParaRPr>
        </a:p>
      </dgm:t>
    </dgm:pt>
    <dgm:pt modelId="{9011253C-D600-4247-AFB3-5C07F854DEC4}" type="parTrans" cxnId="{B5D90AA4-21C3-4438-AE1C-0BE8775FFE68}">
      <dgm:prSet/>
      <dgm:spPr/>
      <dgm:t>
        <a:bodyPr/>
        <a:lstStyle/>
        <a:p>
          <a:endParaRPr lang="en-US"/>
        </a:p>
      </dgm:t>
    </dgm:pt>
    <dgm:pt modelId="{D6182908-C37E-44FB-B4E3-CCAB86FB606F}" type="sibTrans" cxnId="{B5D90AA4-21C3-4438-AE1C-0BE8775FFE68}">
      <dgm:prSet/>
      <dgm:spPr/>
      <dgm:t>
        <a:bodyPr/>
        <a:lstStyle/>
        <a:p>
          <a:endParaRPr lang="en-US"/>
        </a:p>
      </dgm:t>
    </dgm:pt>
    <dgm:pt modelId="{0DFA0304-874C-4A65-B995-CBD988A4EA1D}">
      <dgm:prSet phldrT="[Text]" custT="1"/>
      <dgm:spPr>
        <a:solidFill>
          <a:srgbClr val="FF0000"/>
        </a:solidFill>
        <a:ln w="12700">
          <a:solidFill>
            <a:srgbClr val="002D73"/>
          </a:solidFill>
        </a:ln>
      </dgm:spPr>
      <dgm:t>
        <a:bodyPr/>
        <a:lstStyle/>
        <a:p>
          <a:r>
            <a:rPr lang="en-US" sz="500" dirty="0" smtClean="0">
              <a:solidFill>
                <a:schemeClr val="bg1"/>
              </a:solidFill>
              <a:latin typeface="+mn-lt"/>
            </a:rPr>
            <a:t>Make Payment</a:t>
          </a:r>
          <a:endParaRPr lang="en-US" sz="500" dirty="0">
            <a:solidFill>
              <a:schemeClr val="bg1"/>
            </a:solidFill>
            <a:latin typeface="+mn-lt"/>
          </a:endParaRPr>
        </a:p>
      </dgm:t>
    </dgm:pt>
    <dgm:pt modelId="{C1E6120F-647F-458C-AF8E-55F23B80F52F}" type="parTrans" cxnId="{571972C6-CAAF-4EEC-A9D6-318CE2ADBDD3}">
      <dgm:prSet/>
      <dgm:spPr/>
      <dgm:t>
        <a:bodyPr/>
        <a:lstStyle/>
        <a:p>
          <a:endParaRPr lang="en-US"/>
        </a:p>
      </dgm:t>
    </dgm:pt>
    <dgm:pt modelId="{32EF71EF-5D86-43FB-941B-865CC03A6A0C}" type="sibTrans" cxnId="{571972C6-CAAF-4EEC-A9D6-318CE2ADBDD3}">
      <dgm:prSet/>
      <dgm:spPr/>
      <dgm:t>
        <a:bodyPr/>
        <a:lstStyle/>
        <a:p>
          <a:endParaRPr lang="en-US"/>
        </a:p>
      </dgm:t>
    </dgm:pt>
    <dgm:pt modelId="{B0FCABA2-AA67-4284-A582-E04F8A7A2495}">
      <dgm:prSet phldrT="[Text]" custT="1"/>
      <dgm:spPr>
        <a:solidFill>
          <a:schemeClr val="bg1">
            <a:lumMod val="85000"/>
            <a:alpha val="89804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Reporting</a:t>
          </a:r>
          <a:endParaRPr lang="en-US" sz="500" dirty="0">
            <a:latin typeface="+mn-lt"/>
          </a:endParaRPr>
        </a:p>
      </dgm:t>
    </dgm:pt>
    <dgm:pt modelId="{51E3E0F4-ED85-46AE-A477-C63A2EB51350}" type="parTrans" cxnId="{DFA8449F-2ABD-4AF7-91E5-03A127D982F6}">
      <dgm:prSet/>
      <dgm:spPr/>
      <dgm:t>
        <a:bodyPr/>
        <a:lstStyle/>
        <a:p>
          <a:endParaRPr lang="en-US"/>
        </a:p>
      </dgm:t>
    </dgm:pt>
    <dgm:pt modelId="{BE5DE984-1E8D-4ACE-BA8B-7DB8EAB88D02}" type="sibTrans" cxnId="{DFA8449F-2ABD-4AF7-91E5-03A127D982F6}">
      <dgm:prSet/>
      <dgm:spPr/>
      <dgm:t>
        <a:bodyPr/>
        <a:lstStyle/>
        <a:p>
          <a:endParaRPr lang="en-US"/>
        </a:p>
      </dgm:t>
    </dgm:pt>
    <dgm:pt modelId="{EA46A26D-FC15-4FBA-AD8D-B2C03D9EC9F4}" type="pres">
      <dgm:prSet presAssocID="{B7799885-90EC-448B-A5E6-EF402A2B4455}" presName="Name0" presStyleCnt="0">
        <dgm:presLayoutVars>
          <dgm:chMax val="11"/>
          <dgm:chPref val="11"/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56264BB1-ED82-4F90-8CF3-175F1AE56A5D}" type="pres">
      <dgm:prSet presAssocID="{B0FCABA2-AA67-4284-A582-E04F8A7A2495}" presName="Accent5" presStyleCnt="0"/>
      <dgm:spPr/>
    </dgm:pt>
    <dgm:pt modelId="{F5BF9BC4-6BAB-4577-A90C-A74021483097}" type="pres">
      <dgm:prSet presAssocID="{B0FCABA2-AA67-4284-A582-E04F8A7A2495}" presName="Accent" presStyleLbl="node1" presStyleIdx="0" presStyleCnt="5"/>
      <dgm:spPr/>
    </dgm:pt>
    <dgm:pt modelId="{A29D1413-6E39-4052-B462-E74493969C80}" type="pres">
      <dgm:prSet presAssocID="{B0FCABA2-AA67-4284-A582-E04F8A7A2495}" presName="ParentBackground5" presStyleCnt="0"/>
      <dgm:spPr/>
    </dgm:pt>
    <dgm:pt modelId="{1BCF17FA-19B1-4BE6-9799-112FC038D689}" type="pres">
      <dgm:prSet presAssocID="{B0FCABA2-AA67-4284-A582-E04F8A7A2495}" presName="ParentBackground" presStyleLbl="fgAcc1" presStyleIdx="0" presStyleCnt="5"/>
      <dgm:spPr/>
      <dgm:t>
        <a:bodyPr/>
        <a:lstStyle/>
        <a:p>
          <a:endParaRPr lang="en-US"/>
        </a:p>
      </dgm:t>
    </dgm:pt>
    <dgm:pt modelId="{FFE42FB5-1618-4650-B8D1-3F4094546AE4}" type="pres">
      <dgm:prSet presAssocID="{B0FCABA2-AA67-4284-A582-E04F8A7A2495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D8EA84-F14D-4CDF-826C-624781F29B78}" type="pres">
      <dgm:prSet presAssocID="{4C8FD9CC-C9E1-4C2A-9A24-DEFDBAD349EF}" presName="Accent4" presStyleCnt="0"/>
      <dgm:spPr/>
    </dgm:pt>
    <dgm:pt modelId="{912B6635-5F98-4686-858B-65F2692317D9}" type="pres">
      <dgm:prSet presAssocID="{4C8FD9CC-C9E1-4C2A-9A24-DEFDBAD349EF}" presName="Accent" presStyleLbl="node1" presStyleIdx="1" presStyleCnt="5"/>
      <dgm:spPr>
        <a:noFill/>
        <a:ln w="28575">
          <a:solidFill>
            <a:schemeClr val="tx1"/>
          </a:solidFill>
        </a:ln>
      </dgm:spPr>
    </dgm:pt>
    <dgm:pt modelId="{4D898C36-F6D8-473C-A22B-581ABB0C809A}" type="pres">
      <dgm:prSet presAssocID="{4C8FD9CC-C9E1-4C2A-9A24-DEFDBAD349EF}" presName="ParentBackground4" presStyleCnt="0"/>
      <dgm:spPr/>
    </dgm:pt>
    <dgm:pt modelId="{C42AEE01-8096-42F3-A396-A4FC48EADBB4}" type="pres">
      <dgm:prSet presAssocID="{4C8FD9CC-C9E1-4C2A-9A24-DEFDBAD349EF}" presName="ParentBackground" presStyleLbl="fgAcc1" presStyleIdx="1" presStyleCnt="5" custScaleX="115087" custLinFactNeighborX="2514"/>
      <dgm:spPr/>
      <dgm:t>
        <a:bodyPr/>
        <a:lstStyle/>
        <a:p>
          <a:endParaRPr lang="en-US"/>
        </a:p>
      </dgm:t>
    </dgm:pt>
    <dgm:pt modelId="{43E09396-D415-4C1D-8646-ED9BDE6564B3}" type="pres">
      <dgm:prSet presAssocID="{4C8FD9CC-C9E1-4C2A-9A24-DEFDBAD349EF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597770-BCF3-400A-8F1B-F352A56C3964}" type="pres">
      <dgm:prSet presAssocID="{0DFA0304-874C-4A65-B995-CBD988A4EA1D}" presName="Accent3" presStyleCnt="0"/>
      <dgm:spPr/>
    </dgm:pt>
    <dgm:pt modelId="{F3345FD4-D68E-4CC4-8A5E-DB56D2182E02}" type="pres">
      <dgm:prSet presAssocID="{0DFA0304-874C-4A65-B995-CBD988A4EA1D}" presName="Accent" presStyleLbl="node1" presStyleIdx="2" presStyleCnt="5" custLinFactNeighborX="-1658"/>
      <dgm:spPr>
        <a:noFill/>
        <a:ln>
          <a:solidFill>
            <a:schemeClr val="tx1"/>
          </a:solidFill>
        </a:ln>
      </dgm:spPr>
    </dgm:pt>
    <dgm:pt modelId="{B85AFE10-4879-4EA2-A6CE-4AEE0BE79A46}" type="pres">
      <dgm:prSet presAssocID="{0DFA0304-874C-4A65-B995-CBD988A4EA1D}" presName="ParentBackground3" presStyleCnt="0"/>
      <dgm:spPr/>
    </dgm:pt>
    <dgm:pt modelId="{39E53DC8-941D-4DDE-AAD9-FCAFD3EC4023}" type="pres">
      <dgm:prSet presAssocID="{0DFA0304-874C-4A65-B995-CBD988A4EA1D}" presName="ParentBackground" presStyleLbl="fgAcc1" presStyleIdx="2" presStyleCnt="5"/>
      <dgm:spPr/>
      <dgm:t>
        <a:bodyPr/>
        <a:lstStyle/>
        <a:p>
          <a:endParaRPr lang="en-US"/>
        </a:p>
      </dgm:t>
    </dgm:pt>
    <dgm:pt modelId="{1F3219CD-F50B-4754-8F7D-0EDB92C55F23}" type="pres">
      <dgm:prSet presAssocID="{0DFA0304-874C-4A65-B995-CBD988A4EA1D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A03842-9E67-4199-A565-26AADC44A5ED}" type="pres">
      <dgm:prSet presAssocID="{909A296E-D754-48F8-860D-6EE69996442F}" presName="Accent2" presStyleCnt="0"/>
      <dgm:spPr/>
    </dgm:pt>
    <dgm:pt modelId="{89DFBE28-7300-41D6-AB92-AC502E6D90FC}" type="pres">
      <dgm:prSet presAssocID="{909A296E-D754-48F8-860D-6EE69996442F}" presName="Accent" presStyleLbl="node1" presStyleIdx="3" presStyleCnt="5"/>
      <dgm:spPr>
        <a:noFill/>
        <a:ln w="28575">
          <a:solidFill>
            <a:schemeClr val="tx1"/>
          </a:solidFill>
        </a:ln>
      </dgm:spPr>
    </dgm:pt>
    <dgm:pt modelId="{F7CC27F8-2EE0-4532-9BCE-86986465764E}" type="pres">
      <dgm:prSet presAssocID="{909A296E-D754-48F8-860D-6EE69996442F}" presName="ParentBackground2" presStyleCnt="0"/>
      <dgm:spPr/>
    </dgm:pt>
    <dgm:pt modelId="{776D4B27-0EF4-4AD6-A9B5-748DCDFB24D0}" type="pres">
      <dgm:prSet presAssocID="{909A296E-D754-48F8-860D-6EE69996442F}" presName="ParentBackground" presStyleLbl="fgAcc1" presStyleIdx="3" presStyleCnt="5"/>
      <dgm:spPr/>
      <dgm:t>
        <a:bodyPr/>
        <a:lstStyle/>
        <a:p>
          <a:endParaRPr lang="en-US"/>
        </a:p>
      </dgm:t>
    </dgm:pt>
    <dgm:pt modelId="{E45A6CF2-9276-4B3D-BAA0-379B52AAB91D}" type="pres">
      <dgm:prSet presAssocID="{909A296E-D754-48F8-860D-6EE69996442F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E45637-F4F6-4BEA-8D04-9DB0837747EE}" type="pres">
      <dgm:prSet presAssocID="{73B533C0-8C15-4C19-BD96-9D21D3988BD5}" presName="Accent1" presStyleCnt="0"/>
      <dgm:spPr/>
    </dgm:pt>
    <dgm:pt modelId="{5A182BD6-932E-4A6A-A774-6DAEB079B70F}" type="pres">
      <dgm:prSet presAssocID="{73B533C0-8C15-4C19-BD96-9D21D3988BD5}" presName="Accent" presStyleLbl="node1" presStyleIdx="4" presStyleCnt="5"/>
      <dgm:spPr>
        <a:noFill/>
        <a:ln>
          <a:solidFill>
            <a:schemeClr val="tx1"/>
          </a:solidFill>
        </a:ln>
      </dgm:spPr>
    </dgm:pt>
    <dgm:pt modelId="{68F1AD57-99A8-4DED-9A92-8F8F21DBE104}" type="pres">
      <dgm:prSet presAssocID="{73B533C0-8C15-4C19-BD96-9D21D3988BD5}" presName="ParentBackground1" presStyleCnt="0"/>
      <dgm:spPr/>
    </dgm:pt>
    <dgm:pt modelId="{22BAC551-0C08-45D2-9FCA-06BA1703163F}" type="pres">
      <dgm:prSet presAssocID="{73B533C0-8C15-4C19-BD96-9D21D3988BD5}" presName="ParentBackground" presStyleLbl="fgAcc1" presStyleIdx="4" presStyleCnt="5"/>
      <dgm:spPr/>
      <dgm:t>
        <a:bodyPr/>
        <a:lstStyle/>
        <a:p>
          <a:endParaRPr lang="en-US"/>
        </a:p>
      </dgm:t>
    </dgm:pt>
    <dgm:pt modelId="{717D1FF3-F88B-4432-AD35-88675A8D81D6}" type="pres">
      <dgm:prSet presAssocID="{73B533C0-8C15-4C19-BD96-9D21D3988BD5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D7E17F3-CC39-4DEB-A7C0-DEE899CAC1F1}" type="presOf" srcId="{4C8FD9CC-C9E1-4C2A-9A24-DEFDBAD349EF}" destId="{C42AEE01-8096-42F3-A396-A4FC48EADBB4}" srcOrd="0" destOrd="0" presId="urn:microsoft.com/office/officeart/2011/layout/CircleProcess"/>
    <dgm:cxn modelId="{3FC13C44-0D49-40A6-9AB6-372D670A839A}" type="presOf" srcId="{0DFA0304-874C-4A65-B995-CBD988A4EA1D}" destId="{39E53DC8-941D-4DDE-AAD9-FCAFD3EC4023}" srcOrd="0" destOrd="0" presId="urn:microsoft.com/office/officeart/2011/layout/CircleProcess"/>
    <dgm:cxn modelId="{C29D29C0-CF88-476C-96B0-C5AB1A754610}" type="presOf" srcId="{4C8FD9CC-C9E1-4C2A-9A24-DEFDBAD349EF}" destId="{43E09396-D415-4C1D-8646-ED9BDE6564B3}" srcOrd="1" destOrd="0" presId="urn:microsoft.com/office/officeart/2011/layout/CircleProcess"/>
    <dgm:cxn modelId="{3A8C18B6-1BE6-4E6B-98B6-0CC4E5625D18}" srcId="{B7799885-90EC-448B-A5E6-EF402A2B4455}" destId="{73B533C0-8C15-4C19-BD96-9D21D3988BD5}" srcOrd="0" destOrd="0" parTransId="{DF88C67E-A8C4-4033-8E86-B3F3B9095760}" sibTransId="{C605212A-447D-44E7-82CE-D04C08348439}"/>
    <dgm:cxn modelId="{93314DF7-CE8B-494B-A47E-DCE53056899F}" type="presOf" srcId="{909A296E-D754-48F8-860D-6EE69996442F}" destId="{776D4B27-0EF4-4AD6-A9B5-748DCDFB24D0}" srcOrd="0" destOrd="0" presId="urn:microsoft.com/office/officeart/2011/layout/CircleProcess"/>
    <dgm:cxn modelId="{571972C6-CAAF-4EEC-A9D6-318CE2ADBDD3}" srcId="{B7799885-90EC-448B-A5E6-EF402A2B4455}" destId="{0DFA0304-874C-4A65-B995-CBD988A4EA1D}" srcOrd="2" destOrd="0" parTransId="{C1E6120F-647F-458C-AF8E-55F23B80F52F}" sibTransId="{32EF71EF-5D86-43FB-941B-865CC03A6A0C}"/>
    <dgm:cxn modelId="{B95D2A61-3C7F-4F30-BE7D-79B0196E9DDF}" srcId="{B7799885-90EC-448B-A5E6-EF402A2B4455}" destId="{909A296E-D754-48F8-860D-6EE69996442F}" srcOrd="1" destOrd="0" parTransId="{D31AABF4-3ACD-432D-B0F9-388309FE970F}" sibTransId="{143C2BE0-AC6B-4C22-A020-96F5B9FC1043}"/>
    <dgm:cxn modelId="{C5BBAF29-CD59-4F40-B70D-C86D244E3B94}" type="presOf" srcId="{B0FCABA2-AA67-4284-A582-E04F8A7A2495}" destId="{1BCF17FA-19B1-4BE6-9799-112FC038D689}" srcOrd="0" destOrd="0" presId="urn:microsoft.com/office/officeart/2011/layout/CircleProcess"/>
    <dgm:cxn modelId="{E34EE762-D0A8-4807-890C-B4CE6257B002}" type="presOf" srcId="{909A296E-D754-48F8-860D-6EE69996442F}" destId="{E45A6CF2-9276-4B3D-BAA0-379B52AAB91D}" srcOrd="1" destOrd="0" presId="urn:microsoft.com/office/officeart/2011/layout/CircleProcess"/>
    <dgm:cxn modelId="{529E5301-823E-4D8F-838C-295FC016A56D}" type="presOf" srcId="{73B533C0-8C15-4C19-BD96-9D21D3988BD5}" destId="{22BAC551-0C08-45D2-9FCA-06BA1703163F}" srcOrd="0" destOrd="0" presId="urn:microsoft.com/office/officeart/2011/layout/CircleProcess"/>
    <dgm:cxn modelId="{04A5BC76-F42A-4CBC-A9EC-259D936C44B7}" type="presOf" srcId="{B7799885-90EC-448B-A5E6-EF402A2B4455}" destId="{EA46A26D-FC15-4FBA-AD8D-B2C03D9EC9F4}" srcOrd="0" destOrd="0" presId="urn:microsoft.com/office/officeart/2011/layout/CircleProcess"/>
    <dgm:cxn modelId="{DFA8449F-2ABD-4AF7-91E5-03A127D982F6}" srcId="{B7799885-90EC-448B-A5E6-EF402A2B4455}" destId="{B0FCABA2-AA67-4284-A582-E04F8A7A2495}" srcOrd="4" destOrd="0" parTransId="{51E3E0F4-ED85-46AE-A477-C63A2EB51350}" sibTransId="{BE5DE984-1E8D-4ACE-BA8B-7DB8EAB88D02}"/>
    <dgm:cxn modelId="{87E64112-439C-45AF-A8E0-2856D51901C2}" type="presOf" srcId="{73B533C0-8C15-4C19-BD96-9D21D3988BD5}" destId="{717D1FF3-F88B-4432-AD35-88675A8D81D6}" srcOrd="1" destOrd="0" presId="urn:microsoft.com/office/officeart/2011/layout/CircleProcess"/>
    <dgm:cxn modelId="{F2F28B1C-3745-4E1B-9640-D12EED0379C2}" type="presOf" srcId="{0DFA0304-874C-4A65-B995-CBD988A4EA1D}" destId="{1F3219CD-F50B-4754-8F7D-0EDB92C55F23}" srcOrd="1" destOrd="0" presId="urn:microsoft.com/office/officeart/2011/layout/CircleProcess"/>
    <dgm:cxn modelId="{BADF13F1-9E51-4BDF-920B-FEBAE49A8E7E}" type="presOf" srcId="{B0FCABA2-AA67-4284-A582-E04F8A7A2495}" destId="{FFE42FB5-1618-4650-B8D1-3F4094546AE4}" srcOrd="1" destOrd="0" presId="urn:microsoft.com/office/officeart/2011/layout/CircleProcess"/>
    <dgm:cxn modelId="{B5D90AA4-21C3-4438-AE1C-0BE8775FFE68}" srcId="{B7799885-90EC-448B-A5E6-EF402A2B4455}" destId="{4C8FD9CC-C9E1-4C2A-9A24-DEFDBAD349EF}" srcOrd="3" destOrd="0" parTransId="{9011253C-D600-4247-AFB3-5C07F854DEC4}" sibTransId="{D6182908-C37E-44FB-B4E3-CCAB86FB606F}"/>
    <dgm:cxn modelId="{704D9B28-899A-4C34-A411-CA4A5BC3249B}" type="presParOf" srcId="{EA46A26D-FC15-4FBA-AD8D-B2C03D9EC9F4}" destId="{56264BB1-ED82-4F90-8CF3-175F1AE56A5D}" srcOrd="0" destOrd="0" presId="urn:microsoft.com/office/officeart/2011/layout/CircleProcess"/>
    <dgm:cxn modelId="{F0D6A209-CB65-41C9-ABEE-28C0C28EECA9}" type="presParOf" srcId="{56264BB1-ED82-4F90-8CF3-175F1AE56A5D}" destId="{F5BF9BC4-6BAB-4577-A90C-A74021483097}" srcOrd="0" destOrd="0" presId="urn:microsoft.com/office/officeart/2011/layout/CircleProcess"/>
    <dgm:cxn modelId="{915F44A9-6471-498D-820E-F96674CAC7EF}" type="presParOf" srcId="{EA46A26D-FC15-4FBA-AD8D-B2C03D9EC9F4}" destId="{A29D1413-6E39-4052-B462-E74493969C80}" srcOrd="1" destOrd="0" presId="urn:microsoft.com/office/officeart/2011/layout/CircleProcess"/>
    <dgm:cxn modelId="{CF356DC1-C30D-4611-9190-89E9C74C61F6}" type="presParOf" srcId="{A29D1413-6E39-4052-B462-E74493969C80}" destId="{1BCF17FA-19B1-4BE6-9799-112FC038D689}" srcOrd="0" destOrd="0" presId="urn:microsoft.com/office/officeart/2011/layout/CircleProcess"/>
    <dgm:cxn modelId="{ECAC81EC-3C60-4E4F-A495-F0DCD8FA53DB}" type="presParOf" srcId="{EA46A26D-FC15-4FBA-AD8D-B2C03D9EC9F4}" destId="{FFE42FB5-1618-4650-B8D1-3F4094546AE4}" srcOrd="2" destOrd="0" presId="urn:microsoft.com/office/officeart/2011/layout/CircleProcess"/>
    <dgm:cxn modelId="{DEA621DB-CAF7-49C7-8F96-8B7B43D4C71D}" type="presParOf" srcId="{EA46A26D-FC15-4FBA-AD8D-B2C03D9EC9F4}" destId="{ECD8EA84-F14D-4CDF-826C-624781F29B78}" srcOrd="3" destOrd="0" presId="urn:microsoft.com/office/officeart/2011/layout/CircleProcess"/>
    <dgm:cxn modelId="{C292402D-28D9-49C8-9C79-8F1854B868C6}" type="presParOf" srcId="{ECD8EA84-F14D-4CDF-826C-624781F29B78}" destId="{912B6635-5F98-4686-858B-65F2692317D9}" srcOrd="0" destOrd="0" presId="urn:microsoft.com/office/officeart/2011/layout/CircleProcess"/>
    <dgm:cxn modelId="{53923695-51E7-4BBC-8A6C-822B368497C4}" type="presParOf" srcId="{EA46A26D-FC15-4FBA-AD8D-B2C03D9EC9F4}" destId="{4D898C36-F6D8-473C-A22B-581ABB0C809A}" srcOrd="4" destOrd="0" presId="urn:microsoft.com/office/officeart/2011/layout/CircleProcess"/>
    <dgm:cxn modelId="{EDF2716E-A1E8-4802-A596-017CBF6261EA}" type="presParOf" srcId="{4D898C36-F6D8-473C-A22B-581ABB0C809A}" destId="{C42AEE01-8096-42F3-A396-A4FC48EADBB4}" srcOrd="0" destOrd="0" presId="urn:microsoft.com/office/officeart/2011/layout/CircleProcess"/>
    <dgm:cxn modelId="{BEFC4137-11C2-46B3-A7BB-F158B9156571}" type="presParOf" srcId="{EA46A26D-FC15-4FBA-AD8D-B2C03D9EC9F4}" destId="{43E09396-D415-4C1D-8646-ED9BDE6564B3}" srcOrd="5" destOrd="0" presId="urn:microsoft.com/office/officeart/2011/layout/CircleProcess"/>
    <dgm:cxn modelId="{B0E94C97-C304-463D-A7BC-BB25F2373CA3}" type="presParOf" srcId="{EA46A26D-FC15-4FBA-AD8D-B2C03D9EC9F4}" destId="{1F597770-BCF3-400A-8F1B-F352A56C3964}" srcOrd="6" destOrd="0" presId="urn:microsoft.com/office/officeart/2011/layout/CircleProcess"/>
    <dgm:cxn modelId="{32890799-9D90-44C9-9B3B-B422D8C853F2}" type="presParOf" srcId="{1F597770-BCF3-400A-8F1B-F352A56C3964}" destId="{F3345FD4-D68E-4CC4-8A5E-DB56D2182E02}" srcOrd="0" destOrd="0" presId="urn:microsoft.com/office/officeart/2011/layout/CircleProcess"/>
    <dgm:cxn modelId="{99B48C6B-1838-4750-85EF-CF93D586AF03}" type="presParOf" srcId="{EA46A26D-FC15-4FBA-AD8D-B2C03D9EC9F4}" destId="{B85AFE10-4879-4EA2-A6CE-4AEE0BE79A46}" srcOrd="7" destOrd="0" presId="urn:microsoft.com/office/officeart/2011/layout/CircleProcess"/>
    <dgm:cxn modelId="{925FD409-1FA0-46AB-A528-991169A56BBF}" type="presParOf" srcId="{B85AFE10-4879-4EA2-A6CE-4AEE0BE79A46}" destId="{39E53DC8-941D-4DDE-AAD9-FCAFD3EC4023}" srcOrd="0" destOrd="0" presId="urn:microsoft.com/office/officeart/2011/layout/CircleProcess"/>
    <dgm:cxn modelId="{04677058-F6AE-4E66-82CC-2B8B28DA75ED}" type="presParOf" srcId="{EA46A26D-FC15-4FBA-AD8D-B2C03D9EC9F4}" destId="{1F3219CD-F50B-4754-8F7D-0EDB92C55F23}" srcOrd="8" destOrd="0" presId="urn:microsoft.com/office/officeart/2011/layout/CircleProcess"/>
    <dgm:cxn modelId="{4ED53A24-1B01-4A72-B9E4-D76963A6590C}" type="presParOf" srcId="{EA46A26D-FC15-4FBA-AD8D-B2C03D9EC9F4}" destId="{FCA03842-9E67-4199-A565-26AADC44A5ED}" srcOrd="9" destOrd="0" presId="urn:microsoft.com/office/officeart/2011/layout/CircleProcess"/>
    <dgm:cxn modelId="{1CEE687B-2A2F-45A1-96A8-C0CBE11C5CB6}" type="presParOf" srcId="{FCA03842-9E67-4199-A565-26AADC44A5ED}" destId="{89DFBE28-7300-41D6-AB92-AC502E6D90FC}" srcOrd="0" destOrd="0" presId="urn:microsoft.com/office/officeart/2011/layout/CircleProcess"/>
    <dgm:cxn modelId="{9CEE7D86-D9FF-4FCD-A06B-EAB148D3461E}" type="presParOf" srcId="{EA46A26D-FC15-4FBA-AD8D-B2C03D9EC9F4}" destId="{F7CC27F8-2EE0-4532-9BCE-86986465764E}" srcOrd="10" destOrd="0" presId="urn:microsoft.com/office/officeart/2011/layout/CircleProcess"/>
    <dgm:cxn modelId="{E9076B69-AF3D-439F-ABE7-2AA37DEC0F1A}" type="presParOf" srcId="{F7CC27F8-2EE0-4532-9BCE-86986465764E}" destId="{776D4B27-0EF4-4AD6-A9B5-748DCDFB24D0}" srcOrd="0" destOrd="0" presId="urn:microsoft.com/office/officeart/2011/layout/CircleProcess"/>
    <dgm:cxn modelId="{7E751E4F-3700-4A63-BA8B-94CFC8B3878C}" type="presParOf" srcId="{EA46A26D-FC15-4FBA-AD8D-B2C03D9EC9F4}" destId="{E45A6CF2-9276-4B3D-BAA0-379B52AAB91D}" srcOrd="11" destOrd="0" presId="urn:microsoft.com/office/officeart/2011/layout/CircleProcess"/>
    <dgm:cxn modelId="{D0570CAA-60EA-4F04-A9C7-2C479F87F7B7}" type="presParOf" srcId="{EA46A26D-FC15-4FBA-AD8D-B2C03D9EC9F4}" destId="{84E45637-F4F6-4BEA-8D04-9DB0837747EE}" srcOrd="12" destOrd="0" presId="urn:microsoft.com/office/officeart/2011/layout/CircleProcess"/>
    <dgm:cxn modelId="{FE2C659F-0CE1-47D9-BECC-3B08ACF639BB}" type="presParOf" srcId="{84E45637-F4F6-4BEA-8D04-9DB0837747EE}" destId="{5A182BD6-932E-4A6A-A774-6DAEB079B70F}" srcOrd="0" destOrd="0" presId="urn:microsoft.com/office/officeart/2011/layout/CircleProcess"/>
    <dgm:cxn modelId="{7601C8A7-578F-4EF6-ABF1-2B94753A2037}" type="presParOf" srcId="{EA46A26D-FC15-4FBA-AD8D-B2C03D9EC9F4}" destId="{68F1AD57-99A8-4DED-9A92-8F8F21DBE104}" srcOrd="13" destOrd="0" presId="urn:microsoft.com/office/officeart/2011/layout/CircleProcess"/>
    <dgm:cxn modelId="{0848A2C4-B94E-484F-85CF-84CD4F183C2D}" type="presParOf" srcId="{68F1AD57-99A8-4DED-9A92-8F8F21DBE104}" destId="{22BAC551-0C08-45D2-9FCA-06BA1703163F}" srcOrd="0" destOrd="0" presId="urn:microsoft.com/office/officeart/2011/layout/CircleProcess"/>
    <dgm:cxn modelId="{E7D65495-4CDD-4E16-A1C7-DB3BDE0F2FFA}" type="presParOf" srcId="{EA46A26D-FC15-4FBA-AD8D-B2C03D9EC9F4}" destId="{717D1FF3-F88B-4432-AD35-88675A8D81D6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7799885-90EC-448B-A5E6-EF402A2B4455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B533C0-8C15-4C19-BD96-9D21D3988BD5}">
      <dgm:prSet phldrT="[Text]" custT="1"/>
      <dgm:spPr>
        <a:solidFill>
          <a:schemeClr val="bg1">
            <a:lumMod val="85000"/>
            <a:alpha val="89804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Invoice Receipt/ Verification</a:t>
          </a:r>
          <a:endParaRPr lang="en-US" sz="500" dirty="0">
            <a:latin typeface="+mn-lt"/>
          </a:endParaRPr>
        </a:p>
      </dgm:t>
    </dgm:pt>
    <dgm:pt modelId="{DF88C67E-A8C4-4033-8E86-B3F3B9095760}" type="parTrans" cxnId="{3A8C18B6-1BE6-4E6B-98B6-0CC4E5625D18}">
      <dgm:prSet/>
      <dgm:spPr/>
      <dgm:t>
        <a:bodyPr/>
        <a:lstStyle/>
        <a:p>
          <a:endParaRPr lang="en-US"/>
        </a:p>
      </dgm:t>
    </dgm:pt>
    <dgm:pt modelId="{C605212A-447D-44E7-82CE-D04C08348439}" type="sibTrans" cxnId="{3A8C18B6-1BE6-4E6B-98B6-0CC4E5625D18}">
      <dgm:prSet/>
      <dgm:spPr/>
      <dgm:t>
        <a:bodyPr/>
        <a:lstStyle/>
        <a:p>
          <a:endParaRPr lang="en-US"/>
        </a:p>
      </dgm:t>
    </dgm:pt>
    <dgm:pt modelId="{909A296E-D754-48F8-860D-6EE69996442F}">
      <dgm:prSet phldrT="[Text]" custT="1"/>
      <dgm:spPr>
        <a:solidFill>
          <a:srgbClr val="F4DCDC">
            <a:alpha val="89804"/>
          </a:srgbClr>
        </a:solidFill>
        <a:ln w="12700">
          <a:solidFill>
            <a:srgbClr val="002D73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Release Payment</a:t>
          </a:r>
          <a:endParaRPr lang="en-US" sz="500" dirty="0">
            <a:latin typeface="+mn-lt"/>
          </a:endParaRPr>
        </a:p>
      </dgm:t>
    </dgm:pt>
    <dgm:pt modelId="{D31AABF4-3ACD-432D-B0F9-388309FE970F}" type="parTrans" cxnId="{B95D2A61-3C7F-4F30-BE7D-79B0196E9DDF}">
      <dgm:prSet/>
      <dgm:spPr/>
      <dgm:t>
        <a:bodyPr/>
        <a:lstStyle/>
        <a:p>
          <a:endParaRPr lang="en-US"/>
        </a:p>
      </dgm:t>
    </dgm:pt>
    <dgm:pt modelId="{143C2BE0-AC6B-4C22-A020-96F5B9FC1043}" type="sibTrans" cxnId="{B95D2A61-3C7F-4F30-BE7D-79B0196E9DDF}">
      <dgm:prSet/>
      <dgm:spPr/>
      <dgm:t>
        <a:bodyPr/>
        <a:lstStyle/>
        <a:p>
          <a:endParaRPr lang="en-US"/>
        </a:p>
      </dgm:t>
    </dgm:pt>
    <dgm:pt modelId="{4C8FD9CC-C9E1-4C2A-9A24-DEFDBAD349EF}">
      <dgm:prSet phldrT="[Text]" custT="1"/>
      <dgm:spPr>
        <a:solidFill>
          <a:schemeClr val="accent2">
            <a:lumMod val="75000"/>
            <a:alpha val="89804"/>
          </a:schemeClr>
        </a:solidFill>
        <a:ln>
          <a:solidFill>
            <a:srgbClr val="002D73"/>
          </a:solidFill>
        </a:ln>
      </dgm:spPr>
      <dgm:t>
        <a:bodyPr/>
        <a:lstStyle/>
        <a:p>
          <a:r>
            <a:rPr lang="en-US" sz="500" b="0" dirty="0" smtClean="0">
              <a:solidFill>
                <a:schemeClr val="bg1"/>
              </a:solidFill>
            </a:rPr>
            <a:t>Reconciliation</a:t>
          </a:r>
          <a:endParaRPr lang="en-US" sz="500" b="0" dirty="0">
            <a:solidFill>
              <a:schemeClr val="bg1"/>
            </a:solidFill>
            <a:latin typeface="+mn-lt"/>
          </a:endParaRPr>
        </a:p>
      </dgm:t>
    </dgm:pt>
    <dgm:pt modelId="{9011253C-D600-4247-AFB3-5C07F854DEC4}" type="parTrans" cxnId="{B5D90AA4-21C3-4438-AE1C-0BE8775FFE68}">
      <dgm:prSet/>
      <dgm:spPr/>
      <dgm:t>
        <a:bodyPr/>
        <a:lstStyle/>
        <a:p>
          <a:endParaRPr lang="en-US"/>
        </a:p>
      </dgm:t>
    </dgm:pt>
    <dgm:pt modelId="{D6182908-C37E-44FB-B4E3-CCAB86FB606F}" type="sibTrans" cxnId="{B5D90AA4-21C3-4438-AE1C-0BE8775FFE68}">
      <dgm:prSet/>
      <dgm:spPr/>
      <dgm:t>
        <a:bodyPr/>
        <a:lstStyle/>
        <a:p>
          <a:endParaRPr lang="en-US"/>
        </a:p>
      </dgm:t>
    </dgm:pt>
    <dgm:pt modelId="{0DFA0304-874C-4A65-B995-CBD988A4EA1D}">
      <dgm:prSet phldrT="[Text]" custT="1"/>
      <dgm:spPr>
        <a:solidFill>
          <a:srgbClr val="FF0000"/>
        </a:solidFill>
        <a:ln w="12700">
          <a:solidFill>
            <a:srgbClr val="002D73"/>
          </a:solidFill>
        </a:ln>
      </dgm:spPr>
      <dgm:t>
        <a:bodyPr/>
        <a:lstStyle/>
        <a:p>
          <a:r>
            <a:rPr lang="en-US" sz="500" dirty="0" smtClean="0">
              <a:solidFill>
                <a:schemeClr val="bg1"/>
              </a:solidFill>
              <a:latin typeface="+mn-lt"/>
            </a:rPr>
            <a:t>Make Payment</a:t>
          </a:r>
          <a:endParaRPr lang="en-US" sz="500" dirty="0">
            <a:solidFill>
              <a:schemeClr val="bg1"/>
            </a:solidFill>
            <a:latin typeface="+mn-lt"/>
          </a:endParaRPr>
        </a:p>
      </dgm:t>
    </dgm:pt>
    <dgm:pt modelId="{C1E6120F-647F-458C-AF8E-55F23B80F52F}" type="parTrans" cxnId="{571972C6-CAAF-4EEC-A9D6-318CE2ADBDD3}">
      <dgm:prSet/>
      <dgm:spPr/>
      <dgm:t>
        <a:bodyPr/>
        <a:lstStyle/>
        <a:p>
          <a:endParaRPr lang="en-US"/>
        </a:p>
      </dgm:t>
    </dgm:pt>
    <dgm:pt modelId="{32EF71EF-5D86-43FB-941B-865CC03A6A0C}" type="sibTrans" cxnId="{571972C6-CAAF-4EEC-A9D6-318CE2ADBDD3}">
      <dgm:prSet/>
      <dgm:spPr/>
      <dgm:t>
        <a:bodyPr/>
        <a:lstStyle/>
        <a:p>
          <a:endParaRPr lang="en-US"/>
        </a:p>
      </dgm:t>
    </dgm:pt>
    <dgm:pt modelId="{B0FCABA2-AA67-4284-A582-E04F8A7A2495}">
      <dgm:prSet phldrT="[Text]" custT="1"/>
      <dgm:spPr>
        <a:solidFill>
          <a:schemeClr val="bg1">
            <a:lumMod val="85000"/>
            <a:alpha val="89804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Reporting</a:t>
          </a:r>
          <a:endParaRPr lang="en-US" sz="500" dirty="0">
            <a:latin typeface="+mn-lt"/>
          </a:endParaRPr>
        </a:p>
      </dgm:t>
    </dgm:pt>
    <dgm:pt modelId="{51E3E0F4-ED85-46AE-A477-C63A2EB51350}" type="parTrans" cxnId="{DFA8449F-2ABD-4AF7-91E5-03A127D982F6}">
      <dgm:prSet/>
      <dgm:spPr/>
      <dgm:t>
        <a:bodyPr/>
        <a:lstStyle/>
        <a:p>
          <a:endParaRPr lang="en-US"/>
        </a:p>
      </dgm:t>
    </dgm:pt>
    <dgm:pt modelId="{BE5DE984-1E8D-4ACE-BA8B-7DB8EAB88D02}" type="sibTrans" cxnId="{DFA8449F-2ABD-4AF7-91E5-03A127D982F6}">
      <dgm:prSet/>
      <dgm:spPr/>
      <dgm:t>
        <a:bodyPr/>
        <a:lstStyle/>
        <a:p>
          <a:endParaRPr lang="en-US"/>
        </a:p>
      </dgm:t>
    </dgm:pt>
    <dgm:pt modelId="{EA46A26D-FC15-4FBA-AD8D-B2C03D9EC9F4}" type="pres">
      <dgm:prSet presAssocID="{B7799885-90EC-448B-A5E6-EF402A2B4455}" presName="Name0" presStyleCnt="0">
        <dgm:presLayoutVars>
          <dgm:chMax val="11"/>
          <dgm:chPref val="11"/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56264BB1-ED82-4F90-8CF3-175F1AE56A5D}" type="pres">
      <dgm:prSet presAssocID="{B0FCABA2-AA67-4284-A582-E04F8A7A2495}" presName="Accent5" presStyleCnt="0"/>
      <dgm:spPr/>
    </dgm:pt>
    <dgm:pt modelId="{F5BF9BC4-6BAB-4577-A90C-A74021483097}" type="pres">
      <dgm:prSet presAssocID="{B0FCABA2-AA67-4284-A582-E04F8A7A2495}" presName="Accent" presStyleLbl="node1" presStyleIdx="0" presStyleCnt="5"/>
      <dgm:spPr/>
    </dgm:pt>
    <dgm:pt modelId="{A29D1413-6E39-4052-B462-E74493969C80}" type="pres">
      <dgm:prSet presAssocID="{B0FCABA2-AA67-4284-A582-E04F8A7A2495}" presName="ParentBackground5" presStyleCnt="0"/>
      <dgm:spPr/>
    </dgm:pt>
    <dgm:pt modelId="{1BCF17FA-19B1-4BE6-9799-112FC038D689}" type="pres">
      <dgm:prSet presAssocID="{B0FCABA2-AA67-4284-A582-E04F8A7A2495}" presName="ParentBackground" presStyleLbl="fgAcc1" presStyleIdx="0" presStyleCnt="5"/>
      <dgm:spPr/>
      <dgm:t>
        <a:bodyPr/>
        <a:lstStyle/>
        <a:p>
          <a:endParaRPr lang="en-US"/>
        </a:p>
      </dgm:t>
    </dgm:pt>
    <dgm:pt modelId="{FFE42FB5-1618-4650-B8D1-3F4094546AE4}" type="pres">
      <dgm:prSet presAssocID="{B0FCABA2-AA67-4284-A582-E04F8A7A2495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D8EA84-F14D-4CDF-826C-624781F29B78}" type="pres">
      <dgm:prSet presAssocID="{4C8FD9CC-C9E1-4C2A-9A24-DEFDBAD349EF}" presName="Accent4" presStyleCnt="0"/>
      <dgm:spPr/>
    </dgm:pt>
    <dgm:pt modelId="{912B6635-5F98-4686-858B-65F2692317D9}" type="pres">
      <dgm:prSet presAssocID="{4C8FD9CC-C9E1-4C2A-9A24-DEFDBAD349EF}" presName="Accent" presStyleLbl="node1" presStyleIdx="1" presStyleCnt="5"/>
      <dgm:spPr>
        <a:noFill/>
        <a:ln w="28575">
          <a:solidFill>
            <a:schemeClr val="tx1"/>
          </a:solidFill>
        </a:ln>
      </dgm:spPr>
    </dgm:pt>
    <dgm:pt modelId="{4D898C36-F6D8-473C-A22B-581ABB0C809A}" type="pres">
      <dgm:prSet presAssocID="{4C8FD9CC-C9E1-4C2A-9A24-DEFDBAD349EF}" presName="ParentBackground4" presStyleCnt="0"/>
      <dgm:spPr/>
    </dgm:pt>
    <dgm:pt modelId="{C42AEE01-8096-42F3-A396-A4FC48EADBB4}" type="pres">
      <dgm:prSet presAssocID="{4C8FD9CC-C9E1-4C2A-9A24-DEFDBAD349EF}" presName="ParentBackground" presStyleLbl="fgAcc1" presStyleIdx="1" presStyleCnt="5" custScaleX="115087" custLinFactNeighborX="2514"/>
      <dgm:spPr/>
      <dgm:t>
        <a:bodyPr/>
        <a:lstStyle/>
        <a:p>
          <a:endParaRPr lang="en-US"/>
        </a:p>
      </dgm:t>
    </dgm:pt>
    <dgm:pt modelId="{43E09396-D415-4C1D-8646-ED9BDE6564B3}" type="pres">
      <dgm:prSet presAssocID="{4C8FD9CC-C9E1-4C2A-9A24-DEFDBAD349EF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597770-BCF3-400A-8F1B-F352A56C3964}" type="pres">
      <dgm:prSet presAssocID="{0DFA0304-874C-4A65-B995-CBD988A4EA1D}" presName="Accent3" presStyleCnt="0"/>
      <dgm:spPr/>
    </dgm:pt>
    <dgm:pt modelId="{F3345FD4-D68E-4CC4-8A5E-DB56D2182E02}" type="pres">
      <dgm:prSet presAssocID="{0DFA0304-874C-4A65-B995-CBD988A4EA1D}" presName="Accent" presStyleLbl="node1" presStyleIdx="2" presStyleCnt="5" custLinFactNeighborX="-1658"/>
      <dgm:spPr>
        <a:noFill/>
        <a:ln>
          <a:solidFill>
            <a:schemeClr val="tx1"/>
          </a:solidFill>
        </a:ln>
      </dgm:spPr>
    </dgm:pt>
    <dgm:pt modelId="{B85AFE10-4879-4EA2-A6CE-4AEE0BE79A46}" type="pres">
      <dgm:prSet presAssocID="{0DFA0304-874C-4A65-B995-CBD988A4EA1D}" presName="ParentBackground3" presStyleCnt="0"/>
      <dgm:spPr/>
    </dgm:pt>
    <dgm:pt modelId="{39E53DC8-941D-4DDE-AAD9-FCAFD3EC4023}" type="pres">
      <dgm:prSet presAssocID="{0DFA0304-874C-4A65-B995-CBD988A4EA1D}" presName="ParentBackground" presStyleLbl="fgAcc1" presStyleIdx="2" presStyleCnt="5"/>
      <dgm:spPr/>
      <dgm:t>
        <a:bodyPr/>
        <a:lstStyle/>
        <a:p>
          <a:endParaRPr lang="en-US"/>
        </a:p>
      </dgm:t>
    </dgm:pt>
    <dgm:pt modelId="{1F3219CD-F50B-4754-8F7D-0EDB92C55F23}" type="pres">
      <dgm:prSet presAssocID="{0DFA0304-874C-4A65-B995-CBD988A4EA1D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A03842-9E67-4199-A565-26AADC44A5ED}" type="pres">
      <dgm:prSet presAssocID="{909A296E-D754-48F8-860D-6EE69996442F}" presName="Accent2" presStyleCnt="0"/>
      <dgm:spPr/>
    </dgm:pt>
    <dgm:pt modelId="{89DFBE28-7300-41D6-AB92-AC502E6D90FC}" type="pres">
      <dgm:prSet presAssocID="{909A296E-D754-48F8-860D-6EE69996442F}" presName="Accent" presStyleLbl="node1" presStyleIdx="3" presStyleCnt="5"/>
      <dgm:spPr>
        <a:noFill/>
        <a:ln w="28575">
          <a:solidFill>
            <a:schemeClr val="tx1"/>
          </a:solidFill>
        </a:ln>
      </dgm:spPr>
    </dgm:pt>
    <dgm:pt modelId="{F7CC27F8-2EE0-4532-9BCE-86986465764E}" type="pres">
      <dgm:prSet presAssocID="{909A296E-D754-48F8-860D-6EE69996442F}" presName="ParentBackground2" presStyleCnt="0"/>
      <dgm:spPr/>
    </dgm:pt>
    <dgm:pt modelId="{776D4B27-0EF4-4AD6-A9B5-748DCDFB24D0}" type="pres">
      <dgm:prSet presAssocID="{909A296E-D754-48F8-860D-6EE69996442F}" presName="ParentBackground" presStyleLbl="fgAcc1" presStyleIdx="3" presStyleCnt="5"/>
      <dgm:spPr/>
      <dgm:t>
        <a:bodyPr/>
        <a:lstStyle/>
        <a:p>
          <a:endParaRPr lang="en-US"/>
        </a:p>
      </dgm:t>
    </dgm:pt>
    <dgm:pt modelId="{E45A6CF2-9276-4B3D-BAA0-379B52AAB91D}" type="pres">
      <dgm:prSet presAssocID="{909A296E-D754-48F8-860D-6EE69996442F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E45637-F4F6-4BEA-8D04-9DB0837747EE}" type="pres">
      <dgm:prSet presAssocID="{73B533C0-8C15-4C19-BD96-9D21D3988BD5}" presName="Accent1" presStyleCnt="0"/>
      <dgm:spPr/>
    </dgm:pt>
    <dgm:pt modelId="{5A182BD6-932E-4A6A-A774-6DAEB079B70F}" type="pres">
      <dgm:prSet presAssocID="{73B533C0-8C15-4C19-BD96-9D21D3988BD5}" presName="Accent" presStyleLbl="node1" presStyleIdx="4" presStyleCnt="5"/>
      <dgm:spPr>
        <a:noFill/>
        <a:ln>
          <a:solidFill>
            <a:schemeClr val="tx1"/>
          </a:solidFill>
        </a:ln>
      </dgm:spPr>
    </dgm:pt>
    <dgm:pt modelId="{68F1AD57-99A8-4DED-9A92-8F8F21DBE104}" type="pres">
      <dgm:prSet presAssocID="{73B533C0-8C15-4C19-BD96-9D21D3988BD5}" presName="ParentBackground1" presStyleCnt="0"/>
      <dgm:spPr/>
    </dgm:pt>
    <dgm:pt modelId="{22BAC551-0C08-45D2-9FCA-06BA1703163F}" type="pres">
      <dgm:prSet presAssocID="{73B533C0-8C15-4C19-BD96-9D21D3988BD5}" presName="ParentBackground" presStyleLbl="fgAcc1" presStyleIdx="4" presStyleCnt="5"/>
      <dgm:spPr/>
      <dgm:t>
        <a:bodyPr/>
        <a:lstStyle/>
        <a:p>
          <a:endParaRPr lang="en-US"/>
        </a:p>
      </dgm:t>
    </dgm:pt>
    <dgm:pt modelId="{717D1FF3-F88B-4432-AD35-88675A8D81D6}" type="pres">
      <dgm:prSet presAssocID="{73B533C0-8C15-4C19-BD96-9D21D3988BD5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D7E17F3-CC39-4DEB-A7C0-DEE899CAC1F1}" type="presOf" srcId="{4C8FD9CC-C9E1-4C2A-9A24-DEFDBAD349EF}" destId="{C42AEE01-8096-42F3-A396-A4FC48EADBB4}" srcOrd="0" destOrd="0" presId="urn:microsoft.com/office/officeart/2011/layout/CircleProcess"/>
    <dgm:cxn modelId="{3FC13C44-0D49-40A6-9AB6-372D670A839A}" type="presOf" srcId="{0DFA0304-874C-4A65-B995-CBD988A4EA1D}" destId="{39E53DC8-941D-4DDE-AAD9-FCAFD3EC4023}" srcOrd="0" destOrd="0" presId="urn:microsoft.com/office/officeart/2011/layout/CircleProcess"/>
    <dgm:cxn modelId="{C29D29C0-CF88-476C-96B0-C5AB1A754610}" type="presOf" srcId="{4C8FD9CC-C9E1-4C2A-9A24-DEFDBAD349EF}" destId="{43E09396-D415-4C1D-8646-ED9BDE6564B3}" srcOrd="1" destOrd="0" presId="urn:microsoft.com/office/officeart/2011/layout/CircleProcess"/>
    <dgm:cxn modelId="{3A8C18B6-1BE6-4E6B-98B6-0CC4E5625D18}" srcId="{B7799885-90EC-448B-A5E6-EF402A2B4455}" destId="{73B533C0-8C15-4C19-BD96-9D21D3988BD5}" srcOrd="0" destOrd="0" parTransId="{DF88C67E-A8C4-4033-8E86-B3F3B9095760}" sibTransId="{C605212A-447D-44E7-82CE-D04C08348439}"/>
    <dgm:cxn modelId="{93314DF7-CE8B-494B-A47E-DCE53056899F}" type="presOf" srcId="{909A296E-D754-48F8-860D-6EE69996442F}" destId="{776D4B27-0EF4-4AD6-A9B5-748DCDFB24D0}" srcOrd="0" destOrd="0" presId="urn:microsoft.com/office/officeart/2011/layout/CircleProcess"/>
    <dgm:cxn modelId="{571972C6-CAAF-4EEC-A9D6-318CE2ADBDD3}" srcId="{B7799885-90EC-448B-A5E6-EF402A2B4455}" destId="{0DFA0304-874C-4A65-B995-CBD988A4EA1D}" srcOrd="2" destOrd="0" parTransId="{C1E6120F-647F-458C-AF8E-55F23B80F52F}" sibTransId="{32EF71EF-5D86-43FB-941B-865CC03A6A0C}"/>
    <dgm:cxn modelId="{B95D2A61-3C7F-4F30-BE7D-79B0196E9DDF}" srcId="{B7799885-90EC-448B-A5E6-EF402A2B4455}" destId="{909A296E-D754-48F8-860D-6EE69996442F}" srcOrd="1" destOrd="0" parTransId="{D31AABF4-3ACD-432D-B0F9-388309FE970F}" sibTransId="{143C2BE0-AC6B-4C22-A020-96F5B9FC1043}"/>
    <dgm:cxn modelId="{C5BBAF29-CD59-4F40-B70D-C86D244E3B94}" type="presOf" srcId="{B0FCABA2-AA67-4284-A582-E04F8A7A2495}" destId="{1BCF17FA-19B1-4BE6-9799-112FC038D689}" srcOrd="0" destOrd="0" presId="urn:microsoft.com/office/officeart/2011/layout/CircleProcess"/>
    <dgm:cxn modelId="{E34EE762-D0A8-4807-890C-B4CE6257B002}" type="presOf" srcId="{909A296E-D754-48F8-860D-6EE69996442F}" destId="{E45A6CF2-9276-4B3D-BAA0-379B52AAB91D}" srcOrd="1" destOrd="0" presId="urn:microsoft.com/office/officeart/2011/layout/CircleProcess"/>
    <dgm:cxn modelId="{529E5301-823E-4D8F-838C-295FC016A56D}" type="presOf" srcId="{73B533C0-8C15-4C19-BD96-9D21D3988BD5}" destId="{22BAC551-0C08-45D2-9FCA-06BA1703163F}" srcOrd="0" destOrd="0" presId="urn:microsoft.com/office/officeart/2011/layout/CircleProcess"/>
    <dgm:cxn modelId="{04A5BC76-F42A-4CBC-A9EC-259D936C44B7}" type="presOf" srcId="{B7799885-90EC-448B-A5E6-EF402A2B4455}" destId="{EA46A26D-FC15-4FBA-AD8D-B2C03D9EC9F4}" srcOrd="0" destOrd="0" presId="urn:microsoft.com/office/officeart/2011/layout/CircleProcess"/>
    <dgm:cxn modelId="{DFA8449F-2ABD-4AF7-91E5-03A127D982F6}" srcId="{B7799885-90EC-448B-A5E6-EF402A2B4455}" destId="{B0FCABA2-AA67-4284-A582-E04F8A7A2495}" srcOrd="4" destOrd="0" parTransId="{51E3E0F4-ED85-46AE-A477-C63A2EB51350}" sibTransId="{BE5DE984-1E8D-4ACE-BA8B-7DB8EAB88D02}"/>
    <dgm:cxn modelId="{87E64112-439C-45AF-A8E0-2856D51901C2}" type="presOf" srcId="{73B533C0-8C15-4C19-BD96-9D21D3988BD5}" destId="{717D1FF3-F88B-4432-AD35-88675A8D81D6}" srcOrd="1" destOrd="0" presId="urn:microsoft.com/office/officeart/2011/layout/CircleProcess"/>
    <dgm:cxn modelId="{F2F28B1C-3745-4E1B-9640-D12EED0379C2}" type="presOf" srcId="{0DFA0304-874C-4A65-B995-CBD988A4EA1D}" destId="{1F3219CD-F50B-4754-8F7D-0EDB92C55F23}" srcOrd="1" destOrd="0" presId="urn:microsoft.com/office/officeart/2011/layout/CircleProcess"/>
    <dgm:cxn modelId="{BADF13F1-9E51-4BDF-920B-FEBAE49A8E7E}" type="presOf" srcId="{B0FCABA2-AA67-4284-A582-E04F8A7A2495}" destId="{FFE42FB5-1618-4650-B8D1-3F4094546AE4}" srcOrd="1" destOrd="0" presId="urn:microsoft.com/office/officeart/2011/layout/CircleProcess"/>
    <dgm:cxn modelId="{B5D90AA4-21C3-4438-AE1C-0BE8775FFE68}" srcId="{B7799885-90EC-448B-A5E6-EF402A2B4455}" destId="{4C8FD9CC-C9E1-4C2A-9A24-DEFDBAD349EF}" srcOrd="3" destOrd="0" parTransId="{9011253C-D600-4247-AFB3-5C07F854DEC4}" sibTransId="{D6182908-C37E-44FB-B4E3-CCAB86FB606F}"/>
    <dgm:cxn modelId="{704D9B28-899A-4C34-A411-CA4A5BC3249B}" type="presParOf" srcId="{EA46A26D-FC15-4FBA-AD8D-B2C03D9EC9F4}" destId="{56264BB1-ED82-4F90-8CF3-175F1AE56A5D}" srcOrd="0" destOrd="0" presId="urn:microsoft.com/office/officeart/2011/layout/CircleProcess"/>
    <dgm:cxn modelId="{F0D6A209-CB65-41C9-ABEE-28C0C28EECA9}" type="presParOf" srcId="{56264BB1-ED82-4F90-8CF3-175F1AE56A5D}" destId="{F5BF9BC4-6BAB-4577-A90C-A74021483097}" srcOrd="0" destOrd="0" presId="urn:microsoft.com/office/officeart/2011/layout/CircleProcess"/>
    <dgm:cxn modelId="{915F44A9-6471-498D-820E-F96674CAC7EF}" type="presParOf" srcId="{EA46A26D-FC15-4FBA-AD8D-B2C03D9EC9F4}" destId="{A29D1413-6E39-4052-B462-E74493969C80}" srcOrd="1" destOrd="0" presId="urn:microsoft.com/office/officeart/2011/layout/CircleProcess"/>
    <dgm:cxn modelId="{CF356DC1-C30D-4611-9190-89E9C74C61F6}" type="presParOf" srcId="{A29D1413-6E39-4052-B462-E74493969C80}" destId="{1BCF17FA-19B1-4BE6-9799-112FC038D689}" srcOrd="0" destOrd="0" presId="urn:microsoft.com/office/officeart/2011/layout/CircleProcess"/>
    <dgm:cxn modelId="{ECAC81EC-3C60-4E4F-A495-F0DCD8FA53DB}" type="presParOf" srcId="{EA46A26D-FC15-4FBA-AD8D-B2C03D9EC9F4}" destId="{FFE42FB5-1618-4650-B8D1-3F4094546AE4}" srcOrd="2" destOrd="0" presId="urn:microsoft.com/office/officeart/2011/layout/CircleProcess"/>
    <dgm:cxn modelId="{DEA621DB-CAF7-49C7-8F96-8B7B43D4C71D}" type="presParOf" srcId="{EA46A26D-FC15-4FBA-AD8D-B2C03D9EC9F4}" destId="{ECD8EA84-F14D-4CDF-826C-624781F29B78}" srcOrd="3" destOrd="0" presId="urn:microsoft.com/office/officeart/2011/layout/CircleProcess"/>
    <dgm:cxn modelId="{C292402D-28D9-49C8-9C79-8F1854B868C6}" type="presParOf" srcId="{ECD8EA84-F14D-4CDF-826C-624781F29B78}" destId="{912B6635-5F98-4686-858B-65F2692317D9}" srcOrd="0" destOrd="0" presId="urn:microsoft.com/office/officeart/2011/layout/CircleProcess"/>
    <dgm:cxn modelId="{53923695-51E7-4BBC-8A6C-822B368497C4}" type="presParOf" srcId="{EA46A26D-FC15-4FBA-AD8D-B2C03D9EC9F4}" destId="{4D898C36-F6D8-473C-A22B-581ABB0C809A}" srcOrd="4" destOrd="0" presId="urn:microsoft.com/office/officeart/2011/layout/CircleProcess"/>
    <dgm:cxn modelId="{EDF2716E-A1E8-4802-A596-017CBF6261EA}" type="presParOf" srcId="{4D898C36-F6D8-473C-A22B-581ABB0C809A}" destId="{C42AEE01-8096-42F3-A396-A4FC48EADBB4}" srcOrd="0" destOrd="0" presId="urn:microsoft.com/office/officeart/2011/layout/CircleProcess"/>
    <dgm:cxn modelId="{BEFC4137-11C2-46B3-A7BB-F158B9156571}" type="presParOf" srcId="{EA46A26D-FC15-4FBA-AD8D-B2C03D9EC9F4}" destId="{43E09396-D415-4C1D-8646-ED9BDE6564B3}" srcOrd="5" destOrd="0" presId="urn:microsoft.com/office/officeart/2011/layout/CircleProcess"/>
    <dgm:cxn modelId="{B0E94C97-C304-463D-A7BC-BB25F2373CA3}" type="presParOf" srcId="{EA46A26D-FC15-4FBA-AD8D-B2C03D9EC9F4}" destId="{1F597770-BCF3-400A-8F1B-F352A56C3964}" srcOrd="6" destOrd="0" presId="urn:microsoft.com/office/officeart/2011/layout/CircleProcess"/>
    <dgm:cxn modelId="{32890799-9D90-44C9-9B3B-B422D8C853F2}" type="presParOf" srcId="{1F597770-BCF3-400A-8F1B-F352A56C3964}" destId="{F3345FD4-D68E-4CC4-8A5E-DB56D2182E02}" srcOrd="0" destOrd="0" presId="urn:microsoft.com/office/officeart/2011/layout/CircleProcess"/>
    <dgm:cxn modelId="{99B48C6B-1838-4750-85EF-CF93D586AF03}" type="presParOf" srcId="{EA46A26D-FC15-4FBA-AD8D-B2C03D9EC9F4}" destId="{B85AFE10-4879-4EA2-A6CE-4AEE0BE79A46}" srcOrd="7" destOrd="0" presId="urn:microsoft.com/office/officeart/2011/layout/CircleProcess"/>
    <dgm:cxn modelId="{925FD409-1FA0-46AB-A528-991169A56BBF}" type="presParOf" srcId="{B85AFE10-4879-4EA2-A6CE-4AEE0BE79A46}" destId="{39E53DC8-941D-4DDE-AAD9-FCAFD3EC4023}" srcOrd="0" destOrd="0" presId="urn:microsoft.com/office/officeart/2011/layout/CircleProcess"/>
    <dgm:cxn modelId="{04677058-F6AE-4E66-82CC-2B8B28DA75ED}" type="presParOf" srcId="{EA46A26D-FC15-4FBA-AD8D-B2C03D9EC9F4}" destId="{1F3219CD-F50B-4754-8F7D-0EDB92C55F23}" srcOrd="8" destOrd="0" presId="urn:microsoft.com/office/officeart/2011/layout/CircleProcess"/>
    <dgm:cxn modelId="{4ED53A24-1B01-4A72-B9E4-D76963A6590C}" type="presParOf" srcId="{EA46A26D-FC15-4FBA-AD8D-B2C03D9EC9F4}" destId="{FCA03842-9E67-4199-A565-26AADC44A5ED}" srcOrd="9" destOrd="0" presId="urn:microsoft.com/office/officeart/2011/layout/CircleProcess"/>
    <dgm:cxn modelId="{1CEE687B-2A2F-45A1-96A8-C0CBE11C5CB6}" type="presParOf" srcId="{FCA03842-9E67-4199-A565-26AADC44A5ED}" destId="{89DFBE28-7300-41D6-AB92-AC502E6D90FC}" srcOrd="0" destOrd="0" presId="urn:microsoft.com/office/officeart/2011/layout/CircleProcess"/>
    <dgm:cxn modelId="{9CEE7D86-D9FF-4FCD-A06B-EAB148D3461E}" type="presParOf" srcId="{EA46A26D-FC15-4FBA-AD8D-B2C03D9EC9F4}" destId="{F7CC27F8-2EE0-4532-9BCE-86986465764E}" srcOrd="10" destOrd="0" presId="urn:microsoft.com/office/officeart/2011/layout/CircleProcess"/>
    <dgm:cxn modelId="{E9076B69-AF3D-439F-ABE7-2AA37DEC0F1A}" type="presParOf" srcId="{F7CC27F8-2EE0-4532-9BCE-86986465764E}" destId="{776D4B27-0EF4-4AD6-A9B5-748DCDFB24D0}" srcOrd="0" destOrd="0" presId="urn:microsoft.com/office/officeart/2011/layout/CircleProcess"/>
    <dgm:cxn modelId="{7E751E4F-3700-4A63-BA8B-94CFC8B3878C}" type="presParOf" srcId="{EA46A26D-FC15-4FBA-AD8D-B2C03D9EC9F4}" destId="{E45A6CF2-9276-4B3D-BAA0-379B52AAB91D}" srcOrd="11" destOrd="0" presId="urn:microsoft.com/office/officeart/2011/layout/CircleProcess"/>
    <dgm:cxn modelId="{D0570CAA-60EA-4F04-A9C7-2C479F87F7B7}" type="presParOf" srcId="{EA46A26D-FC15-4FBA-AD8D-B2C03D9EC9F4}" destId="{84E45637-F4F6-4BEA-8D04-9DB0837747EE}" srcOrd="12" destOrd="0" presId="urn:microsoft.com/office/officeart/2011/layout/CircleProcess"/>
    <dgm:cxn modelId="{FE2C659F-0CE1-47D9-BECC-3B08ACF639BB}" type="presParOf" srcId="{84E45637-F4F6-4BEA-8D04-9DB0837747EE}" destId="{5A182BD6-932E-4A6A-A774-6DAEB079B70F}" srcOrd="0" destOrd="0" presId="urn:microsoft.com/office/officeart/2011/layout/CircleProcess"/>
    <dgm:cxn modelId="{7601C8A7-578F-4EF6-ABF1-2B94753A2037}" type="presParOf" srcId="{EA46A26D-FC15-4FBA-AD8D-B2C03D9EC9F4}" destId="{68F1AD57-99A8-4DED-9A92-8F8F21DBE104}" srcOrd="13" destOrd="0" presId="urn:microsoft.com/office/officeart/2011/layout/CircleProcess"/>
    <dgm:cxn modelId="{0848A2C4-B94E-484F-85CF-84CD4F183C2D}" type="presParOf" srcId="{68F1AD57-99A8-4DED-9A92-8F8F21DBE104}" destId="{22BAC551-0C08-45D2-9FCA-06BA1703163F}" srcOrd="0" destOrd="0" presId="urn:microsoft.com/office/officeart/2011/layout/CircleProcess"/>
    <dgm:cxn modelId="{E7D65495-4CDD-4E16-A1C7-DB3BDE0F2FFA}" type="presParOf" srcId="{EA46A26D-FC15-4FBA-AD8D-B2C03D9EC9F4}" destId="{717D1FF3-F88B-4432-AD35-88675A8D81D6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7799885-90EC-448B-A5E6-EF402A2B4455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B533C0-8C15-4C19-BD96-9D21D3988BD5}">
      <dgm:prSet phldrT="[Text]" custT="1"/>
      <dgm:spPr>
        <a:solidFill>
          <a:schemeClr val="bg1">
            <a:lumMod val="85000"/>
            <a:alpha val="89804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Invoice Receipt/ Verification</a:t>
          </a:r>
          <a:endParaRPr lang="en-US" sz="500" dirty="0">
            <a:latin typeface="+mn-lt"/>
          </a:endParaRPr>
        </a:p>
      </dgm:t>
    </dgm:pt>
    <dgm:pt modelId="{DF88C67E-A8C4-4033-8E86-B3F3B9095760}" type="parTrans" cxnId="{3A8C18B6-1BE6-4E6B-98B6-0CC4E5625D18}">
      <dgm:prSet/>
      <dgm:spPr/>
      <dgm:t>
        <a:bodyPr/>
        <a:lstStyle/>
        <a:p>
          <a:endParaRPr lang="en-US"/>
        </a:p>
      </dgm:t>
    </dgm:pt>
    <dgm:pt modelId="{C605212A-447D-44E7-82CE-D04C08348439}" type="sibTrans" cxnId="{3A8C18B6-1BE6-4E6B-98B6-0CC4E5625D18}">
      <dgm:prSet/>
      <dgm:spPr/>
      <dgm:t>
        <a:bodyPr/>
        <a:lstStyle/>
        <a:p>
          <a:endParaRPr lang="en-US"/>
        </a:p>
      </dgm:t>
    </dgm:pt>
    <dgm:pt modelId="{909A296E-D754-48F8-860D-6EE69996442F}">
      <dgm:prSet phldrT="[Text]" custT="1"/>
      <dgm:spPr>
        <a:solidFill>
          <a:srgbClr val="F4DCDC">
            <a:alpha val="89804"/>
          </a:srgbClr>
        </a:solidFill>
        <a:ln w="12700">
          <a:solidFill>
            <a:srgbClr val="002D73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Release Payment</a:t>
          </a:r>
          <a:endParaRPr lang="en-US" sz="500" dirty="0">
            <a:latin typeface="+mn-lt"/>
          </a:endParaRPr>
        </a:p>
      </dgm:t>
    </dgm:pt>
    <dgm:pt modelId="{D31AABF4-3ACD-432D-B0F9-388309FE970F}" type="parTrans" cxnId="{B95D2A61-3C7F-4F30-BE7D-79B0196E9DDF}">
      <dgm:prSet/>
      <dgm:spPr/>
      <dgm:t>
        <a:bodyPr/>
        <a:lstStyle/>
        <a:p>
          <a:endParaRPr lang="en-US"/>
        </a:p>
      </dgm:t>
    </dgm:pt>
    <dgm:pt modelId="{143C2BE0-AC6B-4C22-A020-96F5B9FC1043}" type="sibTrans" cxnId="{B95D2A61-3C7F-4F30-BE7D-79B0196E9DDF}">
      <dgm:prSet/>
      <dgm:spPr/>
      <dgm:t>
        <a:bodyPr/>
        <a:lstStyle/>
        <a:p>
          <a:endParaRPr lang="en-US"/>
        </a:p>
      </dgm:t>
    </dgm:pt>
    <dgm:pt modelId="{4C8FD9CC-C9E1-4C2A-9A24-DEFDBAD349EF}">
      <dgm:prSet phldrT="[Text]" custT="1"/>
      <dgm:spPr>
        <a:solidFill>
          <a:schemeClr val="accent2">
            <a:lumMod val="75000"/>
            <a:alpha val="89804"/>
          </a:schemeClr>
        </a:solidFill>
        <a:ln>
          <a:solidFill>
            <a:srgbClr val="002D73"/>
          </a:solidFill>
        </a:ln>
      </dgm:spPr>
      <dgm:t>
        <a:bodyPr/>
        <a:lstStyle/>
        <a:p>
          <a:r>
            <a:rPr lang="en-US" sz="500" b="0" dirty="0" smtClean="0">
              <a:solidFill>
                <a:schemeClr val="bg1"/>
              </a:solidFill>
            </a:rPr>
            <a:t>Reconciliation</a:t>
          </a:r>
          <a:endParaRPr lang="en-US" sz="500" b="0" dirty="0">
            <a:solidFill>
              <a:schemeClr val="bg1"/>
            </a:solidFill>
            <a:latin typeface="+mn-lt"/>
          </a:endParaRPr>
        </a:p>
      </dgm:t>
    </dgm:pt>
    <dgm:pt modelId="{9011253C-D600-4247-AFB3-5C07F854DEC4}" type="parTrans" cxnId="{B5D90AA4-21C3-4438-AE1C-0BE8775FFE68}">
      <dgm:prSet/>
      <dgm:spPr/>
      <dgm:t>
        <a:bodyPr/>
        <a:lstStyle/>
        <a:p>
          <a:endParaRPr lang="en-US"/>
        </a:p>
      </dgm:t>
    </dgm:pt>
    <dgm:pt modelId="{D6182908-C37E-44FB-B4E3-CCAB86FB606F}" type="sibTrans" cxnId="{B5D90AA4-21C3-4438-AE1C-0BE8775FFE68}">
      <dgm:prSet/>
      <dgm:spPr/>
      <dgm:t>
        <a:bodyPr/>
        <a:lstStyle/>
        <a:p>
          <a:endParaRPr lang="en-US"/>
        </a:p>
      </dgm:t>
    </dgm:pt>
    <dgm:pt modelId="{0DFA0304-874C-4A65-B995-CBD988A4EA1D}">
      <dgm:prSet phldrT="[Text]" custT="1"/>
      <dgm:spPr>
        <a:solidFill>
          <a:srgbClr val="FF0000"/>
        </a:solidFill>
        <a:ln w="12700">
          <a:solidFill>
            <a:srgbClr val="002D73"/>
          </a:solidFill>
        </a:ln>
      </dgm:spPr>
      <dgm:t>
        <a:bodyPr/>
        <a:lstStyle/>
        <a:p>
          <a:r>
            <a:rPr lang="en-US" sz="500" dirty="0" smtClean="0">
              <a:solidFill>
                <a:schemeClr val="bg1"/>
              </a:solidFill>
              <a:latin typeface="+mn-lt"/>
            </a:rPr>
            <a:t>Make Payment</a:t>
          </a:r>
          <a:endParaRPr lang="en-US" sz="500" dirty="0">
            <a:solidFill>
              <a:schemeClr val="bg1"/>
            </a:solidFill>
            <a:latin typeface="+mn-lt"/>
          </a:endParaRPr>
        </a:p>
      </dgm:t>
    </dgm:pt>
    <dgm:pt modelId="{C1E6120F-647F-458C-AF8E-55F23B80F52F}" type="parTrans" cxnId="{571972C6-CAAF-4EEC-A9D6-318CE2ADBDD3}">
      <dgm:prSet/>
      <dgm:spPr/>
      <dgm:t>
        <a:bodyPr/>
        <a:lstStyle/>
        <a:p>
          <a:endParaRPr lang="en-US"/>
        </a:p>
      </dgm:t>
    </dgm:pt>
    <dgm:pt modelId="{32EF71EF-5D86-43FB-941B-865CC03A6A0C}" type="sibTrans" cxnId="{571972C6-CAAF-4EEC-A9D6-318CE2ADBDD3}">
      <dgm:prSet/>
      <dgm:spPr/>
      <dgm:t>
        <a:bodyPr/>
        <a:lstStyle/>
        <a:p>
          <a:endParaRPr lang="en-US"/>
        </a:p>
      </dgm:t>
    </dgm:pt>
    <dgm:pt modelId="{B0FCABA2-AA67-4284-A582-E04F8A7A2495}">
      <dgm:prSet phldrT="[Text]" custT="1"/>
      <dgm:spPr>
        <a:solidFill>
          <a:schemeClr val="bg1">
            <a:lumMod val="85000"/>
            <a:alpha val="89804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Reporting</a:t>
          </a:r>
          <a:endParaRPr lang="en-US" sz="500" dirty="0">
            <a:latin typeface="+mn-lt"/>
          </a:endParaRPr>
        </a:p>
      </dgm:t>
    </dgm:pt>
    <dgm:pt modelId="{51E3E0F4-ED85-46AE-A477-C63A2EB51350}" type="parTrans" cxnId="{DFA8449F-2ABD-4AF7-91E5-03A127D982F6}">
      <dgm:prSet/>
      <dgm:spPr/>
      <dgm:t>
        <a:bodyPr/>
        <a:lstStyle/>
        <a:p>
          <a:endParaRPr lang="en-US"/>
        </a:p>
      </dgm:t>
    </dgm:pt>
    <dgm:pt modelId="{BE5DE984-1E8D-4ACE-BA8B-7DB8EAB88D02}" type="sibTrans" cxnId="{DFA8449F-2ABD-4AF7-91E5-03A127D982F6}">
      <dgm:prSet/>
      <dgm:spPr/>
      <dgm:t>
        <a:bodyPr/>
        <a:lstStyle/>
        <a:p>
          <a:endParaRPr lang="en-US"/>
        </a:p>
      </dgm:t>
    </dgm:pt>
    <dgm:pt modelId="{EA46A26D-FC15-4FBA-AD8D-B2C03D9EC9F4}" type="pres">
      <dgm:prSet presAssocID="{B7799885-90EC-448B-A5E6-EF402A2B4455}" presName="Name0" presStyleCnt="0">
        <dgm:presLayoutVars>
          <dgm:chMax val="11"/>
          <dgm:chPref val="11"/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56264BB1-ED82-4F90-8CF3-175F1AE56A5D}" type="pres">
      <dgm:prSet presAssocID="{B0FCABA2-AA67-4284-A582-E04F8A7A2495}" presName="Accent5" presStyleCnt="0"/>
      <dgm:spPr/>
    </dgm:pt>
    <dgm:pt modelId="{F5BF9BC4-6BAB-4577-A90C-A74021483097}" type="pres">
      <dgm:prSet presAssocID="{B0FCABA2-AA67-4284-A582-E04F8A7A2495}" presName="Accent" presStyleLbl="node1" presStyleIdx="0" presStyleCnt="5"/>
      <dgm:spPr/>
    </dgm:pt>
    <dgm:pt modelId="{A29D1413-6E39-4052-B462-E74493969C80}" type="pres">
      <dgm:prSet presAssocID="{B0FCABA2-AA67-4284-A582-E04F8A7A2495}" presName="ParentBackground5" presStyleCnt="0"/>
      <dgm:spPr/>
    </dgm:pt>
    <dgm:pt modelId="{1BCF17FA-19B1-4BE6-9799-112FC038D689}" type="pres">
      <dgm:prSet presAssocID="{B0FCABA2-AA67-4284-A582-E04F8A7A2495}" presName="ParentBackground" presStyleLbl="fgAcc1" presStyleIdx="0" presStyleCnt="5"/>
      <dgm:spPr/>
      <dgm:t>
        <a:bodyPr/>
        <a:lstStyle/>
        <a:p>
          <a:endParaRPr lang="en-US"/>
        </a:p>
      </dgm:t>
    </dgm:pt>
    <dgm:pt modelId="{FFE42FB5-1618-4650-B8D1-3F4094546AE4}" type="pres">
      <dgm:prSet presAssocID="{B0FCABA2-AA67-4284-A582-E04F8A7A2495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D8EA84-F14D-4CDF-826C-624781F29B78}" type="pres">
      <dgm:prSet presAssocID="{4C8FD9CC-C9E1-4C2A-9A24-DEFDBAD349EF}" presName="Accent4" presStyleCnt="0"/>
      <dgm:spPr/>
    </dgm:pt>
    <dgm:pt modelId="{912B6635-5F98-4686-858B-65F2692317D9}" type="pres">
      <dgm:prSet presAssocID="{4C8FD9CC-C9E1-4C2A-9A24-DEFDBAD349EF}" presName="Accent" presStyleLbl="node1" presStyleIdx="1" presStyleCnt="5"/>
      <dgm:spPr>
        <a:noFill/>
        <a:ln w="28575">
          <a:solidFill>
            <a:schemeClr val="tx1"/>
          </a:solidFill>
        </a:ln>
      </dgm:spPr>
    </dgm:pt>
    <dgm:pt modelId="{4D898C36-F6D8-473C-A22B-581ABB0C809A}" type="pres">
      <dgm:prSet presAssocID="{4C8FD9CC-C9E1-4C2A-9A24-DEFDBAD349EF}" presName="ParentBackground4" presStyleCnt="0"/>
      <dgm:spPr/>
    </dgm:pt>
    <dgm:pt modelId="{C42AEE01-8096-42F3-A396-A4FC48EADBB4}" type="pres">
      <dgm:prSet presAssocID="{4C8FD9CC-C9E1-4C2A-9A24-DEFDBAD349EF}" presName="ParentBackground" presStyleLbl="fgAcc1" presStyleIdx="1" presStyleCnt="5" custScaleX="115087" custLinFactNeighborX="2514"/>
      <dgm:spPr/>
      <dgm:t>
        <a:bodyPr/>
        <a:lstStyle/>
        <a:p>
          <a:endParaRPr lang="en-US"/>
        </a:p>
      </dgm:t>
    </dgm:pt>
    <dgm:pt modelId="{43E09396-D415-4C1D-8646-ED9BDE6564B3}" type="pres">
      <dgm:prSet presAssocID="{4C8FD9CC-C9E1-4C2A-9A24-DEFDBAD349EF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597770-BCF3-400A-8F1B-F352A56C3964}" type="pres">
      <dgm:prSet presAssocID="{0DFA0304-874C-4A65-B995-CBD988A4EA1D}" presName="Accent3" presStyleCnt="0"/>
      <dgm:spPr/>
    </dgm:pt>
    <dgm:pt modelId="{F3345FD4-D68E-4CC4-8A5E-DB56D2182E02}" type="pres">
      <dgm:prSet presAssocID="{0DFA0304-874C-4A65-B995-CBD988A4EA1D}" presName="Accent" presStyleLbl="node1" presStyleIdx="2" presStyleCnt="5" custLinFactNeighborX="-1658"/>
      <dgm:spPr>
        <a:noFill/>
        <a:ln>
          <a:solidFill>
            <a:schemeClr val="tx1"/>
          </a:solidFill>
        </a:ln>
      </dgm:spPr>
    </dgm:pt>
    <dgm:pt modelId="{B85AFE10-4879-4EA2-A6CE-4AEE0BE79A46}" type="pres">
      <dgm:prSet presAssocID="{0DFA0304-874C-4A65-B995-CBD988A4EA1D}" presName="ParentBackground3" presStyleCnt="0"/>
      <dgm:spPr/>
    </dgm:pt>
    <dgm:pt modelId="{39E53DC8-941D-4DDE-AAD9-FCAFD3EC4023}" type="pres">
      <dgm:prSet presAssocID="{0DFA0304-874C-4A65-B995-CBD988A4EA1D}" presName="ParentBackground" presStyleLbl="fgAcc1" presStyleIdx="2" presStyleCnt="5"/>
      <dgm:spPr/>
      <dgm:t>
        <a:bodyPr/>
        <a:lstStyle/>
        <a:p>
          <a:endParaRPr lang="en-US"/>
        </a:p>
      </dgm:t>
    </dgm:pt>
    <dgm:pt modelId="{1F3219CD-F50B-4754-8F7D-0EDB92C55F23}" type="pres">
      <dgm:prSet presAssocID="{0DFA0304-874C-4A65-B995-CBD988A4EA1D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A03842-9E67-4199-A565-26AADC44A5ED}" type="pres">
      <dgm:prSet presAssocID="{909A296E-D754-48F8-860D-6EE69996442F}" presName="Accent2" presStyleCnt="0"/>
      <dgm:spPr/>
    </dgm:pt>
    <dgm:pt modelId="{89DFBE28-7300-41D6-AB92-AC502E6D90FC}" type="pres">
      <dgm:prSet presAssocID="{909A296E-D754-48F8-860D-6EE69996442F}" presName="Accent" presStyleLbl="node1" presStyleIdx="3" presStyleCnt="5"/>
      <dgm:spPr>
        <a:noFill/>
        <a:ln w="28575">
          <a:solidFill>
            <a:schemeClr val="tx1"/>
          </a:solidFill>
        </a:ln>
      </dgm:spPr>
    </dgm:pt>
    <dgm:pt modelId="{F7CC27F8-2EE0-4532-9BCE-86986465764E}" type="pres">
      <dgm:prSet presAssocID="{909A296E-D754-48F8-860D-6EE69996442F}" presName="ParentBackground2" presStyleCnt="0"/>
      <dgm:spPr/>
    </dgm:pt>
    <dgm:pt modelId="{776D4B27-0EF4-4AD6-A9B5-748DCDFB24D0}" type="pres">
      <dgm:prSet presAssocID="{909A296E-D754-48F8-860D-6EE69996442F}" presName="ParentBackground" presStyleLbl="fgAcc1" presStyleIdx="3" presStyleCnt="5"/>
      <dgm:spPr/>
      <dgm:t>
        <a:bodyPr/>
        <a:lstStyle/>
        <a:p>
          <a:endParaRPr lang="en-US"/>
        </a:p>
      </dgm:t>
    </dgm:pt>
    <dgm:pt modelId="{E45A6CF2-9276-4B3D-BAA0-379B52AAB91D}" type="pres">
      <dgm:prSet presAssocID="{909A296E-D754-48F8-860D-6EE69996442F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E45637-F4F6-4BEA-8D04-9DB0837747EE}" type="pres">
      <dgm:prSet presAssocID="{73B533C0-8C15-4C19-BD96-9D21D3988BD5}" presName="Accent1" presStyleCnt="0"/>
      <dgm:spPr/>
    </dgm:pt>
    <dgm:pt modelId="{5A182BD6-932E-4A6A-A774-6DAEB079B70F}" type="pres">
      <dgm:prSet presAssocID="{73B533C0-8C15-4C19-BD96-9D21D3988BD5}" presName="Accent" presStyleLbl="node1" presStyleIdx="4" presStyleCnt="5"/>
      <dgm:spPr>
        <a:noFill/>
        <a:ln>
          <a:solidFill>
            <a:schemeClr val="tx1"/>
          </a:solidFill>
        </a:ln>
      </dgm:spPr>
    </dgm:pt>
    <dgm:pt modelId="{68F1AD57-99A8-4DED-9A92-8F8F21DBE104}" type="pres">
      <dgm:prSet presAssocID="{73B533C0-8C15-4C19-BD96-9D21D3988BD5}" presName="ParentBackground1" presStyleCnt="0"/>
      <dgm:spPr/>
    </dgm:pt>
    <dgm:pt modelId="{22BAC551-0C08-45D2-9FCA-06BA1703163F}" type="pres">
      <dgm:prSet presAssocID="{73B533C0-8C15-4C19-BD96-9D21D3988BD5}" presName="ParentBackground" presStyleLbl="fgAcc1" presStyleIdx="4" presStyleCnt="5"/>
      <dgm:spPr/>
      <dgm:t>
        <a:bodyPr/>
        <a:lstStyle/>
        <a:p>
          <a:endParaRPr lang="en-US"/>
        </a:p>
      </dgm:t>
    </dgm:pt>
    <dgm:pt modelId="{717D1FF3-F88B-4432-AD35-88675A8D81D6}" type="pres">
      <dgm:prSet presAssocID="{73B533C0-8C15-4C19-BD96-9D21D3988BD5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D7E17F3-CC39-4DEB-A7C0-DEE899CAC1F1}" type="presOf" srcId="{4C8FD9CC-C9E1-4C2A-9A24-DEFDBAD349EF}" destId="{C42AEE01-8096-42F3-A396-A4FC48EADBB4}" srcOrd="0" destOrd="0" presId="urn:microsoft.com/office/officeart/2011/layout/CircleProcess"/>
    <dgm:cxn modelId="{3FC13C44-0D49-40A6-9AB6-372D670A839A}" type="presOf" srcId="{0DFA0304-874C-4A65-B995-CBD988A4EA1D}" destId="{39E53DC8-941D-4DDE-AAD9-FCAFD3EC4023}" srcOrd="0" destOrd="0" presId="urn:microsoft.com/office/officeart/2011/layout/CircleProcess"/>
    <dgm:cxn modelId="{C29D29C0-CF88-476C-96B0-C5AB1A754610}" type="presOf" srcId="{4C8FD9CC-C9E1-4C2A-9A24-DEFDBAD349EF}" destId="{43E09396-D415-4C1D-8646-ED9BDE6564B3}" srcOrd="1" destOrd="0" presId="urn:microsoft.com/office/officeart/2011/layout/CircleProcess"/>
    <dgm:cxn modelId="{3A8C18B6-1BE6-4E6B-98B6-0CC4E5625D18}" srcId="{B7799885-90EC-448B-A5E6-EF402A2B4455}" destId="{73B533C0-8C15-4C19-BD96-9D21D3988BD5}" srcOrd="0" destOrd="0" parTransId="{DF88C67E-A8C4-4033-8E86-B3F3B9095760}" sibTransId="{C605212A-447D-44E7-82CE-D04C08348439}"/>
    <dgm:cxn modelId="{93314DF7-CE8B-494B-A47E-DCE53056899F}" type="presOf" srcId="{909A296E-D754-48F8-860D-6EE69996442F}" destId="{776D4B27-0EF4-4AD6-A9B5-748DCDFB24D0}" srcOrd="0" destOrd="0" presId="urn:microsoft.com/office/officeart/2011/layout/CircleProcess"/>
    <dgm:cxn modelId="{571972C6-CAAF-4EEC-A9D6-318CE2ADBDD3}" srcId="{B7799885-90EC-448B-A5E6-EF402A2B4455}" destId="{0DFA0304-874C-4A65-B995-CBD988A4EA1D}" srcOrd="2" destOrd="0" parTransId="{C1E6120F-647F-458C-AF8E-55F23B80F52F}" sibTransId="{32EF71EF-5D86-43FB-941B-865CC03A6A0C}"/>
    <dgm:cxn modelId="{B95D2A61-3C7F-4F30-BE7D-79B0196E9DDF}" srcId="{B7799885-90EC-448B-A5E6-EF402A2B4455}" destId="{909A296E-D754-48F8-860D-6EE69996442F}" srcOrd="1" destOrd="0" parTransId="{D31AABF4-3ACD-432D-B0F9-388309FE970F}" sibTransId="{143C2BE0-AC6B-4C22-A020-96F5B9FC1043}"/>
    <dgm:cxn modelId="{C5BBAF29-CD59-4F40-B70D-C86D244E3B94}" type="presOf" srcId="{B0FCABA2-AA67-4284-A582-E04F8A7A2495}" destId="{1BCF17FA-19B1-4BE6-9799-112FC038D689}" srcOrd="0" destOrd="0" presId="urn:microsoft.com/office/officeart/2011/layout/CircleProcess"/>
    <dgm:cxn modelId="{E34EE762-D0A8-4807-890C-B4CE6257B002}" type="presOf" srcId="{909A296E-D754-48F8-860D-6EE69996442F}" destId="{E45A6CF2-9276-4B3D-BAA0-379B52AAB91D}" srcOrd="1" destOrd="0" presId="urn:microsoft.com/office/officeart/2011/layout/CircleProcess"/>
    <dgm:cxn modelId="{529E5301-823E-4D8F-838C-295FC016A56D}" type="presOf" srcId="{73B533C0-8C15-4C19-BD96-9D21D3988BD5}" destId="{22BAC551-0C08-45D2-9FCA-06BA1703163F}" srcOrd="0" destOrd="0" presId="urn:microsoft.com/office/officeart/2011/layout/CircleProcess"/>
    <dgm:cxn modelId="{04A5BC76-F42A-4CBC-A9EC-259D936C44B7}" type="presOf" srcId="{B7799885-90EC-448B-A5E6-EF402A2B4455}" destId="{EA46A26D-FC15-4FBA-AD8D-B2C03D9EC9F4}" srcOrd="0" destOrd="0" presId="urn:microsoft.com/office/officeart/2011/layout/CircleProcess"/>
    <dgm:cxn modelId="{DFA8449F-2ABD-4AF7-91E5-03A127D982F6}" srcId="{B7799885-90EC-448B-A5E6-EF402A2B4455}" destId="{B0FCABA2-AA67-4284-A582-E04F8A7A2495}" srcOrd="4" destOrd="0" parTransId="{51E3E0F4-ED85-46AE-A477-C63A2EB51350}" sibTransId="{BE5DE984-1E8D-4ACE-BA8B-7DB8EAB88D02}"/>
    <dgm:cxn modelId="{87E64112-439C-45AF-A8E0-2856D51901C2}" type="presOf" srcId="{73B533C0-8C15-4C19-BD96-9D21D3988BD5}" destId="{717D1FF3-F88B-4432-AD35-88675A8D81D6}" srcOrd="1" destOrd="0" presId="urn:microsoft.com/office/officeart/2011/layout/CircleProcess"/>
    <dgm:cxn modelId="{F2F28B1C-3745-4E1B-9640-D12EED0379C2}" type="presOf" srcId="{0DFA0304-874C-4A65-B995-CBD988A4EA1D}" destId="{1F3219CD-F50B-4754-8F7D-0EDB92C55F23}" srcOrd="1" destOrd="0" presId="urn:microsoft.com/office/officeart/2011/layout/CircleProcess"/>
    <dgm:cxn modelId="{BADF13F1-9E51-4BDF-920B-FEBAE49A8E7E}" type="presOf" srcId="{B0FCABA2-AA67-4284-A582-E04F8A7A2495}" destId="{FFE42FB5-1618-4650-B8D1-3F4094546AE4}" srcOrd="1" destOrd="0" presId="urn:microsoft.com/office/officeart/2011/layout/CircleProcess"/>
    <dgm:cxn modelId="{B5D90AA4-21C3-4438-AE1C-0BE8775FFE68}" srcId="{B7799885-90EC-448B-A5E6-EF402A2B4455}" destId="{4C8FD9CC-C9E1-4C2A-9A24-DEFDBAD349EF}" srcOrd="3" destOrd="0" parTransId="{9011253C-D600-4247-AFB3-5C07F854DEC4}" sibTransId="{D6182908-C37E-44FB-B4E3-CCAB86FB606F}"/>
    <dgm:cxn modelId="{704D9B28-899A-4C34-A411-CA4A5BC3249B}" type="presParOf" srcId="{EA46A26D-FC15-4FBA-AD8D-B2C03D9EC9F4}" destId="{56264BB1-ED82-4F90-8CF3-175F1AE56A5D}" srcOrd="0" destOrd="0" presId="urn:microsoft.com/office/officeart/2011/layout/CircleProcess"/>
    <dgm:cxn modelId="{F0D6A209-CB65-41C9-ABEE-28C0C28EECA9}" type="presParOf" srcId="{56264BB1-ED82-4F90-8CF3-175F1AE56A5D}" destId="{F5BF9BC4-6BAB-4577-A90C-A74021483097}" srcOrd="0" destOrd="0" presId="urn:microsoft.com/office/officeart/2011/layout/CircleProcess"/>
    <dgm:cxn modelId="{915F44A9-6471-498D-820E-F96674CAC7EF}" type="presParOf" srcId="{EA46A26D-FC15-4FBA-AD8D-B2C03D9EC9F4}" destId="{A29D1413-6E39-4052-B462-E74493969C80}" srcOrd="1" destOrd="0" presId="urn:microsoft.com/office/officeart/2011/layout/CircleProcess"/>
    <dgm:cxn modelId="{CF356DC1-C30D-4611-9190-89E9C74C61F6}" type="presParOf" srcId="{A29D1413-6E39-4052-B462-E74493969C80}" destId="{1BCF17FA-19B1-4BE6-9799-112FC038D689}" srcOrd="0" destOrd="0" presId="urn:microsoft.com/office/officeart/2011/layout/CircleProcess"/>
    <dgm:cxn modelId="{ECAC81EC-3C60-4E4F-A495-F0DCD8FA53DB}" type="presParOf" srcId="{EA46A26D-FC15-4FBA-AD8D-B2C03D9EC9F4}" destId="{FFE42FB5-1618-4650-B8D1-3F4094546AE4}" srcOrd="2" destOrd="0" presId="urn:microsoft.com/office/officeart/2011/layout/CircleProcess"/>
    <dgm:cxn modelId="{DEA621DB-CAF7-49C7-8F96-8B7B43D4C71D}" type="presParOf" srcId="{EA46A26D-FC15-4FBA-AD8D-B2C03D9EC9F4}" destId="{ECD8EA84-F14D-4CDF-826C-624781F29B78}" srcOrd="3" destOrd="0" presId="urn:microsoft.com/office/officeart/2011/layout/CircleProcess"/>
    <dgm:cxn modelId="{C292402D-28D9-49C8-9C79-8F1854B868C6}" type="presParOf" srcId="{ECD8EA84-F14D-4CDF-826C-624781F29B78}" destId="{912B6635-5F98-4686-858B-65F2692317D9}" srcOrd="0" destOrd="0" presId="urn:microsoft.com/office/officeart/2011/layout/CircleProcess"/>
    <dgm:cxn modelId="{53923695-51E7-4BBC-8A6C-822B368497C4}" type="presParOf" srcId="{EA46A26D-FC15-4FBA-AD8D-B2C03D9EC9F4}" destId="{4D898C36-F6D8-473C-A22B-581ABB0C809A}" srcOrd="4" destOrd="0" presId="urn:microsoft.com/office/officeart/2011/layout/CircleProcess"/>
    <dgm:cxn modelId="{EDF2716E-A1E8-4802-A596-017CBF6261EA}" type="presParOf" srcId="{4D898C36-F6D8-473C-A22B-581ABB0C809A}" destId="{C42AEE01-8096-42F3-A396-A4FC48EADBB4}" srcOrd="0" destOrd="0" presId="urn:microsoft.com/office/officeart/2011/layout/CircleProcess"/>
    <dgm:cxn modelId="{BEFC4137-11C2-46B3-A7BB-F158B9156571}" type="presParOf" srcId="{EA46A26D-FC15-4FBA-AD8D-B2C03D9EC9F4}" destId="{43E09396-D415-4C1D-8646-ED9BDE6564B3}" srcOrd="5" destOrd="0" presId="urn:microsoft.com/office/officeart/2011/layout/CircleProcess"/>
    <dgm:cxn modelId="{B0E94C97-C304-463D-A7BC-BB25F2373CA3}" type="presParOf" srcId="{EA46A26D-FC15-4FBA-AD8D-B2C03D9EC9F4}" destId="{1F597770-BCF3-400A-8F1B-F352A56C3964}" srcOrd="6" destOrd="0" presId="urn:microsoft.com/office/officeart/2011/layout/CircleProcess"/>
    <dgm:cxn modelId="{32890799-9D90-44C9-9B3B-B422D8C853F2}" type="presParOf" srcId="{1F597770-BCF3-400A-8F1B-F352A56C3964}" destId="{F3345FD4-D68E-4CC4-8A5E-DB56D2182E02}" srcOrd="0" destOrd="0" presId="urn:microsoft.com/office/officeart/2011/layout/CircleProcess"/>
    <dgm:cxn modelId="{99B48C6B-1838-4750-85EF-CF93D586AF03}" type="presParOf" srcId="{EA46A26D-FC15-4FBA-AD8D-B2C03D9EC9F4}" destId="{B85AFE10-4879-4EA2-A6CE-4AEE0BE79A46}" srcOrd="7" destOrd="0" presId="urn:microsoft.com/office/officeart/2011/layout/CircleProcess"/>
    <dgm:cxn modelId="{925FD409-1FA0-46AB-A528-991169A56BBF}" type="presParOf" srcId="{B85AFE10-4879-4EA2-A6CE-4AEE0BE79A46}" destId="{39E53DC8-941D-4DDE-AAD9-FCAFD3EC4023}" srcOrd="0" destOrd="0" presId="urn:microsoft.com/office/officeart/2011/layout/CircleProcess"/>
    <dgm:cxn modelId="{04677058-F6AE-4E66-82CC-2B8B28DA75ED}" type="presParOf" srcId="{EA46A26D-FC15-4FBA-AD8D-B2C03D9EC9F4}" destId="{1F3219CD-F50B-4754-8F7D-0EDB92C55F23}" srcOrd="8" destOrd="0" presId="urn:microsoft.com/office/officeart/2011/layout/CircleProcess"/>
    <dgm:cxn modelId="{4ED53A24-1B01-4A72-B9E4-D76963A6590C}" type="presParOf" srcId="{EA46A26D-FC15-4FBA-AD8D-B2C03D9EC9F4}" destId="{FCA03842-9E67-4199-A565-26AADC44A5ED}" srcOrd="9" destOrd="0" presId="urn:microsoft.com/office/officeart/2011/layout/CircleProcess"/>
    <dgm:cxn modelId="{1CEE687B-2A2F-45A1-96A8-C0CBE11C5CB6}" type="presParOf" srcId="{FCA03842-9E67-4199-A565-26AADC44A5ED}" destId="{89DFBE28-7300-41D6-AB92-AC502E6D90FC}" srcOrd="0" destOrd="0" presId="urn:microsoft.com/office/officeart/2011/layout/CircleProcess"/>
    <dgm:cxn modelId="{9CEE7D86-D9FF-4FCD-A06B-EAB148D3461E}" type="presParOf" srcId="{EA46A26D-FC15-4FBA-AD8D-B2C03D9EC9F4}" destId="{F7CC27F8-2EE0-4532-9BCE-86986465764E}" srcOrd="10" destOrd="0" presId="urn:microsoft.com/office/officeart/2011/layout/CircleProcess"/>
    <dgm:cxn modelId="{E9076B69-AF3D-439F-ABE7-2AA37DEC0F1A}" type="presParOf" srcId="{F7CC27F8-2EE0-4532-9BCE-86986465764E}" destId="{776D4B27-0EF4-4AD6-A9B5-748DCDFB24D0}" srcOrd="0" destOrd="0" presId="urn:microsoft.com/office/officeart/2011/layout/CircleProcess"/>
    <dgm:cxn modelId="{7E751E4F-3700-4A63-BA8B-94CFC8B3878C}" type="presParOf" srcId="{EA46A26D-FC15-4FBA-AD8D-B2C03D9EC9F4}" destId="{E45A6CF2-9276-4B3D-BAA0-379B52AAB91D}" srcOrd="11" destOrd="0" presId="urn:microsoft.com/office/officeart/2011/layout/CircleProcess"/>
    <dgm:cxn modelId="{D0570CAA-60EA-4F04-A9C7-2C479F87F7B7}" type="presParOf" srcId="{EA46A26D-FC15-4FBA-AD8D-B2C03D9EC9F4}" destId="{84E45637-F4F6-4BEA-8D04-9DB0837747EE}" srcOrd="12" destOrd="0" presId="urn:microsoft.com/office/officeart/2011/layout/CircleProcess"/>
    <dgm:cxn modelId="{FE2C659F-0CE1-47D9-BECC-3B08ACF639BB}" type="presParOf" srcId="{84E45637-F4F6-4BEA-8D04-9DB0837747EE}" destId="{5A182BD6-932E-4A6A-A774-6DAEB079B70F}" srcOrd="0" destOrd="0" presId="urn:microsoft.com/office/officeart/2011/layout/CircleProcess"/>
    <dgm:cxn modelId="{7601C8A7-578F-4EF6-ABF1-2B94753A2037}" type="presParOf" srcId="{EA46A26D-FC15-4FBA-AD8D-B2C03D9EC9F4}" destId="{68F1AD57-99A8-4DED-9A92-8F8F21DBE104}" srcOrd="13" destOrd="0" presId="urn:microsoft.com/office/officeart/2011/layout/CircleProcess"/>
    <dgm:cxn modelId="{0848A2C4-B94E-484F-85CF-84CD4F183C2D}" type="presParOf" srcId="{68F1AD57-99A8-4DED-9A92-8F8F21DBE104}" destId="{22BAC551-0C08-45D2-9FCA-06BA1703163F}" srcOrd="0" destOrd="0" presId="urn:microsoft.com/office/officeart/2011/layout/CircleProcess"/>
    <dgm:cxn modelId="{E7D65495-4CDD-4E16-A1C7-DB3BDE0F2FFA}" type="presParOf" srcId="{EA46A26D-FC15-4FBA-AD8D-B2C03D9EC9F4}" destId="{717D1FF3-F88B-4432-AD35-88675A8D81D6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7799885-90EC-448B-A5E6-EF402A2B4455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B533C0-8C15-4C19-BD96-9D21D3988BD5}">
      <dgm:prSet phldrT="[Text]" custT="1"/>
      <dgm:spPr>
        <a:solidFill>
          <a:schemeClr val="bg1">
            <a:lumMod val="85000"/>
            <a:alpha val="89804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Invoice Receipt/ Verification</a:t>
          </a:r>
          <a:endParaRPr lang="en-US" sz="500" dirty="0">
            <a:latin typeface="+mn-lt"/>
          </a:endParaRPr>
        </a:p>
      </dgm:t>
    </dgm:pt>
    <dgm:pt modelId="{DF88C67E-A8C4-4033-8E86-B3F3B9095760}" type="parTrans" cxnId="{3A8C18B6-1BE6-4E6B-98B6-0CC4E5625D18}">
      <dgm:prSet/>
      <dgm:spPr/>
      <dgm:t>
        <a:bodyPr/>
        <a:lstStyle/>
        <a:p>
          <a:endParaRPr lang="en-US"/>
        </a:p>
      </dgm:t>
    </dgm:pt>
    <dgm:pt modelId="{C605212A-447D-44E7-82CE-D04C08348439}" type="sibTrans" cxnId="{3A8C18B6-1BE6-4E6B-98B6-0CC4E5625D18}">
      <dgm:prSet/>
      <dgm:spPr/>
      <dgm:t>
        <a:bodyPr/>
        <a:lstStyle/>
        <a:p>
          <a:endParaRPr lang="en-US"/>
        </a:p>
      </dgm:t>
    </dgm:pt>
    <dgm:pt modelId="{909A296E-D754-48F8-860D-6EE69996442F}">
      <dgm:prSet phldrT="[Text]" custT="1"/>
      <dgm:spPr>
        <a:solidFill>
          <a:srgbClr val="F4DCDC">
            <a:alpha val="89804"/>
          </a:srgbClr>
        </a:solidFill>
        <a:ln w="12700">
          <a:solidFill>
            <a:srgbClr val="002D73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Release Payment</a:t>
          </a:r>
          <a:endParaRPr lang="en-US" sz="500" dirty="0">
            <a:latin typeface="+mn-lt"/>
          </a:endParaRPr>
        </a:p>
      </dgm:t>
    </dgm:pt>
    <dgm:pt modelId="{D31AABF4-3ACD-432D-B0F9-388309FE970F}" type="parTrans" cxnId="{B95D2A61-3C7F-4F30-BE7D-79B0196E9DDF}">
      <dgm:prSet/>
      <dgm:spPr/>
      <dgm:t>
        <a:bodyPr/>
        <a:lstStyle/>
        <a:p>
          <a:endParaRPr lang="en-US"/>
        </a:p>
      </dgm:t>
    </dgm:pt>
    <dgm:pt modelId="{143C2BE0-AC6B-4C22-A020-96F5B9FC1043}" type="sibTrans" cxnId="{B95D2A61-3C7F-4F30-BE7D-79B0196E9DDF}">
      <dgm:prSet/>
      <dgm:spPr/>
      <dgm:t>
        <a:bodyPr/>
        <a:lstStyle/>
        <a:p>
          <a:endParaRPr lang="en-US"/>
        </a:p>
      </dgm:t>
    </dgm:pt>
    <dgm:pt modelId="{4C8FD9CC-C9E1-4C2A-9A24-DEFDBAD349EF}">
      <dgm:prSet phldrT="[Text]" custT="1"/>
      <dgm:spPr>
        <a:solidFill>
          <a:schemeClr val="accent2">
            <a:lumMod val="75000"/>
            <a:alpha val="89804"/>
          </a:schemeClr>
        </a:solidFill>
        <a:ln>
          <a:solidFill>
            <a:srgbClr val="002D73"/>
          </a:solidFill>
        </a:ln>
      </dgm:spPr>
      <dgm:t>
        <a:bodyPr/>
        <a:lstStyle/>
        <a:p>
          <a:r>
            <a:rPr lang="en-US" sz="500" b="0" dirty="0" smtClean="0">
              <a:solidFill>
                <a:schemeClr val="bg1"/>
              </a:solidFill>
            </a:rPr>
            <a:t>Reconciliation</a:t>
          </a:r>
          <a:endParaRPr lang="en-US" sz="500" b="0" dirty="0">
            <a:solidFill>
              <a:schemeClr val="bg1"/>
            </a:solidFill>
            <a:latin typeface="+mn-lt"/>
          </a:endParaRPr>
        </a:p>
      </dgm:t>
    </dgm:pt>
    <dgm:pt modelId="{9011253C-D600-4247-AFB3-5C07F854DEC4}" type="parTrans" cxnId="{B5D90AA4-21C3-4438-AE1C-0BE8775FFE68}">
      <dgm:prSet/>
      <dgm:spPr/>
      <dgm:t>
        <a:bodyPr/>
        <a:lstStyle/>
        <a:p>
          <a:endParaRPr lang="en-US"/>
        </a:p>
      </dgm:t>
    </dgm:pt>
    <dgm:pt modelId="{D6182908-C37E-44FB-B4E3-CCAB86FB606F}" type="sibTrans" cxnId="{B5D90AA4-21C3-4438-AE1C-0BE8775FFE68}">
      <dgm:prSet/>
      <dgm:spPr/>
      <dgm:t>
        <a:bodyPr/>
        <a:lstStyle/>
        <a:p>
          <a:endParaRPr lang="en-US"/>
        </a:p>
      </dgm:t>
    </dgm:pt>
    <dgm:pt modelId="{0DFA0304-874C-4A65-B995-CBD988A4EA1D}">
      <dgm:prSet phldrT="[Text]" custT="1"/>
      <dgm:spPr>
        <a:solidFill>
          <a:srgbClr val="FF0000"/>
        </a:solidFill>
        <a:ln w="12700">
          <a:solidFill>
            <a:srgbClr val="002D73"/>
          </a:solidFill>
        </a:ln>
      </dgm:spPr>
      <dgm:t>
        <a:bodyPr/>
        <a:lstStyle/>
        <a:p>
          <a:r>
            <a:rPr lang="en-US" sz="500" dirty="0" smtClean="0">
              <a:solidFill>
                <a:schemeClr val="bg1"/>
              </a:solidFill>
              <a:latin typeface="+mn-lt"/>
            </a:rPr>
            <a:t>Make Payment</a:t>
          </a:r>
          <a:endParaRPr lang="en-US" sz="500" dirty="0">
            <a:solidFill>
              <a:schemeClr val="bg1"/>
            </a:solidFill>
            <a:latin typeface="+mn-lt"/>
          </a:endParaRPr>
        </a:p>
      </dgm:t>
    </dgm:pt>
    <dgm:pt modelId="{C1E6120F-647F-458C-AF8E-55F23B80F52F}" type="parTrans" cxnId="{571972C6-CAAF-4EEC-A9D6-318CE2ADBDD3}">
      <dgm:prSet/>
      <dgm:spPr/>
      <dgm:t>
        <a:bodyPr/>
        <a:lstStyle/>
        <a:p>
          <a:endParaRPr lang="en-US"/>
        </a:p>
      </dgm:t>
    </dgm:pt>
    <dgm:pt modelId="{32EF71EF-5D86-43FB-941B-865CC03A6A0C}" type="sibTrans" cxnId="{571972C6-CAAF-4EEC-A9D6-318CE2ADBDD3}">
      <dgm:prSet/>
      <dgm:spPr/>
      <dgm:t>
        <a:bodyPr/>
        <a:lstStyle/>
        <a:p>
          <a:endParaRPr lang="en-US"/>
        </a:p>
      </dgm:t>
    </dgm:pt>
    <dgm:pt modelId="{B0FCABA2-AA67-4284-A582-E04F8A7A2495}">
      <dgm:prSet phldrT="[Text]" custT="1"/>
      <dgm:spPr>
        <a:solidFill>
          <a:schemeClr val="bg1">
            <a:lumMod val="85000"/>
            <a:alpha val="89804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Reporting</a:t>
          </a:r>
          <a:endParaRPr lang="en-US" sz="500" dirty="0">
            <a:latin typeface="+mn-lt"/>
          </a:endParaRPr>
        </a:p>
      </dgm:t>
    </dgm:pt>
    <dgm:pt modelId="{51E3E0F4-ED85-46AE-A477-C63A2EB51350}" type="parTrans" cxnId="{DFA8449F-2ABD-4AF7-91E5-03A127D982F6}">
      <dgm:prSet/>
      <dgm:spPr/>
      <dgm:t>
        <a:bodyPr/>
        <a:lstStyle/>
        <a:p>
          <a:endParaRPr lang="en-US"/>
        </a:p>
      </dgm:t>
    </dgm:pt>
    <dgm:pt modelId="{BE5DE984-1E8D-4ACE-BA8B-7DB8EAB88D02}" type="sibTrans" cxnId="{DFA8449F-2ABD-4AF7-91E5-03A127D982F6}">
      <dgm:prSet/>
      <dgm:spPr/>
      <dgm:t>
        <a:bodyPr/>
        <a:lstStyle/>
        <a:p>
          <a:endParaRPr lang="en-US"/>
        </a:p>
      </dgm:t>
    </dgm:pt>
    <dgm:pt modelId="{EA46A26D-FC15-4FBA-AD8D-B2C03D9EC9F4}" type="pres">
      <dgm:prSet presAssocID="{B7799885-90EC-448B-A5E6-EF402A2B4455}" presName="Name0" presStyleCnt="0">
        <dgm:presLayoutVars>
          <dgm:chMax val="11"/>
          <dgm:chPref val="11"/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56264BB1-ED82-4F90-8CF3-175F1AE56A5D}" type="pres">
      <dgm:prSet presAssocID="{B0FCABA2-AA67-4284-A582-E04F8A7A2495}" presName="Accent5" presStyleCnt="0"/>
      <dgm:spPr/>
    </dgm:pt>
    <dgm:pt modelId="{F5BF9BC4-6BAB-4577-A90C-A74021483097}" type="pres">
      <dgm:prSet presAssocID="{B0FCABA2-AA67-4284-A582-E04F8A7A2495}" presName="Accent" presStyleLbl="node1" presStyleIdx="0" presStyleCnt="5"/>
      <dgm:spPr/>
    </dgm:pt>
    <dgm:pt modelId="{A29D1413-6E39-4052-B462-E74493969C80}" type="pres">
      <dgm:prSet presAssocID="{B0FCABA2-AA67-4284-A582-E04F8A7A2495}" presName="ParentBackground5" presStyleCnt="0"/>
      <dgm:spPr/>
    </dgm:pt>
    <dgm:pt modelId="{1BCF17FA-19B1-4BE6-9799-112FC038D689}" type="pres">
      <dgm:prSet presAssocID="{B0FCABA2-AA67-4284-A582-E04F8A7A2495}" presName="ParentBackground" presStyleLbl="fgAcc1" presStyleIdx="0" presStyleCnt="5"/>
      <dgm:spPr/>
      <dgm:t>
        <a:bodyPr/>
        <a:lstStyle/>
        <a:p>
          <a:endParaRPr lang="en-US"/>
        </a:p>
      </dgm:t>
    </dgm:pt>
    <dgm:pt modelId="{FFE42FB5-1618-4650-B8D1-3F4094546AE4}" type="pres">
      <dgm:prSet presAssocID="{B0FCABA2-AA67-4284-A582-E04F8A7A2495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D8EA84-F14D-4CDF-826C-624781F29B78}" type="pres">
      <dgm:prSet presAssocID="{4C8FD9CC-C9E1-4C2A-9A24-DEFDBAD349EF}" presName="Accent4" presStyleCnt="0"/>
      <dgm:spPr/>
    </dgm:pt>
    <dgm:pt modelId="{912B6635-5F98-4686-858B-65F2692317D9}" type="pres">
      <dgm:prSet presAssocID="{4C8FD9CC-C9E1-4C2A-9A24-DEFDBAD349EF}" presName="Accent" presStyleLbl="node1" presStyleIdx="1" presStyleCnt="5"/>
      <dgm:spPr>
        <a:noFill/>
        <a:ln w="28575">
          <a:solidFill>
            <a:schemeClr val="tx1"/>
          </a:solidFill>
        </a:ln>
      </dgm:spPr>
    </dgm:pt>
    <dgm:pt modelId="{4D898C36-F6D8-473C-A22B-581ABB0C809A}" type="pres">
      <dgm:prSet presAssocID="{4C8FD9CC-C9E1-4C2A-9A24-DEFDBAD349EF}" presName="ParentBackground4" presStyleCnt="0"/>
      <dgm:spPr/>
    </dgm:pt>
    <dgm:pt modelId="{C42AEE01-8096-42F3-A396-A4FC48EADBB4}" type="pres">
      <dgm:prSet presAssocID="{4C8FD9CC-C9E1-4C2A-9A24-DEFDBAD349EF}" presName="ParentBackground" presStyleLbl="fgAcc1" presStyleIdx="1" presStyleCnt="5" custScaleX="115087" custLinFactNeighborX="2514"/>
      <dgm:spPr/>
      <dgm:t>
        <a:bodyPr/>
        <a:lstStyle/>
        <a:p>
          <a:endParaRPr lang="en-US"/>
        </a:p>
      </dgm:t>
    </dgm:pt>
    <dgm:pt modelId="{43E09396-D415-4C1D-8646-ED9BDE6564B3}" type="pres">
      <dgm:prSet presAssocID="{4C8FD9CC-C9E1-4C2A-9A24-DEFDBAD349EF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597770-BCF3-400A-8F1B-F352A56C3964}" type="pres">
      <dgm:prSet presAssocID="{0DFA0304-874C-4A65-B995-CBD988A4EA1D}" presName="Accent3" presStyleCnt="0"/>
      <dgm:spPr/>
    </dgm:pt>
    <dgm:pt modelId="{F3345FD4-D68E-4CC4-8A5E-DB56D2182E02}" type="pres">
      <dgm:prSet presAssocID="{0DFA0304-874C-4A65-B995-CBD988A4EA1D}" presName="Accent" presStyleLbl="node1" presStyleIdx="2" presStyleCnt="5" custLinFactNeighborX="-1658"/>
      <dgm:spPr>
        <a:noFill/>
        <a:ln>
          <a:solidFill>
            <a:schemeClr val="tx1"/>
          </a:solidFill>
        </a:ln>
      </dgm:spPr>
    </dgm:pt>
    <dgm:pt modelId="{B85AFE10-4879-4EA2-A6CE-4AEE0BE79A46}" type="pres">
      <dgm:prSet presAssocID="{0DFA0304-874C-4A65-B995-CBD988A4EA1D}" presName="ParentBackground3" presStyleCnt="0"/>
      <dgm:spPr/>
    </dgm:pt>
    <dgm:pt modelId="{39E53DC8-941D-4DDE-AAD9-FCAFD3EC4023}" type="pres">
      <dgm:prSet presAssocID="{0DFA0304-874C-4A65-B995-CBD988A4EA1D}" presName="ParentBackground" presStyleLbl="fgAcc1" presStyleIdx="2" presStyleCnt="5"/>
      <dgm:spPr/>
      <dgm:t>
        <a:bodyPr/>
        <a:lstStyle/>
        <a:p>
          <a:endParaRPr lang="en-US"/>
        </a:p>
      </dgm:t>
    </dgm:pt>
    <dgm:pt modelId="{1F3219CD-F50B-4754-8F7D-0EDB92C55F23}" type="pres">
      <dgm:prSet presAssocID="{0DFA0304-874C-4A65-B995-CBD988A4EA1D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A03842-9E67-4199-A565-26AADC44A5ED}" type="pres">
      <dgm:prSet presAssocID="{909A296E-D754-48F8-860D-6EE69996442F}" presName="Accent2" presStyleCnt="0"/>
      <dgm:spPr/>
    </dgm:pt>
    <dgm:pt modelId="{89DFBE28-7300-41D6-AB92-AC502E6D90FC}" type="pres">
      <dgm:prSet presAssocID="{909A296E-D754-48F8-860D-6EE69996442F}" presName="Accent" presStyleLbl="node1" presStyleIdx="3" presStyleCnt="5"/>
      <dgm:spPr>
        <a:noFill/>
        <a:ln w="28575">
          <a:solidFill>
            <a:schemeClr val="tx1"/>
          </a:solidFill>
        </a:ln>
      </dgm:spPr>
    </dgm:pt>
    <dgm:pt modelId="{F7CC27F8-2EE0-4532-9BCE-86986465764E}" type="pres">
      <dgm:prSet presAssocID="{909A296E-D754-48F8-860D-6EE69996442F}" presName="ParentBackground2" presStyleCnt="0"/>
      <dgm:spPr/>
    </dgm:pt>
    <dgm:pt modelId="{776D4B27-0EF4-4AD6-A9B5-748DCDFB24D0}" type="pres">
      <dgm:prSet presAssocID="{909A296E-D754-48F8-860D-6EE69996442F}" presName="ParentBackground" presStyleLbl="fgAcc1" presStyleIdx="3" presStyleCnt="5"/>
      <dgm:spPr/>
      <dgm:t>
        <a:bodyPr/>
        <a:lstStyle/>
        <a:p>
          <a:endParaRPr lang="en-US"/>
        </a:p>
      </dgm:t>
    </dgm:pt>
    <dgm:pt modelId="{E45A6CF2-9276-4B3D-BAA0-379B52AAB91D}" type="pres">
      <dgm:prSet presAssocID="{909A296E-D754-48F8-860D-6EE69996442F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E45637-F4F6-4BEA-8D04-9DB0837747EE}" type="pres">
      <dgm:prSet presAssocID="{73B533C0-8C15-4C19-BD96-9D21D3988BD5}" presName="Accent1" presStyleCnt="0"/>
      <dgm:spPr/>
    </dgm:pt>
    <dgm:pt modelId="{5A182BD6-932E-4A6A-A774-6DAEB079B70F}" type="pres">
      <dgm:prSet presAssocID="{73B533C0-8C15-4C19-BD96-9D21D3988BD5}" presName="Accent" presStyleLbl="node1" presStyleIdx="4" presStyleCnt="5"/>
      <dgm:spPr>
        <a:noFill/>
        <a:ln>
          <a:solidFill>
            <a:schemeClr val="tx1"/>
          </a:solidFill>
        </a:ln>
      </dgm:spPr>
    </dgm:pt>
    <dgm:pt modelId="{68F1AD57-99A8-4DED-9A92-8F8F21DBE104}" type="pres">
      <dgm:prSet presAssocID="{73B533C0-8C15-4C19-BD96-9D21D3988BD5}" presName="ParentBackground1" presStyleCnt="0"/>
      <dgm:spPr/>
    </dgm:pt>
    <dgm:pt modelId="{22BAC551-0C08-45D2-9FCA-06BA1703163F}" type="pres">
      <dgm:prSet presAssocID="{73B533C0-8C15-4C19-BD96-9D21D3988BD5}" presName="ParentBackground" presStyleLbl="fgAcc1" presStyleIdx="4" presStyleCnt="5"/>
      <dgm:spPr/>
      <dgm:t>
        <a:bodyPr/>
        <a:lstStyle/>
        <a:p>
          <a:endParaRPr lang="en-US"/>
        </a:p>
      </dgm:t>
    </dgm:pt>
    <dgm:pt modelId="{717D1FF3-F88B-4432-AD35-88675A8D81D6}" type="pres">
      <dgm:prSet presAssocID="{73B533C0-8C15-4C19-BD96-9D21D3988BD5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D7E17F3-CC39-4DEB-A7C0-DEE899CAC1F1}" type="presOf" srcId="{4C8FD9CC-C9E1-4C2A-9A24-DEFDBAD349EF}" destId="{C42AEE01-8096-42F3-A396-A4FC48EADBB4}" srcOrd="0" destOrd="0" presId="urn:microsoft.com/office/officeart/2011/layout/CircleProcess"/>
    <dgm:cxn modelId="{3FC13C44-0D49-40A6-9AB6-372D670A839A}" type="presOf" srcId="{0DFA0304-874C-4A65-B995-CBD988A4EA1D}" destId="{39E53DC8-941D-4DDE-AAD9-FCAFD3EC4023}" srcOrd="0" destOrd="0" presId="urn:microsoft.com/office/officeart/2011/layout/CircleProcess"/>
    <dgm:cxn modelId="{C29D29C0-CF88-476C-96B0-C5AB1A754610}" type="presOf" srcId="{4C8FD9CC-C9E1-4C2A-9A24-DEFDBAD349EF}" destId="{43E09396-D415-4C1D-8646-ED9BDE6564B3}" srcOrd="1" destOrd="0" presId="urn:microsoft.com/office/officeart/2011/layout/CircleProcess"/>
    <dgm:cxn modelId="{3A8C18B6-1BE6-4E6B-98B6-0CC4E5625D18}" srcId="{B7799885-90EC-448B-A5E6-EF402A2B4455}" destId="{73B533C0-8C15-4C19-BD96-9D21D3988BD5}" srcOrd="0" destOrd="0" parTransId="{DF88C67E-A8C4-4033-8E86-B3F3B9095760}" sibTransId="{C605212A-447D-44E7-82CE-D04C08348439}"/>
    <dgm:cxn modelId="{93314DF7-CE8B-494B-A47E-DCE53056899F}" type="presOf" srcId="{909A296E-D754-48F8-860D-6EE69996442F}" destId="{776D4B27-0EF4-4AD6-A9B5-748DCDFB24D0}" srcOrd="0" destOrd="0" presId="urn:microsoft.com/office/officeart/2011/layout/CircleProcess"/>
    <dgm:cxn modelId="{571972C6-CAAF-4EEC-A9D6-318CE2ADBDD3}" srcId="{B7799885-90EC-448B-A5E6-EF402A2B4455}" destId="{0DFA0304-874C-4A65-B995-CBD988A4EA1D}" srcOrd="2" destOrd="0" parTransId="{C1E6120F-647F-458C-AF8E-55F23B80F52F}" sibTransId="{32EF71EF-5D86-43FB-941B-865CC03A6A0C}"/>
    <dgm:cxn modelId="{B95D2A61-3C7F-4F30-BE7D-79B0196E9DDF}" srcId="{B7799885-90EC-448B-A5E6-EF402A2B4455}" destId="{909A296E-D754-48F8-860D-6EE69996442F}" srcOrd="1" destOrd="0" parTransId="{D31AABF4-3ACD-432D-B0F9-388309FE970F}" sibTransId="{143C2BE0-AC6B-4C22-A020-96F5B9FC1043}"/>
    <dgm:cxn modelId="{C5BBAF29-CD59-4F40-B70D-C86D244E3B94}" type="presOf" srcId="{B0FCABA2-AA67-4284-A582-E04F8A7A2495}" destId="{1BCF17FA-19B1-4BE6-9799-112FC038D689}" srcOrd="0" destOrd="0" presId="urn:microsoft.com/office/officeart/2011/layout/CircleProcess"/>
    <dgm:cxn modelId="{E34EE762-D0A8-4807-890C-B4CE6257B002}" type="presOf" srcId="{909A296E-D754-48F8-860D-6EE69996442F}" destId="{E45A6CF2-9276-4B3D-BAA0-379B52AAB91D}" srcOrd="1" destOrd="0" presId="urn:microsoft.com/office/officeart/2011/layout/CircleProcess"/>
    <dgm:cxn modelId="{529E5301-823E-4D8F-838C-295FC016A56D}" type="presOf" srcId="{73B533C0-8C15-4C19-BD96-9D21D3988BD5}" destId="{22BAC551-0C08-45D2-9FCA-06BA1703163F}" srcOrd="0" destOrd="0" presId="urn:microsoft.com/office/officeart/2011/layout/CircleProcess"/>
    <dgm:cxn modelId="{04A5BC76-F42A-4CBC-A9EC-259D936C44B7}" type="presOf" srcId="{B7799885-90EC-448B-A5E6-EF402A2B4455}" destId="{EA46A26D-FC15-4FBA-AD8D-B2C03D9EC9F4}" srcOrd="0" destOrd="0" presId="urn:microsoft.com/office/officeart/2011/layout/CircleProcess"/>
    <dgm:cxn modelId="{DFA8449F-2ABD-4AF7-91E5-03A127D982F6}" srcId="{B7799885-90EC-448B-A5E6-EF402A2B4455}" destId="{B0FCABA2-AA67-4284-A582-E04F8A7A2495}" srcOrd="4" destOrd="0" parTransId="{51E3E0F4-ED85-46AE-A477-C63A2EB51350}" sibTransId="{BE5DE984-1E8D-4ACE-BA8B-7DB8EAB88D02}"/>
    <dgm:cxn modelId="{87E64112-439C-45AF-A8E0-2856D51901C2}" type="presOf" srcId="{73B533C0-8C15-4C19-BD96-9D21D3988BD5}" destId="{717D1FF3-F88B-4432-AD35-88675A8D81D6}" srcOrd="1" destOrd="0" presId="urn:microsoft.com/office/officeart/2011/layout/CircleProcess"/>
    <dgm:cxn modelId="{F2F28B1C-3745-4E1B-9640-D12EED0379C2}" type="presOf" srcId="{0DFA0304-874C-4A65-B995-CBD988A4EA1D}" destId="{1F3219CD-F50B-4754-8F7D-0EDB92C55F23}" srcOrd="1" destOrd="0" presId="urn:microsoft.com/office/officeart/2011/layout/CircleProcess"/>
    <dgm:cxn modelId="{BADF13F1-9E51-4BDF-920B-FEBAE49A8E7E}" type="presOf" srcId="{B0FCABA2-AA67-4284-A582-E04F8A7A2495}" destId="{FFE42FB5-1618-4650-B8D1-3F4094546AE4}" srcOrd="1" destOrd="0" presId="urn:microsoft.com/office/officeart/2011/layout/CircleProcess"/>
    <dgm:cxn modelId="{B5D90AA4-21C3-4438-AE1C-0BE8775FFE68}" srcId="{B7799885-90EC-448B-A5E6-EF402A2B4455}" destId="{4C8FD9CC-C9E1-4C2A-9A24-DEFDBAD349EF}" srcOrd="3" destOrd="0" parTransId="{9011253C-D600-4247-AFB3-5C07F854DEC4}" sibTransId="{D6182908-C37E-44FB-B4E3-CCAB86FB606F}"/>
    <dgm:cxn modelId="{704D9B28-899A-4C34-A411-CA4A5BC3249B}" type="presParOf" srcId="{EA46A26D-FC15-4FBA-AD8D-B2C03D9EC9F4}" destId="{56264BB1-ED82-4F90-8CF3-175F1AE56A5D}" srcOrd="0" destOrd="0" presId="urn:microsoft.com/office/officeart/2011/layout/CircleProcess"/>
    <dgm:cxn modelId="{F0D6A209-CB65-41C9-ABEE-28C0C28EECA9}" type="presParOf" srcId="{56264BB1-ED82-4F90-8CF3-175F1AE56A5D}" destId="{F5BF9BC4-6BAB-4577-A90C-A74021483097}" srcOrd="0" destOrd="0" presId="urn:microsoft.com/office/officeart/2011/layout/CircleProcess"/>
    <dgm:cxn modelId="{915F44A9-6471-498D-820E-F96674CAC7EF}" type="presParOf" srcId="{EA46A26D-FC15-4FBA-AD8D-B2C03D9EC9F4}" destId="{A29D1413-6E39-4052-B462-E74493969C80}" srcOrd="1" destOrd="0" presId="urn:microsoft.com/office/officeart/2011/layout/CircleProcess"/>
    <dgm:cxn modelId="{CF356DC1-C30D-4611-9190-89E9C74C61F6}" type="presParOf" srcId="{A29D1413-6E39-4052-B462-E74493969C80}" destId="{1BCF17FA-19B1-4BE6-9799-112FC038D689}" srcOrd="0" destOrd="0" presId="urn:microsoft.com/office/officeart/2011/layout/CircleProcess"/>
    <dgm:cxn modelId="{ECAC81EC-3C60-4E4F-A495-F0DCD8FA53DB}" type="presParOf" srcId="{EA46A26D-FC15-4FBA-AD8D-B2C03D9EC9F4}" destId="{FFE42FB5-1618-4650-B8D1-3F4094546AE4}" srcOrd="2" destOrd="0" presId="urn:microsoft.com/office/officeart/2011/layout/CircleProcess"/>
    <dgm:cxn modelId="{DEA621DB-CAF7-49C7-8F96-8B7B43D4C71D}" type="presParOf" srcId="{EA46A26D-FC15-4FBA-AD8D-B2C03D9EC9F4}" destId="{ECD8EA84-F14D-4CDF-826C-624781F29B78}" srcOrd="3" destOrd="0" presId="urn:microsoft.com/office/officeart/2011/layout/CircleProcess"/>
    <dgm:cxn modelId="{C292402D-28D9-49C8-9C79-8F1854B868C6}" type="presParOf" srcId="{ECD8EA84-F14D-4CDF-826C-624781F29B78}" destId="{912B6635-5F98-4686-858B-65F2692317D9}" srcOrd="0" destOrd="0" presId="urn:microsoft.com/office/officeart/2011/layout/CircleProcess"/>
    <dgm:cxn modelId="{53923695-51E7-4BBC-8A6C-822B368497C4}" type="presParOf" srcId="{EA46A26D-FC15-4FBA-AD8D-B2C03D9EC9F4}" destId="{4D898C36-F6D8-473C-A22B-581ABB0C809A}" srcOrd="4" destOrd="0" presId="urn:microsoft.com/office/officeart/2011/layout/CircleProcess"/>
    <dgm:cxn modelId="{EDF2716E-A1E8-4802-A596-017CBF6261EA}" type="presParOf" srcId="{4D898C36-F6D8-473C-A22B-581ABB0C809A}" destId="{C42AEE01-8096-42F3-A396-A4FC48EADBB4}" srcOrd="0" destOrd="0" presId="urn:microsoft.com/office/officeart/2011/layout/CircleProcess"/>
    <dgm:cxn modelId="{BEFC4137-11C2-46B3-A7BB-F158B9156571}" type="presParOf" srcId="{EA46A26D-FC15-4FBA-AD8D-B2C03D9EC9F4}" destId="{43E09396-D415-4C1D-8646-ED9BDE6564B3}" srcOrd="5" destOrd="0" presId="urn:microsoft.com/office/officeart/2011/layout/CircleProcess"/>
    <dgm:cxn modelId="{B0E94C97-C304-463D-A7BC-BB25F2373CA3}" type="presParOf" srcId="{EA46A26D-FC15-4FBA-AD8D-B2C03D9EC9F4}" destId="{1F597770-BCF3-400A-8F1B-F352A56C3964}" srcOrd="6" destOrd="0" presId="urn:microsoft.com/office/officeart/2011/layout/CircleProcess"/>
    <dgm:cxn modelId="{32890799-9D90-44C9-9B3B-B422D8C853F2}" type="presParOf" srcId="{1F597770-BCF3-400A-8F1B-F352A56C3964}" destId="{F3345FD4-D68E-4CC4-8A5E-DB56D2182E02}" srcOrd="0" destOrd="0" presId="urn:microsoft.com/office/officeart/2011/layout/CircleProcess"/>
    <dgm:cxn modelId="{99B48C6B-1838-4750-85EF-CF93D586AF03}" type="presParOf" srcId="{EA46A26D-FC15-4FBA-AD8D-B2C03D9EC9F4}" destId="{B85AFE10-4879-4EA2-A6CE-4AEE0BE79A46}" srcOrd="7" destOrd="0" presId="urn:microsoft.com/office/officeart/2011/layout/CircleProcess"/>
    <dgm:cxn modelId="{925FD409-1FA0-46AB-A528-991169A56BBF}" type="presParOf" srcId="{B85AFE10-4879-4EA2-A6CE-4AEE0BE79A46}" destId="{39E53DC8-941D-4DDE-AAD9-FCAFD3EC4023}" srcOrd="0" destOrd="0" presId="urn:microsoft.com/office/officeart/2011/layout/CircleProcess"/>
    <dgm:cxn modelId="{04677058-F6AE-4E66-82CC-2B8B28DA75ED}" type="presParOf" srcId="{EA46A26D-FC15-4FBA-AD8D-B2C03D9EC9F4}" destId="{1F3219CD-F50B-4754-8F7D-0EDB92C55F23}" srcOrd="8" destOrd="0" presId="urn:microsoft.com/office/officeart/2011/layout/CircleProcess"/>
    <dgm:cxn modelId="{4ED53A24-1B01-4A72-B9E4-D76963A6590C}" type="presParOf" srcId="{EA46A26D-FC15-4FBA-AD8D-B2C03D9EC9F4}" destId="{FCA03842-9E67-4199-A565-26AADC44A5ED}" srcOrd="9" destOrd="0" presId="urn:microsoft.com/office/officeart/2011/layout/CircleProcess"/>
    <dgm:cxn modelId="{1CEE687B-2A2F-45A1-96A8-C0CBE11C5CB6}" type="presParOf" srcId="{FCA03842-9E67-4199-A565-26AADC44A5ED}" destId="{89DFBE28-7300-41D6-AB92-AC502E6D90FC}" srcOrd="0" destOrd="0" presId="urn:microsoft.com/office/officeart/2011/layout/CircleProcess"/>
    <dgm:cxn modelId="{9CEE7D86-D9FF-4FCD-A06B-EAB148D3461E}" type="presParOf" srcId="{EA46A26D-FC15-4FBA-AD8D-B2C03D9EC9F4}" destId="{F7CC27F8-2EE0-4532-9BCE-86986465764E}" srcOrd="10" destOrd="0" presId="urn:microsoft.com/office/officeart/2011/layout/CircleProcess"/>
    <dgm:cxn modelId="{E9076B69-AF3D-439F-ABE7-2AA37DEC0F1A}" type="presParOf" srcId="{F7CC27F8-2EE0-4532-9BCE-86986465764E}" destId="{776D4B27-0EF4-4AD6-A9B5-748DCDFB24D0}" srcOrd="0" destOrd="0" presId="urn:microsoft.com/office/officeart/2011/layout/CircleProcess"/>
    <dgm:cxn modelId="{7E751E4F-3700-4A63-BA8B-94CFC8B3878C}" type="presParOf" srcId="{EA46A26D-FC15-4FBA-AD8D-B2C03D9EC9F4}" destId="{E45A6CF2-9276-4B3D-BAA0-379B52AAB91D}" srcOrd="11" destOrd="0" presId="urn:microsoft.com/office/officeart/2011/layout/CircleProcess"/>
    <dgm:cxn modelId="{D0570CAA-60EA-4F04-A9C7-2C479F87F7B7}" type="presParOf" srcId="{EA46A26D-FC15-4FBA-AD8D-B2C03D9EC9F4}" destId="{84E45637-F4F6-4BEA-8D04-9DB0837747EE}" srcOrd="12" destOrd="0" presId="urn:microsoft.com/office/officeart/2011/layout/CircleProcess"/>
    <dgm:cxn modelId="{FE2C659F-0CE1-47D9-BECC-3B08ACF639BB}" type="presParOf" srcId="{84E45637-F4F6-4BEA-8D04-9DB0837747EE}" destId="{5A182BD6-932E-4A6A-A774-6DAEB079B70F}" srcOrd="0" destOrd="0" presId="urn:microsoft.com/office/officeart/2011/layout/CircleProcess"/>
    <dgm:cxn modelId="{7601C8A7-578F-4EF6-ABF1-2B94753A2037}" type="presParOf" srcId="{EA46A26D-FC15-4FBA-AD8D-B2C03D9EC9F4}" destId="{68F1AD57-99A8-4DED-9A92-8F8F21DBE104}" srcOrd="13" destOrd="0" presId="urn:microsoft.com/office/officeart/2011/layout/CircleProcess"/>
    <dgm:cxn modelId="{0848A2C4-B94E-484F-85CF-84CD4F183C2D}" type="presParOf" srcId="{68F1AD57-99A8-4DED-9A92-8F8F21DBE104}" destId="{22BAC551-0C08-45D2-9FCA-06BA1703163F}" srcOrd="0" destOrd="0" presId="urn:microsoft.com/office/officeart/2011/layout/CircleProcess"/>
    <dgm:cxn modelId="{E7D65495-4CDD-4E16-A1C7-DB3BDE0F2FFA}" type="presParOf" srcId="{EA46A26D-FC15-4FBA-AD8D-B2C03D9EC9F4}" destId="{717D1FF3-F88B-4432-AD35-88675A8D81D6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7799885-90EC-448B-A5E6-EF402A2B4455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B533C0-8C15-4C19-BD96-9D21D3988BD5}">
      <dgm:prSet phldrT="[Text]" custT="1"/>
      <dgm:spPr>
        <a:solidFill>
          <a:schemeClr val="bg1">
            <a:lumMod val="85000"/>
            <a:alpha val="89804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Invoice Receipt/ Verification</a:t>
          </a:r>
          <a:endParaRPr lang="en-US" sz="500" dirty="0">
            <a:latin typeface="+mn-lt"/>
          </a:endParaRPr>
        </a:p>
      </dgm:t>
    </dgm:pt>
    <dgm:pt modelId="{DF88C67E-A8C4-4033-8E86-B3F3B9095760}" type="parTrans" cxnId="{3A8C18B6-1BE6-4E6B-98B6-0CC4E5625D18}">
      <dgm:prSet/>
      <dgm:spPr/>
      <dgm:t>
        <a:bodyPr/>
        <a:lstStyle/>
        <a:p>
          <a:endParaRPr lang="en-US"/>
        </a:p>
      </dgm:t>
    </dgm:pt>
    <dgm:pt modelId="{C605212A-447D-44E7-82CE-D04C08348439}" type="sibTrans" cxnId="{3A8C18B6-1BE6-4E6B-98B6-0CC4E5625D18}">
      <dgm:prSet/>
      <dgm:spPr/>
      <dgm:t>
        <a:bodyPr/>
        <a:lstStyle/>
        <a:p>
          <a:endParaRPr lang="en-US"/>
        </a:p>
      </dgm:t>
    </dgm:pt>
    <dgm:pt modelId="{909A296E-D754-48F8-860D-6EE69996442F}">
      <dgm:prSet phldrT="[Text]" custT="1"/>
      <dgm:spPr>
        <a:solidFill>
          <a:srgbClr val="F4DCDC">
            <a:alpha val="89804"/>
          </a:srgbClr>
        </a:solidFill>
        <a:ln w="12700">
          <a:solidFill>
            <a:srgbClr val="002D73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Release Payment</a:t>
          </a:r>
          <a:endParaRPr lang="en-US" sz="500" dirty="0">
            <a:latin typeface="+mn-lt"/>
          </a:endParaRPr>
        </a:p>
      </dgm:t>
    </dgm:pt>
    <dgm:pt modelId="{D31AABF4-3ACD-432D-B0F9-388309FE970F}" type="parTrans" cxnId="{B95D2A61-3C7F-4F30-BE7D-79B0196E9DDF}">
      <dgm:prSet/>
      <dgm:spPr/>
      <dgm:t>
        <a:bodyPr/>
        <a:lstStyle/>
        <a:p>
          <a:endParaRPr lang="en-US"/>
        </a:p>
      </dgm:t>
    </dgm:pt>
    <dgm:pt modelId="{143C2BE0-AC6B-4C22-A020-96F5B9FC1043}" type="sibTrans" cxnId="{B95D2A61-3C7F-4F30-BE7D-79B0196E9DDF}">
      <dgm:prSet/>
      <dgm:spPr/>
      <dgm:t>
        <a:bodyPr/>
        <a:lstStyle/>
        <a:p>
          <a:endParaRPr lang="en-US"/>
        </a:p>
      </dgm:t>
    </dgm:pt>
    <dgm:pt modelId="{4C8FD9CC-C9E1-4C2A-9A24-DEFDBAD349EF}">
      <dgm:prSet phldrT="[Text]" custT="1"/>
      <dgm:spPr>
        <a:solidFill>
          <a:schemeClr val="accent2">
            <a:lumMod val="75000"/>
            <a:alpha val="89804"/>
          </a:schemeClr>
        </a:solidFill>
        <a:ln>
          <a:solidFill>
            <a:srgbClr val="002D73"/>
          </a:solidFill>
        </a:ln>
      </dgm:spPr>
      <dgm:t>
        <a:bodyPr/>
        <a:lstStyle/>
        <a:p>
          <a:r>
            <a:rPr lang="en-US" sz="500" b="0" dirty="0" smtClean="0">
              <a:solidFill>
                <a:schemeClr val="bg1"/>
              </a:solidFill>
            </a:rPr>
            <a:t>Reconciliation</a:t>
          </a:r>
          <a:endParaRPr lang="en-US" sz="500" b="0" dirty="0">
            <a:solidFill>
              <a:schemeClr val="bg1"/>
            </a:solidFill>
            <a:latin typeface="+mn-lt"/>
          </a:endParaRPr>
        </a:p>
      </dgm:t>
    </dgm:pt>
    <dgm:pt modelId="{9011253C-D600-4247-AFB3-5C07F854DEC4}" type="parTrans" cxnId="{B5D90AA4-21C3-4438-AE1C-0BE8775FFE68}">
      <dgm:prSet/>
      <dgm:spPr/>
      <dgm:t>
        <a:bodyPr/>
        <a:lstStyle/>
        <a:p>
          <a:endParaRPr lang="en-US"/>
        </a:p>
      </dgm:t>
    </dgm:pt>
    <dgm:pt modelId="{D6182908-C37E-44FB-B4E3-CCAB86FB606F}" type="sibTrans" cxnId="{B5D90AA4-21C3-4438-AE1C-0BE8775FFE68}">
      <dgm:prSet/>
      <dgm:spPr/>
      <dgm:t>
        <a:bodyPr/>
        <a:lstStyle/>
        <a:p>
          <a:endParaRPr lang="en-US"/>
        </a:p>
      </dgm:t>
    </dgm:pt>
    <dgm:pt modelId="{0DFA0304-874C-4A65-B995-CBD988A4EA1D}">
      <dgm:prSet phldrT="[Text]" custT="1"/>
      <dgm:spPr>
        <a:solidFill>
          <a:srgbClr val="FF0000"/>
        </a:solidFill>
        <a:ln w="12700">
          <a:solidFill>
            <a:srgbClr val="002D73"/>
          </a:solidFill>
        </a:ln>
      </dgm:spPr>
      <dgm:t>
        <a:bodyPr/>
        <a:lstStyle/>
        <a:p>
          <a:r>
            <a:rPr lang="en-US" sz="500" dirty="0" smtClean="0">
              <a:solidFill>
                <a:schemeClr val="bg1"/>
              </a:solidFill>
              <a:latin typeface="+mn-lt"/>
            </a:rPr>
            <a:t>Make Payment</a:t>
          </a:r>
          <a:endParaRPr lang="en-US" sz="500" dirty="0">
            <a:solidFill>
              <a:schemeClr val="bg1"/>
            </a:solidFill>
            <a:latin typeface="+mn-lt"/>
          </a:endParaRPr>
        </a:p>
      </dgm:t>
    </dgm:pt>
    <dgm:pt modelId="{C1E6120F-647F-458C-AF8E-55F23B80F52F}" type="parTrans" cxnId="{571972C6-CAAF-4EEC-A9D6-318CE2ADBDD3}">
      <dgm:prSet/>
      <dgm:spPr/>
      <dgm:t>
        <a:bodyPr/>
        <a:lstStyle/>
        <a:p>
          <a:endParaRPr lang="en-US"/>
        </a:p>
      </dgm:t>
    </dgm:pt>
    <dgm:pt modelId="{32EF71EF-5D86-43FB-941B-865CC03A6A0C}" type="sibTrans" cxnId="{571972C6-CAAF-4EEC-A9D6-318CE2ADBDD3}">
      <dgm:prSet/>
      <dgm:spPr/>
      <dgm:t>
        <a:bodyPr/>
        <a:lstStyle/>
        <a:p>
          <a:endParaRPr lang="en-US"/>
        </a:p>
      </dgm:t>
    </dgm:pt>
    <dgm:pt modelId="{B0FCABA2-AA67-4284-A582-E04F8A7A2495}">
      <dgm:prSet phldrT="[Text]" custT="1"/>
      <dgm:spPr>
        <a:solidFill>
          <a:schemeClr val="bg1">
            <a:lumMod val="85000"/>
            <a:alpha val="89804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Reporting</a:t>
          </a:r>
          <a:endParaRPr lang="en-US" sz="500" dirty="0">
            <a:latin typeface="+mn-lt"/>
          </a:endParaRPr>
        </a:p>
      </dgm:t>
    </dgm:pt>
    <dgm:pt modelId="{51E3E0F4-ED85-46AE-A477-C63A2EB51350}" type="parTrans" cxnId="{DFA8449F-2ABD-4AF7-91E5-03A127D982F6}">
      <dgm:prSet/>
      <dgm:spPr/>
      <dgm:t>
        <a:bodyPr/>
        <a:lstStyle/>
        <a:p>
          <a:endParaRPr lang="en-US"/>
        </a:p>
      </dgm:t>
    </dgm:pt>
    <dgm:pt modelId="{BE5DE984-1E8D-4ACE-BA8B-7DB8EAB88D02}" type="sibTrans" cxnId="{DFA8449F-2ABD-4AF7-91E5-03A127D982F6}">
      <dgm:prSet/>
      <dgm:spPr/>
      <dgm:t>
        <a:bodyPr/>
        <a:lstStyle/>
        <a:p>
          <a:endParaRPr lang="en-US"/>
        </a:p>
      </dgm:t>
    </dgm:pt>
    <dgm:pt modelId="{EA46A26D-FC15-4FBA-AD8D-B2C03D9EC9F4}" type="pres">
      <dgm:prSet presAssocID="{B7799885-90EC-448B-A5E6-EF402A2B4455}" presName="Name0" presStyleCnt="0">
        <dgm:presLayoutVars>
          <dgm:chMax val="11"/>
          <dgm:chPref val="11"/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56264BB1-ED82-4F90-8CF3-175F1AE56A5D}" type="pres">
      <dgm:prSet presAssocID="{B0FCABA2-AA67-4284-A582-E04F8A7A2495}" presName="Accent5" presStyleCnt="0"/>
      <dgm:spPr/>
    </dgm:pt>
    <dgm:pt modelId="{F5BF9BC4-6BAB-4577-A90C-A74021483097}" type="pres">
      <dgm:prSet presAssocID="{B0FCABA2-AA67-4284-A582-E04F8A7A2495}" presName="Accent" presStyleLbl="node1" presStyleIdx="0" presStyleCnt="5"/>
      <dgm:spPr/>
    </dgm:pt>
    <dgm:pt modelId="{A29D1413-6E39-4052-B462-E74493969C80}" type="pres">
      <dgm:prSet presAssocID="{B0FCABA2-AA67-4284-A582-E04F8A7A2495}" presName="ParentBackground5" presStyleCnt="0"/>
      <dgm:spPr/>
    </dgm:pt>
    <dgm:pt modelId="{1BCF17FA-19B1-4BE6-9799-112FC038D689}" type="pres">
      <dgm:prSet presAssocID="{B0FCABA2-AA67-4284-A582-E04F8A7A2495}" presName="ParentBackground" presStyleLbl="fgAcc1" presStyleIdx="0" presStyleCnt="5"/>
      <dgm:spPr/>
      <dgm:t>
        <a:bodyPr/>
        <a:lstStyle/>
        <a:p>
          <a:endParaRPr lang="en-US"/>
        </a:p>
      </dgm:t>
    </dgm:pt>
    <dgm:pt modelId="{FFE42FB5-1618-4650-B8D1-3F4094546AE4}" type="pres">
      <dgm:prSet presAssocID="{B0FCABA2-AA67-4284-A582-E04F8A7A2495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D8EA84-F14D-4CDF-826C-624781F29B78}" type="pres">
      <dgm:prSet presAssocID="{4C8FD9CC-C9E1-4C2A-9A24-DEFDBAD349EF}" presName="Accent4" presStyleCnt="0"/>
      <dgm:spPr/>
    </dgm:pt>
    <dgm:pt modelId="{912B6635-5F98-4686-858B-65F2692317D9}" type="pres">
      <dgm:prSet presAssocID="{4C8FD9CC-C9E1-4C2A-9A24-DEFDBAD349EF}" presName="Accent" presStyleLbl="node1" presStyleIdx="1" presStyleCnt="5"/>
      <dgm:spPr>
        <a:noFill/>
        <a:ln w="28575">
          <a:solidFill>
            <a:schemeClr val="tx1"/>
          </a:solidFill>
        </a:ln>
      </dgm:spPr>
    </dgm:pt>
    <dgm:pt modelId="{4D898C36-F6D8-473C-A22B-581ABB0C809A}" type="pres">
      <dgm:prSet presAssocID="{4C8FD9CC-C9E1-4C2A-9A24-DEFDBAD349EF}" presName="ParentBackground4" presStyleCnt="0"/>
      <dgm:spPr/>
    </dgm:pt>
    <dgm:pt modelId="{C42AEE01-8096-42F3-A396-A4FC48EADBB4}" type="pres">
      <dgm:prSet presAssocID="{4C8FD9CC-C9E1-4C2A-9A24-DEFDBAD349EF}" presName="ParentBackground" presStyleLbl="fgAcc1" presStyleIdx="1" presStyleCnt="5" custScaleX="115087" custLinFactNeighborX="2514"/>
      <dgm:spPr/>
      <dgm:t>
        <a:bodyPr/>
        <a:lstStyle/>
        <a:p>
          <a:endParaRPr lang="en-US"/>
        </a:p>
      </dgm:t>
    </dgm:pt>
    <dgm:pt modelId="{43E09396-D415-4C1D-8646-ED9BDE6564B3}" type="pres">
      <dgm:prSet presAssocID="{4C8FD9CC-C9E1-4C2A-9A24-DEFDBAD349EF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597770-BCF3-400A-8F1B-F352A56C3964}" type="pres">
      <dgm:prSet presAssocID="{0DFA0304-874C-4A65-B995-CBD988A4EA1D}" presName="Accent3" presStyleCnt="0"/>
      <dgm:spPr/>
    </dgm:pt>
    <dgm:pt modelId="{F3345FD4-D68E-4CC4-8A5E-DB56D2182E02}" type="pres">
      <dgm:prSet presAssocID="{0DFA0304-874C-4A65-B995-CBD988A4EA1D}" presName="Accent" presStyleLbl="node1" presStyleIdx="2" presStyleCnt="5" custLinFactNeighborX="-1658"/>
      <dgm:spPr>
        <a:noFill/>
        <a:ln>
          <a:solidFill>
            <a:schemeClr val="tx1"/>
          </a:solidFill>
        </a:ln>
      </dgm:spPr>
    </dgm:pt>
    <dgm:pt modelId="{B85AFE10-4879-4EA2-A6CE-4AEE0BE79A46}" type="pres">
      <dgm:prSet presAssocID="{0DFA0304-874C-4A65-B995-CBD988A4EA1D}" presName="ParentBackground3" presStyleCnt="0"/>
      <dgm:spPr/>
    </dgm:pt>
    <dgm:pt modelId="{39E53DC8-941D-4DDE-AAD9-FCAFD3EC4023}" type="pres">
      <dgm:prSet presAssocID="{0DFA0304-874C-4A65-B995-CBD988A4EA1D}" presName="ParentBackground" presStyleLbl="fgAcc1" presStyleIdx="2" presStyleCnt="5"/>
      <dgm:spPr/>
      <dgm:t>
        <a:bodyPr/>
        <a:lstStyle/>
        <a:p>
          <a:endParaRPr lang="en-US"/>
        </a:p>
      </dgm:t>
    </dgm:pt>
    <dgm:pt modelId="{1F3219CD-F50B-4754-8F7D-0EDB92C55F23}" type="pres">
      <dgm:prSet presAssocID="{0DFA0304-874C-4A65-B995-CBD988A4EA1D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A03842-9E67-4199-A565-26AADC44A5ED}" type="pres">
      <dgm:prSet presAssocID="{909A296E-D754-48F8-860D-6EE69996442F}" presName="Accent2" presStyleCnt="0"/>
      <dgm:spPr/>
    </dgm:pt>
    <dgm:pt modelId="{89DFBE28-7300-41D6-AB92-AC502E6D90FC}" type="pres">
      <dgm:prSet presAssocID="{909A296E-D754-48F8-860D-6EE69996442F}" presName="Accent" presStyleLbl="node1" presStyleIdx="3" presStyleCnt="5"/>
      <dgm:spPr>
        <a:noFill/>
        <a:ln w="28575">
          <a:solidFill>
            <a:schemeClr val="tx1"/>
          </a:solidFill>
        </a:ln>
      </dgm:spPr>
    </dgm:pt>
    <dgm:pt modelId="{F7CC27F8-2EE0-4532-9BCE-86986465764E}" type="pres">
      <dgm:prSet presAssocID="{909A296E-D754-48F8-860D-6EE69996442F}" presName="ParentBackground2" presStyleCnt="0"/>
      <dgm:spPr/>
    </dgm:pt>
    <dgm:pt modelId="{776D4B27-0EF4-4AD6-A9B5-748DCDFB24D0}" type="pres">
      <dgm:prSet presAssocID="{909A296E-D754-48F8-860D-6EE69996442F}" presName="ParentBackground" presStyleLbl="fgAcc1" presStyleIdx="3" presStyleCnt="5"/>
      <dgm:spPr/>
      <dgm:t>
        <a:bodyPr/>
        <a:lstStyle/>
        <a:p>
          <a:endParaRPr lang="en-US"/>
        </a:p>
      </dgm:t>
    </dgm:pt>
    <dgm:pt modelId="{E45A6CF2-9276-4B3D-BAA0-379B52AAB91D}" type="pres">
      <dgm:prSet presAssocID="{909A296E-D754-48F8-860D-6EE69996442F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E45637-F4F6-4BEA-8D04-9DB0837747EE}" type="pres">
      <dgm:prSet presAssocID="{73B533C0-8C15-4C19-BD96-9D21D3988BD5}" presName="Accent1" presStyleCnt="0"/>
      <dgm:spPr/>
    </dgm:pt>
    <dgm:pt modelId="{5A182BD6-932E-4A6A-A774-6DAEB079B70F}" type="pres">
      <dgm:prSet presAssocID="{73B533C0-8C15-4C19-BD96-9D21D3988BD5}" presName="Accent" presStyleLbl="node1" presStyleIdx="4" presStyleCnt="5"/>
      <dgm:spPr>
        <a:noFill/>
        <a:ln>
          <a:solidFill>
            <a:schemeClr val="tx1"/>
          </a:solidFill>
        </a:ln>
      </dgm:spPr>
    </dgm:pt>
    <dgm:pt modelId="{68F1AD57-99A8-4DED-9A92-8F8F21DBE104}" type="pres">
      <dgm:prSet presAssocID="{73B533C0-8C15-4C19-BD96-9D21D3988BD5}" presName="ParentBackground1" presStyleCnt="0"/>
      <dgm:spPr/>
    </dgm:pt>
    <dgm:pt modelId="{22BAC551-0C08-45D2-9FCA-06BA1703163F}" type="pres">
      <dgm:prSet presAssocID="{73B533C0-8C15-4C19-BD96-9D21D3988BD5}" presName="ParentBackground" presStyleLbl="fgAcc1" presStyleIdx="4" presStyleCnt="5"/>
      <dgm:spPr/>
      <dgm:t>
        <a:bodyPr/>
        <a:lstStyle/>
        <a:p>
          <a:endParaRPr lang="en-US"/>
        </a:p>
      </dgm:t>
    </dgm:pt>
    <dgm:pt modelId="{717D1FF3-F88B-4432-AD35-88675A8D81D6}" type="pres">
      <dgm:prSet presAssocID="{73B533C0-8C15-4C19-BD96-9D21D3988BD5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D7E17F3-CC39-4DEB-A7C0-DEE899CAC1F1}" type="presOf" srcId="{4C8FD9CC-C9E1-4C2A-9A24-DEFDBAD349EF}" destId="{C42AEE01-8096-42F3-A396-A4FC48EADBB4}" srcOrd="0" destOrd="0" presId="urn:microsoft.com/office/officeart/2011/layout/CircleProcess"/>
    <dgm:cxn modelId="{3FC13C44-0D49-40A6-9AB6-372D670A839A}" type="presOf" srcId="{0DFA0304-874C-4A65-B995-CBD988A4EA1D}" destId="{39E53DC8-941D-4DDE-AAD9-FCAFD3EC4023}" srcOrd="0" destOrd="0" presId="urn:microsoft.com/office/officeart/2011/layout/CircleProcess"/>
    <dgm:cxn modelId="{C29D29C0-CF88-476C-96B0-C5AB1A754610}" type="presOf" srcId="{4C8FD9CC-C9E1-4C2A-9A24-DEFDBAD349EF}" destId="{43E09396-D415-4C1D-8646-ED9BDE6564B3}" srcOrd="1" destOrd="0" presId="urn:microsoft.com/office/officeart/2011/layout/CircleProcess"/>
    <dgm:cxn modelId="{3A8C18B6-1BE6-4E6B-98B6-0CC4E5625D18}" srcId="{B7799885-90EC-448B-A5E6-EF402A2B4455}" destId="{73B533C0-8C15-4C19-BD96-9D21D3988BD5}" srcOrd="0" destOrd="0" parTransId="{DF88C67E-A8C4-4033-8E86-B3F3B9095760}" sibTransId="{C605212A-447D-44E7-82CE-D04C08348439}"/>
    <dgm:cxn modelId="{93314DF7-CE8B-494B-A47E-DCE53056899F}" type="presOf" srcId="{909A296E-D754-48F8-860D-6EE69996442F}" destId="{776D4B27-0EF4-4AD6-A9B5-748DCDFB24D0}" srcOrd="0" destOrd="0" presId="urn:microsoft.com/office/officeart/2011/layout/CircleProcess"/>
    <dgm:cxn modelId="{571972C6-CAAF-4EEC-A9D6-318CE2ADBDD3}" srcId="{B7799885-90EC-448B-A5E6-EF402A2B4455}" destId="{0DFA0304-874C-4A65-B995-CBD988A4EA1D}" srcOrd="2" destOrd="0" parTransId="{C1E6120F-647F-458C-AF8E-55F23B80F52F}" sibTransId="{32EF71EF-5D86-43FB-941B-865CC03A6A0C}"/>
    <dgm:cxn modelId="{B95D2A61-3C7F-4F30-BE7D-79B0196E9DDF}" srcId="{B7799885-90EC-448B-A5E6-EF402A2B4455}" destId="{909A296E-D754-48F8-860D-6EE69996442F}" srcOrd="1" destOrd="0" parTransId="{D31AABF4-3ACD-432D-B0F9-388309FE970F}" sibTransId="{143C2BE0-AC6B-4C22-A020-96F5B9FC1043}"/>
    <dgm:cxn modelId="{C5BBAF29-CD59-4F40-B70D-C86D244E3B94}" type="presOf" srcId="{B0FCABA2-AA67-4284-A582-E04F8A7A2495}" destId="{1BCF17FA-19B1-4BE6-9799-112FC038D689}" srcOrd="0" destOrd="0" presId="urn:microsoft.com/office/officeart/2011/layout/CircleProcess"/>
    <dgm:cxn modelId="{E34EE762-D0A8-4807-890C-B4CE6257B002}" type="presOf" srcId="{909A296E-D754-48F8-860D-6EE69996442F}" destId="{E45A6CF2-9276-4B3D-BAA0-379B52AAB91D}" srcOrd="1" destOrd="0" presId="urn:microsoft.com/office/officeart/2011/layout/CircleProcess"/>
    <dgm:cxn modelId="{529E5301-823E-4D8F-838C-295FC016A56D}" type="presOf" srcId="{73B533C0-8C15-4C19-BD96-9D21D3988BD5}" destId="{22BAC551-0C08-45D2-9FCA-06BA1703163F}" srcOrd="0" destOrd="0" presId="urn:microsoft.com/office/officeart/2011/layout/CircleProcess"/>
    <dgm:cxn modelId="{04A5BC76-F42A-4CBC-A9EC-259D936C44B7}" type="presOf" srcId="{B7799885-90EC-448B-A5E6-EF402A2B4455}" destId="{EA46A26D-FC15-4FBA-AD8D-B2C03D9EC9F4}" srcOrd="0" destOrd="0" presId="urn:microsoft.com/office/officeart/2011/layout/CircleProcess"/>
    <dgm:cxn modelId="{DFA8449F-2ABD-4AF7-91E5-03A127D982F6}" srcId="{B7799885-90EC-448B-A5E6-EF402A2B4455}" destId="{B0FCABA2-AA67-4284-A582-E04F8A7A2495}" srcOrd="4" destOrd="0" parTransId="{51E3E0F4-ED85-46AE-A477-C63A2EB51350}" sibTransId="{BE5DE984-1E8D-4ACE-BA8B-7DB8EAB88D02}"/>
    <dgm:cxn modelId="{87E64112-439C-45AF-A8E0-2856D51901C2}" type="presOf" srcId="{73B533C0-8C15-4C19-BD96-9D21D3988BD5}" destId="{717D1FF3-F88B-4432-AD35-88675A8D81D6}" srcOrd="1" destOrd="0" presId="urn:microsoft.com/office/officeart/2011/layout/CircleProcess"/>
    <dgm:cxn modelId="{F2F28B1C-3745-4E1B-9640-D12EED0379C2}" type="presOf" srcId="{0DFA0304-874C-4A65-B995-CBD988A4EA1D}" destId="{1F3219CD-F50B-4754-8F7D-0EDB92C55F23}" srcOrd="1" destOrd="0" presId="urn:microsoft.com/office/officeart/2011/layout/CircleProcess"/>
    <dgm:cxn modelId="{BADF13F1-9E51-4BDF-920B-FEBAE49A8E7E}" type="presOf" srcId="{B0FCABA2-AA67-4284-A582-E04F8A7A2495}" destId="{FFE42FB5-1618-4650-B8D1-3F4094546AE4}" srcOrd="1" destOrd="0" presId="urn:microsoft.com/office/officeart/2011/layout/CircleProcess"/>
    <dgm:cxn modelId="{B5D90AA4-21C3-4438-AE1C-0BE8775FFE68}" srcId="{B7799885-90EC-448B-A5E6-EF402A2B4455}" destId="{4C8FD9CC-C9E1-4C2A-9A24-DEFDBAD349EF}" srcOrd="3" destOrd="0" parTransId="{9011253C-D600-4247-AFB3-5C07F854DEC4}" sibTransId="{D6182908-C37E-44FB-B4E3-CCAB86FB606F}"/>
    <dgm:cxn modelId="{704D9B28-899A-4C34-A411-CA4A5BC3249B}" type="presParOf" srcId="{EA46A26D-FC15-4FBA-AD8D-B2C03D9EC9F4}" destId="{56264BB1-ED82-4F90-8CF3-175F1AE56A5D}" srcOrd="0" destOrd="0" presId="urn:microsoft.com/office/officeart/2011/layout/CircleProcess"/>
    <dgm:cxn modelId="{F0D6A209-CB65-41C9-ABEE-28C0C28EECA9}" type="presParOf" srcId="{56264BB1-ED82-4F90-8CF3-175F1AE56A5D}" destId="{F5BF9BC4-6BAB-4577-A90C-A74021483097}" srcOrd="0" destOrd="0" presId="urn:microsoft.com/office/officeart/2011/layout/CircleProcess"/>
    <dgm:cxn modelId="{915F44A9-6471-498D-820E-F96674CAC7EF}" type="presParOf" srcId="{EA46A26D-FC15-4FBA-AD8D-B2C03D9EC9F4}" destId="{A29D1413-6E39-4052-B462-E74493969C80}" srcOrd="1" destOrd="0" presId="urn:microsoft.com/office/officeart/2011/layout/CircleProcess"/>
    <dgm:cxn modelId="{CF356DC1-C30D-4611-9190-89E9C74C61F6}" type="presParOf" srcId="{A29D1413-6E39-4052-B462-E74493969C80}" destId="{1BCF17FA-19B1-4BE6-9799-112FC038D689}" srcOrd="0" destOrd="0" presId="urn:microsoft.com/office/officeart/2011/layout/CircleProcess"/>
    <dgm:cxn modelId="{ECAC81EC-3C60-4E4F-A495-F0DCD8FA53DB}" type="presParOf" srcId="{EA46A26D-FC15-4FBA-AD8D-B2C03D9EC9F4}" destId="{FFE42FB5-1618-4650-B8D1-3F4094546AE4}" srcOrd="2" destOrd="0" presId="urn:microsoft.com/office/officeart/2011/layout/CircleProcess"/>
    <dgm:cxn modelId="{DEA621DB-CAF7-49C7-8F96-8B7B43D4C71D}" type="presParOf" srcId="{EA46A26D-FC15-4FBA-AD8D-B2C03D9EC9F4}" destId="{ECD8EA84-F14D-4CDF-826C-624781F29B78}" srcOrd="3" destOrd="0" presId="urn:microsoft.com/office/officeart/2011/layout/CircleProcess"/>
    <dgm:cxn modelId="{C292402D-28D9-49C8-9C79-8F1854B868C6}" type="presParOf" srcId="{ECD8EA84-F14D-4CDF-826C-624781F29B78}" destId="{912B6635-5F98-4686-858B-65F2692317D9}" srcOrd="0" destOrd="0" presId="urn:microsoft.com/office/officeart/2011/layout/CircleProcess"/>
    <dgm:cxn modelId="{53923695-51E7-4BBC-8A6C-822B368497C4}" type="presParOf" srcId="{EA46A26D-FC15-4FBA-AD8D-B2C03D9EC9F4}" destId="{4D898C36-F6D8-473C-A22B-581ABB0C809A}" srcOrd="4" destOrd="0" presId="urn:microsoft.com/office/officeart/2011/layout/CircleProcess"/>
    <dgm:cxn modelId="{EDF2716E-A1E8-4802-A596-017CBF6261EA}" type="presParOf" srcId="{4D898C36-F6D8-473C-A22B-581ABB0C809A}" destId="{C42AEE01-8096-42F3-A396-A4FC48EADBB4}" srcOrd="0" destOrd="0" presId="urn:microsoft.com/office/officeart/2011/layout/CircleProcess"/>
    <dgm:cxn modelId="{BEFC4137-11C2-46B3-A7BB-F158B9156571}" type="presParOf" srcId="{EA46A26D-FC15-4FBA-AD8D-B2C03D9EC9F4}" destId="{43E09396-D415-4C1D-8646-ED9BDE6564B3}" srcOrd="5" destOrd="0" presId="urn:microsoft.com/office/officeart/2011/layout/CircleProcess"/>
    <dgm:cxn modelId="{B0E94C97-C304-463D-A7BC-BB25F2373CA3}" type="presParOf" srcId="{EA46A26D-FC15-4FBA-AD8D-B2C03D9EC9F4}" destId="{1F597770-BCF3-400A-8F1B-F352A56C3964}" srcOrd="6" destOrd="0" presId="urn:microsoft.com/office/officeart/2011/layout/CircleProcess"/>
    <dgm:cxn modelId="{32890799-9D90-44C9-9B3B-B422D8C853F2}" type="presParOf" srcId="{1F597770-BCF3-400A-8F1B-F352A56C3964}" destId="{F3345FD4-D68E-4CC4-8A5E-DB56D2182E02}" srcOrd="0" destOrd="0" presId="urn:microsoft.com/office/officeart/2011/layout/CircleProcess"/>
    <dgm:cxn modelId="{99B48C6B-1838-4750-85EF-CF93D586AF03}" type="presParOf" srcId="{EA46A26D-FC15-4FBA-AD8D-B2C03D9EC9F4}" destId="{B85AFE10-4879-4EA2-A6CE-4AEE0BE79A46}" srcOrd="7" destOrd="0" presId="urn:microsoft.com/office/officeart/2011/layout/CircleProcess"/>
    <dgm:cxn modelId="{925FD409-1FA0-46AB-A528-991169A56BBF}" type="presParOf" srcId="{B85AFE10-4879-4EA2-A6CE-4AEE0BE79A46}" destId="{39E53DC8-941D-4DDE-AAD9-FCAFD3EC4023}" srcOrd="0" destOrd="0" presId="urn:microsoft.com/office/officeart/2011/layout/CircleProcess"/>
    <dgm:cxn modelId="{04677058-F6AE-4E66-82CC-2B8B28DA75ED}" type="presParOf" srcId="{EA46A26D-FC15-4FBA-AD8D-B2C03D9EC9F4}" destId="{1F3219CD-F50B-4754-8F7D-0EDB92C55F23}" srcOrd="8" destOrd="0" presId="urn:microsoft.com/office/officeart/2011/layout/CircleProcess"/>
    <dgm:cxn modelId="{4ED53A24-1B01-4A72-B9E4-D76963A6590C}" type="presParOf" srcId="{EA46A26D-FC15-4FBA-AD8D-B2C03D9EC9F4}" destId="{FCA03842-9E67-4199-A565-26AADC44A5ED}" srcOrd="9" destOrd="0" presId="urn:microsoft.com/office/officeart/2011/layout/CircleProcess"/>
    <dgm:cxn modelId="{1CEE687B-2A2F-45A1-96A8-C0CBE11C5CB6}" type="presParOf" srcId="{FCA03842-9E67-4199-A565-26AADC44A5ED}" destId="{89DFBE28-7300-41D6-AB92-AC502E6D90FC}" srcOrd="0" destOrd="0" presId="urn:microsoft.com/office/officeart/2011/layout/CircleProcess"/>
    <dgm:cxn modelId="{9CEE7D86-D9FF-4FCD-A06B-EAB148D3461E}" type="presParOf" srcId="{EA46A26D-FC15-4FBA-AD8D-B2C03D9EC9F4}" destId="{F7CC27F8-2EE0-4532-9BCE-86986465764E}" srcOrd="10" destOrd="0" presId="urn:microsoft.com/office/officeart/2011/layout/CircleProcess"/>
    <dgm:cxn modelId="{E9076B69-AF3D-439F-ABE7-2AA37DEC0F1A}" type="presParOf" srcId="{F7CC27F8-2EE0-4532-9BCE-86986465764E}" destId="{776D4B27-0EF4-4AD6-A9B5-748DCDFB24D0}" srcOrd="0" destOrd="0" presId="urn:microsoft.com/office/officeart/2011/layout/CircleProcess"/>
    <dgm:cxn modelId="{7E751E4F-3700-4A63-BA8B-94CFC8B3878C}" type="presParOf" srcId="{EA46A26D-FC15-4FBA-AD8D-B2C03D9EC9F4}" destId="{E45A6CF2-9276-4B3D-BAA0-379B52AAB91D}" srcOrd="11" destOrd="0" presId="urn:microsoft.com/office/officeart/2011/layout/CircleProcess"/>
    <dgm:cxn modelId="{D0570CAA-60EA-4F04-A9C7-2C479F87F7B7}" type="presParOf" srcId="{EA46A26D-FC15-4FBA-AD8D-B2C03D9EC9F4}" destId="{84E45637-F4F6-4BEA-8D04-9DB0837747EE}" srcOrd="12" destOrd="0" presId="urn:microsoft.com/office/officeart/2011/layout/CircleProcess"/>
    <dgm:cxn modelId="{FE2C659F-0CE1-47D9-BECC-3B08ACF639BB}" type="presParOf" srcId="{84E45637-F4F6-4BEA-8D04-9DB0837747EE}" destId="{5A182BD6-932E-4A6A-A774-6DAEB079B70F}" srcOrd="0" destOrd="0" presId="urn:microsoft.com/office/officeart/2011/layout/CircleProcess"/>
    <dgm:cxn modelId="{7601C8A7-578F-4EF6-ABF1-2B94753A2037}" type="presParOf" srcId="{EA46A26D-FC15-4FBA-AD8D-B2C03D9EC9F4}" destId="{68F1AD57-99A8-4DED-9A92-8F8F21DBE104}" srcOrd="13" destOrd="0" presId="urn:microsoft.com/office/officeart/2011/layout/CircleProcess"/>
    <dgm:cxn modelId="{0848A2C4-B94E-484F-85CF-84CD4F183C2D}" type="presParOf" srcId="{68F1AD57-99A8-4DED-9A92-8F8F21DBE104}" destId="{22BAC551-0C08-45D2-9FCA-06BA1703163F}" srcOrd="0" destOrd="0" presId="urn:microsoft.com/office/officeart/2011/layout/CircleProcess"/>
    <dgm:cxn modelId="{E7D65495-4CDD-4E16-A1C7-DB3BDE0F2FFA}" type="presParOf" srcId="{EA46A26D-FC15-4FBA-AD8D-B2C03D9EC9F4}" destId="{717D1FF3-F88B-4432-AD35-88675A8D81D6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7799885-90EC-448B-A5E6-EF402A2B4455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B533C0-8C15-4C19-BD96-9D21D3988BD5}">
      <dgm:prSet phldrT="[Text]" custT="1"/>
      <dgm:spPr>
        <a:solidFill>
          <a:schemeClr val="bg1">
            <a:lumMod val="85000"/>
            <a:alpha val="89804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Invoice Receipt/ Verification</a:t>
          </a:r>
          <a:endParaRPr lang="en-US" sz="500" dirty="0">
            <a:latin typeface="+mn-lt"/>
          </a:endParaRPr>
        </a:p>
      </dgm:t>
    </dgm:pt>
    <dgm:pt modelId="{DF88C67E-A8C4-4033-8E86-B3F3B9095760}" type="parTrans" cxnId="{3A8C18B6-1BE6-4E6B-98B6-0CC4E5625D18}">
      <dgm:prSet/>
      <dgm:spPr/>
      <dgm:t>
        <a:bodyPr/>
        <a:lstStyle/>
        <a:p>
          <a:endParaRPr lang="en-US"/>
        </a:p>
      </dgm:t>
    </dgm:pt>
    <dgm:pt modelId="{C605212A-447D-44E7-82CE-D04C08348439}" type="sibTrans" cxnId="{3A8C18B6-1BE6-4E6B-98B6-0CC4E5625D18}">
      <dgm:prSet/>
      <dgm:spPr/>
      <dgm:t>
        <a:bodyPr/>
        <a:lstStyle/>
        <a:p>
          <a:endParaRPr lang="en-US"/>
        </a:p>
      </dgm:t>
    </dgm:pt>
    <dgm:pt modelId="{909A296E-D754-48F8-860D-6EE69996442F}">
      <dgm:prSet phldrT="[Text]" custT="1"/>
      <dgm:spPr>
        <a:solidFill>
          <a:srgbClr val="F4DCDC">
            <a:alpha val="89804"/>
          </a:srgbClr>
        </a:solidFill>
        <a:ln w="12700">
          <a:solidFill>
            <a:srgbClr val="002D73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Release Payment</a:t>
          </a:r>
          <a:endParaRPr lang="en-US" sz="500" dirty="0">
            <a:latin typeface="+mn-lt"/>
          </a:endParaRPr>
        </a:p>
      </dgm:t>
    </dgm:pt>
    <dgm:pt modelId="{D31AABF4-3ACD-432D-B0F9-388309FE970F}" type="parTrans" cxnId="{B95D2A61-3C7F-4F30-BE7D-79B0196E9DDF}">
      <dgm:prSet/>
      <dgm:spPr/>
      <dgm:t>
        <a:bodyPr/>
        <a:lstStyle/>
        <a:p>
          <a:endParaRPr lang="en-US"/>
        </a:p>
      </dgm:t>
    </dgm:pt>
    <dgm:pt modelId="{143C2BE0-AC6B-4C22-A020-96F5B9FC1043}" type="sibTrans" cxnId="{B95D2A61-3C7F-4F30-BE7D-79B0196E9DDF}">
      <dgm:prSet/>
      <dgm:spPr/>
      <dgm:t>
        <a:bodyPr/>
        <a:lstStyle/>
        <a:p>
          <a:endParaRPr lang="en-US"/>
        </a:p>
      </dgm:t>
    </dgm:pt>
    <dgm:pt modelId="{4C8FD9CC-C9E1-4C2A-9A24-DEFDBAD349EF}">
      <dgm:prSet phldrT="[Text]" custT="1"/>
      <dgm:spPr>
        <a:solidFill>
          <a:schemeClr val="accent2">
            <a:lumMod val="75000"/>
            <a:alpha val="89804"/>
          </a:schemeClr>
        </a:solidFill>
        <a:ln>
          <a:solidFill>
            <a:srgbClr val="002D73"/>
          </a:solidFill>
        </a:ln>
      </dgm:spPr>
      <dgm:t>
        <a:bodyPr/>
        <a:lstStyle/>
        <a:p>
          <a:r>
            <a:rPr lang="en-US" sz="500" b="0" dirty="0" smtClean="0">
              <a:solidFill>
                <a:schemeClr val="bg1"/>
              </a:solidFill>
            </a:rPr>
            <a:t>Reconciliation</a:t>
          </a:r>
          <a:endParaRPr lang="en-US" sz="500" b="0" dirty="0">
            <a:solidFill>
              <a:schemeClr val="bg1"/>
            </a:solidFill>
            <a:latin typeface="+mn-lt"/>
          </a:endParaRPr>
        </a:p>
      </dgm:t>
    </dgm:pt>
    <dgm:pt modelId="{9011253C-D600-4247-AFB3-5C07F854DEC4}" type="parTrans" cxnId="{B5D90AA4-21C3-4438-AE1C-0BE8775FFE68}">
      <dgm:prSet/>
      <dgm:spPr/>
      <dgm:t>
        <a:bodyPr/>
        <a:lstStyle/>
        <a:p>
          <a:endParaRPr lang="en-US"/>
        </a:p>
      </dgm:t>
    </dgm:pt>
    <dgm:pt modelId="{D6182908-C37E-44FB-B4E3-CCAB86FB606F}" type="sibTrans" cxnId="{B5D90AA4-21C3-4438-AE1C-0BE8775FFE68}">
      <dgm:prSet/>
      <dgm:spPr/>
      <dgm:t>
        <a:bodyPr/>
        <a:lstStyle/>
        <a:p>
          <a:endParaRPr lang="en-US"/>
        </a:p>
      </dgm:t>
    </dgm:pt>
    <dgm:pt modelId="{0DFA0304-874C-4A65-B995-CBD988A4EA1D}">
      <dgm:prSet phldrT="[Text]" custT="1"/>
      <dgm:spPr>
        <a:solidFill>
          <a:srgbClr val="FF0000"/>
        </a:solidFill>
        <a:ln w="12700">
          <a:solidFill>
            <a:srgbClr val="002D73"/>
          </a:solidFill>
        </a:ln>
      </dgm:spPr>
      <dgm:t>
        <a:bodyPr/>
        <a:lstStyle/>
        <a:p>
          <a:r>
            <a:rPr lang="en-US" sz="500" dirty="0" smtClean="0">
              <a:solidFill>
                <a:schemeClr val="bg1"/>
              </a:solidFill>
              <a:latin typeface="+mn-lt"/>
            </a:rPr>
            <a:t>Make Payment</a:t>
          </a:r>
          <a:endParaRPr lang="en-US" sz="500" dirty="0">
            <a:solidFill>
              <a:schemeClr val="bg1"/>
            </a:solidFill>
            <a:latin typeface="+mn-lt"/>
          </a:endParaRPr>
        </a:p>
      </dgm:t>
    </dgm:pt>
    <dgm:pt modelId="{C1E6120F-647F-458C-AF8E-55F23B80F52F}" type="parTrans" cxnId="{571972C6-CAAF-4EEC-A9D6-318CE2ADBDD3}">
      <dgm:prSet/>
      <dgm:spPr/>
      <dgm:t>
        <a:bodyPr/>
        <a:lstStyle/>
        <a:p>
          <a:endParaRPr lang="en-US"/>
        </a:p>
      </dgm:t>
    </dgm:pt>
    <dgm:pt modelId="{32EF71EF-5D86-43FB-941B-865CC03A6A0C}" type="sibTrans" cxnId="{571972C6-CAAF-4EEC-A9D6-318CE2ADBDD3}">
      <dgm:prSet/>
      <dgm:spPr/>
      <dgm:t>
        <a:bodyPr/>
        <a:lstStyle/>
        <a:p>
          <a:endParaRPr lang="en-US"/>
        </a:p>
      </dgm:t>
    </dgm:pt>
    <dgm:pt modelId="{B0FCABA2-AA67-4284-A582-E04F8A7A2495}">
      <dgm:prSet phldrT="[Text]" custT="1"/>
      <dgm:spPr>
        <a:solidFill>
          <a:schemeClr val="bg1">
            <a:lumMod val="85000"/>
            <a:alpha val="89804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Reporting</a:t>
          </a:r>
          <a:endParaRPr lang="en-US" sz="500" dirty="0">
            <a:latin typeface="+mn-lt"/>
          </a:endParaRPr>
        </a:p>
      </dgm:t>
    </dgm:pt>
    <dgm:pt modelId="{51E3E0F4-ED85-46AE-A477-C63A2EB51350}" type="parTrans" cxnId="{DFA8449F-2ABD-4AF7-91E5-03A127D982F6}">
      <dgm:prSet/>
      <dgm:spPr/>
      <dgm:t>
        <a:bodyPr/>
        <a:lstStyle/>
        <a:p>
          <a:endParaRPr lang="en-US"/>
        </a:p>
      </dgm:t>
    </dgm:pt>
    <dgm:pt modelId="{BE5DE984-1E8D-4ACE-BA8B-7DB8EAB88D02}" type="sibTrans" cxnId="{DFA8449F-2ABD-4AF7-91E5-03A127D982F6}">
      <dgm:prSet/>
      <dgm:spPr/>
      <dgm:t>
        <a:bodyPr/>
        <a:lstStyle/>
        <a:p>
          <a:endParaRPr lang="en-US"/>
        </a:p>
      </dgm:t>
    </dgm:pt>
    <dgm:pt modelId="{EA46A26D-FC15-4FBA-AD8D-B2C03D9EC9F4}" type="pres">
      <dgm:prSet presAssocID="{B7799885-90EC-448B-A5E6-EF402A2B4455}" presName="Name0" presStyleCnt="0">
        <dgm:presLayoutVars>
          <dgm:chMax val="11"/>
          <dgm:chPref val="11"/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56264BB1-ED82-4F90-8CF3-175F1AE56A5D}" type="pres">
      <dgm:prSet presAssocID="{B0FCABA2-AA67-4284-A582-E04F8A7A2495}" presName="Accent5" presStyleCnt="0"/>
      <dgm:spPr/>
    </dgm:pt>
    <dgm:pt modelId="{F5BF9BC4-6BAB-4577-A90C-A74021483097}" type="pres">
      <dgm:prSet presAssocID="{B0FCABA2-AA67-4284-A582-E04F8A7A2495}" presName="Accent" presStyleLbl="node1" presStyleIdx="0" presStyleCnt="5"/>
      <dgm:spPr/>
    </dgm:pt>
    <dgm:pt modelId="{A29D1413-6E39-4052-B462-E74493969C80}" type="pres">
      <dgm:prSet presAssocID="{B0FCABA2-AA67-4284-A582-E04F8A7A2495}" presName="ParentBackground5" presStyleCnt="0"/>
      <dgm:spPr/>
    </dgm:pt>
    <dgm:pt modelId="{1BCF17FA-19B1-4BE6-9799-112FC038D689}" type="pres">
      <dgm:prSet presAssocID="{B0FCABA2-AA67-4284-A582-E04F8A7A2495}" presName="ParentBackground" presStyleLbl="fgAcc1" presStyleIdx="0" presStyleCnt="5"/>
      <dgm:spPr/>
      <dgm:t>
        <a:bodyPr/>
        <a:lstStyle/>
        <a:p>
          <a:endParaRPr lang="en-US"/>
        </a:p>
      </dgm:t>
    </dgm:pt>
    <dgm:pt modelId="{FFE42FB5-1618-4650-B8D1-3F4094546AE4}" type="pres">
      <dgm:prSet presAssocID="{B0FCABA2-AA67-4284-A582-E04F8A7A2495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D8EA84-F14D-4CDF-826C-624781F29B78}" type="pres">
      <dgm:prSet presAssocID="{4C8FD9CC-C9E1-4C2A-9A24-DEFDBAD349EF}" presName="Accent4" presStyleCnt="0"/>
      <dgm:spPr/>
    </dgm:pt>
    <dgm:pt modelId="{912B6635-5F98-4686-858B-65F2692317D9}" type="pres">
      <dgm:prSet presAssocID="{4C8FD9CC-C9E1-4C2A-9A24-DEFDBAD349EF}" presName="Accent" presStyleLbl="node1" presStyleIdx="1" presStyleCnt="5"/>
      <dgm:spPr>
        <a:noFill/>
        <a:ln w="28575">
          <a:solidFill>
            <a:schemeClr val="tx1"/>
          </a:solidFill>
        </a:ln>
      </dgm:spPr>
    </dgm:pt>
    <dgm:pt modelId="{4D898C36-F6D8-473C-A22B-581ABB0C809A}" type="pres">
      <dgm:prSet presAssocID="{4C8FD9CC-C9E1-4C2A-9A24-DEFDBAD349EF}" presName="ParentBackground4" presStyleCnt="0"/>
      <dgm:spPr/>
    </dgm:pt>
    <dgm:pt modelId="{C42AEE01-8096-42F3-A396-A4FC48EADBB4}" type="pres">
      <dgm:prSet presAssocID="{4C8FD9CC-C9E1-4C2A-9A24-DEFDBAD349EF}" presName="ParentBackground" presStyleLbl="fgAcc1" presStyleIdx="1" presStyleCnt="5" custScaleX="115087" custLinFactNeighborX="2514"/>
      <dgm:spPr/>
      <dgm:t>
        <a:bodyPr/>
        <a:lstStyle/>
        <a:p>
          <a:endParaRPr lang="en-US"/>
        </a:p>
      </dgm:t>
    </dgm:pt>
    <dgm:pt modelId="{43E09396-D415-4C1D-8646-ED9BDE6564B3}" type="pres">
      <dgm:prSet presAssocID="{4C8FD9CC-C9E1-4C2A-9A24-DEFDBAD349EF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597770-BCF3-400A-8F1B-F352A56C3964}" type="pres">
      <dgm:prSet presAssocID="{0DFA0304-874C-4A65-B995-CBD988A4EA1D}" presName="Accent3" presStyleCnt="0"/>
      <dgm:spPr/>
    </dgm:pt>
    <dgm:pt modelId="{F3345FD4-D68E-4CC4-8A5E-DB56D2182E02}" type="pres">
      <dgm:prSet presAssocID="{0DFA0304-874C-4A65-B995-CBD988A4EA1D}" presName="Accent" presStyleLbl="node1" presStyleIdx="2" presStyleCnt="5" custLinFactNeighborX="-1658"/>
      <dgm:spPr>
        <a:noFill/>
        <a:ln>
          <a:solidFill>
            <a:schemeClr val="tx1"/>
          </a:solidFill>
        </a:ln>
      </dgm:spPr>
    </dgm:pt>
    <dgm:pt modelId="{B85AFE10-4879-4EA2-A6CE-4AEE0BE79A46}" type="pres">
      <dgm:prSet presAssocID="{0DFA0304-874C-4A65-B995-CBD988A4EA1D}" presName="ParentBackground3" presStyleCnt="0"/>
      <dgm:spPr/>
    </dgm:pt>
    <dgm:pt modelId="{39E53DC8-941D-4DDE-AAD9-FCAFD3EC4023}" type="pres">
      <dgm:prSet presAssocID="{0DFA0304-874C-4A65-B995-CBD988A4EA1D}" presName="ParentBackground" presStyleLbl="fgAcc1" presStyleIdx="2" presStyleCnt="5"/>
      <dgm:spPr/>
      <dgm:t>
        <a:bodyPr/>
        <a:lstStyle/>
        <a:p>
          <a:endParaRPr lang="en-US"/>
        </a:p>
      </dgm:t>
    </dgm:pt>
    <dgm:pt modelId="{1F3219CD-F50B-4754-8F7D-0EDB92C55F23}" type="pres">
      <dgm:prSet presAssocID="{0DFA0304-874C-4A65-B995-CBD988A4EA1D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A03842-9E67-4199-A565-26AADC44A5ED}" type="pres">
      <dgm:prSet presAssocID="{909A296E-D754-48F8-860D-6EE69996442F}" presName="Accent2" presStyleCnt="0"/>
      <dgm:spPr/>
    </dgm:pt>
    <dgm:pt modelId="{89DFBE28-7300-41D6-AB92-AC502E6D90FC}" type="pres">
      <dgm:prSet presAssocID="{909A296E-D754-48F8-860D-6EE69996442F}" presName="Accent" presStyleLbl="node1" presStyleIdx="3" presStyleCnt="5"/>
      <dgm:spPr>
        <a:noFill/>
        <a:ln w="28575">
          <a:solidFill>
            <a:schemeClr val="tx1"/>
          </a:solidFill>
        </a:ln>
      </dgm:spPr>
    </dgm:pt>
    <dgm:pt modelId="{F7CC27F8-2EE0-4532-9BCE-86986465764E}" type="pres">
      <dgm:prSet presAssocID="{909A296E-D754-48F8-860D-6EE69996442F}" presName="ParentBackground2" presStyleCnt="0"/>
      <dgm:spPr/>
    </dgm:pt>
    <dgm:pt modelId="{776D4B27-0EF4-4AD6-A9B5-748DCDFB24D0}" type="pres">
      <dgm:prSet presAssocID="{909A296E-D754-48F8-860D-6EE69996442F}" presName="ParentBackground" presStyleLbl="fgAcc1" presStyleIdx="3" presStyleCnt="5"/>
      <dgm:spPr/>
      <dgm:t>
        <a:bodyPr/>
        <a:lstStyle/>
        <a:p>
          <a:endParaRPr lang="en-US"/>
        </a:p>
      </dgm:t>
    </dgm:pt>
    <dgm:pt modelId="{E45A6CF2-9276-4B3D-BAA0-379B52AAB91D}" type="pres">
      <dgm:prSet presAssocID="{909A296E-D754-48F8-860D-6EE69996442F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E45637-F4F6-4BEA-8D04-9DB0837747EE}" type="pres">
      <dgm:prSet presAssocID="{73B533C0-8C15-4C19-BD96-9D21D3988BD5}" presName="Accent1" presStyleCnt="0"/>
      <dgm:spPr/>
    </dgm:pt>
    <dgm:pt modelId="{5A182BD6-932E-4A6A-A774-6DAEB079B70F}" type="pres">
      <dgm:prSet presAssocID="{73B533C0-8C15-4C19-BD96-9D21D3988BD5}" presName="Accent" presStyleLbl="node1" presStyleIdx="4" presStyleCnt="5"/>
      <dgm:spPr>
        <a:noFill/>
        <a:ln>
          <a:solidFill>
            <a:schemeClr val="tx1"/>
          </a:solidFill>
        </a:ln>
      </dgm:spPr>
    </dgm:pt>
    <dgm:pt modelId="{68F1AD57-99A8-4DED-9A92-8F8F21DBE104}" type="pres">
      <dgm:prSet presAssocID="{73B533C0-8C15-4C19-BD96-9D21D3988BD5}" presName="ParentBackground1" presStyleCnt="0"/>
      <dgm:spPr/>
    </dgm:pt>
    <dgm:pt modelId="{22BAC551-0C08-45D2-9FCA-06BA1703163F}" type="pres">
      <dgm:prSet presAssocID="{73B533C0-8C15-4C19-BD96-9D21D3988BD5}" presName="ParentBackground" presStyleLbl="fgAcc1" presStyleIdx="4" presStyleCnt="5"/>
      <dgm:spPr/>
      <dgm:t>
        <a:bodyPr/>
        <a:lstStyle/>
        <a:p>
          <a:endParaRPr lang="en-US"/>
        </a:p>
      </dgm:t>
    </dgm:pt>
    <dgm:pt modelId="{717D1FF3-F88B-4432-AD35-88675A8D81D6}" type="pres">
      <dgm:prSet presAssocID="{73B533C0-8C15-4C19-BD96-9D21D3988BD5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D7E17F3-CC39-4DEB-A7C0-DEE899CAC1F1}" type="presOf" srcId="{4C8FD9CC-C9E1-4C2A-9A24-DEFDBAD349EF}" destId="{C42AEE01-8096-42F3-A396-A4FC48EADBB4}" srcOrd="0" destOrd="0" presId="urn:microsoft.com/office/officeart/2011/layout/CircleProcess"/>
    <dgm:cxn modelId="{3FC13C44-0D49-40A6-9AB6-372D670A839A}" type="presOf" srcId="{0DFA0304-874C-4A65-B995-CBD988A4EA1D}" destId="{39E53DC8-941D-4DDE-AAD9-FCAFD3EC4023}" srcOrd="0" destOrd="0" presId="urn:microsoft.com/office/officeart/2011/layout/CircleProcess"/>
    <dgm:cxn modelId="{C29D29C0-CF88-476C-96B0-C5AB1A754610}" type="presOf" srcId="{4C8FD9CC-C9E1-4C2A-9A24-DEFDBAD349EF}" destId="{43E09396-D415-4C1D-8646-ED9BDE6564B3}" srcOrd="1" destOrd="0" presId="urn:microsoft.com/office/officeart/2011/layout/CircleProcess"/>
    <dgm:cxn modelId="{3A8C18B6-1BE6-4E6B-98B6-0CC4E5625D18}" srcId="{B7799885-90EC-448B-A5E6-EF402A2B4455}" destId="{73B533C0-8C15-4C19-BD96-9D21D3988BD5}" srcOrd="0" destOrd="0" parTransId="{DF88C67E-A8C4-4033-8E86-B3F3B9095760}" sibTransId="{C605212A-447D-44E7-82CE-D04C08348439}"/>
    <dgm:cxn modelId="{93314DF7-CE8B-494B-A47E-DCE53056899F}" type="presOf" srcId="{909A296E-D754-48F8-860D-6EE69996442F}" destId="{776D4B27-0EF4-4AD6-A9B5-748DCDFB24D0}" srcOrd="0" destOrd="0" presId="urn:microsoft.com/office/officeart/2011/layout/CircleProcess"/>
    <dgm:cxn modelId="{571972C6-CAAF-4EEC-A9D6-318CE2ADBDD3}" srcId="{B7799885-90EC-448B-A5E6-EF402A2B4455}" destId="{0DFA0304-874C-4A65-B995-CBD988A4EA1D}" srcOrd="2" destOrd="0" parTransId="{C1E6120F-647F-458C-AF8E-55F23B80F52F}" sibTransId="{32EF71EF-5D86-43FB-941B-865CC03A6A0C}"/>
    <dgm:cxn modelId="{B95D2A61-3C7F-4F30-BE7D-79B0196E9DDF}" srcId="{B7799885-90EC-448B-A5E6-EF402A2B4455}" destId="{909A296E-D754-48F8-860D-6EE69996442F}" srcOrd="1" destOrd="0" parTransId="{D31AABF4-3ACD-432D-B0F9-388309FE970F}" sibTransId="{143C2BE0-AC6B-4C22-A020-96F5B9FC1043}"/>
    <dgm:cxn modelId="{C5BBAF29-CD59-4F40-B70D-C86D244E3B94}" type="presOf" srcId="{B0FCABA2-AA67-4284-A582-E04F8A7A2495}" destId="{1BCF17FA-19B1-4BE6-9799-112FC038D689}" srcOrd="0" destOrd="0" presId="urn:microsoft.com/office/officeart/2011/layout/CircleProcess"/>
    <dgm:cxn modelId="{E34EE762-D0A8-4807-890C-B4CE6257B002}" type="presOf" srcId="{909A296E-D754-48F8-860D-6EE69996442F}" destId="{E45A6CF2-9276-4B3D-BAA0-379B52AAB91D}" srcOrd="1" destOrd="0" presId="urn:microsoft.com/office/officeart/2011/layout/CircleProcess"/>
    <dgm:cxn modelId="{529E5301-823E-4D8F-838C-295FC016A56D}" type="presOf" srcId="{73B533C0-8C15-4C19-BD96-9D21D3988BD5}" destId="{22BAC551-0C08-45D2-9FCA-06BA1703163F}" srcOrd="0" destOrd="0" presId="urn:microsoft.com/office/officeart/2011/layout/CircleProcess"/>
    <dgm:cxn modelId="{04A5BC76-F42A-4CBC-A9EC-259D936C44B7}" type="presOf" srcId="{B7799885-90EC-448B-A5E6-EF402A2B4455}" destId="{EA46A26D-FC15-4FBA-AD8D-B2C03D9EC9F4}" srcOrd="0" destOrd="0" presId="urn:microsoft.com/office/officeart/2011/layout/CircleProcess"/>
    <dgm:cxn modelId="{DFA8449F-2ABD-4AF7-91E5-03A127D982F6}" srcId="{B7799885-90EC-448B-A5E6-EF402A2B4455}" destId="{B0FCABA2-AA67-4284-A582-E04F8A7A2495}" srcOrd="4" destOrd="0" parTransId="{51E3E0F4-ED85-46AE-A477-C63A2EB51350}" sibTransId="{BE5DE984-1E8D-4ACE-BA8B-7DB8EAB88D02}"/>
    <dgm:cxn modelId="{87E64112-439C-45AF-A8E0-2856D51901C2}" type="presOf" srcId="{73B533C0-8C15-4C19-BD96-9D21D3988BD5}" destId="{717D1FF3-F88B-4432-AD35-88675A8D81D6}" srcOrd="1" destOrd="0" presId="urn:microsoft.com/office/officeart/2011/layout/CircleProcess"/>
    <dgm:cxn modelId="{F2F28B1C-3745-4E1B-9640-D12EED0379C2}" type="presOf" srcId="{0DFA0304-874C-4A65-B995-CBD988A4EA1D}" destId="{1F3219CD-F50B-4754-8F7D-0EDB92C55F23}" srcOrd="1" destOrd="0" presId="urn:microsoft.com/office/officeart/2011/layout/CircleProcess"/>
    <dgm:cxn modelId="{BADF13F1-9E51-4BDF-920B-FEBAE49A8E7E}" type="presOf" srcId="{B0FCABA2-AA67-4284-A582-E04F8A7A2495}" destId="{FFE42FB5-1618-4650-B8D1-3F4094546AE4}" srcOrd="1" destOrd="0" presId="urn:microsoft.com/office/officeart/2011/layout/CircleProcess"/>
    <dgm:cxn modelId="{B5D90AA4-21C3-4438-AE1C-0BE8775FFE68}" srcId="{B7799885-90EC-448B-A5E6-EF402A2B4455}" destId="{4C8FD9CC-C9E1-4C2A-9A24-DEFDBAD349EF}" srcOrd="3" destOrd="0" parTransId="{9011253C-D600-4247-AFB3-5C07F854DEC4}" sibTransId="{D6182908-C37E-44FB-B4E3-CCAB86FB606F}"/>
    <dgm:cxn modelId="{704D9B28-899A-4C34-A411-CA4A5BC3249B}" type="presParOf" srcId="{EA46A26D-FC15-4FBA-AD8D-B2C03D9EC9F4}" destId="{56264BB1-ED82-4F90-8CF3-175F1AE56A5D}" srcOrd="0" destOrd="0" presId="urn:microsoft.com/office/officeart/2011/layout/CircleProcess"/>
    <dgm:cxn modelId="{F0D6A209-CB65-41C9-ABEE-28C0C28EECA9}" type="presParOf" srcId="{56264BB1-ED82-4F90-8CF3-175F1AE56A5D}" destId="{F5BF9BC4-6BAB-4577-A90C-A74021483097}" srcOrd="0" destOrd="0" presId="urn:microsoft.com/office/officeart/2011/layout/CircleProcess"/>
    <dgm:cxn modelId="{915F44A9-6471-498D-820E-F96674CAC7EF}" type="presParOf" srcId="{EA46A26D-FC15-4FBA-AD8D-B2C03D9EC9F4}" destId="{A29D1413-6E39-4052-B462-E74493969C80}" srcOrd="1" destOrd="0" presId="urn:microsoft.com/office/officeart/2011/layout/CircleProcess"/>
    <dgm:cxn modelId="{CF356DC1-C30D-4611-9190-89E9C74C61F6}" type="presParOf" srcId="{A29D1413-6E39-4052-B462-E74493969C80}" destId="{1BCF17FA-19B1-4BE6-9799-112FC038D689}" srcOrd="0" destOrd="0" presId="urn:microsoft.com/office/officeart/2011/layout/CircleProcess"/>
    <dgm:cxn modelId="{ECAC81EC-3C60-4E4F-A495-F0DCD8FA53DB}" type="presParOf" srcId="{EA46A26D-FC15-4FBA-AD8D-B2C03D9EC9F4}" destId="{FFE42FB5-1618-4650-B8D1-3F4094546AE4}" srcOrd="2" destOrd="0" presId="urn:microsoft.com/office/officeart/2011/layout/CircleProcess"/>
    <dgm:cxn modelId="{DEA621DB-CAF7-49C7-8F96-8B7B43D4C71D}" type="presParOf" srcId="{EA46A26D-FC15-4FBA-AD8D-B2C03D9EC9F4}" destId="{ECD8EA84-F14D-4CDF-826C-624781F29B78}" srcOrd="3" destOrd="0" presId="urn:microsoft.com/office/officeart/2011/layout/CircleProcess"/>
    <dgm:cxn modelId="{C292402D-28D9-49C8-9C79-8F1854B868C6}" type="presParOf" srcId="{ECD8EA84-F14D-4CDF-826C-624781F29B78}" destId="{912B6635-5F98-4686-858B-65F2692317D9}" srcOrd="0" destOrd="0" presId="urn:microsoft.com/office/officeart/2011/layout/CircleProcess"/>
    <dgm:cxn modelId="{53923695-51E7-4BBC-8A6C-822B368497C4}" type="presParOf" srcId="{EA46A26D-FC15-4FBA-AD8D-B2C03D9EC9F4}" destId="{4D898C36-F6D8-473C-A22B-581ABB0C809A}" srcOrd="4" destOrd="0" presId="urn:microsoft.com/office/officeart/2011/layout/CircleProcess"/>
    <dgm:cxn modelId="{EDF2716E-A1E8-4802-A596-017CBF6261EA}" type="presParOf" srcId="{4D898C36-F6D8-473C-A22B-581ABB0C809A}" destId="{C42AEE01-8096-42F3-A396-A4FC48EADBB4}" srcOrd="0" destOrd="0" presId="urn:microsoft.com/office/officeart/2011/layout/CircleProcess"/>
    <dgm:cxn modelId="{BEFC4137-11C2-46B3-A7BB-F158B9156571}" type="presParOf" srcId="{EA46A26D-FC15-4FBA-AD8D-B2C03D9EC9F4}" destId="{43E09396-D415-4C1D-8646-ED9BDE6564B3}" srcOrd="5" destOrd="0" presId="urn:microsoft.com/office/officeart/2011/layout/CircleProcess"/>
    <dgm:cxn modelId="{B0E94C97-C304-463D-A7BC-BB25F2373CA3}" type="presParOf" srcId="{EA46A26D-FC15-4FBA-AD8D-B2C03D9EC9F4}" destId="{1F597770-BCF3-400A-8F1B-F352A56C3964}" srcOrd="6" destOrd="0" presId="urn:microsoft.com/office/officeart/2011/layout/CircleProcess"/>
    <dgm:cxn modelId="{32890799-9D90-44C9-9B3B-B422D8C853F2}" type="presParOf" srcId="{1F597770-BCF3-400A-8F1B-F352A56C3964}" destId="{F3345FD4-D68E-4CC4-8A5E-DB56D2182E02}" srcOrd="0" destOrd="0" presId="urn:microsoft.com/office/officeart/2011/layout/CircleProcess"/>
    <dgm:cxn modelId="{99B48C6B-1838-4750-85EF-CF93D586AF03}" type="presParOf" srcId="{EA46A26D-FC15-4FBA-AD8D-B2C03D9EC9F4}" destId="{B85AFE10-4879-4EA2-A6CE-4AEE0BE79A46}" srcOrd="7" destOrd="0" presId="urn:microsoft.com/office/officeart/2011/layout/CircleProcess"/>
    <dgm:cxn modelId="{925FD409-1FA0-46AB-A528-991169A56BBF}" type="presParOf" srcId="{B85AFE10-4879-4EA2-A6CE-4AEE0BE79A46}" destId="{39E53DC8-941D-4DDE-AAD9-FCAFD3EC4023}" srcOrd="0" destOrd="0" presId="urn:microsoft.com/office/officeart/2011/layout/CircleProcess"/>
    <dgm:cxn modelId="{04677058-F6AE-4E66-82CC-2B8B28DA75ED}" type="presParOf" srcId="{EA46A26D-FC15-4FBA-AD8D-B2C03D9EC9F4}" destId="{1F3219CD-F50B-4754-8F7D-0EDB92C55F23}" srcOrd="8" destOrd="0" presId="urn:microsoft.com/office/officeart/2011/layout/CircleProcess"/>
    <dgm:cxn modelId="{4ED53A24-1B01-4A72-B9E4-D76963A6590C}" type="presParOf" srcId="{EA46A26D-FC15-4FBA-AD8D-B2C03D9EC9F4}" destId="{FCA03842-9E67-4199-A565-26AADC44A5ED}" srcOrd="9" destOrd="0" presId="urn:microsoft.com/office/officeart/2011/layout/CircleProcess"/>
    <dgm:cxn modelId="{1CEE687B-2A2F-45A1-96A8-C0CBE11C5CB6}" type="presParOf" srcId="{FCA03842-9E67-4199-A565-26AADC44A5ED}" destId="{89DFBE28-7300-41D6-AB92-AC502E6D90FC}" srcOrd="0" destOrd="0" presId="urn:microsoft.com/office/officeart/2011/layout/CircleProcess"/>
    <dgm:cxn modelId="{9CEE7D86-D9FF-4FCD-A06B-EAB148D3461E}" type="presParOf" srcId="{EA46A26D-FC15-4FBA-AD8D-B2C03D9EC9F4}" destId="{F7CC27F8-2EE0-4532-9BCE-86986465764E}" srcOrd="10" destOrd="0" presId="urn:microsoft.com/office/officeart/2011/layout/CircleProcess"/>
    <dgm:cxn modelId="{E9076B69-AF3D-439F-ABE7-2AA37DEC0F1A}" type="presParOf" srcId="{F7CC27F8-2EE0-4532-9BCE-86986465764E}" destId="{776D4B27-0EF4-4AD6-A9B5-748DCDFB24D0}" srcOrd="0" destOrd="0" presId="urn:microsoft.com/office/officeart/2011/layout/CircleProcess"/>
    <dgm:cxn modelId="{7E751E4F-3700-4A63-BA8B-94CFC8B3878C}" type="presParOf" srcId="{EA46A26D-FC15-4FBA-AD8D-B2C03D9EC9F4}" destId="{E45A6CF2-9276-4B3D-BAA0-379B52AAB91D}" srcOrd="11" destOrd="0" presId="urn:microsoft.com/office/officeart/2011/layout/CircleProcess"/>
    <dgm:cxn modelId="{D0570CAA-60EA-4F04-A9C7-2C479F87F7B7}" type="presParOf" srcId="{EA46A26D-FC15-4FBA-AD8D-B2C03D9EC9F4}" destId="{84E45637-F4F6-4BEA-8D04-9DB0837747EE}" srcOrd="12" destOrd="0" presId="urn:microsoft.com/office/officeart/2011/layout/CircleProcess"/>
    <dgm:cxn modelId="{FE2C659F-0CE1-47D9-BECC-3B08ACF639BB}" type="presParOf" srcId="{84E45637-F4F6-4BEA-8D04-9DB0837747EE}" destId="{5A182BD6-932E-4A6A-A774-6DAEB079B70F}" srcOrd="0" destOrd="0" presId="urn:microsoft.com/office/officeart/2011/layout/CircleProcess"/>
    <dgm:cxn modelId="{7601C8A7-578F-4EF6-ABF1-2B94753A2037}" type="presParOf" srcId="{EA46A26D-FC15-4FBA-AD8D-B2C03D9EC9F4}" destId="{68F1AD57-99A8-4DED-9A92-8F8F21DBE104}" srcOrd="13" destOrd="0" presId="urn:microsoft.com/office/officeart/2011/layout/CircleProcess"/>
    <dgm:cxn modelId="{0848A2C4-B94E-484F-85CF-84CD4F183C2D}" type="presParOf" srcId="{68F1AD57-99A8-4DED-9A92-8F8F21DBE104}" destId="{22BAC551-0C08-45D2-9FCA-06BA1703163F}" srcOrd="0" destOrd="0" presId="urn:microsoft.com/office/officeart/2011/layout/CircleProcess"/>
    <dgm:cxn modelId="{E7D65495-4CDD-4E16-A1C7-DB3BDE0F2FFA}" type="presParOf" srcId="{EA46A26D-FC15-4FBA-AD8D-B2C03D9EC9F4}" destId="{717D1FF3-F88B-4432-AD35-88675A8D81D6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7799885-90EC-448B-A5E6-EF402A2B4455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B533C0-8C15-4C19-BD96-9D21D3988BD5}">
      <dgm:prSet phldrT="[Text]" custT="1"/>
      <dgm:spPr>
        <a:solidFill>
          <a:schemeClr val="bg1">
            <a:lumMod val="85000"/>
            <a:alpha val="89804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Invoice Receipt/ Verification</a:t>
          </a:r>
          <a:endParaRPr lang="en-US" sz="500" dirty="0">
            <a:latin typeface="+mn-lt"/>
          </a:endParaRPr>
        </a:p>
      </dgm:t>
    </dgm:pt>
    <dgm:pt modelId="{DF88C67E-A8C4-4033-8E86-B3F3B9095760}" type="parTrans" cxnId="{3A8C18B6-1BE6-4E6B-98B6-0CC4E5625D18}">
      <dgm:prSet/>
      <dgm:spPr/>
      <dgm:t>
        <a:bodyPr/>
        <a:lstStyle/>
        <a:p>
          <a:endParaRPr lang="en-US"/>
        </a:p>
      </dgm:t>
    </dgm:pt>
    <dgm:pt modelId="{C605212A-447D-44E7-82CE-D04C08348439}" type="sibTrans" cxnId="{3A8C18B6-1BE6-4E6B-98B6-0CC4E5625D18}">
      <dgm:prSet/>
      <dgm:spPr/>
      <dgm:t>
        <a:bodyPr/>
        <a:lstStyle/>
        <a:p>
          <a:endParaRPr lang="en-US"/>
        </a:p>
      </dgm:t>
    </dgm:pt>
    <dgm:pt modelId="{909A296E-D754-48F8-860D-6EE69996442F}">
      <dgm:prSet phldrT="[Text]" custT="1"/>
      <dgm:spPr>
        <a:solidFill>
          <a:srgbClr val="F4DCDC">
            <a:alpha val="89804"/>
          </a:srgbClr>
        </a:solidFill>
        <a:ln w="12700">
          <a:solidFill>
            <a:srgbClr val="002D73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Release Payment</a:t>
          </a:r>
          <a:endParaRPr lang="en-US" sz="500" dirty="0">
            <a:latin typeface="+mn-lt"/>
          </a:endParaRPr>
        </a:p>
      </dgm:t>
    </dgm:pt>
    <dgm:pt modelId="{D31AABF4-3ACD-432D-B0F9-388309FE970F}" type="parTrans" cxnId="{B95D2A61-3C7F-4F30-BE7D-79B0196E9DDF}">
      <dgm:prSet/>
      <dgm:spPr/>
      <dgm:t>
        <a:bodyPr/>
        <a:lstStyle/>
        <a:p>
          <a:endParaRPr lang="en-US"/>
        </a:p>
      </dgm:t>
    </dgm:pt>
    <dgm:pt modelId="{143C2BE0-AC6B-4C22-A020-96F5B9FC1043}" type="sibTrans" cxnId="{B95D2A61-3C7F-4F30-BE7D-79B0196E9DDF}">
      <dgm:prSet/>
      <dgm:spPr/>
      <dgm:t>
        <a:bodyPr/>
        <a:lstStyle/>
        <a:p>
          <a:endParaRPr lang="en-US"/>
        </a:p>
      </dgm:t>
    </dgm:pt>
    <dgm:pt modelId="{4C8FD9CC-C9E1-4C2A-9A24-DEFDBAD349EF}">
      <dgm:prSet phldrT="[Text]" custT="1"/>
      <dgm:spPr>
        <a:solidFill>
          <a:schemeClr val="accent2">
            <a:lumMod val="75000"/>
            <a:alpha val="89804"/>
          </a:schemeClr>
        </a:solidFill>
        <a:ln>
          <a:solidFill>
            <a:srgbClr val="002D73"/>
          </a:solidFill>
        </a:ln>
      </dgm:spPr>
      <dgm:t>
        <a:bodyPr/>
        <a:lstStyle/>
        <a:p>
          <a:r>
            <a:rPr lang="en-US" sz="500" b="0" dirty="0" smtClean="0">
              <a:solidFill>
                <a:schemeClr val="bg1"/>
              </a:solidFill>
            </a:rPr>
            <a:t>Reconciliation</a:t>
          </a:r>
          <a:endParaRPr lang="en-US" sz="500" b="0" dirty="0">
            <a:solidFill>
              <a:schemeClr val="bg1"/>
            </a:solidFill>
            <a:latin typeface="+mn-lt"/>
          </a:endParaRPr>
        </a:p>
      </dgm:t>
    </dgm:pt>
    <dgm:pt modelId="{9011253C-D600-4247-AFB3-5C07F854DEC4}" type="parTrans" cxnId="{B5D90AA4-21C3-4438-AE1C-0BE8775FFE68}">
      <dgm:prSet/>
      <dgm:spPr/>
      <dgm:t>
        <a:bodyPr/>
        <a:lstStyle/>
        <a:p>
          <a:endParaRPr lang="en-US"/>
        </a:p>
      </dgm:t>
    </dgm:pt>
    <dgm:pt modelId="{D6182908-C37E-44FB-B4E3-CCAB86FB606F}" type="sibTrans" cxnId="{B5D90AA4-21C3-4438-AE1C-0BE8775FFE68}">
      <dgm:prSet/>
      <dgm:spPr/>
      <dgm:t>
        <a:bodyPr/>
        <a:lstStyle/>
        <a:p>
          <a:endParaRPr lang="en-US"/>
        </a:p>
      </dgm:t>
    </dgm:pt>
    <dgm:pt modelId="{0DFA0304-874C-4A65-B995-CBD988A4EA1D}">
      <dgm:prSet phldrT="[Text]" custT="1"/>
      <dgm:spPr>
        <a:solidFill>
          <a:srgbClr val="FF0000"/>
        </a:solidFill>
        <a:ln w="12700">
          <a:solidFill>
            <a:srgbClr val="002D73"/>
          </a:solidFill>
        </a:ln>
      </dgm:spPr>
      <dgm:t>
        <a:bodyPr/>
        <a:lstStyle/>
        <a:p>
          <a:r>
            <a:rPr lang="en-US" sz="500" dirty="0" smtClean="0">
              <a:solidFill>
                <a:schemeClr val="bg1"/>
              </a:solidFill>
              <a:latin typeface="+mn-lt"/>
            </a:rPr>
            <a:t>Make Payment</a:t>
          </a:r>
          <a:endParaRPr lang="en-US" sz="500" dirty="0">
            <a:solidFill>
              <a:schemeClr val="bg1"/>
            </a:solidFill>
            <a:latin typeface="+mn-lt"/>
          </a:endParaRPr>
        </a:p>
      </dgm:t>
    </dgm:pt>
    <dgm:pt modelId="{C1E6120F-647F-458C-AF8E-55F23B80F52F}" type="parTrans" cxnId="{571972C6-CAAF-4EEC-A9D6-318CE2ADBDD3}">
      <dgm:prSet/>
      <dgm:spPr/>
      <dgm:t>
        <a:bodyPr/>
        <a:lstStyle/>
        <a:p>
          <a:endParaRPr lang="en-US"/>
        </a:p>
      </dgm:t>
    </dgm:pt>
    <dgm:pt modelId="{32EF71EF-5D86-43FB-941B-865CC03A6A0C}" type="sibTrans" cxnId="{571972C6-CAAF-4EEC-A9D6-318CE2ADBDD3}">
      <dgm:prSet/>
      <dgm:spPr/>
      <dgm:t>
        <a:bodyPr/>
        <a:lstStyle/>
        <a:p>
          <a:endParaRPr lang="en-US"/>
        </a:p>
      </dgm:t>
    </dgm:pt>
    <dgm:pt modelId="{B0FCABA2-AA67-4284-A582-E04F8A7A2495}">
      <dgm:prSet phldrT="[Text]" custT="1"/>
      <dgm:spPr>
        <a:solidFill>
          <a:schemeClr val="bg1">
            <a:lumMod val="85000"/>
            <a:alpha val="89804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500" dirty="0" smtClean="0">
              <a:latin typeface="+mn-lt"/>
            </a:rPr>
            <a:t>Reporting</a:t>
          </a:r>
          <a:endParaRPr lang="en-US" sz="500" dirty="0">
            <a:latin typeface="+mn-lt"/>
          </a:endParaRPr>
        </a:p>
      </dgm:t>
    </dgm:pt>
    <dgm:pt modelId="{51E3E0F4-ED85-46AE-A477-C63A2EB51350}" type="parTrans" cxnId="{DFA8449F-2ABD-4AF7-91E5-03A127D982F6}">
      <dgm:prSet/>
      <dgm:spPr/>
      <dgm:t>
        <a:bodyPr/>
        <a:lstStyle/>
        <a:p>
          <a:endParaRPr lang="en-US"/>
        </a:p>
      </dgm:t>
    </dgm:pt>
    <dgm:pt modelId="{BE5DE984-1E8D-4ACE-BA8B-7DB8EAB88D02}" type="sibTrans" cxnId="{DFA8449F-2ABD-4AF7-91E5-03A127D982F6}">
      <dgm:prSet/>
      <dgm:spPr/>
      <dgm:t>
        <a:bodyPr/>
        <a:lstStyle/>
        <a:p>
          <a:endParaRPr lang="en-US"/>
        </a:p>
      </dgm:t>
    </dgm:pt>
    <dgm:pt modelId="{EA46A26D-FC15-4FBA-AD8D-B2C03D9EC9F4}" type="pres">
      <dgm:prSet presAssocID="{B7799885-90EC-448B-A5E6-EF402A2B4455}" presName="Name0" presStyleCnt="0">
        <dgm:presLayoutVars>
          <dgm:chMax val="11"/>
          <dgm:chPref val="11"/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56264BB1-ED82-4F90-8CF3-175F1AE56A5D}" type="pres">
      <dgm:prSet presAssocID="{B0FCABA2-AA67-4284-A582-E04F8A7A2495}" presName="Accent5" presStyleCnt="0"/>
      <dgm:spPr/>
    </dgm:pt>
    <dgm:pt modelId="{F5BF9BC4-6BAB-4577-A90C-A74021483097}" type="pres">
      <dgm:prSet presAssocID="{B0FCABA2-AA67-4284-A582-E04F8A7A2495}" presName="Accent" presStyleLbl="node1" presStyleIdx="0" presStyleCnt="5"/>
      <dgm:spPr/>
    </dgm:pt>
    <dgm:pt modelId="{A29D1413-6E39-4052-B462-E74493969C80}" type="pres">
      <dgm:prSet presAssocID="{B0FCABA2-AA67-4284-A582-E04F8A7A2495}" presName="ParentBackground5" presStyleCnt="0"/>
      <dgm:spPr/>
    </dgm:pt>
    <dgm:pt modelId="{1BCF17FA-19B1-4BE6-9799-112FC038D689}" type="pres">
      <dgm:prSet presAssocID="{B0FCABA2-AA67-4284-A582-E04F8A7A2495}" presName="ParentBackground" presStyleLbl="fgAcc1" presStyleIdx="0" presStyleCnt="5"/>
      <dgm:spPr/>
      <dgm:t>
        <a:bodyPr/>
        <a:lstStyle/>
        <a:p>
          <a:endParaRPr lang="en-US"/>
        </a:p>
      </dgm:t>
    </dgm:pt>
    <dgm:pt modelId="{FFE42FB5-1618-4650-B8D1-3F4094546AE4}" type="pres">
      <dgm:prSet presAssocID="{B0FCABA2-AA67-4284-A582-E04F8A7A2495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D8EA84-F14D-4CDF-826C-624781F29B78}" type="pres">
      <dgm:prSet presAssocID="{4C8FD9CC-C9E1-4C2A-9A24-DEFDBAD349EF}" presName="Accent4" presStyleCnt="0"/>
      <dgm:spPr/>
    </dgm:pt>
    <dgm:pt modelId="{912B6635-5F98-4686-858B-65F2692317D9}" type="pres">
      <dgm:prSet presAssocID="{4C8FD9CC-C9E1-4C2A-9A24-DEFDBAD349EF}" presName="Accent" presStyleLbl="node1" presStyleIdx="1" presStyleCnt="5"/>
      <dgm:spPr>
        <a:noFill/>
        <a:ln w="28575">
          <a:solidFill>
            <a:schemeClr val="tx1"/>
          </a:solidFill>
        </a:ln>
      </dgm:spPr>
    </dgm:pt>
    <dgm:pt modelId="{4D898C36-F6D8-473C-A22B-581ABB0C809A}" type="pres">
      <dgm:prSet presAssocID="{4C8FD9CC-C9E1-4C2A-9A24-DEFDBAD349EF}" presName="ParentBackground4" presStyleCnt="0"/>
      <dgm:spPr/>
    </dgm:pt>
    <dgm:pt modelId="{C42AEE01-8096-42F3-A396-A4FC48EADBB4}" type="pres">
      <dgm:prSet presAssocID="{4C8FD9CC-C9E1-4C2A-9A24-DEFDBAD349EF}" presName="ParentBackground" presStyleLbl="fgAcc1" presStyleIdx="1" presStyleCnt="5" custScaleX="115087" custLinFactNeighborX="2514"/>
      <dgm:spPr/>
      <dgm:t>
        <a:bodyPr/>
        <a:lstStyle/>
        <a:p>
          <a:endParaRPr lang="en-US"/>
        </a:p>
      </dgm:t>
    </dgm:pt>
    <dgm:pt modelId="{43E09396-D415-4C1D-8646-ED9BDE6564B3}" type="pres">
      <dgm:prSet presAssocID="{4C8FD9CC-C9E1-4C2A-9A24-DEFDBAD349EF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597770-BCF3-400A-8F1B-F352A56C3964}" type="pres">
      <dgm:prSet presAssocID="{0DFA0304-874C-4A65-B995-CBD988A4EA1D}" presName="Accent3" presStyleCnt="0"/>
      <dgm:spPr/>
    </dgm:pt>
    <dgm:pt modelId="{F3345FD4-D68E-4CC4-8A5E-DB56D2182E02}" type="pres">
      <dgm:prSet presAssocID="{0DFA0304-874C-4A65-B995-CBD988A4EA1D}" presName="Accent" presStyleLbl="node1" presStyleIdx="2" presStyleCnt="5" custLinFactNeighborX="-1658"/>
      <dgm:spPr>
        <a:noFill/>
        <a:ln>
          <a:solidFill>
            <a:schemeClr val="tx1"/>
          </a:solidFill>
        </a:ln>
      </dgm:spPr>
    </dgm:pt>
    <dgm:pt modelId="{B85AFE10-4879-4EA2-A6CE-4AEE0BE79A46}" type="pres">
      <dgm:prSet presAssocID="{0DFA0304-874C-4A65-B995-CBD988A4EA1D}" presName="ParentBackground3" presStyleCnt="0"/>
      <dgm:spPr/>
    </dgm:pt>
    <dgm:pt modelId="{39E53DC8-941D-4DDE-AAD9-FCAFD3EC4023}" type="pres">
      <dgm:prSet presAssocID="{0DFA0304-874C-4A65-B995-CBD988A4EA1D}" presName="ParentBackground" presStyleLbl="fgAcc1" presStyleIdx="2" presStyleCnt="5"/>
      <dgm:spPr/>
      <dgm:t>
        <a:bodyPr/>
        <a:lstStyle/>
        <a:p>
          <a:endParaRPr lang="en-US"/>
        </a:p>
      </dgm:t>
    </dgm:pt>
    <dgm:pt modelId="{1F3219CD-F50B-4754-8F7D-0EDB92C55F23}" type="pres">
      <dgm:prSet presAssocID="{0DFA0304-874C-4A65-B995-CBD988A4EA1D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A03842-9E67-4199-A565-26AADC44A5ED}" type="pres">
      <dgm:prSet presAssocID="{909A296E-D754-48F8-860D-6EE69996442F}" presName="Accent2" presStyleCnt="0"/>
      <dgm:spPr/>
    </dgm:pt>
    <dgm:pt modelId="{89DFBE28-7300-41D6-AB92-AC502E6D90FC}" type="pres">
      <dgm:prSet presAssocID="{909A296E-D754-48F8-860D-6EE69996442F}" presName="Accent" presStyleLbl="node1" presStyleIdx="3" presStyleCnt="5"/>
      <dgm:spPr>
        <a:noFill/>
        <a:ln w="28575">
          <a:solidFill>
            <a:schemeClr val="tx1"/>
          </a:solidFill>
        </a:ln>
      </dgm:spPr>
    </dgm:pt>
    <dgm:pt modelId="{F7CC27F8-2EE0-4532-9BCE-86986465764E}" type="pres">
      <dgm:prSet presAssocID="{909A296E-D754-48F8-860D-6EE69996442F}" presName="ParentBackground2" presStyleCnt="0"/>
      <dgm:spPr/>
    </dgm:pt>
    <dgm:pt modelId="{776D4B27-0EF4-4AD6-A9B5-748DCDFB24D0}" type="pres">
      <dgm:prSet presAssocID="{909A296E-D754-48F8-860D-6EE69996442F}" presName="ParentBackground" presStyleLbl="fgAcc1" presStyleIdx="3" presStyleCnt="5"/>
      <dgm:spPr/>
      <dgm:t>
        <a:bodyPr/>
        <a:lstStyle/>
        <a:p>
          <a:endParaRPr lang="en-US"/>
        </a:p>
      </dgm:t>
    </dgm:pt>
    <dgm:pt modelId="{E45A6CF2-9276-4B3D-BAA0-379B52AAB91D}" type="pres">
      <dgm:prSet presAssocID="{909A296E-D754-48F8-860D-6EE69996442F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E45637-F4F6-4BEA-8D04-9DB0837747EE}" type="pres">
      <dgm:prSet presAssocID="{73B533C0-8C15-4C19-BD96-9D21D3988BD5}" presName="Accent1" presStyleCnt="0"/>
      <dgm:spPr/>
    </dgm:pt>
    <dgm:pt modelId="{5A182BD6-932E-4A6A-A774-6DAEB079B70F}" type="pres">
      <dgm:prSet presAssocID="{73B533C0-8C15-4C19-BD96-9D21D3988BD5}" presName="Accent" presStyleLbl="node1" presStyleIdx="4" presStyleCnt="5"/>
      <dgm:spPr>
        <a:noFill/>
        <a:ln>
          <a:solidFill>
            <a:schemeClr val="tx1"/>
          </a:solidFill>
        </a:ln>
      </dgm:spPr>
    </dgm:pt>
    <dgm:pt modelId="{68F1AD57-99A8-4DED-9A92-8F8F21DBE104}" type="pres">
      <dgm:prSet presAssocID="{73B533C0-8C15-4C19-BD96-9D21D3988BD5}" presName="ParentBackground1" presStyleCnt="0"/>
      <dgm:spPr/>
    </dgm:pt>
    <dgm:pt modelId="{22BAC551-0C08-45D2-9FCA-06BA1703163F}" type="pres">
      <dgm:prSet presAssocID="{73B533C0-8C15-4C19-BD96-9D21D3988BD5}" presName="ParentBackground" presStyleLbl="fgAcc1" presStyleIdx="4" presStyleCnt="5"/>
      <dgm:spPr/>
      <dgm:t>
        <a:bodyPr/>
        <a:lstStyle/>
        <a:p>
          <a:endParaRPr lang="en-US"/>
        </a:p>
      </dgm:t>
    </dgm:pt>
    <dgm:pt modelId="{717D1FF3-F88B-4432-AD35-88675A8D81D6}" type="pres">
      <dgm:prSet presAssocID="{73B533C0-8C15-4C19-BD96-9D21D3988BD5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D7E17F3-CC39-4DEB-A7C0-DEE899CAC1F1}" type="presOf" srcId="{4C8FD9CC-C9E1-4C2A-9A24-DEFDBAD349EF}" destId="{C42AEE01-8096-42F3-A396-A4FC48EADBB4}" srcOrd="0" destOrd="0" presId="urn:microsoft.com/office/officeart/2011/layout/CircleProcess"/>
    <dgm:cxn modelId="{3FC13C44-0D49-40A6-9AB6-372D670A839A}" type="presOf" srcId="{0DFA0304-874C-4A65-B995-CBD988A4EA1D}" destId="{39E53DC8-941D-4DDE-AAD9-FCAFD3EC4023}" srcOrd="0" destOrd="0" presId="urn:microsoft.com/office/officeart/2011/layout/CircleProcess"/>
    <dgm:cxn modelId="{C29D29C0-CF88-476C-96B0-C5AB1A754610}" type="presOf" srcId="{4C8FD9CC-C9E1-4C2A-9A24-DEFDBAD349EF}" destId="{43E09396-D415-4C1D-8646-ED9BDE6564B3}" srcOrd="1" destOrd="0" presId="urn:microsoft.com/office/officeart/2011/layout/CircleProcess"/>
    <dgm:cxn modelId="{3A8C18B6-1BE6-4E6B-98B6-0CC4E5625D18}" srcId="{B7799885-90EC-448B-A5E6-EF402A2B4455}" destId="{73B533C0-8C15-4C19-BD96-9D21D3988BD5}" srcOrd="0" destOrd="0" parTransId="{DF88C67E-A8C4-4033-8E86-B3F3B9095760}" sibTransId="{C605212A-447D-44E7-82CE-D04C08348439}"/>
    <dgm:cxn modelId="{93314DF7-CE8B-494B-A47E-DCE53056899F}" type="presOf" srcId="{909A296E-D754-48F8-860D-6EE69996442F}" destId="{776D4B27-0EF4-4AD6-A9B5-748DCDFB24D0}" srcOrd="0" destOrd="0" presId="urn:microsoft.com/office/officeart/2011/layout/CircleProcess"/>
    <dgm:cxn modelId="{571972C6-CAAF-4EEC-A9D6-318CE2ADBDD3}" srcId="{B7799885-90EC-448B-A5E6-EF402A2B4455}" destId="{0DFA0304-874C-4A65-B995-CBD988A4EA1D}" srcOrd="2" destOrd="0" parTransId="{C1E6120F-647F-458C-AF8E-55F23B80F52F}" sibTransId="{32EF71EF-5D86-43FB-941B-865CC03A6A0C}"/>
    <dgm:cxn modelId="{B95D2A61-3C7F-4F30-BE7D-79B0196E9DDF}" srcId="{B7799885-90EC-448B-A5E6-EF402A2B4455}" destId="{909A296E-D754-48F8-860D-6EE69996442F}" srcOrd="1" destOrd="0" parTransId="{D31AABF4-3ACD-432D-B0F9-388309FE970F}" sibTransId="{143C2BE0-AC6B-4C22-A020-96F5B9FC1043}"/>
    <dgm:cxn modelId="{C5BBAF29-CD59-4F40-B70D-C86D244E3B94}" type="presOf" srcId="{B0FCABA2-AA67-4284-A582-E04F8A7A2495}" destId="{1BCF17FA-19B1-4BE6-9799-112FC038D689}" srcOrd="0" destOrd="0" presId="urn:microsoft.com/office/officeart/2011/layout/CircleProcess"/>
    <dgm:cxn modelId="{E34EE762-D0A8-4807-890C-B4CE6257B002}" type="presOf" srcId="{909A296E-D754-48F8-860D-6EE69996442F}" destId="{E45A6CF2-9276-4B3D-BAA0-379B52AAB91D}" srcOrd="1" destOrd="0" presId="urn:microsoft.com/office/officeart/2011/layout/CircleProcess"/>
    <dgm:cxn modelId="{529E5301-823E-4D8F-838C-295FC016A56D}" type="presOf" srcId="{73B533C0-8C15-4C19-BD96-9D21D3988BD5}" destId="{22BAC551-0C08-45D2-9FCA-06BA1703163F}" srcOrd="0" destOrd="0" presId="urn:microsoft.com/office/officeart/2011/layout/CircleProcess"/>
    <dgm:cxn modelId="{04A5BC76-F42A-4CBC-A9EC-259D936C44B7}" type="presOf" srcId="{B7799885-90EC-448B-A5E6-EF402A2B4455}" destId="{EA46A26D-FC15-4FBA-AD8D-B2C03D9EC9F4}" srcOrd="0" destOrd="0" presId="urn:microsoft.com/office/officeart/2011/layout/CircleProcess"/>
    <dgm:cxn modelId="{DFA8449F-2ABD-4AF7-91E5-03A127D982F6}" srcId="{B7799885-90EC-448B-A5E6-EF402A2B4455}" destId="{B0FCABA2-AA67-4284-A582-E04F8A7A2495}" srcOrd="4" destOrd="0" parTransId="{51E3E0F4-ED85-46AE-A477-C63A2EB51350}" sibTransId="{BE5DE984-1E8D-4ACE-BA8B-7DB8EAB88D02}"/>
    <dgm:cxn modelId="{87E64112-439C-45AF-A8E0-2856D51901C2}" type="presOf" srcId="{73B533C0-8C15-4C19-BD96-9D21D3988BD5}" destId="{717D1FF3-F88B-4432-AD35-88675A8D81D6}" srcOrd="1" destOrd="0" presId="urn:microsoft.com/office/officeart/2011/layout/CircleProcess"/>
    <dgm:cxn modelId="{F2F28B1C-3745-4E1B-9640-D12EED0379C2}" type="presOf" srcId="{0DFA0304-874C-4A65-B995-CBD988A4EA1D}" destId="{1F3219CD-F50B-4754-8F7D-0EDB92C55F23}" srcOrd="1" destOrd="0" presId="urn:microsoft.com/office/officeart/2011/layout/CircleProcess"/>
    <dgm:cxn modelId="{BADF13F1-9E51-4BDF-920B-FEBAE49A8E7E}" type="presOf" srcId="{B0FCABA2-AA67-4284-A582-E04F8A7A2495}" destId="{FFE42FB5-1618-4650-B8D1-3F4094546AE4}" srcOrd="1" destOrd="0" presId="urn:microsoft.com/office/officeart/2011/layout/CircleProcess"/>
    <dgm:cxn modelId="{B5D90AA4-21C3-4438-AE1C-0BE8775FFE68}" srcId="{B7799885-90EC-448B-A5E6-EF402A2B4455}" destId="{4C8FD9CC-C9E1-4C2A-9A24-DEFDBAD349EF}" srcOrd="3" destOrd="0" parTransId="{9011253C-D600-4247-AFB3-5C07F854DEC4}" sibTransId="{D6182908-C37E-44FB-B4E3-CCAB86FB606F}"/>
    <dgm:cxn modelId="{704D9B28-899A-4C34-A411-CA4A5BC3249B}" type="presParOf" srcId="{EA46A26D-FC15-4FBA-AD8D-B2C03D9EC9F4}" destId="{56264BB1-ED82-4F90-8CF3-175F1AE56A5D}" srcOrd="0" destOrd="0" presId="urn:microsoft.com/office/officeart/2011/layout/CircleProcess"/>
    <dgm:cxn modelId="{F0D6A209-CB65-41C9-ABEE-28C0C28EECA9}" type="presParOf" srcId="{56264BB1-ED82-4F90-8CF3-175F1AE56A5D}" destId="{F5BF9BC4-6BAB-4577-A90C-A74021483097}" srcOrd="0" destOrd="0" presId="urn:microsoft.com/office/officeart/2011/layout/CircleProcess"/>
    <dgm:cxn modelId="{915F44A9-6471-498D-820E-F96674CAC7EF}" type="presParOf" srcId="{EA46A26D-FC15-4FBA-AD8D-B2C03D9EC9F4}" destId="{A29D1413-6E39-4052-B462-E74493969C80}" srcOrd="1" destOrd="0" presId="urn:microsoft.com/office/officeart/2011/layout/CircleProcess"/>
    <dgm:cxn modelId="{CF356DC1-C30D-4611-9190-89E9C74C61F6}" type="presParOf" srcId="{A29D1413-6E39-4052-B462-E74493969C80}" destId="{1BCF17FA-19B1-4BE6-9799-112FC038D689}" srcOrd="0" destOrd="0" presId="urn:microsoft.com/office/officeart/2011/layout/CircleProcess"/>
    <dgm:cxn modelId="{ECAC81EC-3C60-4E4F-A495-F0DCD8FA53DB}" type="presParOf" srcId="{EA46A26D-FC15-4FBA-AD8D-B2C03D9EC9F4}" destId="{FFE42FB5-1618-4650-B8D1-3F4094546AE4}" srcOrd="2" destOrd="0" presId="urn:microsoft.com/office/officeart/2011/layout/CircleProcess"/>
    <dgm:cxn modelId="{DEA621DB-CAF7-49C7-8F96-8B7B43D4C71D}" type="presParOf" srcId="{EA46A26D-FC15-4FBA-AD8D-B2C03D9EC9F4}" destId="{ECD8EA84-F14D-4CDF-826C-624781F29B78}" srcOrd="3" destOrd="0" presId="urn:microsoft.com/office/officeart/2011/layout/CircleProcess"/>
    <dgm:cxn modelId="{C292402D-28D9-49C8-9C79-8F1854B868C6}" type="presParOf" srcId="{ECD8EA84-F14D-4CDF-826C-624781F29B78}" destId="{912B6635-5F98-4686-858B-65F2692317D9}" srcOrd="0" destOrd="0" presId="urn:microsoft.com/office/officeart/2011/layout/CircleProcess"/>
    <dgm:cxn modelId="{53923695-51E7-4BBC-8A6C-822B368497C4}" type="presParOf" srcId="{EA46A26D-FC15-4FBA-AD8D-B2C03D9EC9F4}" destId="{4D898C36-F6D8-473C-A22B-581ABB0C809A}" srcOrd="4" destOrd="0" presId="urn:microsoft.com/office/officeart/2011/layout/CircleProcess"/>
    <dgm:cxn modelId="{EDF2716E-A1E8-4802-A596-017CBF6261EA}" type="presParOf" srcId="{4D898C36-F6D8-473C-A22B-581ABB0C809A}" destId="{C42AEE01-8096-42F3-A396-A4FC48EADBB4}" srcOrd="0" destOrd="0" presId="urn:microsoft.com/office/officeart/2011/layout/CircleProcess"/>
    <dgm:cxn modelId="{BEFC4137-11C2-46B3-A7BB-F158B9156571}" type="presParOf" srcId="{EA46A26D-FC15-4FBA-AD8D-B2C03D9EC9F4}" destId="{43E09396-D415-4C1D-8646-ED9BDE6564B3}" srcOrd="5" destOrd="0" presId="urn:microsoft.com/office/officeart/2011/layout/CircleProcess"/>
    <dgm:cxn modelId="{B0E94C97-C304-463D-A7BC-BB25F2373CA3}" type="presParOf" srcId="{EA46A26D-FC15-4FBA-AD8D-B2C03D9EC9F4}" destId="{1F597770-BCF3-400A-8F1B-F352A56C3964}" srcOrd="6" destOrd="0" presId="urn:microsoft.com/office/officeart/2011/layout/CircleProcess"/>
    <dgm:cxn modelId="{32890799-9D90-44C9-9B3B-B422D8C853F2}" type="presParOf" srcId="{1F597770-BCF3-400A-8F1B-F352A56C3964}" destId="{F3345FD4-D68E-4CC4-8A5E-DB56D2182E02}" srcOrd="0" destOrd="0" presId="urn:microsoft.com/office/officeart/2011/layout/CircleProcess"/>
    <dgm:cxn modelId="{99B48C6B-1838-4750-85EF-CF93D586AF03}" type="presParOf" srcId="{EA46A26D-FC15-4FBA-AD8D-B2C03D9EC9F4}" destId="{B85AFE10-4879-4EA2-A6CE-4AEE0BE79A46}" srcOrd="7" destOrd="0" presId="urn:microsoft.com/office/officeart/2011/layout/CircleProcess"/>
    <dgm:cxn modelId="{925FD409-1FA0-46AB-A528-991169A56BBF}" type="presParOf" srcId="{B85AFE10-4879-4EA2-A6CE-4AEE0BE79A46}" destId="{39E53DC8-941D-4DDE-AAD9-FCAFD3EC4023}" srcOrd="0" destOrd="0" presId="urn:microsoft.com/office/officeart/2011/layout/CircleProcess"/>
    <dgm:cxn modelId="{04677058-F6AE-4E66-82CC-2B8B28DA75ED}" type="presParOf" srcId="{EA46A26D-FC15-4FBA-AD8D-B2C03D9EC9F4}" destId="{1F3219CD-F50B-4754-8F7D-0EDB92C55F23}" srcOrd="8" destOrd="0" presId="urn:microsoft.com/office/officeart/2011/layout/CircleProcess"/>
    <dgm:cxn modelId="{4ED53A24-1B01-4A72-B9E4-D76963A6590C}" type="presParOf" srcId="{EA46A26D-FC15-4FBA-AD8D-B2C03D9EC9F4}" destId="{FCA03842-9E67-4199-A565-26AADC44A5ED}" srcOrd="9" destOrd="0" presId="urn:microsoft.com/office/officeart/2011/layout/CircleProcess"/>
    <dgm:cxn modelId="{1CEE687B-2A2F-45A1-96A8-C0CBE11C5CB6}" type="presParOf" srcId="{FCA03842-9E67-4199-A565-26AADC44A5ED}" destId="{89DFBE28-7300-41D6-AB92-AC502E6D90FC}" srcOrd="0" destOrd="0" presId="urn:microsoft.com/office/officeart/2011/layout/CircleProcess"/>
    <dgm:cxn modelId="{9CEE7D86-D9FF-4FCD-A06B-EAB148D3461E}" type="presParOf" srcId="{EA46A26D-FC15-4FBA-AD8D-B2C03D9EC9F4}" destId="{F7CC27F8-2EE0-4532-9BCE-86986465764E}" srcOrd="10" destOrd="0" presId="urn:microsoft.com/office/officeart/2011/layout/CircleProcess"/>
    <dgm:cxn modelId="{E9076B69-AF3D-439F-ABE7-2AA37DEC0F1A}" type="presParOf" srcId="{F7CC27F8-2EE0-4532-9BCE-86986465764E}" destId="{776D4B27-0EF4-4AD6-A9B5-748DCDFB24D0}" srcOrd="0" destOrd="0" presId="urn:microsoft.com/office/officeart/2011/layout/CircleProcess"/>
    <dgm:cxn modelId="{7E751E4F-3700-4A63-BA8B-94CFC8B3878C}" type="presParOf" srcId="{EA46A26D-FC15-4FBA-AD8D-B2C03D9EC9F4}" destId="{E45A6CF2-9276-4B3D-BAA0-379B52AAB91D}" srcOrd="11" destOrd="0" presId="urn:microsoft.com/office/officeart/2011/layout/CircleProcess"/>
    <dgm:cxn modelId="{D0570CAA-60EA-4F04-A9C7-2C479F87F7B7}" type="presParOf" srcId="{EA46A26D-FC15-4FBA-AD8D-B2C03D9EC9F4}" destId="{84E45637-F4F6-4BEA-8D04-9DB0837747EE}" srcOrd="12" destOrd="0" presId="urn:microsoft.com/office/officeart/2011/layout/CircleProcess"/>
    <dgm:cxn modelId="{FE2C659F-0CE1-47D9-BECC-3B08ACF639BB}" type="presParOf" srcId="{84E45637-F4F6-4BEA-8D04-9DB0837747EE}" destId="{5A182BD6-932E-4A6A-A774-6DAEB079B70F}" srcOrd="0" destOrd="0" presId="urn:microsoft.com/office/officeart/2011/layout/CircleProcess"/>
    <dgm:cxn modelId="{7601C8A7-578F-4EF6-ABF1-2B94753A2037}" type="presParOf" srcId="{EA46A26D-FC15-4FBA-AD8D-B2C03D9EC9F4}" destId="{68F1AD57-99A8-4DED-9A92-8F8F21DBE104}" srcOrd="13" destOrd="0" presId="urn:microsoft.com/office/officeart/2011/layout/CircleProcess"/>
    <dgm:cxn modelId="{0848A2C4-B94E-484F-85CF-84CD4F183C2D}" type="presParOf" srcId="{68F1AD57-99A8-4DED-9A92-8F8F21DBE104}" destId="{22BAC551-0C08-45D2-9FCA-06BA1703163F}" srcOrd="0" destOrd="0" presId="urn:microsoft.com/office/officeart/2011/layout/CircleProcess"/>
    <dgm:cxn modelId="{E7D65495-4CDD-4E16-A1C7-DB3BDE0F2FFA}" type="presParOf" srcId="{EA46A26D-FC15-4FBA-AD8D-B2C03D9EC9F4}" destId="{717D1FF3-F88B-4432-AD35-88675A8D81D6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BF9BC4-6BAB-4577-A90C-A74021483097}">
      <dsp:nvSpPr>
        <dsp:cNvPr id="0" name=""/>
        <dsp:cNvSpPr/>
      </dsp:nvSpPr>
      <dsp:spPr>
        <a:xfrm>
          <a:off x="10184778" y="746463"/>
          <a:ext cx="1960995" cy="196131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CF17FA-19B1-4BE6-9799-112FC038D689}">
      <dsp:nvSpPr>
        <dsp:cNvPr id="0" name=""/>
        <dsp:cNvSpPr/>
      </dsp:nvSpPr>
      <dsp:spPr>
        <a:xfrm>
          <a:off x="10249484" y="811852"/>
          <a:ext cx="1830540" cy="1830538"/>
        </a:xfrm>
        <a:prstGeom prst="ellipse">
          <a:avLst/>
        </a:prstGeom>
        <a:solidFill>
          <a:schemeClr val="bg1">
            <a:lumMod val="85000"/>
            <a:alpha val="89804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+mn-lt"/>
            </a:rPr>
            <a:t>Reporting</a:t>
          </a:r>
          <a:endParaRPr lang="en-US" sz="2000" kern="1200" dirty="0">
            <a:latin typeface="+mn-lt"/>
          </a:endParaRPr>
        </a:p>
      </dsp:txBody>
      <dsp:txXfrm>
        <a:off x="10511437" y="1073406"/>
        <a:ext cx="1307678" cy="1307429"/>
      </dsp:txXfrm>
    </dsp:sp>
    <dsp:sp modelId="{912B6635-5F98-4686-858B-65F2692317D9}">
      <dsp:nvSpPr>
        <dsp:cNvPr id="0" name=""/>
        <dsp:cNvSpPr/>
      </dsp:nvSpPr>
      <dsp:spPr>
        <a:xfrm rot="2700000">
          <a:off x="8157104" y="746565"/>
          <a:ext cx="1960768" cy="1960768"/>
        </a:xfrm>
        <a:prstGeom prst="teardrop">
          <a:avLst>
            <a:gd name="adj" fmla="val 100000"/>
          </a:avLst>
        </a:prstGeom>
        <a:noFill/>
        <a:ln w="2857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2AEE01-8096-42F3-A396-A4FC48EADBB4}">
      <dsp:nvSpPr>
        <dsp:cNvPr id="0" name=""/>
        <dsp:cNvSpPr/>
      </dsp:nvSpPr>
      <dsp:spPr>
        <a:xfrm>
          <a:off x="8040912" y="624725"/>
          <a:ext cx="2196209" cy="2204792"/>
        </a:xfrm>
        <a:prstGeom prst="ellipse">
          <a:avLst/>
        </a:prstGeom>
        <a:solidFill>
          <a:schemeClr val="accent2">
            <a:lumMod val="75000"/>
            <a:alpha val="89804"/>
          </a:schemeClr>
        </a:solidFill>
        <a:ln w="254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 smtClean="0">
              <a:solidFill>
                <a:schemeClr val="bg1"/>
              </a:solidFill>
            </a:rPr>
            <a:t>Reconciliation</a:t>
          </a:r>
          <a:endParaRPr lang="en-US" sz="2000" b="0" kern="1200" dirty="0">
            <a:solidFill>
              <a:schemeClr val="bg1"/>
            </a:solidFill>
            <a:latin typeface="+mn-lt"/>
          </a:endParaRPr>
        </a:p>
      </dsp:txBody>
      <dsp:txXfrm>
        <a:off x="8353941" y="939754"/>
        <a:ext cx="1568899" cy="1574733"/>
      </dsp:txXfrm>
    </dsp:sp>
    <dsp:sp modelId="{F3345FD4-D68E-4CC4-8A5E-DB56D2182E02}">
      <dsp:nvSpPr>
        <dsp:cNvPr id="0" name=""/>
        <dsp:cNvSpPr/>
      </dsp:nvSpPr>
      <dsp:spPr>
        <a:xfrm rot="2700000">
          <a:off x="6085427" y="746565"/>
          <a:ext cx="1960768" cy="1960768"/>
        </a:xfrm>
        <a:prstGeom prst="teardrop">
          <a:avLst>
            <a:gd name="adj" fmla="val 100000"/>
          </a:avLst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53DC8-941D-4DDE-AAD9-FCAFD3EC4023}">
      <dsp:nvSpPr>
        <dsp:cNvPr id="0" name=""/>
        <dsp:cNvSpPr/>
      </dsp:nvSpPr>
      <dsp:spPr>
        <a:xfrm>
          <a:off x="6172189" y="811852"/>
          <a:ext cx="1788127" cy="1830538"/>
        </a:xfrm>
        <a:prstGeom prst="ellipse">
          <a:avLst/>
        </a:prstGeom>
        <a:solidFill>
          <a:srgbClr val="FF0000"/>
        </a:solidFill>
        <a:ln w="127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solidFill>
                <a:schemeClr val="bg1"/>
              </a:solidFill>
              <a:latin typeface="+mn-lt"/>
            </a:rPr>
            <a:t>Make Payment</a:t>
          </a:r>
          <a:endParaRPr lang="en-US" sz="2000" kern="1200" dirty="0">
            <a:solidFill>
              <a:schemeClr val="bg1"/>
            </a:solidFill>
            <a:latin typeface="+mn-lt"/>
          </a:endParaRPr>
        </a:p>
      </dsp:txBody>
      <dsp:txXfrm>
        <a:off x="6427053" y="1073406"/>
        <a:ext cx="1277379" cy="1307429"/>
      </dsp:txXfrm>
    </dsp:sp>
    <dsp:sp modelId="{89DFBE28-7300-41D6-AB92-AC502E6D90FC}">
      <dsp:nvSpPr>
        <dsp:cNvPr id="0" name=""/>
        <dsp:cNvSpPr/>
      </dsp:nvSpPr>
      <dsp:spPr>
        <a:xfrm rot="2700000">
          <a:off x="4104658" y="746565"/>
          <a:ext cx="1960768" cy="1960768"/>
        </a:xfrm>
        <a:prstGeom prst="teardrop">
          <a:avLst>
            <a:gd name="adj" fmla="val 100000"/>
          </a:avLst>
        </a:prstGeom>
        <a:noFill/>
        <a:ln w="2857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D4B27-0EF4-4AD6-A9B5-748DCDFB24D0}">
      <dsp:nvSpPr>
        <dsp:cNvPr id="0" name=""/>
        <dsp:cNvSpPr/>
      </dsp:nvSpPr>
      <dsp:spPr>
        <a:xfrm>
          <a:off x="4170294" y="811852"/>
          <a:ext cx="1830540" cy="1830538"/>
        </a:xfrm>
        <a:prstGeom prst="ellipse">
          <a:avLst/>
        </a:prstGeom>
        <a:solidFill>
          <a:srgbClr val="F4DCDC">
            <a:alpha val="89804"/>
          </a:srgbClr>
        </a:solidFill>
        <a:ln w="127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+mn-lt"/>
            </a:rPr>
            <a:t>Release Payment</a:t>
          </a:r>
          <a:endParaRPr lang="en-US" sz="2000" kern="1200" dirty="0">
            <a:latin typeface="+mn-lt"/>
          </a:endParaRPr>
        </a:p>
      </dsp:txBody>
      <dsp:txXfrm>
        <a:off x="4432247" y="1073406"/>
        <a:ext cx="1307678" cy="1307429"/>
      </dsp:txXfrm>
    </dsp:sp>
    <dsp:sp modelId="{5A182BD6-932E-4A6A-A774-6DAEB079B70F}">
      <dsp:nvSpPr>
        <dsp:cNvPr id="0" name=""/>
        <dsp:cNvSpPr/>
      </dsp:nvSpPr>
      <dsp:spPr>
        <a:xfrm rot="2700000">
          <a:off x="2077914" y="746565"/>
          <a:ext cx="1960768" cy="1960768"/>
        </a:xfrm>
        <a:prstGeom prst="teardrop">
          <a:avLst>
            <a:gd name="adj" fmla="val 100000"/>
          </a:avLst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AC551-0C08-45D2-9FCA-06BA1703163F}">
      <dsp:nvSpPr>
        <dsp:cNvPr id="0" name=""/>
        <dsp:cNvSpPr/>
      </dsp:nvSpPr>
      <dsp:spPr>
        <a:xfrm>
          <a:off x="2143549" y="811852"/>
          <a:ext cx="1830540" cy="1830538"/>
        </a:xfrm>
        <a:prstGeom prst="ellipse">
          <a:avLst/>
        </a:prstGeom>
        <a:solidFill>
          <a:schemeClr val="bg1">
            <a:lumMod val="85000"/>
            <a:alpha val="89804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+mn-lt"/>
            </a:rPr>
            <a:t>Invoice Receipt/ Verification</a:t>
          </a:r>
          <a:endParaRPr lang="en-US" sz="2000" kern="1200" dirty="0">
            <a:latin typeface="+mn-lt"/>
          </a:endParaRPr>
        </a:p>
      </dsp:txBody>
      <dsp:txXfrm>
        <a:off x="2405502" y="1073406"/>
        <a:ext cx="1307678" cy="13074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BF9BC4-6BAB-4577-A90C-A74021483097}">
      <dsp:nvSpPr>
        <dsp:cNvPr id="0" name=""/>
        <dsp:cNvSpPr/>
      </dsp:nvSpPr>
      <dsp:spPr>
        <a:xfrm>
          <a:off x="3940853" y="313762"/>
          <a:ext cx="831167" cy="83130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CF17FA-19B1-4BE6-9799-112FC038D689}">
      <dsp:nvSpPr>
        <dsp:cNvPr id="0" name=""/>
        <dsp:cNvSpPr/>
      </dsp:nvSpPr>
      <dsp:spPr>
        <a:xfrm>
          <a:off x="3968278" y="341477"/>
          <a:ext cx="775874" cy="775874"/>
        </a:xfrm>
        <a:prstGeom prst="ellipse">
          <a:avLst/>
        </a:prstGeom>
        <a:solidFill>
          <a:schemeClr val="bg1">
            <a:lumMod val="85000"/>
            <a:alpha val="89804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Reporting</a:t>
          </a:r>
          <a:endParaRPr lang="en-US" sz="500" kern="1200" dirty="0">
            <a:latin typeface="+mn-lt"/>
          </a:endParaRPr>
        </a:p>
      </dsp:txBody>
      <dsp:txXfrm>
        <a:off x="4079307" y="452337"/>
        <a:ext cx="554259" cy="554154"/>
      </dsp:txXfrm>
    </dsp:sp>
    <dsp:sp modelId="{912B6635-5F98-4686-858B-65F2692317D9}">
      <dsp:nvSpPr>
        <dsp:cNvPr id="0" name=""/>
        <dsp:cNvSpPr/>
      </dsp:nvSpPr>
      <dsp:spPr>
        <a:xfrm rot="2700000">
          <a:off x="3081423" y="313806"/>
          <a:ext cx="831071" cy="831071"/>
        </a:xfrm>
        <a:prstGeom prst="teardrop">
          <a:avLst>
            <a:gd name="adj" fmla="val 100000"/>
          </a:avLst>
        </a:prstGeom>
        <a:noFill/>
        <a:ln w="2857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2AEE01-8096-42F3-A396-A4FC48EADBB4}">
      <dsp:nvSpPr>
        <dsp:cNvPr id="0" name=""/>
        <dsp:cNvSpPr/>
      </dsp:nvSpPr>
      <dsp:spPr>
        <a:xfrm>
          <a:off x="3070662" y="341477"/>
          <a:ext cx="892930" cy="775874"/>
        </a:xfrm>
        <a:prstGeom prst="ellipse">
          <a:avLst/>
        </a:prstGeom>
        <a:solidFill>
          <a:schemeClr val="accent2">
            <a:lumMod val="75000"/>
            <a:alpha val="89804"/>
          </a:schemeClr>
        </a:solidFill>
        <a:ln w="254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0" kern="1200" dirty="0" smtClean="0">
              <a:solidFill>
                <a:schemeClr val="bg1"/>
              </a:solidFill>
            </a:rPr>
            <a:t>Reconciliation</a:t>
          </a:r>
          <a:endParaRPr lang="en-US" sz="500" b="0" kern="1200" dirty="0">
            <a:solidFill>
              <a:schemeClr val="bg1"/>
            </a:solidFill>
            <a:latin typeface="+mn-lt"/>
          </a:endParaRPr>
        </a:p>
      </dsp:txBody>
      <dsp:txXfrm>
        <a:off x="3197933" y="452337"/>
        <a:ext cx="637880" cy="554154"/>
      </dsp:txXfrm>
    </dsp:sp>
    <dsp:sp modelId="{F3345FD4-D68E-4CC4-8A5E-DB56D2182E02}">
      <dsp:nvSpPr>
        <dsp:cNvPr id="0" name=""/>
        <dsp:cNvSpPr/>
      </dsp:nvSpPr>
      <dsp:spPr>
        <a:xfrm rot="2700000">
          <a:off x="2203343" y="313806"/>
          <a:ext cx="831071" cy="831071"/>
        </a:xfrm>
        <a:prstGeom prst="teardrop">
          <a:avLst>
            <a:gd name="adj" fmla="val 100000"/>
          </a:avLst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53DC8-941D-4DDE-AAD9-FCAFD3EC4023}">
      <dsp:nvSpPr>
        <dsp:cNvPr id="0" name=""/>
        <dsp:cNvSpPr/>
      </dsp:nvSpPr>
      <dsp:spPr>
        <a:xfrm>
          <a:off x="2250649" y="341477"/>
          <a:ext cx="775874" cy="775874"/>
        </a:xfrm>
        <a:prstGeom prst="ellipse">
          <a:avLst/>
        </a:prstGeom>
        <a:solidFill>
          <a:srgbClr val="FF0000"/>
        </a:solidFill>
        <a:ln w="127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bg1"/>
              </a:solidFill>
              <a:latin typeface="+mn-lt"/>
            </a:rPr>
            <a:t>Make Payment</a:t>
          </a:r>
          <a:endParaRPr lang="en-US" sz="500" kern="1200" dirty="0">
            <a:solidFill>
              <a:schemeClr val="bg1"/>
            </a:solidFill>
            <a:latin typeface="+mn-lt"/>
          </a:endParaRPr>
        </a:p>
      </dsp:txBody>
      <dsp:txXfrm>
        <a:off x="2361236" y="452337"/>
        <a:ext cx="554259" cy="554154"/>
      </dsp:txXfrm>
    </dsp:sp>
    <dsp:sp modelId="{89DFBE28-7300-41D6-AB92-AC502E6D90FC}">
      <dsp:nvSpPr>
        <dsp:cNvPr id="0" name=""/>
        <dsp:cNvSpPr/>
      </dsp:nvSpPr>
      <dsp:spPr>
        <a:xfrm rot="2700000">
          <a:off x="1363794" y="313806"/>
          <a:ext cx="831071" cy="831071"/>
        </a:xfrm>
        <a:prstGeom prst="teardrop">
          <a:avLst>
            <a:gd name="adj" fmla="val 100000"/>
          </a:avLst>
        </a:prstGeom>
        <a:noFill/>
        <a:ln w="2857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D4B27-0EF4-4AD6-A9B5-748DCDFB24D0}">
      <dsp:nvSpPr>
        <dsp:cNvPr id="0" name=""/>
        <dsp:cNvSpPr/>
      </dsp:nvSpPr>
      <dsp:spPr>
        <a:xfrm>
          <a:off x="1391613" y="341477"/>
          <a:ext cx="775874" cy="775874"/>
        </a:xfrm>
        <a:prstGeom prst="ellipse">
          <a:avLst/>
        </a:prstGeom>
        <a:solidFill>
          <a:srgbClr val="F4DCDC">
            <a:alpha val="89804"/>
          </a:srgbClr>
        </a:solidFill>
        <a:ln w="127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Release Payment</a:t>
          </a:r>
          <a:endParaRPr lang="en-US" sz="500" kern="1200" dirty="0">
            <a:latin typeface="+mn-lt"/>
          </a:endParaRPr>
        </a:p>
      </dsp:txBody>
      <dsp:txXfrm>
        <a:off x="1502642" y="452337"/>
        <a:ext cx="554259" cy="554154"/>
      </dsp:txXfrm>
    </dsp:sp>
    <dsp:sp modelId="{5A182BD6-932E-4A6A-A774-6DAEB079B70F}">
      <dsp:nvSpPr>
        <dsp:cNvPr id="0" name=""/>
        <dsp:cNvSpPr/>
      </dsp:nvSpPr>
      <dsp:spPr>
        <a:xfrm rot="2700000">
          <a:off x="504758" y="313806"/>
          <a:ext cx="831071" cy="831071"/>
        </a:xfrm>
        <a:prstGeom prst="teardrop">
          <a:avLst>
            <a:gd name="adj" fmla="val 100000"/>
          </a:avLst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AC551-0C08-45D2-9FCA-06BA1703163F}">
      <dsp:nvSpPr>
        <dsp:cNvPr id="0" name=""/>
        <dsp:cNvSpPr/>
      </dsp:nvSpPr>
      <dsp:spPr>
        <a:xfrm>
          <a:off x="532578" y="341477"/>
          <a:ext cx="775874" cy="775874"/>
        </a:xfrm>
        <a:prstGeom prst="ellipse">
          <a:avLst/>
        </a:prstGeom>
        <a:solidFill>
          <a:schemeClr val="bg1">
            <a:lumMod val="85000"/>
            <a:alpha val="89804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Invoice Receipt/ Verification</a:t>
          </a:r>
          <a:endParaRPr lang="en-US" sz="500" kern="1200" dirty="0">
            <a:latin typeface="+mn-lt"/>
          </a:endParaRPr>
        </a:p>
      </dsp:txBody>
      <dsp:txXfrm>
        <a:off x="643606" y="452337"/>
        <a:ext cx="554259" cy="5541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BF9BC4-6BAB-4577-A90C-A74021483097}">
      <dsp:nvSpPr>
        <dsp:cNvPr id="0" name=""/>
        <dsp:cNvSpPr/>
      </dsp:nvSpPr>
      <dsp:spPr>
        <a:xfrm>
          <a:off x="3940853" y="313762"/>
          <a:ext cx="831167" cy="83130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CF17FA-19B1-4BE6-9799-112FC038D689}">
      <dsp:nvSpPr>
        <dsp:cNvPr id="0" name=""/>
        <dsp:cNvSpPr/>
      </dsp:nvSpPr>
      <dsp:spPr>
        <a:xfrm>
          <a:off x="3968278" y="341477"/>
          <a:ext cx="775874" cy="775874"/>
        </a:xfrm>
        <a:prstGeom prst="ellipse">
          <a:avLst/>
        </a:prstGeom>
        <a:solidFill>
          <a:schemeClr val="bg1">
            <a:lumMod val="85000"/>
            <a:alpha val="89804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Reporting</a:t>
          </a:r>
          <a:endParaRPr lang="en-US" sz="500" kern="1200" dirty="0">
            <a:latin typeface="+mn-lt"/>
          </a:endParaRPr>
        </a:p>
      </dsp:txBody>
      <dsp:txXfrm>
        <a:off x="4079307" y="452337"/>
        <a:ext cx="554259" cy="554154"/>
      </dsp:txXfrm>
    </dsp:sp>
    <dsp:sp modelId="{912B6635-5F98-4686-858B-65F2692317D9}">
      <dsp:nvSpPr>
        <dsp:cNvPr id="0" name=""/>
        <dsp:cNvSpPr/>
      </dsp:nvSpPr>
      <dsp:spPr>
        <a:xfrm rot="2700000">
          <a:off x="3081423" y="313806"/>
          <a:ext cx="831071" cy="831071"/>
        </a:xfrm>
        <a:prstGeom prst="teardrop">
          <a:avLst>
            <a:gd name="adj" fmla="val 100000"/>
          </a:avLst>
        </a:prstGeom>
        <a:noFill/>
        <a:ln w="2857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2AEE01-8096-42F3-A396-A4FC48EADBB4}">
      <dsp:nvSpPr>
        <dsp:cNvPr id="0" name=""/>
        <dsp:cNvSpPr/>
      </dsp:nvSpPr>
      <dsp:spPr>
        <a:xfrm>
          <a:off x="3070662" y="341477"/>
          <a:ext cx="892930" cy="775874"/>
        </a:xfrm>
        <a:prstGeom prst="ellipse">
          <a:avLst/>
        </a:prstGeom>
        <a:solidFill>
          <a:schemeClr val="accent2">
            <a:lumMod val="75000"/>
            <a:alpha val="89804"/>
          </a:schemeClr>
        </a:solidFill>
        <a:ln w="254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0" kern="1200" dirty="0" smtClean="0">
              <a:solidFill>
                <a:schemeClr val="bg1"/>
              </a:solidFill>
            </a:rPr>
            <a:t>Reconciliation</a:t>
          </a:r>
          <a:endParaRPr lang="en-US" sz="500" b="0" kern="1200" dirty="0">
            <a:solidFill>
              <a:schemeClr val="bg1"/>
            </a:solidFill>
            <a:latin typeface="+mn-lt"/>
          </a:endParaRPr>
        </a:p>
      </dsp:txBody>
      <dsp:txXfrm>
        <a:off x="3197933" y="452337"/>
        <a:ext cx="637880" cy="554154"/>
      </dsp:txXfrm>
    </dsp:sp>
    <dsp:sp modelId="{F3345FD4-D68E-4CC4-8A5E-DB56D2182E02}">
      <dsp:nvSpPr>
        <dsp:cNvPr id="0" name=""/>
        <dsp:cNvSpPr/>
      </dsp:nvSpPr>
      <dsp:spPr>
        <a:xfrm rot="2700000">
          <a:off x="2203343" y="313806"/>
          <a:ext cx="831071" cy="831071"/>
        </a:xfrm>
        <a:prstGeom prst="teardrop">
          <a:avLst>
            <a:gd name="adj" fmla="val 100000"/>
          </a:avLst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53DC8-941D-4DDE-AAD9-FCAFD3EC4023}">
      <dsp:nvSpPr>
        <dsp:cNvPr id="0" name=""/>
        <dsp:cNvSpPr/>
      </dsp:nvSpPr>
      <dsp:spPr>
        <a:xfrm>
          <a:off x="2250649" y="341477"/>
          <a:ext cx="775874" cy="775874"/>
        </a:xfrm>
        <a:prstGeom prst="ellipse">
          <a:avLst/>
        </a:prstGeom>
        <a:solidFill>
          <a:srgbClr val="FF0000"/>
        </a:solidFill>
        <a:ln w="127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bg1"/>
              </a:solidFill>
              <a:latin typeface="+mn-lt"/>
            </a:rPr>
            <a:t>Make Payment</a:t>
          </a:r>
          <a:endParaRPr lang="en-US" sz="500" kern="1200" dirty="0">
            <a:solidFill>
              <a:schemeClr val="bg1"/>
            </a:solidFill>
            <a:latin typeface="+mn-lt"/>
          </a:endParaRPr>
        </a:p>
      </dsp:txBody>
      <dsp:txXfrm>
        <a:off x="2361236" y="452337"/>
        <a:ext cx="554259" cy="554154"/>
      </dsp:txXfrm>
    </dsp:sp>
    <dsp:sp modelId="{89DFBE28-7300-41D6-AB92-AC502E6D90FC}">
      <dsp:nvSpPr>
        <dsp:cNvPr id="0" name=""/>
        <dsp:cNvSpPr/>
      </dsp:nvSpPr>
      <dsp:spPr>
        <a:xfrm rot="2700000">
          <a:off x="1363794" y="313806"/>
          <a:ext cx="831071" cy="831071"/>
        </a:xfrm>
        <a:prstGeom prst="teardrop">
          <a:avLst>
            <a:gd name="adj" fmla="val 100000"/>
          </a:avLst>
        </a:prstGeom>
        <a:noFill/>
        <a:ln w="2857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D4B27-0EF4-4AD6-A9B5-748DCDFB24D0}">
      <dsp:nvSpPr>
        <dsp:cNvPr id="0" name=""/>
        <dsp:cNvSpPr/>
      </dsp:nvSpPr>
      <dsp:spPr>
        <a:xfrm>
          <a:off x="1391613" y="341477"/>
          <a:ext cx="775874" cy="775874"/>
        </a:xfrm>
        <a:prstGeom prst="ellipse">
          <a:avLst/>
        </a:prstGeom>
        <a:solidFill>
          <a:srgbClr val="F4DCDC">
            <a:alpha val="89804"/>
          </a:srgbClr>
        </a:solidFill>
        <a:ln w="127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Release Payment</a:t>
          </a:r>
          <a:endParaRPr lang="en-US" sz="500" kern="1200" dirty="0">
            <a:latin typeface="+mn-lt"/>
          </a:endParaRPr>
        </a:p>
      </dsp:txBody>
      <dsp:txXfrm>
        <a:off x="1502642" y="452337"/>
        <a:ext cx="554259" cy="554154"/>
      </dsp:txXfrm>
    </dsp:sp>
    <dsp:sp modelId="{5A182BD6-932E-4A6A-A774-6DAEB079B70F}">
      <dsp:nvSpPr>
        <dsp:cNvPr id="0" name=""/>
        <dsp:cNvSpPr/>
      </dsp:nvSpPr>
      <dsp:spPr>
        <a:xfrm rot="2700000">
          <a:off x="504758" y="313806"/>
          <a:ext cx="831071" cy="831071"/>
        </a:xfrm>
        <a:prstGeom prst="teardrop">
          <a:avLst>
            <a:gd name="adj" fmla="val 100000"/>
          </a:avLst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AC551-0C08-45D2-9FCA-06BA1703163F}">
      <dsp:nvSpPr>
        <dsp:cNvPr id="0" name=""/>
        <dsp:cNvSpPr/>
      </dsp:nvSpPr>
      <dsp:spPr>
        <a:xfrm>
          <a:off x="532578" y="341477"/>
          <a:ext cx="775874" cy="775874"/>
        </a:xfrm>
        <a:prstGeom prst="ellipse">
          <a:avLst/>
        </a:prstGeom>
        <a:solidFill>
          <a:schemeClr val="bg1">
            <a:lumMod val="85000"/>
            <a:alpha val="89804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Invoice Receipt/ Verification</a:t>
          </a:r>
          <a:endParaRPr lang="en-US" sz="500" kern="1200" dirty="0">
            <a:latin typeface="+mn-lt"/>
          </a:endParaRPr>
        </a:p>
      </dsp:txBody>
      <dsp:txXfrm>
        <a:off x="643606" y="452337"/>
        <a:ext cx="554259" cy="5541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BF9BC4-6BAB-4577-A90C-A74021483097}">
      <dsp:nvSpPr>
        <dsp:cNvPr id="0" name=""/>
        <dsp:cNvSpPr/>
      </dsp:nvSpPr>
      <dsp:spPr>
        <a:xfrm>
          <a:off x="3940853" y="313762"/>
          <a:ext cx="831167" cy="83130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CF17FA-19B1-4BE6-9799-112FC038D689}">
      <dsp:nvSpPr>
        <dsp:cNvPr id="0" name=""/>
        <dsp:cNvSpPr/>
      </dsp:nvSpPr>
      <dsp:spPr>
        <a:xfrm>
          <a:off x="3968278" y="341477"/>
          <a:ext cx="775874" cy="775874"/>
        </a:xfrm>
        <a:prstGeom prst="ellipse">
          <a:avLst/>
        </a:prstGeom>
        <a:solidFill>
          <a:schemeClr val="bg1">
            <a:lumMod val="85000"/>
            <a:alpha val="89804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Reporting</a:t>
          </a:r>
          <a:endParaRPr lang="en-US" sz="500" kern="1200" dirty="0">
            <a:latin typeface="+mn-lt"/>
          </a:endParaRPr>
        </a:p>
      </dsp:txBody>
      <dsp:txXfrm>
        <a:off x="4079307" y="452337"/>
        <a:ext cx="554259" cy="554154"/>
      </dsp:txXfrm>
    </dsp:sp>
    <dsp:sp modelId="{912B6635-5F98-4686-858B-65F2692317D9}">
      <dsp:nvSpPr>
        <dsp:cNvPr id="0" name=""/>
        <dsp:cNvSpPr/>
      </dsp:nvSpPr>
      <dsp:spPr>
        <a:xfrm rot="2700000">
          <a:off x="3081423" y="313806"/>
          <a:ext cx="831071" cy="831071"/>
        </a:xfrm>
        <a:prstGeom prst="teardrop">
          <a:avLst>
            <a:gd name="adj" fmla="val 100000"/>
          </a:avLst>
        </a:prstGeom>
        <a:noFill/>
        <a:ln w="2857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2AEE01-8096-42F3-A396-A4FC48EADBB4}">
      <dsp:nvSpPr>
        <dsp:cNvPr id="0" name=""/>
        <dsp:cNvSpPr/>
      </dsp:nvSpPr>
      <dsp:spPr>
        <a:xfrm>
          <a:off x="3070662" y="341477"/>
          <a:ext cx="892930" cy="775874"/>
        </a:xfrm>
        <a:prstGeom prst="ellipse">
          <a:avLst/>
        </a:prstGeom>
        <a:solidFill>
          <a:schemeClr val="accent2">
            <a:lumMod val="75000"/>
            <a:alpha val="89804"/>
          </a:schemeClr>
        </a:solidFill>
        <a:ln w="254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0" kern="1200" dirty="0" smtClean="0">
              <a:solidFill>
                <a:schemeClr val="bg1"/>
              </a:solidFill>
            </a:rPr>
            <a:t>Reconciliation</a:t>
          </a:r>
          <a:endParaRPr lang="en-US" sz="500" b="0" kern="1200" dirty="0">
            <a:solidFill>
              <a:schemeClr val="bg1"/>
            </a:solidFill>
            <a:latin typeface="+mn-lt"/>
          </a:endParaRPr>
        </a:p>
      </dsp:txBody>
      <dsp:txXfrm>
        <a:off x="3197933" y="452337"/>
        <a:ext cx="637880" cy="554154"/>
      </dsp:txXfrm>
    </dsp:sp>
    <dsp:sp modelId="{F3345FD4-D68E-4CC4-8A5E-DB56D2182E02}">
      <dsp:nvSpPr>
        <dsp:cNvPr id="0" name=""/>
        <dsp:cNvSpPr/>
      </dsp:nvSpPr>
      <dsp:spPr>
        <a:xfrm rot="2700000">
          <a:off x="2203343" y="313806"/>
          <a:ext cx="831071" cy="831071"/>
        </a:xfrm>
        <a:prstGeom prst="teardrop">
          <a:avLst>
            <a:gd name="adj" fmla="val 100000"/>
          </a:avLst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53DC8-941D-4DDE-AAD9-FCAFD3EC4023}">
      <dsp:nvSpPr>
        <dsp:cNvPr id="0" name=""/>
        <dsp:cNvSpPr/>
      </dsp:nvSpPr>
      <dsp:spPr>
        <a:xfrm>
          <a:off x="2250649" y="341477"/>
          <a:ext cx="775874" cy="775874"/>
        </a:xfrm>
        <a:prstGeom prst="ellipse">
          <a:avLst/>
        </a:prstGeom>
        <a:solidFill>
          <a:srgbClr val="FF0000"/>
        </a:solidFill>
        <a:ln w="127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bg1"/>
              </a:solidFill>
              <a:latin typeface="+mn-lt"/>
            </a:rPr>
            <a:t>Make Payment</a:t>
          </a:r>
          <a:endParaRPr lang="en-US" sz="500" kern="1200" dirty="0">
            <a:solidFill>
              <a:schemeClr val="bg1"/>
            </a:solidFill>
            <a:latin typeface="+mn-lt"/>
          </a:endParaRPr>
        </a:p>
      </dsp:txBody>
      <dsp:txXfrm>
        <a:off x="2361236" y="452337"/>
        <a:ext cx="554259" cy="554154"/>
      </dsp:txXfrm>
    </dsp:sp>
    <dsp:sp modelId="{89DFBE28-7300-41D6-AB92-AC502E6D90FC}">
      <dsp:nvSpPr>
        <dsp:cNvPr id="0" name=""/>
        <dsp:cNvSpPr/>
      </dsp:nvSpPr>
      <dsp:spPr>
        <a:xfrm rot="2700000">
          <a:off x="1363794" y="313806"/>
          <a:ext cx="831071" cy="831071"/>
        </a:xfrm>
        <a:prstGeom prst="teardrop">
          <a:avLst>
            <a:gd name="adj" fmla="val 100000"/>
          </a:avLst>
        </a:prstGeom>
        <a:noFill/>
        <a:ln w="2857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D4B27-0EF4-4AD6-A9B5-748DCDFB24D0}">
      <dsp:nvSpPr>
        <dsp:cNvPr id="0" name=""/>
        <dsp:cNvSpPr/>
      </dsp:nvSpPr>
      <dsp:spPr>
        <a:xfrm>
          <a:off x="1391613" y="341477"/>
          <a:ext cx="775874" cy="775874"/>
        </a:xfrm>
        <a:prstGeom prst="ellipse">
          <a:avLst/>
        </a:prstGeom>
        <a:solidFill>
          <a:srgbClr val="F4DCDC">
            <a:alpha val="89804"/>
          </a:srgbClr>
        </a:solidFill>
        <a:ln w="127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Release Payment</a:t>
          </a:r>
          <a:endParaRPr lang="en-US" sz="500" kern="1200" dirty="0">
            <a:latin typeface="+mn-lt"/>
          </a:endParaRPr>
        </a:p>
      </dsp:txBody>
      <dsp:txXfrm>
        <a:off x="1502642" y="452337"/>
        <a:ext cx="554259" cy="554154"/>
      </dsp:txXfrm>
    </dsp:sp>
    <dsp:sp modelId="{5A182BD6-932E-4A6A-A774-6DAEB079B70F}">
      <dsp:nvSpPr>
        <dsp:cNvPr id="0" name=""/>
        <dsp:cNvSpPr/>
      </dsp:nvSpPr>
      <dsp:spPr>
        <a:xfrm rot="2700000">
          <a:off x="504758" y="313806"/>
          <a:ext cx="831071" cy="831071"/>
        </a:xfrm>
        <a:prstGeom prst="teardrop">
          <a:avLst>
            <a:gd name="adj" fmla="val 100000"/>
          </a:avLst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AC551-0C08-45D2-9FCA-06BA1703163F}">
      <dsp:nvSpPr>
        <dsp:cNvPr id="0" name=""/>
        <dsp:cNvSpPr/>
      </dsp:nvSpPr>
      <dsp:spPr>
        <a:xfrm>
          <a:off x="532578" y="341477"/>
          <a:ext cx="775874" cy="775874"/>
        </a:xfrm>
        <a:prstGeom prst="ellipse">
          <a:avLst/>
        </a:prstGeom>
        <a:solidFill>
          <a:schemeClr val="bg1">
            <a:lumMod val="85000"/>
            <a:alpha val="89804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Invoice Receipt/ Verification</a:t>
          </a:r>
          <a:endParaRPr lang="en-US" sz="500" kern="1200" dirty="0">
            <a:latin typeface="+mn-lt"/>
          </a:endParaRPr>
        </a:p>
      </dsp:txBody>
      <dsp:txXfrm>
        <a:off x="643606" y="452337"/>
        <a:ext cx="554259" cy="5541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BF9BC4-6BAB-4577-A90C-A74021483097}">
      <dsp:nvSpPr>
        <dsp:cNvPr id="0" name=""/>
        <dsp:cNvSpPr/>
      </dsp:nvSpPr>
      <dsp:spPr>
        <a:xfrm>
          <a:off x="3940853" y="313762"/>
          <a:ext cx="831167" cy="83130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CF17FA-19B1-4BE6-9799-112FC038D689}">
      <dsp:nvSpPr>
        <dsp:cNvPr id="0" name=""/>
        <dsp:cNvSpPr/>
      </dsp:nvSpPr>
      <dsp:spPr>
        <a:xfrm>
          <a:off x="3968278" y="341477"/>
          <a:ext cx="775874" cy="775874"/>
        </a:xfrm>
        <a:prstGeom prst="ellipse">
          <a:avLst/>
        </a:prstGeom>
        <a:solidFill>
          <a:schemeClr val="bg1">
            <a:lumMod val="85000"/>
            <a:alpha val="89804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Reporting</a:t>
          </a:r>
          <a:endParaRPr lang="en-US" sz="500" kern="1200" dirty="0">
            <a:latin typeface="+mn-lt"/>
          </a:endParaRPr>
        </a:p>
      </dsp:txBody>
      <dsp:txXfrm>
        <a:off x="4079307" y="452337"/>
        <a:ext cx="554259" cy="554154"/>
      </dsp:txXfrm>
    </dsp:sp>
    <dsp:sp modelId="{912B6635-5F98-4686-858B-65F2692317D9}">
      <dsp:nvSpPr>
        <dsp:cNvPr id="0" name=""/>
        <dsp:cNvSpPr/>
      </dsp:nvSpPr>
      <dsp:spPr>
        <a:xfrm rot="2700000">
          <a:off x="3081423" y="313806"/>
          <a:ext cx="831071" cy="831071"/>
        </a:xfrm>
        <a:prstGeom prst="teardrop">
          <a:avLst>
            <a:gd name="adj" fmla="val 100000"/>
          </a:avLst>
        </a:prstGeom>
        <a:noFill/>
        <a:ln w="2857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2AEE01-8096-42F3-A396-A4FC48EADBB4}">
      <dsp:nvSpPr>
        <dsp:cNvPr id="0" name=""/>
        <dsp:cNvSpPr/>
      </dsp:nvSpPr>
      <dsp:spPr>
        <a:xfrm>
          <a:off x="3070662" y="341477"/>
          <a:ext cx="892930" cy="775874"/>
        </a:xfrm>
        <a:prstGeom prst="ellipse">
          <a:avLst/>
        </a:prstGeom>
        <a:solidFill>
          <a:schemeClr val="accent2">
            <a:lumMod val="75000"/>
            <a:alpha val="89804"/>
          </a:schemeClr>
        </a:solidFill>
        <a:ln w="254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0" kern="1200" dirty="0" smtClean="0">
              <a:solidFill>
                <a:schemeClr val="bg1"/>
              </a:solidFill>
            </a:rPr>
            <a:t>Reconciliation</a:t>
          </a:r>
          <a:endParaRPr lang="en-US" sz="500" b="0" kern="1200" dirty="0">
            <a:solidFill>
              <a:schemeClr val="bg1"/>
            </a:solidFill>
            <a:latin typeface="+mn-lt"/>
          </a:endParaRPr>
        </a:p>
      </dsp:txBody>
      <dsp:txXfrm>
        <a:off x="3197933" y="452337"/>
        <a:ext cx="637880" cy="554154"/>
      </dsp:txXfrm>
    </dsp:sp>
    <dsp:sp modelId="{F3345FD4-D68E-4CC4-8A5E-DB56D2182E02}">
      <dsp:nvSpPr>
        <dsp:cNvPr id="0" name=""/>
        <dsp:cNvSpPr/>
      </dsp:nvSpPr>
      <dsp:spPr>
        <a:xfrm rot="2700000">
          <a:off x="2203343" y="313806"/>
          <a:ext cx="831071" cy="831071"/>
        </a:xfrm>
        <a:prstGeom prst="teardrop">
          <a:avLst>
            <a:gd name="adj" fmla="val 100000"/>
          </a:avLst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53DC8-941D-4DDE-AAD9-FCAFD3EC4023}">
      <dsp:nvSpPr>
        <dsp:cNvPr id="0" name=""/>
        <dsp:cNvSpPr/>
      </dsp:nvSpPr>
      <dsp:spPr>
        <a:xfrm>
          <a:off x="2250649" y="341477"/>
          <a:ext cx="775874" cy="775874"/>
        </a:xfrm>
        <a:prstGeom prst="ellipse">
          <a:avLst/>
        </a:prstGeom>
        <a:solidFill>
          <a:srgbClr val="FF0000"/>
        </a:solidFill>
        <a:ln w="127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bg1"/>
              </a:solidFill>
              <a:latin typeface="+mn-lt"/>
            </a:rPr>
            <a:t>Make Payment</a:t>
          </a:r>
          <a:endParaRPr lang="en-US" sz="500" kern="1200" dirty="0">
            <a:solidFill>
              <a:schemeClr val="bg1"/>
            </a:solidFill>
            <a:latin typeface="+mn-lt"/>
          </a:endParaRPr>
        </a:p>
      </dsp:txBody>
      <dsp:txXfrm>
        <a:off x="2361236" y="452337"/>
        <a:ext cx="554259" cy="554154"/>
      </dsp:txXfrm>
    </dsp:sp>
    <dsp:sp modelId="{89DFBE28-7300-41D6-AB92-AC502E6D90FC}">
      <dsp:nvSpPr>
        <dsp:cNvPr id="0" name=""/>
        <dsp:cNvSpPr/>
      </dsp:nvSpPr>
      <dsp:spPr>
        <a:xfrm rot="2700000">
          <a:off x="1363794" y="313806"/>
          <a:ext cx="831071" cy="831071"/>
        </a:xfrm>
        <a:prstGeom prst="teardrop">
          <a:avLst>
            <a:gd name="adj" fmla="val 100000"/>
          </a:avLst>
        </a:prstGeom>
        <a:noFill/>
        <a:ln w="2857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D4B27-0EF4-4AD6-A9B5-748DCDFB24D0}">
      <dsp:nvSpPr>
        <dsp:cNvPr id="0" name=""/>
        <dsp:cNvSpPr/>
      </dsp:nvSpPr>
      <dsp:spPr>
        <a:xfrm>
          <a:off x="1391613" y="341477"/>
          <a:ext cx="775874" cy="775874"/>
        </a:xfrm>
        <a:prstGeom prst="ellipse">
          <a:avLst/>
        </a:prstGeom>
        <a:solidFill>
          <a:srgbClr val="F4DCDC">
            <a:alpha val="89804"/>
          </a:srgbClr>
        </a:solidFill>
        <a:ln w="127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Release Payment</a:t>
          </a:r>
          <a:endParaRPr lang="en-US" sz="500" kern="1200" dirty="0">
            <a:latin typeface="+mn-lt"/>
          </a:endParaRPr>
        </a:p>
      </dsp:txBody>
      <dsp:txXfrm>
        <a:off x="1502642" y="452337"/>
        <a:ext cx="554259" cy="554154"/>
      </dsp:txXfrm>
    </dsp:sp>
    <dsp:sp modelId="{5A182BD6-932E-4A6A-A774-6DAEB079B70F}">
      <dsp:nvSpPr>
        <dsp:cNvPr id="0" name=""/>
        <dsp:cNvSpPr/>
      </dsp:nvSpPr>
      <dsp:spPr>
        <a:xfrm rot="2700000">
          <a:off x="504758" y="313806"/>
          <a:ext cx="831071" cy="831071"/>
        </a:xfrm>
        <a:prstGeom prst="teardrop">
          <a:avLst>
            <a:gd name="adj" fmla="val 100000"/>
          </a:avLst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AC551-0C08-45D2-9FCA-06BA1703163F}">
      <dsp:nvSpPr>
        <dsp:cNvPr id="0" name=""/>
        <dsp:cNvSpPr/>
      </dsp:nvSpPr>
      <dsp:spPr>
        <a:xfrm>
          <a:off x="532578" y="341477"/>
          <a:ext cx="775874" cy="775874"/>
        </a:xfrm>
        <a:prstGeom prst="ellipse">
          <a:avLst/>
        </a:prstGeom>
        <a:solidFill>
          <a:schemeClr val="bg1">
            <a:lumMod val="85000"/>
            <a:alpha val="89804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Invoice Receipt/ Verification</a:t>
          </a:r>
          <a:endParaRPr lang="en-US" sz="500" kern="1200" dirty="0">
            <a:latin typeface="+mn-lt"/>
          </a:endParaRPr>
        </a:p>
      </dsp:txBody>
      <dsp:txXfrm>
        <a:off x="643606" y="452337"/>
        <a:ext cx="554259" cy="5541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BF9BC4-6BAB-4577-A90C-A74021483097}">
      <dsp:nvSpPr>
        <dsp:cNvPr id="0" name=""/>
        <dsp:cNvSpPr/>
      </dsp:nvSpPr>
      <dsp:spPr>
        <a:xfrm>
          <a:off x="3940853" y="313762"/>
          <a:ext cx="831167" cy="83130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CF17FA-19B1-4BE6-9799-112FC038D689}">
      <dsp:nvSpPr>
        <dsp:cNvPr id="0" name=""/>
        <dsp:cNvSpPr/>
      </dsp:nvSpPr>
      <dsp:spPr>
        <a:xfrm>
          <a:off x="3968278" y="341477"/>
          <a:ext cx="775874" cy="775874"/>
        </a:xfrm>
        <a:prstGeom prst="ellipse">
          <a:avLst/>
        </a:prstGeom>
        <a:solidFill>
          <a:schemeClr val="bg1">
            <a:lumMod val="85000"/>
            <a:alpha val="89804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Reporting</a:t>
          </a:r>
          <a:endParaRPr lang="en-US" sz="500" kern="1200" dirty="0">
            <a:latin typeface="+mn-lt"/>
          </a:endParaRPr>
        </a:p>
      </dsp:txBody>
      <dsp:txXfrm>
        <a:off x="4079307" y="452337"/>
        <a:ext cx="554259" cy="554154"/>
      </dsp:txXfrm>
    </dsp:sp>
    <dsp:sp modelId="{912B6635-5F98-4686-858B-65F2692317D9}">
      <dsp:nvSpPr>
        <dsp:cNvPr id="0" name=""/>
        <dsp:cNvSpPr/>
      </dsp:nvSpPr>
      <dsp:spPr>
        <a:xfrm rot="2700000">
          <a:off x="3081423" y="313806"/>
          <a:ext cx="831071" cy="831071"/>
        </a:xfrm>
        <a:prstGeom prst="teardrop">
          <a:avLst>
            <a:gd name="adj" fmla="val 100000"/>
          </a:avLst>
        </a:prstGeom>
        <a:noFill/>
        <a:ln w="2857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2AEE01-8096-42F3-A396-A4FC48EADBB4}">
      <dsp:nvSpPr>
        <dsp:cNvPr id="0" name=""/>
        <dsp:cNvSpPr/>
      </dsp:nvSpPr>
      <dsp:spPr>
        <a:xfrm>
          <a:off x="3070662" y="341477"/>
          <a:ext cx="892930" cy="775874"/>
        </a:xfrm>
        <a:prstGeom prst="ellipse">
          <a:avLst/>
        </a:prstGeom>
        <a:solidFill>
          <a:schemeClr val="accent2">
            <a:lumMod val="75000"/>
            <a:alpha val="89804"/>
          </a:schemeClr>
        </a:solidFill>
        <a:ln w="254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0" kern="1200" dirty="0" smtClean="0">
              <a:solidFill>
                <a:schemeClr val="bg1"/>
              </a:solidFill>
            </a:rPr>
            <a:t>Reconciliation</a:t>
          </a:r>
          <a:endParaRPr lang="en-US" sz="500" b="0" kern="1200" dirty="0">
            <a:solidFill>
              <a:schemeClr val="bg1"/>
            </a:solidFill>
            <a:latin typeface="+mn-lt"/>
          </a:endParaRPr>
        </a:p>
      </dsp:txBody>
      <dsp:txXfrm>
        <a:off x="3197933" y="452337"/>
        <a:ext cx="637880" cy="554154"/>
      </dsp:txXfrm>
    </dsp:sp>
    <dsp:sp modelId="{F3345FD4-D68E-4CC4-8A5E-DB56D2182E02}">
      <dsp:nvSpPr>
        <dsp:cNvPr id="0" name=""/>
        <dsp:cNvSpPr/>
      </dsp:nvSpPr>
      <dsp:spPr>
        <a:xfrm rot="2700000">
          <a:off x="2203343" y="313806"/>
          <a:ext cx="831071" cy="831071"/>
        </a:xfrm>
        <a:prstGeom prst="teardrop">
          <a:avLst>
            <a:gd name="adj" fmla="val 100000"/>
          </a:avLst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53DC8-941D-4DDE-AAD9-FCAFD3EC4023}">
      <dsp:nvSpPr>
        <dsp:cNvPr id="0" name=""/>
        <dsp:cNvSpPr/>
      </dsp:nvSpPr>
      <dsp:spPr>
        <a:xfrm>
          <a:off x="2250649" y="341477"/>
          <a:ext cx="775874" cy="775874"/>
        </a:xfrm>
        <a:prstGeom prst="ellipse">
          <a:avLst/>
        </a:prstGeom>
        <a:solidFill>
          <a:srgbClr val="FF0000"/>
        </a:solidFill>
        <a:ln w="127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bg1"/>
              </a:solidFill>
              <a:latin typeface="+mn-lt"/>
            </a:rPr>
            <a:t>Make Payment</a:t>
          </a:r>
          <a:endParaRPr lang="en-US" sz="500" kern="1200" dirty="0">
            <a:solidFill>
              <a:schemeClr val="bg1"/>
            </a:solidFill>
            <a:latin typeface="+mn-lt"/>
          </a:endParaRPr>
        </a:p>
      </dsp:txBody>
      <dsp:txXfrm>
        <a:off x="2361236" y="452337"/>
        <a:ext cx="554259" cy="554154"/>
      </dsp:txXfrm>
    </dsp:sp>
    <dsp:sp modelId="{89DFBE28-7300-41D6-AB92-AC502E6D90FC}">
      <dsp:nvSpPr>
        <dsp:cNvPr id="0" name=""/>
        <dsp:cNvSpPr/>
      </dsp:nvSpPr>
      <dsp:spPr>
        <a:xfrm rot="2700000">
          <a:off x="1363794" y="313806"/>
          <a:ext cx="831071" cy="831071"/>
        </a:xfrm>
        <a:prstGeom prst="teardrop">
          <a:avLst>
            <a:gd name="adj" fmla="val 100000"/>
          </a:avLst>
        </a:prstGeom>
        <a:noFill/>
        <a:ln w="2857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D4B27-0EF4-4AD6-A9B5-748DCDFB24D0}">
      <dsp:nvSpPr>
        <dsp:cNvPr id="0" name=""/>
        <dsp:cNvSpPr/>
      </dsp:nvSpPr>
      <dsp:spPr>
        <a:xfrm>
          <a:off x="1391613" y="341477"/>
          <a:ext cx="775874" cy="775874"/>
        </a:xfrm>
        <a:prstGeom prst="ellipse">
          <a:avLst/>
        </a:prstGeom>
        <a:solidFill>
          <a:srgbClr val="F4DCDC">
            <a:alpha val="89804"/>
          </a:srgbClr>
        </a:solidFill>
        <a:ln w="127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Release Payment</a:t>
          </a:r>
          <a:endParaRPr lang="en-US" sz="500" kern="1200" dirty="0">
            <a:latin typeface="+mn-lt"/>
          </a:endParaRPr>
        </a:p>
      </dsp:txBody>
      <dsp:txXfrm>
        <a:off x="1502642" y="452337"/>
        <a:ext cx="554259" cy="554154"/>
      </dsp:txXfrm>
    </dsp:sp>
    <dsp:sp modelId="{5A182BD6-932E-4A6A-A774-6DAEB079B70F}">
      <dsp:nvSpPr>
        <dsp:cNvPr id="0" name=""/>
        <dsp:cNvSpPr/>
      </dsp:nvSpPr>
      <dsp:spPr>
        <a:xfrm rot="2700000">
          <a:off x="504758" y="313806"/>
          <a:ext cx="831071" cy="831071"/>
        </a:xfrm>
        <a:prstGeom prst="teardrop">
          <a:avLst>
            <a:gd name="adj" fmla="val 100000"/>
          </a:avLst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AC551-0C08-45D2-9FCA-06BA1703163F}">
      <dsp:nvSpPr>
        <dsp:cNvPr id="0" name=""/>
        <dsp:cNvSpPr/>
      </dsp:nvSpPr>
      <dsp:spPr>
        <a:xfrm>
          <a:off x="532578" y="341477"/>
          <a:ext cx="775874" cy="775874"/>
        </a:xfrm>
        <a:prstGeom prst="ellipse">
          <a:avLst/>
        </a:prstGeom>
        <a:solidFill>
          <a:schemeClr val="bg1">
            <a:lumMod val="85000"/>
            <a:alpha val="89804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Invoice Receipt/ Verification</a:t>
          </a:r>
          <a:endParaRPr lang="en-US" sz="500" kern="1200" dirty="0">
            <a:latin typeface="+mn-lt"/>
          </a:endParaRPr>
        </a:p>
      </dsp:txBody>
      <dsp:txXfrm>
        <a:off x="643606" y="452337"/>
        <a:ext cx="554259" cy="55415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BF9BC4-6BAB-4577-A90C-A74021483097}">
      <dsp:nvSpPr>
        <dsp:cNvPr id="0" name=""/>
        <dsp:cNvSpPr/>
      </dsp:nvSpPr>
      <dsp:spPr>
        <a:xfrm>
          <a:off x="3940853" y="313762"/>
          <a:ext cx="831167" cy="83130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CF17FA-19B1-4BE6-9799-112FC038D689}">
      <dsp:nvSpPr>
        <dsp:cNvPr id="0" name=""/>
        <dsp:cNvSpPr/>
      </dsp:nvSpPr>
      <dsp:spPr>
        <a:xfrm>
          <a:off x="3968278" y="341477"/>
          <a:ext cx="775874" cy="775874"/>
        </a:xfrm>
        <a:prstGeom prst="ellipse">
          <a:avLst/>
        </a:prstGeom>
        <a:solidFill>
          <a:schemeClr val="bg1">
            <a:lumMod val="85000"/>
            <a:alpha val="89804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Reporting</a:t>
          </a:r>
          <a:endParaRPr lang="en-US" sz="500" kern="1200" dirty="0">
            <a:latin typeface="+mn-lt"/>
          </a:endParaRPr>
        </a:p>
      </dsp:txBody>
      <dsp:txXfrm>
        <a:off x="4079307" y="452337"/>
        <a:ext cx="554259" cy="554154"/>
      </dsp:txXfrm>
    </dsp:sp>
    <dsp:sp modelId="{912B6635-5F98-4686-858B-65F2692317D9}">
      <dsp:nvSpPr>
        <dsp:cNvPr id="0" name=""/>
        <dsp:cNvSpPr/>
      </dsp:nvSpPr>
      <dsp:spPr>
        <a:xfrm rot="2700000">
          <a:off x="3081423" y="313806"/>
          <a:ext cx="831071" cy="831071"/>
        </a:xfrm>
        <a:prstGeom prst="teardrop">
          <a:avLst>
            <a:gd name="adj" fmla="val 100000"/>
          </a:avLst>
        </a:prstGeom>
        <a:noFill/>
        <a:ln w="2857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2AEE01-8096-42F3-A396-A4FC48EADBB4}">
      <dsp:nvSpPr>
        <dsp:cNvPr id="0" name=""/>
        <dsp:cNvSpPr/>
      </dsp:nvSpPr>
      <dsp:spPr>
        <a:xfrm>
          <a:off x="3070662" y="341477"/>
          <a:ext cx="892930" cy="775874"/>
        </a:xfrm>
        <a:prstGeom prst="ellipse">
          <a:avLst/>
        </a:prstGeom>
        <a:solidFill>
          <a:schemeClr val="accent2">
            <a:lumMod val="75000"/>
            <a:alpha val="89804"/>
          </a:schemeClr>
        </a:solidFill>
        <a:ln w="254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0" kern="1200" dirty="0" smtClean="0">
              <a:solidFill>
                <a:schemeClr val="bg1"/>
              </a:solidFill>
            </a:rPr>
            <a:t>Reconciliation</a:t>
          </a:r>
          <a:endParaRPr lang="en-US" sz="500" b="0" kern="1200" dirty="0">
            <a:solidFill>
              <a:schemeClr val="bg1"/>
            </a:solidFill>
            <a:latin typeface="+mn-lt"/>
          </a:endParaRPr>
        </a:p>
      </dsp:txBody>
      <dsp:txXfrm>
        <a:off x="3197933" y="452337"/>
        <a:ext cx="637880" cy="554154"/>
      </dsp:txXfrm>
    </dsp:sp>
    <dsp:sp modelId="{F3345FD4-D68E-4CC4-8A5E-DB56D2182E02}">
      <dsp:nvSpPr>
        <dsp:cNvPr id="0" name=""/>
        <dsp:cNvSpPr/>
      </dsp:nvSpPr>
      <dsp:spPr>
        <a:xfrm rot="2700000">
          <a:off x="2203343" y="313806"/>
          <a:ext cx="831071" cy="831071"/>
        </a:xfrm>
        <a:prstGeom prst="teardrop">
          <a:avLst>
            <a:gd name="adj" fmla="val 100000"/>
          </a:avLst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53DC8-941D-4DDE-AAD9-FCAFD3EC4023}">
      <dsp:nvSpPr>
        <dsp:cNvPr id="0" name=""/>
        <dsp:cNvSpPr/>
      </dsp:nvSpPr>
      <dsp:spPr>
        <a:xfrm>
          <a:off x="2250649" y="341477"/>
          <a:ext cx="775874" cy="775874"/>
        </a:xfrm>
        <a:prstGeom prst="ellipse">
          <a:avLst/>
        </a:prstGeom>
        <a:solidFill>
          <a:srgbClr val="FF0000"/>
        </a:solidFill>
        <a:ln w="127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bg1"/>
              </a:solidFill>
              <a:latin typeface="+mn-lt"/>
            </a:rPr>
            <a:t>Make Payment</a:t>
          </a:r>
          <a:endParaRPr lang="en-US" sz="500" kern="1200" dirty="0">
            <a:solidFill>
              <a:schemeClr val="bg1"/>
            </a:solidFill>
            <a:latin typeface="+mn-lt"/>
          </a:endParaRPr>
        </a:p>
      </dsp:txBody>
      <dsp:txXfrm>
        <a:off x="2361236" y="452337"/>
        <a:ext cx="554259" cy="554154"/>
      </dsp:txXfrm>
    </dsp:sp>
    <dsp:sp modelId="{89DFBE28-7300-41D6-AB92-AC502E6D90FC}">
      <dsp:nvSpPr>
        <dsp:cNvPr id="0" name=""/>
        <dsp:cNvSpPr/>
      </dsp:nvSpPr>
      <dsp:spPr>
        <a:xfrm rot="2700000">
          <a:off x="1363794" y="313806"/>
          <a:ext cx="831071" cy="831071"/>
        </a:xfrm>
        <a:prstGeom prst="teardrop">
          <a:avLst>
            <a:gd name="adj" fmla="val 100000"/>
          </a:avLst>
        </a:prstGeom>
        <a:noFill/>
        <a:ln w="2857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D4B27-0EF4-4AD6-A9B5-748DCDFB24D0}">
      <dsp:nvSpPr>
        <dsp:cNvPr id="0" name=""/>
        <dsp:cNvSpPr/>
      </dsp:nvSpPr>
      <dsp:spPr>
        <a:xfrm>
          <a:off x="1391613" y="341477"/>
          <a:ext cx="775874" cy="775874"/>
        </a:xfrm>
        <a:prstGeom prst="ellipse">
          <a:avLst/>
        </a:prstGeom>
        <a:solidFill>
          <a:srgbClr val="F4DCDC">
            <a:alpha val="89804"/>
          </a:srgbClr>
        </a:solidFill>
        <a:ln w="127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Release Payment</a:t>
          </a:r>
          <a:endParaRPr lang="en-US" sz="500" kern="1200" dirty="0">
            <a:latin typeface="+mn-lt"/>
          </a:endParaRPr>
        </a:p>
      </dsp:txBody>
      <dsp:txXfrm>
        <a:off x="1502642" y="452337"/>
        <a:ext cx="554259" cy="554154"/>
      </dsp:txXfrm>
    </dsp:sp>
    <dsp:sp modelId="{5A182BD6-932E-4A6A-A774-6DAEB079B70F}">
      <dsp:nvSpPr>
        <dsp:cNvPr id="0" name=""/>
        <dsp:cNvSpPr/>
      </dsp:nvSpPr>
      <dsp:spPr>
        <a:xfrm rot="2700000">
          <a:off x="504758" y="313806"/>
          <a:ext cx="831071" cy="831071"/>
        </a:xfrm>
        <a:prstGeom prst="teardrop">
          <a:avLst>
            <a:gd name="adj" fmla="val 100000"/>
          </a:avLst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AC551-0C08-45D2-9FCA-06BA1703163F}">
      <dsp:nvSpPr>
        <dsp:cNvPr id="0" name=""/>
        <dsp:cNvSpPr/>
      </dsp:nvSpPr>
      <dsp:spPr>
        <a:xfrm>
          <a:off x="532578" y="341477"/>
          <a:ext cx="775874" cy="775874"/>
        </a:xfrm>
        <a:prstGeom prst="ellipse">
          <a:avLst/>
        </a:prstGeom>
        <a:solidFill>
          <a:schemeClr val="bg1">
            <a:lumMod val="85000"/>
            <a:alpha val="89804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Invoice Receipt/ Verification</a:t>
          </a:r>
          <a:endParaRPr lang="en-US" sz="500" kern="1200" dirty="0">
            <a:latin typeface="+mn-lt"/>
          </a:endParaRPr>
        </a:p>
      </dsp:txBody>
      <dsp:txXfrm>
        <a:off x="643606" y="452337"/>
        <a:ext cx="554259" cy="55415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BF9BC4-6BAB-4577-A90C-A74021483097}">
      <dsp:nvSpPr>
        <dsp:cNvPr id="0" name=""/>
        <dsp:cNvSpPr/>
      </dsp:nvSpPr>
      <dsp:spPr>
        <a:xfrm>
          <a:off x="3940853" y="313762"/>
          <a:ext cx="831167" cy="83130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CF17FA-19B1-4BE6-9799-112FC038D689}">
      <dsp:nvSpPr>
        <dsp:cNvPr id="0" name=""/>
        <dsp:cNvSpPr/>
      </dsp:nvSpPr>
      <dsp:spPr>
        <a:xfrm>
          <a:off x="3968278" y="341477"/>
          <a:ext cx="775874" cy="775874"/>
        </a:xfrm>
        <a:prstGeom prst="ellipse">
          <a:avLst/>
        </a:prstGeom>
        <a:solidFill>
          <a:schemeClr val="bg1">
            <a:lumMod val="85000"/>
            <a:alpha val="89804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Reporting</a:t>
          </a:r>
          <a:endParaRPr lang="en-US" sz="500" kern="1200" dirty="0">
            <a:latin typeface="+mn-lt"/>
          </a:endParaRPr>
        </a:p>
      </dsp:txBody>
      <dsp:txXfrm>
        <a:off x="4079307" y="452337"/>
        <a:ext cx="554259" cy="554154"/>
      </dsp:txXfrm>
    </dsp:sp>
    <dsp:sp modelId="{912B6635-5F98-4686-858B-65F2692317D9}">
      <dsp:nvSpPr>
        <dsp:cNvPr id="0" name=""/>
        <dsp:cNvSpPr/>
      </dsp:nvSpPr>
      <dsp:spPr>
        <a:xfrm rot="2700000">
          <a:off x="3081423" y="313806"/>
          <a:ext cx="831071" cy="831071"/>
        </a:xfrm>
        <a:prstGeom prst="teardrop">
          <a:avLst>
            <a:gd name="adj" fmla="val 100000"/>
          </a:avLst>
        </a:prstGeom>
        <a:noFill/>
        <a:ln w="2857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2AEE01-8096-42F3-A396-A4FC48EADBB4}">
      <dsp:nvSpPr>
        <dsp:cNvPr id="0" name=""/>
        <dsp:cNvSpPr/>
      </dsp:nvSpPr>
      <dsp:spPr>
        <a:xfrm>
          <a:off x="3070662" y="341477"/>
          <a:ext cx="892930" cy="775874"/>
        </a:xfrm>
        <a:prstGeom prst="ellipse">
          <a:avLst/>
        </a:prstGeom>
        <a:solidFill>
          <a:schemeClr val="accent2">
            <a:lumMod val="75000"/>
            <a:alpha val="89804"/>
          </a:schemeClr>
        </a:solidFill>
        <a:ln w="254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0" kern="1200" dirty="0" smtClean="0">
              <a:solidFill>
                <a:schemeClr val="bg1"/>
              </a:solidFill>
            </a:rPr>
            <a:t>Reconciliation</a:t>
          </a:r>
          <a:endParaRPr lang="en-US" sz="500" b="0" kern="1200" dirty="0">
            <a:solidFill>
              <a:schemeClr val="bg1"/>
            </a:solidFill>
            <a:latin typeface="+mn-lt"/>
          </a:endParaRPr>
        </a:p>
      </dsp:txBody>
      <dsp:txXfrm>
        <a:off x="3197933" y="452337"/>
        <a:ext cx="637880" cy="554154"/>
      </dsp:txXfrm>
    </dsp:sp>
    <dsp:sp modelId="{F3345FD4-D68E-4CC4-8A5E-DB56D2182E02}">
      <dsp:nvSpPr>
        <dsp:cNvPr id="0" name=""/>
        <dsp:cNvSpPr/>
      </dsp:nvSpPr>
      <dsp:spPr>
        <a:xfrm rot="2700000">
          <a:off x="2203343" y="313806"/>
          <a:ext cx="831071" cy="831071"/>
        </a:xfrm>
        <a:prstGeom prst="teardrop">
          <a:avLst>
            <a:gd name="adj" fmla="val 100000"/>
          </a:avLst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53DC8-941D-4DDE-AAD9-FCAFD3EC4023}">
      <dsp:nvSpPr>
        <dsp:cNvPr id="0" name=""/>
        <dsp:cNvSpPr/>
      </dsp:nvSpPr>
      <dsp:spPr>
        <a:xfrm>
          <a:off x="2250649" y="341477"/>
          <a:ext cx="775874" cy="775874"/>
        </a:xfrm>
        <a:prstGeom prst="ellipse">
          <a:avLst/>
        </a:prstGeom>
        <a:solidFill>
          <a:srgbClr val="FF0000"/>
        </a:solidFill>
        <a:ln w="127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bg1"/>
              </a:solidFill>
              <a:latin typeface="+mn-lt"/>
            </a:rPr>
            <a:t>Make Payment</a:t>
          </a:r>
          <a:endParaRPr lang="en-US" sz="500" kern="1200" dirty="0">
            <a:solidFill>
              <a:schemeClr val="bg1"/>
            </a:solidFill>
            <a:latin typeface="+mn-lt"/>
          </a:endParaRPr>
        </a:p>
      </dsp:txBody>
      <dsp:txXfrm>
        <a:off x="2361236" y="452337"/>
        <a:ext cx="554259" cy="554154"/>
      </dsp:txXfrm>
    </dsp:sp>
    <dsp:sp modelId="{89DFBE28-7300-41D6-AB92-AC502E6D90FC}">
      <dsp:nvSpPr>
        <dsp:cNvPr id="0" name=""/>
        <dsp:cNvSpPr/>
      </dsp:nvSpPr>
      <dsp:spPr>
        <a:xfrm rot="2700000">
          <a:off x="1363794" y="313806"/>
          <a:ext cx="831071" cy="831071"/>
        </a:xfrm>
        <a:prstGeom prst="teardrop">
          <a:avLst>
            <a:gd name="adj" fmla="val 100000"/>
          </a:avLst>
        </a:prstGeom>
        <a:noFill/>
        <a:ln w="2857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D4B27-0EF4-4AD6-A9B5-748DCDFB24D0}">
      <dsp:nvSpPr>
        <dsp:cNvPr id="0" name=""/>
        <dsp:cNvSpPr/>
      </dsp:nvSpPr>
      <dsp:spPr>
        <a:xfrm>
          <a:off x="1391613" y="341477"/>
          <a:ext cx="775874" cy="775874"/>
        </a:xfrm>
        <a:prstGeom prst="ellipse">
          <a:avLst/>
        </a:prstGeom>
        <a:solidFill>
          <a:srgbClr val="F4DCDC">
            <a:alpha val="89804"/>
          </a:srgbClr>
        </a:solidFill>
        <a:ln w="127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Release Payment</a:t>
          </a:r>
          <a:endParaRPr lang="en-US" sz="500" kern="1200" dirty="0">
            <a:latin typeface="+mn-lt"/>
          </a:endParaRPr>
        </a:p>
      </dsp:txBody>
      <dsp:txXfrm>
        <a:off x="1502642" y="452337"/>
        <a:ext cx="554259" cy="554154"/>
      </dsp:txXfrm>
    </dsp:sp>
    <dsp:sp modelId="{5A182BD6-932E-4A6A-A774-6DAEB079B70F}">
      <dsp:nvSpPr>
        <dsp:cNvPr id="0" name=""/>
        <dsp:cNvSpPr/>
      </dsp:nvSpPr>
      <dsp:spPr>
        <a:xfrm rot="2700000">
          <a:off x="504758" y="313806"/>
          <a:ext cx="831071" cy="831071"/>
        </a:xfrm>
        <a:prstGeom prst="teardrop">
          <a:avLst>
            <a:gd name="adj" fmla="val 100000"/>
          </a:avLst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AC551-0C08-45D2-9FCA-06BA1703163F}">
      <dsp:nvSpPr>
        <dsp:cNvPr id="0" name=""/>
        <dsp:cNvSpPr/>
      </dsp:nvSpPr>
      <dsp:spPr>
        <a:xfrm>
          <a:off x="532578" y="341477"/>
          <a:ext cx="775874" cy="775874"/>
        </a:xfrm>
        <a:prstGeom prst="ellipse">
          <a:avLst/>
        </a:prstGeom>
        <a:solidFill>
          <a:schemeClr val="bg1">
            <a:lumMod val="85000"/>
            <a:alpha val="89804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Invoice Receipt/ Verification</a:t>
          </a:r>
          <a:endParaRPr lang="en-US" sz="500" kern="1200" dirty="0">
            <a:latin typeface="+mn-lt"/>
          </a:endParaRPr>
        </a:p>
      </dsp:txBody>
      <dsp:txXfrm>
        <a:off x="643606" y="452337"/>
        <a:ext cx="554259" cy="55415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BF9BC4-6BAB-4577-A90C-A74021483097}">
      <dsp:nvSpPr>
        <dsp:cNvPr id="0" name=""/>
        <dsp:cNvSpPr/>
      </dsp:nvSpPr>
      <dsp:spPr>
        <a:xfrm>
          <a:off x="3940853" y="313762"/>
          <a:ext cx="831167" cy="83130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CF17FA-19B1-4BE6-9799-112FC038D689}">
      <dsp:nvSpPr>
        <dsp:cNvPr id="0" name=""/>
        <dsp:cNvSpPr/>
      </dsp:nvSpPr>
      <dsp:spPr>
        <a:xfrm>
          <a:off x="3968278" y="341477"/>
          <a:ext cx="775874" cy="775874"/>
        </a:xfrm>
        <a:prstGeom prst="ellipse">
          <a:avLst/>
        </a:prstGeom>
        <a:solidFill>
          <a:schemeClr val="bg1">
            <a:lumMod val="85000"/>
            <a:alpha val="89804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Reporting</a:t>
          </a:r>
          <a:endParaRPr lang="en-US" sz="500" kern="1200" dirty="0">
            <a:latin typeface="+mn-lt"/>
          </a:endParaRPr>
        </a:p>
      </dsp:txBody>
      <dsp:txXfrm>
        <a:off x="4079307" y="452337"/>
        <a:ext cx="554259" cy="554154"/>
      </dsp:txXfrm>
    </dsp:sp>
    <dsp:sp modelId="{912B6635-5F98-4686-858B-65F2692317D9}">
      <dsp:nvSpPr>
        <dsp:cNvPr id="0" name=""/>
        <dsp:cNvSpPr/>
      </dsp:nvSpPr>
      <dsp:spPr>
        <a:xfrm rot="2700000">
          <a:off x="3081423" y="313806"/>
          <a:ext cx="831071" cy="831071"/>
        </a:xfrm>
        <a:prstGeom prst="teardrop">
          <a:avLst>
            <a:gd name="adj" fmla="val 100000"/>
          </a:avLst>
        </a:prstGeom>
        <a:noFill/>
        <a:ln w="2857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2AEE01-8096-42F3-A396-A4FC48EADBB4}">
      <dsp:nvSpPr>
        <dsp:cNvPr id="0" name=""/>
        <dsp:cNvSpPr/>
      </dsp:nvSpPr>
      <dsp:spPr>
        <a:xfrm>
          <a:off x="3070662" y="341477"/>
          <a:ext cx="892930" cy="775874"/>
        </a:xfrm>
        <a:prstGeom prst="ellipse">
          <a:avLst/>
        </a:prstGeom>
        <a:solidFill>
          <a:schemeClr val="accent2">
            <a:lumMod val="75000"/>
            <a:alpha val="89804"/>
          </a:schemeClr>
        </a:solidFill>
        <a:ln w="254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0" kern="1200" dirty="0" smtClean="0">
              <a:solidFill>
                <a:schemeClr val="bg1"/>
              </a:solidFill>
            </a:rPr>
            <a:t>Reconciliation</a:t>
          </a:r>
          <a:endParaRPr lang="en-US" sz="500" b="0" kern="1200" dirty="0">
            <a:solidFill>
              <a:schemeClr val="bg1"/>
            </a:solidFill>
            <a:latin typeface="+mn-lt"/>
          </a:endParaRPr>
        </a:p>
      </dsp:txBody>
      <dsp:txXfrm>
        <a:off x="3197933" y="452337"/>
        <a:ext cx="637880" cy="554154"/>
      </dsp:txXfrm>
    </dsp:sp>
    <dsp:sp modelId="{F3345FD4-D68E-4CC4-8A5E-DB56D2182E02}">
      <dsp:nvSpPr>
        <dsp:cNvPr id="0" name=""/>
        <dsp:cNvSpPr/>
      </dsp:nvSpPr>
      <dsp:spPr>
        <a:xfrm rot="2700000">
          <a:off x="2203343" y="313806"/>
          <a:ext cx="831071" cy="831071"/>
        </a:xfrm>
        <a:prstGeom prst="teardrop">
          <a:avLst>
            <a:gd name="adj" fmla="val 100000"/>
          </a:avLst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53DC8-941D-4DDE-AAD9-FCAFD3EC4023}">
      <dsp:nvSpPr>
        <dsp:cNvPr id="0" name=""/>
        <dsp:cNvSpPr/>
      </dsp:nvSpPr>
      <dsp:spPr>
        <a:xfrm>
          <a:off x="2250649" y="341477"/>
          <a:ext cx="775874" cy="775874"/>
        </a:xfrm>
        <a:prstGeom prst="ellipse">
          <a:avLst/>
        </a:prstGeom>
        <a:solidFill>
          <a:srgbClr val="FF0000"/>
        </a:solidFill>
        <a:ln w="127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bg1"/>
              </a:solidFill>
              <a:latin typeface="+mn-lt"/>
            </a:rPr>
            <a:t>Make Payment</a:t>
          </a:r>
          <a:endParaRPr lang="en-US" sz="500" kern="1200" dirty="0">
            <a:solidFill>
              <a:schemeClr val="bg1"/>
            </a:solidFill>
            <a:latin typeface="+mn-lt"/>
          </a:endParaRPr>
        </a:p>
      </dsp:txBody>
      <dsp:txXfrm>
        <a:off x="2361236" y="452337"/>
        <a:ext cx="554259" cy="554154"/>
      </dsp:txXfrm>
    </dsp:sp>
    <dsp:sp modelId="{89DFBE28-7300-41D6-AB92-AC502E6D90FC}">
      <dsp:nvSpPr>
        <dsp:cNvPr id="0" name=""/>
        <dsp:cNvSpPr/>
      </dsp:nvSpPr>
      <dsp:spPr>
        <a:xfrm rot="2700000">
          <a:off x="1363794" y="313806"/>
          <a:ext cx="831071" cy="831071"/>
        </a:xfrm>
        <a:prstGeom prst="teardrop">
          <a:avLst>
            <a:gd name="adj" fmla="val 100000"/>
          </a:avLst>
        </a:prstGeom>
        <a:noFill/>
        <a:ln w="2857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D4B27-0EF4-4AD6-A9B5-748DCDFB24D0}">
      <dsp:nvSpPr>
        <dsp:cNvPr id="0" name=""/>
        <dsp:cNvSpPr/>
      </dsp:nvSpPr>
      <dsp:spPr>
        <a:xfrm>
          <a:off x="1391613" y="341477"/>
          <a:ext cx="775874" cy="775874"/>
        </a:xfrm>
        <a:prstGeom prst="ellipse">
          <a:avLst/>
        </a:prstGeom>
        <a:solidFill>
          <a:srgbClr val="F4DCDC">
            <a:alpha val="89804"/>
          </a:srgbClr>
        </a:solidFill>
        <a:ln w="127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Release Payment</a:t>
          </a:r>
          <a:endParaRPr lang="en-US" sz="500" kern="1200" dirty="0">
            <a:latin typeface="+mn-lt"/>
          </a:endParaRPr>
        </a:p>
      </dsp:txBody>
      <dsp:txXfrm>
        <a:off x="1502642" y="452337"/>
        <a:ext cx="554259" cy="554154"/>
      </dsp:txXfrm>
    </dsp:sp>
    <dsp:sp modelId="{5A182BD6-932E-4A6A-A774-6DAEB079B70F}">
      <dsp:nvSpPr>
        <dsp:cNvPr id="0" name=""/>
        <dsp:cNvSpPr/>
      </dsp:nvSpPr>
      <dsp:spPr>
        <a:xfrm rot="2700000">
          <a:off x="504758" y="313806"/>
          <a:ext cx="831071" cy="831071"/>
        </a:xfrm>
        <a:prstGeom prst="teardrop">
          <a:avLst>
            <a:gd name="adj" fmla="val 100000"/>
          </a:avLst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AC551-0C08-45D2-9FCA-06BA1703163F}">
      <dsp:nvSpPr>
        <dsp:cNvPr id="0" name=""/>
        <dsp:cNvSpPr/>
      </dsp:nvSpPr>
      <dsp:spPr>
        <a:xfrm>
          <a:off x="532578" y="341477"/>
          <a:ext cx="775874" cy="775874"/>
        </a:xfrm>
        <a:prstGeom prst="ellipse">
          <a:avLst/>
        </a:prstGeom>
        <a:solidFill>
          <a:schemeClr val="bg1">
            <a:lumMod val="85000"/>
            <a:alpha val="89804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Invoice Receipt/ Verification</a:t>
          </a:r>
          <a:endParaRPr lang="en-US" sz="500" kern="1200" dirty="0">
            <a:latin typeface="+mn-lt"/>
          </a:endParaRPr>
        </a:p>
      </dsp:txBody>
      <dsp:txXfrm>
        <a:off x="643606" y="452337"/>
        <a:ext cx="554259" cy="55415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BF9BC4-6BAB-4577-A90C-A74021483097}">
      <dsp:nvSpPr>
        <dsp:cNvPr id="0" name=""/>
        <dsp:cNvSpPr/>
      </dsp:nvSpPr>
      <dsp:spPr>
        <a:xfrm>
          <a:off x="3940853" y="313762"/>
          <a:ext cx="831167" cy="83130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CF17FA-19B1-4BE6-9799-112FC038D689}">
      <dsp:nvSpPr>
        <dsp:cNvPr id="0" name=""/>
        <dsp:cNvSpPr/>
      </dsp:nvSpPr>
      <dsp:spPr>
        <a:xfrm>
          <a:off x="3968278" y="341477"/>
          <a:ext cx="775874" cy="775874"/>
        </a:xfrm>
        <a:prstGeom prst="ellipse">
          <a:avLst/>
        </a:prstGeom>
        <a:solidFill>
          <a:schemeClr val="bg1">
            <a:lumMod val="85000"/>
            <a:alpha val="89804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Reporting</a:t>
          </a:r>
          <a:endParaRPr lang="en-US" sz="500" kern="1200" dirty="0">
            <a:latin typeface="+mn-lt"/>
          </a:endParaRPr>
        </a:p>
      </dsp:txBody>
      <dsp:txXfrm>
        <a:off x="4079307" y="452337"/>
        <a:ext cx="554259" cy="554154"/>
      </dsp:txXfrm>
    </dsp:sp>
    <dsp:sp modelId="{912B6635-5F98-4686-858B-65F2692317D9}">
      <dsp:nvSpPr>
        <dsp:cNvPr id="0" name=""/>
        <dsp:cNvSpPr/>
      </dsp:nvSpPr>
      <dsp:spPr>
        <a:xfrm rot="2700000">
          <a:off x="3081423" y="313806"/>
          <a:ext cx="831071" cy="831071"/>
        </a:xfrm>
        <a:prstGeom prst="teardrop">
          <a:avLst>
            <a:gd name="adj" fmla="val 100000"/>
          </a:avLst>
        </a:prstGeom>
        <a:noFill/>
        <a:ln w="2857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2AEE01-8096-42F3-A396-A4FC48EADBB4}">
      <dsp:nvSpPr>
        <dsp:cNvPr id="0" name=""/>
        <dsp:cNvSpPr/>
      </dsp:nvSpPr>
      <dsp:spPr>
        <a:xfrm>
          <a:off x="3070662" y="341477"/>
          <a:ext cx="892930" cy="775874"/>
        </a:xfrm>
        <a:prstGeom prst="ellipse">
          <a:avLst/>
        </a:prstGeom>
        <a:solidFill>
          <a:schemeClr val="accent2">
            <a:lumMod val="75000"/>
            <a:alpha val="89804"/>
          </a:schemeClr>
        </a:solidFill>
        <a:ln w="254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0" kern="1200" dirty="0" smtClean="0">
              <a:solidFill>
                <a:schemeClr val="bg1"/>
              </a:solidFill>
            </a:rPr>
            <a:t>Reconciliation</a:t>
          </a:r>
          <a:endParaRPr lang="en-US" sz="500" b="0" kern="1200" dirty="0">
            <a:solidFill>
              <a:schemeClr val="bg1"/>
            </a:solidFill>
            <a:latin typeface="+mn-lt"/>
          </a:endParaRPr>
        </a:p>
      </dsp:txBody>
      <dsp:txXfrm>
        <a:off x="3197933" y="452337"/>
        <a:ext cx="637880" cy="554154"/>
      </dsp:txXfrm>
    </dsp:sp>
    <dsp:sp modelId="{F3345FD4-D68E-4CC4-8A5E-DB56D2182E02}">
      <dsp:nvSpPr>
        <dsp:cNvPr id="0" name=""/>
        <dsp:cNvSpPr/>
      </dsp:nvSpPr>
      <dsp:spPr>
        <a:xfrm rot="2700000">
          <a:off x="2203343" y="313806"/>
          <a:ext cx="831071" cy="831071"/>
        </a:xfrm>
        <a:prstGeom prst="teardrop">
          <a:avLst>
            <a:gd name="adj" fmla="val 100000"/>
          </a:avLst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53DC8-941D-4DDE-AAD9-FCAFD3EC4023}">
      <dsp:nvSpPr>
        <dsp:cNvPr id="0" name=""/>
        <dsp:cNvSpPr/>
      </dsp:nvSpPr>
      <dsp:spPr>
        <a:xfrm>
          <a:off x="2250649" y="341477"/>
          <a:ext cx="775874" cy="775874"/>
        </a:xfrm>
        <a:prstGeom prst="ellipse">
          <a:avLst/>
        </a:prstGeom>
        <a:solidFill>
          <a:srgbClr val="FF0000"/>
        </a:solidFill>
        <a:ln w="127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bg1"/>
              </a:solidFill>
              <a:latin typeface="+mn-lt"/>
            </a:rPr>
            <a:t>Make Payment</a:t>
          </a:r>
          <a:endParaRPr lang="en-US" sz="500" kern="1200" dirty="0">
            <a:solidFill>
              <a:schemeClr val="bg1"/>
            </a:solidFill>
            <a:latin typeface="+mn-lt"/>
          </a:endParaRPr>
        </a:p>
      </dsp:txBody>
      <dsp:txXfrm>
        <a:off x="2361236" y="452337"/>
        <a:ext cx="554259" cy="554154"/>
      </dsp:txXfrm>
    </dsp:sp>
    <dsp:sp modelId="{89DFBE28-7300-41D6-AB92-AC502E6D90FC}">
      <dsp:nvSpPr>
        <dsp:cNvPr id="0" name=""/>
        <dsp:cNvSpPr/>
      </dsp:nvSpPr>
      <dsp:spPr>
        <a:xfrm rot="2700000">
          <a:off x="1363794" y="313806"/>
          <a:ext cx="831071" cy="831071"/>
        </a:xfrm>
        <a:prstGeom prst="teardrop">
          <a:avLst>
            <a:gd name="adj" fmla="val 100000"/>
          </a:avLst>
        </a:prstGeom>
        <a:noFill/>
        <a:ln w="2857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D4B27-0EF4-4AD6-A9B5-748DCDFB24D0}">
      <dsp:nvSpPr>
        <dsp:cNvPr id="0" name=""/>
        <dsp:cNvSpPr/>
      </dsp:nvSpPr>
      <dsp:spPr>
        <a:xfrm>
          <a:off x="1391613" y="341477"/>
          <a:ext cx="775874" cy="775874"/>
        </a:xfrm>
        <a:prstGeom prst="ellipse">
          <a:avLst/>
        </a:prstGeom>
        <a:solidFill>
          <a:srgbClr val="F4DCDC">
            <a:alpha val="89804"/>
          </a:srgbClr>
        </a:solidFill>
        <a:ln w="127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Release Payment</a:t>
          </a:r>
          <a:endParaRPr lang="en-US" sz="500" kern="1200" dirty="0">
            <a:latin typeface="+mn-lt"/>
          </a:endParaRPr>
        </a:p>
      </dsp:txBody>
      <dsp:txXfrm>
        <a:off x="1502642" y="452337"/>
        <a:ext cx="554259" cy="554154"/>
      </dsp:txXfrm>
    </dsp:sp>
    <dsp:sp modelId="{5A182BD6-932E-4A6A-A774-6DAEB079B70F}">
      <dsp:nvSpPr>
        <dsp:cNvPr id="0" name=""/>
        <dsp:cNvSpPr/>
      </dsp:nvSpPr>
      <dsp:spPr>
        <a:xfrm rot="2700000">
          <a:off x="504758" y="313806"/>
          <a:ext cx="831071" cy="831071"/>
        </a:xfrm>
        <a:prstGeom prst="teardrop">
          <a:avLst>
            <a:gd name="adj" fmla="val 100000"/>
          </a:avLst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AC551-0C08-45D2-9FCA-06BA1703163F}">
      <dsp:nvSpPr>
        <dsp:cNvPr id="0" name=""/>
        <dsp:cNvSpPr/>
      </dsp:nvSpPr>
      <dsp:spPr>
        <a:xfrm>
          <a:off x="532578" y="341477"/>
          <a:ext cx="775874" cy="775874"/>
        </a:xfrm>
        <a:prstGeom prst="ellipse">
          <a:avLst/>
        </a:prstGeom>
        <a:solidFill>
          <a:schemeClr val="bg1">
            <a:lumMod val="85000"/>
            <a:alpha val="89804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Invoice Receipt/ Verification</a:t>
          </a:r>
          <a:endParaRPr lang="en-US" sz="500" kern="1200" dirty="0">
            <a:latin typeface="+mn-lt"/>
          </a:endParaRPr>
        </a:p>
      </dsp:txBody>
      <dsp:txXfrm>
        <a:off x="643606" y="452337"/>
        <a:ext cx="554259" cy="55415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BF9BC4-6BAB-4577-A90C-A74021483097}">
      <dsp:nvSpPr>
        <dsp:cNvPr id="0" name=""/>
        <dsp:cNvSpPr/>
      </dsp:nvSpPr>
      <dsp:spPr>
        <a:xfrm>
          <a:off x="3940853" y="313762"/>
          <a:ext cx="831167" cy="83130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CF17FA-19B1-4BE6-9799-112FC038D689}">
      <dsp:nvSpPr>
        <dsp:cNvPr id="0" name=""/>
        <dsp:cNvSpPr/>
      </dsp:nvSpPr>
      <dsp:spPr>
        <a:xfrm>
          <a:off x="3968278" y="341477"/>
          <a:ext cx="775874" cy="775874"/>
        </a:xfrm>
        <a:prstGeom prst="ellipse">
          <a:avLst/>
        </a:prstGeom>
        <a:solidFill>
          <a:schemeClr val="bg1">
            <a:lumMod val="85000"/>
            <a:alpha val="89804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Reporting</a:t>
          </a:r>
          <a:endParaRPr lang="en-US" sz="500" kern="1200" dirty="0">
            <a:latin typeface="+mn-lt"/>
          </a:endParaRPr>
        </a:p>
      </dsp:txBody>
      <dsp:txXfrm>
        <a:off x="4079307" y="452337"/>
        <a:ext cx="554259" cy="554154"/>
      </dsp:txXfrm>
    </dsp:sp>
    <dsp:sp modelId="{912B6635-5F98-4686-858B-65F2692317D9}">
      <dsp:nvSpPr>
        <dsp:cNvPr id="0" name=""/>
        <dsp:cNvSpPr/>
      </dsp:nvSpPr>
      <dsp:spPr>
        <a:xfrm rot="2700000">
          <a:off x="3081423" y="313806"/>
          <a:ext cx="831071" cy="831071"/>
        </a:xfrm>
        <a:prstGeom prst="teardrop">
          <a:avLst>
            <a:gd name="adj" fmla="val 100000"/>
          </a:avLst>
        </a:prstGeom>
        <a:noFill/>
        <a:ln w="2857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2AEE01-8096-42F3-A396-A4FC48EADBB4}">
      <dsp:nvSpPr>
        <dsp:cNvPr id="0" name=""/>
        <dsp:cNvSpPr/>
      </dsp:nvSpPr>
      <dsp:spPr>
        <a:xfrm>
          <a:off x="3070662" y="341477"/>
          <a:ext cx="892930" cy="775874"/>
        </a:xfrm>
        <a:prstGeom prst="ellipse">
          <a:avLst/>
        </a:prstGeom>
        <a:solidFill>
          <a:schemeClr val="accent2">
            <a:lumMod val="75000"/>
            <a:alpha val="89804"/>
          </a:schemeClr>
        </a:solidFill>
        <a:ln w="254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0" kern="1200" dirty="0" smtClean="0">
              <a:solidFill>
                <a:schemeClr val="bg1"/>
              </a:solidFill>
            </a:rPr>
            <a:t>Reconciliation</a:t>
          </a:r>
          <a:endParaRPr lang="en-US" sz="500" b="0" kern="1200" dirty="0">
            <a:solidFill>
              <a:schemeClr val="bg1"/>
            </a:solidFill>
            <a:latin typeface="+mn-lt"/>
          </a:endParaRPr>
        </a:p>
      </dsp:txBody>
      <dsp:txXfrm>
        <a:off x="3197933" y="452337"/>
        <a:ext cx="637880" cy="554154"/>
      </dsp:txXfrm>
    </dsp:sp>
    <dsp:sp modelId="{F3345FD4-D68E-4CC4-8A5E-DB56D2182E02}">
      <dsp:nvSpPr>
        <dsp:cNvPr id="0" name=""/>
        <dsp:cNvSpPr/>
      </dsp:nvSpPr>
      <dsp:spPr>
        <a:xfrm rot="2700000">
          <a:off x="2203343" y="313806"/>
          <a:ext cx="831071" cy="831071"/>
        </a:xfrm>
        <a:prstGeom prst="teardrop">
          <a:avLst>
            <a:gd name="adj" fmla="val 100000"/>
          </a:avLst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53DC8-941D-4DDE-AAD9-FCAFD3EC4023}">
      <dsp:nvSpPr>
        <dsp:cNvPr id="0" name=""/>
        <dsp:cNvSpPr/>
      </dsp:nvSpPr>
      <dsp:spPr>
        <a:xfrm>
          <a:off x="2250649" y="341477"/>
          <a:ext cx="775874" cy="775874"/>
        </a:xfrm>
        <a:prstGeom prst="ellipse">
          <a:avLst/>
        </a:prstGeom>
        <a:solidFill>
          <a:srgbClr val="FF0000"/>
        </a:solidFill>
        <a:ln w="127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solidFill>
                <a:schemeClr val="bg1"/>
              </a:solidFill>
              <a:latin typeface="+mn-lt"/>
            </a:rPr>
            <a:t>Make Payment</a:t>
          </a:r>
          <a:endParaRPr lang="en-US" sz="500" kern="1200" dirty="0">
            <a:solidFill>
              <a:schemeClr val="bg1"/>
            </a:solidFill>
            <a:latin typeface="+mn-lt"/>
          </a:endParaRPr>
        </a:p>
      </dsp:txBody>
      <dsp:txXfrm>
        <a:off x="2361236" y="452337"/>
        <a:ext cx="554259" cy="554154"/>
      </dsp:txXfrm>
    </dsp:sp>
    <dsp:sp modelId="{89DFBE28-7300-41D6-AB92-AC502E6D90FC}">
      <dsp:nvSpPr>
        <dsp:cNvPr id="0" name=""/>
        <dsp:cNvSpPr/>
      </dsp:nvSpPr>
      <dsp:spPr>
        <a:xfrm rot="2700000">
          <a:off x="1363794" y="313806"/>
          <a:ext cx="831071" cy="831071"/>
        </a:xfrm>
        <a:prstGeom prst="teardrop">
          <a:avLst>
            <a:gd name="adj" fmla="val 100000"/>
          </a:avLst>
        </a:prstGeom>
        <a:noFill/>
        <a:ln w="2857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D4B27-0EF4-4AD6-A9B5-748DCDFB24D0}">
      <dsp:nvSpPr>
        <dsp:cNvPr id="0" name=""/>
        <dsp:cNvSpPr/>
      </dsp:nvSpPr>
      <dsp:spPr>
        <a:xfrm>
          <a:off x="1391613" y="341477"/>
          <a:ext cx="775874" cy="775874"/>
        </a:xfrm>
        <a:prstGeom prst="ellipse">
          <a:avLst/>
        </a:prstGeom>
        <a:solidFill>
          <a:srgbClr val="F4DCDC">
            <a:alpha val="89804"/>
          </a:srgbClr>
        </a:solidFill>
        <a:ln w="12700" cap="flat" cmpd="sng" algn="ctr">
          <a:solidFill>
            <a:srgbClr val="002D7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Release Payment</a:t>
          </a:r>
          <a:endParaRPr lang="en-US" sz="500" kern="1200" dirty="0">
            <a:latin typeface="+mn-lt"/>
          </a:endParaRPr>
        </a:p>
      </dsp:txBody>
      <dsp:txXfrm>
        <a:off x="1502642" y="452337"/>
        <a:ext cx="554259" cy="554154"/>
      </dsp:txXfrm>
    </dsp:sp>
    <dsp:sp modelId="{5A182BD6-932E-4A6A-A774-6DAEB079B70F}">
      <dsp:nvSpPr>
        <dsp:cNvPr id="0" name=""/>
        <dsp:cNvSpPr/>
      </dsp:nvSpPr>
      <dsp:spPr>
        <a:xfrm rot="2700000">
          <a:off x="504758" y="313806"/>
          <a:ext cx="831071" cy="831071"/>
        </a:xfrm>
        <a:prstGeom prst="teardrop">
          <a:avLst>
            <a:gd name="adj" fmla="val 100000"/>
          </a:avLst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AC551-0C08-45D2-9FCA-06BA1703163F}">
      <dsp:nvSpPr>
        <dsp:cNvPr id="0" name=""/>
        <dsp:cNvSpPr/>
      </dsp:nvSpPr>
      <dsp:spPr>
        <a:xfrm>
          <a:off x="532578" y="341477"/>
          <a:ext cx="775874" cy="775874"/>
        </a:xfrm>
        <a:prstGeom prst="ellipse">
          <a:avLst/>
        </a:prstGeom>
        <a:solidFill>
          <a:schemeClr val="bg1">
            <a:lumMod val="85000"/>
            <a:alpha val="89804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>
              <a:latin typeface="+mn-lt"/>
            </a:rPr>
            <a:t>Invoice Receipt/ Verification</a:t>
          </a:r>
          <a:endParaRPr lang="en-US" sz="500" kern="1200" dirty="0">
            <a:latin typeface="+mn-lt"/>
          </a:endParaRPr>
        </a:p>
      </dsp:txBody>
      <dsp:txXfrm>
        <a:off x="643606" y="452337"/>
        <a:ext cx="554259" cy="554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7512A5-D75E-436D-B1FF-297B348750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07D725-BCB9-44CB-B082-4FB2B733CF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05516-AE53-4B78-8FA1-916780FD8C2B}" type="datetime1">
              <a:rPr lang="en-US" smtClean="0"/>
              <a:t>6/21/2021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5E9965-3747-439D-B972-875C38AFD3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657600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© 2019 New York State Home and Community Renewal</a:t>
            </a:r>
            <a:br>
              <a:rPr lang="en-US" dirty="0"/>
            </a:br>
            <a:r>
              <a:rPr lang="en-US" dirty="0"/>
              <a:t>All Contents Proprietary and Confidential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98393C-1F24-4B2E-8790-8C2E31FDB7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3ADAC-EBB8-40C6-AB49-16109D0791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787124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7B264B2-4432-438C-881F-DE47DBA264F0}" type="datetime1">
              <a:rPr lang="en-US" smtClean="0"/>
              <a:t>6/21/2021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706368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r>
              <a:rPr lang="en-US" dirty="0"/>
              <a:t>© 2019 New York State Home and Community Renewal</a:t>
            </a:r>
            <a:br>
              <a:rPr lang="en-US" dirty="0"/>
            </a:br>
            <a:r>
              <a:rPr lang="en-US" dirty="0"/>
              <a:t>All Contents Proprietary and Confidential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6DA9C80-B631-4EC4-8253-F63CFD0157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357064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1358130" rtl="0" eaLnBrk="1" latinLnBrk="0" hangingPunct="1">
      <a:defRPr sz="1783" kern="1200">
        <a:solidFill>
          <a:schemeClr val="tx1"/>
        </a:solidFill>
        <a:latin typeface="+mn-lt"/>
        <a:ea typeface="+mn-ea"/>
        <a:cs typeface="+mn-cs"/>
      </a:defRPr>
    </a:lvl1pPr>
    <a:lvl2pPr marL="679064" algn="l" defTabSz="1358130" rtl="0" eaLnBrk="1" latinLnBrk="0" hangingPunct="1">
      <a:defRPr sz="1783" kern="1200">
        <a:solidFill>
          <a:schemeClr val="tx1"/>
        </a:solidFill>
        <a:latin typeface="+mn-lt"/>
        <a:ea typeface="+mn-ea"/>
        <a:cs typeface="+mn-cs"/>
      </a:defRPr>
    </a:lvl2pPr>
    <a:lvl3pPr marL="1358130" algn="l" defTabSz="1358130" rtl="0" eaLnBrk="1" latinLnBrk="0" hangingPunct="1">
      <a:defRPr sz="1783" kern="1200">
        <a:solidFill>
          <a:schemeClr val="tx1"/>
        </a:solidFill>
        <a:latin typeface="+mn-lt"/>
        <a:ea typeface="+mn-ea"/>
        <a:cs typeface="+mn-cs"/>
      </a:defRPr>
    </a:lvl3pPr>
    <a:lvl4pPr marL="2037191" algn="l" defTabSz="1358130" rtl="0" eaLnBrk="1" latinLnBrk="0" hangingPunct="1">
      <a:defRPr sz="1783" kern="1200">
        <a:solidFill>
          <a:schemeClr val="tx1"/>
        </a:solidFill>
        <a:latin typeface="+mn-lt"/>
        <a:ea typeface="+mn-ea"/>
        <a:cs typeface="+mn-cs"/>
      </a:defRPr>
    </a:lvl4pPr>
    <a:lvl5pPr marL="2716256" algn="l" defTabSz="1358130" rtl="0" eaLnBrk="1" latinLnBrk="0" hangingPunct="1">
      <a:defRPr sz="1783" kern="1200">
        <a:solidFill>
          <a:schemeClr val="tx1"/>
        </a:solidFill>
        <a:latin typeface="+mn-lt"/>
        <a:ea typeface="+mn-ea"/>
        <a:cs typeface="+mn-cs"/>
      </a:defRPr>
    </a:lvl5pPr>
    <a:lvl6pPr marL="3395319" algn="l" defTabSz="1358130" rtl="0" eaLnBrk="1" latinLnBrk="0" hangingPunct="1">
      <a:defRPr sz="1783" kern="1200">
        <a:solidFill>
          <a:schemeClr val="tx1"/>
        </a:solidFill>
        <a:latin typeface="+mn-lt"/>
        <a:ea typeface="+mn-ea"/>
        <a:cs typeface="+mn-cs"/>
      </a:defRPr>
    </a:lvl6pPr>
    <a:lvl7pPr marL="4074384" algn="l" defTabSz="1358130" rtl="0" eaLnBrk="1" latinLnBrk="0" hangingPunct="1">
      <a:defRPr sz="1783" kern="1200">
        <a:solidFill>
          <a:schemeClr val="tx1"/>
        </a:solidFill>
        <a:latin typeface="+mn-lt"/>
        <a:ea typeface="+mn-ea"/>
        <a:cs typeface="+mn-cs"/>
      </a:defRPr>
    </a:lvl7pPr>
    <a:lvl8pPr marL="4753447" algn="l" defTabSz="1358130" rtl="0" eaLnBrk="1" latinLnBrk="0" hangingPunct="1">
      <a:defRPr sz="1783" kern="1200">
        <a:solidFill>
          <a:schemeClr val="tx1"/>
        </a:solidFill>
        <a:latin typeface="+mn-lt"/>
        <a:ea typeface="+mn-ea"/>
        <a:cs typeface="+mn-cs"/>
      </a:defRPr>
    </a:lvl8pPr>
    <a:lvl9pPr marL="5432512" algn="l" defTabSz="1358130" rtl="0" eaLnBrk="1" latinLnBrk="0" hangingPunct="1">
      <a:defRPr sz="178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F7B264B2-4432-438C-881F-DE47DBA264F0}" type="datetime1">
              <a:rPr lang="en-US" smtClean="0"/>
              <a:t>6/21/2021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© 2019 New York State Home and Community Renewal</a:t>
            </a:r>
            <a:br>
              <a:rPr lang="en-US" dirty="0"/>
            </a:br>
            <a:r>
              <a:rPr lang="en-US" dirty="0"/>
              <a:t>All Contents Proprietary and Confidential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6DA9C80-B631-4EC4-8253-F63CFD0157D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018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7B264B2-4432-438C-881F-DE47DBA264F0}" type="datetime1">
              <a:rPr lang="en-US" smtClean="0"/>
              <a:t>6/21/2021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2019 New York State Home and Community Renewal</a:t>
            </a:r>
            <a:br>
              <a:rPr lang="en-US" dirty="0"/>
            </a:br>
            <a:r>
              <a:rPr lang="en-US" dirty="0"/>
              <a:t>All Contents Proprietary and Confidential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A9C80-B631-4EC4-8253-F63CFD0157D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821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52E4F8-0974-4213-A8F8-50AD4A297F2D}" type="slidenum">
              <a:rPr lang="en-US" altLang="en-US" sz="1200" smtClean="0">
                <a:latin typeface="Times New Roman" panose="02020603050405020304" pitchFamily="18" charset="0"/>
              </a:rPr>
              <a:pPr/>
              <a:t>4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7638" y="560388"/>
            <a:ext cx="6716712" cy="377825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A435A441-4CB1-449C-851F-9AE846F31409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12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C3363D-940F-45CB-8A6C-44A3AE96FACD}" type="slidenum">
              <a:rPr lang="en-US" altLang="en-US" sz="1200" smtClean="0">
                <a:latin typeface="Times New Roman" panose="02020603050405020304" pitchFamily="18" charset="0"/>
              </a:rPr>
              <a:pPr/>
              <a:t>5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7638" y="560388"/>
            <a:ext cx="6716712" cy="377825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99E37174-A277-4D02-8D1A-A032C408012D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580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52E4F8-0974-4213-A8F8-50AD4A297F2D}" type="slidenum">
              <a:rPr lang="en-US" altLang="en-US" sz="1200" smtClean="0">
                <a:latin typeface="Times New Roman" panose="02020603050405020304" pitchFamily="18" charset="0"/>
              </a:rPr>
              <a:pPr/>
              <a:t>6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7638" y="560388"/>
            <a:ext cx="6716712" cy="377825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B3B14627-A0E7-47AB-B648-5E4CB6D22D07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205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B22389-9B96-44CE-920F-735E6B267E08}" type="slidenum">
              <a:rPr lang="en-US" altLang="en-US" sz="1200" smtClean="0">
                <a:latin typeface="Times New Roman" panose="02020603050405020304" pitchFamily="18" charset="0"/>
              </a:rPr>
              <a:pPr/>
              <a:t>9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4495800"/>
            <a:ext cx="5140325" cy="3268663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0B4509C5-2C2D-4E60-AD18-38159318D723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526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B22389-9B96-44CE-920F-735E6B267E08}" type="slidenum">
              <a:rPr lang="en-US" altLang="en-US" sz="1200" smtClean="0">
                <a:latin typeface="Times New Roman" panose="02020603050405020304" pitchFamily="18" charset="0"/>
              </a:rPr>
              <a:pPr/>
              <a:t>10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4495800"/>
            <a:ext cx="5140325" cy="3268663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D1E14BA-34DB-4133-B1A9-84A54B22A11C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8800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75DCC16-8DF8-4CF9-9966-1093D260E8ED}" type="slidenum">
              <a:rPr lang="en-US" altLang="en-US" sz="1200" smtClean="0">
                <a:latin typeface="Times New Roman" panose="02020603050405020304" pitchFamily="18" charset="0"/>
              </a:rPr>
              <a:pPr/>
              <a:t>11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4495800"/>
            <a:ext cx="5140325" cy="3268663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AFAEE6B7-C486-47CD-A7BA-28752244C023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398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EF611E-683B-4438-A8F3-7E471EDA1D77}" type="slidenum">
              <a:rPr lang="en-US" altLang="en-US" sz="1200" smtClean="0">
                <a:latin typeface="Times New Roman" panose="02020603050405020304" pitchFamily="18" charset="0"/>
              </a:rPr>
              <a:pPr/>
              <a:t>12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701675"/>
            <a:ext cx="6189663" cy="3482975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93EBDEAC-330F-4581-A7CC-2FC1BA466CA1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8273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B22389-9B96-44CE-920F-735E6B267E08}" type="slidenum">
              <a:rPr lang="en-US" altLang="en-US" sz="1200" smtClean="0">
                <a:latin typeface="Times New Roman" panose="02020603050405020304" pitchFamily="18" charset="0"/>
              </a:rPr>
              <a:pPr/>
              <a:t>13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4495800"/>
            <a:ext cx="5140325" cy="3268663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63E86371-EE5E-4263-9695-809FA84EBDF1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1761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35597FC-C02F-4204-9693-7B610A5DCEC0}" type="slidenum">
              <a:rPr lang="en-US" altLang="en-US" sz="1200" smtClean="0">
                <a:latin typeface="Times New Roman" panose="02020603050405020304" pitchFamily="18" charset="0"/>
              </a:rPr>
              <a:pPr/>
              <a:t>14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4495800"/>
            <a:ext cx="5140325" cy="3268663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AA91D889-B151-4E1A-B8C2-DB2AAD3663C9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6639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3C8157A-3C63-49F8-AE98-A825228D3FD1}" type="slidenum">
              <a:rPr lang="en-US" altLang="en-US" sz="1200" smtClean="0">
                <a:latin typeface="Times New Roman" panose="02020603050405020304" pitchFamily="18" charset="0"/>
              </a:rPr>
              <a:pPr/>
              <a:t>15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4495800"/>
            <a:ext cx="5140325" cy="3268663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EBF0A9ED-9BA7-4BE4-8F35-90EFF4F00943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3265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C3363D-940F-45CB-8A6C-44A3AE96FACD}" type="slidenum">
              <a:rPr lang="en-US" altLang="en-US" sz="1200" smtClean="0">
                <a:latin typeface="Times New Roman" panose="02020603050405020304" pitchFamily="18" charset="0"/>
              </a:rPr>
              <a:pPr/>
              <a:t>16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7638" y="560388"/>
            <a:ext cx="6716712" cy="377825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99E37174-A277-4D02-8D1A-A032C408012D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093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52E4F8-0974-4213-A8F8-50AD4A297F2D}" type="slidenum">
              <a:rPr lang="en-US" altLang="en-US" sz="1200" smtClean="0">
                <a:latin typeface="Times New Roman" panose="02020603050405020304" pitchFamily="18" charset="0"/>
              </a:rPr>
              <a:pPr/>
              <a:t>17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7638" y="560388"/>
            <a:ext cx="6716712" cy="377825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9D41674F-FD55-4AB3-982E-EC5906E421B6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5166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4EFC1C-A928-4A29-AB9B-1C1C9F8EEF1E}" type="slidenum">
              <a:rPr lang="en-US" altLang="en-US" sz="1200" smtClean="0">
                <a:latin typeface="Times New Roman" panose="02020603050405020304" pitchFamily="18" charset="0"/>
              </a:rPr>
              <a:pPr/>
              <a:t>18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4495800"/>
            <a:ext cx="5140325" cy="3268663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69CFC7C-C9C7-4782-9149-2E8176EE79D9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1362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BC81D3-C59B-4C63-B840-07ACB8BAB3C6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FUJITSU 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3446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C2F06C-302D-4190-9A64-6A5702D70EA6}" type="slidenum">
              <a:rPr lang="en-US" altLang="en-US" sz="1200" smtClean="0">
                <a:latin typeface="Times New Roman" panose="02020603050405020304" pitchFamily="18" charset="0"/>
              </a:rPr>
              <a:pPr/>
              <a:t>21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r>
              <a:rPr lang="en-US" altLang="en-US" dirty="0"/>
              <a:t>Demonstration using:</a:t>
            </a:r>
          </a:p>
          <a:p>
            <a:r>
              <a:rPr lang="en-US" altLang="en-US" dirty="0"/>
              <a:t>Field:  value</a:t>
            </a:r>
          </a:p>
          <a:p>
            <a:r>
              <a:rPr lang="en-US" altLang="en-US" dirty="0"/>
              <a:t>Field: value </a:t>
            </a:r>
          </a:p>
          <a:p>
            <a:endParaRPr lang="en-US" altLang="en-US" dirty="0"/>
          </a:p>
          <a:p>
            <a:r>
              <a:rPr lang="en-US" altLang="en-US" dirty="0"/>
              <a:t>Action</a:t>
            </a:r>
          </a:p>
          <a:p>
            <a:endParaRPr lang="en-US" altLang="en-US" dirty="0"/>
          </a:p>
          <a:p>
            <a:r>
              <a:rPr lang="en-US" altLang="en-US" dirty="0"/>
              <a:t>Other steps</a:t>
            </a:r>
          </a:p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673E241-D0D8-4A27-A255-320FA862C732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3042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F9A386-EAF6-4DFA-8788-198F91EB132A}" type="slidenum">
              <a:rPr lang="en-US" altLang="en-US" sz="1200" smtClean="0">
                <a:latin typeface="Times New Roman" panose="02020603050405020304" pitchFamily="18" charset="0"/>
              </a:rPr>
              <a:pPr/>
              <a:t>22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r>
              <a:rPr lang="en-US" altLang="en-US" b="1" dirty="0"/>
              <a:t>Data Fields:</a:t>
            </a:r>
          </a:p>
          <a:p>
            <a:r>
              <a:rPr lang="en-US" altLang="en-US" dirty="0"/>
              <a:t>Field:  value</a:t>
            </a:r>
          </a:p>
          <a:p>
            <a:r>
              <a:rPr lang="en-US" altLang="en-US" dirty="0"/>
              <a:t>Field: value</a:t>
            </a:r>
          </a:p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A9988F09-DA4F-455C-951E-0693A2455191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0199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4EFC1C-A928-4A29-AB9B-1C1C9F8EEF1E}" type="slidenum">
              <a:rPr lang="en-US" altLang="en-US" sz="1200" smtClean="0">
                <a:latin typeface="Times New Roman" panose="02020603050405020304" pitchFamily="18" charset="0"/>
              </a:rPr>
              <a:pPr/>
              <a:t>23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4495800"/>
            <a:ext cx="5140325" cy="3268663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69CFC7C-C9C7-4782-9149-2E8176EE79D9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9606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C2F06C-302D-4190-9A64-6A5702D70EA6}" type="slidenum">
              <a:rPr lang="en-US" altLang="en-US" sz="1200" smtClean="0">
                <a:latin typeface="Times New Roman" panose="02020603050405020304" pitchFamily="18" charset="0"/>
              </a:rPr>
              <a:pPr/>
              <a:t>24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r>
              <a:rPr lang="en-US" altLang="en-US" dirty="0"/>
              <a:t>Demonstration using:</a:t>
            </a:r>
          </a:p>
          <a:p>
            <a:r>
              <a:rPr lang="en-US" altLang="en-US" dirty="0"/>
              <a:t>Field:  value</a:t>
            </a:r>
          </a:p>
          <a:p>
            <a:r>
              <a:rPr lang="en-US" altLang="en-US" dirty="0"/>
              <a:t>Field: value </a:t>
            </a:r>
          </a:p>
          <a:p>
            <a:endParaRPr lang="en-US" altLang="en-US" dirty="0"/>
          </a:p>
          <a:p>
            <a:r>
              <a:rPr lang="en-US" altLang="en-US" dirty="0"/>
              <a:t>Action</a:t>
            </a:r>
          </a:p>
          <a:p>
            <a:endParaRPr lang="en-US" altLang="en-US" dirty="0"/>
          </a:p>
          <a:p>
            <a:r>
              <a:rPr lang="en-US" altLang="en-US" dirty="0"/>
              <a:t>Other steps</a:t>
            </a:r>
          </a:p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673E241-D0D8-4A27-A255-320FA862C732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2570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F9A386-EAF6-4DFA-8788-198F91EB132A}" type="slidenum">
              <a:rPr lang="en-US" altLang="en-US" sz="1200" smtClean="0">
                <a:latin typeface="Times New Roman" panose="02020603050405020304" pitchFamily="18" charset="0"/>
              </a:rPr>
              <a:pPr/>
              <a:t>25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r>
              <a:rPr lang="en-US" altLang="en-US" b="1" dirty="0"/>
              <a:t>Data Fields:</a:t>
            </a:r>
          </a:p>
          <a:p>
            <a:r>
              <a:rPr lang="en-US" altLang="en-US" dirty="0"/>
              <a:t>Field:  value</a:t>
            </a:r>
          </a:p>
          <a:p>
            <a:r>
              <a:rPr lang="en-US" altLang="en-US" dirty="0"/>
              <a:t>Field: value</a:t>
            </a:r>
          </a:p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A9988F09-DA4F-455C-951E-0693A2455191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7940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4EFC1C-A928-4A29-AB9B-1C1C9F8EEF1E}" type="slidenum">
              <a:rPr lang="en-US" altLang="en-US" sz="1200" smtClean="0">
                <a:latin typeface="Times New Roman" panose="02020603050405020304" pitchFamily="18" charset="0"/>
              </a:rPr>
              <a:pPr/>
              <a:t>26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4495800"/>
            <a:ext cx="5140325" cy="3268663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69CFC7C-C9C7-4782-9149-2E8176EE79D9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6204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C2F06C-302D-4190-9A64-6A5702D70EA6}" type="slidenum">
              <a:rPr lang="en-US" altLang="en-US" sz="1200" smtClean="0">
                <a:latin typeface="Times New Roman" panose="02020603050405020304" pitchFamily="18" charset="0"/>
              </a:rPr>
              <a:pPr/>
              <a:t>27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r>
              <a:rPr lang="en-US" altLang="en-US" dirty="0"/>
              <a:t>Demonstration using:</a:t>
            </a:r>
          </a:p>
          <a:p>
            <a:r>
              <a:rPr lang="en-US" altLang="en-US" dirty="0"/>
              <a:t>Field:  value</a:t>
            </a:r>
          </a:p>
          <a:p>
            <a:r>
              <a:rPr lang="en-US" altLang="en-US" dirty="0"/>
              <a:t>Field: value </a:t>
            </a:r>
          </a:p>
          <a:p>
            <a:endParaRPr lang="en-US" altLang="en-US" dirty="0"/>
          </a:p>
          <a:p>
            <a:r>
              <a:rPr lang="en-US" altLang="en-US" dirty="0"/>
              <a:t>Action</a:t>
            </a:r>
          </a:p>
          <a:p>
            <a:endParaRPr lang="en-US" altLang="en-US" dirty="0"/>
          </a:p>
          <a:p>
            <a:r>
              <a:rPr lang="en-US" altLang="en-US" dirty="0"/>
              <a:t>Other steps</a:t>
            </a:r>
          </a:p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673E241-D0D8-4A27-A255-320FA862C732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7293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F9A386-EAF6-4DFA-8788-198F91EB132A}" type="slidenum">
              <a:rPr lang="en-US" altLang="en-US" sz="1200" smtClean="0">
                <a:latin typeface="Times New Roman" panose="02020603050405020304" pitchFamily="18" charset="0"/>
              </a:rPr>
              <a:pPr/>
              <a:t>28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r>
              <a:rPr lang="en-US" altLang="en-US" b="1" dirty="0"/>
              <a:t>Data Fields:</a:t>
            </a:r>
          </a:p>
          <a:p>
            <a:r>
              <a:rPr lang="en-US" altLang="en-US" dirty="0"/>
              <a:t>Field:  value</a:t>
            </a:r>
          </a:p>
          <a:p>
            <a:r>
              <a:rPr lang="en-US" altLang="en-US" dirty="0"/>
              <a:t>Field: value</a:t>
            </a:r>
          </a:p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A9988F09-DA4F-455C-951E-0693A2455191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0923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EF611E-683B-4438-A8F3-7E471EDA1D77}" type="slidenum">
              <a:rPr lang="en-US" altLang="en-US" sz="1200" smtClean="0">
                <a:latin typeface="Times New Roman" panose="02020603050405020304" pitchFamily="18" charset="0"/>
              </a:rPr>
              <a:pPr/>
              <a:t>31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701675"/>
            <a:ext cx="6189663" cy="3482975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93EBDEAC-330F-4581-A7CC-2FC1BA466CA1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4404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B22389-9B96-44CE-920F-735E6B267E08}" type="slidenum">
              <a:rPr lang="en-US" altLang="en-US" sz="1200" smtClean="0">
                <a:latin typeface="Times New Roman" panose="02020603050405020304" pitchFamily="18" charset="0"/>
              </a:rPr>
              <a:pPr/>
              <a:t>32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4495800"/>
            <a:ext cx="5140325" cy="3268663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63E86371-EE5E-4263-9695-809FA84EBDF1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9022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35597FC-C02F-4204-9693-7B610A5DCEC0}" type="slidenum">
              <a:rPr lang="en-US" altLang="en-US" sz="1200" smtClean="0">
                <a:latin typeface="Times New Roman" panose="02020603050405020304" pitchFamily="18" charset="0"/>
              </a:rPr>
              <a:pPr/>
              <a:t>33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4495800"/>
            <a:ext cx="5140325" cy="3268663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EB181A2-5115-4F87-9296-C07C9C7C2BFF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5098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225777" y="4715482"/>
            <a:ext cx="6036625" cy="4466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AF0DF3A1-BC3D-4C47-81AA-01D16FF97DDF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2121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3C8157A-3C63-49F8-AE98-A825228D3FD1}" type="slidenum">
              <a:rPr lang="en-US" altLang="en-US" sz="1200" smtClean="0">
                <a:latin typeface="Times New Roman" panose="02020603050405020304" pitchFamily="18" charset="0"/>
              </a:rPr>
              <a:pPr/>
              <a:t>35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4495800"/>
            <a:ext cx="5140325" cy="3268663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0027F9C4-B32B-4CDF-80D3-5B7920E72A05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4795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C3363D-940F-45CB-8A6C-44A3AE96FACD}" type="slidenum">
              <a:rPr lang="en-US" altLang="en-US" sz="1200" smtClean="0">
                <a:latin typeface="Times New Roman" panose="02020603050405020304" pitchFamily="18" charset="0"/>
              </a:rPr>
              <a:pPr/>
              <a:t>36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7638" y="560388"/>
            <a:ext cx="6716712" cy="377825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99E37174-A277-4D02-8D1A-A032C408012D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5406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52E4F8-0974-4213-A8F8-50AD4A297F2D}" type="slidenum">
              <a:rPr lang="en-US" altLang="en-US" sz="1200" smtClean="0">
                <a:latin typeface="Times New Roman" panose="02020603050405020304" pitchFamily="18" charset="0"/>
              </a:rPr>
              <a:pPr/>
              <a:t>37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7638" y="560388"/>
            <a:ext cx="6716712" cy="377825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9D41674F-FD55-4AB3-982E-EC5906E421B6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2375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4EFC1C-A928-4A29-AB9B-1C1C9F8EEF1E}" type="slidenum">
              <a:rPr lang="en-US" altLang="en-US" sz="1200" smtClean="0">
                <a:latin typeface="Times New Roman" panose="02020603050405020304" pitchFamily="18" charset="0"/>
              </a:rPr>
              <a:pPr/>
              <a:t>38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4495800"/>
            <a:ext cx="5140325" cy="3268663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69CFC7C-C9C7-4782-9149-2E8176EE79D9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86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&lt;&lt;Update Course Name Here&gt;&gt;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F7B264B2-4432-438C-881F-DE47DBA264F0}" type="datetime1">
              <a:rPr lang="en-US" smtClean="0"/>
              <a:t>6/21/2021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© 2019 New York State Home and Community Renewal</a:t>
            </a:r>
            <a:br>
              <a:rPr lang="en-US" smtClean="0"/>
            </a:br>
            <a:r>
              <a:rPr lang="en-US" smtClean="0"/>
              <a:t>All Contents Proprietary and Confidential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6DA9C80-B631-4EC4-8253-F63CFD0157DF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1227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&lt;&lt;Update Course Name Here&gt;&gt;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F7B264B2-4432-438C-881F-DE47DBA264F0}" type="datetime1">
              <a:rPr lang="en-US" smtClean="0"/>
              <a:t>6/21/2021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© 2019 New York State Home and Community Renewal</a:t>
            </a:r>
            <a:br>
              <a:rPr lang="en-US" smtClean="0"/>
            </a:br>
            <a:r>
              <a:rPr lang="en-US" smtClean="0"/>
              <a:t>All Contents Proprietary and Confidential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6DA9C80-B631-4EC4-8253-F63CFD0157DF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458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C2F06C-302D-4190-9A64-6A5702D70EA6}" type="slidenum">
              <a:rPr lang="en-US" altLang="en-US" sz="1200" smtClean="0">
                <a:latin typeface="Times New Roman" panose="02020603050405020304" pitchFamily="18" charset="0"/>
              </a:rPr>
              <a:pPr/>
              <a:t>41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r>
              <a:rPr lang="en-US" altLang="en-US" dirty="0"/>
              <a:t>Demonstration using:</a:t>
            </a:r>
          </a:p>
          <a:p>
            <a:r>
              <a:rPr lang="en-US" altLang="en-US" dirty="0"/>
              <a:t>Field:  value</a:t>
            </a:r>
          </a:p>
          <a:p>
            <a:r>
              <a:rPr lang="en-US" altLang="en-US" dirty="0"/>
              <a:t>Field: value </a:t>
            </a:r>
          </a:p>
          <a:p>
            <a:endParaRPr lang="en-US" altLang="en-US" dirty="0"/>
          </a:p>
          <a:p>
            <a:r>
              <a:rPr lang="en-US" altLang="en-US" dirty="0"/>
              <a:t>Action</a:t>
            </a:r>
          </a:p>
          <a:p>
            <a:endParaRPr lang="en-US" altLang="en-US" dirty="0"/>
          </a:p>
          <a:p>
            <a:r>
              <a:rPr lang="en-US" altLang="en-US" dirty="0"/>
              <a:t>Other steps</a:t>
            </a:r>
          </a:p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D255950-EBD8-4E37-ADFF-FC8523022739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5986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F9A386-EAF6-4DFA-8788-198F91EB132A}" type="slidenum">
              <a:rPr lang="en-US" altLang="en-US" sz="1200" smtClean="0">
                <a:latin typeface="Times New Roman" panose="02020603050405020304" pitchFamily="18" charset="0"/>
              </a:rPr>
              <a:pPr/>
              <a:t>42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r>
              <a:rPr lang="en-US" altLang="en-US" b="1" dirty="0"/>
              <a:t>Data Fields:</a:t>
            </a:r>
          </a:p>
          <a:p>
            <a:r>
              <a:rPr lang="en-US" altLang="en-US" dirty="0"/>
              <a:t>Field:  value</a:t>
            </a:r>
          </a:p>
          <a:p>
            <a:r>
              <a:rPr lang="en-US" altLang="en-US" dirty="0"/>
              <a:t>Field: value</a:t>
            </a:r>
          </a:p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A9988F09-DA4F-455C-951E-0693A2455191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02882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4EFC1C-A928-4A29-AB9B-1C1C9F8EEF1E}" type="slidenum">
              <a:rPr lang="en-US" altLang="en-US" sz="1200" smtClean="0">
                <a:latin typeface="Times New Roman" panose="02020603050405020304" pitchFamily="18" charset="0"/>
              </a:rPr>
              <a:pPr/>
              <a:t>43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4495800"/>
            <a:ext cx="5140325" cy="3268663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69CFC7C-C9C7-4782-9149-2E8176EE79D9}" type="datetime1">
              <a:rPr lang="en-US" smtClean="0"/>
              <a:t>6/22/2021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8506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4EFC1C-A928-4A29-AB9B-1C1C9F8EEF1E}" type="slidenum">
              <a:rPr lang="en-US" altLang="en-US" sz="1200" smtClean="0">
                <a:latin typeface="Times New Roman" panose="02020603050405020304" pitchFamily="18" charset="0"/>
              </a:rPr>
              <a:pPr/>
              <a:t>44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4495800"/>
            <a:ext cx="5140325" cy="3268663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69CFC7C-C9C7-4782-9149-2E8176EE79D9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1380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4EFC1C-A928-4A29-AB9B-1C1C9F8EEF1E}" type="slidenum">
              <a:rPr lang="en-US" altLang="en-US" sz="1200" smtClean="0">
                <a:latin typeface="Times New Roman" panose="02020603050405020304" pitchFamily="18" charset="0"/>
              </a:rPr>
              <a:pPr/>
              <a:t>45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4495800"/>
            <a:ext cx="5140325" cy="3268663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69CFC7C-C9C7-4782-9149-2E8176EE79D9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1401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&lt;&lt;Update Course Name Here&gt;&gt;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F7B264B2-4432-438C-881F-DE47DBA264F0}" type="datetime1">
              <a:rPr lang="en-US" smtClean="0"/>
              <a:t>6/21/2021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© 2019 New York State Home and Community Renewal</a:t>
            </a:r>
            <a:br>
              <a:rPr lang="en-US" smtClean="0"/>
            </a:br>
            <a:r>
              <a:rPr lang="en-US" smtClean="0"/>
              <a:t>All Contents Proprietary and Confidential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6DA9C80-B631-4EC4-8253-F63CFD0157DF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76974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C2F06C-302D-4190-9A64-6A5702D70EA6}" type="slidenum">
              <a:rPr lang="en-US" altLang="en-US" sz="1200" smtClean="0">
                <a:latin typeface="Times New Roman" panose="02020603050405020304" pitchFamily="18" charset="0"/>
              </a:rPr>
              <a:pPr/>
              <a:t>47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r>
              <a:rPr lang="en-US" altLang="en-US" dirty="0"/>
              <a:t>Demonstration using:</a:t>
            </a:r>
          </a:p>
          <a:p>
            <a:r>
              <a:rPr lang="en-US" altLang="en-US" dirty="0"/>
              <a:t>Field:  value</a:t>
            </a:r>
          </a:p>
          <a:p>
            <a:r>
              <a:rPr lang="en-US" altLang="en-US" dirty="0"/>
              <a:t>Field: value </a:t>
            </a:r>
          </a:p>
          <a:p>
            <a:endParaRPr lang="en-US" altLang="en-US" dirty="0"/>
          </a:p>
          <a:p>
            <a:r>
              <a:rPr lang="en-US" altLang="en-US" dirty="0"/>
              <a:t>Action</a:t>
            </a:r>
          </a:p>
          <a:p>
            <a:endParaRPr lang="en-US" altLang="en-US" dirty="0"/>
          </a:p>
          <a:p>
            <a:r>
              <a:rPr lang="en-US" altLang="en-US" dirty="0"/>
              <a:t>Other steps</a:t>
            </a:r>
          </a:p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D255950-EBD8-4E37-ADFF-FC8523022739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40197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F9A386-EAF6-4DFA-8788-198F91EB132A}" type="slidenum">
              <a:rPr lang="en-US" altLang="en-US" sz="1200" smtClean="0">
                <a:latin typeface="Times New Roman" panose="02020603050405020304" pitchFamily="18" charset="0"/>
              </a:rPr>
              <a:pPr/>
              <a:t>48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r>
              <a:rPr lang="en-US" altLang="en-US" b="1" dirty="0"/>
              <a:t>Data Fields:</a:t>
            </a:r>
          </a:p>
          <a:p>
            <a:r>
              <a:rPr lang="en-US" altLang="en-US" dirty="0"/>
              <a:t>Field:  value</a:t>
            </a:r>
          </a:p>
          <a:p>
            <a:r>
              <a:rPr lang="en-US" altLang="en-US" dirty="0"/>
              <a:t>Field: value</a:t>
            </a:r>
          </a:p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A9988F09-DA4F-455C-951E-0693A2455191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92192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C2F06C-302D-4190-9A64-6A5702D70EA6}" type="slidenum">
              <a:rPr lang="en-US" altLang="en-US" sz="1200" smtClean="0">
                <a:latin typeface="Times New Roman" panose="02020603050405020304" pitchFamily="18" charset="0"/>
              </a:rPr>
              <a:pPr/>
              <a:t>51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r>
              <a:rPr lang="en-US" altLang="en-US" dirty="0"/>
              <a:t>Demonstration using:</a:t>
            </a:r>
          </a:p>
          <a:p>
            <a:r>
              <a:rPr lang="en-US" altLang="en-US" dirty="0"/>
              <a:t>Field:  value</a:t>
            </a:r>
          </a:p>
          <a:p>
            <a:r>
              <a:rPr lang="en-US" altLang="en-US" dirty="0"/>
              <a:t>Field: value </a:t>
            </a:r>
          </a:p>
          <a:p>
            <a:endParaRPr lang="en-US" altLang="en-US" dirty="0"/>
          </a:p>
          <a:p>
            <a:r>
              <a:rPr lang="en-US" altLang="en-US" dirty="0"/>
              <a:t>Action</a:t>
            </a:r>
          </a:p>
          <a:p>
            <a:endParaRPr lang="en-US" altLang="en-US" dirty="0"/>
          </a:p>
          <a:p>
            <a:r>
              <a:rPr lang="en-US" altLang="en-US" dirty="0"/>
              <a:t>Other steps</a:t>
            </a:r>
          </a:p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D255950-EBD8-4E37-ADFF-FC8523022739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57512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F9A386-EAF6-4DFA-8788-198F91EB132A}" type="slidenum">
              <a:rPr lang="en-US" altLang="en-US" sz="1200" smtClean="0">
                <a:latin typeface="Times New Roman" panose="02020603050405020304" pitchFamily="18" charset="0"/>
              </a:rPr>
              <a:pPr/>
              <a:t>52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r>
              <a:rPr lang="en-US" altLang="en-US" b="1" dirty="0"/>
              <a:t>Data Fields:</a:t>
            </a:r>
          </a:p>
          <a:p>
            <a:r>
              <a:rPr lang="en-US" altLang="en-US" dirty="0"/>
              <a:t>Field:  value</a:t>
            </a:r>
          </a:p>
          <a:p>
            <a:r>
              <a:rPr lang="en-US" altLang="en-US" dirty="0"/>
              <a:t>Field: value</a:t>
            </a:r>
          </a:p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A9988F09-DA4F-455C-951E-0693A2455191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48982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C2F06C-302D-4190-9A64-6A5702D70EA6}" type="slidenum">
              <a:rPr lang="en-US" altLang="en-US" sz="1200" smtClean="0">
                <a:latin typeface="Times New Roman" panose="02020603050405020304" pitchFamily="18" charset="0"/>
              </a:rPr>
              <a:pPr/>
              <a:t>54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r>
              <a:rPr lang="en-US" altLang="en-US" dirty="0"/>
              <a:t>Demonstration using:</a:t>
            </a:r>
          </a:p>
          <a:p>
            <a:r>
              <a:rPr lang="en-US" altLang="en-US" dirty="0"/>
              <a:t>Field:  value</a:t>
            </a:r>
          </a:p>
          <a:p>
            <a:r>
              <a:rPr lang="en-US" altLang="en-US" dirty="0"/>
              <a:t>Field: value </a:t>
            </a:r>
          </a:p>
          <a:p>
            <a:endParaRPr lang="en-US" altLang="en-US" dirty="0"/>
          </a:p>
          <a:p>
            <a:r>
              <a:rPr lang="en-US" altLang="en-US" dirty="0"/>
              <a:t>Action</a:t>
            </a:r>
          </a:p>
          <a:p>
            <a:endParaRPr lang="en-US" altLang="en-US" dirty="0"/>
          </a:p>
          <a:p>
            <a:r>
              <a:rPr lang="en-US" altLang="en-US" dirty="0"/>
              <a:t>Other steps</a:t>
            </a:r>
          </a:p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D255950-EBD8-4E37-ADFF-FC8523022739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09887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F9A386-EAF6-4DFA-8788-198F91EB132A}" type="slidenum">
              <a:rPr lang="en-US" altLang="en-US" sz="1200" smtClean="0">
                <a:latin typeface="Times New Roman" panose="02020603050405020304" pitchFamily="18" charset="0"/>
              </a:rPr>
              <a:pPr/>
              <a:t>55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r>
              <a:rPr lang="en-US" altLang="en-US" b="1" dirty="0"/>
              <a:t>Data Fields:</a:t>
            </a:r>
          </a:p>
          <a:p>
            <a:r>
              <a:rPr lang="en-US" altLang="en-US" dirty="0"/>
              <a:t>Field:  value</a:t>
            </a:r>
          </a:p>
          <a:p>
            <a:r>
              <a:rPr lang="en-US" altLang="en-US" dirty="0"/>
              <a:t>Field: value</a:t>
            </a:r>
          </a:p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A9988F09-DA4F-455C-951E-0693A2455191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00570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EF611E-683B-4438-A8F3-7E471EDA1D77}" type="slidenum">
              <a:rPr lang="en-US" altLang="en-US" sz="1200" smtClean="0">
                <a:latin typeface="Times New Roman" panose="02020603050405020304" pitchFamily="18" charset="0"/>
              </a:rPr>
              <a:pPr/>
              <a:t>56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701675"/>
            <a:ext cx="6189663" cy="3482975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93EBDEAC-330F-4581-A7CC-2FC1BA466CA1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83171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B22389-9B96-44CE-920F-735E6B267E08}" type="slidenum">
              <a:rPr lang="en-US" altLang="en-US" sz="1200" smtClean="0">
                <a:latin typeface="Times New Roman" panose="02020603050405020304" pitchFamily="18" charset="0"/>
              </a:rPr>
              <a:pPr/>
              <a:t>57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4495800"/>
            <a:ext cx="5140325" cy="3268663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63E86371-EE5E-4263-9695-809FA84EBDF1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81648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35597FC-C02F-4204-9693-7B610A5DCEC0}" type="slidenum">
              <a:rPr lang="en-US" altLang="en-US" sz="1200" smtClean="0">
                <a:latin typeface="Times New Roman" panose="02020603050405020304" pitchFamily="18" charset="0"/>
              </a:rPr>
              <a:pPr/>
              <a:t>58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4495800"/>
            <a:ext cx="5140325" cy="3268663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EB181A2-5115-4F87-9296-C07C9C7C2BFF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26742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225777" y="4715482"/>
            <a:ext cx="6036625" cy="4466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AF0DF3A1-BC3D-4C47-81AA-01D16FF97DDF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20235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3C8157A-3C63-49F8-AE98-A825228D3FD1}" type="slidenum">
              <a:rPr lang="en-US" altLang="en-US" sz="1200" smtClean="0">
                <a:latin typeface="Times New Roman" panose="02020603050405020304" pitchFamily="18" charset="0"/>
              </a:rPr>
              <a:pPr/>
              <a:t>60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4495800"/>
            <a:ext cx="5140325" cy="3268663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0027F9C4-B32B-4CDF-80D3-5B7920E72A05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08209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C3363D-940F-45CB-8A6C-44A3AE96FACD}" type="slidenum">
              <a:rPr lang="en-US" altLang="en-US" sz="1200" smtClean="0">
                <a:latin typeface="Times New Roman" panose="02020603050405020304" pitchFamily="18" charset="0"/>
              </a:rPr>
              <a:pPr/>
              <a:t>61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7638" y="560388"/>
            <a:ext cx="6716712" cy="377825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99E37174-A277-4D02-8D1A-A032C408012D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11757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52E4F8-0974-4213-A8F8-50AD4A297F2D}" type="slidenum">
              <a:rPr lang="en-US" altLang="en-US" sz="1200" smtClean="0">
                <a:latin typeface="Times New Roman" panose="02020603050405020304" pitchFamily="18" charset="0"/>
              </a:rPr>
              <a:pPr/>
              <a:t>62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7638" y="560388"/>
            <a:ext cx="6716712" cy="377825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9D41674F-FD55-4AB3-982E-EC5906E421B6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88266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4EFC1C-A928-4A29-AB9B-1C1C9F8EEF1E}" type="slidenum">
              <a:rPr lang="en-US" altLang="en-US" sz="1200" smtClean="0">
                <a:latin typeface="Times New Roman" panose="02020603050405020304" pitchFamily="18" charset="0"/>
              </a:rPr>
              <a:pPr/>
              <a:t>63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4495800"/>
            <a:ext cx="5140325" cy="3268663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69CFC7C-C9C7-4782-9149-2E8176EE79D9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58027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&lt;&lt;Update Course Name Here&gt;&gt;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F7B264B2-4432-438C-881F-DE47DBA264F0}" type="datetime1">
              <a:rPr lang="en-US" smtClean="0"/>
              <a:t>6/21/2021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© 2019 New York State Home and Community Renewal</a:t>
            </a:r>
            <a:br>
              <a:rPr lang="en-US" smtClean="0"/>
            </a:br>
            <a:r>
              <a:rPr lang="en-US" smtClean="0"/>
              <a:t>All Contents Proprietary and Confidential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6DA9C80-B631-4EC4-8253-F63CFD0157DF}" type="slidenum">
              <a:rPr lang="en-US" smtClean="0"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59997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C2F06C-302D-4190-9A64-6A5702D70EA6}" type="slidenum">
              <a:rPr lang="en-US" altLang="en-US" sz="1200" smtClean="0">
                <a:latin typeface="Times New Roman" panose="02020603050405020304" pitchFamily="18" charset="0"/>
              </a:rPr>
              <a:pPr/>
              <a:t>66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r>
              <a:rPr lang="en-US" altLang="en-US" dirty="0"/>
              <a:t>Demonstration using:</a:t>
            </a:r>
          </a:p>
          <a:p>
            <a:r>
              <a:rPr lang="en-US" altLang="en-US" dirty="0"/>
              <a:t>Field:  value</a:t>
            </a:r>
          </a:p>
          <a:p>
            <a:r>
              <a:rPr lang="en-US" altLang="en-US" dirty="0"/>
              <a:t>Field: value </a:t>
            </a:r>
          </a:p>
          <a:p>
            <a:endParaRPr lang="en-US" altLang="en-US" dirty="0"/>
          </a:p>
          <a:p>
            <a:r>
              <a:rPr lang="en-US" altLang="en-US" dirty="0"/>
              <a:t>Action</a:t>
            </a:r>
          </a:p>
          <a:p>
            <a:endParaRPr lang="en-US" altLang="en-US" dirty="0"/>
          </a:p>
          <a:p>
            <a:r>
              <a:rPr lang="en-US" altLang="en-US" dirty="0"/>
              <a:t>Other steps</a:t>
            </a:r>
          </a:p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D255950-EBD8-4E37-ADFF-FC8523022739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85378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F9A386-EAF6-4DFA-8788-198F91EB132A}" type="slidenum">
              <a:rPr lang="en-US" altLang="en-US" sz="1200" smtClean="0">
                <a:latin typeface="Times New Roman" panose="02020603050405020304" pitchFamily="18" charset="0"/>
              </a:rPr>
              <a:pPr/>
              <a:t>67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r>
              <a:rPr lang="en-US" altLang="en-US" b="1" dirty="0"/>
              <a:t>Data Fields:</a:t>
            </a:r>
          </a:p>
          <a:p>
            <a:r>
              <a:rPr lang="en-US" altLang="en-US" dirty="0"/>
              <a:t>Field:  value</a:t>
            </a:r>
          </a:p>
          <a:p>
            <a:r>
              <a:rPr lang="en-US" altLang="en-US" dirty="0"/>
              <a:t>Field: value</a:t>
            </a:r>
          </a:p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A9988F09-DA4F-455C-951E-0693A2455191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88248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EF611E-683B-4438-A8F3-7E471EDA1D77}" type="slidenum">
              <a:rPr lang="en-US" altLang="en-US" sz="1200" smtClean="0">
                <a:latin typeface="Times New Roman" panose="02020603050405020304" pitchFamily="18" charset="0"/>
              </a:rPr>
              <a:pPr/>
              <a:t>68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701675"/>
            <a:ext cx="6189663" cy="3482975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93EBDEAC-330F-4581-A7CC-2FC1BA466CA1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668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B22389-9B96-44CE-920F-735E6B267E08}" type="slidenum">
              <a:rPr lang="en-US" altLang="en-US" sz="1200" smtClean="0">
                <a:latin typeface="Times New Roman" panose="02020603050405020304" pitchFamily="18" charset="0"/>
              </a:rPr>
              <a:pPr/>
              <a:t>69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4495800"/>
            <a:ext cx="5140325" cy="3268663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63E86371-EE5E-4263-9695-809FA84EBDF1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38732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35597FC-C02F-4204-9693-7B610A5DCEC0}" type="slidenum">
              <a:rPr lang="en-US" altLang="en-US" sz="1200" smtClean="0">
                <a:latin typeface="Times New Roman" panose="02020603050405020304" pitchFamily="18" charset="0"/>
              </a:rPr>
              <a:pPr/>
              <a:t>70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4495800"/>
            <a:ext cx="5140325" cy="3268663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EB181A2-5115-4F87-9296-C07C9C7C2BFF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6140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3C8157A-3C63-49F8-AE98-A825228D3FD1}" type="slidenum">
              <a:rPr lang="en-US" altLang="en-US" sz="1200" smtClean="0">
                <a:latin typeface="Times New Roman" panose="02020603050405020304" pitchFamily="18" charset="0"/>
              </a:rPr>
              <a:pPr/>
              <a:t>71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4495800"/>
            <a:ext cx="5140325" cy="3268663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0027F9C4-B32B-4CDF-80D3-5B7920E72A05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24381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C3363D-940F-45CB-8A6C-44A3AE96FACD}" type="slidenum">
              <a:rPr lang="en-US" altLang="en-US" sz="1200" smtClean="0">
                <a:latin typeface="Times New Roman" panose="02020603050405020304" pitchFamily="18" charset="0"/>
              </a:rPr>
              <a:pPr/>
              <a:t>72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7638" y="560388"/>
            <a:ext cx="6716712" cy="377825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99E37174-A277-4D02-8D1A-A032C408012D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10994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2E4AEDA-915D-4B78-97AA-9DEBE884B66D}" type="slidenum">
              <a:rPr lang="en-US" altLang="en-US" sz="1200" smtClean="0">
                <a:latin typeface="Times New Roman" panose="02020603050405020304" pitchFamily="18" charset="0"/>
              </a:rPr>
              <a:pPr/>
              <a:t>75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4495800"/>
            <a:ext cx="5140325" cy="3268663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B20467F-58B8-4BCC-928C-246281D0899F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20456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686CB2-26F7-486F-B014-DD45147FF5BD}" type="slidenum">
              <a:rPr lang="en-US" altLang="en-US" sz="1200" smtClean="0">
                <a:latin typeface="Times New Roman" panose="02020603050405020304" pitchFamily="18" charset="0"/>
              </a:rPr>
              <a:pPr/>
              <a:t>76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4495800"/>
            <a:ext cx="5140325" cy="3268663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F62D803C-29BC-420F-BBD0-52B0A79E8A1D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62980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06107B-0FC3-493E-8BBC-F3B6E604D0A4}" type="slidenum">
              <a:rPr lang="en-US" altLang="en-US" sz="1200" smtClean="0">
                <a:latin typeface="Times New Roman" panose="02020603050405020304" pitchFamily="18" charset="0"/>
              </a:rPr>
              <a:pPr/>
              <a:t>77</a:t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1475"/>
          </a:xfrm>
          <a:prstGeom prst="rect">
            <a:avLst/>
          </a:prstGeom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B0D3FEC-35A3-48F0-9E39-2BA4E003A64F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15861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225777" y="4715482"/>
            <a:ext cx="6036625" cy="4466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&lt;&lt;Update Course Name Here&gt;&gt;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(c) 2019 NYSHCR, All rights Reserved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90C0EE70-9960-4FCF-AB77-212B63C793EE}" type="datetime1">
              <a:rPr lang="en-US" smtClean="0"/>
              <a:t>6/21/2021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415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5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_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79025" y="4876800"/>
            <a:ext cx="13059551" cy="2382238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 typeface="+mj-lt"/>
              <a:buNone/>
              <a:defRPr sz="4000" baseline="0">
                <a:solidFill>
                  <a:schemeClr val="bg1"/>
                </a:solidFill>
                <a:latin typeface="Fujitsu Sans Medium" panose="020B0504060202020204" pitchFamily="34" charset="0"/>
              </a:defRPr>
            </a:lvl1pPr>
            <a:lvl2pPr marL="467779" indent="0">
              <a:buNone/>
              <a:defRPr/>
            </a:lvl2pPr>
            <a:lvl3pPr marL="815616" indent="0">
              <a:buNone/>
              <a:defRPr/>
            </a:lvl3pPr>
            <a:lvl4pPr marL="1079492" indent="0">
              <a:buNone/>
              <a:defRPr/>
            </a:lvl4pPr>
            <a:lvl5pPr marL="1355362" indent="0">
              <a:buNone/>
              <a:defRPr/>
            </a:lvl5pPr>
          </a:lstStyle>
          <a:p>
            <a:pPr lvl="0"/>
            <a:r>
              <a:rPr lang="de-DE" dirty="0"/>
              <a:t>Add Course Name here...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314" y="772160"/>
            <a:ext cx="3311976" cy="220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5804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640333" y="4790950"/>
            <a:ext cx="12177267" cy="624725"/>
          </a:xfrm>
          <a:prstGeom prst="rect">
            <a:avLst/>
          </a:prstGeom>
        </p:spPr>
        <p:txBody>
          <a:bodyPr/>
          <a:lstStyle>
            <a:lvl1pPr algn="r">
              <a:defRPr sz="4400">
                <a:solidFill>
                  <a:schemeClr val="bg1"/>
                </a:solidFill>
                <a:latin typeface="Fujitsu Sans" panose="020B040406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46729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a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CT_Marker_ID_7" hidden="1"/>
          <p:cNvSpPr/>
          <p:nvPr userDrawn="1">
            <p:custDataLst>
              <p:tags r:id="rId1"/>
            </p:custDataLst>
          </p:nvPr>
        </p:nvSpPr>
        <p:spPr>
          <a:xfrm>
            <a:off x="1919111" y="143934"/>
            <a:ext cx="191911" cy="1439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39" dirty="0"/>
          </a:p>
        </p:txBody>
      </p:sp>
      <p:pic>
        <p:nvPicPr>
          <p:cNvPr id="4" name="Picture 4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314" y="772160"/>
            <a:ext cx="3311976" cy="220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8154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880" y="214799"/>
            <a:ext cx="12435840" cy="73777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880" y="1081669"/>
            <a:ext cx="12435840" cy="58800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A7754AA7-8025-408E-B296-E2B43FE086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7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02613" y="7203880"/>
            <a:ext cx="3224107" cy="415007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A7754AA7-8025-408E-B296-E2B43FE086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29319" y="101482"/>
            <a:ext cx="12177267" cy="624725"/>
          </a:xfrm>
          <a:prstGeom prst="rect">
            <a:avLst/>
          </a:prstGeom>
        </p:spPr>
        <p:txBody>
          <a:bodyPr/>
          <a:lstStyle>
            <a:lvl1pPr algn="l">
              <a:defRPr sz="4400">
                <a:latin typeface="Fujitsu Sans" panose="020B040406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48722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9319" y="101482"/>
            <a:ext cx="12177267" cy="624725"/>
          </a:xfrm>
          <a:prstGeom prst="rect">
            <a:avLst/>
          </a:prstGeom>
        </p:spPr>
        <p:txBody>
          <a:bodyPr/>
          <a:lstStyle>
            <a:lvl1pPr algn="l">
              <a:defRPr sz="4400" baseline="0">
                <a:latin typeface="Fujitsu Sans" panose="020B040406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700" y="1081669"/>
            <a:ext cx="12827000" cy="5880066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Fujitsu Sans" panose="020B0404060202020204" pitchFamily="34" charset="0"/>
              </a:defRPr>
            </a:lvl1pPr>
            <a:lvl2pPr>
              <a:defRPr sz="3200">
                <a:latin typeface="Fujitsu Sans" panose="020B0404060202020204" pitchFamily="34" charset="0"/>
              </a:defRPr>
            </a:lvl2pPr>
            <a:lvl3pPr>
              <a:defRPr sz="2800">
                <a:latin typeface="Fujitsu Sans" panose="020B0404060202020204" pitchFamily="34" charset="0"/>
              </a:defRPr>
            </a:lvl3pPr>
            <a:lvl4pPr>
              <a:defRPr sz="2800">
                <a:latin typeface="Fujitsu Sans" panose="020B0404060202020204" pitchFamily="34" charset="0"/>
              </a:defRPr>
            </a:lvl4pPr>
            <a:lvl5pPr>
              <a:defRPr sz="2800">
                <a:latin typeface="Fujitsu Sans" panose="020B040406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40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bjectives - Cou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bss00071"/>
          <p:cNvPicPr>
            <a:picLocks noChangeAspect="1" noChangeArrowheads="1"/>
          </p:cNvPicPr>
          <p:nvPr userDrawn="1"/>
        </p:nvPicPr>
        <p:blipFill>
          <a:blip r:embed="rId2">
            <a:lum bright="76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46"/>
          <a:stretch>
            <a:fillRect/>
          </a:stretch>
        </p:blipFill>
        <p:spPr bwMode="auto">
          <a:xfrm>
            <a:off x="12090400" y="5732544"/>
            <a:ext cx="1727200" cy="2039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700" y="1081669"/>
            <a:ext cx="12827000" cy="5880066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Fujitsu Sans" panose="020B0404060202020204" pitchFamily="34" charset="0"/>
              </a:defRPr>
            </a:lvl1pPr>
            <a:lvl2pPr>
              <a:defRPr sz="3200">
                <a:latin typeface="Fujitsu Sans" panose="020B0404060202020204" pitchFamily="34" charset="0"/>
              </a:defRPr>
            </a:lvl2pPr>
            <a:lvl3pPr>
              <a:defRPr sz="2800">
                <a:latin typeface="Fujitsu Sans" panose="020B0404060202020204" pitchFamily="34" charset="0"/>
              </a:defRPr>
            </a:lvl3pPr>
            <a:lvl4pPr>
              <a:defRPr sz="2800">
                <a:latin typeface="Fujitsu Sans" panose="020B0404060202020204" pitchFamily="34" charset="0"/>
              </a:defRPr>
            </a:lvl4pPr>
            <a:lvl5pPr>
              <a:defRPr sz="2800">
                <a:latin typeface="Fujitsu Sans" panose="020B040406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1800" y="-80963"/>
            <a:ext cx="4286250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576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ives - Un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bss00071"/>
          <p:cNvPicPr>
            <a:picLocks noChangeAspect="1" noChangeArrowheads="1"/>
          </p:cNvPicPr>
          <p:nvPr userDrawn="1"/>
        </p:nvPicPr>
        <p:blipFill>
          <a:blip r:embed="rId2">
            <a:lum bright="76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46"/>
          <a:stretch>
            <a:fillRect/>
          </a:stretch>
        </p:blipFill>
        <p:spPr bwMode="auto">
          <a:xfrm>
            <a:off x="12090400" y="5732544"/>
            <a:ext cx="1727200" cy="2039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06636" y="108409"/>
            <a:ext cx="8099950" cy="624725"/>
          </a:xfrm>
          <a:prstGeom prst="rect">
            <a:avLst/>
          </a:prstGeom>
        </p:spPr>
        <p:txBody>
          <a:bodyPr/>
          <a:lstStyle>
            <a:lvl1pPr algn="l">
              <a:defRPr sz="4400" baseline="0">
                <a:latin typeface="Fujitsu Sans" panose="020B040406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700" y="1081669"/>
            <a:ext cx="12827000" cy="5880066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Fujitsu Sans" panose="020B0404060202020204" pitchFamily="34" charset="0"/>
              </a:defRPr>
            </a:lvl1pPr>
            <a:lvl2pPr>
              <a:defRPr sz="3200">
                <a:latin typeface="Fujitsu Sans" panose="020B0404060202020204" pitchFamily="34" charset="0"/>
              </a:defRPr>
            </a:lvl2pPr>
            <a:lvl3pPr>
              <a:defRPr sz="2800">
                <a:latin typeface="Fujitsu Sans" panose="020B0404060202020204" pitchFamily="34" charset="0"/>
              </a:defRPr>
            </a:lvl3pPr>
            <a:lvl4pPr>
              <a:defRPr sz="2800">
                <a:latin typeface="Fujitsu Sans" panose="020B0404060202020204" pitchFamily="34" charset="0"/>
              </a:defRPr>
            </a:lvl4pPr>
            <a:lvl5pPr>
              <a:defRPr sz="2800">
                <a:latin typeface="Fujitsu Sans" panose="020B040406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0700" y="-59359"/>
            <a:ext cx="4148621" cy="104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17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265025" y="5705475"/>
            <a:ext cx="1552575" cy="20669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9319" y="101482"/>
            <a:ext cx="12177267" cy="624725"/>
          </a:xfrm>
          <a:prstGeom prst="rect">
            <a:avLst/>
          </a:prstGeom>
        </p:spPr>
        <p:txBody>
          <a:bodyPr/>
          <a:lstStyle>
            <a:lvl1pPr algn="l">
              <a:defRPr sz="4400">
                <a:latin typeface="Fujitsu Sans" panose="020B0404060202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700" y="1081669"/>
            <a:ext cx="12827000" cy="5880066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Fujitsu Sans" panose="020B0404060202020204" pitchFamily="34" charset="0"/>
              </a:defRPr>
            </a:lvl1pPr>
            <a:lvl2pPr>
              <a:defRPr sz="3200">
                <a:latin typeface="Fujitsu Sans" panose="020B0404060202020204" pitchFamily="34" charset="0"/>
              </a:defRPr>
            </a:lvl2pPr>
            <a:lvl3pPr>
              <a:defRPr sz="2800">
                <a:latin typeface="Fujitsu Sans" panose="020B0404060202020204" pitchFamily="34" charset="0"/>
              </a:defRPr>
            </a:lvl3pPr>
            <a:lvl4pPr>
              <a:defRPr sz="2800">
                <a:latin typeface="Fujitsu Sans" panose="020B0404060202020204" pitchFamily="34" charset="0"/>
              </a:defRPr>
            </a:lvl4pPr>
            <a:lvl5pPr>
              <a:defRPr sz="2800">
                <a:latin typeface="Fujitsu Sans" panose="020B040406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5754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29320" y="1037063"/>
            <a:ext cx="6264334" cy="5988205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Fujitsu Sans" panose="020B0404060202020204" pitchFamily="34" charset="0"/>
              </a:defRPr>
            </a:lvl1pPr>
            <a:lvl2pPr>
              <a:defRPr sz="2800">
                <a:latin typeface="Fujitsu Sans" panose="020B0404060202020204" pitchFamily="34" charset="0"/>
              </a:defRPr>
            </a:lvl2pPr>
            <a:lvl3pPr>
              <a:defRPr sz="2400">
                <a:latin typeface="Fujitsu Sans" panose="020B0404060202020204" pitchFamily="34" charset="0"/>
              </a:defRPr>
            </a:lvl3pPr>
            <a:lvl4pPr>
              <a:defRPr sz="2000">
                <a:latin typeface="Fujitsu Sans" panose="020B0404060202020204" pitchFamily="34" charset="0"/>
              </a:defRPr>
            </a:lvl4pPr>
            <a:lvl5pPr>
              <a:defRPr sz="2000">
                <a:latin typeface="Fujitsu Sans" panose="020B0404060202020204" pitchFamily="34" charset="0"/>
              </a:defRPr>
            </a:lvl5pPr>
            <a:lvl6pPr>
              <a:defRPr sz="2720"/>
            </a:lvl6pPr>
            <a:lvl7pPr>
              <a:defRPr sz="2720"/>
            </a:lvl7pPr>
            <a:lvl8pPr>
              <a:defRPr sz="2720"/>
            </a:lvl8pPr>
            <a:lvl9pPr>
              <a:defRPr sz="272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08800" y="1037062"/>
            <a:ext cx="6413500" cy="5988205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Fujitsu Sans" panose="020B0404060202020204" pitchFamily="34" charset="0"/>
              </a:defRPr>
            </a:lvl1pPr>
            <a:lvl2pPr>
              <a:defRPr sz="2800">
                <a:latin typeface="Fujitsu Sans" panose="020B0404060202020204" pitchFamily="34" charset="0"/>
              </a:defRPr>
            </a:lvl2pPr>
            <a:lvl3pPr>
              <a:defRPr sz="2400">
                <a:latin typeface="Fujitsu Sans" panose="020B0404060202020204" pitchFamily="34" charset="0"/>
              </a:defRPr>
            </a:lvl3pPr>
            <a:lvl4pPr>
              <a:defRPr sz="2000">
                <a:latin typeface="Fujitsu Sans" panose="020B0404060202020204" pitchFamily="34" charset="0"/>
              </a:defRPr>
            </a:lvl4pPr>
            <a:lvl5pPr>
              <a:defRPr sz="2000">
                <a:latin typeface="Fujitsu Sans" panose="020B0404060202020204" pitchFamily="34" charset="0"/>
              </a:defRPr>
            </a:lvl5pPr>
            <a:lvl6pPr>
              <a:defRPr sz="2720"/>
            </a:lvl6pPr>
            <a:lvl7pPr>
              <a:defRPr sz="2720"/>
            </a:lvl7pPr>
            <a:lvl8pPr>
              <a:defRPr sz="2720"/>
            </a:lvl8pPr>
            <a:lvl9pPr>
              <a:defRPr sz="272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29319" y="101482"/>
            <a:ext cx="12177267" cy="624725"/>
          </a:xfrm>
          <a:prstGeom prst="rect">
            <a:avLst/>
          </a:prstGeom>
        </p:spPr>
        <p:txBody>
          <a:bodyPr/>
          <a:lstStyle>
            <a:lvl1pPr algn="l">
              <a:defRPr sz="4400">
                <a:latin typeface="Fujitsu Sans" panose="020B040406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359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8616" y="5942179"/>
            <a:ext cx="2538984" cy="1830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9319" y="101482"/>
            <a:ext cx="12177267" cy="624725"/>
          </a:xfrm>
          <a:prstGeom prst="rect">
            <a:avLst/>
          </a:prstGeom>
        </p:spPr>
        <p:txBody>
          <a:bodyPr/>
          <a:lstStyle>
            <a:lvl1pPr algn="l">
              <a:defRPr sz="4400" baseline="0">
                <a:latin typeface="Fujitsu Sans" panose="020B040406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700" y="1081669"/>
            <a:ext cx="12827000" cy="5880066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Fujitsu Sans" panose="020B0404060202020204" pitchFamily="34" charset="0"/>
              </a:defRPr>
            </a:lvl1pPr>
            <a:lvl2pPr>
              <a:defRPr sz="3200">
                <a:latin typeface="Fujitsu Sans" panose="020B0404060202020204" pitchFamily="34" charset="0"/>
              </a:defRPr>
            </a:lvl2pPr>
            <a:lvl3pPr>
              <a:defRPr sz="2800">
                <a:latin typeface="Fujitsu Sans" panose="020B0404060202020204" pitchFamily="34" charset="0"/>
              </a:defRPr>
            </a:lvl3pPr>
            <a:lvl4pPr>
              <a:defRPr sz="2800">
                <a:latin typeface="Fujitsu Sans" panose="020B0404060202020204" pitchFamily="34" charset="0"/>
              </a:defRPr>
            </a:lvl4pPr>
            <a:lvl5pPr>
              <a:defRPr sz="2800">
                <a:latin typeface="Fujitsu Sans" panose="020B040406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8615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MPj04225930000[1]"/>
          <p:cNvPicPr>
            <a:picLocks noChangeAspect="1" noChangeArrowheads="1"/>
          </p:cNvPicPr>
          <p:nvPr userDrawn="1"/>
        </p:nvPicPr>
        <p:blipFill>
          <a:blip r:embed="rId2">
            <a:lum bright="54000" contrast="-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3077" y="6187335"/>
            <a:ext cx="2324523" cy="1585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9319" y="101482"/>
            <a:ext cx="12177267" cy="624725"/>
          </a:xfrm>
          <a:prstGeom prst="rect">
            <a:avLst/>
          </a:prstGeom>
        </p:spPr>
        <p:txBody>
          <a:bodyPr/>
          <a:lstStyle>
            <a:lvl1pPr algn="l">
              <a:defRPr sz="4400" baseline="0">
                <a:latin typeface="Fujitsu Sans" panose="020B040406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700" y="1081669"/>
            <a:ext cx="12827000" cy="5880066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Fujitsu Sans" panose="020B0404060202020204" pitchFamily="34" charset="0"/>
              </a:defRPr>
            </a:lvl1pPr>
            <a:lvl2pPr>
              <a:defRPr sz="3200">
                <a:latin typeface="Fujitsu Sans" panose="020B0404060202020204" pitchFamily="34" charset="0"/>
              </a:defRPr>
            </a:lvl2pPr>
            <a:lvl3pPr>
              <a:defRPr sz="2800">
                <a:latin typeface="Fujitsu Sans" panose="020B0404060202020204" pitchFamily="34" charset="0"/>
              </a:defRPr>
            </a:lvl3pPr>
            <a:lvl4pPr>
              <a:defRPr sz="2800">
                <a:latin typeface="Fujitsu Sans" panose="020B0404060202020204" pitchFamily="34" charset="0"/>
              </a:defRPr>
            </a:lvl4pPr>
            <a:lvl5pPr>
              <a:defRPr sz="2800">
                <a:latin typeface="Fujitsu Sans" panose="020B040406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398788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eckpoint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3830" y="6152110"/>
            <a:ext cx="222377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39465" y="101482"/>
            <a:ext cx="5167121" cy="624725"/>
          </a:xfrm>
          <a:prstGeom prst="rect">
            <a:avLst/>
          </a:prstGeom>
        </p:spPr>
        <p:txBody>
          <a:bodyPr/>
          <a:lstStyle>
            <a:lvl1pPr algn="l">
              <a:defRPr sz="4400" baseline="0">
                <a:latin typeface="Fujitsu Sans" panose="020B0404060202020204" pitchFamily="34" charset="0"/>
              </a:defRPr>
            </a:lvl1pPr>
          </a:lstStyle>
          <a:p>
            <a:r>
              <a:rPr lang="en-US" dirty="0"/>
              <a:t>Unit x, # 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700" y="1081669"/>
            <a:ext cx="12827000" cy="5880066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Fujitsu Sans" panose="020B0404060202020204" pitchFamily="34" charset="0"/>
              </a:defRPr>
            </a:lvl1pPr>
            <a:lvl2pPr>
              <a:defRPr sz="3200">
                <a:latin typeface="Fujitsu Sans" panose="020B0404060202020204" pitchFamily="34" charset="0"/>
              </a:defRPr>
            </a:lvl2pPr>
            <a:lvl3pPr>
              <a:defRPr sz="2800">
                <a:latin typeface="Fujitsu Sans" panose="020B0404060202020204" pitchFamily="34" charset="0"/>
              </a:defRPr>
            </a:lvl3pPr>
            <a:lvl4pPr>
              <a:defRPr sz="2800">
                <a:latin typeface="Fujitsu Sans" panose="020B0404060202020204" pitchFamily="34" charset="0"/>
              </a:defRPr>
            </a:lvl4pPr>
            <a:lvl5pPr>
              <a:defRPr sz="2800">
                <a:latin typeface="Fujitsu Sans" panose="020B040406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0699" y="-101601"/>
            <a:ext cx="7018766" cy="110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1735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eckpoint Answ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63"/>
          <p:cNvGrpSpPr>
            <a:grpSpLocks/>
          </p:cNvGrpSpPr>
          <p:nvPr userDrawn="1"/>
        </p:nvGrpSpPr>
        <p:grpSpPr bwMode="auto">
          <a:xfrm>
            <a:off x="11234450" y="6036764"/>
            <a:ext cx="2486448" cy="1651635"/>
            <a:chOff x="4378" y="3045"/>
            <a:chExt cx="1382" cy="918"/>
          </a:xfrm>
        </p:grpSpPr>
        <p:sp>
          <p:nvSpPr>
            <p:cNvPr id="9" name="AutoShape 7"/>
            <p:cNvSpPr>
              <a:spLocks noChangeAspect="1" noChangeArrowheads="1" noTextEdit="1"/>
            </p:cNvSpPr>
            <p:nvPr/>
          </p:nvSpPr>
          <p:spPr bwMode="auto">
            <a:xfrm>
              <a:off x="4378" y="3045"/>
              <a:ext cx="1382" cy="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25098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4545" y="3154"/>
              <a:ext cx="849" cy="491"/>
            </a:xfrm>
            <a:custGeom>
              <a:avLst/>
              <a:gdLst>
                <a:gd name="T0" fmla="*/ 4 w 1697"/>
                <a:gd name="T1" fmla="*/ 1 h 980"/>
                <a:gd name="T2" fmla="*/ 2 w 1697"/>
                <a:gd name="T3" fmla="*/ 0 h 980"/>
                <a:gd name="T4" fmla="*/ 0 w 1697"/>
                <a:gd name="T5" fmla="*/ 2 h 980"/>
                <a:gd name="T6" fmla="*/ 1 w 1697"/>
                <a:gd name="T7" fmla="*/ 3 h 980"/>
                <a:gd name="T8" fmla="*/ 3 w 1697"/>
                <a:gd name="T9" fmla="*/ 4 h 980"/>
                <a:gd name="T10" fmla="*/ 4 w 1697"/>
                <a:gd name="T11" fmla="*/ 4 h 980"/>
                <a:gd name="T12" fmla="*/ 6 w 1697"/>
                <a:gd name="T13" fmla="*/ 4 h 980"/>
                <a:gd name="T14" fmla="*/ 7 w 1697"/>
                <a:gd name="T15" fmla="*/ 2 h 980"/>
                <a:gd name="T16" fmla="*/ 4 w 1697"/>
                <a:gd name="T17" fmla="*/ 1 h 980"/>
                <a:gd name="T18" fmla="*/ 4 w 1697"/>
                <a:gd name="T19" fmla="*/ 1 h 9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697" h="980">
                  <a:moveTo>
                    <a:pt x="1005" y="72"/>
                  </a:moveTo>
                  <a:lnTo>
                    <a:pt x="363" y="0"/>
                  </a:lnTo>
                  <a:lnTo>
                    <a:pt x="0" y="332"/>
                  </a:lnTo>
                  <a:lnTo>
                    <a:pt x="138" y="651"/>
                  </a:lnTo>
                  <a:lnTo>
                    <a:pt x="606" y="891"/>
                  </a:lnTo>
                  <a:lnTo>
                    <a:pt x="977" y="980"/>
                  </a:lnTo>
                  <a:lnTo>
                    <a:pt x="1509" y="792"/>
                  </a:lnTo>
                  <a:lnTo>
                    <a:pt x="1697" y="355"/>
                  </a:lnTo>
                  <a:lnTo>
                    <a:pt x="1005" y="72"/>
                  </a:lnTo>
                  <a:close/>
                </a:path>
              </a:pathLst>
            </a:custGeom>
            <a:solidFill>
              <a:srgbClr val="FFFF85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4395" y="3064"/>
              <a:ext cx="1161" cy="564"/>
            </a:xfrm>
            <a:custGeom>
              <a:avLst/>
              <a:gdLst>
                <a:gd name="T0" fmla="*/ 4 w 2321"/>
                <a:gd name="T1" fmla="*/ 2 h 1127"/>
                <a:gd name="T2" fmla="*/ 4 w 2321"/>
                <a:gd name="T3" fmla="*/ 2 h 1127"/>
                <a:gd name="T4" fmla="*/ 4 w 2321"/>
                <a:gd name="T5" fmla="*/ 2 h 1127"/>
                <a:gd name="T6" fmla="*/ 5 w 2321"/>
                <a:gd name="T7" fmla="*/ 2 h 1127"/>
                <a:gd name="T8" fmla="*/ 5 w 2321"/>
                <a:gd name="T9" fmla="*/ 2 h 1127"/>
                <a:gd name="T10" fmla="*/ 5 w 2321"/>
                <a:gd name="T11" fmla="*/ 2 h 1127"/>
                <a:gd name="T12" fmla="*/ 6 w 2321"/>
                <a:gd name="T13" fmla="*/ 2 h 1127"/>
                <a:gd name="T14" fmla="*/ 5 w 2321"/>
                <a:gd name="T15" fmla="*/ 2 h 1127"/>
                <a:gd name="T16" fmla="*/ 5 w 2321"/>
                <a:gd name="T17" fmla="*/ 2 h 1127"/>
                <a:gd name="T18" fmla="*/ 4 w 2321"/>
                <a:gd name="T19" fmla="*/ 2 h 1127"/>
                <a:gd name="T20" fmla="*/ 3 w 2321"/>
                <a:gd name="T21" fmla="*/ 2 h 1127"/>
                <a:gd name="T22" fmla="*/ 3 w 2321"/>
                <a:gd name="T23" fmla="*/ 2 h 1127"/>
                <a:gd name="T24" fmla="*/ 3 w 2321"/>
                <a:gd name="T25" fmla="*/ 2 h 1127"/>
                <a:gd name="T26" fmla="*/ 2 w 2321"/>
                <a:gd name="T27" fmla="*/ 2 h 1127"/>
                <a:gd name="T28" fmla="*/ 2 w 2321"/>
                <a:gd name="T29" fmla="*/ 3 h 1127"/>
                <a:gd name="T30" fmla="*/ 2 w 2321"/>
                <a:gd name="T31" fmla="*/ 3 h 1127"/>
                <a:gd name="T32" fmla="*/ 3 w 2321"/>
                <a:gd name="T33" fmla="*/ 4 h 1127"/>
                <a:gd name="T34" fmla="*/ 3 w 2321"/>
                <a:gd name="T35" fmla="*/ 4 h 1127"/>
                <a:gd name="T36" fmla="*/ 3 w 2321"/>
                <a:gd name="T37" fmla="*/ 4 h 1127"/>
                <a:gd name="T38" fmla="*/ 4 w 2321"/>
                <a:gd name="T39" fmla="*/ 4 h 1127"/>
                <a:gd name="T40" fmla="*/ 4 w 2321"/>
                <a:gd name="T41" fmla="*/ 5 h 1127"/>
                <a:gd name="T42" fmla="*/ 5 w 2321"/>
                <a:gd name="T43" fmla="*/ 5 h 1127"/>
                <a:gd name="T44" fmla="*/ 4 w 2321"/>
                <a:gd name="T45" fmla="*/ 5 h 1127"/>
                <a:gd name="T46" fmla="*/ 3 w 2321"/>
                <a:gd name="T47" fmla="*/ 4 h 1127"/>
                <a:gd name="T48" fmla="*/ 2 w 2321"/>
                <a:gd name="T49" fmla="*/ 4 h 1127"/>
                <a:gd name="T50" fmla="*/ 2 w 2321"/>
                <a:gd name="T51" fmla="*/ 4 h 1127"/>
                <a:gd name="T52" fmla="*/ 1 w 2321"/>
                <a:gd name="T53" fmla="*/ 3 h 1127"/>
                <a:gd name="T54" fmla="*/ 1 w 2321"/>
                <a:gd name="T55" fmla="*/ 3 h 1127"/>
                <a:gd name="T56" fmla="*/ 1 w 2321"/>
                <a:gd name="T57" fmla="*/ 2 h 1127"/>
                <a:gd name="T58" fmla="*/ 1 w 2321"/>
                <a:gd name="T59" fmla="*/ 2 h 1127"/>
                <a:gd name="T60" fmla="*/ 1 w 2321"/>
                <a:gd name="T61" fmla="*/ 1 h 1127"/>
                <a:gd name="T62" fmla="*/ 1 w 2321"/>
                <a:gd name="T63" fmla="*/ 1 h 1127"/>
                <a:gd name="T64" fmla="*/ 2 w 2321"/>
                <a:gd name="T65" fmla="*/ 1 h 1127"/>
                <a:gd name="T66" fmla="*/ 3 w 2321"/>
                <a:gd name="T67" fmla="*/ 1 h 1127"/>
                <a:gd name="T68" fmla="*/ 4 w 2321"/>
                <a:gd name="T69" fmla="*/ 0 h 1127"/>
                <a:gd name="T70" fmla="*/ 5 w 2321"/>
                <a:gd name="T71" fmla="*/ 1 h 1127"/>
                <a:gd name="T72" fmla="*/ 6 w 2321"/>
                <a:gd name="T73" fmla="*/ 1 h 1127"/>
                <a:gd name="T74" fmla="*/ 6 w 2321"/>
                <a:gd name="T75" fmla="*/ 1 h 1127"/>
                <a:gd name="T76" fmla="*/ 7 w 2321"/>
                <a:gd name="T77" fmla="*/ 1 h 1127"/>
                <a:gd name="T78" fmla="*/ 8 w 2321"/>
                <a:gd name="T79" fmla="*/ 2 h 1127"/>
                <a:gd name="T80" fmla="*/ 9 w 2321"/>
                <a:gd name="T81" fmla="*/ 2 h 1127"/>
                <a:gd name="T82" fmla="*/ 9 w 2321"/>
                <a:gd name="T83" fmla="*/ 2 h 1127"/>
                <a:gd name="T84" fmla="*/ 9 w 2321"/>
                <a:gd name="T85" fmla="*/ 3 h 1127"/>
                <a:gd name="T86" fmla="*/ 10 w 2321"/>
                <a:gd name="T87" fmla="*/ 3 h 1127"/>
                <a:gd name="T88" fmla="*/ 10 w 2321"/>
                <a:gd name="T89" fmla="*/ 4 h 1127"/>
                <a:gd name="T90" fmla="*/ 9 w 2321"/>
                <a:gd name="T91" fmla="*/ 4 h 1127"/>
                <a:gd name="T92" fmla="*/ 9 w 2321"/>
                <a:gd name="T93" fmla="*/ 4 h 1127"/>
                <a:gd name="T94" fmla="*/ 9 w 2321"/>
                <a:gd name="T95" fmla="*/ 4 h 1127"/>
                <a:gd name="T96" fmla="*/ 9 w 2321"/>
                <a:gd name="T97" fmla="*/ 4 h 1127"/>
                <a:gd name="T98" fmla="*/ 8 w 2321"/>
                <a:gd name="T99" fmla="*/ 5 h 1127"/>
                <a:gd name="T100" fmla="*/ 8 w 2321"/>
                <a:gd name="T101" fmla="*/ 5 h 1127"/>
                <a:gd name="T102" fmla="*/ 7 w 2321"/>
                <a:gd name="T103" fmla="*/ 5 h 1127"/>
                <a:gd name="T104" fmla="*/ 6 w 2321"/>
                <a:gd name="T105" fmla="*/ 5 h 1127"/>
                <a:gd name="T106" fmla="*/ 6 w 2321"/>
                <a:gd name="T107" fmla="*/ 4 h 1127"/>
                <a:gd name="T108" fmla="*/ 5 w 2321"/>
                <a:gd name="T109" fmla="*/ 4 h 1127"/>
                <a:gd name="T110" fmla="*/ 5 w 2321"/>
                <a:gd name="T111" fmla="*/ 4 h 1127"/>
                <a:gd name="T112" fmla="*/ 4 w 2321"/>
                <a:gd name="T113" fmla="*/ 4 h 1127"/>
                <a:gd name="T114" fmla="*/ 4 w 2321"/>
                <a:gd name="T115" fmla="*/ 3 h 1127"/>
                <a:gd name="T116" fmla="*/ 4 w 2321"/>
                <a:gd name="T117" fmla="*/ 3 h 1127"/>
                <a:gd name="T118" fmla="*/ 4 w 2321"/>
                <a:gd name="T119" fmla="*/ 3 h 1127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321" h="1127">
                  <a:moveTo>
                    <a:pt x="844" y="551"/>
                  </a:moveTo>
                  <a:lnTo>
                    <a:pt x="844" y="544"/>
                  </a:lnTo>
                  <a:lnTo>
                    <a:pt x="846" y="538"/>
                  </a:lnTo>
                  <a:lnTo>
                    <a:pt x="848" y="530"/>
                  </a:lnTo>
                  <a:lnTo>
                    <a:pt x="850" y="523"/>
                  </a:lnTo>
                  <a:lnTo>
                    <a:pt x="852" y="515"/>
                  </a:lnTo>
                  <a:lnTo>
                    <a:pt x="854" y="511"/>
                  </a:lnTo>
                  <a:lnTo>
                    <a:pt x="858" y="504"/>
                  </a:lnTo>
                  <a:lnTo>
                    <a:pt x="861" y="498"/>
                  </a:lnTo>
                  <a:lnTo>
                    <a:pt x="865" y="490"/>
                  </a:lnTo>
                  <a:lnTo>
                    <a:pt x="869" y="485"/>
                  </a:lnTo>
                  <a:lnTo>
                    <a:pt x="873" y="479"/>
                  </a:lnTo>
                  <a:lnTo>
                    <a:pt x="878" y="473"/>
                  </a:lnTo>
                  <a:lnTo>
                    <a:pt x="882" y="468"/>
                  </a:lnTo>
                  <a:lnTo>
                    <a:pt x="888" y="462"/>
                  </a:lnTo>
                  <a:lnTo>
                    <a:pt x="894" y="456"/>
                  </a:lnTo>
                  <a:lnTo>
                    <a:pt x="899" y="450"/>
                  </a:lnTo>
                  <a:lnTo>
                    <a:pt x="905" y="445"/>
                  </a:lnTo>
                  <a:lnTo>
                    <a:pt x="911" y="439"/>
                  </a:lnTo>
                  <a:lnTo>
                    <a:pt x="916" y="433"/>
                  </a:lnTo>
                  <a:lnTo>
                    <a:pt x="924" y="430"/>
                  </a:lnTo>
                  <a:lnTo>
                    <a:pt x="928" y="424"/>
                  </a:lnTo>
                  <a:lnTo>
                    <a:pt x="935" y="420"/>
                  </a:lnTo>
                  <a:lnTo>
                    <a:pt x="943" y="414"/>
                  </a:lnTo>
                  <a:lnTo>
                    <a:pt x="951" y="411"/>
                  </a:lnTo>
                  <a:lnTo>
                    <a:pt x="958" y="405"/>
                  </a:lnTo>
                  <a:lnTo>
                    <a:pt x="966" y="401"/>
                  </a:lnTo>
                  <a:lnTo>
                    <a:pt x="975" y="397"/>
                  </a:lnTo>
                  <a:lnTo>
                    <a:pt x="983" y="393"/>
                  </a:lnTo>
                  <a:lnTo>
                    <a:pt x="993" y="388"/>
                  </a:lnTo>
                  <a:lnTo>
                    <a:pt x="1000" y="384"/>
                  </a:lnTo>
                  <a:lnTo>
                    <a:pt x="1010" y="380"/>
                  </a:lnTo>
                  <a:lnTo>
                    <a:pt x="1019" y="378"/>
                  </a:lnTo>
                  <a:lnTo>
                    <a:pt x="1027" y="373"/>
                  </a:lnTo>
                  <a:lnTo>
                    <a:pt x="1036" y="369"/>
                  </a:lnTo>
                  <a:lnTo>
                    <a:pt x="1046" y="365"/>
                  </a:lnTo>
                  <a:lnTo>
                    <a:pt x="1057" y="363"/>
                  </a:lnTo>
                  <a:lnTo>
                    <a:pt x="1067" y="359"/>
                  </a:lnTo>
                  <a:lnTo>
                    <a:pt x="1076" y="355"/>
                  </a:lnTo>
                  <a:lnTo>
                    <a:pt x="1088" y="354"/>
                  </a:lnTo>
                  <a:lnTo>
                    <a:pt x="1099" y="350"/>
                  </a:lnTo>
                  <a:lnTo>
                    <a:pt x="1108" y="348"/>
                  </a:lnTo>
                  <a:lnTo>
                    <a:pt x="1120" y="344"/>
                  </a:lnTo>
                  <a:lnTo>
                    <a:pt x="1129" y="342"/>
                  </a:lnTo>
                  <a:lnTo>
                    <a:pt x="1141" y="338"/>
                  </a:lnTo>
                  <a:lnTo>
                    <a:pt x="1152" y="336"/>
                  </a:lnTo>
                  <a:lnTo>
                    <a:pt x="1164" y="335"/>
                  </a:lnTo>
                  <a:lnTo>
                    <a:pt x="1177" y="333"/>
                  </a:lnTo>
                  <a:lnTo>
                    <a:pt x="1188" y="331"/>
                  </a:lnTo>
                  <a:lnTo>
                    <a:pt x="1200" y="327"/>
                  </a:lnTo>
                  <a:lnTo>
                    <a:pt x="1211" y="327"/>
                  </a:lnTo>
                  <a:lnTo>
                    <a:pt x="1223" y="323"/>
                  </a:lnTo>
                  <a:lnTo>
                    <a:pt x="1236" y="323"/>
                  </a:lnTo>
                  <a:lnTo>
                    <a:pt x="1247" y="321"/>
                  </a:lnTo>
                  <a:lnTo>
                    <a:pt x="1261" y="321"/>
                  </a:lnTo>
                  <a:lnTo>
                    <a:pt x="1272" y="319"/>
                  </a:lnTo>
                  <a:lnTo>
                    <a:pt x="1285" y="319"/>
                  </a:lnTo>
                  <a:lnTo>
                    <a:pt x="1299" y="317"/>
                  </a:lnTo>
                  <a:lnTo>
                    <a:pt x="1312" y="316"/>
                  </a:lnTo>
                  <a:lnTo>
                    <a:pt x="1325" y="316"/>
                  </a:lnTo>
                  <a:lnTo>
                    <a:pt x="1338" y="316"/>
                  </a:lnTo>
                  <a:lnTo>
                    <a:pt x="1352" y="316"/>
                  </a:lnTo>
                  <a:lnTo>
                    <a:pt x="1365" y="316"/>
                  </a:lnTo>
                  <a:lnTo>
                    <a:pt x="1378" y="316"/>
                  </a:lnTo>
                  <a:lnTo>
                    <a:pt x="1392" y="316"/>
                  </a:lnTo>
                  <a:lnTo>
                    <a:pt x="1399" y="306"/>
                  </a:lnTo>
                  <a:lnTo>
                    <a:pt x="1377" y="300"/>
                  </a:lnTo>
                  <a:lnTo>
                    <a:pt x="1354" y="298"/>
                  </a:lnTo>
                  <a:lnTo>
                    <a:pt x="1331" y="295"/>
                  </a:lnTo>
                  <a:lnTo>
                    <a:pt x="1308" y="291"/>
                  </a:lnTo>
                  <a:lnTo>
                    <a:pt x="1285" y="287"/>
                  </a:lnTo>
                  <a:lnTo>
                    <a:pt x="1264" y="285"/>
                  </a:lnTo>
                  <a:lnTo>
                    <a:pt x="1242" y="283"/>
                  </a:lnTo>
                  <a:lnTo>
                    <a:pt x="1221" y="281"/>
                  </a:lnTo>
                  <a:lnTo>
                    <a:pt x="1200" y="278"/>
                  </a:lnTo>
                  <a:lnTo>
                    <a:pt x="1177" y="278"/>
                  </a:lnTo>
                  <a:lnTo>
                    <a:pt x="1156" y="276"/>
                  </a:lnTo>
                  <a:lnTo>
                    <a:pt x="1135" y="276"/>
                  </a:lnTo>
                  <a:lnTo>
                    <a:pt x="1114" y="274"/>
                  </a:lnTo>
                  <a:lnTo>
                    <a:pt x="1093" y="274"/>
                  </a:lnTo>
                  <a:lnTo>
                    <a:pt x="1072" y="274"/>
                  </a:lnTo>
                  <a:lnTo>
                    <a:pt x="1053" y="274"/>
                  </a:lnTo>
                  <a:lnTo>
                    <a:pt x="1032" y="274"/>
                  </a:lnTo>
                  <a:lnTo>
                    <a:pt x="1012" y="274"/>
                  </a:lnTo>
                  <a:lnTo>
                    <a:pt x="993" y="276"/>
                  </a:lnTo>
                  <a:lnTo>
                    <a:pt x="974" y="276"/>
                  </a:lnTo>
                  <a:lnTo>
                    <a:pt x="953" y="278"/>
                  </a:lnTo>
                  <a:lnTo>
                    <a:pt x="934" y="279"/>
                  </a:lnTo>
                  <a:lnTo>
                    <a:pt x="916" y="281"/>
                  </a:lnTo>
                  <a:lnTo>
                    <a:pt x="897" y="283"/>
                  </a:lnTo>
                  <a:lnTo>
                    <a:pt x="878" y="285"/>
                  </a:lnTo>
                  <a:lnTo>
                    <a:pt x="861" y="289"/>
                  </a:lnTo>
                  <a:lnTo>
                    <a:pt x="842" y="291"/>
                  </a:lnTo>
                  <a:lnTo>
                    <a:pt x="825" y="295"/>
                  </a:lnTo>
                  <a:lnTo>
                    <a:pt x="808" y="297"/>
                  </a:lnTo>
                  <a:lnTo>
                    <a:pt x="793" y="300"/>
                  </a:lnTo>
                  <a:lnTo>
                    <a:pt x="776" y="304"/>
                  </a:lnTo>
                  <a:lnTo>
                    <a:pt x="761" y="310"/>
                  </a:lnTo>
                  <a:lnTo>
                    <a:pt x="743" y="312"/>
                  </a:lnTo>
                  <a:lnTo>
                    <a:pt x="728" y="317"/>
                  </a:lnTo>
                  <a:lnTo>
                    <a:pt x="713" y="321"/>
                  </a:lnTo>
                  <a:lnTo>
                    <a:pt x="698" y="327"/>
                  </a:lnTo>
                  <a:lnTo>
                    <a:pt x="683" y="331"/>
                  </a:lnTo>
                  <a:lnTo>
                    <a:pt x="669" y="336"/>
                  </a:lnTo>
                  <a:lnTo>
                    <a:pt x="654" y="342"/>
                  </a:lnTo>
                  <a:lnTo>
                    <a:pt x="643" y="348"/>
                  </a:lnTo>
                  <a:lnTo>
                    <a:pt x="628" y="354"/>
                  </a:lnTo>
                  <a:lnTo>
                    <a:pt x="616" y="359"/>
                  </a:lnTo>
                  <a:lnTo>
                    <a:pt x="603" y="365"/>
                  </a:lnTo>
                  <a:lnTo>
                    <a:pt x="593" y="373"/>
                  </a:lnTo>
                  <a:lnTo>
                    <a:pt x="580" y="380"/>
                  </a:lnTo>
                  <a:lnTo>
                    <a:pt x="571" y="386"/>
                  </a:lnTo>
                  <a:lnTo>
                    <a:pt x="559" y="393"/>
                  </a:lnTo>
                  <a:lnTo>
                    <a:pt x="550" y="403"/>
                  </a:lnTo>
                  <a:lnTo>
                    <a:pt x="538" y="409"/>
                  </a:lnTo>
                  <a:lnTo>
                    <a:pt x="529" y="416"/>
                  </a:lnTo>
                  <a:lnTo>
                    <a:pt x="521" y="426"/>
                  </a:lnTo>
                  <a:lnTo>
                    <a:pt x="512" y="433"/>
                  </a:lnTo>
                  <a:lnTo>
                    <a:pt x="504" y="441"/>
                  </a:lnTo>
                  <a:lnTo>
                    <a:pt x="494" y="450"/>
                  </a:lnTo>
                  <a:lnTo>
                    <a:pt x="489" y="458"/>
                  </a:lnTo>
                  <a:lnTo>
                    <a:pt x="483" y="468"/>
                  </a:lnTo>
                  <a:lnTo>
                    <a:pt x="475" y="477"/>
                  </a:lnTo>
                  <a:lnTo>
                    <a:pt x="472" y="487"/>
                  </a:lnTo>
                  <a:lnTo>
                    <a:pt x="466" y="496"/>
                  </a:lnTo>
                  <a:lnTo>
                    <a:pt x="462" y="506"/>
                  </a:lnTo>
                  <a:lnTo>
                    <a:pt x="456" y="515"/>
                  </a:lnTo>
                  <a:lnTo>
                    <a:pt x="455" y="525"/>
                  </a:lnTo>
                  <a:lnTo>
                    <a:pt x="451" y="536"/>
                  </a:lnTo>
                  <a:lnTo>
                    <a:pt x="449" y="547"/>
                  </a:lnTo>
                  <a:lnTo>
                    <a:pt x="447" y="557"/>
                  </a:lnTo>
                  <a:lnTo>
                    <a:pt x="445" y="566"/>
                  </a:lnTo>
                  <a:lnTo>
                    <a:pt x="445" y="576"/>
                  </a:lnTo>
                  <a:lnTo>
                    <a:pt x="445" y="585"/>
                  </a:lnTo>
                  <a:lnTo>
                    <a:pt x="445" y="595"/>
                  </a:lnTo>
                  <a:lnTo>
                    <a:pt x="445" y="604"/>
                  </a:lnTo>
                  <a:lnTo>
                    <a:pt x="445" y="614"/>
                  </a:lnTo>
                  <a:lnTo>
                    <a:pt x="447" y="625"/>
                  </a:lnTo>
                  <a:lnTo>
                    <a:pt x="449" y="635"/>
                  </a:lnTo>
                  <a:lnTo>
                    <a:pt x="451" y="644"/>
                  </a:lnTo>
                  <a:lnTo>
                    <a:pt x="453" y="654"/>
                  </a:lnTo>
                  <a:lnTo>
                    <a:pt x="456" y="665"/>
                  </a:lnTo>
                  <a:lnTo>
                    <a:pt x="460" y="673"/>
                  </a:lnTo>
                  <a:lnTo>
                    <a:pt x="464" y="684"/>
                  </a:lnTo>
                  <a:lnTo>
                    <a:pt x="468" y="694"/>
                  </a:lnTo>
                  <a:lnTo>
                    <a:pt x="474" y="705"/>
                  </a:lnTo>
                  <a:lnTo>
                    <a:pt x="479" y="715"/>
                  </a:lnTo>
                  <a:lnTo>
                    <a:pt x="485" y="724"/>
                  </a:lnTo>
                  <a:lnTo>
                    <a:pt x="491" y="734"/>
                  </a:lnTo>
                  <a:lnTo>
                    <a:pt x="498" y="743"/>
                  </a:lnTo>
                  <a:lnTo>
                    <a:pt x="502" y="753"/>
                  </a:lnTo>
                  <a:lnTo>
                    <a:pt x="510" y="764"/>
                  </a:lnTo>
                  <a:lnTo>
                    <a:pt x="519" y="774"/>
                  </a:lnTo>
                  <a:lnTo>
                    <a:pt x="527" y="785"/>
                  </a:lnTo>
                  <a:lnTo>
                    <a:pt x="534" y="794"/>
                  </a:lnTo>
                  <a:lnTo>
                    <a:pt x="544" y="804"/>
                  </a:lnTo>
                  <a:lnTo>
                    <a:pt x="551" y="813"/>
                  </a:lnTo>
                  <a:lnTo>
                    <a:pt x="563" y="823"/>
                  </a:lnTo>
                  <a:lnTo>
                    <a:pt x="571" y="832"/>
                  </a:lnTo>
                  <a:lnTo>
                    <a:pt x="582" y="842"/>
                  </a:lnTo>
                  <a:lnTo>
                    <a:pt x="593" y="851"/>
                  </a:lnTo>
                  <a:lnTo>
                    <a:pt x="605" y="863"/>
                  </a:lnTo>
                  <a:lnTo>
                    <a:pt x="616" y="870"/>
                  </a:lnTo>
                  <a:lnTo>
                    <a:pt x="626" y="880"/>
                  </a:lnTo>
                  <a:lnTo>
                    <a:pt x="637" y="890"/>
                  </a:lnTo>
                  <a:lnTo>
                    <a:pt x="650" y="899"/>
                  </a:lnTo>
                  <a:lnTo>
                    <a:pt x="662" y="907"/>
                  </a:lnTo>
                  <a:lnTo>
                    <a:pt x="675" y="918"/>
                  </a:lnTo>
                  <a:lnTo>
                    <a:pt x="688" y="926"/>
                  </a:lnTo>
                  <a:lnTo>
                    <a:pt x="702" y="935"/>
                  </a:lnTo>
                  <a:lnTo>
                    <a:pt x="715" y="945"/>
                  </a:lnTo>
                  <a:lnTo>
                    <a:pt x="728" y="954"/>
                  </a:lnTo>
                  <a:lnTo>
                    <a:pt x="743" y="962"/>
                  </a:lnTo>
                  <a:lnTo>
                    <a:pt x="759" y="971"/>
                  </a:lnTo>
                  <a:lnTo>
                    <a:pt x="772" y="979"/>
                  </a:lnTo>
                  <a:lnTo>
                    <a:pt x="787" y="986"/>
                  </a:lnTo>
                  <a:lnTo>
                    <a:pt x="802" y="996"/>
                  </a:lnTo>
                  <a:lnTo>
                    <a:pt x="820" y="1005"/>
                  </a:lnTo>
                  <a:lnTo>
                    <a:pt x="835" y="1011"/>
                  </a:lnTo>
                  <a:lnTo>
                    <a:pt x="850" y="1019"/>
                  </a:lnTo>
                  <a:lnTo>
                    <a:pt x="867" y="1026"/>
                  </a:lnTo>
                  <a:lnTo>
                    <a:pt x="884" y="1036"/>
                  </a:lnTo>
                  <a:lnTo>
                    <a:pt x="901" y="1042"/>
                  </a:lnTo>
                  <a:lnTo>
                    <a:pt x="918" y="1049"/>
                  </a:lnTo>
                  <a:lnTo>
                    <a:pt x="935" y="1057"/>
                  </a:lnTo>
                  <a:lnTo>
                    <a:pt x="955" y="1064"/>
                  </a:lnTo>
                  <a:lnTo>
                    <a:pt x="972" y="1072"/>
                  </a:lnTo>
                  <a:lnTo>
                    <a:pt x="991" y="1080"/>
                  </a:lnTo>
                  <a:lnTo>
                    <a:pt x="1008" y="1085"/>
                  </a:lnTo>
                  <a:lnTo>
                    <a:pt x="1027" y="1093"/>
                  </a:lnTo>
                  <a:lnTo>
                    <a:pt x="1046" y="1099"/>
                  </a:lnTo>
                  <a:lnTo>
                    <a:pt x="1065" y="1106"/>
                  </a:lnTo>
                  <a:lnTo>
                    <a:pt x="1084" y="1112"/>
                  </a:lnTo>
                  <a:lnTo>
                    <a:pt x="1105" y="1118"/>
                  </a:lnTo>
                  <a:lnTo>
                    <a:pt x="1103" y="1121"/>
                  </a:lnTo>
                  <a:lnTo>
                    <a:pt x="1103" y="1127"/>
                  </a:lnTo>
                  <a:lnTo>
                    <a:pt x="1095" y="1125"/>
                  </a:lnTo>
                  <a:lnTo>
                    <a:pt x="1088" y="1123"/>
                  </a:lnTo>
                  <a:lnTo>
                    <a:pt x="1082" y="1121"/>
                  </a:lnTo>
                  <a:lnTo>
                    <a:pt x="1076" y="1119"/>
                  </a:lnTo>
                  <a:lnTo>
                    <a:pt x="1069" y="1118"/>
                  </a:lnTo>
                  <a:lnTo>
                    <a:pt x="1061" y="1118"/>
                  </a:lnTo>
                  <a:lnTo>
                    <a:pt x="1055" y="1116"/>
                  </a:lnTo>
                  <a:lnTo>
                    <a:pt x="1050" y="1116"/>
                  </a:lnTo>
                  <a:lnTo>
                    <a:pt x="1019" y="1110"/>
                  </a:lnTo>
                  <a:lnTo>
                    <a:pt x="989" y="1102"/>
                  </a:lnTo>
                  <a:lnTo>
                    <a:pt x="958" y="1095"/>
                  </a:lnTo>
                  <a:lnTo>
                    <a:pt x="930" y="1089"/>
                  </a:lnTo>
                  <a:lnTo>
                    <a:pt x="901" y="1080"/>
                  </a:lnTo>
                  <a:lnTo>
                    <a:pt x="873" y="1072"/>
                  </a:lnTo>
                  <a:lnTo>
                    <a:pt x="846" y="1062"/>
                  </a:lnTo>
                  <a:lnTo>
                    <a:pt x="818" y="1057"/>
                  </a:lnTo>
                  <a:lnTo>
                    <a:pt x="789" y="1045"/>
                  </a:lnTo>
                  <a:lnTo>
                    <a:pt x="763" y="1036"/>
                  </a:lnTo>
                  <a:lnTo>
                    <a:pt x="736" y="1028"/>
                  </a:lnTo>
                  <a:lnTo>
                    <a:pt x="709" y="1019"/>
                  </a:lnTo>
                  <a:lnTo>
                    <a:pt x="683" y="1007"/>
                  </a:lnTo>
                  <a:lnTo>
                    <a:pt x="658" y="998"/>
                  </a:lnTo>
                  <a:lnTo>
                    <a:pt x="633" y="988"/>
                  </a:lnTo>
                  <a:lnTo>
                    <a:pt x="609" y="979"/>
                  </a:lnTo>
                  <a:lnTo>
                    <a:pt x="582" y="967"/>
                  </a:lnTo>
                  <a:lnTo>
                    <a:pt x="557" y="958"/>
                  </a:lnTo>
                  <a:lnTo>
                    <a:pt x="534" y="947"/>
                  </a:lnTo>
                  <a:lnTo>
                    <a:pt x="512" y="935"/>
                  </a:lnTo>
                  <a:lnTo>
                    <a:pt x="487" y="924"/>
                  </a:lnTo>
                  <a:lnTo>
                    <a:pt x="466" y="910"/>
                  </a:lnTo>
                  <a:lnTo>
                    <a:pt x="443" y="899"/>
                  </a:lnTo>
                  <a:lnTo>
                    <a:pt x="422" y="888"/>
                  </a:lnTo>
                  <a:lnTo>
                    <a:pt x="399" y="874"/>
                  </a:lnTo>
                  <a:lnTo>
                    <a:pt x="379" y="863"/>
                  </a:lnTo>
                  <a:lnTo>
                    <a:pt x="359" y="850"/>
                  </a:lnTo>
                  <a:lnTo>
                    <a:pt x="340" y="838"/>
                  </a:lnTo>
                  <a:lnTo>
                    <a:pt x="320" y="827"/>
                  </a:lnTo>
                  <a:lnTo>
                    <a:pt x="301" y="813"/>
                  </a:lnTo>
                  <a:lnTo>
                    <a:pt x="282" y="800"/>
                  </a:lnTo>
                  <a:lnTo>
                    <a:pt x="266" y="789"/>
                  </a:lnTo>
                  <a:lnTo>
                    <a:pt x="247" y="774"/>
                  </a:lnTo>
                  <a:lnTo>
                    <a:pt x="230" y="760"/>
                  </a:lnTo>
                  <a:lnTo>
                    <a:pt x="213" y="747"/>
                  </a:lnTo>
                  <a:lnTo>
                    <a:pt x="198" y="734"/>
                  </a:lnTo>
                  <a:lnTo>
                    <a:pt x="183" y="720"/>
                  </a:lnTo>
                  <a:lnTo>
                    <a:pt x="168" y="707"/>
                  </a:lnTo>
                  <a:lnTo>
                    <a:pt x="154" y="692"/>
                  </a:lnTo>
                  <a:lnTo>
                    <a:pt x="141" y="680"/>
                  </a:lnTo>
                  <a:lnTo>
                    <a:pt x="128" y="665"/>
                  </a:lnTo>
                  <a:lnTo>
                    <a:pt x="114" y="652"/>
                  </a:lnTo>
                  <a:lnTo>
                    <a:pt x="103" y="639"/>
                  </a:lnTo>
                  <a:lnTo>
                    <a:pt x="91" y="623"/>
                  </a:lnTo>
                  <a:lnTo>
                    <a:pt x="80" y="610"/>
                  </a:lnTo>
                  <a:lnTo>
                    <a:pt x="71" y="595"/>
                  </a:lnTo>
                  <a:lnTo>
                    <a:pt x="63" y="582"/>
                  </a:lnTo>
                  <a:lnTo>
                    <a:pt x="53" y="568"/>
                  </a:lnTo>
                  <a:lnTo>
                    <a:pt x="44" y="553"/>
                  </a:lnTo>
                  <a:lnTo>
                    <a:pt x="38" y="538"/>
                  </a:lnTo>
                  <a:lnTo>
                    <a:pt x="31" y="525"/>
                  </a:lnTo>
                  <a:lnTo>
                    <a:pt x="25" y="511"/>
                  </a:lnTo>
                  <a:lnTo>
                    <a:pt x="19" y="496"/>
                  </a:lnTo>
                  <a:lnTo>
                    <a:pt x="14" y="481"/>
                  </a:lnTo>
                  <a:lnTo>
                    <a:pt x="10" y="468"/>
                  </a:lnTo>
                  <a:lnTo>
                    <a:pt x="8" y="454"/>
                  </a:lnTo>
                  <a:lnTo>
                    <a:pt x="4" y="439"/>
                  </a:lnTo>
                  <a:lnTo>
                    <a:pt x="2" y="426"/>
                  </a:lnTo>
                  <a:lnTo>
                    <a:pt x="0" y="411"/>
                  </a:lnTo>
                  <a:lnTo>
                    <a:pt x="0" y="397"/>
                  </a:lnTo>
                  <a:lnTo>
                    <a:pt x="0" y="384"/>
                  </a:lnTo>
                  <a:lnTo>
                    <a:pt x="2" y="371"/>
                  </a:lnTo>
                  <a:lnTo>
                    <a:pt x="4" y="355"/>
                  </a:lnTo>
                  <a:lnTo>
                    <a:pt x="8" y="344"/>
                  </a:lnTo>
                  <a:lnTo>
                    <a:pt x="10" y="329"/>
                  </a:lnTo>
                  <a:lnTo>
                    <a:pt x="14" y="316"/>
                  </a:lnTo>
                  <a:lnTo>
                    <a:pt x="17" y="302"/>
                  </a:lnTo>
                  <a:lnTo>
                    <a:pt x="23" y="289"/>
                  </a:lnTo>
                  <a:lnTo>
                    <a:pt x="29" y="276"/>
                  </a:lnTo>
                  <a:lnTo>
                    <a:pt x="36" y="264"/>
                  </a:lnTo>
                  <a:lnTo>
                    <a:pt x="44" y="251"/>
                  </a:lnTo>
                  <a:lnTo>
                    <a:pt x="53" y="239"/>
                  </a:lnTo>
                  <a:lnTo>
                    <a:pt x="61" y="228"/>
                  </a:lnTo>
                  <a:lnTo>
                    <a:pt x="71" y="217"/>
                  </a:lnTo>
                  <a:lnTo>
                    <a:pt x="80" y="205"/>
                  </a:lnTo>
                  <a:lnTo>
                    <a:pt x="91" y="196"/>
                  </a:lnTo>
                  <a:lnTo>
                    <a:pt x="103" y="184"/>
                  </a:lnTo>
                  <a:lnTo>
                    <a:pt x="114" y="173"/>
                  </a:lnTo>
                  <a:lnTo>
                    <a:pt x="128" y="163"/>
                  </a:lnTo>
                  <a:lnTo>
                    <a:pt x="141" y="154"/>
                  </a:lnTo>
                  <a:lnTo>
                    <a:pt x="154" y="144"/>
                  </a:lnTo>
                  <a:lnTo>
                    <a:pt x="168" y="135"/>
                  </a:lnTo>
                  <a:lnTo>
                    <a:pt x="183" y="125"/>
                  </a:lnTo>
                  <a:lnTo>
                    <a:pt x="198" y="118"/>
                  </a:lnTo>
                  <a:lnTo>
                    <a:pt x="215" y="110"/>
                  </a:lnTo>
                  <a:lnTo>
                    <a:pt x="230" y="101"/>
                  </a:lnTo>
                  <a:lnTo>
                    <a:pt x="247" y="93"/>
                  </a:lnTo>
                  <a:lnTo>
                    <a:pt x="266" y="87"/>
                  </a:lnTo>
                  <a:lnTo>
                    <a:pt x="283" y="78"/>
                  </a:lnTo>
                  <a:lnTo>
                    <a:pt x="301" y="72"/>
                  </a:lnTo>
                  <a:lnTo>
                    <a:pt x="320" y="65"/>
                  </a:lnTo>
                  <a:lnTo>
                    <a:pt x="340" y="59"/>
                  </a:lnTo>
                  <a:lnTo>
                    <a:pt x="359" y="53"/>
                  </a:lnTo>
                  <a:lnTo>
                    <a:pt x="380" y="48"/>
                  </a:lnTo>
                  <a:lnTo>
                    <a:pt x="401" y="42"/>
                  </a:lnTo>
                  <a:lnTo>
                    <a:pt x="424" y="38"/>
                  </a:lnTo>
                  <a:lnTo>
                    <a:pt x="445" y="32"/>
                  </a:lnTo>
                  <a:lnTo>
                    <a:pt x="468" y="29"/>
                  </a:lnTo>
                  <a:lnTo>
                    <a:pt x="489" y="23"/>
                  </a:lnTo>
                  <a:lnTo>
                    <a:pt x="512" y="19"/>
                  </a:lnTo>
                  <a:lnTo>
                    <a:pt x="534" y="15"/>
                  </a:lnTo>
                  <a:lnTo>
                    <a:pt x="559" y="11"/>
                  </a:lnTo>
                  <a:lnTo>
                    <a:pt x="584" y="10"/>
                  </a:lnTo>
                  <a:lnTo>
                    <a:pt x="609" y="8"/>
                  </a:lnTo>
                  <a:lnTo>
                    <a:pt x="631" y="6"/>
                  </a:lnTo>
                  <a:lnTo>
                    <a:pt x="656" y="4"/>
                  </a:lnTo>
                  <a:lnTo>
                    <a:pt x="683" y="2"/>
                  </a:lnTo>
                  <a:lnTo>
                    <a:pt x="707" y="2"/>
                  </a:lnTo>
                  <a:lnTo>
                    <a:pt x="734" y="0"/>
                  </a:lnTo>
                  <a:lnTo>
                    <a:pt x="761" y="0"/>
                  </a:lnTo>
                  <a:lnTo>
                    <a:pt x="787" y="0"/>
                  </a:lnTo>
                  <a:lnTo>
                    <a:pt x="814" y="0"/>
                  </a:lnTo>
                  <a:lnTo>
                    <a:pt x="840" y="0"/>
                  </a:lnTo>
                  <a:lnTo>
                    <a:pt x="869" y="2"/>
                  </a:lnTo>
                  <a:lnTo>
                    <a:pt x="896" y="2"/>
                  </a:lnTo>
                  <a:lnTo>
                    <a:pt x="924" y="4"/>
                  </a:lnTo>
                  <a:lnTo>
                    <a:pt x="951" y="6"/>
                  </a:lnTo>
                  <a:lnTo>
                    <a:pt x="979" y="10"/>
                  </a:lnTo>
                  <a:lnTo>
                    <a:pt x="1008" y="11"/>
                  </a:lnTo>
                  <a:lnTo>
                    <a:pt x="1036" y="15"/>
                  </a:lnTo>
                  <a:lnTo>
                    <a:pt x="1065" y="17"/>
                  </a:lnTo>
                  <a:lnTo>
                    <a:pt x="1095" y="21"/>
                  </a:lnTo>
                  <a:lnTo>
                    <a:pt x="1124" y="25"/>
                  </a:lnTo>
                  <a:lnTo>
                    <a:pt x="1154" y="30"/>
                  </a:lnTo>
                  <a:lnTo>
                    <a:pt x="1183" y="34"/>
                  </a:lnTo>
                  <a:lnTo>
                    <a:pt x="1211" y="40"/>
                  </a:lnTo>
                  <a:lnTo>
                    <a:pt x="1242" y="46"/>
                  </a:lnTo>
                  <a:lnTo>
                    <a:pt x="1272" y="53"/>
                  </a:lnTo>
                  <a:lnTo>
                    <a:pt x="1299" y="59"/>
                  </a:lnTo>
                  <a:lnTo>
                    <a:pt x="1325" y="65"/>
                  </a:lnTo>
                  <a:lnTo>
                    <a:pt x="1350" y="70"/>
                  </a:lnTo>
                  <a:lnTo>
                    <a:pt x="1377" y="78"/>
                  </a:lnTo>
                  <a:lnTo>
                    <a:pt x="1403" y="84"/>
                  </a:lnTo>
                  <a:lnTo>
                    <a:pt x="1428" y="91"/>
                  </a:lnTo>
                  <a:lnTo>
                    <a:pt x="1453" y="97"/>
                  </a:lnTo>
                  <a:lnTo>
                    <a:pt x="1479" y="106"/>
                  </a:lnTo>
                  <a:lnTo>
                    <a:pt x="1502" y="114"/>
                  </a:lnTo>
                  <a:lnTo>
                    <a:pt x="1527" y="120"/>
                  </a:lnTo>
                  <a:lnTo>
                    <a:pt x="1551" y="129"/>
                  </a:lnTo>
                  <a:lnTo>
                    <a:pt x="1576" y="137"/>
                  </a:lnTo>
                  <a:lnTo>
                    <a:pt x="1599" y="144"/>
                  </a:lnTo>
                  <a:lnTo>
                    <a:pt x="1624" y="154"/>
                  </a:lnTo>
                  <a:lnTo>
                    <a:pt x="1646" y="163"/>
                  </a:lnTo>
                  <a:lnTo>
                    <a:pt x="1669" y="173"/>
                  </a:lnTo>
                  <a:lnTo>
                    <a:pt x="1692" y="181"/>
                  </a:lnTo>
                  <a:lnTo>
                    <a:pt x="1713" y="192"/>
                  </a:lnTo>
                  <a:lnTo>
                    <a:pt x="1736" y="200"/>
                  </a:lnTo>
                  <a:lnTo>
                    <a:pt x="1759" y="211"/>
                  </a:lnTo>
                  <a:lnTo>
                    <a:pt x="1780" y="220"/>
                  </a:lnTo>
                  <a:lnTo>
                    <a:pt x="1800" y="230"/>
                  </a:lnTo>
                  <a:lnTo>
                    <a:pt x="1821" y="241"/>
                  </a:lnTo>
                  <a:lnTo>
                    <a:pt x="1842" y="251"/>
                  </a:lnTo>
                  <a:lnTo>
                    <a:pt x="1863" y="262"/>
                  </a:lnTo>
                  <a:lnTo>
                    <a:pt x="1882" y="272"/>
                  </a:lnTo>
                  <a:lnTo>
                    <a:pt x="1901" y="283"/>
                  </a:lnTo>
                  <a:lnTo>
                    <a:pt x="1920" y="295"/>
                  </a:lnTo>
                  <a:lnTo>
                    <a:pt x="1939" y="304"/>
                  </a:lnTo>
                  <a:lnTo>
                    <a:pt x="1958" y="316"/>
                  </a:lnTo>
                  <a:lnTo>
                    <a:pt x="1975" y="327"/>
                  </a:lnTo>
                  <a:lnTo>
                    <a:pt x="1994" y="340"/>
                  </a:lnTo>
                  <a:lnTo>
                    <a:pt x="2011" y="350"/>
                  </a:lnTo>
                  <a:lnTo>
                    <a:pt x="2027" y="361"/>
                  </a:lnTo>
                  <a:lnTo>
                    <a:pt x="2042" y="374"/>
                  </a:lnTo>
                  <a:lnTo>
                    <a:pt x="2059" y="386"/>
                  </a:lnTo>
                  <a:lnTo>
                    <a:pt x="2074" y="397"/>
                  </a:lnTo>
                  <a:lnTo>
                    <a:pt x="2089" y="409"/>
                  </a:lnTo>
                  <a:lnTo>
                    <a:pt x="2105" y="420"/>
                  </a:lnTo>
                  <a:lnTo>
                    <a:pt x="2118" y="433"/>
                  </a:lnTo>
                  <a:lnTo>
                    <a:pt x="2131" y="445"/>
                  </a:lnTo>
                  <a:lnTo>
                    <a:pt x="2145" y="458"/>
                  </a:lnTo>
                  <a:lnTo>
                    <a:pt x="2158" y="469"/>
                  </a:lnTo>
                  <a:lnTo>
                    <a:pt x="2171" y="483"/>
                  </a:lnTo>
                  <a:lnTo>
                    <a:pt x="2183" y="494"/>
                  </a:lnTo>
                  <a:lnTo>
                    <a:pt x="2194" y="507"/>
                  </a:lnTo>
                  <a:lnTo>
                    <a:pt x="2205" y="519"/>
                  </a:lnTo>
                  <a:lnTo>
                    <a:pt x="2217" y="534"/>
                  </a:lnTo>
                  <a:lnTo>
                    <a:pt x="2226" y="545"/>
                  </a:lnTo>
                  <a:lnTo>
                    <a:pt x="2236" y="559"/>
                  </a:lnTo>
                  <a:lnTo>
                    <a:pt x="2245" y="570"/>
                  </a:lnTo>
                  <a:lnTo>
                    <a:pt x="2255" y="584"/>
                  </a:lnTo>
                  <a:lnTo>
                    <a:pt x="2262" y="595"/>
                  </a:lnTo>
                  <a:lnTo>
                    <a:pt x="2270" y="608"/>
                  </a:lnTo>
                  <a:lnTo>
                    <a:pt x="2276" y="622"/>
                  </a:lnTo>
                  <a:lnTo>
                    <a:pt x="2283" y="635"/>
                  </a:lnTo>
                  <a:lnTo>
                    <a:pt x="2289" y="646"/>
                  </a:lnTo>
                  <a:lnTo>
                    <a:pt x="2295" y="660"/>
                  </a:lnTo>
                  <a:lnTo>
                    <a:pt x="2298" y="673"/>
                  </a:lnTo>
                  <a:lnTo>
                    <a:pt x="2304" y="686"/>
                  </a:lnTo>
                  <a:lnTo>
                    <a:pt x="2308" y="698"/>
                  </a:lnTo>
                  <a:lnTo>
                    <a:pt x="2312" y="711"/>
                  </a:lnTo>
                  <a:lnTo>
                    <a:pt x="2314" y="724"/>
                  </a:lnTo>
                  <a:lnTo>
                    <a:pt x="2317" y="737"/>
                  </a:lnTo>
                  <a:lnTo>
                    <a:pt x="2317" y="747"/>
                  </a:lnTo>
                  <a:lnTo>
                    <a:pt x="2319" y="755"/>
                  </a:lnTo>
                  <a:lnTo>
                    <a:pt x="2319" y="764"/>
                  </a:lnTo>
                  <a:lnTo>
                    <a:pt x="2321" y="774"/>
                  </a:lnTo>
                  <a:lnTo>
                    <a:pt x="2321" y="783"/>
                  </a:lnTo>
                  <a:lnTo>
                    <a:pt x="2321" y="793"/>
                  </a:lnTo>
                  <a:lnTo>
                    <a:pt x="2319" y="800"/>
                  </a:lnTo>
                  <a:lnTo>
                    <a:pt x="2319" y="812"/>
                  </a:lnTo>
                  <a:lnTo>
                    <a:pt x="2316" y="819"/>
                  </a:lnTo>
                  <a:lnTo>
                    <a:pt x="2314" y="829"/>
                  </a:lnTo>
                  <a:lnTo>
                    <a:pt x="2310" y="836"/>
                  </a:lnTo>
                  <a:lnTo>
                    <a:pt x="2308" y="846"/>
                  </a:lnTo>
                  <a:lnTo>
                    <a:pt x="2304" y="855"/>
                  </a:lnTo>
                  <a:lnTo>
                    <a:pt x="2302" y="865"/>
                  </a:lnTo>
                  <a:lnTo>
                    <a:pt x="2298" y="872"/>
                  </a:lnTo>
                  <a:lnTo>
                    <a:pt x="2295" y="882"/>
                  </a:lnTo>
                  <a:lnTo>
                    <a:pt x="2295" y="878"/>
                  </a:lnTo>
                  <a:lnTo>
                    <a:pt x="2295" y="874"/>
                  </a:lnTo>
                  <a:lnTo>
                    <a:pt x="2289" y="882"/>
                  </a:lnTo>
                  <a:lnTo>
                    <a:pt x="2285" y="888"/>
                  </a:lnTo>
                  <a:lnTo>
                    <a:pt x="2279" y="895"/>
                  </a:lnTo>
                  <a:lnTo>
                    <a:pt x="2274" y="901"/>
                  </a:lnTo>
                  <a:lnTo>
                    <a:pt x="2268" y="907"/>
                  </a:lnTo>
                  <a:lnTo>
                    <a:pt x="2262" y="914"/>
                  </a:lnTo>
                  <a:lnTo>
                    <a:pt x="2255" y="920"/>
                  </a:lnTo>
                  <a:lnTo>
                    <a:pt x="2249" y="928"/>
                  </a:lnTo>
                  <a:lnTo>
                    <a:pt x="2241" y="933"/>
                  </a:lnTo>
                  <a:lnTo>
                    <a:pt x="2234" y="939"/>
                  </a:lnTo>
                  <a:lnTo>
                    <a:pt x="2224" y="945"/>
                  </a:lnTo>
                  <a:lnTo>
                    <a:pt x="2219" y="950"/>
                  </a:lnTo>
                  <a:lnTo>
                    <a:pt x="2209" y="956"/>
                  </a:lnTo>
                  <a:lnTo>
                    <a:pt x="2202" y="962"/>
                  </a:lnTo>
                  <a:lnTo>
                    <a:pt x="2192" y="967"/>
                  </a:lnTo>
                  <a:lnTo>
                    <a:pt x="2184" y="973"/>
                  </a:lnTo>
                  <a:lnTo>
                    <a:pt x="2173" y="977"/>
                  </a:lnTo>
                  <a:lnTo>
                    <a:pt x="2164" y="981"/>
                  </a:lnTo>
                  <a:lnTo>
                    <a:pt x="2154" y="986"/>
                  </a:lnTo>
                  <a:lnTo>
                    <a:pt x="2145" y="992"/>
                  </a:lnTo>
                  <a:lnTo>
                    <a:pt x="2133" y="996"/>
                  </a:lnTo>
                  <a:lnTo>
                    <a:pt x="2124" y="1000"/>
                  </a:lnTo>
                  <a:lnTo>
                    <a:pt x="2112" y="1004"/>
                  </a:lnTo>
                  <a:lnTo>
                    <a:pt x="2103" y="1007"/>
                  </a:lnTo>
                  <a:lnTo>
                    <a:pt x="2091" y="1011"/>
                  </a:lnTo>
                  <a:lnTo>
                    <a:pt x="2078" y="1015"/>
                  </a:lnTo>
                  <a:lnTo>
                    <a:pt x="2067" y="1019"/>
                  </a:lnTo>
                  <a:lnTo>
                    <a:pt x="2055" y="1023"/>
                  </a:lnTo>
                  <a:lnTo>
                    <a:pt x="2042" y="1026"/>
                  </a:lnTo>
                  <a:lnTo>
                    <a:pt x="2030" y="1030"/>
                  </a:lnTo>
                  <a:lnTo>
                    <a:pt x="2017" y="1032"/>
                  </a:lnTo>
                  <a:lnTo>
                    <a:pt x="2006" y="1036"/>
                  </a:lnTo>
                  <a:lnTo>
                    <a:pt x="1992" y="1038"/>
                  </a:lnTo>
                  <a:lnTo>
                    <a:pt x="1979" y="1040"/>
                  </a:lnTo>
                  <a:lnTo>
                    <a:pt x="1966" y="1042"/>
                  </a:lnTo>
                  <a:lnTo>
                    <a:pt x="1953" y="1045"/>
                  </a:lnTo>
                  <a:lnTo>
                    <a:pt x="1939" y="1047"/>
                  </a:lnTo>
                  <a:lnTo>
                    <a:pt x="1924" y="1049"/>
                  </a:lnTo>
                  <a:lnTo>
                    <a:pt x="1911" y="1051"/>
                  </a:lnTo>
                  <a:lnTo>
                    <a:pt x="1897" y="1053"/>
                  </a:lnTo>
                  <a:lnTo>
                    <a:pt x="1882" y="1053"/>
                  </a:lnTo>
                  <a:lnTo>
                    <a:pt x="1867" y="1055"/>
                  </a:lnTo>
                  <a:lnTo>
                    <a:pt x="1852" y="1055"/>
                  </a:lnTo>
                  <a:lnTo>
                    <a:pt x="1838" y="1057"/>
                  </a:lnTo>
                  <a:lnTo>
                    <a:pt x="1823" y="1057"/>
                  </a:lnTo>
                  <a:lnTo>
                    <a:pt x="1808" y="1057"/>
                  </a:lnTo>
                  <a:lnTo>
                    <a:pt x="1793" y="1057"/>
                  </a:lnTo>
                  <a:lnTo>
                    <a:pt x="1780" y="1059"/>
                  </a:lnTo>
                  <a:lnTo>
                    <a:pt x="1762" y="1057"/>
                  </a:lnTo>
                  <a:lnTo>
                    <a:pt x="1747" y="1057"/>
                  </a:lnTo>
                  <a:lnTo>
                    <a:pt x="1732" y="1057"/>
                  </a:lnTo>
                  <a:lnTo>
                    <a:pt x="1715" y="1057"/>
                  </a:lnTo>
                  <a:lnTo>
                    <a:pt x="1700" y="1055"/>
                  </a:lnTo>
                  <a:lnTo>
                    <a:pt x="1684" y="1055"/>
                  </a:lnTo>
                  <a:lnTo>
                    <a:pt x="1667" y="1053"/>
                  </a:lnTo>
                  <a:lnTo>
                    <a:pt x="1652" y="1053"/>
                  </a:lnTo>
                  <a:lnTo>
                    <a:pt x="1635" y="1051"/>
                  </a:lnTo>
                  <a:lnTo>
                    <a:pt x="1618" y="1049"/>
                  </a:lnTo>
                  <a:lnTo>
                    <a:pt x="1603" y="1047"/>
                  </a:lnTo>
                  <a:lnTo>
                    <a:pt x="1586" y="1045"/>
                  </a:lnTo>
                  <a:lnTo>
                    <a:pt x="1569" y="1043"/>
                  </a:lnTo>
                  <a:lnTo>
                    <a:pt x="1553" y="1042"/>
                  </a:lnTo>
                  <a:lnTo>
                    <a:pt x="1536" y="1038"/>
                  </a:lnTo>
                  <a:lnTo>
                    <a:pt x="1521" y="1036"/>
                  </a:lnTo>
                  <a:lnTo>
                    <a:pt x="1502" y="1032"/>
                  </a:lnTo>
                  <a:lnTo>
                    <a:pt x="1483" y="1028"/>
                  </a:lnTo>
                  <a:lnTo>
                    <a:pt x="1462" y="1024"/>
                  </a:lnTo>
                  <a:lnTo>
                    <a:pt x="1445" y="1021"/>
                  </a:lnTo>
                  <a:lnTo>
                    <a:pt x="1426" y="1015"/>
                  </a:lnTo>
                  <a:lnTo>
                    <a:pt x="1407" y="1011"/>
                  </a:lnTo>
                  <a:lnTo>
                    <a:pt x="1390" y="1007"/>
                  </a:lnTo>
                  <a:lnTo>
                    <a:pt x="1373" y="1002"/>
                  </a:lnTo>
                  <a:lnTo>
                    <a:pt x="1354" y="996"/>
                  </a:lnTo>
                  <a:lnTo>
                    <a:pt x="1337" y="990"/>
                  </a:lnTo>
                  <a:lnTo>
                    <a:pt x="1319" y="985"/>
                  </a:lnTo>
                  <a:lnTo>
                    <a:pt x="1302" y="981"/>
                  </a:lnTo>
                  <a:lnTo>
                    <a:pt x="1285" y="975"/>
                  </a:lnTo>
                  <a:lnTo>
                    <a:pt x="1268" y="969"/>
                  </a:lnTo>
                  <a:lnTo>
                    <a:pt x="1253" y="962"/>
                  </a:lnTo>
                  <a:lnTo>
                    <a:pt x="1238" y="958"/>
                  </a:lnTo>
                  <a:lnTo>
                    <a:pt x="1221" y="950"/>
                  </a:lnTo>
                  <a:lnTo>
                    <a:pt x="1204" y="943"/>
                  </a:lnTo>
                  <a:lnTo>
                    <a:pt x="1188" y="937"/>
                  </a:lnTo>
                  <a:lnTo>
                    <a:pt x="1175" y="931"/>
                  </a:lnTo>
                  <a:lnTo>
                    <a:pt x="1160" y="924"/>
                  </a:lnTo>
                  <a:lnTo>
                    <a:pt x="1145" y="916"/>
                  </a:lnTo>
                  <a:lnTo>
                    <a:pt x="1131" y="909"/>
                  </a:lnTo>
                  <a:lnTo>
                    <a:pt x="1118" y="901"/>
                  </a:lnTo>
                  <a:lnTo>
                    <a:pt x="1103" y="893"/>
                  </a:lnTo>
                  <a:lnTo>
                    <a:pt x="1089" y="886"/>
                  </a:lnTo>
                  <a:lnTo>
                    <a:pt x="1076" y="878"/>
                  </a:lnTo>
                  <a:lnTo>
                    <a:pt x="1065" y="872"/>
                  </a:lnTo>
                  <a:lnTo>
                    <a:pt x="1051" y="863"/>
                  </a:lnTo>
                  <a:lnTo>
                    <a:pt x="1040" y="855"/>
                  </a:lnTo>
                  <a:lnTo>
                    <a:pt x="1027" y="848"/>
                  </a:lnTo>
                  <a:lnTo>
                    <a:pt x="1017" y="840"/>
                  </a:lnTo>
                  <a:lnTo>
                    <a:pt x="1004" y="831"/>
                  </a:lnTo>
                  <a:lnTo>
                    <a:pt x="994" y="823"/>
                  </a:lnTo>
                  <a:lnTo>
                    <a:pt x="983" y="815"/>
                  </a:lnTo>
                  <a:lnTo>
                    <a:pt x="974" y="806"/>
                  </a:lnTo>
                  <a:lnTo>
                    <a:pt x="962" y="796"/>
                  </a:lnTo>
                  <a:lnTo>
                    <a:pt x="953" y="789"/>
                  </a:lnTo>
                  <a:lnTo>
                    <a:pt x="943" y="779"/>
                  </a:lnTo>
                  <a:lnTo>
                    <a:pt x="935" y="772"/>
                  </a:lnTo>
                  <a:lnTo>
                    <a:pt x="926" y="762"/>
                  </a:lnTo>
                  <a:lnTo>
                    <a:pt x="918" y="753"/>
                  </a:lnTo>
                  <a:lnTo>
                    <a:pt x="909" y="743"/>
                  </a:lnTo>
                  <a:lnTo>
                    <a:pt x="901" y="736"/>
                  </a:lnTo>
                  <a:lnTo>
                    <a:pt x="896" y="726"/>
                  </a:lnTo>
                  <a:lnTo>
                    <a:pt x="888" y="717"/>
                  </a:lnTo>
                  <a:lnTo>
                    <a:pt x="882" y="707"/>
                  </a:lnTo>
                  <a:lnTo>
                    <a:pt x="877" y="699"/>
                  </a:lnTo>
                  <a:lnTo>
                    <a:pt x="871" y="690"/>
                  </a:lnTo>
                  <a:lnTo>
                    <a:pt x="865" y="680"/>
                  </a:lnTo>
                  <a:lnTo>
                    <a:pt x="861" y="671"/>
                  </a:lnTo>
                  <a:lnTo>
                    <a:pt x="858" y="661"/>
                  </a:lnTo>
                  <a:lnTo>
                    <a:pt x="854" y="652"/>
                  </a:lnTo>
                  <a:lnTo>
                    <a:pt x="850" y="642"/>
                  </a:lnTo>
                  <a:lnTo>
                    <a:pt x="848" y="633"/>
                  </a:lnTo>
                  <a:lnTo>
                    <a:pt x="846" y="625"/>
                  </a:lnTo>
                  <a:lnTo>
                    <a:pt x="842" y="616"/>
                  </a:lnTo>
                  <a:lnTo>
                    <a:pt x="842" y="606"/>
                  </a:lnTo>
                  <a:lnTo>
                    <a:pt x="840" y="597"/>
                  </a:lnTo>
                  <a:lnTo>
                    <a:pt x="840" y="587"/>
                  </a:lnTo>
                  <a:lnTo>
                    <a:pt x="840" y="578"/>
                  </a:lnTo>
                  <a:lnTo>
                    <a:pt x="840" y="568"/>
                  </a:lnTo>
                  <a:lnTo>
                    <a:pt x="840" y="561"/>
                  </a:lnTo>
                  <a:lnTo>
                    <a:pt x="844" y="551"/>
                  </a:lnTo>
                  <a:close/>
                </a:path>
              </a:pathLst>
            </a:custGeom>
            <a:solidFill>
              <a:srgbClr val="D1D1EB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4959" y="3213"/>
              <a:ext cx="415" cy="194"/>
            </a:xfrm>
            <a:custGeom>
              <a:avLst/>
              <a:gdLst>
                <a:gd name="T0" fmla="*/ 1 w 831"/>
                <a:gd name="T1" fmla="*/ 2 h 388"/>
                <a:gd name="T2" fmla="*/ 1 w 831"/>
                <a:gd name="T3" fmla="*/ 2 h 388"/>
                <a:gd name="T4" fmla="*/ 1 w 831"/>
                <a:gd name="T5" fmla="*/ 2 h 388"/>
                <a:gd name="T6" fmla="*/ 2 w 831"/>
                <a:gd name="T7" fmla="*/ 2 h 388"/>
                <a:gd name="T8" fmla="*/ 2 w 831"/>
                <a:gd name="T9" fmla="*/ 2 h 388"/>
                <a:gd name="T10" fmla="*/ 2 w 831"/>
                <a:gd name="T11" fmla="*/ 2 h 388"/>
                <a:gd name="T12" fmla="*/ 2 w 831"/>
                <a:gd name="T13" fmla="*/ 2 h 388"/>
                <a:gd name="T14" fmla="*/ 2 w 831"/>
                <a:gd name="T15" fmla="*/ 2 h 388"/>
                <a:gd name="T16" fmla="*/ 2 w 831"/>
                <a:gd name="T17" fmla="*/ 2 h 388"/>
                <a:gd name="T18" fmla="*/ 2 w 831"/>
                <a:gd name="T19" fmla="*/ 2 h 388"/>
                <a:gd name="T20" fmla="*/ 2 w 831"/>
                <a:gd name="T21" fmla="*/ 2 h 388"/>
                <a:gd name="T22" fmla="*/ 3 w 831"/>
                <a:gd name="T23" fmla="*/ 2 h 388"/>
                <a:gd name="T24" fmla="*/ 3 w 831"/>
                <a:gd name="T25" fmla="*/ 2 h 388"/>
                <a:gd name="T26" fmla="*/ 3 w 831"/>
                <a:gd name="T27" fmla="*/ 2 h 388"/>
                <a:gd name="T28" fmla="*/ 3 w 831"/>
                <a:gd name="T29" fmla="*/ 2 h 388"/>
                <a:gd name="T30" fmla="*/ 3 w 831"/>
                <a:gd name="T31" fmla="*/ 2 h 388"/>
                <a:gd name="T32" fmla="*/ 3 w 831"/>
                <a:gd name="T33" fmla="*/ 1 h 388"/>
                <a:gd name="T34" fmla="*/ 2 w 831"/>
                <a:gd name="T35" fmla="*/ 1 h 388"/>
                <a:gd name="T36" fmla="*/ 2 w 831"/>
                <a:gd name="T37" fmla="*/ 1 h 388"/>
                <a:gd name="T38" fmla="*/ 2 w 831"/>
                <a:gd name="T39" fmla="*/ 1 h 388"/>
                <a:gd name="T40" fmla="*/ 2 w 831"/>
                <a:gd name="T41" fmla="*/ 1 h 388"/>
                <a:gd name="T42" fmla="*/ 2 w 831"/>
                <a:gd name="T43" fmla="*/ 1 h 388"/>
                <a:gd name="T44" fmla="*/ 2 w 831"/>
                <a:gd name="T45" fmla="*/ 1 h 388"/>
                <a:gd name="T46" fmla="*/ 2 w 831"/>
                <a:gd name="T47" fmla="*/ 1 h 388"/>
                <a:gd name="T48" fmla="*/ 2 w 831"/>
                <a:gd name="T49" fmla="*/ 1 h 388"/>
                <a:gd name="T50" fmla="*/ 2 w 831"/>
                <a:gd name="T51" fmla="*/ 1 h 388"/>
                <a:gd name="T52" fmla="*/ 1 w 831"/>
                <a:gd name="T53" fmla="*/ 1 h 388"/>
                <a:gd name="T54" fmla="*/ 1 w 831"/>
                <a:gd name="T55" fmla="*/ 1 h 388"/>
                <a:gd name="T56" fmla="*/ 1 w 831"/>
                <a:gd name="T57" fmla="*/ 1 h 388"/>
                <a:gd name="T58" fmla="*/ 1 w 831"/>
                <a:gd name="T59" fmla="*/ 1 h 388"/>
                <a:gd name="T60" fmla="*/ 1 w 831"/>
                <a:gd name="T61" fmla="*/ 1 h 388"/>
                <a:gd name="T62" fmla="*/ 1 w 831"/>
                <a:gd name="T63" fmla="*/ 1 h 388"/>
                <a:gd name="T64" fmla="*/ 0 w 831"/>
                <a:gd name="T65" fmla="*/ 1 h 388"/>
                <a:gd name="T66" fmla="*/ 0 w 831"/>
                <a:gd name="T67" fmla="*/ 0 h 388"/>
                <a:gd name="T68" fmla="*/ 0 w 831"/>
                <a:gd name="T69" fmla="*/ 0 h 388"/>
                <a:gd name="T70" fmla="*/ 0 w 831"/>
                <a:gd name="T71" fmla="*/ 1 h 388"/>
                <a:gd name="T72" fmla="*/ 0 w 831"/>
                <a:gd name="T73" fmla="*/ 1 h 388"/>
                <a:gd name="T74" fmla="*/ 0 w 831"/>
                <a:gd name="T75" fmla="*/ 1 h 388"/>
                <a:gd name="T76" fmla="*/ 0 w 831"/>
                <a:gd name="T77" fmla="*/ 1 h 388"/>
                <a:gd name="T78" fmla="*/ 0 w 831"/>
                <a:gd name="T79" fmla="*/ 1 h 388"/>
                <a:gd name="T80" fmla="*/ 0 w 831"/>
                <a:gd name="T81" fmla="*/ 1 h 388"/>
                <a:gd name="T82" fmla="*/ 0 w 831"/>
                <a:gd name="T83" fmla="*/ 1 h 388"/>
                <a:gd name="T84" fmla="*/ 0 w 831"/>
                <a:gd name="T85" fmla="*/ 1 h 388"/>
                <a:gd name="T86" fmla="*/ 0 w 831"/>
                <a:gd name="T87" fmla="*/ 1 h 388"/>
                <a:gd name="T88" fmla="*/ 0 w 831"/>
                <a:gd name="T89" fmla="*/ 1 h 388"/>
                <a:gd name="T90" fmla="*/ 0 w 831"/>
                <a:gd name="T91" fmla="*/ 1 h 388"/>
                <a:gd name="T92" fmla="*/ 0 w 831"/>
                <a:gd name="T93" fmla="*/ 1 h 388"/>
                <a:gd name="T94" fmla="*/ 0 w 831"/>
                <a:gd name="T95" fmla="*/ 1 h 388"/>
                <a:gd name="T96" fmla="*/ 0 w 831"/>
                <a:gd name="T97" fmla="*/ 2 h 388"/>
                <a:gd name="T98" fmla="*/ 0 w 831"/>
                <a:gd name="T99" fmla="*/ 2 h 388"/>
                <a:gd name="T100" fmla="*/ 0 w 831"/>
                <a:gd name="T101" fmla="*/ 2 h 388"/>
                <a:gd name="T102" fmla="*/ 1 w 831"/>
                <a:gd name="T103" fmla="*/ 2 h 388"/>
                <a:gd name="T104" fmla="*/ 1 w 831"/>
                <a:gd name="T105" fmla="*/ 2 h 388"/>
                <a:gd name="T106" fmla="*/ 1 w 831"/>
                <a:gd name="T107" fmla="*/ 2 h 38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31" h="388">
                  <a:moveTo>
                    <a:pt x="371" y="341"/>
                  </a:moveTo>
                  <a:lnTo>
                    <a:pt x="383" y="343"/>
                  </a:lnTo>
                  <a:lnTo>
                    <a:pt x="392" y="344"/>
                  </a:lnTo>
                  <a:lnTo>
                    <a:pt x="402" y="348"/>
                  </a:lnTo>
                  <a:lnTo>
                    <a:pt x="413" y="350"/>
                  </a:lnTo>
                  <a:lnTo>
                    <a:pt x="423" y="354"/>
                  </a:lnTo>
                  <a:lnTo>
                    <a:pt x="434" y="356"/>
                  </a:lnTo>
                  <a:lnTo>
                    <a:pt x="443" y="360"/>
                  </a:lnTo>
                  <a:lnTo>
                    <a:pt x="455" y="362"/>
                  </a:lnTo>
                  <a:lnTo>
                    <a:pt x="464" y="363"/>
                  </a:lnTo>
                  <a:lnTo>
                    <a:pt x="476" y="365"/>
                  </a:lnTo>
                  <a:lnTo>
                    <a:pt x="485" y="367"/>
                  </a:lnTo>
                  <a:lnTo>
                    <a:pt x="495" y="371"/>
                  </a:lnTo>
                  <a:lnTo>
                    <a:pt x="504" y="371"/>
                  </a:lnTo>
                  <a:lnTo>
                    <a:pt x="514" y="373"/>
                  </a:lnTo>
                  <a:lnTo>
                    <a:pt x="525" y="375"/>
                  </a:lnTo>
                  <a:lnTo>
                    <a:pt x="535" y="379"/>
                  </a:lnTo>
                  <a:lnTo>
                    <a:pt x="544" y="379"/>
                  </a:lnTo>
                  <a:lnTo>
                    <a:pt x="554" y="381"/>
                  </a:lnTo>
                  <a:lnTo>
                    <a:pt x="561" y="381"/>
                  </a:lnTo>
                  <a:lnTo>
                    <a:pt x="573" y="382"/>
                  </a:lnTo>
                  <a:lnTo>
                    <a:pt x="580" y="382"/>
                  </a:lnTo>
                  <a:lnTo>
                    <a:pt x="590" y="384"/>
                  </a:lnTo>
                  <a:lnTo>
                    <a:pt x="599" y="384"/>
                  </a:lnTo>
                  <a:lnTo>
                    <a:pt x="609" y="386"/>
                  </a:lnTo>
                  <a:lnTo>
                    <a:pt x="616" y="386"/>
                  </a:lnTo>
                  <a:lnTo>
                    <a:pt x="624" y="386"/>
                  </a:lnTo>
                  <a:lnTo>
                    <a:pt x="634" y="386"/>
                  </a:lnTo>
                  <a:lnTo>
                    <a:pt x="641" y="388"/>
                  </a:lnTo>
                  <a:lnTo>
                    <a:pt x="651" y="388"/>
                  </a:lnTo>
                  <a:lnTo>
                    <a:pt x="658" y="388"/>
                  </a:lnTo>
                  <a:lnTo>
                    <a:pt x="666" y="388"/>
                  </a:lnTo>
                  <a:lnTo>
                    <a:pt x="675" y="388"/>
                  </a:lnTo>
                  <a:lnTo>
                    <a:pt x="681" y="386"/>
                  </a:lnTo>
                  <a:lnTo>
                    <a:pt x="689" y="386"/>
                  </a:lnTo>
                  <a:lnTo>
                    <a:pt x="696" y="384"/>
                  </a:lnTo>
                  <a:lnTo>
                    <a:pt x="704" y="384"/>
                  </a:lnTo>
                  <a:lnTo>
                    <a:pt x="711" y="382"/>
                  </a:lnTo>
                  <a:lnTo>
                    <a:pt x="717" y="382"/>
                  </a:lnTo>
                  <a:lnTo>
                    <a:pt x="725" y="381"/>
                  </a:lnTo>
                  <a:lnTo>
                    <a:pt x="732" y="381"/>
                  </a:lnTo>
                  <a:lnTo>
                    <a:pt x="738" y="379"/>
                  </a:lnTo>
                  <a:lnTo>
                    <a:pt x="744" y="377"/>
                  </a:lnTo>
                  <a:lnTo>
                    <a:pt x="749" y="375"/>
                  </a:lnTo>
                  <a:lnTo>
                    <a:pt x="755" y="375"/>
                  </a:lnTo>
                  <a:lnTo>
                    <a:pt x="761" y="373"/>
                  </a:lnTo>
                  <a:lnTo>
                    <a:pt x="767" y="371"/>
                  </a:lnTo>
                  <a:lnTo>
                    <a:pt x="772" y="369"/>
                  </a:lnTo>
                  <a:lnTo>
                    <a:pt x="778" y="367"/>
                  </a:lnTo>
                  <a:lnTo>
                    <a:pt x="786" y="363"/>
                  </a:lnTo>
                  <a:lnTo>
                    <a:pt x="795" y="358"/>
                  </a:lnTo>
                  <a:lnTo>
                    <a:pt x="803" y="352"/>
                  </a:lnTo>
                  <a:lnTo>
                    <a:pt x="810" y="348"/>
                  </a:lnTo>
                  <a:lnTo>
                    <a:pt x="814" y="341"/>
                  </a:lnTo>
                  <a:lnTo>
                    <a:pt x="820" y="335"/>
                  </a:lnTo>
                  <a:lnTo>
                    <a:pt x="826" y="329"/>
                  </a:lnTo>
                  <a:lnTo>
                    <a:pt x="829" y="322"/>
                  </a:lnTo>
                  <a:lnTo>
                    <a:pt x="829" y="314"/>
                  </a:lnTo>
                  <a:lnTo>
                    <a:pt x="831" y="306"/>
                  </a:lnTo>
                  <a:lnTo>
                    <a:pt x="829" y="297"/>
                  </a:lnTo>
                  <a:lnTo>
                    <a:pt x="829" y="289"/>
                  </a:lnTo>
                  <a:lnTo>
                    <a:pt x="826" y="280"/>
                  </a:lnTo>
                  <a:lnTo>
                    <a:pt x="822" y="272"/>
                  </a:lnTo>
                  <a:lnTo>
                    <a:pt x="818" y="263"/>
                  </a:lnTo>
                  <a:lnTo>
                    <a:pt x="812" y="255"/>
                  </a:lnTo>
                  <a:lnTo>
                    <a:pt x="806" y="244"/>
                  </a:lnTo>
                  <a:lnTo>
                    <a:pt x="799" y="236"/>
                  </a:lnTo>
                  <a:lnTo>
                    <a:pt x="789" y="227"/>
                  </a:lnTo>
                  <a:lnTo>
                    <a:pt x="782" y="217"/>
                  </a:lnTo>
                  <a:lnTo>
                    <a:pt x="776" y="213"/>
                  </a:lnTo>
                  <a:lnTo>
                    <a:pt x="772" y="208"/>
                  </a:lnTo>
                  <a:lnTo>
                    <a:pt x="767" y="204"/>
                  </a:lnTo>
                  <a:lnTo>
                    <a:pt x="763" y="200"/>
                  </a:lnTo>
                  <a:lnTo>
                    <a:pt x="755" y="194"/>
                  </a:lnTo>
                  <a:lnTo>
                    <a:pt x="749" y="189"/>
                  </a:lnTo>
                  <a:lnTo>
                    <a:pt x="744" y="185"/>
                  </a:lnTo>
                  <a:lnTo>
                    <a:pt x="738" y="181"/>
                  </a:lnTo>
                  <a:lnTo>
                    <a:pt x="732" y="175"/>
                  </a:lnTo>
                  <a:lnTo>
                    <a:pt x="725" y="171"/>
                  </a:lnTo>
                  <a:lnTo>
                    <a:pt x="717" y="166"/>
                  </a:lnTo>
                  <a:lnTo>
                    <a:pt x="711" y="162"/>
                  </a:lnTo>
                  <a:lnTo>
                    <a:pt x="704" y="156"/>
                  </a:lnTo>
                  <a:lnTo>
                    <a:pt x="696" y="152"/>
                  </a:lnTo>
                  <a:lnTo>
                    <a:pt x="689" y="147"/>
                  </a:lnTo>
                  <a:lnTo>
                    <a:pt x="683" y="143"/>
                  </a:lnTo>
                  <a:lnTo>
                    <a:pt x="673" y="137"/>
                  </a:lnTo>
                  <a:lnTo>
                    <a:pt x="666" y="133"/>
                  </a:lnTo>
                  <a:lnTo>
                    <a:pt x="658" y="130"/>
                  </a:lnTo>
                  <a:lnTo>
                    <a:pt x="651" y="126"/>
                  </a:lnTo>
                  <a:lnTo>
                    <a:pt x="641" y="120"/>
                  </a:lnTo>
                  <a:lnTo>
                    <a:pt x="634" y="116"/>
                  </a:lnTo>
                  <a:lnTo>
                    <a:pt x="626" y="113"/>
                  </a:lnTo>
                  <a:lnTo>
                    <a:pt x="616" y="109"/>
                  </a:lnTo>
                  <a:lnTo>
                    <a:pt x="607" y="103"/>
                  </a:lnTo>
                  <a:lnTo>
                    <a:pt x="599" y="99"/>
                  </a:lnTo>
                  <a:lnTo>
                    <a:pt x="588" y="95"/>
                  </a:lnTo>
                  <a:lnTo>
                    <a:pt x="580" y="92"/>
                  </a:lnTo>
                  <a:lnTo>
                    <a:pt x="571" y="86"/>
                  </a:lnTo>
                  <a:lnTo>
                    <a:pt x="561" y="82"/>
                  </a:lnTo>
                  <a:lnTo>
                    <a:pt x="552" y="78"/>
                  </a:lnTo>
                  <a:lnTo>
                    <a:pt x="542" y="76"/>
                  </a:lnTo>
                  <a:lnTo>
                    <a:pt x="533" y="71"/>
                  </a:lnTo>
                  <a:lnTo>
                    <a:pt x="521" y="67"/>
                  </a:lnTo>
                  <a:lnTo>
                    <a:pt x="512" y="63"/>
                  </a:lnTo>
                  <a:lnTo>
                    <a:pt x="502" y="61"/>
                  </a:lnTo>
                  <a:lnTo>
                    <a:pt x="491" y="57"/>
                  </a:lnTo>
                  <a:lnTo>
                    <a:pt x="481" y="54"/>
                  </a:lnTo>
                  <a:lnTo>
                    <a:pt x="472" y="52"/>
                  </a:lnTo>
                  <a:lnTo>
                    <a:pt x="461" y="48"/>
                  </a:lnTo>
                  <a:lnTo>
                    <a:pt x="451" y="44"/>
                  </a:lnTo>
                  <a:lnTo>
                    <a:pt x="440" y="40"/>
                  </a:lnTo>
                  <a:lnTo>
                    <a:pt x="428" y="38"/>
                  </a:lnTo>
                  <a:lnTo>
                    <a:pt x="419" y="35"/>
                  </a:lnTo>
                  <a:lnTo>
                    <a:pt x="407" y="33"/>
                  </a:lnTo>
                  <a:lnTo>
                    <a:pt x="398" y="29"/>
                  </a:lnTo>
                  <a:lnTo>
                    <a:pt x="386" y="27"/>
                  </a:lnTo>
                  <a:lnTo>
                    <a:pt x="377" y="25"/>
                  </a:lnTo>
                  <a:lnTo>
                    <a:pt x="365" y="23"/>
                  </a:lnTo>
                  <a:lnTo>
                    <a:pt x="356" y="19"/>
                  </a:lnTo>
                  <a:lnTo>
                    <a:pt x="346" y="18"/>
                  </a:lnTo>
                  <a:lnTo>
                    <a:pt x="335" y="16"/>
                  </a:lnTo>
                  <a:lnTo>
                    <a:pt x="326" y="14"/>
                  </a:lnTo>
                  <a:lnTo>
                    <a:pt x="316" y="14"/>
                  </a:lnTo>
                  <a:lnTo>
                    <a:pt x="307" y="12"/>
                  </a:lnTo>
                  <a:lnTo>
                    <a:pt x="297" y="10"/>
                  </a:lnTo>
                  <a:lnTo>
                    <a:pt x="286" y="8"/>
                  </a:lnTo>
                  <a:lnTo>
                    <a:pt x="278" y="6"/>
                  </a:lnTo>
                  <a:lnTo>
                    <a:pt x="267" y="4"/>
                  </a:lnTo>
                  <a:lnTo>
                    <a:pt x="257" y="4"/>
                  </a:lnTo>
                  <a:lnTo>
                    <a:pt x="250" y="2"/>
                  </a:lnTo>
                  <a:lnTo>
                    <a:pt x="240" y="2"/>
                  </a:lnTo>
                  <a:lnTo>
                    <a:pt x="231" y="2"/>
                  </a:lnTo>
                  <a:lnTo>
                    <a:pt x="223" y="2"/>
                  </a:lnTo>
                  <a:lnTo>
                    <a:pt x="213" y="0"/>
                  </a:lnTo>
                  <a:lnTo>
                    <a:pt x="204" y="0"/>
                  </a:lnTo>
                  <a:lnTo>
                    <a:pt x="196" y="0"/>
                  </a:lnTo>
                  <a:lnTo>
                    <a:pt x="187" y="0"/>
                  </a:lnTo>
                  <a:lnTo>
                    <a:pt x="179" y="0"/>
                  </a:lnTo>
                  <a:lnTo>
                    <a:pt x="172" y="0"/>
                  </a:lnTo>
                  <a:lnTo>
                    <a:pt x="164" y="0"/>
                  </a:lnTo>
                  <a:lnTo>
                    <a:pt x="156" y="2"/>
                  </a:lnTo>
                  <a:lnTo>
                    <a:pt x="149" y="2"/>
                  </a:lnTo>
                  <a:lnTo>
                    <a:pt x="139" y="2"/>
                  </a:lnTo>
                  <a:lnTo>
                    <a:pt x="132" y="2"/>
                  </a:lnTo>
                  <a:lnTo>
                    <a:pt x="126" y="2"/>
                  </a:lnTo>
                  <a:lnTo>
                    <a:pt x="118" y="2"/>
                  </a:lnTo>
                  <a:lnTo>
                    <a:pt x="111" y="4"/>
                  </a:lnTo>
                  <a:lnTo>
                    <a:pt x="103" y="4"/>
                  </a:lnTo>
                  <a:lnTo>
                    <a:pt x="99" y="6"/>
                  </a:lnTo>
                  <a:lnTo>
                    <a:pt x="92" y="8"/>
                  </a:lnTo>
                  <a:lnTo>
                    <a:pt x="84" y="10"/>
                  </a:lnTo>
                  <a:lnTo>
                    <a:pt x="78" y="10"/>
                  </a:lnTo>
                  <a:lnTo>
                    <a:pt x="75" y="12"/>
                  </a:lnTo>
                  <a:lnTo>
                    <a:pt x="67" y="14"/>
                  </a:lnTo>
                  <a:lnTo>
                    <a:pt x="61" y="16"/>
                  </a:lnTo>
                  <a:lnTo>
                    <a:pt x="58" y="18"/>
                  </a:lnTo>
                  <a:lnTo>
                    <a:pt x="54" y="21"/>
                  </a:lnTo>
                  <a:lnTo>
                    <a:pt x="42" y="25"/>
                  </a:lnTo>
                  <a:lnTo>
                    <a:pt x="35" y="29"/>
                  </a:lnTo>
                  <a:lnTo>
                    <a:pt x="27" y="35"/>
                  </a:lnTo>
                  <a:lnTo>
                    <a:pt x="21" y="40"/>
                  </a:lnTo>
                  <a:lnTo>
                    <a:pt x="14" y="46"/>
                  </a:lnTo>
                  <a:lnTo>
                    <a:pt x="10" y="52"/>
                  </a:lnTo>
                  <a:lnTo>
                    <a:pt x="6" y="59"/>
                  </a:lnTo>
                  <a:lnTo>
                    <a:pt x="4" y="67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0" y="90"/>
                  </a:lnTo>
                  <a:lnTo>
                    <a:pt x="2" y="99"/>
                  </a:lnTo>
                  <a:lnTo>
                    <a:pt x="4" y="107"/>
                  </a:lnTo>
                  <a:lnTo>
                    <a:pt x="8" y="114"/>
                  </a:lnTo>
                  <a:lnTo>
                    <a:pt x="12" y="124"/>
                  </a:lnTo>
                  <a:lnTo>
                    <a:pt x="18" y="133"/>
                  </a:lnTo>
                  <a:lnTo>
                    <a:pt x="23" y="141"/>
                  </a:lnTo>
                  <a:lnTo>
                    <a:pt x="31" y="151"/>
                  </a:lnTo>
                  <a:lnTo>
                    <a:pt x="39" y="160"/>
                  </a:lnTo>
                  <a:lnTo>
                    <a:pt x="48" y="170"/>
                  </a:lnTo>
                  <a:lnTo>
                    <a:pt x="54" y="173"/>
                  </a:lnTo>
                  <a:lnTo>
                    <a:pt x="58" y="179"/>
                  </a:lnTo>
                  <a:lnTo>
                    <a:pt x="63" y="183"/>
                  </a:lnTo>
                  <a:lnTo>
                    <a:pt x="69" y="189"/>
                  </a:lnTo>
                  <a:lnTo>
                    <a:pt x="75" y="192"/>
                  </a:lnTo>
                  <a:lnTo>
                    <a:pt x="78" y="198"/>
                  </a:lnTo>
                  <a:lnTo>
                    <a:pt x="86" y="202"/>
                  </a:lnTo>
                  <a:lnTo>
                    <a:pt x="94" y="208"/>
                  </a:lnTo>
                  <a:lnTo>
                    <a:pt x="99" y="211"/>
                  </a:lnTo>
                  <a:lnTo>
                    <a:pt x="105" y="215"/>
                  </a:lnTo>
                  <a:lnTo>
                    <a:pt x="111" y="221"/>
                  </a:lnTo>
                  <a:lnTo>
                    <a:pt x="118" y="225"/>
                  </a:lnTo>
                  <a:lnTo>
                    <a:pt x="126" y="228"/>
                  </a:lnTo>
                  <a:lnTo>
                    <a:pt x="132" y="234"/>
                  </a:lnTo>
                  <a:lnTo>
                    <a:pt x="139" y="238"/>
                  </a:lnTo>
                  <a:lnTo>
                    <a:pt x="149" y="244"/>
                  </a:lnTo>
                  <a:lnTo>
                    <a:pt x="156" y="247"/>
                  </a:lnTo>
                  <a:lnTo>
                    <a:pt x="162" y="251"/>
                  </a:lnTo>
                  <a:lnTo>
                    <a:pt x="172" y="257"/>
                  </a:lnTo>
                  <a:lnTo>
                    <a:pt x="179" y="261"/>
                  </a:lnTo>
                  <a:lnTo>
                    <a:pt x="187" y="265"/>
                  </a:lnTo>
                  <a:lnTo>
                    <a:pt x="196" y="270"/>
                  </a:lnTo>
                  <a:lnTo>
                    <a:pt x="206" y="274"/>
                  </a:lnTo>
                  <a:lnTo>
                    <a:pt x="213" y="280"/>
                  </a:lnTo>
                  <a:lnTo>
                    <a:pt x="223" y="284"/>
                  </a:lnTo>
                  <a:lnTo>
                    <a:pt x="231" y="287"/>
                  </a:lnTo>
                  <a:lnTo>
                    <a:pt x="240" y="291"/>
                  </a:lnTo>
                  <a:lnTo>
                    <a:pt x="250" y="295"/>
                  </a:lnTo>
                  <a:lnTo>
                    <a:pt x="257" y="299"/>
                  </a:lnTo>
                  <a:lnTo>
                    <a:pt x="269" y="303"/>
                  </a:lnTo>
                  <a:lnTo>
                    <a:pt x="278" y="306"/>
                  </a:lnTo>
                  <a:lnTo>
                    <a:pt x="288" y="310"/>
                  </a:lnTo>
                  <a:lnTo>
                    <a:pt x="297" y="314"/>
                  </a:lnTo>
                  <a:lnTo>
                    <a:pt x="307" y="318"/>
                  </a:lnTo>
                  <a:lnTo>
                    <a:pt x="318" y="322"/>
                  </a:lnTo>
                  <a:lnTo>
                    <a:pt x="329" y="325"/>
                  </a:lnTo>
                  <a:lnTo>
                    <a:pt x="339" y="329"/>
                  </a:lnTo>
                  <a:lnTo>
                    <a:pt x="350" y="333"/>
                  </a:lnTo>
                  <a:lnTo>
                    <a:pt x="360" y="337"/>
                  </a:lnTo>
                  <a:lnTo>
                    <a:pt x="371" y="341"/>
                  </a:lnTo>
                  <a:close/>
                </a:path>
              </a:pathLst>
            </a:custGeom>
            <a:solidFill>
              <a:srgbClr val="FFFF85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>
              <a:off x="4889" y="3331"/>
              <a:ext cx="471" cy="332"/>
            </a:xfrm>
            <a:custGeom>
              <a:avLst/>
              <a:gdLst>
                <a:gd name="T0" fmla="*/ 2 w 941"/>
                <a:gd name="T1" fmla="*/ 1 h 663"/>
                <a:gd name="T2" fmla="*/ 2 w 941"/>
                <a:gd name="T3" fmla="*/ 1 h 663"/>
                <a:gd name="T4" fmla="*/ 2 w 941"/>
                <a:gd name="T5" fmla="*/ 1 h 663"/>
                <a:gd name="T6" fmla="*/ 1 w 941"/>
                <a:gd name="T7" fmla="*/ 1 h 663"/>
                <a:gd name="T8" fmla="*/ 1 w 941"/>
                <a:gd name="T9" fmla="*/ 1 h 663"/>
                <a:gd name="T10" fmla="*/ 1 w 941"/>
                <a:gd name="T11" fmla="*/ 1 h 663"/>
                <a:gd name="T12" fmla="*/ 1 w 941"/>
                <a:gd name="T13" fmla="*/ 1 h 663"/>
                <a:gd name="T14" fmla="*/ 1 w 941"/>
                <a:gd name="T15" fmla="*/ 1 h 663"/>
                <a:gd name="T16" fmla="*/ 1 w 941"/>
                <a:gd name="T17" fmla="*/ 1 h 663"/>
                <a:gd name="T18" fmla="*/ 1 w 941"/>
                <a:gd name="T19" fmla="*/ 1 h 663"/>
                <a:gd name="T20" fmla="*/ 1 w 941"/>
                <a:gd name="T21" fmla="*/ 1 h 663"/>
                <a:gd name="T22" fmla="*/ 1 w 941"/>
                <a:gd name="T23" fmla="*/ 1 h 663"/>
                <a:gd name="T24" fmla="*/ 1 w 941"/>
                <a:gd name="T25" fmla="*/ 1 h 663"/>
                <a:gd name="T26" fmla="*/ 1 w 941"/>
                <a:gd name="T27" fmla="*/ 1 h 663"/>
                <a:gd name="T28" fmla="*/ 0 w 941"/>
                <a:gd name="T29" fmla="*/ 1 h 663"/>
                <a:gd name="T30" fmla="*/ 2 w 941"/>
                <a:gd name="T31" fmla="*/ 3 h 663"/>
                <a:gd name="T32" fmla="*/ 3 w 941"/>
                <a:gd name="T33" fmla="*/ 2 h 663"/>
                <a:gd name="T34" fmla="*/ 3 w 941"/>
                <a:gd name="T35" fmla="*/ 1 h 663"/>
                <a:gd name="T36" fmla="*/ 3 w 941"/>
                <a:gd name="T37" fmla="*/ 1 h 663"/>
                <a:gd name="T38" fmla="*/ 3 w 941"/>
                <a:gd name="T39" fmla="*/ 1 h 663"/>
                <a:gd name="T40" fmla="*/ 3 w 941"/>
                <a:gd name="T41" fmla="*/ 1 h 663"/>
                <a:gd name="T42" fmla="*/ 3 w 941"/>
                <a:gd name="T43" fmla="*/ 1 h 663"/>
                <a:gd name="T44" fmla="*/ 3 w 941"/>
                <a:gd name="T45" fmla="*/ 1 h 663"/>
                <a:gd name="T46" fmla="*/ 3 w 941"/>
                <a:gd name="T47" fmla="*/ 1 h 663"/>
                <a:gd name="T48" fmla="*/ 3 w 941"/>
                <a:gd name="T49" fmla="*/ 1 h 663"/>
                <a:gd name="T50" fmla="*/ 4 w 941"/>
                <a:gd name="T51" fmla="*/ 1 h 663"/>
                <a:gd name="T52" fmla="*/ 4 w 941"/>
                <a:gd name="T53" fmla="*/ 1 h 663"/>
                <a:gd name="T54" fmla="*/ 4 w 941"/>
                <a:gd name="T55" fmla="*/ 1 h 663"/>
                <a:gd name="T56" fmla="*/ 4 w 941"/>
                <a:gd name="T57" fmla="*/ 2 h 663"/>
                <a:gd name="T58" fmla="*/ 4 w 941"/>
                <a:gd name="T59" fmla="*/ 2 h 663"/>
                <a:gd name="T60" fmla="*/ 4 w 941"/>
                <a:gd name="T61" fmla="*/ 2 h 663"/>
                <a:gd name="T62" fmla="*/ 4 w 941"/>
                <a:gd name="T63" fmla="*/ 2 h 663"/>
                <a:gd name="T64" fmla="*/ 4 w 941"/>
                <a:gd name="T65" fmla="*/ 2 h 663"/>
                <a:gd name="T66" fmla="*/ 4 w 941"/>
                <a:gd name="T67" fmla="*/ 2 h 663"/>
                <a:gd name="T68" fmla="*/ 4 w 941"/>
                <a:gd name="T69" fmla="*/ 1 h 663"/>
                <a:gd name="T70" fmla="*/ 4 w 941"/>
                <a:gd name="T71" fmla="*/ 1 h 663"/>
                <a:gd name="T72" fmla="*/ 4 w 941"/>
                <a:gd name="T73" fmla="*/ 1 h 663"/>
                <a:gd name="T74" fmla="*/ 3 w 941"/>
                <a:gd name="T75" fmla="*/ 1 h 663"/>
                <a:gd name="T76" fmla="*/ 3 w 941"/>
                <a:gd name="T77" fmla="*/ 1 h 663"/>
                <a:gd name="T78" fmla="*/ 3 w 941"/>
                <a:gd name="T79" fmla="*/ 1 h 663"/>
                <a:gd name="T80" fmla="*/ 3 w 941"/>
                <a:gd name="T81" fmla="*/ 1 h 663"/>
                <a:gd name="T82" fmla="*/ 3 w 941"/>
                <a:gd name="T83" fmla="*/ 1 h 663"/>
                <a:gd name="T84" fmla="*/ 3 w 941"/>
                <a:gd name="T85" fmla="*/ 1 h 663"/>
                <a:gd name="T86" fmla="*/ 3 w 941"/>
                <a:gd name="T87" fmla="*/ 0 h 663"/>
                <a:gd name="T88" fmla="*/ 3 w 941"/>
                <a:gd name="T89" fmla="*/ 0 h 663"/>
                <a:gd name="T90" fmla="*/ 3 w 941"/>
                <a:gd name="T91" fmla="*/ 0 h 663"/>
                <a:gd name="T92" fmla="*/ 3 w 941"/>
                <a:gd name="T93" fmla="*/ 1 h 663"/>
                <a:gd name="T94" fmla="*/ 2 w 941"/>
                <a:gd name="T95" fmla="*/ 1 h 663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941" h="663">
                  <a:moveTo>
                    <a:pt x="325" y="50"/>
                  </a:moveTo>
                  <a:lnTo>
                    <a:pt x="323" y="48"/>
                  </a:lnTo>
                  <a:lnTo>
                    <a:pt x="321" y="48"/>
                  </a:lnTo>
                  <a:lnTo>
                    <a:pt x="317" y="46"/>
                  </a:lnTo>
                  <a:lnTo>
                    <a:pt x="313" y="44"/>
                  </a:lnTo>
                  <a:lnTo>
                    <a:pt x="306" y="42"/>
                  </a:lnTo>
                  <a:lnTo>
                    <a:pt x="300" y="40"/>
                  </a:lnTo>
                  <a:lnTo>
                    <a:pt x="291" y="36"/>
                  </a:lnTo>
                  <a:lnTo>
                    <a:pt x="285" y="34"/>
                  </a:lnTo>
                  <a:lnTo>
                    <a:pt x="273" y="32"/>
                  </a:lnTo>
                  <a:lnTo>
                    <a:pt x="266" y="29"/>
                  </a:lnTo>
                  <a:lnTo>
                    <a:pt x="256" y="27"/>
                  </a:lnTo>
                  <a:lnTo>
                    <a:pt x="247" y="27"/>
                  </a:lnTo>
                  <a:lnTo>
                    <a:pt x="237" y="25"/>
                  </a:lnTo>
                  <a:lnTo>
                    <a:pt x="228" y="23"/>
                  </a:lnTo>
                  <a:lnTo>
                    <a:pt x="218" y="23"/>
                  </a:lnTo>
                  <a:lnTo>
                    <a:pt x="211" y="25"/>
                  </a:lnTo>
                  <a:lnTo>
                    <a:pt x="205" y="25"/>
                  </a:lnTo>
                  <a:lnTo>
                    <a:pt x="201" y="25"/>
                  </a:lnTo>
                  <a:lnTo>
                    <a:pt x="196" y="27"/>
                  </a:lnTo>
                  <a:lnTo>
                    <a:pt x="192" y="27"/>
                  </a:lnTo>
                  <a:lnTo>
                    <a:pt x="186" y="29"/>
                  </a:lnTo>
                  <a:lnTo>
                    <a:pt x="180" y="29"/>
                  </a:lnTo>
                  <a:lnTo>
                    <a:pt x="175" y="30"/>
                  </a:lnTo>
                  <a:lnTo>
                    <a:pt x="169" y="32"/>
                  </a:lnTo>
                  <a:lnTo>
                    <a:pt x="165" y="32"/>
                  </a:lnTo>
                  <a:lnTo>
                    <a:pt x="159" y="34"/>
                  </a:lnTo>
                  <a:lnTo>
                    <a:pt x="154" y="34"/>
                  </a:lnTo>
                  <a:lnTo>
                    <a:pt x="148" y="36"/>
                  </a:lnTo>
                  <a:lnTo>
                    <a:pt x="142" y="38"/>
                  </a:lnTo>
                  <a:lnTo>
                    <a:pt x="137" y="40"/>
                  </a:lnTo>
                  <a:lnTo>
                    <a:pt x="131" y="42"/>
                  </a:lnTo>
                  <a:lnTo>
                    <a:pt x="127" y="44"/>
                  </a:lnTo>
                  <a:lnTo>
                    <a:pt x="121" y="44"/>
                  </a:lnTo>
                  <a:lnTo>
                    <a:pt x="116" y="46"/>
                  </a:lnTo>
                  <a:lnTo>
                    <a:pt x="112" y="46"/>
                  </a:lnTo>
                  <a:lnTo>
                    <a:pt x="106" y="48"/>
                  </a:lnTo>
                  <a:lnTo>
                    <a:pt x="99" y="51"/>
                  </a:lnTo>
                  <a:lnTo>
                    <a:pt x="91" y="53"/>
                  </a:lnTo>
                  <a:lnTo>
                    <a:pt x="85" y="55"/>
                  </a:lnTo>
                  <a:lnTo>
                    <a:pt x="81" y="55"/>
                  </a:lnTo>
                  <a:lnTo>
                    <a:pt x="78" y="57"/>
                  </a:lnTo>
                  <a:lnTo>
                    <a:pt x="0" y="139"/>
                  </a:lnTo>
                  <a:lnTo>
                    <a:pt x="0" y="245"/>
                  </a:lnTo>
                  <a:lnTo>
                    <a:pt x="201" y="496"/>
                  </a:lnTo>
                  <a:lnTo>
                    <a:pt x="310" y="519"/>
                  </a:lnTo>
                  <a:lnTo>
                    <a:pt x="306" y="601"/>
                  </a:lnTo>
                  <a:lnTo>
                    <a:pt x="623" y="663"/>
                  </a:lnTo>
                  <a:lnTo>
                    <a:pt x="690" y="557"/>
                  </a:lnTo>
                  <a:lnTo>
                    <a:pt x="656" y="386"/>
                  </a:lnTo>
                  <a:lnTo>
                    <a:pt x="633" y="295"/>
                  </a:lnTo>
                  <a:lnTo>
                    <a:pt x="646" y="179"/>
                  </a:lnTo>
                  <a:lnTo>
                    <a:pt x="646" y="177"/>
                  </a:lnTo>
                  <a:lnTo>
                    <a:pt x="652" y="175"/>
                  </a:lnTo>
                  <a:lnTo>
                    <a:pt x="657" y="169"/>
                  </a:lnTo>
                  <a:lnTo>
                    <a:pt x="667" y="165"/>
                  </a:lnTo>
                  <a:lnTo>
                    <a:pt x="671" y="162"/>
                  </a:lnTo>
                  <a:lnTo>
                    <a:pt x="676" y="160"/>
                  </a:lnTo>
                  <a:lnTo>
                    <a:pt x="682" y="158"/>
                  </a:lnTo>
                  <a:lnTo>
                    <a:pt x="688" y="156"/>
                  </a:lnTo>
                  <a:lnTo>
                    <a:pt x="694" y="154"/>
                  </a:lnTo>
                  <a:lnTo>
                    <a:pt x="699" y="152"/>
                  </a:lnTo>
                  <a:lnTo>
                    <a:pt x="707" y="152"/>
                  </a:lnTo>
                  <a:lnTo>
                    <a:pt x="713" y="152"/>
                  </a:lnTo>
                  <a:lnTo>
                    <a:pt x="720" y="152"/>
                  </a:lnTo>
                  <a:lnTo>
                    <a:pt x="726" y="152"/>
                  </a:lnTo>
                  <a:lnTo>
                    <a:pt x="732" y="154"/>
                  </a:lnTo>
                  <a:lnTo>
                    <a:pt x="737" y="156"/>
                  </a:lnTo>
                  <a:lnTo>
                    <a:pt x="743" y="158"/>
                  </a:lnTo>
                  <a:lnTo>
                    <a:pt x="747" y="160"/>
                  </a:lnTo>
                  <a:lnTo>
                    <a:pt x="752" y="162"/>
                  </a:lnTo>
                  <a:lnTo>
                    <a:pt x="758" y="167"/>
                  </a:lnTo>
                  <a:lnTo>
                    <a:pt x="762" y="171"/>
                  </a:lnTo>
                  <a:lnTo>
                    <a:pt x="768" y="177"/>
                  </a:lnTo>
                  <a:lnTo>
                    <a:pt x="772" y="181"/>
                  </a:lnTo>
                  <a:lnTo>
                    <a:pt x="775" y="188"/>
                  </a:lnTo>
                  <a:lnTo>
                    <a:pt x="779" y="196"/>
                  </a:lnTo>
                  <a:lnTo>
                    <a:pt x="785" y="203"/>
                  </a:lnTo>
                  <a:lnTo>
                    <a:pt x="787" y="209"/>
                  </a:lnTo>
                  <a:lnTo>
                    <a:pt x="789" y="213"/>
                  </a:lnTo>
                  <a:lnTo>
                    <a:pt x="792" y="219"/>
                  </a:lnTo>
                  <a:lnTo>
                    <a:pt x="794" y="224"/>
                  </a:lnTo>
                  <a:lnTo>
                    <a:pt x="798" y="232"/>
                  </a:lnTo>
                  <a:lnTo>
                    <a:pt x="802" y="241"/>
                  </a:lnTo>
                  <a:lnTo>
                    <a:pt x="806" y="249"/>
                  </a:lnTo>
                  <a:lnTo>
                    <a:pt x="810" y="260"/>
                  </a:lnTo>
                  <a:lnTo>
                    <a:pt x="811" y="268"/>
                  </a:lnTo>
                  <a:lnTo>
                    <a:pt x="815" y="278"/>
                  </a:lnTo>
                  <a:lnTo>
                    <a:pt x="817" y="287"/>
                  </a:lnTo>
                  <a:lnTo>
                    <a:pt x="821" y="297"/>
                  </a:lnTo>
                  <a:lnTo>
                    <a:pt x="823" y="304"/>
                  </a:lnTo>
                  <a:lnTo>
                    <a:pt x="827" y="312"/>
                  </a:lnTo>
                  <a:lnTo>
                    <a:pt x="827" y="319"/>
                  </a:lnTo>
                  <a:lnTo>
                    <a:pt x="830" y="327"/>
                  </a:lnTo>
                  <a:lnTo>
                    <a:pt x="830" y="333"/>
                  </a:lnTo>
                  <a:lnTo>
                    <a:pt x="832" y="340"/>
                  </a:lnTo>
                  <a:lnTo>
                    <a:pt x="834" y="344"/>
                  </a:lnTo>
                  <a:lnTo>
                    <a:pt x="836" y="350"/>
                  </a:lnTo>
                  <a:lnTo>
                    <a:pt x="849" y="356"/>
                  </a:lnTo>
                  <a:lnTo>
                    <a:pt x="827" y="382"/>
                  </a:lnTo>
                  <a:lnTo>
                    <a:pt x="872" y="407"/>
                  </a:lnTo>
                  <a:lnTo>
                    <a:pt x="905" y="424"/>
                  </a:lnTo>
                  <a:lnTo>
                    <a:pt x="916" y="361"/>
                  </a:lnTo>
                  <a:lnTo>
                    <a:pt x="941" y="230"/>
                  </a:lnTo>
                  <a:lnTo>
                    <a:pt x="889" y="86"/>
                  </a:lnTo>
                  <a:lnTo>
                    <a:pt x="800" y="21"/>
                  </a:lnTo>
                  <a:lnTo>
                    <a:pt x="798" y="19"/>
                  </a:lnTo>
                  <a:lnTo>
                    <a:pt x="794" y="19"/>
                  </a:lnTo>
                  <a:lnTo>
                    <a:pt x="787" y="17"/>
                  </a:lnTo>
                  <a:lnTo>
                    <a:pt x="779" y="17"/>
                  </a:lnTo>
                  <a:lnTo>
                    <a:pt x="773" y="17"/>
                  </a:lnTo>
                  <a:lnTo>
                    <a:pt x="770" y="15"/>
                  </a:lnTo>
                  <a:lnTo>
                    <a:pt x="764" y="15"/>
                  </a:lnTo>
                  <a:lnTo>
                    <a:pt x="760" y="15"/>
                  </a:lnTo>
                  <a:lnTo>
                    <a:pt x="754" y="13"/>
                  </a:lnTo>
                  <a:lnTo>
                    <a:pt x="749" y="13"/>
                  </a:lnTo>
                  <a:lnTo>
                    <a:pt x="743" y="11"/>
                  </a:lnTo>
                  <a:lnTo>
                    <a:pt x="737" y="11"/>
                  </a:lnTo>
                  <a:lnTo>
                    <a:pt x="732" y="10"/>
                  </a:lnTo>
                  <a:lnTo>
                    <a:pt x="726" y="10"/>
                  </a:lnTo>
                  <a:lnTo>
                    <a:pt x="720" y="8"/>
                  </a:lnTo>
                  <a:lnTo>
                    <a:pt x="714" y="8"/>
                  </a:lnTo>
                  <a:lnTo>
                    <a:pt x="709" y="8"/>
                  </a:lnTo>
                  <a:lnTo>
                    <a:pt x="703" y="6"/>
                  </a:lnTo>
                  <a:lnTo>
                    <a:pt x="697" y="6"/>
                  </a:lnTo>
                  <a:lnTo>
                    <a:pt x="695" y="6"/>
                  </a:lnTo>
                  <a:lnTo>
                    <a:pt x="686" y="4"/>
                  </a:lnTo>
                  <a:lnTo>
                    <a:pt x="678" y="4"/>
                  </a:lnTo>
                  <a:lnTo>
                    <a:pt x="675" y="2"/>
                  </a:lnTo>
                  <a:lnTo>
                    <a:pt x="673" y="2"/>
                  </a:lnTo>
                  <a:lnTo>
                    <a:pt x="669" y="0"/>
                  </a:lnTo>
                  <a:lnTo>
                    <a:pt x="665" y="0"/>
                  </a:lnTo>
                  <a:lnTo>
                    <a:pt x="659" y="0"/>
                  </a:lnTo>
                  <a:lnTo>
                    <a:pt x="654" y="0"/>
                  </a:lnTo>
                  <a:lnTo>
                    <a:pt x="648" y="0"/>
                  </a:lnTo>
                  <a:lnTo>
                    <a:pt x="646" y="0"/>
                  </a:lnTo>
                  <a:lnTo>
                    <a:pt x="642" y="0"/>
                  </a:lnTo>
                  <a:lnTo>
                    <a:pt x="642" y="2"/>
                  </a:lnTo>
                  <a:lnTo>
                    <a:pt x="604" y="21"/>
                  </a:lnTo>
                  <a:lnTo>
                    <a:pt x="566" y="29"/>
                  </a:lnTo>
                  <a:lnTo>
                    <a:pt x="543" y="2"/>
                  </a:lnTo>
                  <a:lnTo>
                    <a:pt x="429" y="32"/>
                  </a:lnTo>
                  <a:lnTo>
                    <a:pt x="325" y="50"/>
                  </a:lnTo>
                  <a:close/>
                </a:path>
              </a:pathLst>
            </a:custGeom>
            <a:solidFill>
              <a:srgbClr val="FFFFFF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14" name="Freeform 13"/>
            <p:cNvSpPr>
              <a:spLocks/>
            </p:cNvSpPr>
            <p:nvPr/>
          </p:nvSpPr>
          <p:spPr bwMode="auto">
            <a:xfrm>
              <a:off x="5037" y="3226"/>
              <a:ext cx="133" cy="140"/>
            </a:xfrm>
            <a:custGeom>
              <a:avLst/>
              <a:gdLst>
                <a:gd name="T0" fmla="*/ 0 w 267"/>
                <a:gd name="T1" fmla="*/ 0 h 281"/>
                <a:gd name="T2" fmla="*/ 0 w 267"/>
                <a:gd name="T3" fmla="*/ 0 h 281"/>
                <a:gd name="T4" fmla="*/ 0 w 267"/>
                <a:gd name="T5" fmla="*/ 0 h 281"/>
                <a:gd name="T6" fmla="*/ 0 w 267"/>
                <a:gd name="T7" fmla="*/ 0 h 281"/>
                <a:gd name="T8" fmla="*/ 0 w 267"/>
                <a:gd name="T9" fmla="*/ 0 h 281"/>
                <a:gd name="T10" fmla="*/ 0 w 267"/>
                <a:gd name="T11" fmla="*/ 0 h 281"/>
                <a:gd name="T12" fmla="*/ 0 w 267"/>
                <a:gd name="T13" fmla="*/ 0 h 281"/>
                <a:gd name="T14" fmla="*/ 0 w 267"/>
                <a:gd name="T15" fmla="*/ 0 h 281"/>
                <a:gd name="T16" fmla="*/ 0 w 267"/>
                <a:gd name="T17" fmla="*/ 0 h 281"/>
                <a:gd name="T18" fmla="*/ 0 w 267"/>
                <a:gd name="T19" fmla="*/ 0 h 281"/>
                <a:gd name="T20" fmla="*/ 0 w 267"/>
                <a:gd name="T21" fmla="*/ 0 h 281"/>
                <a:gd name="T22" fmla="*/ 0 w 267"/>
                <a:gd name="T23" fmla="*/ 0 h 281"/>
                <a:gd name="T24" fmla="*/ 0 w 267"/>
                <a:gd name="T25" fmla="*/ 0 h 281"/>
                <a:gd name="T26" fmla="*/ 0 w 267"/>
                <a:gd name="T27" fmla="*/ 0 h 281"/>
                <a:gd name="T28" fmla="*/ 0 w 267"/>
                <a:gd name="T29" fmla="*/ 0 h 281"/>
                <a:gd name="T30" fmla="*/ 0 w 267"/>
                <a:gd name="T31" fmla="*/ 0 h 281"/>
                <a:gd name="T32" fmla="*/ 0 w 267"/>
                <a:gd name="T33" fmla="*/ 0 h 281"/>
                <a:gd name="T34" fmla="*/ 0 w 267"/>
                <a:gd name="T35" fmla="*/ 0 h 281"/>
                <a:gd name="T36" fmla="*/ 0 w 267"/>
                <a:gd name="T37" fmla="*/ 0 h 281"/>
                <a:gd name="T38" fmla="*/ 0 w 267"/>
                <a:gd name="T39" fmla="*/ 0 h 281"/>
                <a:gd name="T40" fmla="*/ 0 w 267"/>
                <a:gd name="T41" fmla="*/ 0 h 281"/>
                <a:gd name="T42" fmla="*/ 0 w 267"/>
                <a:gd name="T43" fmla="*/ 0 h 281"/>
                <a:gd name="T44" fmla="*/ 0 w 267"/>
                <a:gd name="T45" fmla="*/ 0 h 281"/>
                <a:gd name="T46" fmla="*/ 0 w 267"/>
                <a:gd name="T47" fmla="*/ 0 h 281"/>
                <a:gd name="T48" fmla="*/ 0 w 267"/>
                <a:gd name="T49" fmla="*/ 0 h 281"/>
                <a:gd name="T50" fmla="*/ 0 w 267"/>
                <a:gd name="T51" fmla="*/ 0 h 281"/>
                <a:gd name="T52" fmla="*/ 0 w 267"/>
                <a:gd name="T53" fmla="*/ 0 h 281"/>
                <a:gd name="T54" fmla="*/ 0 w 267"/>
                <a:gd name="T55" fmla="*/ 0 h 281"/>
                <a:gd name="T56" fmla="*/ 0 w 267"/>
                <a:gd name="T57" fmla="*/ 0 h 281"/>
                <a:gd name="T58" fmla="*/ 0 w 267"/>
                <a:gd name="T59" fmla="*/ 0 h 281"/>
                <a:gd name="T60" fmla="*/ 0 w 267"/>
                <a:gd name="T61" fmla="*/ 0 h 281"/>
                <a:gd name="T62" fmla="*/ 0 w 267"/>
                <a:gd name="T63" fmla="*/ 0 h 281"/>
                <a:gd name="T64" fmla="*/ 0 w 267"/>
                <a:gd name="T65" fmla="*/ 0 h 281"/>
                <a:gd name="T66" fmla="*/ 0 w 267"/>
                <a:gd name="T67" fmla="*/ 0 h 281"/>
                <a:gd name="T68" fmla="*/ 0 w 267"/>
                <a:gd name="T69" fmla="*/ 0 h 281"/>
                <a:gd name="T70" fmla="*/ 0 w 267"/>
                <a:gd name="T71" fmla="*/ 0 h 281"/>
                <a:gd name="T72" fmla="*/ 0 w 267"/>
                <a:gd name="T73" fmla="*/ 0 h 281"/>
                <a:gd name="T74" fmla="*/ 0 w 267"/>
                <a:gd name="T75" fmla="*/ 0 h 281"/>
                <a:gd name="T76" fmla="*/ 0 w 267"/>
                <a:gd name="T77" fmla="*/ 0 h 281"/>
                <a:gd name="T78" fmla="*/ 0 w 267"/>
                <a:gd name="T79" fmla="*/ 0 h 281"/>
                <a:gd name="T80" fmla="*/ 0 w 267"/>
                <a:gd name="T81" fmla="*/ 0 h 281"/>
                <a:gd name="T82" fmla="*/ 0 w 267"/>
                <a:gd name="T83" fmla="*/ 0 h 281"/>
                <a:gd name="T84" fmla="*/ 0 w 267"/>
                <a:gd name="T85" fmla="*/ 1 h 281"/>
                <a:gd name="T86" fmla="*/ 0 w 267"/>
                <a:gd name="T87" fmla="*/ 1 h 281"/>
                <a:gd name="T88" fmla="*/ 0 w 267"/>
                <a:gd name="T89" fmla="*/ 0 h 281"/>
                <a:gd name="T90" fmla="*/ 0 w 267"/>
                <a:gd name="T91" fmla="*/ 0 h 281"/>
                <a:gd name="T92" fmla="*/ 0 w 267"/>
                <a:gd name="T93" fmla="*/ 0 h 281"/>
                <a:gd name="T94" fmla="*/ 0 w 267"/>
                <a:gd name="T95" fmla="*/ 0 h 281"/>
                <a:gd name="T96" fmla="*/ 1 w 267"/>
                <a:gd name="T97" fmla="*/ 0 h 281"/>
                <a:gd name="T98" fmla="*/ 1 w 267"/>
                <a:gd name="T99" fmla="*/ 0 h 281"/>
                <a:gd name="T100" fmla="*/ 0 w 267"/>
                <a:gd name="T101" fmla="*/ 0 h 281"/>
                <a:gd name="T102" fmla="*/ 0 w 267"/>
                <a:gd name="T103" fmla="*/ 0 h 281"/>
                <a:gd name="T104" fmla="*/ 0 w 267"/>
                <a:gd name="T105" fmla="*/ 0 h 281"/>
                <a:gd name="T106" fmla="*/ 0 w 267"/>
                <a:gd name="T107" fmla="*/ 0 h 281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67" h="281">
                  <a:moveTo>
                    <a:pt x="14" y="0"/>
                  </a:moveTo>
                  <a:lnTo>
                    <a:pt x="14" y="0"/>
                  </a:lnTo>
                  <a:lnTo>
                    <a:pt x="12" y="6"/>
                  </a:lnTo>
                  <a:lnTo>
                    <a:pt x="10" y="12"/>
                  </a:lnTo>
                  <a:lnTo>
                    <a:pt x="10" y="21"/>
                  </a:lnTo>
                  <a:lnTo>
                    <a:pt x="8" y="27"/>
                  </a:lnTo>
                  <a:lnTo>
                    <a:pt x="8" y="31"/>
                  </a:lnTo>
                  <a:lnTo>
                    <a:pt x="6" y="36"/>
                  </a:lnTo>
                  <a:lnTo>
                    <a:pt x="6" y="44"/>
                  </a:lnTo>
                  <a:lnTo>
                    <a:pt x="4" y="50"/>
                  </a:lnTo>
                  <a:lnTo>
                    <a:pt x="4" y="57"/>
                  </a:lnTo>
                  <a:lnTo>
                    <a:pt x="2" y="63"/>
                  </a:lnTo>
                  <a:lnTo>
                    <a:pt x="2" y="70"/>
                  </a:lnTo>
                  <a:lnTo>
                    <a:pt x="2" y="78"/>
                  </a:lnTo>
                  <a:lnTo>
                    <a:pt x="0" y="84"/>
                  </a:lnTo>
                  <a:lnTo>
                    <a:pt x="0" y="91"/>
                  </a:lnTo>
                  <a:lnTo>
                    <a:pt x="0" y="99"/>
                  </a:lnTo>
                  <a:lnTo>
                    <a:pt x="0" y="105"/>
                  </a:lnTo>
                  <a:lnTo>
                    <a:pt x="0" y="112"/>
                  </a:lnTo>
                  <a:lnTo>
                    <a:pt x="0" y="118"/>
                  </a:lnTo>
                  <a:lnTo>
                    <a:pt x="0" y="126"/>
                  </a:lnTo>
                  <a:lnTo>
                    <a:pt x="0" y="131"/>
                  </a:lnTo>
                  <a:lnTo>
                    <a:pt x="0" y="137"/>
                  </a:lnTo>
                  <a:lnTo>
                    <a:pt x="0" y="143"/>
                  </a:lnTo>
                  <a:lnTo>
                    <a:pt x="0" y="148"/>
                  </a:lnTo>
                  <a:lnTo>
                    <a:pt x="0" y="154"/>
                  </a:lnTo>
                  <a:lnTo>
                    <a:pt x="0" y="158"/>
                  </a:lnTo>
                  <a:lnTo>
                    <a:pt x="2" y="162"/>
                  </a:lnTo>
                  <a:lnTo>
                    <a:pt x="4" y="167"/>
                  </a:lnTo>
                  <a:lnTo>
                    <a:pt x="8" y="173"/>
                  </a:lnTo>
                  <a:lnTo>
                    <a:pt x="12" y="179"/>
                  </a:lnTo>
                  <a:lnTo>
                    <a:pt x="16" y="184"/>
                  </a:lnTo>
                  <a:lnTo>
                    <a:pt x="21" y="190"/>
                  </a:lnTo>
                  <a:lnTo>
                    <a:pt x="25" y="194"/>
                  </a:lnTo>
                  <a:lnTo>
                    <a:pt x="31" y="200"/>
                  </a:lnTo>
                  <a:lnTo>
                    <a:pt x="36" y="203"/>
                  </a:lnTo>
                  <a:lnTo>
                    <a:pt x="42" y="207"/>
                  </a:lnTo>
                  <a:lnTo>
                    <a:pt x="50" y="213"/>
                  </a:lnTo>
                  <a:lnTo>
                    <a:pt x="59" y="217"/>
                  </a:lnTo>
                  <a:lnTo>
                    <a:pt x="65" y="221"/>
                  </a:lnTo>
                  <a:lnTo>
                    <a:pt x="67" y="222"/>
                  </a:lnTo>
                  <a:lnTo>
                    <a:pt x="65" y="243"/>
                  </a:lnTo>
                  <a:lnTo>
                    <a:pt x="99" y="281"/>
                  </a:lnTo>
                  <a:lnTo>
                    <a:pt x="158" y="280"/>
                  </a:lnTo>
                  <a:lnTo>
                    <a:pt x="198" y="255"/>
                  </a:lnTo>
                  <a:lnTo>
                    <a:pt x="185" y="169"/>
                  </a:lnTo>
                  <a:lnTo>
                    <a:pt x="206" y="127"/>
                  </a:lnTo>
                  <a:lnTo>
                    <a:pt x="228" y="131"/>
                  </a:lnTo>
                  <a:lnTo>
                    <a:pt x="257" y="114"/>
                  </a:lnTo>
                  <a:lnTo>
                    <a:pt x="267" y="93"/>
                  </a:lnTo>
                  <a:lnTo>
                    <a:pt x="238" y="74"/>
                  </a:lnTo>
                  <a:lnTo>
                    <a:pt x="242" y="31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E6D9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5037" y="3184"/>
              <a:ext cx="132" cy="67"/>
            </a:xfrm>
            <a:custGeom>
              <a:avLst/>
              <a:gdLst>
                <a:gd name="T0" fmla="*/ 0 w 265"/>
                <a:gd name="T1" fmla="*/ 0 h 135"/>
                <a:gd name="T2" fmla="*/ 0 w 265"/>
                <a:gd name="T3" fmla="*/ 0 h 135"/>
                <a:gd name="T4" fmla="*/ 0 w 265"/>
                <a:gd name="T5" fmla="*/ 0 h 135"/>
                <a:gd name="T6" fmla="*/ 0 w 265"/>
                <a:gd name="T7" fmla="*/ 0 h 135"/>
                <a:gd name="T8" fmla="*/ 0 w 265"/>
                <a:gd name="T9" fmla="*/ 0 h 135"/>
                <a:gd name="T10" fmla="*/ 0 w 265"/>
                <a:gd name="T11" fmla="*/ 0 h 135"/>
                <a:gd name="T12" fmla="*/ 0 w 265"/>
                <a:gd name="T13" fmla="*/ 0 h 135"/>
                <a:gd name="T14" fmla="*/ 0 w 265"/>
                <a:gd name="T15" fmla="*/ 0 h 135"/>
                <a:gd name="T16" fmla="*/ 0 w 265"/>
                <a:gd name="T17" fmla="*/ 0 h 135"/>
                <a:gd name="T18" fmla="*/ 0 w 265"/>
                <a:gd name="T19" fmla="*/ 0 h 135"/>
                <a:gd name="T20" fmla="*/ 0 w 265"/>
                <a:gd name="T21" fmla="*/ 0 h 135"/>
                <a:gd name="T22" fmla="*/ 0 w 265"/>
                <a:gd name="T23" fmla="*/ 0 h 135"/>
                <a:gd name="T24" fmla="*/ 0 w 265"/>
                <a:gd name="T25" fmla="*/ 0 h 135"/>
                <a:gd name="T26" fmla="*/ 0 w 265"/>
                <a:gd name="T27" fmla="*/ 0 h 135"/>
                <a:gd name="T28" fmla="*/ 0 w 265"/>
                <a:gd name="T29" fmla="*/ 0 h 135"/>
                <a:gd name="T30" fmla="*/ 0 w 265"/>
                <a:gd name="T31" fmla="*/ 0 h 135"/>
                <a:gd name="T32" fmla="*/ 0 w 265"/>
                <a:gd name="T33" fmla="*/ 0 h 135"/>
                <a:gd name="T34" fmla="*/ 0 w 265"/>
                <a:gd name="T35" fmla="*/ 0 h 135"/>
                <a:gd name="T36" fmla="*/ 0 w 265"/>
                <a:gd name="T37" fmla="*/ 0 h 135"/>
                <a:gd name="T38" fmla="*/ 0 w 265"/>
                <a:gd name="T39" fmla="*/ 0 h 135"/>
                <a:gd name="T40" fmla="*/ 0 w 265"/>
                <a:gd name="T41" fmla="*/ 0 h 135"/>
                <a:gd name="T42" fmla="*/ 0 w 265"/>
                <a:gd name="T43" fmla="*/ 0 h 135"/>
                <a:gd name="T44" fmla="*/ 1 w 265"/>
                <a:gd name="T45" fmla="*/ 0 h 135"/>
                <a:gd name="T46" fmla="*/ 1 w 265"/>
                <a:gd name="T47" fmla="*/ 0 h 135"/>
                <a:gd name="T48" fmla="*/ 1 w 265"/>
                <a:gd name="T49" fmla="*/ 0 h 135"/>
                <a:gd name="T50" fmla="*/ 1 w 265"/>
                <a:gd name="T51" fmla="*/ 0 h 135"/>
                <a:gd name="T52" fmla="*/ 0 w 265"/>
                <a:gd name="T53" fmla="*/ 0 h 135"/>
                <a:gd name="T54" fmla="*/ 0 w 265"/>
                <a:gd name="T55" fmla="*/ 0 h 135"/>
                <a:gd name="T56" fmla="*/ 0 w 265"/>
                <a:gd name="T57" fmla="*/ 0 h 135"/>
                <a:gd name="T58" fmla="*/ 0 w 265"/>
                <a:gd name="T59" fmla="*/ 0 h 135"/>
                <a:gd name="T60" fmla="*/ 0 w 265"/>
                <a:gd name="T61" fmla="*/ 0 h 135"/>
                <a:gd name="T62" fmla="*/ 0 w 265"/>
                <a:gd name="T63" fmla="*/ 0 h 135"/>
                <a:gd name="T64" fmla="*/ 0 w 265"/>
                <a:gd name="T65" fmla="*/ 0 h 135"/>
                <a:gd name="T66" fmla="*/ 0 w 265"/>
                <a:gd name="T67" fmla="*/ 0 h 135"/>
                <a:gd name="T68" fmla="*/ 0 w 265"/>
                <a:gd name="T69" fmla="*/ 0 h 135"/>
                <a:gd name="T70" fmla="*/ 0 w 265"/>
                <a:gd name="T71" fmla="*/ 0 h 135"/>
                <a:gd name="T72" fmla="*/ 0 w 265"/>
                <a:gd name="T73" fmla="*/ 0 h 135"/>
                <a:gd name="T74" fmla="*/ 0 w 265"/>
                <a:gd name="T75" fmla="*/ 0 h 135"/>
                <a:gd name="T76" fmla="*/ 0 w 265"/>
                <a:gd name="T77" fmla="*/ 0 h 135"/>
                <a:gd name="T78" fmla="*/ 0 w 265"/>
                <a:gd name="T79" fmla="*/ 0 h 135"/>
                <a:gd name="T80" fmla="*/ 0 w 265"/>
                <a:gd name="T81" fmla="*/ 0 h 135"/>
                <a:gd name="T82" fmla="*/ 0 w 265"/>
                <a:gd name="T83" fmla="*/ 0 h 135"/>
                <a:gd name="T84" fmla="*/ 0 w 265"/>
                <a:gd name="T85" fmla="*/ 0 h 135"/>
                <a:gd name="T86" fmla="*/ 0 w 265"/>
                <a:gd name="T87" fmla="*/ 0 h 135"/>
                <a:gd name="T88" fmla="*/ 0 w 265"/>
                <a:gd name="T89" fmla="*/ 0 h 135"/>
                <a:gd name="T90" fmla="*/ 0 w 265"/>
                <a:gd name="T91" fmla="*/ 0 h 135"/>
                <a:gd name="T92" fmla="*/ 0 w 265"/>
                <a:gd name="T93" fmla="*/ 0 h 135"/>
                <a:gd name="T94" fmla="*/ 0 w 265"/>
                <a:gd name="T95" fmla="*/ 0 h 135"/>
                <a:gd name="T96" fmla="*/ 0 w 265"/>
                <a:gd name="T97" fmla="*/ 0 h 13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65" h="135">
                  <a:moveTo>
                    <a:pt x="12" y="69"/>
                  </a:moveTo>
                  <a:lnTo>
                    <a:pt x="10" y="67"/>
                  </a:lnTo>
                  <a:lnTo>
                    <a:pt x="4" y="59"/>
                  </a:lnTo>
                  <a:lnTo>
                    <a:pt x="2" y="54"/>
                  </a:lnTo>
                  <a:lnTo>
                    <a:pt x="0" y="50"/>
                  </a:lnTo>
                  <a:lnTo>
                    <a:pt x="0" y="44"/>
                  </a:lnTo>
                  <a:lnTo>
                    <a:pt x="0" y="39"/>
                  </a:lnTo>
                  <a:lnTo>
                    <a:pt x="0" y="33"/>
                  </a:lnTo>
                  <a:lnTo>
                    <a:pt x="0" y="27"/>
                  </a:lnTo>
                  <a:lnTo>
                    <a:pt x="4" y="21"/>
                  </a:lnTo>
                  <a:lnTo>
                    <a:pt x="10" y="16"/>
                  </a:lnTo>
                  <a:lnTo>
                    <a:pt x="12" y="14"/>
                  </a:lnTo>
                  <a:lnTo>
                    <a:pt x="16" y="10"/>
                  </a:lnTo>
                  <a:lnTo>
                    <a:pt x="19" y="10"/>
                  </a:lnTo>
                  <a:lnTo>
                    <a:pt x="25" y="8"/>
                  </a:lnTo>
                  <a:lnTo>
                    <a:pt x="31" y="6"/>
                  </a:lnTo>
                  <a:lnTo>
                    <a:pt x="36" y="4"/>
                  </a:lnTo>
                  <a:lnTo>
                    <a:pt x="44" y="2"/>
                  </a:lnTo>
                  <a:lnTo>
                    <a:pt x="52" y="2"/>
                  </a:lnTo>
                  <a:lnTo>
                    <a:pt x="59" y="0"/>
                  </a:lnTo>
                  <a:lnTo>
                    <a:pt x="67" y="0"/>
                  </a:lnTo>
                  <a:lnTo>
                    <a:pt x="75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11" y="4"/>
                  </a:lnTo>
                  <a:lnTo>
                    <a:pt x="120" y="6"/>
                  </a:lnTo>
                  <a:lnTo>
                    <a:pt x="128" y="6"/>
                  </a:lnTo>
                  <a:lnTo>
                    <a:pt x="137" y="8"/>
                  </a:lnTo>
                  <a:lnTo>
                    <a:pt x="145" y="10"/>
                  </a:lnTo>
                  <a:lnTo>
                    <a:pt x="154" y="14"/>
                  </a:lnTo>
                  <a:lnTo>
                    <a:pt x="162" y="16"/>
                  </a:lnTo>
                  <a:lnTo>
                    <a:pt x="171" y="18"/>
                  </a:lnTo>
                  <a:lnTo>
                    <a:pt x="179" y="21"/>
                  </a:lnTo>
                  <a:lnTo>
                    <a:pt x="189" y="25"/>
                  </a:lnTo>
                  <a:lnTo>
                    <a:pt x="196" y="27"/>
                  </a:lnTo>
                  <a:lnTo>
                    <a:pt x="202" y="31"/>
                  </a:lnTo>
                  <a:lnTo>
                    <a:pt x="209" y="33"/>
                  </a:lnTo>
                  <a:lnTo>
                    <a:pt x="217" y="37"/>
                  </a:lnTo>
                  <a:lnTo>
                    <a:pt x="223" y="39"/>
                  </a:lnTo>
                  <a:lnTo>
                    <a:pt x="228" y="42"/>
                  </a:lnTo>
                  <a:lnTo>
                    <a:pt x="234" y="46"/>
                  </a:lnTo>
                  <a:lnTo>
                    <a:pt x="242" y="50"/>
                  </a:lnTo>
                  <a:lnTo>
                    <a:pt x="249" y="58"/>
                  </a:lnTo>
                  <a:lnTo>
                    <a:pt x="257" y="63"/>
                  </a:lnTo>
                  <a:lnTo>
                    <a:pt x="261" y="69"/>
                  </a:lnTo>
                  <a:lnTo>
                    <a:pt x="265" y="77"/>
                  </a:lnTo>
                  <a:lnTo>
                    <a:pt x="265" y="80"/>
                  </a:lnTo>
                  <a:lnTo>
                    <a:pt x="265" y="86"/>
                  </a:lnTo>
                  <a:lnTo>
                    <a:pt x="265" y="90"/>
                  </a:lnTo>
                  <a:lnTo>
                    <a:pt x="265" y="96"/>
                  </a:lnTo>
                  <a:lnTo>
                    <a:pt x="263" y="105"/>
                  </a:lnTo>
                  <a:lnTo>
                    <a:pt x="261" y="115"/>
                  </a:lnTo>
                  <a:lnTo>
                    <a:pt x="255" y="122"/>
                  </a:lnTo>
                  <a:lnTo>
                    <a:pt x="247" y="128"/>
                  </a:lnTo>
                  <a:lnTo>
                    <a:pt x="242" y="130"/>
                  </a:lnTo>
                  <a:lnTo>
                    <a:pt x="236" y="132"/>
                  </a:lnTo>
                  <a:lnTo>
                    <a:pt x="228" y="134"/>
                  </a:lnTo>
                  <a:lnTo>
                    <a:pt x="223" y="135"/>
                  </a:lnTo>
                  <a:lnTo>
                    <a:pt x="217" y="135"/>
                  </a:lnTo>
                  <a:lnTo>
                    <a:pt x="211" y="135"/>
                  </a:lnTo>
                  <a:lnTo>
                    <a:pt x="204" y="135"/>
                  </a:lnTo>
                  <a:lnTo>
                    <a:pt x="200" y="135"/>
                  </a:lnTo>
                  <a:lnTo>
                    <a:pt x="192" y="135"/>
                  </a:lnTo>
                  <a:lnTo>
                    <a:pt x="185" y="135"/>
                  </a:lnTo>
                  <a:lnTo>
                    <a:pt x="177" y="135"/>
                  </a:lnTo>
                  <a:lnTo>
                    <a:pt x="170" y="135"/>
                  </a:lnTo>
                  <a:lnTo>
                    <a:pt x="160" y="134"/>
                  </a:lnTo>
                  <a:lnTo>
                    <a:pt x="151" y="134"/>
                  </a:lnTo>
                  <a:lnTo>
                    <a:pt x="143" y="132"/>
                  </a:lnTo>
                  <a:lnTo>
                    <a:pt x="133" y="132"/>
                  </a:lnTo>
                  <a:lnTo>
                    <a:pt x="124" y="132"/>
                  </a:lnTo>
                  <a:lnTo>
                    <a:pt x="116" y="132"/>
                  </a:lnTo>
                  <a:lnTo>
                    <a:pt x="107" y="130"/>
                  </a:lnTo>
                  <a:lnTo>
                    <a:pt x="99" y="130"/>
                  </a:lnTo>
                  <a:lnTo>
                    <a:pt x="88" y="128"/>
                  </a:lnTo>
                  <a:lnTo>
                    <a:pt x="78" y="128"/>
                  </a:lnTo>
                  <a:lnTo>
                    <a:pt x="71" y="126"/>
                  </a:lnTo>
                  <a:lnTo>
                    <a:pt x="63" y="126"/>
                  </a:lnTo>
                  <a:lnTo>
                    <a:pt x="54" y="124"/>
                  </a:lnTo>
                  <a:lnTo>
                    <a:pt x="46" y="124"/>
                  </a:lnTo>
                  <a:lnTo>
                    <a:pt x="38" y="122"/>
                  </a:lnTo>
                  <a:lnTo>
                    <a:pt x="33" y="122"/>
                  </a:lnTo>
                  <a:lnTo>
                    <a:pt x="27" y="122"/>
                  </a:lnTo>
                  <a:lnTo>
                    <a:pt x="21" y="120"/>
                  </a:lnTo>
                  <a:lnTo>
                    <a:pt x="16" y="120"/>
                  </a:lnTo>
                  <a:lnTo>
                    <a:pt x="14" y="120"/>
                  </a:lnTo>
                  <a:lnTo>
                    <a:pt x="6" y="118"/>
                  </a:lnTo>
                  <a:lnTo>
                    <a:pt x="4" y="118"/>
                  </a:lnTo>
                  <a:lnTo>
                    <a:pt x="4" y="115"/>
                  </a:lnTo>
                  <a:lnTo>
                    <a:pt x="4" y="109"/>
                  </a:lnTo>
                  <a:lnTo>
                    <a:pt x="4" y="99"/>
                  </a:lnTo>
                  <a:lnTo>
                    <a:pt x="6" y="92"/>
                  </a:lnTo>
                  <a:lnTo>
                    <a:pt x="8" y="84"/>
                  </a:lnTo>
                  <a:lnTo>
                    <a:pt x="10" y="77"/>
                  </a:lnTo>
                  <a:lnTo>
                    <a:pt x="10" y="71"/>
                  </a:lnTo>
                  <a:lnTo>
                    <a:pt x="12" y="69"/>
                  </a:lnTo>
                  <a:close/>
                </a:path>
              </a:pathLst>
            </a:custGeom>
            <a:solidFill>
              <a:srgbClr val="8F8FC2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5201" y="3532"/>
              <a:ext cx="39" cy="58"/>
            </a:xfrm>
            <a:custGeom>
              <a:avLst/>
              <a:gdLst>
                <a:gd name="T0" fmla="*/ 0 w 78"/>
                <a:gd name="T1" fmla="*/ 0 h 118"/>
                <a:gd name="T2" fmla="*/ 1 w 78"/>
                <a:gd name="T3" fmla="*/ 0 h 118"/>
                <a:gd name="T4" fmla="*/ 1 w 78"/>
                <a:gd name="T5" fmla="*/ 0 h 118"/>
                <a:gd name="T6" fmla="*/ 1 w 78"/>
                <a:gd name="T7" fmla="*/ 0 h 118"/>
                <a:gd name="T8" fmla="*/ 0 w 78"/>
                <a:gd name="T9" fmla="*/ 0 h 118"/>
                <a:gd name="T10" fmla="*/ 0 w 78"/>
                <a:gd name="T11" fmla="*/ 0 h 1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8" h="118">
                  <a:moveTo>
                    <a:pt x="0" y="0"/>
                  </a:moveTo>
                  <a:lnTo>
                    <a:pt x="12" y="118"/>
                  </a:lnTo>
                  <a:lnTo>
                    <a:pt x="78" y="112"/>
                  </a:lnTo>
                  <a:lnTo>
                    <a:pt x="50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5028" y="3227"/>
              <a:ext cx="97" cy="117"/>
            </a:xfrm>
            <a:custGeom>
              <a:avLst/>
              <a:gdLst>
                <a:gd name="T0" fmla="*/ 1 w 194"/>
                <a:gd name="T1" fmla="*/ 0 h 234"/>
                <a:gd name="T2" fmla="*/ 1 w 194"/>
                <a:gd name="T3" fmla="*/ 1 h 234"/>
                <a:gd name="T4" fmla="*/ 1 w 194"/>
                <a:gd name="T5" fmla="*/ 1 h 234"/>
                <a:gd name="T6" fmla="*/ 1 w 194"/>
                <a:gd name="T7" fmla="*/ 1 h 234"/>
                <a:gd name="T8" fmla="*/ 1 w 194"/>
                <a:gd name="T9" fmla="*/ 1 h 234"/>
                <a:gd name="T10" fmla="*/ 1 w 194"/>
                <a:gd name="T11" fmla="*/ 1 h 234"/>
                <a:gd name="T12" fmla="*/ 0 w 194"/>
                <a:gd name="T13" fmla="*/ 1 h 234"/>
                <a:gd name="T14" fmla="*/ 0 w 194"/>
                <a:gd name="T15" fmla="*/ 1 h 234"/>
                <a:gd name="T16" fmla="*/ 0 w 194"/>
                <a:gd name="T17" fmla="*/ 1 h 234"/>
                <a:gd name="T18" fmla="*/ 1 w 194"/>
                <a:gd name="T19" fmla="*/ 1 h 234"/>
                <a:gd name="T20" fmla="*/ 1 w 194"/>
                <a:gd name="T21" fmla="*/ 1 h 234"/>
                <a:gd name="T22" fmla="*/ 1 w 194"/>
                <a:gd name="T23" fmla="*/ 1 h 234"/>
                <a:gd name="T24" fmla="*/ 1 w 194"/>
                <a:gd name="T25" fmla="*/ 1 h 234"/>
                <a:gd name="T26" fmla="*/ 1 w 194"/>
                <a:gd name="T27" fmla="*/ 1 h 234"/>
                <a:gd name="T28" fmla="*/ 1 w 194"/>
                <a:gd name="T29" fmla="*/ 1 h 234"/>
                <a:gd name="T30" fmla="*/ 1 w 194"/>
                <a:gd name="T31" fmla="*/ 1 h 234"/>
                <a:gd name="T32" fmla="*/ 1 w 194"/>
                <a:gd name="T33" fmla="*/ 1 h 234"/>
                <a:gd name="T34" fmla="*/ 1 w 194"/>
                <a:gd name="T35" fmla="*/ 1 h 234"/>
                <a:gd name="T36" fmla="*/ 1 w 194"/>
                <a:gd name="T37" fmla="*/ 1 h 234"/>
                <a:gd name="T38" fmla="*/ 1 w 194"/>
                <a:gd name="T39" fmla="*/ 1 h 234"/>
                <a:gd name="T40" fmla="*/ 1 w 194"/>
                <a:gd name="T41" fmla="*/ 1 h 234"/>
                <a:gd name="T42" fmla="*/ 1 w 194"/>
                <a:gd name="T43" fmla="*/ 1 h 234"/>
                <a:gd name="T44" fmla="*/ 1 w 194"/>
                <a:gd name="T45" fmla="*/ 1 h 234"/>
                <a:gd name="T46" fmla="*/ 1 w 194"/>
                <a:gd name="T47" fmla="*/ 1 h 234"/>
                <a:gd name="T48" fmla="*/ 1 w 194"/>
                <a:gd name="T49" fmla="*/ 1 h 234"/>
                <a:gd name="T50" fmla="*/ 1 w 194"/>
                <a:gd name="T51" fmla="*/ 1 h 234"/>
                <a:gd name="T52" fmla="*/ 1 w 194"/>
                <a:gd name="T53" fmla="*/ 1 h 234"/>
                <a:gd name="T54" fmla="*/ 1 w 194"/>
                <a:gd name="T55" fmla="*/ 1 h 234"/>
                <a:gd name="T56" fmla="*/ 1 w 194"/>
                <a:gd name="T57" fmla="*/ 1 h 234"/>
                <a:gd name="T58" fmla="*/ 1 w 194"/>
                <a:gd name="T59" fmla="*/ 1 h 234"/>
                <a:gd name="T60" fmla="*/ 1 w 194"/>
                <a:gd name="T61" fmla="*/ 1 h 234"/>
                <a:gd name="T62" fmla="*/ 1 w 194"/>
                <a:gd name="T63" fmla="*/ 1 h 234"/>
                <a:gd name="T64" fmla="*/ 1 w 194"/>
                <a:gd name="T65" fmla="*/ 1 h 234"/>
                <a:gd name="T66" fmla="*/ 1 w 194"/>
                <a:gd name="T67" fmla="*/ 1 h 234"/>
                <a:gd name="T68" fmla="*/ 1 w 194"/>
                <a:gd name="T69" fmla="*/ 1 h 234"/>
                <a:gd name="T70" fmla="*/ 1 w 194"/>
                <a:gd name="T71" fmla="*/ 1 h 234"/>
                <a:gd name="T72" fmla="*/ 1 w 194"/>
                <a:gd name="T73" fmla="*/ 1 h 234"/>
                <a:gd name="T74" fmla="*/ 1 w 194"/>
                <a:gd name="T75" fmla="*/ 1 h 234"/>
                <a:gd name="T76" fmla="*/ 1 w 194"/>
                <a:gd name="T77" fmla="*/ 1 h 234"/>
                <a:gd name="T78" fmla="*/ 1 w 194"/>
                <a:gd name="T79" fmla="*/ 1 h 234"/>
                <a:gd name="T80" fmla="*/ 1 w 194"/>
                <a:gd name="T81" fmla="*/ 1 h 234"/>
                <a:gd name="T82" fmla="*/ 1 w 194"/>
                <a:gd name="T83" fmla="*/ 1 h 234"/>
                <a:gd name="T84" fmla="*/ 1 w 194"/>
                <a:gd name="T85" fmla="*/ 1 h 234"/>
                <a:gd name="T86" fmla="*/ 1 w 194"/>
                <a:gd name="T87" fmla="*/ 1 h 234"/>
                <a:gd name="T88" fmla="*/ 1 w 194"/>
                <a:gd name="T89" fmla="*/ 1 h 234"/>
                <a:gd name="T90" fmla="*/ 1 w 194"/>
                <a:gd name="T91" fmla="*/ 1 h 234"/>
                <a:gd name="T92" fmla="*/ 1 w 194"/>
                <a:gd name="T93" fmla="*/ 1 h 234"/>
                <a:gd name="T94" fmla="*/ 1 w 194"/>
                <a:gd name="T95" fmla="*/ 1 h 234"/>
                <a:gd name="T96" fmla="*/ 1 w 194"/>
                <a:gd name="T97" fmla="*/ 1 h 234"/>
                <a:gd name="T98" fmla="*/ 1 w 194"/>
                <a:gd name="T99" fmla="*/ 1 h 234"/>
                <a:gd name="T100" fmla="*/ 1 w 194"/>
                <a:gd name="T101" fmla="*/ 1 h 234"/>
                <a:gd name="T102" fmla="*/ 1 w 194"/>
                <a:gd name="T103" fmla="*/ 1 h 234"/>
                <a:gd name="T104" fmla="*/ 1 w 194"/>
                <a:gd name="T105" fmla="*/ 1 h 234"/>
                <a:gd name="T106" fmla="*/ 1 w 194"/>
                <a:gd name="T107" fmla="*/ 1 h 234"/>
                <a:gd name="T108" fmla="*/ 1 w 194"/>
                <a:gd name="T109" fmla="*/ 0 h 23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94" h="234">
                  <a:moveTo>
                    <a:pt x="21" y="0"/>
                  </a:moveTo>
                  <a:lnTo>
                    <a:pt x="19" y="0"/>
                  </a:lnTo>
                  <a:lnTo>
                    <a:pt x="17" y="6"/>
                  </a:lnTo>
                  <a:lnTo>
                    <a:pt x="17" y="9"/>
                  </a:lnTo>
                  <a:lnTo>
                    <a:pt x="14" y="15"/>
                  </a:lnTo>
                  <a:lnTo>
                    <a:pt x="14" y="21"/>
                  </a:lnTo>
                  <a:lnTo>
                    <a:pt x="12" y="27"/>
                  </a:lnTo>
                  <a:lnTo>
                    <a:pt x="10" y="32"/>
                  </a:lnTo>
                  <a:lnTo>
                    <a:pt x="8" y="42"/>
                  </a:lnTo>
                  <a:lnTo>
                    <a:pt x="6" y="49"/>
                  </a:lnTo>
                  <a:lnTo>
                    <a:pt x="4" y="57"/>
                  </a:lnTo>
                  <a:lnTo>
                    <a:pt x="2" y="66"/>
                  </a:lnTo>
                  <a:lnTo>
                    <a:pt x="2" y="76"/>
                  </a:lnTo>
                  <a:lnTo>
                    <a:pt x="0" y="84"/>
                  </a:lnTo>
                  <a:lnTo>
                    <a:pt x="0" y="95"/>
                  </a:lnTo>
                  <a:lnTo>
                    <a:pt x="0" y="103"/>
                  </a:lnTo>
                  <a:lnTo>
                    <a:pt x="0" y="112"/>
                  </a:lnTo>
                  <a:lnTo>
                    <a:pt x="0" y="122"/>
                  </a:lnTo>
                  <a:lnTo>
                    <a:pt x="0" y="131"/>
                  </a:lnTo>
                  <a:lnTo>
                    <a:pt x="2" y="141"/>
                  </a:lnTo>
                  <a:lnTo>
                    <a:pt x="4" y="152"/>
                  </a:lnTo>
                  <a:lnTo>
                    <a:pt x="6" y="160"/>
                  </a:lnTo>
                  <a:lnTo>
                    <a:pt x="10" y="171"/>
                  </a:lnTo>
                  <a:lnTo>
                    <a:pt x="14" y="179"/>
                  </a:lnTo>
                  <a:lnTo>
                    <a:pt x="17" y="188"/>
                  </a:lnTo>
                  <a:lnTo>
                    <a:pt x="23" y="196"/>
                  </a:lnTo>
                  <a:lnTo>
                    <a:pt x="31" y="205"/>
                  </a:lnTo>
                  <a:lnTo>
                    <a:pt x="36" y="211"/>
                  </a:lnTo>
                  <a:lnTo>
                    <a:pt x="46" y="218"/>
                  </a:lnTo>
                  <a:lnTo>
                    <a:pt x="50" y="220"/>
                  </a:lnTo>
                  <a:lnTo>
                    <a:pt x="55" y="224"/>
                  </a:lnTo>
                  <a:lnTo>
                    <a:pt x="61" y="228"/>
                  </a:lnTo>
                  <a:lnTo>
                    <a:pt x="67" y="232"/>
                  </a:lnTo>
                  <a:lnTo>
                    <a:pt x="71" y="232"/>
                  </a:lnTo>
                  <a:lnTo>
                    <a:pt x="74" y="232"/>
                  </a:lnTo>
                  <a:lnTo>
                    <a:pt x="80" y="234"/>
                  </a:lnTo>
                  <a:lnTo>
                    <a:pt x="88" y="234"/>
                  </a:lnTo>
                  <a:lnTo>
                    <a:pt x="95" y="234"/>
                  </a:lnTo>
                  <a:lnTo>
                    <a:pt x="105" y="234"/>
                  </a:lnTo>
                  <a:lnTo>
                    <a:pt x="114" y="234"/>
                  </a:lnTo>
                  <a:lnTo>
                    <a:pt x="118" y="232"/>
                  </a:lnTo>
                  <a:lnTo>
                    <a:pt x="124" y="230"/>
                  </a:lnTo>
                  <a:lnTo>
                    <a:pt x="130" y="230"/>
                  </a:lnTo>
                  <a:lnTo>
                    <a:pt x="135" y="228"/>
                  </a:lnTo>
                  <a:lnTo>
                    <a:pt x="139" y="226"/>
                  </a:lnTo>
                  <a:lnTo>
                    <a:pt x="145" y="226"/>
                  </a:lnTo>
                  <a:lnTo>
                    <a:pt x="150" y="224"/>
                  </a:lnTo>
                  <a:lnTo>
                    <a:pt x="156" y="222"/>
                  </a:lnTo>
                  <a:lnTo>
                    <a:pt x="160" y="218"/>
                  </a:lnTo>
                  <a:lnTo>
                    <a:pt x="166" y="215"/>
                  </a:lnTo>
                  <a:lnTo>
                    <a:pt x="169" y="213"/>
                  </a:lnTo>
                  <a:lnTo>
                    <a:pt x="175" y="211"/>
                  </a:lnTo>
                  <a:lnTo>
                    <a:pt x="185" y="201"/>
                  </a:lnTo>
                  <a:lnTo>
                    <a:pt x="194" y="194"/>
                  </a:lnTo>
                  <a:lnTo>
                    <a:pt x="194" y="190"/>
                  </a:lnTo>
                  <a:lnTo>
                    <a:pt x="192" y="188"/>
                  </a:lnTo>
                  <a:lnTo>
                    <a:pt x="188" y="184"/>
                  </a:lnTo>
                  <a:lnTo>
                    <a:pt x="187" y="184"/>
                  </a:lnTo>
                  <a:lnTo>
                    <a:pt x="185" y="186"/>
                  </a:lnTo>
                  <a:lnTo>
                    <a:pt x="181" y="190"/>
                  </a:lnTo>
                  <a:lnTo>
                    <a:pt x="177" y="194"/>
                  </a:lnTo>
                  <a:lnTo>
                    <a:pt x="169" y="198"/>
                  </a:lnTo>
                  <a:lnTo>
                    <a:pt x="162" y="201"/>
                  </a:lnTo>
                  <a:lnTo>
                    <a:pt x="156" y="203"/>
                  </a:lnTo>
                  <a:lnTo>
                    <a:pt x="150" y="205"/>
                  </a:lnTo>
                  <a:lnTo>
                    <a:pt x="145" y="207"/>
                  </a:lnTo>
                  <a:lnTo>
                    <a:pt x="139" y="209"/>
                  </a:lnTo>
                  <a:lnTo>
                    <a:pt x="131" y="211"/>
                  </a:lnTo>
                  <a:lnTo>
                    <a:pt x="124" y="211"/>
                  </a:lnTo>
                  <a:lnTo>
                    <a:pt x="114" y="211"/>
                  </a:lnTo>
                  <a:lnTo>
                    <a:pt x="107" y="211"/>
                  </a:lnTo>
                  <a:lnTo>
                    <a:pt x="97" y="209"/>
                  </a:lnTo>
                  <a:lnTo>
                    <a:pt x="90" y="207"/>
                  </a:lnTo>
                  <a:lnTo>
                    <a:pt x="80" y="205"/>
                  </a:lnTo>
                  <a:lnTo>
                    <a:pt x="71" y="201"/>
                  </a:lnTo>
                  <a:lnTo>
                    <a:pt x="63" y="196"/>
                  </a:lnTo>
                  <a:lnTo>
                    <a:pt x="55" y="190"/>
                  </a:lnTo>
                  <a:lnTo>
                    <a:pt x="48" y="184"/>
                  </a:lnTo>
                  <a:lnTo>
                    <a:pt x="42" y="177"/>
                  </a:lnTo>
                  <a:lnTo>
                    <a:pt x="38" y="171"/>
                  </a:lnTo>
                  <a:lnTo>
                    <a:pt x="36" y="165"/>
                  </a:lnTo>
                  <a:lnTo>
                    <a:pt x="34" y="160"/>
                  </a:lnTo>
                  <a:lnTo>
                    <a:pt x="33" y="154"/>
                  </a:lnTo>
                  <a:lnTo>
                    <a:pt x="31" y="148"/>
                  </a:lnTo>
                  <a:lnTo>
                    <a:pt x="29" y="142"/>
                  </a:lnTo>
                  <a:lnTo>
                    <a:pt x="29" y="135"/>
                  </a:lnTo>
                  <a:lnTo>
                    <a:pt x="29" y="129"/>
                  </a:lnTo>
                  <a:lnTo>
                    <a:pt x="27" y="122"/>
                  </a:lnTo>
                  <a:lnTo>
                    <a:pt x="27" y="114"/>
                  </a:lnTo>
                  <a:lnTo>
                    <a:pt x="27" y="106"/>
                  </a:lnTo>
                  <a:lnTo>
                    <a:pt x="27" y="103"/>
                  </a:lnTo>
                  <a:lnTo>
                    <a:pt x="27" y="95"/>
                  </a:lnTo>
                  <a:lnTo>
                    <a:pt x="29" y="89"/>
                  </a:lnTo>
                  <a:lnTo>
                    <a:pt x="29" y="84"/>
                  </a:lnTo>
                  <a:lnTo>
                    <a:pt x="29" y="78"/>
                  </a:lnTo>
                  <a:lnTo>
                    <a:pt x="29" y="72"/>
                  </a:lnTo>
                  <a:lnTo>
                    <a:pt x="29" y="66"/>
                  </a:lnTo>
                  <a:lnTo>
                    <a:pt x="31" y="61"/>
                  </a:lnTo>
                  <a:lnTo>
                    <a:pt x="31" y="57"/>
                  </a:lnTo>
                  <a:lnTo>
                    <a:pt x="33" y="49"/>
                  </a:lnTo>
                  <a:lnTo>
                    <a:pt x="34" y="42"/>
                  </a:lnTo>
                  <a:lnTo>
                    <a:pt x="34" y="32"/>
                  </a:lnTo>
                  <a:lnTo>
                    <a:pt x="36" y="27"/>
                  </a:lnTo>
                  <a:lnTo>
                    <a:pt x="38" y="23"/>
                  </a:lnTo>
                  <a:lnTo>
                    <a:pt x="40" y="19"/>
                  </a:lnTo>
                  <a:lnTo>
                    <a:pt x="40" y="13"/>
                  </a:lnTo>
                  <a:lnTo>
                    <a:pt x="42" y="11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0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18" name="Freeform 17"/>
            <p:cNvSpPr>
              <a:spLocks/>
            </p:cNvSpPr>
            <p:nvPr/>
          </p:nvSpPr>
          <p:spPr bwMode="auto">
            <a:xfrm>
              <a:off x="5054" y="3303"/>
              <a:ext cx="49" cy="17"/>
            </a:xfrm>
            <a:custGeom>
              <a:avLst/>
              <a:gdLst>
                <a:gd name="T0" fmla="*/ 1 w 98"/>
                <a:gd name="T1" fmla="*/ 1 h 32"/>
                <a:gd name="T2" fmla="*/ 1 w 98"/>
                <a:gd name="T3" fmla="*/ 1 h 32"/>
                <a:gd name="T4" fmla="*/ 1 w 98"/>
                <a:gd name="T5" fmla="*/ 1 h 32"/>
                <a:gd name="T6" fmla="*/ 1 w 98"/>
                <a:gd name="T7" fmla="*/ 1 h 32"/>
                <a:gd name="T8" fmla="*/ 1 w 98"/>
                <a:gd name="T9" fmla="*/ 1 h 32"/>
                <a:gd name="T10" fmla="*/ 1 w 98"/>
                <a:gd name="T11" fmla="*/ 1 h 32"/>
                <a:gd name="T12" fmla="*/ 1 w 98"/>
                <a:gd name="T13" fmla="*/ 1 h 32"/>
                <a:gd name="T14" fmla="*/ 1 w 98"/>
                <a:gd name="T15" fmla="*/ 1 h 32"/>
                <a:gd name="T16" fmla="*/ 1 w 98"/>
                <a:gd name="T17" fmla="*/ 1 h 32"/>
                <a:gd name="T18" fmla="*/ 1 w 98"/>
                <a:gd name="T19" fmla="*/ 1 h 32"/>
                <a:gd name="T20" fmla="*/ 1 w 98"/>
                <a:gd name="T21" fmla="*/ 1 h 32"/>
                <a:gd name="T22" fmla="*/ 1 w 98"/>
                <a:gd name="T23" fmla="*/ 1 h 32"/>
                <a:gd name="T24" fmla="*/ 1 w 98"/>
                <a:gd name="T25" fmla="*/ 1 h 32"/>
                <a:gd name="T26" fmla="*/ 1 w 98"/>
                <a:gd name="T27" fmla="*/ 1 h 32"/>
                <a:gd name="T28" fmla="*/ 1 w 98"/>
                <a:gd name="T29" fmla="*/ 1 h 32"/>
                <a:gd name="T30" fmla="*/ 1 w 98"/>
                <a:gd name="T31" fmla="*/ 1 h 32"/>
                <a:gd name="T32" fmla="*/ 1 w 98"/>
                <a:gd name="T33" fmla="*/ 1 h 32"/>
                <a:gd name="T34" fmla="*/ 1 w 98"/>
                <a:gd name="T35" fmla="*/ 0 h 32"/>
                <a:gd name="T36" fmla="*/ 1 w 98"/>
                <a:gd name="T37" fmla="*/ 1 h 32"/>
                <a:gd name="T38" fmla="*/ 1 w 98"/>
                <a:gd name="T39" fmla="*/ 1 h 32"/>
                <a:gd name="T40" fmla="*/ 1 w 98"/>
                <a:gd name="T41" fmla="*/ 1 h 32"/>
                <a:gd name="T42" fmla="*/ 1 w 98"/>
                <a:gd name="T43" fmla="*/ 1 h 32"/>
                <a:gd name="T44" fmla="*/ 1 w 98"/>
                <a:gd name="T45" fmla="*/ 1 h 32"/>
                <a:gd name="T46" fmla="*/ 1 w 98"/>
                <a:gd name="T47" fmla="*/ 1 h 32"/>
                <a:gd name="T48" fmla="*/ 1 w 98"/>
                <a:gd name="T49" fmla="*/ 1 h 32"/>
                <a:gd name="T50" fmla="*/ 1 w 98"/>
                <a:gd name="T51" fmla="*/ 1 h 32"/>
                <a:gd name="T52" fmla="*/ 1 w 98"/>
                <a:gd name="T53" fmla="*/ 1 h 32"/>
                <a:gd name="T54" fmla="*/ 1 w 98"/>
                <a:gd name="T55" fmla="*/ 1 h 32"/>
                <a:gd name="T56" fmla="*/ 1 w 98"/>
                <a:gd name="T57" fmla="*/ 1 h 32"/>
                <a:gd name="T58" fmla="*/ 1 w 98"/>
                <a:gd name="T59" fmla="*/ 1 h 32"/>
                <a:gd name="T60" fmla="*/ 1 w 98"/>
                <a:gd name="T61" fmla="*/ 1 h 32"/>
                <a:gd name="T62" fmla="*/ 1 w 98"/>
                <a:gd name="T63" fmla="*/ 1 h 32"/>
                <a:gd name="T64" fmla="*/ 1 w 98"/>
                <a:gd name="T65" fmla="*/ 1 h 32"/>
                <a:gd name="T66" fmla="*/ 1 w 98"/>
                <a:gd name="T67" fmla="*/ 1 h 32"/>
                <a:gd name="T68" fmla="*/ 1 w 98"/>
                <a:gd name="T69" fmla="*/ 1 h 32"/>
                <a:gd name="T70" fmla="*/ 1 w 98"/>
                <a:gd name="T71" fmla="*/ 1 h 32"/>
                <a:gd name="T72" fmla="*/ 0 w 98"/>
                <a:gd name="T73" fmla="*/ 0 h 32"/>
                <a:gd name="T74" fmla="*/ 0 w 98"/>
                <a:gd name="T75" fmla="*/ 0 h 32"/>
                <a:gd name="T76" fmla="*/ 1 w 98"/>
                <a:gd name="T77" fmla="*/ 1 h 32"/>
                <a:gd name="T78" fmla="*/ 1 w 98"/>
                <a:gd name="T79" fmla="*/ 1 h 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98" h="32">
                  <a:moveTo>
                    <a:pt x="3" y="17"/>
                  </a:moveTo>
                  <a:lnTo>
                    <a:pt x="3" y="19"/>
                  </a:lnTo>
                  <a:lnTo>
                    <a:pt x="9" y="23"/>
                  </a:lnTo>
                  <a:lnTo>
                    <a:pt x="13" y="23"/>
                  </a:lnTo>
                  <a:lnTo>
                    <a:pt x="19" y="27"/>
                  </a:lnTo>
                  <a:lnTo>
                    <a:pt x="22" y="28"/>
                  </a:lnTo>
                  <a:lnTo>
                    <a:pt x="30" y="28"/>
                  </a:lnTo>
                  <a:lnTo>
                    <a:pt x="36" y="30"/>
                  </a:lnTo>
                  <a:lnTo>
                    <a:pt x="43" y="32"/>
                  </a:lnTo>
                  <a:lnTo>
                    <a:pt x="51" y="32"/>
                  </a:lnTo>
                  <a:lnTo>
                    <a:pt x="60" y="32"/>
                  </a:lnTo>
                  <a:lnTo>
                    <a:pt x="68" y="28"/>
                  </a:lnTo>
                  <a:lnTo>
                    <a:pt x="78" y="27"/>
                  </a:lnTo>
                  <a:lnTo>
                    <a:pt x="83" y="25"/>
                  </a:lnTo>
                  <a:lnTo>
                    <a:pt x="87" y="23"/>
                  </a:lnTo>
                  <a:lnTo>
                    <a:pt x="93" y="19"/>
                  </a:lnTo>
                  <a:lnTo>
                    <a:pt x="98" y="17"/>
                  </a:lnTo>
                  <a:lnTo>
                    <a:pt x="91" y="0"/>
                  </a:lnTo>
                  <a:lnTo>
                    <a:pt x="89" y="2"/>
                  </a:lnTo>
                  <a:lnTo>
                    <a:pt x="87" y="6"/>
                  </a:lnTo>
                  <a:lnTo>
                    <a:pt x="81" y="9"/>
                  </a:lnTo>
                  <a:lnTo>
                    <a:pt x="76" y="11"/>
                  </a:lnTo>
                  <a:lnTo>
                    <a:pt x="72" y="13"/>
                  </a:lnTo>
                  <a:lnTo>
                    <a:pt x="68" y="15"/>
                  </a:lnTo>
                  <a:lnTo>
                    <a:pt x="64" y="15"/>
                  </a:lnTo>
                  <a:lnTo>
                    <a:pt x="59" y="17"/>
                  </a:lnTo>
                  <a:lnTo>
                    <a:pt x="53" y="17"/>
                  </a:lnTo>
                  <a:lnTo>
                    <a:pt x="47" y="17"/>
                  </a:lnTo>
                  <a:lnTo>
                    <a:pt x="41" y="17"/>
                  </a:lnTo>
                  <a:lnTo>
                    <a:pt x="36" y="15"/>
                  </a:lnTo>
                  <a:lnTo>
                    <a:pt x="30" y="13"/>
                  </a:lnTo>
                  <a:lnTo>
                    <a:pt x="24" y="11"/>
                  </a:lnTo>
                  <a:lnTo>
                    <a:pt x="20" y="9"/>
                  </a:lnTo>
                  <a:lnTo>
                    <a:pt x="17" y="9"/>
                  </a:lnTo>
                  <a:lnTo>
                    <a:pt x="9" y="6"/>
                  </a:lnTo>
                  <a:lnTo>
                    <a:pt x="3" y="2"/>
                  </a:lnTo>
                  <a:lnTo>
                    <a:pt x="0" y="0"/>
                  </a:lnTo>
                  <a:lnTo>
                    <a:pt x="3" y="17"/>
                  </a:lnTo>
                  <a:close/>
                </a:path>
              </a:pathLst>
            </a:custGeom>
            <a:solidFill>
              <a:srgbClr val="00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auto">
            <a:xfrm>
              <a:off x="5046" y="3251"/>
              <a:ext cx="31" cy="32"/>
            </a:xfrm>
            <a:custGeom>
              <a:avLst/>
              <a:gdLst>
                <a:gd name="T0" fmla="*/ 1 w 61"/>
                <a:gd name="T1" fmla="*/ 1 h 63"/>
                <a:gd name="T2" fmla="*/ 1 w 61"/>
                <a:gd name="T3" fmla="*/ 1 h 63"/>
                <a:gd name="T4" fmla="*/ 1 w 61"/>
                <a:gd name="T5" fmla="*/ 1 h 63"/>
                <a:gd name="T6" fmla="*/ 1 w 61"/>
                <a:gd name="T7" fmla="*/ 1 h 63"/>
                <a:gd name="T8" fmla="*/ 1 w 61"/>
                <a:gd name="T9" fmla="*/ 1 h 63"/>
                <a:gd name="T10" fmla="*/ 1 w 61"/>
                <a:gd name="T11" fmla="*/ 1 h 63"/>
                <a:gd name="T12" fmla="*/ 1 w 61"/>
                <a:gd name="T13" fmla="*/ 1 h 63"/>
                <a:gd name="T14" fmla="*/ 1 w 61"/>
                <a:gd name="T15" fmla="*/ 1 h 63"/>
                <a:gd name="T16" fmla="*/ 1 w 61"/>
                <a:gd name="T17" fmla="*/ 1 h 63"/>
                <a:gd name="T18" fmla="*/ 1 w 61"/>
                <a:gd name="T19" fmla="*/ 1 h 63"/>
                <a:gd name="T20" fmla="*/ 1 w 61"/>
                <a:gd name="T21" fmla="*/ 1 h 63"/>
                <a:gd name="T22" fmla="*/ 1 w 61"/>
                <a:gd name="T23" fmla="*/ 1 h 63"/>
                <a:gd name="T24" fmla="*/ 1 w 61"/>
                <a:gd name="T25" fmla="*/ 1 h 63"/>
                <a:gd name="T26" fmla="*/ 1 w 61"/>
                <a:gd name="T27" fmla="*/ 1 h 63"/>
                <a:gd name="T28" fmla="*/ 1 w 61"/>
                <a:gd name="T29" fmla="*/ 1 h 63"/>
                <a:gd name="T30" fmla="*/ 1 w 61"/>
                <a:gd name="T31" fmla="*/ 0 h 63"/>
                <a:gd name="T32" fmla="*/ 1 w 61"/>
                <a:gd name="T33" fmla="*/ 0 h 63"/>
                <a:gd name="T34" fmla="*/ 1 w 61"/>
                <a:gd name="T35" fmla="*/ 0 h 63"/>
                <a:gd name="T36" fmla="*/ 1 w 61"/>
                <a:gd name="T37" fmla="*/ 1 h 63"/>
                <a:gd name="T38" fmla="*/ 1 w 61"/>
                <a:gd name="T39" fmla="*/ 1 h 63"/>
                <a:gd name="T40" fmla="*/ 1 w 61"/>
                <a:gd name="T41" fmla="*/ 1 h 63"/>
                <a:gd name="T42" fmla="*/ 1 w 61"/>
                <a:gd name="T43" fmla="*/ 1 h 63"/>
                <a:gd name="T44" fmla="*/ 1 w 61"/>
                <a:gd name="T45" fmla="*/ 1 h 63"/>
                <a:gd name="T46" fmla="*/ 0 w 61"/>
                <a:gd name="T47" fmla="*/ 1 h 63"/>
                <a:gd name="T48" fmla="*/ 0 w 61"/>
                <a:gd name="T49" fmla="*/ 1 h 63"/>
                <a:gd name="T50" fmla="*/ 0 w 61"/>
                <a:gd name="T51" fmla="*/ 1 h 63"/>
                <a:gd name="T52" fmla="*/ 1 w 61"/>
                <a:gd name="T53" fmla="*/ 1 h 63"/>
                <a:gd name="T54" fmla="*/ 1 w 61"/>
                <a:gd name="T55" fmla="*/ 1 h 63"/>
                <a:gd name="T56" fmla="*/ 1 w 61"/>
                <a:gd name="T57" fmla="*/ 1 h 63"/>
                <a:gd name="T58" fmla="*/ 1 w 61"/>
                <a:gd name="T59" fmla="*/ 1 h 63"/>
                <a:gd name="T60" fmla="*/ 1 w 61"/>
                <a:gd name="T61" fmla="*/ 1 h 63"/>
                <a:gd name="T62" fmla="*/ 1 w 61"/>
                <a:gd name="T63" fmla="*/ 1 h 63"/>
                <a:gd name="T64" fmla="*/ 1 w 61"/>
                <a:gd name="T65" fmla="*/ 1 h 63"/>
                <a:gd name="T66" fmla="*/ 1 w 61"/>
                <a:gd name="T67" fmla="*/ 1 h 6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1" h="63">
                  <a:moveTo>
                    <a:pt x="31" y="63"/>
                  </a:moveTo>
                  <a:lnTo>
                    <a:pt x="35" y="61"/>
                  </a:lnTo>
                  <a:lnTo>
                    <a:pt x="42" y="59"/>
                  </a:lnTo>
                  <a:lnTo>
                    <a:pt x="46" y="56"/>
                  </a:lnTo>
                  <a:lnTo>
                    <a:pt x="52" y="54"/>
                  </a:lnTo>
                  <a:lnTo>
                    <a:pt x="56" y="48"/>
                  </a:lnTo>
                  <a:lnTo>
                    <a:pt x="57" y="42"/>
                  </a:lnTo>
                  <a:lnTo>
                    <a:pt x="59" y="37"/>
                  </a:lnTo>
                  <a:lnTo>
                    <a:pt x="61" y="31"/>
                  </a:lnTo>
                  <a:lnTo>
                    <a:pt x="59" y="25"/>
                  </a:lnTo>
                  <a:lnTo>
                    <a:pt x="57" y="19"/>
                  </a:lnTo>
                  <a:lnTo>
                    <a:pt x="56" y="12"/>
                  </a:lnTo>
                  <a:lnTo>
                    <a:pt x="52" y="8"/>
                  </a:lnTo>
                  <a:lnTo>
                    <a:pt x="46" y="4"/>
                  </a:lnTo>
                  <a:lnTo>
                    <a:pt x="42" y="2"/>
                  </a:lnTo>
                  <a:lnTo>
                    <a:pt x="35" y="0"/>
                  </a:lnTo>
                  <a:lnTo>
                    <a:pt x="31" y="0"/>
                  </a:lnTo>
                  <a:lnTo>
                    <a:pt x="23" y="0"/>
                  </a:lnTo>
                  <a:lnTo>
                    <a:pt x="17" y="2"/>
                  </a:lnTo>
                  <a:lnTo>
                    <a:pt x="12" y="4"/>
                  </a:lnTo>
                  <a:lnTo>
                    <a:pt x="8" y="8"/>
                  </a:lnTo>
                  <a:lnTo>
                    <a:pt x="4" y="12"/>
                  </a:lnTo>
                  <a:lnTo>
                    <a:pt x="2" y="19"/>
                  </a:lnTo>
                  <a:lnTo>
                    <a:pt x="0" y="25"/>
                  </a:lnTo>
                  <a:lnTo>
                    <a:pt x="0" y="31"/>
                  </a:lnTo>
                  <a:lnTo>
                    <a:pt x="0" y="37"/>
                  </a:lnTo>
                  <a:lnTo>
                    <a:pt x="2" y="42"/>
                  </a:lnTo>
                  <a:lnTo>
                    <a:pt x="4" y="48"/>
                  </a:lnTo>
                  <a:lnTo>
                    <a:pt x="8" y="54"/>
                  </a:lnTo>
                  <a:lnTo>
                    <a:pt x="12" y="56"/>
                  </a:lnTo>
                  <a:lnTo>
                    <a:pt x="17" y="59"/>
                  </a:lnTo>
                  <a:lnTo>
                    <a:pt x="23" y="61"/>
                  </a:lnTo>
                  <a:lnTo>
                    <a:pt x="31" y="63"/>
                  </a:lnTo>
                  <a:close/>
                </a:path>
              </a:pathLst>
            </a:custGeom>
            <a:solidFill>
              <a:srgbClr val="00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5087" y="3254"/>
              <a:ext cx="31" cy="30"/>
            </a:xfrm>
            <a:custGeom>
              <a:avLst/>
              <a:gdLst>
                <a:gd name="T0" fmla="*/ 0 w 63"/>
                <a:gd name="T1" fmla="*/ 0 h 61"/>
                <a:gd name="T2" fmla="*/ 0 w 63"/>
                <a:gd name="T3" fmla="*/ 0 h 61"/>
                <a:gd name="T4" fmla="*/ 0 w 63"/>
                <a:gd name="T5" fmla="*/ 0 h 61"/>
                <a:gd name="T6" fmla="*/ 0 w 63"/>
                <a:gd name="T7" fmla="*/ 0 h 61"/>
                <a:gd name="T8" fmla="*/ 0 w 63"/>
                <a:gd name="T9" fmla="*/ 0 h 61"/>
                <a:gd name="T10" fmla="*/ 0 w 63"/>
                <a:gd name="T11" fmla="*/ 0 h 61"/>
                <a:gd name="T12" fmla="*/ 0 w 63"/>
                <a:gd name="T13" fmla="*/ 0 h 61"/>
                <a:gd name="T14" fmla="*/ 0 w 63"/>
                <a:gd name="T15" fmla="*/ 0 h 61"/>
                <a:gd name="T16" fmla="*/ 0 w 63"/>
                <a:gd name="T17" fmla="*/ 0 h 61"/>
                <a:gd name="T18" fmla="*/ 0 w 63"/>
                <a:gd name="T19" fmla="*/ 0 h 61"/>
                <a:gd name="T20" fmla="*/ 0 w 63"/>
                <a:gd name="T21" fmla="*/ 0 h 61"/>
                <a:gd name="T22" fmla="*/ 0 w 63"/>
                <a:gd name="T23" fmla="*/ 0 h 61"/>
                <a:gd name="T24" fmla="*/ 0 w 63"/>
                <a:gd name="T25" fmla="*/ 0 h 61"/>
                <a:gd name="T26" fmla="*/ 0 w 63"/>
                <a:gd name="T27" fmla="*/ 0 h 61"/>
                <a:gd name="T28" fmla="*/ 0 w 63"/>
                <a:gd name="T29" fmla="*/ 0 h 61"/>
                <a:gd name="T30" fmla="*/ 0 w 63"/>
                <a:gd name="T31" fmla="*/ 0 h 61"/>
                <a:gd name="T32" fmla="*/ 0 w 63"/>
                <a:gd name="T33" fmla="*/ 0 h 61"/>
                <a:gd name="T34" fmla="*/ 0 w 63"/>
                <a:gd name="T35" fmla="*/ 0 h 61"/>
                <a:gd name="T36" fmla="*/ 0 w 63"/>
                <a:gd name="T37" fmla="*/ 0 h 61"/>
                <a:gd name="T38" fmla="*/ 0 w 63"/>
                <a:gd name="T39" fmla="*/ 0 h 61"/>
                <a:gd name="T40" fmla="*/ 0 w 63"/>
                <a:gd name="T41" fmla="*/ 0 h 61"/>
                <a:gd name="T42" fmla="*/ 0 w 63"/>
                <a:gd name="T43" fmla="*/ 0 h 61"/>
                <a:gd name="T44" fmla="*/ 0 w 63"/>
                <a:gd name="T45" fmla="*/ 0 h 61"/>
                <a:gd name="T46" fmla="*/ 0 w 63"/>
                <a:gd name="T47" fmla="*/ 0 h 61"/>
                <a:gd name="T48" fmla="*/ 0 w 63"/>
                <a:gd name="T49" fmla="*/ 0 h 61"/>
                <a:gd name="T50" fmla="*/ 0 w 63"/>
                <a:gd name="T51" fmla="*/ 0 h 61"/>
                <a:gd name="T52" fmla="*/ 0 w 63"/>
                <a:gd name="T53" fmla="*/ 0 h 61"/>
                <a:gd name="T54" fmla="*/ 0 w 63"/>
                <a:gd name="T55" fmla="*/ 0 h 61"/>
                <a:gd name="T56" fmla="*/ 0 w 63"/>
                <a:gd name="T57" fmla="*/ 0 h 61"/>
                <a:gd name="T58" fmla="*/ 0 w 63"/>
                <a:gd name="T59" fmla="*/ 0 h 61"/>
                <a:gd name="T60" fmla="*/ 0 w 63"/>
                <a:gd name="T61" fmla="*/ 0 h 61"/>
                <a:gd name="T62" fmla="*/ 0 w 63"/>
                <a:gd name="T63" fmla="*/ 0 h 61"/>
                <a:gd name="T64" fmla="*/ 0 w 63"/>
                <a:gd name="T65" fmla="*/ 0 h 61"/>
                <a:gd name="T66" fmla="*/ 0 w 63"/>
                <a:gd name="T67" fmla="*/ 0 h 6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3" h="61">
                  <a:moveTo>
                    <a:pt x="32" y="61"/>
                  </a:moveTo>
                  <a:lnTo>
                    <a:pt x="38" y="59"/>
                  </a:lnTo>
                  <a:lnTo>
                    <a:pt x="44" y="57"/>
                  </a:lnTo>
                  <a:lnTo>
                    <a:pt x="50" y="53"/>
                  </a:lnTo>
                  <a:lnTo>
                    <a:pt x="53" y="51"/>
                  </a:lnTo>
                  <a:lnTo>
                    <a:pt x="57" y="46"/>
                  </a:lnTo>
                  <a:lnTo>
                    <a:pt x="61" y="42"/>
                  </a:lnTo>
                  <a:lnTo>
                    <a:pt x="63" y="36"/>
                  </a:lnTo>
                  <a:lnTo>
                    <a:pt x="63" y="31"/>
                  </a:lnTo>
                  <a:lnTo>
                    <a:pt x="63" y="25"/>
                  </a:lnTo>
                  <a:lnTo>
                    <a:pt x="61" y="19"/>
                  </a:lnTo>
                  <a:lnTo>
                    <a:pt x="57" y="13"/>
                  </a:lnTo>
                  <a:lnTo>
                    <a:pt x="53" y="8"/>
                  </a:lnTo>
                  <a:lnTo>
                    <a:pt x="50" y="4"/>
                  </a:lnTo>
                  <a:lnTo>
                    <a:pt x="44" y="0"/>
                  </a:lnTo>
                  <a:lnTo>
                    <a:pt x="38" y="0"/>
                  </a:lnTo>
                  <a:lnTo>
                    <a:pt x="32" y="0"/>
                  </a:lnTo>
                  <a:lnTo>
                    <a:pt x="25" y="0"/>
                  </a:lnTo>
                  <a:lnTo>
                    <a:pt x="21" y="0"/>
                  </a:lnTo>
                  <a:lnTo>
                    <a:pt x="15" y="4"/>
                  </a:lnTo>
                  <a:lnTo>
                    <a:pt x="10" y="8"/>
                  </a:lnTo>
                  <a:lnTo>
                    <a:pt x="6" y="13"/>
                  </a:lnTo>
                  <a:lnTo>
                    <a:pt x="2" y="19"/>
                  </a:lnTo>
                  <a:lnTo>
                    <a:pt x="0" y="25"/>
                  </a:lnTo>
                  <a:lnTo>
                    <a:pt x="0" y="31"/>
                  </a:lnTo>
                  <a:lnTo>
                    <a:pt x="0" y="36"/>
                  </a:lnTo>
                  <a:lnTo>
                    <a:pt x="2" y="42"/>
                  </a:lnTo>
                  <a:lnTo>
                    <a:pt x="6" y="46"/>
                  </a:lnTo>
                  <a:lnTo>
                    <a:pt x="10" y="51"/>
                  </a:lnTo>
                  <a:lnTo>
                    <a:pt x="15" y="53"/>
                  </a:lnTo>
                  <a:lnTo>
                    <a:pt x="21" y="57"/>
                  </a:lnTo>
                  <a:lnTo>
                    <a:pt x="25" y="59"/>
                  </a:lnTo>
                  <a:lnTo>
                    <a:pt x="32" y="61"/>
                  </a:lnTo>
                  <a:close/>
                </a:path>
              </a:pathLst>
            </a:custGeom>
            <a:solidFill>
              <a:srgbClr val="00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auto">
            <a:xfrm>
              <a:off x="5097" y="3262"/>
              <a:ext cx="14" cy="15"/>
            </a:xfrm>
            <a:custGeom>
              <a:avLst/>
              <a:gdLst>
                <a:gd name="T0" fmla="*/ 0 w 29"/>
                <a:gd name="T1" fmla="*/ 0 h 31"/>
                <a:gd name="T2" fmla="*/ 0 w 29"/>
                <a:gd name="T3" fmla="*/ 0 h 31"/>
                <a:gd name="T4" fmla="*/ 0 w 29"/>
                <a:gd name="T5" fmla="*/ 0 h 31"/>
                <a:gd name="T6" fmla="*/ 0 w 29"/>
                <a:gd name="T7" fmla="*/ 0 h 31"/>
                <a:gd name="T8" fmla="*/ 0 w 29"/>
                <a:gd name="T9" fmla="*/ 0 h 31"/>
                <a:gd name="T10" fmla="*/ 0 w 29"/>
                <a:gd name="T11" fmla="*/ 0 h 31"/>
                <a:gd name="T12" fmla="*/ 0 w 29"/>
                <a:gd name="T13" fmla="*/ 0 h 31"/>
                <a:gd name="T14" fmla="*/ 0 w 29"/>
                <a:gd name="T15" fmla="*/ 0 h 31"/>
                <a:gd name="T16" fmla="*/ 0 w 29"/>
                <a:gd name="T17" fmla="*/ 0 h 31"/>
                <a:gd name="T18" fmla="*/ 0 w 29"/>
                <a:gd name="T19" fmla="*/ 0 h 31"/>
                <a:gd name="T20" fmla="*/ 0 w 29"/>
                <a:gd name="T21" fmla="*/ 0 h 31"/>
                <a:gd name="T22" fmla="*/ 0 w 29"/>
                <a:gd name="T23" fmla="*/ 0 h 31"/>
                <a:gd name="T24" fmla="*/ 0 w 29"/>
                <a:gd name="T25" fmla="*/ 0 h 31"/>
                <a:gd name="T26" fmla="*/ 0 w 29"/>
                <a:gd name="T27" fmla="*/ 0 h 31"/>
                <a:gd name="T28" fmla="*/ 0 w 29"/>
                <a:gd name="T29" fmla="*/ 0 h 31"/>
                <a:gd name="T30" fmla="*/ 0 w 29"/>
                <a:gd name="T31" fmla="*/ 0 h 31"/>
                <a:gd name="T32" fmla="*/ 0 w 29"/>
                <a:gd name="T33" fmla="*/ 0 h 31"/>
                <a:gd name="T34" fmla="*/ 0 w 29"/>
                <a:gd name="T35" fmla="*/ 0 h 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9" h="31">
                  <a:moveTo>
                    <a:pt x="13" y="31"/>
                  </a:moveTo>
                  <a:lnTo>
                    <a:pt x="19" y="29"/>
                  </a:lnTo>
                  <a:lnTo>
                    <a:pt x="25" y="25"/>
                  </a:lnTo>
                  <a:lnTo>
                    <a:pt x="27" y="19"/>
                  </a:lnTo>
                  <a:lnTo>
                    <a:pt x="29" y="16"/>
                  </a:lnTo>
                  <a:lnTo>
                    <a:pt x="27" y="8"/>
                  </a:lnTo>
                  <a:lnTo>
                    <a:pt x="25" y="4"/>
                  </a:lnTo>
                  <a:lnTo>
                    <a:pt x="19" y="0"/>
                  </a:lnTo>
                  <a:lnTo>
                    <a:pt x="13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4" y="25"/>
                  </a:lnTo>
                  <a:lnTo>
                    <a:pt x="8" y="29"/>
                  </a:lnTo>
                  <a:lnTo>
                    <a:pt x="13" y="31"/>
                  </a:lnTo>
                  <a:close/>
                </a:path>
              </a:pathLst>
            </a:custGeom>
            <a:solidFill>
              <a:srgbClr val="A1E6F7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22" name="Freeform 21"/>
            <p:cNvSpPr>
              <a:spLocks/>
            </p:cNvSpPr>
            <p:nvPr/>
          </p:nvSpPr>
          <p:spPr bwMode="auto">
            <a:xfrm>
              <a:off x="5055" y="3259"/>
              <a:ext cx="14" cy="14"/>
            </a:xfrm>
            <a:custGeom>
              <a:avLst/>
              <a:gdLst>
                <a:gd name="T0" fmla="*/ 0 w 29"/>
                <a:gd name="T1" fmla="*/ 1 h 28"/>
                <a:gd name="T2" fmla="*/ 0 w 29"/>
                <a:gd name="T3" fmla="*/ 1 h 28"/>
                <a:gd name="T4" fmla="*/ 0 w 29"/>
                <a:gd name="T5" fmla="*/ 1 h 28"/>
                <a:gd name="T6" fmla="*/ 0 w 29"/>
                <a:gd name="T7" fmla="*/ 1 h 28"/>
                <a:gd name="T8" fmla="*/ 0 w 29"/>
                <a:gd name="T9" fmla="*/ 1 h 28"/>
                <a:gd name="T10" fmla="*/ 0 w 29"/>
                <a:gd name="T11" fmla="*/ 1 h 28"/>
                <a:gd name="T12" fmla="*/ 0 w 29"/>
                <a:gd name="T13" fmla="*/ 1 h 28"/>
                <a:gd name="T14" fmla="*/ 0 w 29"/>
                <a:gd name="T15" fmla="*/ 0 h 28"/>
                <a:gd name="T16" fmla="*/ 0 w 29"/>
                <a:gd name="T17" fmla="*/ 0 h 28"/>
                <a:gd name="T18" fmla="*/ 0 w 29"/>
                <a:gd name="T19" fmla="*/ 0 h 28"/>
                <a:gd name="T20" fmla="*/ 0 w 29"/>
                <a:gd name="T21" fmla="*/ 1 h 28"/>
                <a:gd name="T22" fmla="*/ 0 w 29"/>
                <a:gd name="T23" fmla="*/ 1 h 28"/>
                <a:gd name="T24" fmla="*/ 0 w 29"/>
                <a:gd name="T25" fmla="*/ 1 h 28"/>
                <a:gd name="T26" fmla="*/ 0 w 29"/>
                <a:gd name="T27" fmla="*/ 1 h 28"/>
                <a:gd name="T28" fmla="*/ 0 w 29"/>
                <a:gd name="T29" fmla="*/ 1 h 28"/>
                <a:gd name="T30" fmla="*/ 0 w 29"/>
                <a:gd name="T31" fmla="*/ 1 h 2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9" h="28">
                  <a:moveTo>
                    <a:pt x="14" y="28"/>
                  </a:moveTo>
                  <a:lnTo>
                    <a:pt x="18" y="26"/>
                  </a:lnTo>
                  <a:lnTo>
                    <a:pt x="23" y="24"/>
                  </a:lnTo>
                  <a:lnTo>
                    <a:pt x="27" y="19"/>
                  </a:lnTo>
                  <a:lnTo>
                    <a:pt x="29" y="15"/>
                  </a:lnTo>
                  <a:lnTo>
                    <a:pt x="27" y="9"/>
                  </a:lnTo>
                  <a:lnTo>
                    <a:pt x="23" y="3"/>
                  </a:lnTo>
                  <a:lnTo>
                    <a:pt x="18" y="0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3"/>
                  </a:lnTo>
                  <a:lnTo>
                    <a:pt x="0" y="9"/>
                  </a:lnTo>
                  <a:lnTo>
                    <a:pt x="0" y="15"/>
                  </a:lnTo>
                  <a:lnTo>
                    <a:pt x="4" y="24"/>
                  </a:lnTo>
                  <a:lnTo>
                    <a:pt x="14" y="28"/>
                  </a:lnTo>
                  <a:close/>
                </a:path>
              </a:pathLst>
            </a:custGeom>
            <a:solidFill>
              <a:srgbClr val="A1E6F7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23" name="Freeform 22"/>
            <p:cNvSpPr>
              <a:spLocks/>
            </p:cNvSpPr>
            <p:nvPr/>
          </p:nvSpPr>
          <p:spPr bwMode="auto">
            <a:xfrm>
              <a:off x="5047" y="3353"/>
              <a:ext cx="66" cy="193"/>
            </a:xfrm>
            <a:custGeom>
              <a:avLst/>
              <a:gdLst>
                <a:gd name="T0" fmla="*/ 1 w 131"/>
                <a:gd name="T1" fmla="*/ 0 h 386"/>
                <a:gd name="T2" fmla="*/ 1 w 131"/>
                <a:gd name="T3" fmla="*/ 1 h 386"/>
                <a:gd name="T4" fmla="*/ 1 w 131"/>
                <a:gd name="T5" fmla="*/ 1 h 386"/>
                <a:gd name="T6" fmla="*/ 1 w 131"/>
                <a:gd name="T7" fmla="*/ 1 h 386"/>
                <a:gd name="T8" fmla="*/ 1 w 131"/>
                <a:gd name="T9" fmla="*/ 1 h 386"/>
                <a:gd name="T10" fmla="*/ 1 w 131"/>
                <a:gd name="T11" fmla="*/ 1 h 386"/>
                <a:gd name="T12" fmla="*/ 1 w 131"/>
                <a:gd name="T13" fmla="*/ 1 h 386"/>
                <a:gd name="T14" fmla="*/ 1 w 131"/>
                <a:gd name="T15" fmla="*/ 1 h 386"/>
                <a:gd name="T16" fmla="*/ 1 w 131"/>
                <a:gd name="T17" fmla="*/ 1 h 386"/>
                <a:gd name="T18" fmla="*/ 1 w 131"/>
                <a:gd name="T19" fmla="*/ 1 h 386"/>
                <a:gd name="T20" fmla="*/ 1 w 131"/>
                <a:gd name="T21" fmla="*/ 1 h 386"/>
                <a:gd name="T22" fmla="*/ 1 w 131"/>
                <a:gd name="T23" fmla="*/ 1 h 386"/>
                <a:gd name="T24" fmla="*/ 1 w 131"/>
                <a:gd name="T25" fmla="*/ 1 h 386"/>
                <a:gd name="T26" fmla="*/ 1 w 131"/>
                <a:gd name="T27" fmla="*/ 1 h 386"/>
                <a:gd name="T28" fmla="*/ 1 w 131"/>
                <a:gd name="T29" fmla="*/ 1 h 386"/>
                <a:gd name="T30" fmla="*/ 1 w 131"/>
                <a:gd name="T31" fmla="*/ 1 h 386"/>
                <a:gd name="T32" fmla="*/ 1 w 131"/>
                <a:gd name="T33" fmla="*/ 1 h 386"/>
                <a:gd name="T34" fmla="*/ 1 w 131"/>
                <a:gd name="T35" fmla="*/ 2 h 386"/>
                <a:gd name="T36" fmla="*/ 1 w 131"/>
                <a:gd name="T37" fmla="*/ 2 h 386"/>
                <a:gd name="T38" fmla="*/ 0 w 131"/>
                <a:gd name="T39" fmla="*/ 2 h 386"/>
                <a:gd name="T40" fmla="*/ 1 w 131"/>
                <a:gd name="T41" fmla="*/ 1 h 386"/>
                <a:gd name="T42" fmla="*/ 1 w 131"/>
                <a:gd name="T43" fmla="*/ 1 h 386"/>
                <a:gd name="T44" fmla="*/ 1 w 131"/>
                <a:gd name="T45" fmla="*/ 0 h 386"/>
                <a:gd name="T46" fmla="*/ 1 w 131"/>
                <a:gd name="T47" fmla="*/ 0 h 38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31" h="386">
                  <a:moveTo>
                    <a:pt x="44" y="0"/>
                  </a:moveTo>
                  <a:lnTo>
                    <a:pt x="71" y="42"/>
                  </a:lnTo>
                  <a:lnTo>
                    <a:pt x="88" y="21"/>
                  </a:lnTo>
                  <a:lnTo>
                    <a:pt x="97" y="34"/>
                  </a:lnTo>
                  <a:lnTo>
                    <a:pt x="97" y="32"/>
                  </a:lnTo>
                  <a:lnTo>
                    <a:pt x="101" y="30"/>
                  </a:lnTo>
                  <a:lnTo>
                    <a:pt x="105" y="26"/>
                  </a:lnTo>
                  <a:lnTo>
                    <a:pt x="111" y="25"/>
                  </a:lnTo>
                  <a:lnTo>
                    <a:pt x="114" y="21"/>
                  </a:lnTo>
                  <a:lnTo>
                    <a:pt x="120" y="17"/>
                  </a:lnTo>
                  <a:lnTo>
                    <a:pt x="124" y="15"/>
                  </a:lnTo>
                  <a:lnTo>
                    <a:pt x="128" y="15"/>
                  </a:lnTo>
                  <a:lnTo>
                    <a:pt x="130" y="15"/>
                  </a:lnTo>
                  <a:lnTo>
                    <a:pt x="131" y="17"/>
                  </a:lnTo>
                  <a:lnTo>
                    <a:pt x="131" y="21"/>
                  </a:lnTo>
                  <a:lnTo>
                    <a:pt x="131" y="23"/>
                  </a:lnTo>
                  <a:lnTo>
                    <a:pt x="97" y="66"/>
                  </a:lnTo>
                  <a:lnTo>
                    <a:pt x="118" y="348"/>
                  </a:lnTo>
                  <a:lnTo>
                    <a:pt x="57" y="386"/>
                  </a:lnTo>
                  <a:lnTo>
                    <a:pt x="0" y="346"/>
                  </a:lnTo>
                  <a:lnTo>
                    <a:pt x="80" y="68"/>
                  </a:lnTo>
                  <a:lnTo>
                    <a:pt x="40" y="2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24" name="Freeform 23"/>
            <p:cNvSpPr>
              <a:spLocks/>
            </p:cNvSpPr>
            <p:nvPr/>
          </p:nvSpPr>
          <p:spPr bwMode="auto">
            <a:xfrm>
              <a:off x="5139" y="3322"/>
              <a:ext cx="78" cy="45"/>
            </a:xfrm>
            <a:custGeom>
              <a:avLst/>
              <a:gdLst>
                <a:gd name="T0" fmla="*/ 1 w 156"/>
                <a:gd name="T1" fmla="*/ 0 h 89"/>
                <a:gd name="T2" fmla="*/ 1 w 156"/>
                <a:gd name="T3" fmla="*/ 0 h 89"/>
                <a:gd name="T4" fmla="*/ 1 w 156"/>
                <a:gd name="T5" fmla="*/ 1 h 89"/>
                <a:gd name="T6" fmla="*/ 1 w 156"/>
                <a:gd name="T7" fmla="*/ 1 h 89"/>
                <a:gd name="T8" fmla="*/ 1 w 156"/>
                <a:gd name="T9" fmla="*/ 1 h 89"/>
                <a:gd name="T10" fmla="*/ 1 w 156"/>
                <a:gd name="T11" fmla="*/ 1 h 89"/>
                <a:gd name="T12" fmla="*/ 1 w 156"/>
                <a:gd name="T13" fmla="*/ 1 h 89"/>
                <a:gd name="T14" fmla="*/ 1 w 156"/>
                <a:gd name="T15" fmla="*/ 1 h 89"/>
                <a:gd name="T16" fmla="*/ 1 w 156"/>
                <a:gd name="T17" fmla="*/ 1 h 89"/>
                <a:gd name="T18" fmla="*/ 1 w 156"/>
                <a:gd name="T19" fmla="*/ 1 h 89"/>
                <a:gd name="T20" fmla="*/ 1 w 156"/>
                <a:gd name="T21" fmla="*/ 1 h 89"/>
                <a:gd name="T22" fmla="*/ 1 w 156"/>
                <a:gd name="T23" fmla="*/ 1 h 89"/>
                <a:gd name="T24" fmla="*/ 1 w 156"/>
                <a:gd name="T25" fmla="*/ 1 h 89"/>
                <a:gd name="T26" fmla="*/ 1 w 156"/>
                <a:gd name="T27" fmla="*/ 1 h 89"/>
                <a:gd name="T28" fmla="*/ 1 w 156"/>
                <a:gd name="T29" fmla="*/ 1 h 89"/>
                <a:gd name="T30" fmla="*/ 0 w 156"/>
                <a:gd name="T31" fmla="*/ 1 h 89"/>
                <a:gd name="T32" fmla="*/ 0 w 156"/>
                <a:gd name="T33" fmla="*/ 1 h 89"/>
                <a:gd name="T34" fmla="*/ 1 w 156"/>
                <a:gd name="T35" fmla="*/ 1 h 89"/>
                <a:gd name="T36" fmla="*/ 1 w 156"/>
                <a:gd name="T37" fmla="*/ 1 h 89"/>
                <a:gd name="T38" fmla="*/ 1 w 156"/>
                <a:gd name="T39" fmla="*/ 1 h 89"/>
                <a:gd name="T40" fmla="*/ 1 w 156"/>
                <a:gd name="T41" fmla="*/ 1 h 89"/>
                <a:gd name="T42" fmla="*/ 1 w 156"/>
                <a:gd name="T43" fmla="*/ 1 h 89"/>
                <a:gd name="T44" fmla="*/ 1 w 156"/>
                <a:gd name="T45" fmla="*/ 1 h 89"/>
                <a:gd name="T46" fmla="*/ 1 w 156"/>
                <a:gd name="T47" fmla="*/ 1 h 89"/>
                <a:gd name="T48" fmla="*/ 1 w 156"/>
                <a:gd name="T49" fmla="*/ 1 h 89"/>
                <a:gd name="T50" fmla="*/ 1 w 156"/>
                <a:gd name="T51" fmla="*/ 1 h 89"/>
                <a:gd name="T52" fmla="*/ 1 w 156"/>
                <a:gd name="T53" fmla="*/ 1 h 89"/>
                <a:gd name="T54" fmla="*/ 1 w 156"/>
                <a:gd name="T55" fmla="*/ 1 h 89"/>
                <a:gd name="T56" fmla="*/ 1 w 156"/>
                <a:gd name="T57" fmla="*/ 1 h 89"/>
                <a:gd name="T58" fmla="*/ 1 w 156"/>
                <a:gd name="T59" fmla="*/ 1 h 89"/>
                <a:gd name="T60" fmla="*/ 1 w 156"/>
                <a:gd name="T61" fmla="*/ 1 h 89"/>
                <a:gd name="T62" fmla="*/ 1 w 156"/>
                <a:gd name="T63" fmla="*/ 1 h 89"/>
                <a:gd name="T64" fmla="*/ 1 w 156"/>
                <a:gd name="T65" fmla="*/ 1 h 89"/>
                <a:gd name="T66" fmla="*/ 1 w 156"/>
                <a:gd name="T67" fmla="*/ 1 h 89"/>
                <a:gd name="T68" fmla="*/ 1 w 156"/>
                <a:gd name="T69" fmla="*/ 1 h 89"/>
                <a:gd name="T70" fmla="*/ 1 w 156"/>
                <a:gd name="T71" fmla="*/ 1 h 89"/>
                <a:gd name="T72" fmla="*/ 1 w 156"/>
                <a:gd name="T73" fmla="*/ 1 h 89"/>
                <a:gd name="T74" fmla="*/ 1 w 156"/>
                <a:gd name="T75" fmla="*/ 1 h 89"/>
                <a:gd name="T76" fmla="*/ 1 w 156"/>
                <a:gd name="T77" fmla="*/ 1 h 89"/>
                <a:gd name="T78" fmla="*/ 1 w 156"/>
                <a:gd name="T79" fmla="*/ 1 h 89"/>
                <a:gd name="T80" fmla="*/ 1 w 156"/>
                <a:gd name="T81" fmla="*/ 1 h 89"/>
                <a:gd name="T82" fmla="*/ 1 w 156"/>
                <a:gd name="T83" fmla="*/ 1 h 89"/>
                <a:gd name="T84" fmla="*/ 1 w 156"/>
                <a:gd name="T85" fmla="*/ 1 h 89"/>
                <a:gd name="T86" fmla="*/ 1 w 156"/>
                <a:gd name="T87" fmla="*/ 1 h 89"/>
                <a:gd name="T88" fmla="*/ 1 w 156"/>
                <a:gd name="T89" fmla="*/ 1 h 89"/>
                <a:gd name="T90" fmla="*/ 1 w 156"/>
                <a:gd name="T91" fmla="*/ 1 h 89"/>
                <a:gd name="T92" fmla="*/ 1 w 156"/>
                <a:gd name="T93" fmla="*/ 1 h 89"/>
                <a:gd name="T94" fmla="*/ 1 w 156"/>
                <a:gd name="T95" fmla="*/ 1 h 89"/>
                <a:gd name="T96" fmla="*/ 1 w 156"/>
                <a:gd name="T97" fmla="*/ 1 h 89"/>
                <a:gd name="T98" fmla="*/ 1 w 156"/>
                <a:gd name="T99" fmla="*/ 1 h 89"/>
                <a:gd name="T100" fmla="*/ 1 w 156"/>
                <a:gd name="T101" fmla="*/ 1 h 89"/>
                <a:gd name="T102" fmla="*/ 1 w 156"/>
                <a:gd name="T103" fmla="*/ 1 h 89"/>
                <a:gd name="T104" fmla="*/ 1 w 156"/>
                <a:gd name="T105" fmla="*/ 1 h 89"/>
                <a:gd name="T106" fmla="*/ 1 w 156"/>
                <a:gd name="T107" fmla="*/ 1 h 89"/>
                <a:gd name="T108" fmla="*/ 1 w 156"/>
                <a:gd name="T109" fmla="*/ 1 h 89"/>
                <a:gd name="T110" fmla="*/ 1 w 156"/>
                <a:gd name="T111" fmla="*/ 1 h 89"/>
                <a:gd name="T112" fmla="*/ 1 w 156"/>
                <a:gd name="T113" fmla="*/ 0 h 89"/>
                <a:gd name="T114" fmla="*/ 1 w 156"/>
                <a:gd name="T115" fmla="*/ 0 h 89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156" h="89">
                  <a:moveTo>
                    <a:pt x="59" y="0"/>
                  </a:moveTo>
                  <a:lnTo>
                    <a:pt x="57" y="0"/>
                  </a:lnTo>
                  <a:lnTo>
                    <a:pt x="57" y="6"/>
                  </a:lnTo>
                  <a:lnTo>
                    <a:pt x="57" y="11"/>
                  </a:lnTo>
                  <a:lnTo>
                    <a:pt x="55" y="21"/>
                  </a:lnTo>
                  <a:lnTo>
                    <a:pt x="53" y="28"/>
                  </a:lnTo>
                  <a:lnTo>
                    <a:pt x="49" y="38"/>
                  </a:lnTo>
                  <a:lnTo>
                    <a:pt x="45" y="46"/>
                  </a:lnTo>
                  <a:lnTo>
                    <a:pt x="40" y="51"/>
                  </a:lnTo>
                  <a:lnTo>
                    <a:pt x="32" y="55"/>
                  </a:lnTo>
                  <a:lnTo>
                    <a:pt x="26" y="61"/>
                  </a:lnTo>
                  <a:lnTo>
                    <a:pt x="21" y="65"/>
                  </a:lnTo>
                  <a:lnTo>
                    <a:pt x="15" y="68"/>
                  </a:lnTo>
                  <a:lnTo>
                    <a:pt x="7" y="72"/>
                  </a:lnTo>
                  <a:lnTo>
                    <a:pt x="3" y="74"/>
                  </a:lnTo>
                  <a:lnTo>
                    <a:pt x="0" y="76"/>
                  </a:lnTo>
                  <a:lnTo>
                    <a:pt x="7" y="87"/>
                  </a:lnTo>
                  <a:lnTo>
                    <a:pt x="51" y="67"/>
                  </a:lnTo>
                  <a:lnTo>
                    <a:pt x="59" y="89"/>
                  </a:lnTo>
                  <a:lnTo>
                    <a:pt x="59" y="87"/>
                  </a:lnTo>
                  <a:lnTo>
                    <a:pt x="61" y="84"/>
                  </a:lnTo>
                  <a:lnTo>
                    <a:pt x="62" y="78"/>
                  </a:lnTo>
                  <a:lnTo>
                    <a:pt x="68" y="72"/>
                  </a:lnTo>
                  <a:lnTo>
                    <a:pt x="74" y="67"/>
                  </a:lnTo>
                  <a:lnTo>
                    <a:pt x="80" y="61"/>
                  </a:lnTo>
                  <a:lnTo>
                    <a:pt x="83" y="57"/>
                  </a:lnTo>
                  <a:lnTo>
                    <a:pt x="89" y="55"/>
                  </a:lnTo>
                  <a:lnTo>
                    <a:pt x="95" y="55"/>
                  </a:lnTo>
                  <a:lnTo>
                    <a:pt x="99" y="55"/>
                  </a:lnTo>
                  <a:lnTo>
                    <a:pt x="108" y="55"/>
                  </a:lnTo>
                  <a:lnTo>
                    <a:pt x="118" y="55"/>
                  </a:lnTo>
                  <a:lnTo>
                    <a:pt x="125" y="57"/>
                  </a:lnTo>
                  <a:lnTo>
                    <a:pt x="133" y="61"/>
                  </a:lnTo>
                  <a:lnTo>
                    <a:pt x="137" y="63"/>
                  </a:lnTo>
                  <a:lnTo>
                    <a:pt x="142" y="65"/>
                  </a:lnTo>
                  <a:lnTo>
                    <a:pt x="144" y="65"/>
                  </a:lnTo>
                  <a:lnTo>
                    <a:pt x="146" y="67"/>
                  </a:lnTo>
                  <a:lnTo>
                    <a:pt x="156" y="47"/>
                  </a:lnTo>
                  <a:lnTo>
                    <a:pt x="154" y="46"/>
                  </a:lnTo>
                  <a:lnTo>
                    <a:pt x="152" y="46"/>
                  </a:lnTo>
                  <a:lnTo>
                    <a:pt x="146" y="42"/>
                  </a:lnTo>
                  <a:lnTo>
                    <a:pt x="142" y="38"/>
                  </a:lnTo>
                  <a:lnTo>
                    <a:pt x="137" y="34"/>
                  </a:lnTo>
                  <a:lnTo>
                    <a:pt x="129" y="30"/>
                  </a:lnTo>
                  <a:lnTo>
                    <a:pt x="123" y="28"/>
                  </a:lnTo>
                  <a:lnTo>
                    <a:pt x="116" y="28"/>
                  </a:lnTo>
                  <a:lnTo>
                    <a:pt x="106" y="28"/>
                  </a:lnTo>
                  <a:lnTo>
                    <a:pt x="99" y="28"/>
                  </a:lnTo>
                  <a:lnTo>
                    <a:pt x="93" y="28"/>
                  </a:lnTo>
                  <a:lnTo>
                    <a:pt x="87" y="30"/>
                  </a:lnTo>
                  <a:lnTo>
                    <a:pt x="81" y="32"/>
                  </a:lnTo>
                  <a:lnTo>
                    <a:pt x="78" y="32"/>
                  </a:lnTo>
                  <a:lnTo>
                    <a:pt x="76" y="34"/>
                  </a:lnTo>
                  <a:lnTo>
                    <a:pt x="76" y="2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00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25" name="Freeform 24"/>
            <p:cNvSpPr>
              <a:spLocks/>
            </p:cNvSpPr>
            <p:nvPr/>
          </p:nvSpPr>
          <p:spPr bwMode="auto">
            <a:xfrm>
              <a:off x="4954" y="3437"/>
              <a:ext cx="48" cy="103"/>
            </a:xfrm>
            <a:custGeom>
              <a:avLst/>
              <a:gdLst>
                <a:gd name="T0" fmla="*/ 0 w 97"/>
                <a:gd name="T1" fmla="*/ 1 h 205"/>
                <a:gd name="T2" fmla="*/ 0 w 97"/>
                <a:gd name="T3" fmla="*/ 1 h 205"/>
                <a:gd name="T4" fmla="*/ 0 w 97"/>
                <a:gd name="T5" fmla="*/ 1 h 205"/>
                <a:gd name="T6" fmla="*/ 0 w 97"/>
                <a:gd name="T7" fmla="*/ 1 h 205"/>
                <a:gd name="T8" fmla="*/ 0 w 97"/>
                <a:gd name="T9" fmla="*/ 1 h 205"/>
                <a:gd name="T10" fmla="*/ 0 w 97"/>
                <a:gd name="T11" fmla="*/ 0 h 205"/>
                <a:gd name="T12" fmla="*/ 0 w 97"/>
                <a:gd name="T13" fmla="*/ 0 h 205"/>
                <a:gd name="T14" fmla="*/ 0 w 97"/>
                <a:gd name="T15" fmla="*/ 1 h 205"/>
                <a:gd name="T16" fmla="*/ 0 w 97"/>
                <a:gd name="T17" fmla="*/ 1 h 205"/>
                <a:gd name="T18" fmla="*/ 0 w 97"/>
                <a:gd name="T19" fmla="*/ 1 h 205"/>
                <a:gd name="T20" fmla="*/ 0 w 97"/>
                <a:gd name="T21" fmla="*/ 1 h 205"/>
                <a:gd name="T22" fmla="*/ 0 w 97"/>
                <a:gd name="T23" fmla="*/ 1 h 205"/>
                <a:gd name="T24" fmla="*/ 0 w 97"/>
                <a:gd name="T25" fmla="*/ 1 h 205"/>
                <a:gd name="T26" fmla="*/ 0 w 97"/>
                <a:gd name="T27" fmla="*/ 1 h 205"/>
                <a:gd name="T28" fmla="*/ 0 w 97"/>
                <a:gd name="T29" fmla="*/ 1 h 205"/>
                <a:gd name="T30" fmla="*/ 0 w 97"/>
                <a:gd name="T31" fmla="*/ 1 h 205"/>
                <a:gd name="T32" fmla="*/ 0 w 97"/>
                <a:gd name="T33" fmla="*/ 1 h 205"/>
                <a:gd name="T34" fmla="*/ 0 w 97"/>
                <a:gd name="T35" fmla="*/ 1 h 205"/>
                <a:gd name="T36" fmla="*/ 0 w 97"/>
                <a:gd name="T37" fmla="*/ 1 h 205"/>
                <a:gd name="T38" fmla="*/ 0 w 97"/>
                <a:gd name="T39" fmla="*/ 1 h 205"/>
                <a:gd name="T40" fmla="*/ 0 w 97"/>
                <a:gd name="T41" fmla="*/ 1 h 205"/>
                <a:gd name="T42" fmla="*/ 0 w 97"/>
                <a:gd name="T43" fmla="*/ 1 h 205"/>
                <a:gd name="T44" fmla="*/ 0 w 97"/>
                <a:gd name="T45" fmla="*/ 1 h 205"/>
                <a:gd name="T46" fmla="*/ 0 w 97"/>
                <a:gd name="T47" fmla="*/ 1 h 205"/>
                <a:gd name="T48" fmla="*/ 0 w 97"/>
                <a:gd name="T49" fmla="*/ 1 h 205"/>
                <a:gd name="T50" fmla="*/ 0 w 97"/>
                <a:gd name="T51" fmla="*/ 1 h 205"/>
                <a:gd name="T52" fmla="*/ 0 w 97"/>
                <a:gd name="T53" fmla="*/ 1 h 205"/>
                <a:gd name="T54" fmla="*/ 0 w 97"/>
                <a:gd name="T55" fmla="*/ 1 h 205"/>
                <a:gd name="T56" fmla="*/ 0 w 97"/>
                <a:gd name="T57" fmla="*/ 1 h 205"/>
                <a:gd name="T58" fmla="*/ 0 w 97"/>
                <a:gd name="T59" fmla="*/ 1 h 205"/>
                <a:gd name="T60" fmla="*/ 0 w 97"/>
                <a:gd name="T61" fmla="*/ 1 h 205"/>
                <a:gd name="T62" fmla="*/ 0 w 97"/>
                <a:gd name="T63" fmla="*/ 1 h 205"/>
                <a:gd name="T64" fmla="*/ 0 w 97"/>
                <a:gd name="T65" fmla="*/ 1 h 205"/>
                <a:gd name="T66" fmla="*/ 0 w 97"/>
                <a:gd name="T67" fmla="*/ 1 h 205"/>
                <a:gd name="T68" fmla="*/ 0 w 97"/>
                <a:gd name="T69" fmla="*/ 1 h 205"/>
                <a:gd name="T70" fmla="*/ 0 w 97"/>
                <a:gd name="T71" fmla="*/ 1 h 205"/>
                <a:gd name="T72" fmla="*/ 0 w 97"/>
                <a:gd name="T73" fmla="*/ 1 h 205"/>
                <a:gd name="T74" fmla="*/ 0 w 97"/>
                <a:gd name="T75" fmla="*/ 1 h 205"/>
                <a:gd name="T76" fmla="*/ 0 w 97"/>
                <a:gd name="T77" fmla="*/ 1 h 205"/>
                <a:gd name="T78" fmla="*/ 0 w 97"/>
                <a:gd name="T79" fmla="*/ 1 h 205"/>
                <a:gd name="T80" fmla="*/ 0 w 97"/>
                <a:gd name="T81" fmla="*/ 1 h 205"/>
                <a:gd name="T82" fmla="*/ 0 w 97"/>
                <a:gd name="T83" fmla="*/ 1 h 205"/>
                <a:gd name="T84" fmla="*/ 0 w 97"/>
                <a:gd name="T85" fmla="*/ 1 h 205"/>
                <a:gd name="T86" fmla="*/ 0 w 97"/>
                <a:gd name="T87" fmla="*/ 1 h 205"/>
                <a:gd name="T88" fmla="*/ 0 w 97"/>
                <a:gd name="T89" fmla="*/ 1 h 205"/>
                <a:gd name="T90" fmla="*/ 0 w 97"/>
                <a:gd name="T91" fmla="*/ 1 h 205"/>
                <a:gd name="T92" fmla="*/ 0 w 97"/>
                <a:gd name="T93" fmla="*/ 1 h 205"/>
                <a:gd name="T94" fmla="*/ 0 w 97"/>
                <a:gd name="T95" fmla="*/ 1 h 205"/>
                <a:gd name="T96" fmla="*/ 0 w 97"/>
                <a:gd name="T97" fmla="*/ 1 h 20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97" h="205">
                  <a:moveTo>
                    <a:pt x="46" y="8"/>
                  </a:moveTo>
                  <a:lnTo>
                    <a:pt x="44" y="6"/>
                  </a:lnTo>
                  <a:lnTo>
                    <a:pt x="40" y="6"/>
                  </a:lnTo>
                  <a:lnTo>
                    <a:pt x="36" y="2"/>
                  </a:lnTo>
                  <a:lnTo>
                    <a:pt x="30" y="2"/>
                  </a:lnTo>
                  <a:lnTo>
                    <a:pt x="23" y="0"/>
                  </a:lnTo>
                  <a:lnTo>
                    <a:pt x="15" y="0"/>
                  </a:lnTo>
                  <a:lnTo>
                    <a:pt x="9" y="2"/>
                  </a:lnTo>
                  <a:lnTo>
                    <a:pt x="4" y="8"/>
                  </a:lnTo>
                  <a:lnTo>
                    <a:pt x="2" y="11"/>
                  </a:lnTo>
                  <a:lnTo>
                    <a:pt x="0" y="15"/>
                  </a:lnTo>
                  <a:lnTo>
                    <a:pt x="0" y="21"/>
                  </a:lnTo>
                  <a:lnTo>
                    <a:pt x="0" y="28"/>
                  </a:lnTo>
                  <a:lnTo>
                    <a:pt x="0" y="38"/>
                  </a:lnTo>
                  <a:lnTo>
                    <a:pt x="2" y="47"/>
                  </a:lnTo>
                  <a:lnTo>
                    <a:pt x="2" y="51"/>
                  </a:lnTo>
                  <a:lnTo>
                    <a:pt x="4" y="57"/>
                  </a:lnTo>
                  <a:lnTo>
                    <a:pt x="4" y="63"/>
                  </a:lnTo>
                  <a:lnTo>
                    <a:pt x="6" y="68"/>
                  </a:lnTo>
                  <a:lnTo>
                    <a:pt x="8" y="74"/>
                  </a:lnTo>
                  <a:lnTo>
                    <a:pt x="9" y="80"/>
                  </a:lnTo>
                  <a:lnTo>
                    <a:pt x="9" y="84"/>
                  </a:lnTo>
                  <a:lnTo>
                    <a:pt x="11" y="89"/>
                  </a:lnTo>
                  <a:lnTo>
                    <a:pt x="13" y="95"/>
                  </a:lnTo>
                  <a:lnTo>
                    <a:pt x="15" y="103"/>
                  </a:lnTo>
                  <a:lnTo>
                    <a:pt x="19" y="108"/>
                  </a:lnTo>
                  <a:lnTo>
                    <a:pt x="21" y="114"/>
                  </a:lnTo>
                  <a:lnTo>
                    <a:pt x="23" y="120"/>
                  </a:lnTo>
                  <a:lnTo>
                    <a:pt x="27" y="127"/>
                  </a:lnTo>
                  <a:lnTo>
                    <a:pt x="28" y="131"/>
                  </a:lnTo>
                  <a:lnTo>
                    <a:pt x="32" y="139"/>
                  </a:lnTo>
                  <a:lnTo>
                    <a:pt x="36" y="144"/>
                  </a:lnTo>
                  <a:lnTo>
                    <a:pt x="38" y="150"/>
                  </a:lnTo>
                  <a:lnTo>
                    <a:pt x="42" y="158"/>
                  </a:lnTo>
                  <a:lnTo>
                    <a:pt x="46" y="163"/>
                  </a:lnTo>
                  <a:lnTo>
                    <a:pt x="49" y="167"/>
                  </a:lnTo>
                  <a:lnTo>
                    <a:pt x="51" y="173"/>
                  </a:lnTo>
                  <a:lnTo>
                    <a:pt x="55" y="179"/>
                  </a:lnTo>
                  <a:lnTo>
                    <a:pt x="59" y="182"/>
                  </a:lnTo>
                  <a:lnTo>
                    <a:pt x="63" y="188"/>
                  </a:lnTo>
                  <a:lnTo>
                    <a:pt x="68" y="196"/>
                  </a:lnTo>
                  <a:lnTo>
                    <a:pt x="78" y="201"/>
                  </a:lnTo>
                  <a:lnTo>
                    <a:pt x="86" y="205"/>
                  </a:lnTo>
                  <a:lnTo>
                    <a:pt x="89" y="203"/>
                  </a:lnTo>
                  <a:lnTo>
                    <a:pt x="93" y="201"/>
                  </a:lnTo>
                  <a:lnTo>
                    <a:pt x="97" y="200"/>
                  </a:lnTo>
                  <a:lnTo>
                    <a:pt x="46" y="8"/>
                  </a:lnTo>
                  <a:close/>
                </a:path>
              </a:pathLst>
            </a:custGeom>
            <a:solidFill>
              <a:srgbClr val="C7C7E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26" name="Freeform 25"/>
            <p:cNvSpPr>
              <a:spLocks/>
            </p:cNvSpPr>
            <p:nvPr/>
          </p:nvSpPr>
          <p:spPr bwMode="auto">
            <a:xfrm>
              <a:off x="5082" y="3580"/>
              <a:ext cx="97" cy="23"/>
            </a:xfrm>
            <a:custGeom>
              <a:avLst/>
              <a:gdLst>
                <a:gd name="T0" fmla="*/ 1 w 194"/>
                <a:gd name="T1" fmla="*/ 1 h 46"/>
                <a:gd name="T2" fmla="*/ 1 w 194"/>
                <a:gd name="T3" fmla="*/ 1 h 46"/>
                <a:gd name="T4" fmla="*/ 1 w 194"/>
                <a:gd name="T5" fmla="*/ 1 h 46"/>
                <a:gd name="T6" fmla="*/ 1 w 194"/>
                <a:gd name="T7" fmla="*/ 1 h 46"/>
                <a:gd name="T8" fmla="*/ 1 w 194"/>
                <a:gd name="T9" fmla="*/ 1 h 46"/>
                <a:gd name="T10" fmla="*/ 1 w 194"/>
                <a:gd name="T11" fmla="*/ 1 h 46"/>
                <a:gd name="T12" fmla="*/ 1 w 194"/>
                <a:gd name="T13" fmla="*/ 1 h 46"/>
                <a:gd name="T14" fmla="*/ 1 w 194"/>
                <a:gd name="T15" fmla="*/ 1 h 46"/>
                <a:gd name="T16" fmla="*/ 1 w 194"/>
                <a:gd name="T17" fmla="*/ 1 h 46"/>
                <a:gd name="T18" fmla="*/ 1 w 194"/>
                <a:gd name="T19" fmla="*/ 1 h 46"/>
                <a:gd name="T20" fmla="*/ 1 w 194"/>
                <a:gd name="T21" fmla="*/ 1 h 46"/>
                <a:gd name="T22" fmla="*/ 1 w 194"/>
                <a:gd name="T23" fmla="*/ 1 h 46"/>
                <a:gd name="T24" fmla="*/ 1 w 194"/>
                <a:gd name="T25" fmla="*/ 1 h 46"/>
                <a:gd name="T26" fmla="*/ 1 w 194"/>
                <a:gd name="T27" fmla="*/ 1 h 46"/>
                <a:gd name="T28" fmla="*/ 1 w 194"/>
                <a:gd name="T29" fmla="*/ 1 h 46"/>
                <a:gd name="T30" fmla="*/ 1 w 194"/>
                <a:gd name="T31" fmla="*/ 1 h 46"/>
                <a:gd name="T32" fmla="*/ 1 w 194"/>
                <a:gd name="T33" fmla="*/ 1 h 46"/>
                <a:gd name="T34" fmla="*/ 1 w 194"/>
                <a:gd name="T35" fmla="*/ 1 h 46"/>
                <a:gd name="T36" fmla="*/ 1 w 194"/>
                <a:gd name="T37" fmla="*/ 1 h 46"/>
                <a:gd name="T38" fmla="*/ 1 w 194"/>
                <a:gd name="T39" fmla="*/ 1 h 46"/>
                <a:gd name="T40" fmla="*/ 1 w 194"/>
                <a:gd name="T41" fmla="*/ 1 h 46"/>
                <a:gd name="T42" fmla="*/ 1 w 194"/>
                <a:gd name="T43" fmla="*/ 1 h 46"/>
                <a:gd name="T44" fmla="*/ 1 w 194"/>
                <a:gd name="T45" fmla="*/ 1 h 46"/>
                <a:gd name="T46" fmla="*/ 1 w 194"/>
                <a:gd name="T47" fmla="*/ 1 h 46"/>
                <a:gd name="T48" fmla="*/ 1 w 194"/>
                <a:gd name="T49" fmla="*/ 1 h 46"/>
                <a:gd name="T50" fmla="*/ 1 w 194"/>
                <a:gd name="T51" fmla="*/ 1 h 46"/>
                <a:gd name="T52" fmla="*/ 1 w 194"/>
                <a:gd name="T53" fmla="*/ 1 h 46"/>
                <a:gd name="T54" fmla="*/ 1 w 194"/>
                <a:gd name="T55" fmla="*/ 1 h 46"/>
                <a:gd name="T56" fmla="*/ 1 w 194"/>
                <a:gd name="T57" fmla="*/ 1 h 46"/>
                <a:gd name="T58" fmla="*/ 1 w 194"/>
                <a:gd name="T59" fmla="*/ 1 h 46"/>
                <a:gd name="T60" fmla="*/ 1 w 194"/>
                <a:gd name="T61" fmla="*/ 1 h 46"/>
                <a:gd name="T62" fmla="*/ 1 w 194"/>
                <a:gd name="T63" fmla="*/ 1 h 46"/>
                <a:gd name="T64" fmla="*/ 1 w 194"/>
                <a:gd name="T65" fmla="*/ 1 h 46"/>
                <a:gd name="T66" fmla="*/ 0 w 194"/>
                <a:gd name="T67" fmla="*/ 1 h 46"/>
                <a:gd name="T68" fmla="*/ 0 w 194"/>
                <a:gd name="T69" fmla="*/ 1 h 46"/>
                <a:gd name="T70" fmla="*/ 1 w 194"/>
                <a:gd name="T71" fmla="*/ 1 h 4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94" h="46">
                  <a:moveTo>
                    <a:pt x="9" y="30"/>
                  </a:moveTo>
                  <a:lnTo>
                    <a:pt x="13" y="30"/>
                  </a:lnTo>
                  <a:lnTo>
                    <a:pt x="19" y="32"/>
                  </a:lnTo>
                  <a:lnTo>
                    <a:pt x="24" y="34"/>
                  </a:lnTo>
                  <a:lnTo>
                    <a:pt x="32" y="34"/>
                  </a:lnTo>
                  <a:lnTo>
                    <a:pt x="41" y="36"/>
                  </a:lnTo>
                  <a:lnTo>
                    <a:pt x="45" y="36"/>
                  </a:lnTo>
                  <a:lnTo>
                    <a:pt x="51" y="38"/>
                  </a:lnTo>
                  <a:lnTo>
                    <a:pt x="57" y="38"/>
                  </a:lnTo>
                  <a:lnTo>
                    <a:pt x="62" y="40"/>
                  </a:lnTo>
                  <a:lnTo>
                    <a:pt x="68" y="40"/>
                  </a:lnTo>
                  <a:lnTo>
                    <a:pt x="74" y="42"/>
                  </a:lnTo>
                  <a:lnTo>
                    <a:pt x="79" y="42"/>
                  </a:lnTo>
                  <a:lnTo>
                    <a:pt x="85" y="42"/>
                  </a:lnTo>
                  <a:lnTo>
                    <a:pt x="91" y="42"/>
                  </a:lnTo>
                  <a:lnTo>
                    <a:pt x="98" y="44"/>
                  </a:lnTo>
                  <a:lnTo>
                    <a:pt x="104" y="44"/>
                  </a:lnTo>
                  <a:lnTo>
                    <a:pt x="110" y="46"/>
                  </a:lnTo>
                  <a:lnTo>
                    <a:pt x="116" y="44"/>
                  </a:lnTo>
                  <a:lnTo>
                    <a:pt x="123" y="44"/>
                  </a:lnTo>
                  <a:lnTo>
                    <a:pt x="129" y="44"/>
                  </a:lnTo>
                  <a:lnTo>
                    <a:pt x="135" y="44"/>
                  </a:lnTo>
                  <a:lnTo>
                    <a:pt x="140" y="44"/>
                  </a:lnTo>
                  <a:lnTo>
                    <a:pt x="146" y="44"/>
                  </a:lnTo>
                  <a:lnTo>
                    <a:pt x="152" y="42"/>
                  </a:lnTo>
                  <a:lnTo>
                    <a:pt x="157" y="42"/>
                  </a:lnTo>
                  <a:lnTo>
                    <a:pt x="165" y="40"/>
                  </a:lnTo>
                  <a:lnTo>
                    <a:pt x="173" y="36"/>
                  </a:lnTo>
                  <a:lnTo>
                    <a:pt x="178" y="34"/>
                  </a:lnTo>
                  <a:lnTo>
                    <a:pt x="184" y="30"/>
                  </a:lnTo>
                  <a:lnTo>
                    <a:pt x="190" y="25"/>
                  </a:lnTo>
                  <a:lnTo>
                    <a:pt x="194" y="19"/>
                  </a:lnTo>
                  <a:lnTo>
                    <a:pt x="194" y="13"/>
                  </a:lnTo>
                  <a:lnTo>
                    <a:pt x="192" y="8"/>
                  </a:lnTo>
                  <a:lnTo>
                    <a:pt x="188" y="4"/>
                  </a:lnTo>
                  <a:lnTo>
                    <a:pt x="184" y="2"/>
                  </a:lnTo>
                  <a:lnTo>
                    <a:pt x="180" y="0"/>
                  </a:lnTo>
                  <a:lnTo>
                    <a:pt x="173" y="4"/>
                  </a:lnTo>
                  <a:lnTo>
                    <a:pt x="165" y="6"/>
                  </a:lnTo>
                  <a:lnTo>
                    <a:pt x="157" y="10"/>
                  </a:lnTo>
                  <a:lnTo>
                    <a:pt x="152" y="10"/>
                  </a:lnTo>
                  <a:lnTo>
                    <a:pt x="146" y="11"/>
                  </a:lnTo>
                  <a:lnTo>
                    <a:pt x="140" y="13"/>
                  </a:lnTo>
                  <a:lnTo>
                    <a:pt x="135" y="15"/>
                  </a:lnTo>
                  <a:lnTo>
                    <a:pt x="131" y="17"/>
                  </a:lnTo>
                  <a:lnTo>
                    <a:pt x="125" y="17"/>
                  </a:lnTo>
                  <a:lnTo>
                    <a:pt x="119" y="19"/>
                  </a:lnTo>
                  <a:lnTo>
                    <a:pt x="114" y="21"/>
                  </a:lnTo>
                  <a:lnTo>
                    <a:pt x="108" y="21"/>
                  </a:lnTo>
                  <a:lnTo>
                    <a:pt x="102" y="21"/>
                  </a:lnTo>
                  <a:lnTo>
                    <a:pt x="95" y="21"/>
                  </a:lnTo>
                  <a:lnTo>
                    <a:pt x="87" y="21"/>
                  </a:lnTo>
                  <a:lnTo>
                    <a:pt x="79" y="21"/>
                  </a:lnTo>
                  <a:lnTo>
                    <a:pt x="72" y="21"/>
                  </a:lnTo>
                  <a:lnTo>
                    <a:pt x="64" y="21"/>
                  </a:lnTo>
                  <a:lnTo>
                    <a:pt x="57" y="21"/>
                  </a:lnTo>
                  <a:lnTo>
                    <a:pt x="49" y="21"/>
                  </a:lnTo>
                  <a:lnTo>
                    <a:pt x="41" y="21"/>
                  </a:lnTo>
                  <a:lnTo>
                    <a:pt x="34" y="21"/>
                  </a:lnTo>
                  <a:lnTo>
                    <a:pt x="30" y="21"/>
                  </a:lnTo>
                  <a:lnTo>
                    <a:pt x="24" y="21"/>
                  </a:lnTo>
                  <a:lnTo>
                    <a:pt x="19" y="21"/>
                  </a:lnTo>
                  <a:lnTo>
                    <a:pt x="15" y="21"/>
                  </a:lnTo>
                  <a:lnTo>
                    <a:pt x="13" y="23"/>
                  </a:lnTo>
                  <a:lnTo>
                    <a:pt x="7" y="23"/>
                  </a:lnTo>
                  <a:lnTo>
                    <a:pt x="3" y="23"/>
                  </a:lnTo>
                  <a:lnTo>
                    <a:pt x="2" y="23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9" y="30"/>
                  </a:lnTo>
                  <a:close/>
                </a:path>
              </a:pathLst>
            </a:custGeom>
            <a:solidFill>
              <a:srgbClr val="00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27" name="Freeform 26"/>
            <p:cNvSpPr>
              <a:spLocks/>
            </p:cNvSpPr>
            <p:nvPr/>
          </p:nvSpPr>
          <p:spPr bwMode="auto">
            <a:xfrm>
              <a:off x="4867" y="3331"/>
              <a:ext cx="155" cy="244"/>
            </a:xfrm>
            <a:custGeom>
              <a:avLst/>
              <a:gdLst>
                <a:gd name="T0" fmla="*/ 2 w 310"/>
                <a:gd name="T1" fmla="*/ 0 h 489"/>
                <a:gd name="T2" fmla="*/ 2 w 310"/>
                <a:gd name="T3" fmla="*/ 0 h 489"/>
                <a:gd name="T4" fmla="*/ 1 w 310"/>
                <a:gd name="T5" fmla="*/ 0 h 489"/>
                <a:gd name="T6" fmla="*/ 1 w 310"/>
                <a:gd name="T7" fmla="*/ 0 h 489"/>
                <a:gd name="T8" fmla="*/ 1 w 310"/>
                <a:gd name="T9" fmla="*/ 0 h 489"/>
                <a:gd name="T10" fmla="*/ 1 w 310"/>
                <a:gd name="T11" fmla="*/ 0 h 489"/>
                <a:gd name="T12" fmla="*/ 1 w 310"/>
                <a:gd name="T13" fmla="*/ 0 h 489"/>
                <a:gd name="T14" fmla="*/ 1 w 310"/>
                <a:gd name="T15" fmla="*/ 0 h 489"/>
                <a:gd name="T16" fmla="*/ 1 w 310"/>
                <a:gd name="T17" fmla="*/ 0 h 489"/>
                <a:gd name="T18" fmla="*/ 1 w 310"/>
                <a:gd name="T19" fmla="*/ 0 h 489"/>
                <a:gd name="T20" fmla="*/ 1 w 310"/>
                <a:gd name="T21" fmla="*/ 0 h 489"/>
                <a:gd name="T22" fmla="*/ 1 w 310"/>
                <a:gd name="T23" fmla="*/ 0 h 489"/>
                <a:gd name="T24" fmla="*/ 1 w 310"/>
                <a:gd name="T25" fmla="*/ 0 h 489"/>
                <a:gd name="T26" fmla="*/ 1 w 310"/>
                <a:gd name="T27" fmla="*/ 0 h 489"/>
                <a:gd name="T28" fmla="*/ 1 w 310"/>
                <a:gd name="T29" fmla="*/ 0 h 489"/>
                <a:gd name="T30" fmla="*/ 0 w 310"/>
                <a:gd name="T31" fmla="*/ 0 h 489"/>
                <a:gd name="T32" fmla="*/ 0 w 310"/>
                <a:gd name="T33" fmla="*/ 0 h 489"/>
                <a:gd name="T34" fmla="*/ 1 w 310"/>
                <a:gd name="T35" fmla="*/ 0 h 489"/>
                <a:gd name="T36" fmla="*/ 1 w 310"/>
                <a:gd name="T37" fmla="*/ 0 h 489"/>
                <a:gd name="T38" fmla="*/ 1 w 310"/>
                <a:gd name="T39" fmla="*/ 1 h 489"/>
                <a:gd name="T40" fmla="*/ 1 w 310"/>
                <a:gd name="T41" fmla="*/ 1 h 489"/>
                <a:gd name="T42" fmla="*/ 1 w 310"/>
                <a:gd name="T43" fmla="*/ 1 h 489"/>
                <a:gd name="T44" fmla="*/ 1 w 310"/>
                <a:gd name="T45" fmla="*/ 1 h 489"/>
                <a:gd name="T46" fmla="*/ 1 w 310"/>
                <a:gd name="T47" fmla="*/ 1 h 489"/>
                <a:gd name="T48" fmla="*/ 1 w 310"/>
                <a:gd name="T49" fmla="*/ 1 h 489"/>
                <a:gd name="T50" fmla="*/ 1 w 310"/>
                <a:gd name="T51" fmla="*/ 1 h 489"/>
                <a:gd name="T52" fmla="*/ 1 w 310"/>
                <a:gd name="T53" fmla="*/ 1 h 489"/>
                <a:gd name="T54" fmla="*/ 1 w 310"/>
                <a:gd name="T55" fmla="*/ 1 h 489"/>
                <a:gd name="T56" fmla="*/ 1 w 310"/>
                <a:gd name="T57" fmla="*/ 1 h 489"/>
                <a:gd name="T58" fmla="*/ 1 w 310"/>
                <a:gd name="T59" fmla="*/ 1 h 489"/>
                <a:gd name="T60" fmla="*/ 1 w 310"/>
                <a:gd name="T61" fmla="*/ 1 h 489"/>
                <a:gd name="T62" fmla="*/ 1 w 310"/>
                <a:gd name="T63" fmla="*/ 1 h 489"/>
                <a:gd name="T64" fmla="*/ 1 w 310"/>
                <a:gd name="T65" fmla="*/ 1 h 489"/>
                <a:gd name="T66" fmla="*/ 1 w 310"/>
                <a:gd name="T67" fmla="*/ 1 h 489"/>
                <a:gd name="T68" fmla="*/ 1 w 310"/>
                <a:gd name="T69" fmla="*/ 1 h 489"/>
                <a:gd name="T70" fmla="*/ 1 w 310"/>
                <a:gd name="T71" fmla="*/ 1 h 489"/>
                <a:gd name="T72" fmla="*/ 1 w 310"/>
                <a:gd name="T73" fmla="*/ 1 h 489"/>
                <a:gd name="T74" fmla="*/ 1 w 310"/>
                <a:gd name="T75" fmla="*/ 0 h 489"/>
                <a:gd name="T76" fmla="*/ 1 w 310"/>
                <a:gd name="T77" fmla="*/ 0 h 489"/>
                <a:gd name="T78" fmla="*/ 1 w 310"/>
                <a:gd name="T79" fmla="*/ 0 h 489"/>
                <a:gd name="T80" fmla="*/ 1 w 310"/>
                <a:gd name="T81" fmla="*/ 0 h 489"/>
                <a:gd name="T82" fmla="*/ 1 w 310"/>
                <a:gd name="T83" fmla="*/ 0 h 489"/>
                <a:gd name="T84" fmla="*/ 1 w 310"/>
                <a:gd name="T85" fmla="*/ 0 h 489"/>
                <a:gd name="T86" fmla="*/ 1 w 310"/>
                <a:gd name="T87" fmla="*/ 0 h 489"/>
                <a:gd name="T88" fmla="*/ 1 w 310"/>
                <a:gd name="T89" fmla="*/ 0 h 489"/>
                <a:gd name="T90" fmla="*/ 1 w 310"/>
                <a:gd name="T91" fmla="*/ 0 h 489"/>
                <a:gd name="T92" fmla="*/ 1 w 310"/>
                <a:gd name="T93" fmla="*/ 0 h 489"/>
                <a:gd name="T94" fmla="*/ 1 w 310"/>
                <a:gd name="T95" fmla="*/ 0 h 489"/>
                <a:gd name="T96" fmla="*/ 1 w 310"/>
                <a:gd name="T97" fmla="*/ 0 h 489"/>
                <a:gd name="T98" fmla="*/ 2 w 310"/>
                <a:gd name="T99" fmla="*/ 0 h 489"/>
                <a:gd name="T100" fmla="*/ 2 w 310"/>
                <a:gd name="T101" fmla="*/ 0 h 48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10" h="489">
                  <a:moveTo>
                    <a:pt x="308" y="34"/>
                  </a:moveTo>
                  <a:lnTo>
                    <a:pt x="310" y="32"/>
                  </a:lnTo>
                  <a:lnTo>
                    <a:pt x="308" y="29"/>
                  </a:lnTo>
                  <a:lnTo>
                    <a:pt x="302" y="27"/>
                  </a:lnTo>
                  <a:lnTo>
                    <a:pt x="298" y="25"/>
                  </a:lnTo>
                  <a:lnTo>
                    <a:pt x="291" y="23"/>
                  </a:lnTo>
                  <a:lnTo>
                    <a:pt x="285" y="21"/>
                  </a:lnTo>
                  <a:lnTo>
                    <a:pt x="278" y="17"/>
                  </a:lnTo>
                  <a:lnTo>
                    <a:pt x="270" y="15"/>
                  </a:lnTo>
                  <a:lnTo>
                    <a:pt x="262" y="13"/>
                  </a:lnTo>
                  <a:lnTo>
                    <a:pt x="255" y="11"/>
                  </a:lnTo>
                  <a:lnTo>
                    <a:pt x="249" y="10"/>
                  </a:lnTo>
                  <a:lnTo>
                    <a:pt x="243" y="10"/>
                  </a:lnTo>
                  <a:lnTo>
                    <a:pt x="238" y="8"/>
                  </a:lnTo>
                  <a:lnTo>
                    <a:pt x="234" y="6"/>
                  </a:lnTo>
                  <a:lnTo>
                    <a:pt x="228" y="6"/>
                  </a:lnTo>
                  <a:lnTo>
                    <a:pt x="224" y="4"/>
                  </a:lnTo>
                  <a:lnTo>
                    <a:pt x="219" y="4"/>
                  </a:lnTo>
                  <a:lnTo>
                    <a:pt x="213" y="4"/>
                  </a:lnTo>
                  <a:lnTo>
                    <a:pt x="209" y="2"/>
                  </a:lnTo>
                  <a:lnTo>
                    <a:pt x="203" y="0"/>
                  </a:lnTo>
                  <a:lnTo>
                    <a:pt x="198" y="0"/>
                  </a:lnTo>
                  <a:lnTo>
                    <a:pt x="192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lnTo>
                    <a:pt x="169" y="0"/>
                  </a:lnTo>
                  <a:lnTo>
                    <a:pt x="163" y="0"/>
                  </a:lnTo>
                  <a:lnTo>
                    <a:pt x="158" y="0"/>
                  </a:lnTo>
                  <a:lnTo>
                    <a:pt x="152" y="0"/>
                  </a:lnTo>
                  <a:lnTo>
                    <a:pt x="146" y="2"/>
                  </a:lnTo>
                  <a:lnTo>
                    <a:pt x="141" y="2"/>
                  </a:lnTo>
                  <a:lnTo>
                    <a:pt x="135" y="4"/>
                  </a:lnTo>
                  <a:lnTo>
                    <a:pt x="129" y="4"/>
                  </a:lnTo>
                  <a:lnTo>
                    <a:pt x="124" y="6"/>
                  </a:lnTo>
                  <a:lnTo>
                    <a:pt x="118" y="6"/>
                  </a:lnTo>
                  <a:lnTo>
                    <a:pt x="112" y="8"/>
                  </a:lnTo>
                  <a:lnTo>
                    <a:pt x="108" y="10"/>
                  </a:lnTo>
                  <a:lnTo>
                    <a:pt x="103" y="11"/>
                  </a:lnTo>
                  <a:lnTo>
                    <a:pt x="97" y="13"/>
                  </a:lnTo>
                  <a:lnTo>
                    <a:pt x="91" y="17"/>
                  </a:lnTo>
                  <a:lnTo>
                    <a:pt x="86" y="19"/>
                  </a:lnTo>
                  <a:lnTo>
                    <a:pt x="82" y="23"/>
                  </a:lnTo>
                  <a:lnTo>
                    <a:pt x="76" y="27"/>
                  </a:lnTo>
                  <a:lnTo>
                    <a:pt x="70" y="29"/>
                  </a:lnTo>
                  <a:lnTo>
                    <a:pt x="65" y="32"/>
                  </a:lnTo>
                  <a:lnTo>
                    <a:pt x="61" y="36"/>
                  </a:lnTo>
                  <a:lnTo>
                    <a:pt x="55" y="40"/>
                  </a:lnTo>
                  <a:lnTo>
                    <a:pt x="51" y="46"/>
                  </a:lnTo>
                  <a:lnTo>
                    <a:pt x="46" y="51"/>
                  </a:lnTo>
                  <a:lnTo>
                    <a:pt x="42" y="55"/>
                  </a:lnTo>
                  <a:lnTo>
                    <a:pt x="38" y="61"/>
                  </a:lnTo>
                  <a:lnTo>
                    <a:pt x="34" y="67"/>
                  </a:lnTo>
                  <a:lnTo>
                    <a:pt x="30" y="72"/>
                  </a:lnTo>
                  <a:lnTo>
                    <a:pt x="27" y="78"/>
                  </a:lnTo>
                  <a:lnTo>
                    <a:pt x="23" y="86"/>
                  </a:lnTo>
                  <a:lnTo>
                    <a:pt x="19" y="93"/>
                  </a:lnTo>
                  <a:lnTo>
                    <a:pt x="15" y="101"/>
                  </a:lnTo>
                  <a:lnTo>
                    <a:pt x="13" y="108"/>
                  </a:lnTo>
                  <a:lnTo>
                    <a:pt x="10" y="116"/>
                  </a:lnTo>
                  <a:lnTo>
                    <a:pt x="6" y="126"/>
                  </a:lnTo>
                  <a:lnTo>
                    <a:pt x="4" y="135"/>
                  </a:lnTo>
                  <a:lnTo>
                    <a:pt x="2" y="143"/>
                  </a:lnTo>
                  <a:lnTo>
                    <a:pt x="0" y="152"/>
                  </a:lnTo>
                  <a:lnTo>
                    <a:pt x="0" y="160"/>
                  </a:lnTo>
                  <a:lnTo>
                    <a:pt x="0" y="169"/>
                  </a:lnTo>
                  <a:lnTo>
                    <a:pt x="0" y="179"/>
                  </a:lnTo>
                  <a:lnTo>
                    <a:pt x="0" y="186"/>
                  </a:lnTo>
                  <a:lnTo>
                    <a:pt x="0" y="194"/>
                  </a:lnTo>
                  <a:lnTo>
                    <a:pt x="2" y="203"/>
                  </a:lnTo>
                  <a:lnTo>
                    <a:pt x="4" y="213"/>
                  </a:lnTo>
                  <a:lnTo>
                    <a:pt x="6" y="221"/>
                  </a:lnTo>
                  <a:lnTo>
                    <a:pt x="6" y="230"/>
                  </a:lnTo>
                  <a:lnTo>
                    <a:pt x="10" y="238"/>
                  </a:lnTo>
                  <a:lnTo>
                    <a:pt x="13" y="247"/>
                  </a:lnTo>
                  <a:lnTo>
                    <a:pt x="15" y="255"/>
                  </a:lnTo>
                  <a:lnTo>
                    <a:pt x="19" y="262"/>
                  </a:lnTo>
                  <a:lnTo>
                    <a:pt x="23" y="270"/>
                  </a:lnTo>
                  <a:lnTo>
                    <a:pt x="27" y="279"/>
                  </a:lnTo>
                  <a:lnTo>
                    <a:pt x="30" y="287"/>
                  </a:lnTo>
                  <a:lnTo>
                    <a:pt x="34" y="295"/>
                  </a:lnTo>
                  <a:lnTo>
                    <a:pt x="38" y="302"/>
                  </a:lnTo>
                  <a:lnTo>
                    <a:pt x="44" y="310"/>
                  </a:lnTo>
                  <a:lnTo>
                    <a:pt x="48" y="317"/>
                  </a:lnTo>
                  <a:lnTo>
                    <a:pt x="53" y="325"/>
                  </a:lnTo>
                  <a:lnTo>
                    <a:pt x="59" y="333"/>
                  </a:lnTo>
                  <a:lnTo>
                    <a:pt x="63" y="340"/>
                  </a:lnTo>
                  <a:lnTo>
                    <a:pt x="68" y="346"/>
                  </a:lnTo>
                  <a:lnTo>
                    <a:pt x="74" y="354"/>
                  </a:lnTo>
                  <a:lnTo>
                    <a:pt x="80" y="361"/>
                  </a:lnTo>
                  <a:lnTo>
                    <a:pt x="86" y="369"/>
                  </a:lnTo>
                  <a:lnTo>
                    <a:pt x="91" y="375"/>
                  </a:lnTo>
                  <a:lnTo>
                    <a:pt x="97" y="380"/>
                  </a:lnTo>
                  <a:lnTo>
                    <a:pt x="103" y="388"/>
                  </a:lnTo>
                  <a:lnTo>
                    <a:pt x="108" y="394"/>
                  </a:lnTo>
                  <a:lnTo>
                    <a:pt x="112" y="399"/>
                  </a:lnTo>
                  <a:lnTo>
                    <a:pt x="118" y="405"/>
                  </a:lnTo>
                  <a:lnTo>
                    <a:pt x="124" y="411"/>
                  </a:lnTo>
                  <a:lnTo>
                    <a:pt x="129" y="418"/>
                  </a:lnTo>
                  <a:lnTo>
                    <a:pt x="135" y="422"/>
                  </a:lnTo>
                  <a:lnTo>
                    <a:pt x="139" y="426"/>
                  </a:lnTo>
                  <a:lnTo>
                    <a:pt x="144" y="432"/>
                  </a:lnTo>
                  <a:lnTo>
                    <a:pt x="150" y="437"/>
                  </a:lnTo>
                  <a:lnTo>
                    <a:pt x="156" y="441"/>
                  </a:lnTo>
                  <a:lnTo>
                    <a:pt x="160" y="447"/>
                  </a:lnTo>
                  <a:lnTo>
                    <a:pt x="165" y="451"/>
                  </a:lnTo>
                  <a:lnTo>
                    <a:pt x="171" y="454"/>
                  </a:lnTo>
                  <a:lnTo>
                    <a:pt x="179" y="462"/>
                  </a:lnTo>
                  <a:lnTo>
                    <a:pt x="186" y="470"/>
                  </a:lnTo>
                  <a:lnTo>
                    <a:pt x="194" y="473"/>
                  </a:lnTo>
                  <a:lnTo>
                    <a:pt x="201" y="479"/>
                  </a:lnTo>
                  <a:lnTo>
                    <a:pt x="205" y="483"/>
                  </a:lnTo>
                  <a:lnTo>
                    <a:pt x="209" y="487"/>
                  </a:lnTo>
                  <a:lnTo>
                    <a:pt x="211" y="489"/>
                  </a:lnTo>
                  <a:lnTo>
                    <a:pt x="213" y="489"/>
                  </a:lnTo>
                  <a:lnTo>
                    <a:pt x="230" y="462"/>
                  </a:lnTo>
                  <a:lnTo>
                    <a:pt x="228" y="460"/>
                  </a:lnTo>
                  <a:lnTo>
                    <a:pt x="226" y="458"/>
                  </a:lnTo>
                  <a:lnTo>
                    <a:pt x="222" y="454"/>
                  </a:lnTo>
                  <a:lnTo>
                    <a:pt x="219" y="451"/>
                  </a:lnTo>
                  <a:lnTo>
                    <a:pt x="211" y="445"/>
                  </a:lnTo>
                  <a:lnTo>
                    <a:pt x="205" y="437"/>
                  </a:lnTo>
                  <a:lnTo>
                    <a:pt x="198" y="428"/>
                  </a:lnTo>
                  <a:lnTo>
                    <a:pt x="190" y="420"/>
                  </a:lnTo>
                  <a:lnTo>
                    <a:pt x="186" y="414"/>
                  </a:lnTo>
                  <a:lnTo>
                    <a:pt x="182" y="409"/>
                  </a:lnTo>
                  <a:lnTo>
                    <a:pt x="177" y="403"/>
                  </a:lnTo>
                  <a:lnTo>
                    <a:pt x="173" y="399"/>
                  </a:lnTo>
                  <a:lnTo>
                    <a:pt x="167" y="394"/>
                  </a:lnTo>
                  <a:lnTo>
                    <a:pt x="162" y="388"/>
                  </a:lnTo>
                  <a:lnTo>
                    <a:pt x="158" y="380"/>
                  </a:lnTo>
                  <a:lnTo>
                    <a:pt x="154" y="375"/>
                  </a:lnTo>
                  <a:lnTo>
                    <a:pt x="148" y="367"/>
                  </a:lnTo>
                  <a:lnTo>
                    <a:pt x="143" y="361"/>
                  </a:lnTo>
                  <a:lnTo>
                    <a:pt x="137" y="356"/>
                  </a:lnTo>
                  <a:lnTo>
                    <a:pt x="133" y="348"/>
                  </a:lnTo>
                  <a:lnTo>
                    <a:pt x="127" y="340"/>
                  </a:lnTo>
                  <a:lnTo>
                    <a:pt x="122" y="335"/>
                  </a:lnTo>
                  <a:lnTo>
                    <a:pt x="118" y="329"/>
                  </a:lnTo>
                  <a:lnTo>
                    <a:pt x="112" y="321"/>
                  </a:lnTo>
                  <a:lnTo>
                    <a:pt x="108" y="314"/>
                  </a:lnTo>
                  <a:lnTo>
                    <a:pt x="103" y="308"/>
                  </a:lnTo>
                  <a:lnTo>
                    <a:pt x="97" y="298"/>
                  </a:lnTo>
                  <a:lnTo>
                    <a:pt x="93" y="293"/>
                  </a:lnTo>
                  <a:lnTo>
                    <a:pt x="87" y="285"/>
                  </a:lnTo>
                  <a:lnTo>
                    <a:pt x="84" y="278"/>
                  </a:lnTo>
                  <a:lnTo>
                    <a:pt x="80" y="270"/>
                  </a:lnTo>
                  <a:lnTo>
                    <a:pt x="76" y="264"/>
                  </a:lnTo>
                  <a:lnTo>
                    <a:pt x="72" y="257"/>
                  </a:lnTo>
                  <a:lnTo>
                    <a:pt x="68" y="249"/>
                  </a:lnTo>
                  <a:lnTo>
                    <a:pt x="65" y="241"/>
                  </a:lnTo>
                  <a:lnTo>
                    <a:pt x="61" y="236"/>
                  </a:lnTo>
                  <a:lnTo>
                    <a:pt x="59" y="228"/>
                  </a:lnTo>
                  <a:lnTo>
                    <a:pt x="55" y="221"/>
                  </a:lnTo>
                  <a:lnTo>
                    <a:pt x="53" y="213"/>
                  </a:lnTo>
                  <a:lnTo>
                    <a:pt x="51" y="207"/>
                  </a:lnTo>
                  <a:lnTo>
                    <a:pt x="49" y="200"/>
                  </a:lnTo>
                  <a:lnTo>
                    <a:pt x="48" y="194"/>
                  </a:lnTo>
                  <a:lnTo>
                    <a:pt x="46" y="186"/>
                  </a:lnTo>
                  <a:lnTo>
                    <a:pt x="44" y="181"/>
                  </a:lnTo>
                  <a:lnTo>
                    <a:pt x="44" y="173"/>
                  </a:lnTo>
                  <a:lnTo>
                    <a:pt x="44" y="167"/>
                  </a:lnTo>
                  <a:lnTo>
                    <a:pt x="44" y="162"/>
                  </a:lnTo>
                  <a:lnTo>
                    <a:pt x="44" y="156"/>
                  </a:lnTo>
                  <a:lnTo>
                    <a:pt x="44" y="150"/>
                  </a:lnTo>
                  <a:lnTo>
                    <a:pt x="46" y="145"/>
                  </a:lnTo>
                  <a:lnTo>
                    <a:pt x="48" y="139"/>
                  </a:lnTo>
                  <a:lnTo>
                    <a:pt x="49" y="135"/>
                  </a:lnTo>
                  <a:lnTo>
                    <a:pt x="55" y="126"/>
                  </a:lnTo>
                  <a:lnTo>
                    <a:pt x="65" y="118"/>
                  </a:lnTo>
                  <a:lnTo>
                    <a:pt x="72" y="108"/>
                  </a:lnTo>
                  <a:lnTo>
                    <a:pt x="82" y="101"/>
                  </a:lnTo>
                  <a:lnTo>
                    <a:pt x="89" y="93"/>
                  </a:lnTo>
                  <a:lnTo>
                    <a:pt x="101" y="88"/>
                  </a:lnTo>
                  <a:lnTo>
                    <a:pt x="108" y="82"/>
                  </a:lnTo>
                  <a:lnTo>
                    <a:pt x="120" y="78"/>
                  </a:lnTo>
                  <a:lnTo>
                    <a:pt x="124" y="74"/>
                  </a:lnTo>
                  <a:lnTo>
                    <a:pt x="129" y="72"/>
                  </a:lnTo>
                  <a:lnTo>
                    <a:pt x="135" y="70"/>
                  </a:lnTo>
                  <a:lnTo>
                    <a:pt x="141" y="69"/>
                  </a:lnTo>
                  <a:lnTo>
                    <a:pt x="150" y="63"/>
                  </a:lnTo>
                  <a:lnTo>
                    <a:pt x="160" y="59"/>
                  </a:lnTo>
                  <a:lnTo>
                    <a:pt x="163" y="57"/>
                  </a:lnTo>
                  <a:lnTo>
                    <a:pt x="169" y="55"/>
                  </a:lnTo>
                  <a:lnTo>
                    <a:pt x="175" y="53"/>
                  </a:lnTo>
                  <a:lnTo>
                    <a:pt x="181" y="53"/>
                  </a:lnTo>
                  <a:lnTo>
                    <a:pt x="190" y="50"/>
                  </a:lnTo>
                  <a:lnTo>
                    <a:pt x="200" y="48"/>
                  </a:lnTo>
                  <a:lnTo>
                    <a:pt x="205" y="46"/>
                  </a:lnTo>
                  <a:lnTo>
                    <a:pt x="209" y="44"/>
                  </a:lnTo>
                  <a:lnTo>
                    <a:pt x="215" y="44"/>
                  </a:lnTo>
                  <a:lnTo>
                    <a:pt x="221" y="44"/>
                  </a:lnTo>
                  <a:lnTo>
                    <a:pt x="228" y="40"/>
                  </a:lnTo>
                  <a:lnTo>
                    <a:pt x="238" y="40"/>
                  </a:lnTo>
                  <a:lnTo>
                    <a:pt x="245" y="38"/>
                  </a:lnTo>
                  <a:lnTo>
                    <a:pt x="255" y="38"/>
                  </a:lnTo>
                  <a:lnTo>
                    <a:pt x="260" y="36"/>
                  </a:lnTo>
                  <a:lnTo>
                    <a:pt x="268" y="34"/>
                  </a:lnTo>
                  <a:lnTo>
                    <a:pt x="276" y="34"/>
                  </a:lnTo>
                  <a:lnTo>
                    <a:pt x="283" y="34"/>
                  </a:lnTo>
                  <a:lnTo>
                    <a:pt x="287" y="34"/>
                  </a:lnTo>
                  <a:lnTo>
                    <a:pt x="293" y="34"/>
                  </a:lnTo>
                  <a:lnTo>
                    <a:pt x="297" y="34"/>
                  </a:lnTo>
                  <a:lnTo>
                    <a:pt x="300" y="34"/>
                  </a:lnTo>
                  <a:lnTo>
                    <a:pt x="306" y="34"/>
                  </a:lnTo>
                  <a:lnTo>
                    <a:pt x="308" y="34"/>
                  </a:lnTo>
                  <a:close/>
                </a:path>
              </a:pathLst>
            </a:custGeom>
            <a:solidFill>
              <a:srgbClr val="00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28" name="Freeform 27"/>
            <p:cNvSpPr>
              <a:spLocks/>
            </p:cNvSpPr>
            <p:nvPr/>
          </p:nvSpPr>
          <p:spPr bwMode="auto">
            <a:xfrm>
              <a:off x="5012" y="3204"/>
              <a:ext cx="151" cy="37"/>
            </a:xfrm>
            <a:custGeom>
              <a:avLst/>
              <a:gdLst>
                <a:gd name="T0" fmla="*/ 1 w 302"/>
                <a:gd name="T1" fmla="*/ 0 h 75"/>
                <a:gd name="T2" fmla="*/ 1 w 302"/>
                <a:gd name="T3" fmla="*/ 0 h 75"/>
                <a:gd name="T4" fmla="*/ 1 w 302"/>
                <a:gd name="T5" fmla="*/ 0 h 75"/>
                <a:gd name="T6" fmla="*/ 1 w 302"/>
                <a:gd name="T7" fmla="*/ 0 h 75"/>
                <a:gd name="T8" fmla="*/ 0 w 302"/>
                <a:gd name="T9" fmla="*/ 0 h 75"/>
                <a:gd name="T10" fmla="*/ 1 w 302"/>
                <a:gd name="T11" fmla="*/ 0 h 75"/>
                <a:gd name="T12" fmla="*/ 1 w 302"/>
                <a:gd name="T13" fmla="*/ 0 h 75"/>
                <a:gd name="T14" fmla="*/ 1 w 302"/>
                <a:gd name="T15" fmla="*/ 0 h 75"/>
                <a:gd name="T16" fmla="*/ 1 w 302"/>
                <a:gd name="T17" fmla="*/ 0 h 75"/>
                <a:gd name="T18" fmla="*/ 1 w 302"/>
                <a:gd name="T19" fmla="*/ 0 h 75"/>
                <a:gd name="T20" fmla="*/ 1 w 302"/>
                <a:gd name="T21" fmla="*/ 0 h 75"/>
                <a:gd name="T22" fmla="*/ 1 w 302"/>
                <a:gd name="T23" fmla="*/ 0 h 75"/>
                <a:gd name="T24" fmla="*/ 1 w 302"/>
                <a:gd name="T25" fmla="*/ 0 h 75"/>
                <a:gd name="T26" fmla="*/ 1 w 302"/>
                <a:gd name="T27" fmla="*/ 0 h 75"/>
                <a:gd name="T28" fmla="*/ 1 w 302"/>
                <a:gd name="T29" fmla="*/ 0 h 75"/>
                <a:gd name="T30" fmla="*/ 1 w 302"/>
                <a:gd name="T31" fmla="*/ 0 h 75"/>
                <a:gd name="T32" fmla="*/ 1 w 302"/>
                <a:gd name="T33" fmla="*/ 0 h 75"/>
                <a:gd name="T34" fmla="*/ 1 w 302"/>
                <a:gd name="T35" fmla="*/ 0 h 75"/>
                <a:gd name="T36" fmla="*/ 1 w 302"/>
                <a:gd name="T37" fmla="*/ 0 h 75"/>
                <a:gd name="T38" fmla="*/ 1 w 302"/>
                <a:gd name="T39" fmla="*/ 0 h 75"/>
                <a:gd name="T40" fmla="*/ 1 w 302"/>
                <a:gd name="T41" fmla="*/ 0 h 75"/>
                <a:gd name="T42" fmla="*/ 1 w 302"/>
                <a:gd name="T43" fmla="*/ 0 h 75"/>
                <a:gd name="T44" fmla="*/ 1 w 302"/>
                <a:gd name="T45" fmla="*/ 0 h 75"/>
                <a:gd name="T46" fmla="*/ 1 w 302"/>
                <a:gd name="T47" fmla="*/ 0 h 75"/>
                <a:gd name="T48" fmla="*/ 1 w 302"/>
                <a:gd name="T49" fmla="*/ 0 h 75"/>
                <a:gd name="T50" fmla="*/ 1 w 302"/>
                <a:gd name="T51" fmla="*/ 0 h 75"/>
                <a:gd name="T52" fmla="*/ 1 w 302"/>
                <a:gd name="T53" fmla="*/ 0 h 75"/>
                <a:gd name="T54" fmla="*/ 2 w 302"/>
                <a:gd name="T55" fmla="*/ 0 h 75"/>
                <a:gd name="T56" fmla="*/ 2 w 302"/>
                <a:gd name="T57" fmla="*/ 0 h 75"/>
                <a:gd name="T58" fmla="*/ 2 w 302"/>
                <a:gd name="T59" fmla="*/ 0 h 75"/>
                <a:gd name="T60" fmla="*/ 2 w 302"/>
                <a:gd name="T61" fmla="*/ 0 h 75"/>
                <a:gd name="T62" fmla="*/ 2 w 302"/>
                <a:gd name="T63" fmla="*/ 0 h 75"/>
                <a:gd name="T64" fmla="*/ 2 w 302"/>
                <a:gd name="T65" fmla="*/ 0 h 75"/>
                <a:gd name="T66" fmla="*/ 2 w 302"/>
                <a:gd name="T67" fmla="*/ 0 h 75"/>
                <a:gd name="T68" fmla="*/ 2 w 302"/>
                <a:gd name="T69" fmla="*/ 0 h 75"/>
                <a:gd name="T70" fmla="*/ 1 w 302"/>
                <a:gd name="T71" fmla="*/ 0 h 75"/>
                <a:gd name="T72" fmla="*/ 1 w 302"/>
                <a:gd name="T73" fmla="*/ 0 h 75"/>
                <a:gd name="T74" fmla="*/ 1 w 302"/>
                <a:gd name="T75" fmla="*/ 0 h 75"/>
                <a:gd name="T76" fmla="*/ 1 w 302"/>
                <a:gd name="T77" fmla="*/ 0 h 75"/>
                <a:gd name="T78" fmla="*/ 1 w 302"/>
                <a:gd name="T79" fmla="*/ 0 h 75"/>
                <a:gd name="T80" fmla="*/ 1 w 302"/>
                <a:gd name="T81" fmla="*/ 0 h 75"/>
                <a:gd name="T82" fmla="*/ 1 w 302"/>
                <a:gd name="T83" fmla="*/ 0 h 75"/>
                <a:gd name="T84" fmla="*/ 1 w 302"/>
                <a:gd name="T85" fmla="*/ 0 h 75"/>
                <a:gd name="T86" fmla="*/ 1 w 302"/>
                <a:gd name="T87" fmla="*/ 0 h 75"/>
                <a:gd name="T88" fmla="*/ 1 w 302"/>
                <a:gd name="T89" fmla="*/ 0 h 75"/>
                <a:gd name="T90" fmla="*/ 1 w 302"/>
                <a:gd name="T91" fmla="*/ 0 h 75"/>
                <a:gd name="T92" fmla="*/ 1 w 302"/>
                <a:gd name="T93" fmla="*/ 0 h 75"/>
                <a:gd name="T94" fmla="*/ 1 w 302"/>
                <a:gd name="T95" fmla="*/ 0 h 75"/>
                <a:gd name="T96" fmla="*/ 1 w 302"/>
                <a:gd name="T97" fmla="*/ 0 h 75"/>
                <a:gd name="T98" fmla="*/ 1 w 302"/>
                <a:gd name="T99" fmla="*/ 0 h 75"/>
                <a:gd name="T100" fmla="*/ 1 w 302"/>
                <a:gd name="T101" fmla="*/ 0 h 75"/>
                <a:gd name="T102" fmla="*/ 1 w 302"/>
                <a:gd name="T103" fmla="*/ 0 h 75"/>
                <a:gd name="T104" fmla="*/ 1 w 302"/>
                <a:gd name="T105" fmla="*/ 0 h 75"/>
                <a:gd name="T106" fmla="*/ 1 w 302"/>
                <a:gd name="T107" fmla="*/ 0 h 75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302" h="75">
                  <a:moveTo>
                    <a:pt x="47" y="0"/>
                  </a:moveTo>
                  <a:lnTo>
                    <a:pt x="44" y="0"/>
                  </a:lnTo>
                  <a:lnTo>
                    <a:pt x="38" y="2"/>
                  </a:lnTo>
                  <a:lnTo>
                    <a:pt x="32" y="4"/>
                  </a:lnTo>
                  <a:lnTo>
                    <a:pt x="27" y="6"/>
                  </a:lnTo>
                  <a:lnTo>
                    <a:pt x="23" y="10"/>
                  </a:lnTo>
                  <a:lnTo>
                    <a:pt x="19" y="14"/>
                  </a:lnTo>
                  <a:lnTo>
                    <a:pt x="9" y="19"/>
                  </a:lnTo>
                  <a:lnTo>
                    <a:pt x="2" y="27"/>
                  </a:lnTo>
                  <a:lnTo>
                    <a:pt x="0" y="33"/>
                  </a:lnTo>
                  <a:lnTo>
                    <a:pt x="2" y="37"/>
                  </a:lnTo>
                  <a:lnTo>
                    <a:pt x="2" y="42"/>
                  </a:lnTo>
                  <a:lnTo>
                    <a:pt x="8" y="48"/>
                  </a:lnTo>
                  <a:lnTo>
                    <a:pt x="9" y="50"/>
                  </a:lnTo>
                  <a:lnTo>
                    <a:pt x="13" y="54"/>
                  </a:lnTo>
                  <a:lnTo>
                    <a:pt x="19" y="56"/>
                  </a:lnTo>
                  <a:lnTo>
                    <a:pt x="25" y="59"/>
                  </a:lnTo>
                  <a:lnTo>
                    <a:pt x="32" y="61"/>
                  </a:lnTo>
                  <a:lnTo>
                    <a:pt x="42" y="63"/>
                  </a:lnTo>
                  <a:lnTo>
                    <a:pt x="46" y="63"/>
                  </a:lnTo>
                  <a:lnTo>
                    <a:pt x="49" y="65"/>
                  </a:lnTo>
                  <a:lnTo>
                    <a:pt x="55" y="65"/>
                  </a:lnTo>
                  <a:lnTo>
                    <a:pt x="61" y="67"/>
                  </a:lnTo>
                  <a:lnTo>
                    <a:pt x="66" y="67"/>
                  </a:lnTo>
                  <a:lnTo>
                    <a:pt x="72" y="67"/>
                  </a:lnTo>
                  <a:lnTo>
                    <a:pt x="76" y="69"/>
                  </a:lnTo>
                  <a:lnTo>
                    <a:pt x="82" y="69"/>
                  </a:lnTo>
                  <a:lnTo>
                    <a:pt x="87" y="69"/>
                  </a:lnTo>
                  <a:lnTo>
                    <a:pt x="95" y="71"/>
                  </a:lnTo>
                  <a:lnTo>
                    <a:pt x="101" y="71"/>
                  </a:lnTo>
                  <a:lnTo>
                    <a:pt x="106" y="71"/>
                  </a:lnTo>
                  <a:lnTo>
                    <a:pt x="112" y="71"/>
                  </a:lnTo>
                  <a:lnTo>
                    <a:pt x="120" y="71"/>
                  </a:lnTo>
                  <a:lnTo>
                    <a:pt x="125" y="73"/>
                  </a:lnTo>
                  <a:lnTo>
                    <a:pt x="133" y="75"/>
                  </a:lnTo>
                  <a:lnTo>
                    <a:pt x="139" y="75"/>
                  </a:lnTo>
                  <a:lnTo>
                    <a:pt x="146" y="75"/>
                  </a:lnTo>
                  <a:lnTo>
                    <a:pt x="152" y="75"/>
                  </a:lnTo>
                  <a:lnTo>
                    <a:pt x="160" y="75"/>
                  </a:lnTo>
                  <a:lnTo>
                    <a:pt x="165" y="75"/>
                  </a:lnTo>
                  <a:lnTo>
                    <a:pt x="171" y="75"/>
                  </a:lnTo>
                  <a:lnTo>
                    <a:pt x="177" y="75"/>
                  </a:lnTo>
                  <a:lnTo>
                    <a:pt x="184" y="75"/>
                  </a:lnTo>
                  <a:lnTo>
                    <a:pt x="190" y="75"/>
                  </a:lnTo>
                  <a:lnTo>
                    <a:pt x="196" y="75"/>
                  </a:lnTo>
                  <a:lnTo>
                    <a:pt x="201" y="75"/>
                  </a:lnTo>
                  <a:lnTo>
                    <a:pt x="209" y="75"/>
                  </a:lnTo>
                  <a:lnTo>
                    <a:pt x="215" y="75"/>
                  </a:lnTo>
                  <a:lnTo>
                    <a:pt x="220" y="75"/>
                  </a:lnTo>
                  <a:lnTo>
                    <a:pt x="226" y="75"/>
                  </a:lnTo>
                  <a:lnTo>
                    <a:pt x="232" y="75"/>
                  </a:lnTo>
                  <a:lnTo>
                    <a:pt x="238" y="75"/>
                  </a:lnTo>
                  <a:lnTo>
                    <a:pt x="243" y="75"/>
                  </a:lnTo>
                  <a:lnTo>
                    <a:pt x="249" y="75"/>
                  </a:lnTo>
                  <a:lnTo>
                    <a:pt x="253" y="75"/>
                  </a:lnTo>
                  <a:lnTo>
                    <a:pt x="262" y="75"/>
                  </a:lnTo>
                  <a:lnTo>
                    <a:pt x="272" y="73"/>
                  </a:lnTo>
                  <a:lnTo>
                    <a:pt x="277" y="71"/>
                  </a:lnTo>
                  <a:lnTo>
                    <a:pt x="285" y="71"/>
                  </a:lnTo>
                  <a:lnTo>
                    <a:pt x="291" y="71"/>
                  </a:lnTo>
                  <a:lnTo>
                    <a:pt x="296" y="69"/>
                  </a:lnTo>
                  <a:lnTo>
                    <a:pt x="298" y="69"/>
                  </a:lnTo>
                  <a:lnTo>
                    <a:pt x="302" y="67"/>
                  </a:lnTo>
                  <a:lnTo>
                    <a:pt x="300" y="63"/>
                  </a:lnTo>
                  <a:lnTo>
                    <a:pt x="295" y="59"/>
                  </a:lnTo>
                  <a:lnTo>
                    <a:pt x="287" y="56"/>
                  </a:lnTo>
                  <a:lnTo>
                    <a:pt x="281" y="54"/>
                  </a:lnTo>
                  <a:lnTo>
                    <a:pt x="274" y="52"/>
                  </a:lnTo>
                  <a:lnTo>
                    <a:pt x="266" y="50"/>
                  </a:lnTo>
                  <a:lnTo>
                    <a:pt x="260" y="48"/>
                  </a:lnTo>
                  <a:lnTo>
                    <a:pt x="257" y="48"/>
                  </a:lnTo>
                  <a:lnTo>
                    <a:pt x="251" y="44"/>
                  </a:lnTo>
                  <a:lnTo>
                    <a:pt x="247" y="44"/>
                  </a:lnTo>
                  <a:lnTo>
                    <a:pt x="241" y="42"/>
                  </a:lnTo>
                  <a:lnTo>
                    <a:pt x="236" y="42"/>
                  </a:lnTo>
                  <a:lnTo>
                    <a:pt x="230" y="40"/>
                  </a:lnTo>
                  <a:lnTo>
                    <a:pt x="226" y="38"/>
                  </a:lnTo>
                  <a:lnTo>
                    <a:pt x="219" y="37"/>
                  </a:lnTo>
                  <a:lnTo>
                    <a:pt x="213" y="37"/>
                  </a:lnTo>
                  <a:lnTo>
                    <a:pt x="207" y="35"/>
                  </a:lnTo>
                  <a:lnTo>
                    <a:pt x="201" y="33"/>
                  </a:lnTo>
                  <a:lnTo>
                    <a:pt x="196" y="31"/>
                  </a:lnTo>
                  <a:lnTo>
                    <a:pt x="190" y="31"/>
                  </a:lnTo>
                  <a:lnTo>
                    <a:pt x="184" y="29"/>
                  </a:lnTo>
                  <a:lnTo>
                    <a:pt x="179" y="27"/>
                  </a:lnTo>
                  <a:lnTo>
                    <a:pt x="173" y="25"/>
                  </a:lnTo>
                  <a:lnTo>
                    <a:pt x="165" y="25"/>
                  </a:lnTo>
                  <a:lnTo>
                    <a:pt x="160" y="23"/>
                  </a:lnTo>
                  <a:lnTo>
                    <a:pt x="154" y="21"/>
                  </a:lnTo>
                  <a:lnTo>
                    <a:pt x="148" y="21"/>
                  </a:lnTo>
                  <a:lnTo>
                    <a:pt x="141" y="19"/>
                  </a:lnTo>
                  <a:lnTo>
                    <a:pt x="135" y="18"/>
                  </a:lnTo>
                  <a:lnTo>
                    <a:pt x="129" y="18"/>
                  </a:lnTo>
                  <a:lnTo>
                    <a:pt x="124" y="16"/>
                  </a:lnTo>
                  <a:lnTo>
                    <a:pt x="118" y="14"/>
                  </a:lnTo>
                  <a:lnTo>
                    <a:pt x="112" y="12"/>
                  </a:lnTo>
                  <a:lnTo>
                    <a:pt x="106" y="12"/>
                  </a:lnTo>
                  <a:lnTo>
                    <a:pt x="101" y="10"/>
                  </a:lnTo>
                  <a:lnTo>
                    <a:pt x="97" y="10"/>
                  </a:lnTo>
                  <a:lnTo>
                    <a:pt x="91" y="8"/>
                  </a:lnTo>
                  <a:lnTo>
                    <a:pt x="87" y="8"/>
                  </a:lnTo>
                  <a:lnTo>
                    <a:pt x="78" y="6"/>
                  </a:lnTo>
                  <a:lnTo>
                    <a:pt x="72" y="4"/>
                  </a:lnTo>
                  <a:lnTo>
                    <a:pt x="65" y="2"/>
                  </a:lnTo>
                  <a:lnTo>
                    <a:pt x="59" y="2"/>
                  </a:lnTo>
                  <a:lnTo>
                    <a:pt x="53" y="0"/>
                  </a:lnTo>
                  <a:lnTo>
                    <a:pt x="49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00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29" name="Freeform 28"/>
            <p:cNvSpPr>
              <a:spLocks/>
            </p:cNvSpPr>
            <p:nvPr/>
          </p:nvSpPr>
          <p:spPr bwMode="auto">
            <a:xfrm>
              <a:off x="5030" y="3158"/>
              <a:ext cx="141" cy="71"/>
            </a:xfrm>
            <a:custGeom>
              <a:avLst/>
              <a:gdLst>
                <a:gd name="T0" fmla="*/ 1 w 281"/>
                <a:gd name="T1" fmla="*/ 0 h 143"/>
                <a:gd name="T2" fmla="*/ 1 w 281"/>
                <a:gd name="T3" fmla="*/ 0 h 143"/>
                <a:gd name="T4" fmla="*/ 1 w 281"/>
                <a:gd name="T5" fmla="*/ 0 h 143"/>
                <a:gd name="T6" fmla="*/ 0 w 281"/>
                <a:gd name="T7" fmla="*/ 0 h 143"/>
                <a:gd name="T8" fmla="*/ 1 w 281"/>
                <a:gd name="T9" fmla="*/ 0 h 143"/>
                <a:gd name="T10" fmla="*/ 1 w 281"/>
                <a:gd name="T11" fmla="*/ 0 h 143"/>
                <a:gd name="T12" fmla="*/ 1 w 281"/>
                <a:gd name="T13" fmla="*/ 0 h 143"/>
                <a:gd name="T14" fmla="*/ 1 w 281"/>
                <a:gd name="T15" fmla="*/ 0 h 143"/>
                <a:gd name="T16" fmla="*/ 1 w 281"/>
                <a:gd name="T17" fmla="*/ 0 h 143"/>
                <a:gd name="T18" fmla="*/ 1 w 281"/>
                <a:gd name="T19" fmla="*/ 0 h 143"/>
                <a:gd name="T20" fmla="*/ 1 w 281"/>
                <a:gd name="T21" fmla="*/ 0 h 143"/>
                <a:gd name="T22" fmla="*/ 1 w 281"/>
                <a:gd name="T23" fmla="*/ 0 h 143"/>
                <a:gd name="T24" fmla="*/ 1 w 281"/>
                <a:gd name="T25" fmla="*/ 0 h 143"/>
                <a:gd name="T26" fmla="*/ 1 w 281"/>
                <a:gd name="T27" fmla="*/ 0 h 143"/>
                <a:gd name="T28" fmla="*/ 1 w 281"/>
                <a:gd name="T29" fmla="*/ 0 h 143"/>
                <a:gd name="T30" fmla="*/ 1 w 281"/>
                <a:gd name="T31" fmla="*/ 0 h 143"/>
                <a:gd name="T32" fmla="*/ 1 w 281"/>
                <a:gd name="T33" fmla="*/ 0 h 143"/>
                <a:gd name="T34" fmla="*/ 1 w 281"/>
                <a:gd name="T35" fmla="*/ 0 h 143"/>
                <a:gd name="T36" fmla="*/ 1 w 281"/>
                <a:gd name="T37" fmla="*/ 0 h 143"/>
                <a:gd name="T38" fmla="*/ 1 w 281"/>
                <a:gd name="T39" fmla="*/ 0 h 143"/>
                <a:gd name="T40" fmla="*/ 1 w 281"/>
                <a:gd name="T41" fmla="*/ 0 h 143"/>
                <a:gd name="T42" fmla="*/ 1 w 281"/>
                <a:gd name="T43" fmla="*/ 0 h 143"/>
                <a:gd name="T44" fmla="*/ 1 w 281"/>
                <a:gd name="T45" fmla="*/ 0 h 143"/>
                <a:gd name="T46" fmla="*/ 1 w 281"/>
                <a:gd name="T47" fmla="*/ 0 h 143"/>
                <a:gd name="T48" fmla="*/ 1 w 281"/>
                <a:gd name="T49" fmla="*/ 0 h 143"/>
                <a:gd name="T50" fmla="*/ 2 w 281"/>
                <a:gd name="T51" fmla="*/ 0 h 143"/>
                <a:gd name="T52" fmla="*/ 2 w 281"/>
                <a:gd name="T53" fmla="*/ 0 h 143"/>
                <a:gd name="T54" fmla="*/ 2 w 281"/>
                <a:gd name="T55" fmla="*/ 0 h 143"/>
                <a:gd name="T56" fmla="*/ 2 w 281"/>
                <a:gd name="T57" fmla="*/ 0 h 143"/>
                <a:gd name="T58" fmla="*/ 2 w 281"/>
                <a:gd name="T59" fmla="*/ 0 h 143"/>
                <a:gd name="T60" fmla="*/ 2 w 281"/>
                <a:gd name="T61" fmla="*/ 0 h 143"/>
                <a:gd name="T62" fmla="*/ 2 w 281"/>
                <a:gd name="T63" fmla="*/ 0 h 143"/>
                <a:gd name="T64" fmla="*/ 2 w 281"/>
                <a:gd name="T65" fmla="*/ 0 h 143"/>
                <a:gd name="T66" fmla="*/ 2 w 281"/>
                <a:gd name="T67" fmla="*/ 0 h 143"/>
                <a:gd name="T68" fmla="*/ 1 w 281"/>
                <a:gd name="T69" fmla="*/ 0 h 143"/>
                <a:gd name="T70" fmla="*/ 1 w 281"/>
                <a:gd name="T71" fmla="*/ 0 h 143"/>
                <a:gd name="T72" fmla="*/ 1 w 281"/>
                <a:gd name="T73" fmla="*/ 0 h 143"/>
                <a:gd name="T74" fmla="*/ 1 w 281"/>
                <a:gd name="T75" fmla="*/ 0 h 143"/>
                <a:gd name="T76" fmla="*/ 1 w 281"/>
                <a:gd name="T77" fmla="*/ 0 h 143"/>
                <a:gd name="T78" fmla="*/ 1 w 281"/>
                <a:gd name="T79" fmla="*/ 0 h 143"/>
                <a:gd name="T80" fmla="*/ 1 w 281"/>
                <a:gd name="T81" fmla="*/ 0 h 143"/>
                <a:gd name="T82" fmla="*/ 1 w 281"/>
                <a:gd name="T83" fmla="*/ 0 h 143"/>
                <a:gd name="T84" fmla="*/ 1 w 281"/>
                <a:gd name="T85" fmla="*/ 0 h 143"/>
                <a:gd name="T86" fmla="*/ 1 w 281"/>
                <a:gd name="T87" fmla="*/ 0 h 143"/>
                <a:gd name="T88" fmla="*/ 1 w 281"/>
                <a:gd name="T89" fmla="*/ 0 h 143"/>
                <a:gd name="T90" fmla="*/ 1 w 281"/>
                <a:gd name="T91" fmla="*/ 0 h 143"/>
                <a:gd name="T92" fmla="*/ 1 w 281"/>
                <a:gd name="T93" fmla="*/ 0 h 143"/>
                <a:gd name="T94" fmla="*/ 1 w 281"/>
                <a:gd name="T95" fmla="*/ 0 h 143"/>
                <a:gd name="T96" fmla="*/ 1 w 281"/>
                <a:gd name="T97" fmla="*/ 0 h 143"/>
                <a:gd name="T98" fmla="*/ 1 w 281"/>
                <a:gd name="T99" fmla="*/ 0 h 143"/>
                <a:gd name="T100" fmla="*/ 1 w 281"/>
                <a:gd name="T101" fmla="*/ 0 h 143"/>
                <a:gd name="T102" fmla="*/ 1 w 281"/>
                <a:gd name="T103" fmla="*/ 0 h 143"/>
                <a:gd name="T104" fmla="*/ 1 w 281"/>
                <a:gd name="T105" fmla="*/ 0 h 143"/>
                <a:gd name="T106" fmla="*/ 1 w 281"/>
                <a:gd name="T107" fmla="*/ 0 h 143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81" h="143">
                  <a:moveTo>
                    <a:pt x="10" y="112"/>
                  </a:moveTo>
                  <a:lnTo>
                    <a:pt x="10" y="112"/>
                  </a:lnTo>
                  <a:lnTo>
                    <a:pt x="8" y="110"/>
                  </a:lnTo>
                  <a:lnTo>
                    <a:pt x="6" y="105"/>
                  </a:lnTo>
                  <a:lnTo>
                    <a:pt x="4" y="101"/>
                  </a:lnTo>
                  <a:lnTo>
                    <a:pt x="2" y="93"/>
                  </a:lnTo>
                  <a:lnTo>
                    <a:pt x="0" y="86"/>
                  </a:lnTo>
                  <a:lnTo>
                    <a:pt x="0" y="78"/>
                  </a:lnTo>
                  <a:lnTo>
                    <a:pt x="2" y="70"/>
                  </a:lnTo>
                  <a:lnTo>
                    <a:pt x="6" y="61"/>
                  </a:lnTo>
                  <a:lnTo>
                    <a:pt x="10" y="53"/>
                  </a:lnTo>
                  <a:lnTo>
                    <a:pt x="13" y="48"/>
                  </a:lnTo>
                  <a:lnTo>
                    <a:pt x="19" y="44"/>
                  </a:lnTo>
                  <a:lnTo>
                    <a:pt x="23" y="38"/>
                  </a:lnTo>
                  <a:lnTo>
                    <a:pt x="30" y="34"/>
                  </a:lnTo>
                  <a:lnTo>
                    <a:pt x="36" y="31"/>
                  </a:lnTo>
                  <a:lnTo>
                    <a:pt x="44" y="27"/>
                  </a:lnTo>
                  <a:lnTo>
                    <a:pt x="51" y="21"/>
                  </a:lnTo>
                  <a:lnTo>
                    <a:pt x="63" y="19"/>
                  </a:lnTo>
                  <a:lnTo>
                    <a:pt x="67" y="15"/>
                  </a:lnTo>
                  <a:lnTo>
                    <a:pt x="72" y="13"/>
                  </a:lnTo>
                  <a:lnTo>
                    <a:pt x="78" y="12"/>
                  </a:lnTo>
                  <a:lnTo>
                    <a:pt x="84" y="10"/>
                  </a:lnTo>
                  <a:lnTo>
                    <a:pt x="89" y="8"/>
                  </a:lnTo>
                  <a:lnTo>
                    <a:pt x="97" y="8"/>
                  </a:lnTo>
                  <a:lnTo>
                    <a:pt x="103" y="6"/>
                  </a:lnTo>
                  <a:lnTo>
                    <a:pt x="112" y="4"/>
                  </a:lnTo>
                  <a:lnTo>
                    <a:pt x="118" y="2"/>
                  </a:lnTo>
                  <a:lnTo>
                    <a:pt x="124" y="2"/>
                  </a:lnTo>
                  <a:lnTo>
                    <a:pt x="131" y="0"/>
                  </a:lnTo>
                  <a:lnTo>
                    <a:pt x="137" y="0"/>
                  </a:lnTo>
                  <a:lnTo>
                    <a:pt x="143" y="0"/>
                  </a:lnTo>
                  <a:lnTo>
                    <a:pt x="150" y="0"/>
                  </a:lnTo>
                  <a:lnTo>
                    <a:pt x="156" y="0"/>
                  </a:lnTo>
                  <a:lnTo>
                    <a:pt x="164" y="0"/>
                  </a:lnTo>
                  <a:lnTo>
                    <a:pt x="167" y="0"/>
                  </a:lnTo>
                  <a:lnTo>
                    <a:pt x="173" y="0"/>
                  </a:lnTo>
                  <a:lnTo>
                    <a:pt x="179" y="2"/>
                  </a:lnTo>
                  <a:lnTo>
                    <a:pt x="184" y="4"/>
                  </a:lnTo>
                  <a:lnTo>
                    <a:pt x="190" y="4"/>
                  </a:lnTo>
                  <a:lnTo>
                    <a:pt x="194" y="6"/>
                  </a:lnTo>
                  <a:lnTo>
                    <a:pt x="200" y="8"/>
                  </a:lnTo>
                  <a:lnTo>
                    <a:pt x="205" y="10"/>
                  </a:lnTo>
                  <a:lnTo>
                    <a:pt x="213" y="13"/>
                  </a:lnTo>
                  <a:lnTo>
                    <a:pt x="221" y="19"/>
                  </a:lnTo>
                  <a:lnTo>
                    <a:pt x="228" y="25"/>
                  </a:lnTo>
                  <a:lnTo>
                    <a:pt x="236" y="31"/>
                  </a:lnTo>
                  <a:lnTo>
                    <a:pt x="241" y="36"/>
                  </a:lnTo>
                  <a:lnTo>
                    <a:pt x="249" y="44"/>
                  </a:lnTo>
                  <a:lnTo>
                    <a:pt x="255" y="50"/>
                  </a:lnTo>
                  <a:lnTo>
                    <a:pt x="260" y="59"/>
                  </a:lnTo>
                  <a:lnTo>
                    <a:pt x="262" y="65"/>
                  </a:lnTo>
                  <a:lnTo>
                    <a:pt x="268" y="72"/>
                  </a:lnTo>
                  <a:lnTo>
                    <a:pt x="270" y="78"/>
                  </a:lnTo>
                  <a:lnTo>
                    <a:pt x="274" y="86"/>
                  </a:lnTo>
                  <a:lnTo>
                    <a:pt x="276" y="91"/>
                  </a:lnTo>
                  <a:lnTo>
                    <a:pt x="278" y="99"/>
                  </a:lnTo>
                  <a:lnTo>
                    <a:pt x="280" y="105"/>
                  </a:lnTo>
                  <a:lnTo>
                    <a:pt x="281" y="112"/>
                  </a:lnTo>
                  <a:lnTo>
                    <a:pt x="281" y="118"/>
                  </a:lnTo>
                  <a:lnTo>
                    <a:pt x="281" y="124"/>
                  </a:lnTo>
                  <a:lnTo>
                    <a:pt x="281" y="128"/>
                  </a:lnTo>
                  <a:lnTo>
                    <a:pt x="281" y="133"/>
                  </a:lnTo>
                  <a:lnTo>
                    <a:pt x="280" y="139"/>
                  </a:lnTo>
                  <a:lnTo>
                    <a:pt x="278" y="143"/>
                  </a:lnTo>
                  <a:lnTo>
                    <a:pt x="272" y="141"/>
                  </a:lnTo>
                  <a:lnTo>
                    <a:pt x="266" y="141"/>
                  </a:lnTo>
                  <a:lnTo>
                    <a:pt x="257" y="139"/>
                  </a:lnTo>
                  <a:lnTo>
                    <a:pt x="247" y="135"/>
                  </a:lnTo>
                  <a:lnTo>
                    <a:pt x="241" y="133"/>
                  </a:lnTo>
                  <a:lnTo>
                    <a:pt x="236" y="131"/>
                  </a:lnTo>
                  <a:lnTo>
                    <a:pt x="230" y="129"/>
                  </a:lnTo>
                  <a:lnTo>
                    <a:pt x="224" y="128"/>
                  </a:lnTo>
                  <a:lnTo>
                    <a:pt x="219" y="126"/>
                  </a:lnTo>
                  <a:lnTo>
                    <a:pt x="213" y="124"/>
                  </a:lnTo>
                  <a:lnTo>
                    <a:pt x="205" y="120"/>
                  </a:lnTo>
                  <a:lnTo>
                    <a:pt x="200" y="118"/>
                  </a:lnTo>
                  <a:lnTo>
                    <a:pt x="192" y="114"/>
                  </a:lnTo>
                  <a:lnTo>
                    <a:pt x="186" y="112"/>
                  </a:lnTo>
                  <a:lnTo>
                    <a:pt x="179" y="110"/>
                  </a:lnTo>
                  <a:lnTo>
                    <a:pt x="171" y="107"/>
                  </a:lnTo>
                  <a:lnTo>
                    <a:pt x="164" y="105"/>
                  </a:lnTo>
                  <a:lnTo>
                    <a:pt x="158" y="101"/>
                  </a:lnTo>
                  <a:lnTo>
                    <a:pt x="150" y="99"/>
                  </a:lnTo>
                  <a:lnTo>
                    <a:pt x="145" y="97"/>
                  </a:lnTo>
                  <a:lnTo>
                    <a:pt x="137" y="95"/>
                  </a:lnTo>
                  <a:lnTo>
                    <a:pt x="131" y="91"/>
                  </a:lnTo>
                  <a:lnTo>
                    <a:pt x="124" y="90"/>
                  </a:lnTo>
                  <a:lnTo>
                    <a:pt x="118" y="90"/>
                  </a:lnTo>
                  <a:lnTo>
                    <a:pt x="112" y="88"/>
                  </a:lnTo>
                  <a:lnTo>
                    <a:pt x="107" y="86"/>
                  </a:lnTo>
                  <a:lnTo>
                    <a:pt x="101" y="86"/>
                  </a:lnTo>
                  <a:lnTo>
                    <a:pt x="95" y="86"/>
                  </a:lnTo>
                  <a:lnTo>
                    <a:pt x="89" y="86"/>
                  </a:lnTo>
                  <a:lnTo>
                    <a:pt x="84" y="86"/>
                  </a:lnTo>
                  <a:lnTo>
                    <a:pt x="80" y="86"/>
                  </a:lnTo>
                  <a:lnTo>
                    <a:pt x="74" y="86"/>
                  </a:lnTo>
                  <a:lnTo>
                    <a:pt x="67" y="86"/>
                  </a:lnTo>
                  <a:lnTo>
                    <a:pt x="61" y="88"/>
                  </a:lnTo>
                  <a:lnTo>
                    <a:pt x="53" y="90"/>
                  </a:lnTo>
                  <a:lnTo>
                    <a:pt x="49" y="93"/>
                  </a:lnTo>
                  <a:lnTo>
                    <a:pt x="44" y="95"/>
                  </a:lnTo>
                  <a:lnTo>
                    <a:pt x="42" y="99"/>
                  </a:lnTo>
                  <a:lnTo>
                    <a:pt x="36" y="103"/>
                  </a:lnTo>
                  <a:lnTo>
                    <a:pt x="34" y="109"/>
                  </a:lnTo>
                  <a:lnTo>
                    <a:pt x="34" y="112"/>
                  </a:lnTo>
                  <a:lnTo>
                    <a:pt x="10" y="112"/>
                  </a:lnTo>
                  <a:close/>
                </a:path>
              </a:pathLst>
            </a:custGeom>
            <a:solidFill>
              <a:srgbClr val="00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30" name="Freeform 29"/>
            <p:cNvSpPr>
              <a:spLocks/>
            </p:cNvSpPr>
            <p:nvPr/>
          </p:nvSpPr>
          <p:spPr bwMode="auto">
            <a:xfrm>
              <a:off x="5136" y="3257"/>
              <a:ext cx="33" cy="39"/>
            </a:xfrm>
            <a:custGeom>
              <a:avLst/>
              <a:gdLst>
                <a:gd name="T0" fmla="*/ 1 w 65"/>
                <a:gd name="T1" fmla="*/ 0 h 78"/>
                <a:gd name="T2" fmla="*/ 1 w 65"/>
                <a:gd name="T3" fmla="*/ 0 h 78"/>
                <a:gd name="T4" fmla="*/ 1 w 65"/>
                <a:gd name="T5" fmla="*/ 1 h 78"/>
                <a:gd name="T6" fmla="*/ 1 w 65"/>
                <a:gd name="T7" fmla="*/ 1 h 78"/>
                <a:gd name="T8" fmla="*/ 1 w 65"/>
                <a:gd name="T9" fmla="*/ 1 h 78"/>
                <a:gd name="T10" fmla="*/ 1 w 65"/>
                <a:gd name="T11" fmla="*/ 1 h 78"/>
                <a:gd name="T12" fmla="*/ 1 w 65"/>
                <a:gd name="T13" fmla="*/ 1 h 78"/>
                <a:gd name="T14" fmla="*/ 1 w 65"/>
                <a:gd name="T15" fmla="*/ 1 h 78"/>
                <a:gd name="T16" fmla="*/ 1 w 65"/>
                <a:gd name="T17" fmla="*/ 1 h 78"/>
                <a:gd name="T18" fmla="*/ 1 w 65"/>
                <a:gd name="T19" fmla="*/ 1 h 78"/>
                <a:gd name="T20" fmla="*/ 1 w 65"/>
                <a:gd name="T21" fmla="*/ 1 h 78"/>
                <a:gd name="T22" fmla="*/ 1 w 65"/>
                <a:gd name="T23" fmla="*/ 1 h 78"/>
                <a:gd name="T24" fmla="*/ 1 w 65"/>
                <a:gd name="T25" fmla="*/ 1 h 78"/>
                <a:gd name="T26" fmla="*/ 1 w 65"/>
                <a:gd name="T27" fmla="*/ 1 h 78"/>
                <a:gd name="T28" fmla="*/ 1 w 65"/>
                <a:gd name="T29" fmla="*/ 1 h 78"/>
                <a:gd name="T30" fmla="*/ 1 w 65"/>
                <a:gd name="T31" fmla="*/ 1 h 78"/>
                <a:gd name="T32" fmla="*/ 1 w 65"/>
                <a:gd name="T33" fmla="*/ 1 h 78"/>
                <a:gd name="T34" fmla="*/ 1 w 65"/>
                <a:gd name="T35" fmla="*/ 1 h 78"/>
                <a:gd name="T36" fmla="*/ 1 w 65"/>
                <a:gd name="T37" fmla="*/ 1 h 78"/>
                <a:gd name="T38" fmla="*/ 1 w 65"/>
                <a:gd name="T39" fmla="*/ 1 h 78"/>
                <a:gd name="T40" fmla="*/ 0 w 65"/>
                <a:gd name="T41" fmla="*/ 1 h 78"/>
                <a:gd name="T42" fmla="*/ 0 w 65"/>
                <a:gd name="T43" fmla="*/ 1 h 78"/>
                <a:gd name="T44" fmla="*/ 0 w 65"/>
                <a:gd name="T45" fmla="*/ 1 h 78"/>
                <a:gd name="T46" fmla="*/ 1 w 65"/>
                <a:gd name="T47" fmla="*/ 1 h 78"/>
                <a:gd name="T48" fmla="*/ 1 w 65"/>
                <a:gd name="T49" fmla="*/ 1 h 78"/>
                <a:gd name="T50" fmla="*/ 1 w 65"/>
                <a:gd name="T51" fmla="*/ 1 h 78"/>
                <a:gd name="T52" fmla="*/ 1 w 65"/>
                <a:gd name="T53" fmla="*/ 1 h 78"/>
                <a:gd name="T54" fmla="*/ 1 w 65"/>
                <a:gd name="T55" fmla="*/ 1 h 78"/>
                <a:gd name="T56" fmla="*/ 1 w 65"/>
                <a:gd name="T57" fmla="*/ 1 h 78"/>
                <a:gd name="T58" fmla="*/ 1 w 65"/>
                <a:gd name="T59" fmla="*/ 1 h 78"/>
                <a:gd name="T60" fmla="*/ 1 w 65"/>
                <a:gd name="T61" fmla="*/ 1 h 78"/>
                <a:gd name="T62" fmla="*/ 1 w 65"/>
                <a:gd name="T63" fmla="*/ 1 h 78"/>
                <a:gd name="T64" fmla="*/ 1 w 65"/>
                <a:gd name="T65" fmla="*/ 1 h 78"/>
                <a:gd name="T66" fmla="*/ 1 w 65"/>
                <a:gd name="T67" fmla="*/ 1 h 78"/>
                <a:gd name="T68" fmla="*/ 1 w 65"/>
                <a:gd name="T69" fmla="*/ 1 h 78"/>
                <a:gd name="T70" fmla="*/ 1 w 65"/>
                <a:gd name="T71" fmla="*/ 1 h 78"/>
                <a:gd name="T72" fmla="*/ 1 w 65"/>
                <a:gd name="T73" fmla="*/ 1 h 78"/>
                <a:gd name="T74" fmla="*/ 1 w 65"/>
                <a:gd name="T75" fmla="*/ 1 h 78"/>
                <a:gd name="T76" fmla="*/ 1 w 65"/>
                <a:gd name="T77" fmla="*/ 0 h 78"/>
                <a:gd name="T78" fmla="*/ 1 w 65"/>
                <a:gd name="T79" fmla="*/ 0 h 7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65" h="78">
                  <a:moveTo>
                    <a:pt x="25" y="0"/>
                  </a:moveTo>
                  <a:lnTo>
                    <a:pt x="25" y="0"/>
                  </a:lnTo>
                  <a:lnTo>
                    <a:pt x="28" y="2"/>
                  </a:lnTo>
                  <a:lnTo>
                    <a:pt x="36" y="4"/>
                  </a:lnTo>
                  <a:lnTo>
                    <a:pt x="44" y="9"/>
                  </a:lnTo>
                  <a:lnTo>
                    <a:pt x="51" y="15"/>
                  </a:lnTo>
                  <a:lnTo>
                    <a:pt x="57" y="21"/>
                  </a:lnTo>
                  <a:lnTo>
                    <a:pt x="63" y="26"/>
                  </a:lnTo>
                  <a:lnTo>
                    <a:pt x="65" y="36"/>
                  </a:lnTo>
                  <a:lnTo>
                    <a:pt x="61" y="42"/>
                  </a:lnTo>
                  <a:lnTo>
                    <a:pt x="57" y="49"/>
                  </a:lnTo>
                  <a:lnTo>
                    <a:pt x="53" y="57"/>
                  </a:lnTo>
                  <a:lnTo>
                    <a:pt x="47" y="64"/>
                  </a:lnTo>
                  <a:lnTo>
                    <a:pt x="40" y="68"/>
                  </a:lnTo>
                  <a:lnTo>
                    <a:pt x="32" y="74"/>
                  </a:lnTo>
                  <a:lnTo>
                    <a:pt x="25" y="76"/>
                  </a:lnTo>
                  <a:lnTo>
                    <a:pt x="17" y="78"/>
                  </a:lnTo>
                  <a:lnTo>
                    <a:pt x="9" y="74"/>
                  </a:lnTo>
                  <a:lnTo>
                    <a:pt x="6" y="72"/>
                  </a:lnTo>
                  <a:lnTo>
                    <a:pt x="2" y="68"/>
                  </a:lnTo>
                  <a:lnTo>
                    <a:pt x="0" y="64"/>
                  </a:lnTo>
                  <a:lnTo>
                    <a:pt x="0" y="57"/>
                  </a:lnTo>
                  <a:lnTo>
                    <a:pt x="0" y="55"/>
                  </a:lnTo>
                  <a:lnTo>
                    <a:pt x="6" y="45"/>
                  </a:lnTo>
                  <a:lnTo>
                    <a:pt x="8" y="47"/>
                  </a:lnTo>
                  <a:lnTo>
                    <a:pt x="13" y="53"/>
                  </a:lnTo>
                  <a:lnTo>
                    <a:pt x="21" y="57"/>
                  </a:lnTo>
                  <a:lnTo>
                    <a:pt x="30" y="57"/>
                  </a:lnTo>
                  <a:lnTo>
                    <a:pt x="34" y="53"/>
                  </a:lnTo>
                  <a:lnTo>
                    <a:pt x="40" y="51"/>
                  </a:lnTo>
                  <a:lnTo>
                    <a:pt x="42" y="45"/>
                  </a:lnTo>
                  <a:lnTo>
                    <a:pt x="46" y="44"/>
                  </a:lnTo>
                  <a:lnTo>
                    <a:pt x="47" y="34"/>
                  </a:lnTo>
                  <a:lnTo>
                    <a:pt x="44" y="26"/>
                  </a:lnTo>
                  <a:lnTo>
                    <a:pt x="36" y="19"/>
                  </a:lnTo>
                  <a:lnTo>
                    <a:pt x="28" y="17"/>
                  </a:lnTo>
                  <a:lnTo>
                    <a:pt x="23" y="13"/>
                  </a:lnTo>
                  <a:lnTo>
                    <a:pt x="19" y="13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31" name="Freeform 30"/>
            <p:cNvSpPr>
              <a:spLocks/>
            </p:cNvSpPr>
            <p:nvPr/>
          </p:nvSpPr>
          <p:spPr bwMode="auto">
            <a:xfrm>
              <a:off x="4970" y="3440"/>
              <a:ext cx="39" cy="103"/>
            </a:xfrm>
            <a:custGeom>
              <a:avLst/>
              <a:gdLst>
                <a:gd name="T0" fmla="*/ 1 w 78"/>
                <a:gd name="T1" fmla="*/ 1 h 205"/>
                <a:gd name="T2" fmla="*/ 0 w 78"/>
                <a:gd name="T3" fmla="*/ 1 h 205"/>
                <a:gd name="T4" fmla="*/ 0 w 78"/>
                <a:gd name="T5" fmla="*/ 1 h 205"/>
                <a:gd name="T6" fmla="*/ 1 w 78"/>
                <a:gd name="T7" fmla="*/ 1 h 205"/>
                <a:gd name="T8" fmla="*/ 1 w 78"/>
                <a:gd name="T9" fmla="*/ 1 h 205"/>
                <a:gd name="T10" fmla="*/ 1 w 78"/>
                <a:gd name="T11" fmla="*/ 1 h 205"/>
                <a:gd name="T12" fmla="*/ 1 w 78"/>
                <a:gd name="T13" fmla="*/ 1 h 205"/>
                <a:gd name="T14" fmla="*/ 1 w 78"/>
                <a:gd name="T15" fmla="*/ 1 h 205"/>
                <a:gd name="T16" fmla="*/ 1 w 78"/>
                <a:gd name="T17" fmla="*/ 1 h 205"/>
                <a:gd name="T18" fmla="*/ 1 w 78"/>
                <a:gd name="T19" fmla="*/ 1 h 205"/>
                <a:gd name="T20" fmla="*/ 1 w 78"/>
                <a:gd name="T21" fmla="*/ 1 h 205"/>
                <a:gd name="T22" fmla="*/ 1 w 78"/>
                <a:gd name="T23" fmla="*/ 1 h 205"/>
                <a:gd name="T24" fmla="*/ 1 w 78"/>
                <a:gd name="T25" fmla="*/ 1 h 205"/>
                <a:gd name="T26" fmla="*/ 1 w 78"/>
                <a:gd name="T27" fmla="*/ 1 h 205"/>
                <a:gd name="T28" fmla="*/ 1 w 78"/>
                <a:gd name="T29" fmla="*/ 1 h 205"/>
                <a:gd name="T30" fmla="*/ 1 w 78"/>
                <a:gd name="T31" fmla="*/ 1 h 205"/>
                <a:gd name="T32" fmla="*/ 1 w 78"/>
                <a:gd name="T33" fmla="*/ 1 h 205"/>
                <a:gd name="T34" fmla="*/ 1 w 78"/>
                <a:gd name="T35" fmla="*/ 1 h 205"/>
                <a:gd name="T36" fmla="*/ 1 w 78"/>
                <a:gd name="T37" fmla="*/ 1 h 205"/>
                <a:gd name="T38" fmla="*/ 1 w 78"/>
                <a:gd name="T39" fmla="*/ 1 h 205"/>
                <a:gd name="T40" fmla="*/ 1 w 78"/>
                <a:gd name="T41" fmla="*/ 1 h 205"/>
                <a:gd name="T42" fmla="*/ 1 w 78"/>
                <a:gd name="T43" fmla="*/ 1 h 205"/>
                <a:gd name="T44" fmla="*/ 1 w 78"/>
                <a:gd name="T45" fmla="*/ 1 h 205"/>
                <a:gd name="T46" fmla="*/ 1 w 78"/>
                <a:gd name="T47" fmla="*/ 1 h 205"/>
                <a:gd name="T48" fmla="*/ 1 w 78"/>
                <a:gd name="T49" fmla="*/ 1 h 205"/>
                <a:gd name="T50" fmla="*/ 1 w 78"/>
                <a:gd name="T51" fmla="*/ 1 h 205"/>
                <a:gd name="T52" fmla="*/ 1 w 78"/>
                <a:gd name="T53" fmla="*/ 1 h 205"/>
                <a:gd name="T54" fmla="*/ 1 w 78"/>
                <a:gd name="T55" fmla="*/ 1 h 205"/>
                <a:gd name="T56" fmla="*/ 1 w 78"/>
                <a:gd name="T57" fmla="*/ 1 h 205"/>
                <a:gd name="T58" fmla="*/ 1 w 78"/>
                <a:gd name="T59" fmla="*/ 1 h 205"/>
                <a:gd name="T60" fmla="*/ 1 w 78"/>
                <a:gd name="T61" fmla="*/ 1 h 205"/>
                <a:gd name="T62" fmla="*/ 1 w 78"/>
                <a:gd name="T63" fmla="*/ 1 h 205"/>
                <a:gd name="T64" fmla="*/ 1 w 78"/>
                <a:gd name="T65" fmla="*/ 1 h 205"/>
                <a:gd name="T66" fmla="*/ 1 w 78"/>
                <a:gd name="T67" fmla="*/ 1 h 205"/>
                <a:gd name="T68" fmla="*/ 1 w 78"/>
                <a:gd name="T69" fmla="*/ 1 h 20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78" h="205">
                  <a:moveTo>
                    <a:pt x="4" y="13"/>
                  </a:moveTo>
                  <a:lnTo>
                    <a:pt x="2" y="17"/>
                  </a:lnTo>
                  <a:lnTo>
                    <a:pt x="2" y="21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0" y="36"/>
                  </a:lnTo>
                  <a:lnTo>
                    <a:pt x="0" y="41"/>
                  </a:lnTo>
                  <a:lnTo>
                    <a:pt x="2" y="47"/>
                  </a:lnTo>
                  <a:lnTo>
                    <a:pt x="4" y="55"/>
                  </a:lnTo>
                  <a:lnTo>
                    <a:pt x="4" y="62"/>
                  </a:lnTo>
                  <a:lnTo>
                    <a:pt x="6" y="70"/>
                  </a:lnTo>
                  <a:lnTo>
                    <a:pt x="8" y="78"/>
                  </a:lnTo>
                  <a:lnTo>
                    <a:pt x="12" y="85"/>
                  </a:lnTo>
                  <a:lnTo>
                    <a:pt x="14" y="95"/>
                  </a:lnTo>
                  <a:lnTo>
                    <a:pt x="17" y="102"/>
                  </a:lnTo>
                  <a:lnTo>
                    <a:pt x="19" y="110"/>
                  </a:lnTo>
                  <a:lnTo>
                    <a:pt x="23" y="119"/>
                  </a:lnTo>
                  <a:lnTo>
                    <a:pt x="27" y="127"/>
                  </a:lnTo>
                  <a:lnTo>
                    <a:pt x="29" y="135"/>
                  </a:lnTo>
                  <a:lnTo>
                    <a:pt x="31" y="142"/>
                  </a:lnTo>
                  <a:lnTo>
                    <a:pt x="35" y="152"/>
                  </a:lnTo>
                  <a:lnTo>
                    <a:pt x="36" y="157"/>
                  </a:lnTo>
                  <a:lnTo>
                    <a:pt x="40" y="165"/>
                  </a:lnTo>
                  <a:lnTo>
                    <a:pt x="42" y="171"/>
                  </a:lnTo>
                  <a:lnTo>
                    <a:pt x="46" y="178"/>
                  </a:lnTo>
                  <a:lnTo>
                    <a:pt x="48" y="182"/>
                  </a:lnTo>
                  <a:lnTo>
                    <a:pt x="50" y="188"/>
                  </a:lnTo>
                  <a:lnTo>
                    <a:pt x="52" y="192"/>
                  </a:lnTo>
                  <a:lnTo>
                    <a:pt x="54" y="197"/>
                  </a:lnTo>
                  <a:lnTo>
                    <a:pt x="55" y="201"/>
                  </a:lnTo>
                  <a:lnTo>
                    <a:pt x="57" y="205"/>
                  </a:lnTo>
                  <a:lnTo>
                    <a:pt x="78" y="194"/>
                  </a:lnTo>
                  <a:lnTo>
                    <a:pt x="78" y="192"/>
                  </a:lnTo>
                  <a:lnTo>
                    <a:pt x="76" y="188"/>
                  </a:lnTo>
                  <a:lnTo>
                    <a:pt x="74" y="180"/>
                  </a:lnTo>
                  <a:lnTo>
                    <a:pt x="73" y="175"/>
                  </a:lnTo>
                  <a:lnTo>
                    <a:pt x="71" y="169"/>
                  </a:lnTo>
                  <a:lnTo>
                    <a:pt x="71" y="163"/>
                  </a:lnTo>
                  <a:lnTo>
                    <a:pt x="69" y="157"/>
                  </a:lnTo>
                  <a:lnTo>
                    <a:pt x="67" y="152"/>
                  </a:lnTo>
                  <a:lnTo>
                    <a:pt x="65" y="146"/>
                  </a:lnTo>
                  <a:lnTo>
                    <a:pt x="65" y="140"/>
                  </a:lnTo>
                  <a:lnTo>
                    <a:pt x="63" y="133"/>
                  </a:lnTo>
                  <a:lnTo>
                    <a:pt x="61" y="127"/>
                  </a:lnTo>
                  <a:lnTo>
                    <a:pt x="59" y="121"/>
                  </a:lnTo>
                  <a:lnTo>
                    <a:pt x="57" y="114"/>
                  </a:lnTo>
                  <a:lnTo>
                    <a:pt x="55" y="106"/>
                  </a:lnTo>
                  <a:lnTo>
                    <a:pt x="54" y="98"/>
                  </a:lnTo>
                  <a:lnTo>
                    <a:pt x="52" y="93"/>
                  </a:lnTo>
                  <a:lnTo>
                    <a:pt x="50" y="85"/>
                  </a:lnTo>
                  <a:lnTo>
                    <a:pt x="48" y="78"/>
                  </a:lnTo>
                  <a:lnTo>
                    <a:pt x="46" y="74"/>
                  </a:lnTo>
                  <a:lnTo>
                    <a:pt x="44" y="66"/>
                  </a:lnTo>
                  <a:lnTo>
                    <a:pt x="42" y="59"/>
                  </a:lnTo>
                  <a:lnTo>
                    <a:pt x="40" y="53"/>
                  </a:lnTo>
                  <a:lnTo>
                    <a:pt x="38" y="47"/>
                  </a:lnTo>
                  <a:lnTo>
                    <a:pt x="36" y="41"/>
                  </a:lnTo>
                  <a:lnTo>
                    <a:pt x="35" y="36"/>
                  </a:lnTo>
                  <a:lnTo>
                    <a:pt x="33" y="30"/>
                  </a:lnTo>
                  <a:lnTo>
                    <a:pt x="31" y="26"/>
                  </a:lnTo>
                  <a:lnTo>
                    <a:pt x="27" y="17"/>
                  </a:lnTo>
                  <a:lnTo>
                    <a:pt x="25" y="11"/>
                  </a:lnTo>
                  <a:lnTo>
                    <a:pt x="21" y="5"/>
                  </a:lnTo>
                  <a:lnTo>
                    <a:pt x="19" y="3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8" y="3"/>
                  </a:lnTo>
                  <a:lnTo>
                    <a:pt x="6" y="7"/>
                  </a:lnTo>
                  <a:lnTo>
                    <a:pt x="4" y="11"/>
                  </a:lnTo>
                  <a:lnTo>
                    <a:pt x="4" y="13"/>
                  </a:lnTo>
                  <a:close/>
                </a:path>
              </a:pathLst>
            </a:custGeom>
            <a:solidFill>
              <a:srgbClr val="00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32" name="Freeform 31"/>
            <p:cNvSpPr>
              <a:spLocks/>
            </p:cNvSpPr>
            <p:nvPr/>
          </p:nvSpPr>
          <p:spPr bwMode="auto">
            <a:xfrm>
              <a:off x="4889" y="3585"/>
              <a:ext cx="476" cy="359"/>
            </a:xfrm>
            <a:custGeom>
              <a:avLst/>
              <a:gdLst>
                <a:gd name="T0" fmla="*/ 2 w 950"/>
                <a:gd name="T1" fmla="*/ 1 h 718"/>
                <a:gd name="T2" fmla="*/ 2 w 950"/>
                <a:gd name="T3" fmla="*/ 1 h 718"/>
                <a:gd name="T4" fmla="*/ 2 w 950"/>
                <a:gd name="T5" fmla="*/ 1 h 718"/>
                <a:gd name="T6" fmla="*/ 2 w 950"/>
                <a:gd name="T7" fmla="*/ 1 h 718"/>
                <a:gd name="T8" fmla="*/ 2 w 950"/>
                <a:gd name="T9" fmla="*/ 1 h 718"/>
                <a:gd name="T10" fmla="*/ 2 w 950"/>
                <a:gd name="T11" fmla="*/ 1 h 718"/>
                <a:gd name="T12" fmla="*/ 2 w 950"/>
                <a:gd name="T13" fmla="*/ 1 h 718"/>
                <a:gd name="T14" fmla="*/ 2 w 950"/>
                <a:gd name="T15" fmla="*/ 1 h 718"/>
                <a:gd name="T16" fmla="*/ 2 w 950"/>
                <a:gd name="T17" fmla="*/ 1 h 718"/>
                <a:gd name="T18" fmla="*/ 2 w 950"/>
                <a:gd name="T19" fmla="*/ 1 h 718"/>
                <a:gd name="T20" fmla="*/ 2 w 950"/>
                <a:gd name="T21" fmla="*/ 1 h 718"/>
                <a:gd name="T22" fmla="*/ 2 w 950"/>
                <a:gd name="T23" fmla="*/ 1 h 718"/>
                <a:gd name="T24" fmla="*/ 2 w 950"/>
                <a:gd name="T25" fmla="*/ 1 h 718"/>
                <a:gd name="T26" fmla="*/ 2 w 950"/>
                <a:gd name="T27" fmla="*/ 1 h 718"/>
                <a:gd name="T28" fmla="*/ 2 w 950"/>
                <a:gd name="T29" fmla="*/ 1 h 718"/>
                <a:gd name="T30" fmla="*/ 2 w 950"/>
                <a:gd name="T31" fmla="*/ 1 h 718"/>
                <a:gd name="T32" fmla="*/ 2 w 950"/>
                <a:gd name="T33" fmla="*/ 1 h 718"/>
                <a:gd name="T34" fmla="*/ 3 w 950"/>
                <a:gd name="T35" fmla="*/ 1 h 718"/>
                <a:gd name="T36" fmla="*/ 3 w 950"/>
                <a:gd name="T37" fmla="*/ 1 h 718"/>
                <a:gd name="T38" fmla="*/ 3 w 950"/>
                <a:gd name="T39" fmla="*/ 1 h 718"/>
                <a:gd name="T40" fmla="*/ 3 w 950"/>
                <a:gd name="T41" fmla="*/ 1 h 718"/>
                <a:gd name="T42" fmla="*/ 3 w 950"/>
                <a:gd name="T43" fmla="*/ 1 h 718"/>
                <a:gd name="T44" fmla="*/ 3 w 950"/>
                <a:gd name="T45" fmla="*/ 1 h 718"/>
                <a:gd name="T46" fmla="*/ 3 w 950"/>
                <a:gd name="T47" fmla="*/ 1 h 718"/>
                <a:gd name="T48" fmla="*/ 3 w 950"/>
                <a:gd name="T49" fmla="*/ 1 h 718"/>
                <a:gd name="T50" fmla="*/ 3 w 950"/>
                <a:gd name="T51" fmla="*/ 1 h 718"/>
                <a:gd name="T52" fmla="*/ 3 w 950"/>
                <a:gd name="T53" fmla="*/ 1 h 718"/>
                <a:gd name="T54" fmla="*/ 3 w 950"/>
                <a:gd name="T55" fmla="*/ 1 h 718"/>
                <a:gd name="T56" fmla="*/ 3 w 950"/>
                <a:gd name="T57" fmla="*/ 1 h 718"/>
                <a:gd name="T58" fmla="*/ 3 w 950"/>
                <a:gd name="T59" fmla="*/ 0 h 718"/>
                <a:gd name="T60" fmla="*/ 4 w 950"/>
                <a:gd name="T61" fmla="*/ 3 h 718"/>
                <a:gd name="T62" fmla="*/ 2 w 950"/>
                <a:gd name="T63" fmla="*/ 1 h 718"/>
                <a:gd name="T64" fmla="*/ 0 w 950"/>
                <a:gd name="T65" fmla="*/ 3 h 718"/>
                <a:gd name="T66" fmla="*/ 1 w 950"/>
                <a:gd name="T67" fmla="*/ 3 h 718"/>
                <a:gd name="T68" fmla="*/ 2 w 950"/>
                <a:gd name="T69" fmla="*/ 1 h 71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950" h="718">
                  <a:moveTo>
                    <a:pt x="298" y="26"/>
                  </a:moveTo>
                  <a:lnTo>
                    <a:pt x="302" y="28"/>
                  </a:lnTo>
                  <a:lnTo>
                    <a:pt x="306" y="30"/>
                  </a:lnTo>
                  <a:lnTo>
                    <a:pt x="313" y="36"/>
                  </a:lnTo>
                  <a:lnTo>
                    <a:pt x="317" y="38"/>
                  </a:lnTo>
                  <a:lnTo>
                    <a:pt x="321" y="39"/>
                  </a:lnTo>
                  <a:lnTo>
                    <a:pt x="327" y="41"/>
                  </a:lnTo>
                  <a:lnTo>
                    <a:pt x="334" y="43"/>
                  </a:lnTo>
                  <a:lnTo>
                    <a:pt x="340" y="45"/>
                  </a:lnTo>
                  <a:lnTo>
                    <a:pt x="346" y="47"/>
                  </a:lnTo>
                  <a:lnTo>
                    <a:pt x="353" y="51"/>
                  </a:lnTo>
                  <a:lnTo>
                    <a:pt x="363" y="53"/>
                  </a:lnTo>
                  <a:lnTo>
                    <a:pt x="370" y="55"/>
                  </a:lnTo>
                  <a:lnTo>
                    <a:pt x="380" y="57"/>
                  </a:lnTo>
                  <a:lnTo>
                    <a:pt x="386" y="57"/>
                  </a:lnTo>
                  <a:lnTo>
                    <a:pt x="389" y="58"/>
                  </a:lnTo>
                  <a:lnTo>
                    <a:pt x="395" y="58"/>
                  </a:lnTo>
                  <a:lnTo>
                    <a:pt x="401" y="60"/>
                  </a:lnTo>
                  <a:lnTo>
                    <a:pt x="407" y="60"/>
                  </a:lnTo>
                  <a:lnTo>
                    <a:pt x="412" y="60"/>
                  </a:lnTo>
                  <a:lnTo>
                    <a:pt x="418" y="62"/>
                  </a:lnTo>
                  <a:lnTo>
                    <a:pt x="424" y="62"/>
                  </a:lnTo>
                  <a:lnTo>
                    <a:pt x="429" y="62"/>
                  </a:lnTo>
                  <a:lnTo>
                    <a:pt x="437" y="64"/>
                  </a:lnTo>
                  <a:lnTo>
                    <a:pt x="443" y="64"/>
                  </a:lnTo>
                  <a:lnTo>
                    <a:pt x="450" y="64"/>
                  </a:lnTo>
                  <a:lnTo>
                    <a:pt x="456" y="64"/>
                  </a:lnTo>
                  <a:lnTo>
                    <a:pt x="464" y="64"/>
                  </a:lnTo>
                  <a:lnTo>
                    <a:pt x="469" y="64"/>
                  </a:lnTo>
                  <a:lnTo>
                    <a:pt x="477" y="64"/>
                  </a:lnTo>
                  <a:lnTo>
                    <a:pt x="484" y="62"/>
                  </a:lnTo>
                  <a:lnTo>
                    <a:pt x="492" y="62"/>
                  </a:lnTo>
                  <a:lnTo>
                    <a:pt x="500" y="62"/>
                  </a:lnTo>
                  <a:lnTo>
                    <a:pt x="509" y="62"/>
                  </a:lnTo>
                  <a:lnTo>
                    <a:pt x="517" y="60"/>
                  </a:lnTo>
                  <a:lnTo>
                    <a:pt x="524" y="60"/>
                  </a:lnTo>
                  <a:lnTo>
                    <a:pt x="534" y="58"/>
                  </a:lnTo>
                  <a:lnTo>
                    <a:pt x="543" y="58"/>
                  </a:lnTo>
                  <a:lnTo>
                    <a:pt x="551" y="57"/>
                  </a:lnTo>
                  <a:lnTo>
                    <a:pt x="561" y="57"/>
                  </a:lnTo>
                  <a:lnTo>
                    <a:pt x="570" y="55"/>
                  </a:lnTo>
                  <a:lnTo>
                    <a:pt x="580" y="55"/>
                  </a:lnTo>
                  <a:lnTo>
                    <a:pt x="585" y="51"/>
                  </a:lnTo>
                  <a:lnTo>
                    <a:pt x="593" y="49"/>
                  </a:lnTo>
                  <a:lnTo>
                    <a:pt x="600" y="47"/>
                  </a:lnTo>
                  <a:lnTo>
                    <a:pt x="610" y="43"/>
                  </a:lnTo>
                  <a:lnTo>
                    <a:pt x="619" y="39"/>
                  </a:lnTo>
                  <a:lnTo>
                    <a:pt x="629" y="34"/>
                  </a:lnTo>
                  <a:lnTo>
                    <a:pt x="633" y="32"/>
                  </a:lnTo>
                  <a:lnTo>
                    <a:pt x="638" y="30"/>
                  </a:lnTo>
                  <a:lnTo>
                    <a:pt x="644" y="26"/>
                  </a:lnTo>
                  <a:lnTo>
                    <a:pt x="648" y="24"/>
                  </a:lnTo>
                  <a:lnTo>
                    <a:pt x="657" y="20"/>
                  </a:lnTo>
                  <a:lnTo>
                    <a:pt x="667" y="15"/>
                  </a:lnTo>
                  <a:lnTo>
                    <a:pt x="675" y="9"/>
                  </a:lnTo>
                  <a:lnTo>
                    <a:pt x="682" y="7"/>
                  </a:lnTo>
                  <a:lnTo>
                    <a:pt x="688" y="3"/>
                  </a:lnTo>
                  <a:lnTo>
                    <a:pt x="694" y="1"/>
                  </a:lnTo>
                  <a:lnTo>
                    <a:pt x="695" y="0"/>
                  </a:lnTo>
                  <a:lnTo>
                    <a:pt x="697" y="0"/>
                  </a:lnTo>
                  <a:lnTo>
                    <a:pt x="846" y="598"/>
                  </a:lnTo>
                  <a:lnTo>
                    <a:pt x="950" y="669"/>
                  </a:lnTo>
                  <a:lnTo>
                    <a:pt x="887" y="718"/>
                  </a:lnTo>
                  <a:lnTo>
                    <a:pt x="486" y="218"/>
                  </a:lnTo>
                  <a:lnTo>
                    <a:pt x="157" y="657"/>
                  </a:lnTo>
                  <a:lnTo>
                    <a:pt x="0" y="669"/>
                  </a:lnTo>
                  <a:lnTo>
                    <a:pt x="0" y="638"/>
                  </a:lnTo>
                  <a:lnTo>
                    <a:pt x="129" y="581"/>
                  </a:lnTo>
                  <a:lnTo>
                    <a:pt x="298" y="26"/>
                  </a:lnTo>
                  <a:close/>
                </a:path>
              </a:pathLst>
            </a:custGeom>
            <a:solidFill>
              <a:srgbClr val="00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33" name="Freeform 32"/>
            <p:cNvSpPr>
              <a:spLocks/>
            </p:cNvSpPr>
            <p:nvPr/>
          </p:nvSpPr>
          <p:spPr bwMode="auto">
            <a:xfrm>
              <a:off x="5065" y="3503"/>
              <a:ext cx="253" cy="106"/>
            </a:xfrm>
            <a:custGeom>
              <a:avLst/>
              <a:gdLst>
                <a:gd name="T0" fmla="*/ 1 w 506"/>
                <a:gd name="T1" fmla="*/ 1 h 211"/>
                <a:gd name="T2" fmla="*/ 1 w 506"/>
                <a:gd name="T3" fmla="*/ 1 h 211"/>
                <a:gd name="T4" fmla="*/ 1 w 506"/>
                <a:gd name="T5" fmla="*/ 1 h 211"/>
                <a:gd name="T6" fmla="*/ 1 w 506"/>
                <a:gd name="T7" fmla="*/ 1 h 211"/>
                <a:gd name="T8" fmla="*/ 1 w 506"/>
                <a:gd name="T9" fmla="*/ 1 h 211"/>
                <a:gd name="T10" fmla="*/ 1 w 506"/>
                <a:gd name="T11" fmla="*/ 1 h 211"/>
                <a:gd name="T12" fmla="*/ 1 w 506"/>
                <a:gd name="T13" fmla="*/ 1 h 211"/>
                <a:gd name="T14" fmla="*/ 1 w 506"/>
                <a:gd name="T15" fmla="*/ 1 h 211"/>
                <a:gd name="T16" fmla="*/ 1 w 506"/>
                <a:gd name="T17" fmla="*/ 1 h 211"/>
                <a:gd name="T18" fmla="*/ 1 w 506"/>
                <a:gd name="T19" fmla="*/ 1 h 211"/>
                <a:gd name="T20" fmla="*/ 2 w 506"/>
                <a:gd name="T21" fmla="*/ 1 h 211"/>
                <a:gd name="T22" fmla="*/ 2 w 506"/>
                <a:gd name="T23" fmla="*/ 1 h 211"/>
                <a:gd name="T24" fmla="*/ 2 w 506"/>
                <a:gd name="T25" fmla="*/ 1 h 211"/>
                <a:gd name="T26" fmla="*/ 2 w 506"/>
                <a:gd name="T27" fmla="*/ 1 h 211"/>
                <a:gd name="T28" fmla="*/ 2 w 506"/>
                <a:gd name="T29" fmla="*/ 1 h 211"/>
                <a:gd name="T30" fmla="*/ 2 w 506"/>
                <a:gd name="T31" fmla="*/ 1 h 211"/>
                <a:gd name="T32" fmla="*/ 2 w 506"/>
                <a:gd name="T33" fmla="*/ 1 h 211"/>
                <a:gd name="T34" fmla="*/ 2 w 506"/>
                <a:gd name="T35" fmla="*/ 1 h 211"/>
                <a:gd name="T36" fmla="*/ 2 w 506"/>
                <a:gd name="T37" fmla="*/ 1 h 211"/>
                <a:gd name="T38" fmla="*/ 2 w 506"/>
                <a:gd name="T39" fmla="*/ 1 h 211"/>
                <a:gd name="T40" fmla="*/ 2 w 506"/>
                <a:gd name="T41" fmla="*/ 1 h 211"/>
                <a:gd name="T42" fmla="*/ 2 w 506"/>
                <a:gd name="T43" fmla="*/ 1 h 211"/>
                <a:gd name="T44" fmla="*/ 2 w 506"/>
                <a:gd name="T45" fmla="*/ 1 h 211"/>
                <a:gd name="T46" fmla="*/ 2 w 506"/>
                <a:gd name="T47" fmla="*/ 1 h 211"/>
                <a:gd name="T48" fmla="*/ 2 w 506"/>
                <a:gd name="T49" fmla="*/ 1 h 211"/>
                <a:gd name="T50" fmla="*/ 2 w 506"/>
                <a:gd name="T51" fmla="*/ 1 h 211"/>
                <a:gd name="T52" fmla="*/ 2 w 506"/>
                <a:gd name="T53" fmla="*/ 1 h 211"/>
                <a:gd name="T54" fmla="*/ 2 w 506"/>
                <a:gd name="T55" fmla="*/ 1 h 211"/>
                <a:gd name="T56" fmla="*/ 2 w 506"/>
                <a:gd name="T57" fmla="*/ 1 h 211"/>
                <a:gd name="T58" fmla="*/ 2 w 506"/>
                <a:gd name="T59" fmla="*/ 1 h 211"/>
                <a:gd name="T60" fmla="*/ 2 w 506"/>
                <a:gd name="T61" fmla="*/ 0 h 211"/>
                <a:gd name="T62" fmla="*/ 2 w 506"/>
                <a:gd name="T63" fmla="*/ 0 h 211"/>
                <a:gd name="T64" fmla="*/ 2 w 506"/>
                <a:gd name="T65" fmla="*/ 0 h 211"/>
                <a:gd name="T66" fmla="*/ 2 w 506"/>
                <a:gd name="T67" fmla="*/ 1 h 211"/>
                <a:gd name="T68" fmla="*/ 2 w 506"/>
                <a:gd name="T69" fmla="*/ 1 h 211"/>
                <a:gd name="T70" fmla="*/ 2 w 506"/>
                <a:gd name="T71" fmla="*/ 1 h 211"/>
                <a:gd name="T72" fmla="*/ 2 w 506"/>
                <a:gd name="T73" fmla="*/ 1 h 211"/>
                <a:gd name="T74" fmla="*/ 2 w 506"/>
                <a:gd name="T75" fmla="*/ 1 h 211"/>
                <a:gd name="T76" fmla="*/ 2 w 506"/>
                <a:gd name="T77" fmla="*/ 1 h 211"/>
                <a:gd name="T78" fmla="*/ 2 w 506"/>
                <a:gd name="T79" fmla="*/ 1 h 211"/>
                <a:gd name="T80" fmla="*/ 2 w 506"/>
                <a:gd name="T81" fmla="*/ 1 h 211"/>
                <a:gd name="T82" fmla="*/ 2 w 506"/>
                <a:gd name="T83" fmla="*/ 1 h 211"/>
                <a:gd name="T84" fmla="*/ 2 w 506"/>
                <a:gd name="T85" fmla="*/ 1 h 211"/>
                <a:gd name="T86" fmla="*/ 2 w 506"/>
                <a:gd name="T87" fmla="*/ 1 h 211"/>
                <a:gd name="T88" fmla="*/ 2 w 506"/>
                <a:gd name="T89" fmla="*/ 1 h 211"/>
                <a:gd name="T90" fmla="*/ 2 w 506"/>
                <a:gd name="T91" fmla="*/ 1 h 211"/>
                <a:gd name="T92" fmla="*/ 2 w 506"/>
                <a:gd name="T93" fmla="*/ 1 h 211"/>
                <a:gd name="T94" fmla="*/ 2 w 506"/>
                <a:gd name="T95" fmla="*/ 1 h 211"/>
                <a:gd name="T96" fmla="*/ 2 w 506"/>
                <a:gd name="T97" fmla="*/ 1 h 211"/>
                <a:gd name="T98" fmla="*/ 2 w 506"/>
                <a:gd name="T99" fmla="*/ 1 h 211"/>
                <a:gd name="T100" fmla="*/ 1 w 506"/>
                <a:gd name="T101" fmla="*/ 1 h 211"/>
                <a:gd name="T102" fmla="*/ 1 w 506"/>
                <a:gd name="T103" fmla="*/ 1 h 211"/>
                <a:gd name="T104" fmla="*/ 1 w 506"/>
                <a:gd name="T105" fmla="*/ 1 h 211"/>
                <a:gd name="T106" fmla="*/ 1 w 506"/>
                <a:gd name="T107" fmla="*/ 1 h 211"/>
                <a:gd name="T108" fmla="*/ 1 w 506"/>
                <a:gd name="T109" fmla="*/ 1 h 211"/>
                <a:gd name="T110" fmla="*/ 1 w 506"/>
                <a:gd name="T111" fmla="*/ 1 h 211"/>
                <a:gd name="T112" fmla="*/ 1 w 506"/>
                <a:gd name="T113" fmla="*/ 1 h 211"/>
                <a:gd name="T114" fmla="*/ 1 w 506"/>
                <a:gd name="T115" fmla="*/ 1 h 211"/>
                <a:gd name="T116" fmla="*/ 1 w 506"/>
                <a:gd name="T117" fmla="*/ 1 h 211"/>
                <a:gd name="T118" fmla="*/ 1 w 506"/>
                <a:gd name="T119" fmla="*/ 1 h 211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06" h="211">
                  <a:moveTo>
                    <a:pt x="4" y="122"/>
                  </a:moveTo>
                  <a:lnTo>
                    <a:pt x="0" y="110"/>
                  </a:lnTo>
                  <a:lnTo>
                    <a:pt x="8" y="110"/>
                  </a:lnTo>
                  <a:lnTo>
                    <a:pt x="16" y="110"/>
                  </a:lnTo>
                  <a:lnTo>
                    <a:pt x="21" y="110"/>
                  </a:lnTo>
                  <a:lnTo>
                    <a:pt x="29" y="110"/>
                  </a:lnTo>
                  <a:lnTo>
                    <a:pt x="37" y="110"/>
                  </a:lnTo>
                  <a:lnTo>
                    <a:pt x="42" y="110"/>
                  </a:lnTo>
                  <a:lnTo>
                    <a:pt x="48" y="110"/>
                  </a:lnTo>
                  <a:lnTo>
                    <a:pt x="56" y="110"/>
                  </a:lnTo>
                  <a:lnTo>
                    <a:pt x="61" y="110"/>
                  </a:lnTo>
                  <a:lnTo>
                    <a:pt x="67" y="110"/>
                  </a:lnTo>
                  <a:lnTo>
                    <a:pt x="73" y="110"/>
                  </a:lnTo>
                  <a:lnTo>
                    <a:pt x="78" y="110"/>
                  </a:lnTo>
                  <a:lnTo>
                    <a:pt x="84" y="110"/>
                  </a:lnTo>
                  <a:lnTo>
                    <a:pt x="90" y="112"/>
                  </a:lnTo>
                  <a:lnTo>
                    <a:pt x="95" y="112"/>
                  </a:lnTo>
                  <a:lnTo>
                    <a:pt x="101" y="114"/>
                  </a:lnTo>
                  <a:lnTo>
                    <a:pt x="105" y="114"/>
                  </a:lnTo>
                  <a:lnTo>
                    <a:pt x="111" y="116"/>
                  </a:lnTo>
                  <a:lnTo>
                    <a:pt x="116" y="116"/>
                  </a:lnTo>
                  <a:lnTo>
                    <a:pt x="122" y="118"/>
                  </a:lnTo>
                  <a:lnTo>
                    <a:pt x="128" y="118"/>
                  </a:lnTo>
                  <a:lnTo>
                    <a:pt x="135" y="120"/>
                  </a:lnTo>
                  <a:lnTo>
                    <a:pt x="141" y="122"/>
                  </a:lnTo>
                  <a:lnTo>
                    <a:pt x="149" y="124"/>
                  </a:lnTo>
                  <a:lnTo>
                    <a:pt x="156" y="124"/>
                  </a:lnTo>
                  <a:lnTo>
                    <a:pt x="164" y="126"/>
                  </a:lnTo>
                  <a:lnTo>
                    <a:pt x="171" y="127"/>
                  </a:lnTo>
                  <a:lnTo>
                    <a:pt x="179" y="129"/>
                  </a:lnTo>
                  <a:lnTo>
                    <a:pt x="189" y="131"/>
                  </a:lnTo>
                  <a:lnTo>
                    <a:pt x="196" y="133"/>
                  </a:lnTo>
                  <a:lnTo>
                    <a:pt x="206" y="135"/>
                  </a:lnTo>
                  <a:lnTo>
                    <a:pt x="215" y="139"/>
                  </a:lnTo>
                  <a:lnTo>
                    <a:pt x="223" y="139"/>
                  </a:lnTo>
                  <a:lnTo>
                    <a:pt x="229" y="141"/>
                  </a:lnTo>
                  <a:lnTo>
                    <a:pt x="236" y="143"/>
                  </a:lnTo>
                  <a:lnTo>
                    <a:pt x="244" y="145"/>
                  </a:lnTo>
                  <a:lnTo>
                    <a:pt x="248" y="145"/>
                  </a:lnTo>
                  <a:lnTo>
                    <a:pt x="255" y="146"/>
                  </a:lnTo>
                  <a:lnTo>
                    <a:pt x="261" y="148"/>
                  </a:lnTo>
                  <a:lnTo>
                    <a:pt x="267" y="150"/>
                  </a:lnTo>
                  <a:lnTo>
                    <a:pt x="272" y="150"/>
                  </a:lnTo>
                  <a:lnTo>
                    <a:pt x="276" y="152"/>
                  </a:lnTo>
                  <a:lnTo>
                    <a:pt x="282" y="152"/>
                  </a:lnTo>
                  <a:lnTo>
                    <a:pt x="287" y="154"/>
                  </a:lnTo>
                  <a:lnTo>
                    <a:pt x="295" y="154"/>
                  </a:lnTo>
                  <a:lnTo>
                    <a:pt x="305" y="156"/>
                  </a:lnTo>
                  <a:lnTo>
                    <a:pt x="310" y="158"/>
                  </a:lnTo>
                  <a:lnTo>
                    <a:pt x="320" y="158"/>
                  </a:lnTo>
                  <a:lnTo>
                    <a:pt x="325" y="158"/>
                  </a:lnTo>
                  <a:lnTo>
                    <a:pt x="333" y="160"/>
                  </a:lnTo>
                  <a:lnTo>
                    <a:pt x="341" y="158"/>
                  </a:lnTo>
                  <a:lnTo>
                    <a:pt x="348" y="158"/>
                  </a:lnTo>
                  <a:lnTo>
                    <a:pt x="356" y="158"/>
                  </a:lnTo>
                  <a:lnTo>
                    <a:pt x="363" y="158"/>
                  </a:lnTo>
                  <a:lnTo>
                    <a:pt x="369" y="158"/>
                  </a:lnTo>
                  <a:lnTo>
                    <a:pt x="377" y="158"/>
                  </a:lnTo>
                  <a:lnTo>
                    <a:pt x="382" y="158"/>
                  </a:lnTo>
                  <a:lnTo>
                    <a:pt x="390" y="158"/>
                  </a:lnTo>
                  <a:lnTo>
                    <a:pt x="396" y="154"/>
                  </a:lnTo>
                  <a:lnTo>
                    <a:pt x="401" y="154"/>
                  </a:lnTo>
                  <a:lnTo>
                    <a:pt x="407" y="154"/>
                  </a:lnTo>
                  <a:lnTo>
                    <a:pt x="415" y="152"/>
                  </a:lnTo>
                  <a:lnTo>
                    <a:pt x="419" y="150"/>
                  </a:lnTo>
                  <a:lnTo>
                    <a:pt x="424" y="148"/>
                  </a:lnTo>
                  <a:lnTo>
                    <a:pt x="430" y="146"/>
                  </a:lnTo>
                  <a:lnTo>
                    <a:pt x="436" y="145"/>
                  </a:lnTo>
                  <a:lnTo>
                    <a:pt x="443" y="141"/>
                  </a:lnTo>
                  <a:lnTo>
                    <a:pt x="453" y="137"/>
                  </a:lnTo>
                  <a:lnTo>
                    <a:pt x="459" y="129"/>
                  </a:lnTo>
                  <a:lnTo>
                    <a:pt x="464" y="124"/>
                  </a:lnTo>
                  <a:lnTo>
                    <a:pt x="468" y="118"/>
                  </a:lnTo>
                  <a:lnTo>
                    <a:pt x="472" y="112"/>
                  </a:lnTo>
                  <a:lnTo>
                    <a:pt x="474" y="105"/>
                  </a:lnTo>
                  <a:lnTo>
                    <a:pt x="476" y="99"/>
                  </a:lnTo>
                  <a:lnTo>
                    <a:pt x="474" y="91"/>
                  </a:lnTo>
                  <a:lnTo>
                    <a:pt x="472" y="86"/>
                  </a:lnTo>
                  <a:lnTo>
                    <a:pt x="470" y="80"/>
                  </a:lnTo>
                  <a:lnTo>
                    <a:pt x="468" y="74"/>
                  </a:lnTo>
                  <a:lnTo>
                    <a:pt x="464" y="69"/>
                  </a:lnTo>
                  <a:lnTo>
                    <a:pt x="462" y="63"/>
                  </a:lnTo>
                  <a:lnTo>
                    <a:pt x="457" y="59"/>
                  </a:lnTo>
                  <a:lnTo>
                    <a:pt x="453" y="55"/>
                  </a:lnTo>
                  <a:lnTo>
                    <a:pt x="449" y="50"/>
                  </a:lnTo>
                  <a:lnTo>
                    <a:pt x="443" y="48"/>
                  </a:lnTo>
                  <a:lnTo>
                    <a:pt x="438" y="44"/>
                  </a:lnTo>
                  <a:lnTo>
                    <a:pt x="432" y="42"/>
                  </a:lnTo>
                  <a:lnTo>
                    <a:pt x="424" y="38"/>
                  </a:lnTo>
                  <a:lnTo>
                    <a:pt x="421" y="38"/>
                  </a:lnTo>
                  <a:lnTo>
                    <a:pt x="413" y="36"/>
                  </a:lnTo>
                  <a:lnTo>
                    <a:pt x="407" y="34"/>
                  </a:lnTo>
                  <a:lnTo>
                    <a:pt x="401" y="34"/>
                  </a:lnTo>
                  <a:lnTo>
                    <a:pt x="396" y="34"/>
                  </a:lnTo>
                  <a:lnTo>
                    <a:pt x="388" y="36"/>
                  </a:lnTo>
                  <a:lnTo>
                    <a:pt x="379" y="38"/>
                  </a:lnTo>
                  <a:lnTo>
                    <a:pt x="373" y="38"/>
                  </a:lnTo>
                  <a:lnTo>
                    <a:pt x="367" y="40"/>
                  </a:lnTo>
                  <a:lnTo>
                    <a:pt x="362" y="44"/>
                  </a:lnTo>
                  <a:lnTo>
                    <a:pt x="358" y="46"/>
                  </a:lnTo>
                  <a:lnTo>
                    <a:pt x="350" y="48"/>
                  </a:lnTo>
                  <a:lnTo>
                    <a:pt x="346" y="50"/>
                  </a:lnTo>
                  <a:lnTo>
                    <a:pt x="341" y="51"/>
                  </a:lnTo>
                  <a:lnTo>
                    <a:pt x="337" y="53"/>
                  </a:lnTo>
                  <a:lnTo>
                    <a:pt x="327" y="55"/>
                  </a:lnTo>
                  <a:lnTo>
                    <a:pt x="322" y="57"/>
                  </a:lnTo>
                  <a:lnTo>
                    <a:pt x="314" y="55"/>
                  </a:lnTo>
                  <a:lnTo>
                    <a:pt x="305" y="55"/>
                  </a:lnTo>
                  <a:lnTo>
                    <a:pt x="297" y="53"/>
                  </a:lnTo>
                  <a:lnTo>
                    <a:pt x="291" y="53"/>
                  </a:lnTo>
                  <a:lnTo>
                    <a:pt x="284" y="48"/>
                  </a:lnTo>
                  <a:lnTo>
                    <a:pt x="280" y="44"/>
                  </a:lnTo>
                  <a:lnTo>
                    <a:pt x="276" y="40"/>
                  </a:lnTo>
                  <a:lnTo>
                    <a:pt x="274" y="34"/>
                  </a:lnTo>
                  <a:lnTo>
                    <a:pt x="274" y="29"/>
                  </a:lnTo>
                  <a:lnTo>
                    <a:pt x="276" y="23"/>
                  </a:lnTo>
                  <a:lnTo>
                    <a:pt x="282" y="17"/>
                  </a:lnTo>
                  <a:lnTo>
                    <a:pt x="289" y="12"/>
                  </a:lnTo>
                  <a:lnTo>
                    <a:pt x="293" y="10"/>
                  </a:lnTo>
                  <a:lnTo>
                    <a:pt x="297" y="6"/>
                  </a:lnTo>
                  <a:lnTo>
                    <a:pt x="303" y="4"/>
                  </a:lnTo>
                  <a:lnTo>
                    <a:pt x="308" y="4"/>
                  </a:lnTo>
                  <a:lnTo>
                    <a:pt x="314" y="0"/>
                  </a:lnTo>
                  <a:lnTo>
                    <a:pt x="322" y="0"/>
                  </a:lnTo>
                  <a:lnTo>
                    <a:pt x="329" y="0"/>
                  </a:lnTo>
                  <a:lnTo>
                    <a:pt x="339" y="0"/>
                  </a:lnTo>
                  <a:lnTo>
                    <a:pt x="344" y="0"/>
                  </a:lnTo>
                  <a:lnTo>
                    <a:pt x="352" y="0"/>
                  </a:lnTo>
                  <a:lnTo>
                    <a:pt x="358" y="0"/>
                  </a:lnTo>
                  <a:lnTo>
                    <a:pt x="365" y="0"/>
                  </a:lnTo>
                  <a:lnTo>
                    <a:pt x="369" y="0"/>
                  </a:lnTo>
                  <a:lnTo>
                    <a:pt x="377" y="0"/>
                  </a:lnTo>
                  <a:lnTo>
                    <a:pt x="382" y="2"/>
                  </a:lnTo>
                  <a:lnTo>
                    <a:pt x="390" y="4"/>
                  </a:lnTo>
                  <a:lnTo>
                    <a:pt x="396" y="6"/>
                  </a:lnTo>
                  <a:lnTo>
                    <a:pt x="401" y="8"/>
                  </a:lnTo>
                  <a:lnTo>
                    <a:pt x="409" y="10"/>
                  </a:lnTo>
                  <a:lnTo>
                    <a:pt x="417" y="12"/>
                  </a:lnTo>
                  <a:lnTo>
                    <a:pt x="422" y="13"/>
                  </a:lnTo>
                  <a:lnTo>
                    <a:pt x="428" y="17"/>
                  </a:lnTo>
                  <a:lnTo>
                    <a:pt x="434" y="21"/>
                  </a:lnTo>
                  <a:lnTo>
                    <a:pt x="441" y="23"/>
                  </a:lnTo>
                  <a:lnTo>
                    <a:pt x="447" y="27"/>
                  </a:lnTo>
                  <a:lnTo>
                    <a:pt x="451" y="29"/>
                  </a:lnTo>
                  <a:lnTo>
                    <a:pt x="457" y="32"/>
                  </a:lnTo>
                  <a:lnTo>
                    <a:pt x="462" y="38"/>
                  </a:lnTo>
                  <a:lnTo>
                    <a:pt x="472" y="46"/>
                  </a:lnTo>
                  <a:lnTo>
                    <a:pt x="479" y="53"/>
                  </a:lnTo>
                  <a:lnTo>
                    <a:pt x="487" y="63"/>
                  </a:lnTo>
                  <a:lnTo>
                    <a:pt x="493" y="74"/>
                  </a:lnTo>
                  <a:lnTo>
                    <a:pt x="497" y="80"/>
                  </a:lnTo>
                  <a:lnTo>
                    <a:pt x="498" y="84"/>
                  </a:lnTo>
                  <a:lnTo>
                    <a:pt x="500" y="89"/>
                  </a:lnTo>
                  <a:lnTo>
                    <a:pt x="502" y="97"/>
                  </a:lnTo>
                  <a:lnTo>
                    <a:pt x="504" y="103"/>
                  </a:lnTo>
                  <a:lnTo>
                    <a:pt x="506" y="110"/>
                  </a:lnTo>
                  <a:lnTo>
                    <a:pt x="506" y="116"/>
                  </a:lnTo>
                  <a:lnTo>
                    <a:pt x="506" y="124"/>
                  </a:lnTo>
                  <a:lnTo>
                    <a:pt x="506" y="129"/>
                  </a:lnTo>
                  <a:lnTo>
                    <a:pt x="506" y="137"/>
                  </a:lnTo>
                  <a:lnTo>
                    <a:pt x="504" y="143"/>
                  </a:lnTo>
                  <a:lnTo>
                    <a:pt x="502" y="148"/>
                  </a:lnTo>
                  <a:lnTo>
                    <a:pt x="500" y="154"/>
                  </a:lnTo>
                  <a:lnTo>
                    <a:pt x="498" y="158"/>
                  </a:lnTo>
                  <a:lnTo>
                    <a:pt x="495" y="164"/>
                  </a:lnTo>
                  <a:lnTo>
                    <a:pt x="491" y="169"/>
                  </a:lnTo>
                  <a:lnTo>
                    <a:pt x="487" y="173"/>
                  </a:lnTo>
                  <a:lnTo>
                    <a:pt x="481" y="179"/>
                  </a:lnTo>
                  <a:lnTo>
                    <a:pt x="476" y="183"/>
                  </a:lnTo>
                  <a:lnTo>
                    <a:pt x="472" y="186"/>
                  </a:lnTo>
                  <a:lnTo>
                    <a:pt x="462" y="192"/>
                  </a:lnTo>
                  <a:lnTo>
                    <a:pt x="453" y="198"/>
                  </a:lnTo>
                  <a:lnTo>
                    <a:pt x="447" y="200"/>
                  </a:lnTo>
                  <a:lnTo>
                    <a:pt x="441" y="202"/>
                  </a:lnTo>
                  <a:lnTo>
                    <a:pt x="436" y="203"/>
                  </a:lnTo>
                  <a:lnTo>
                    <a:pt x="432" y="205"/>
                  </a:lnTo>
                  <a:lnTo>
                    <a:pt x="426" y="205"/>
                  </a:lnTo>
                  <a:lnTo>
                    <a:pt x="421" y="207"/>
                  </a:lnTo>
                  <a:lnTo>
                    <a:pt x="415" y="207"/>
                  </a:lnTo>
                  <a:lnTo>
                    <a:pt x="409" y="209"/>
                  </a:lnTo>
                  <a:lnTo>
                    <a:pt x="403" y="211"/>
                  </a:lnTo>
                  <a:lnTo>
                    <a:pt x="398" y="211"/>
                  </a:lnTo>
                  <a:lnTo>
                    <a:pt x="392" y="211"/>
                  </a:lnTo>
                  <a:lnTo>
                    <a:pt x="386" y="211"/>
                  </a:lnTo>
                  <a:lnTo>
                    <a:pt x="377" y="211"/>
                  </a:lnTo>
                  <a:lnTo>
                    <a:pt x="369" y="211"/>
                  </a:lnTo>
                  <a:lnTo>
                    <a:pt x="360" y="211"/>
                  </a:lnTo>
                  <a:lnTo>
                    <a:pt x="350" y="211"/>
                  </a:lnTo>
                  <a:lnTo>
                    <a:pt x="341" y="211"/>
                  </a:lnTo>
                  <a:lnTo>
                    <a:pt x="331" y="209"/>
                  </a:lnTo>
                  <a:lnTo>
                    <a:pt x="322" y="207"/>
                  </a:lnTo>
                  <a:lnTo>
                    <a:pt x="312" y="207"/>
                  </a:lnTo>
                  <a:lnTo>
                    <a:pt x="306" y="205"/>
                  </a:lnTo>
                  <a:lnTo>
                    <a:pt x="303" y="203"/>
                  </a:lnTo>
                  <a:lnTo>
                    <a:pt x="297" y="202"/>
                  </a:lnTo>
                  <a:lnTo>
                    <a:pt x="293" y="202"/>
                  </a:lnTo>
                  <a:lnTo>
                    <a:pt x="287" y="200"/>
                  </a:lnTo>
                  <a:lnTo>
                    <a:pt x="282" y="198"/>
                  </a:lnTo>
                  <a:lnTo>
                    <a:pt x="276" y="196"/>
                  </a:lnTo>
                  <a:lnTo>
                    <a:pt x="270" y="194"/>
                  </a:lnTo>
                  <a:lnTo>
                    <a:pt x="265" y="192"/>
                  </a:lnTo>
                  <a:lnTo>
                    <a:pt x="257" y="190"/>
                  </a:lnTo>
                  <a:lnTo>
                    <a:pt x="251" y="186"/>
                  </a:lnTo>
                  <a:lnTo>
                    <a:pt x="246" y="184"/>
                  </a:lnTo>
                  <a:lnTo>
                    <a:pt x="238" y="183"/>
                  </a:lnTo>
                  <a:lnTo>
                    <a:pt x="232" y="181"/>
                  </a:lnTo>
                  <a:lnTo>
                    <a:pt x="225" y="177"/>
                  </a:lnTo>
                  <a:lnTo>
                    <a:pt x="219" y="175"/>
                  </a:lnTo>
                  <a:lnTo>
                    <a:pt x="213" y="171"/>
                  </a:lnTo>
                  <a:lnTo>
                    <a:pt x="208" y="169"/>
                  </a:lnTo>
                  <a:lnTo>
                    <a:pt x="202" y="165"/>
                  </a:lnTo>
                  <a:lnTo>
                    <a:pt x="196" y="164"/>
                  </a:lnTo>
                  <a:lnTo>
                    <a:pt x="187" y="160"/>
                  </a:lnTo>
                  <a:lnTo>
                    <a:pt x="177" y="158"/>
                  </a:lnTo>
                  <a:lnTo>
                    <a:pt x="168" y="152"/>
                  </a:lnTo>
                  <a:lnTo>
                    <a:pt x="160" y="150"/>
                  </a:lnTo>
                  <a:lnTo>
                    <a:pt x="151" y="146"/>
                  </a:lnTo>
                  <a:lnTo>
                    <a:pt x="143" y="145"/>
                  </a:lnTo>
                  <a:lnTo>
                    <a:pt x="135" y="141"/>
                  </a:lnTo>
                  <a:lnTo>
                    <a:pt x="128" y="139"/>
                  </a:lnTo>
                  <a:lnTo>
                    <a:pt x="120" y="135"/>
                  </a:lnTo>
                  <a:lnTo>
                    <a:pt x="116" y="133"/>
                  </a:lnTo>
                  <a:lnTo>
                    <a:pt x="111" y="131"/>
                  </a:lnTo>
                  <a:lnTo>
                    <a:pt x="105" y="131"/>
                  </a:lnTo>
                  <a:lnTo>
                    <a:pt x="99" y="129"/>
                  </a:lnTo>
                  <a:lnTo>
                    <a:pt x="95" y="129"/>
                  </a:lnTo>
                  <a:lnTo>
                    <a:pt x="92" y="127"/>
                  </a:lnTo>
                  <a:lnTo>
                    <a:pt x="86" y="127"/>
                  </a:lnTo>
                  <a:lnTo>
                    <a:pt x="80" y="126"/>
                  </a:lnTo>
                  <a:lnTo>
                    <a:pt x="76" y="126"/>
                  </a:lnTo>
                  <a:lnTo>
                    <a:pt x="71" y="124"/>
                  </a:lnTo>
                  <a:lnTo>
                    <a:pt x="65" y="124"/>
                  </a:lnTo>
                  <a:lnTo>
                    <a:pt x="59" y="122"/>
                  </a:lnTo>
                  <a:lnTo>
                    <a:pt x="54" y="122"/>
                  </a:lnTo>
                  <a:lnTo>
                    <a:pt x="48" y="122"/>
                  </a:lnTo>
                  <a:lnTo>
                    <a:pt x="42" y="122"/>
                  </a:lnTo>
                  <a:lnTo>
                    <a:pt x="37" y="122"/>
                  </a:lnTo>
                  <a:lnTo>
                    <a:pt x="31" y="122"/>
                  </a:lnTo>
                  <a:lnTo>
                    <a:pt x="23" y="122"/>
                  </a:lnTo>
                  <a:lnTo>
                    <a:pt x="18" y="122"/>
                  </a:lnTo>
                  <a:lnTo>
                    <a:pt x="10" y="122"/>
                  </a:lnTo>
                  <a:lnTo>
                    <a:pt x="4" y="122"/>
                  </a:lnTo>
                  <a:close/>
                </a:path>
              </a:pathLst>
            </a:custGeom>
            <a:solidFill>
              <a:srgbClr val="FF87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34" name="Freeform 33"/>
            <p:cNvSpPr>
              <a:spLocks/>
            </p:cNvSpPr>
            <p:nvPr/>
          </p:nvSpPr>
          <p:spPr bwMode="auto">
            <a:xfrm>
              <a:off x="5010" y="3547"/>
              <a:ext cx="49" cy="36"/>
            </a:xfrm>
            <a:custGeom>
              <a:avLst/>
              <a:gdLst>
                <a:gd name="T0" fmla="*/ 0 w 99"/>
                <a:gd name="T1" fmla="*/ 1 h 72"/>
                <a:gd name="T2" fmla="*/ 0 w 99"/>
                <a:gd name="T3" fmla="*/ 1 h 72"/>
                <a:gd name="T4" fmla="*/ 0 w 99"/>
                <a:gd name="T5" fmla="*/ 1 h 72"/>
                <a:gd name="T6" fmla="*/ 0 w 99"/>
                <a:gd name="T7" fmla="*/ 1 h 72"/>
                <a:gd name="T8" fmla="*/ 0 w 99"/>
                <a:gd name="T9" fmla="*/ 1 h 72"/>
                <a:gd name="T10" fmla="*/ 0 w 99"/>
                <a:gd name="T11" fmla="*/ 1 h 72"/>
                <a:gd name="T12" fmla="*/ 0 w 99"/>
                <a:gd name="T13" fmla="*/ 1 h 72"/>
                <a:gd name="T14" fmla="*/ 0 w 99"/>
                <a:gd name="T15" fmla="*/ 1 h 72"/>
                <a:gd name="T16" fmla="*/ 0 w 99"/>
                <a:gd name="T17" fmla="*/ 1 h 72"/>
                <a:gd name="T18" fmla="*/ 0 w 99"/>
                <a:gd name="T19" fmla="*/ 1 h 72"/>
                <a:gd name="T20" fmla="*/ 0 w 99"/>
                <a:gd name="T21" fmla="*/ 1 h 72"/>
                <a:gd name="T22" fmla="*/ 0 w 99"/>
                <a:gd name="T23" fmla="*/ 1 h 72"/>
                <a:gd name="T24" fmla="*/ 0 w 99"/>
                <a:gd name="T25" fmla="*/ 1 h 72"/>
                <a:gd name="T26" fmla="*/ 0 w 99"/>
                <a:gd name="T27" fmla="*/ 1 h 72"/>
                <a:gd name="T28" fmla="*/ 0 w 99"/>
                <a:gd name="T29" fmla="*/ 1 h 72"/>
                <a:gd name="T30" fmla="*/ 0 w 99"/>
                <a:gd name="T31" fmla="*/ 1 h 72"/>
                <a:gd name="T32" fmla="*/ 0 w 99"/>
                <a:gd name="T33" fmla="*/ 1 h 72"/>
                <a:gd name="T34" fmla="*/ 0 w 99"/>
                <a:gd name="T35" fmla="*/ 1 h 72"/>
                <a:gd name="T36" fmla="*/ 0 w 99"/>
                <a:gd name="T37" fmla="*/ 1 h 72"/>
                <a:gd name="T38" fmla="*/ 0 w 99"/>
                <a:gd name="T39" fmla="*/ 1 h 72"/>
                <a:gd name="T40" fmla="*/ 0 w 99"/>
                <a:gd name="T41" fmla="*/ 1 h 72"/>
                <a:gd name="T42" fmla="*/ 0 w 99"/>
                <a:gd name="T43" fmla="*/ 1 h 72"/>
                <a:gd name="T44" fmla="*/ 0 w 99"/>
                <a:gd name="T45" fmla="*/ 1 h 72"/>
                <a:gd name="T46" fmla="*/ 0 w 99"/>
                <a:gd name="T47" fmla="*/ 1 h 72"/>
                <a:gd name="T48" fmla="*/ 0 w 99"/>
                <a:gd name="T49" fmla="*/ 0 h 72"/>
                <a:gd name="T50" fmla="*/ 0 w 99"/>
                <a:gd name="T51" fmla="*/ 0 h 72"/>
                <a:gd name="T52" fmla="*/ 0 w 99"/>
                <a:gd name="T53" fmla="*/ 1 h 72"/>
                <a:gd name="T54" fmla="*/ 0 w 99"/>
                <a:gd name="T55" fmla="*/ 1 h 72"/>
                <a:gd name="T56" fmla="*/ 0 w 99"/>
                <a:gd name="T57" fmla="*/ 1 h 72"/>
                <a:gd name="T58" fmla="*/ 0 w 99"/>
                <a:gd name="T59" fmla="*/ 1 h 72"/>
                <a:gd name="T60" fmla="*/ 0 w 99"/>
                <a:gd name="T61" fmla="*/ 1 h 72"/>
                <a:gd name="T62" fmla="*/ 0 w 99"/>
                <a:gd name="T63" fmla="*/ 1 h 72"/>
                <a:gd name="T64" fmla="*/ 0 w 99"/>
                <a:gd name="T65" fmla="*/ 1 h 72"/>
                <a:gd name="T66" fmla="*/ 0 w 99"/>
                <a:gd name="T67" fmla="*/ 1 h 7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99" h="72">
                  <a:moveTo>
                    <a:pt x="99" y="34"/>
                  </a:moveTo>
                  <a:lnTo>
                    <a:pt x="99" y="41"/>
                  </a:lnTo>
                  <a:lnTo>
                    <a:pt x="97" y="47"/>
                  </a:lnTo>
                  <a:lnTo>
                    <a:pt x="95" y="53"/>
                  </a:lnTo>
                  <a:lnTo>
                    <a:pt x="91" y="60"/>
                  </a:lnTo>
                  <a:lnTo>
                    <a:pt x="84" y="64"/>
                  </a:lnTo>
                  <a:lnTo>
                    <a:pt x="76" y="70"/>
                  </a:lnTo>
                  <a:lnTo>
                    <a:pt x="67" y="70"/>
                  </a:lnTo>
                  <a:lnTo>
                    <a:pt x="57" y="72"/>
                  </a:lnTo>
                  <a:lnTo>
                    <a:pt x="48" y="72"/>
                  </a:lnTo>
                  <a:lnTo>
                    <a:pt x="40" y="72"/>
                  </a:lnTo>
                  <a:lnTo>
                    <a:pt x="31" y="70"/>
                  </a:lnTo>
                  <a:lnTo>
                    <a:pt x="23" y="66"/>
                  </a:lnTo>
                  <a:lnTo>
                    <a:pt x="13" y="60"/>
                  </a:lnTo>
                  <a:lnTo>
                    <a:pt x="8" y="55"/>
                  </a:lnTo>
                  <a:lnTo>
                    <a:pt x="4" y="47"/>
                  </a:lnTo>
                  <a:lnTo>
                    <a:pt x="2" y="39"/>
                  </a:lnTo>
                  <a:lnTo>
                    <a:pt x="0" y="32"/>
                  </a:lnTo>
                  <a:lnTo>
                    <a:pt x="2" y="26"/>
                  </a:lnTo>
                  <a:lnTo>
                    <a:pt x="6" y="19"/>
                  </a:lnTo>
                  <a:lnTo>
                    <a:pt x="12" y="13"/>
                  </a:lnTo>
                  <a:lnTo>
                    <a:pt x="17" y="7"/>
                  </a:lnTo>
                  <a:lnTo>
                    <a:pt x="25" y="5"/>
                  </a:lnTo>
                  <a:lnTo>
                    <a:pt x="32" y="1"/>
                  </a:lnTo>
                  <a:lnTo>
                    <a:pt x="42" y="0"/>
                  </a:lnTo>
                  <a:lnTo>
                    <a:pt x="51" y="0"/>
                  </a:lnTo>
                  <a:lnTo>
                    <a:pt x="61" y="1"/>
                  </a:lnTo>
                  <a:lnTo>
                    <a:pt x="70" y="3"/>
                  </a:lnTo>
                  <a:lnTo>
                    <a:pt x="80" y="9"/>
                  </a:lnTo>
                  <a:lnTo>
                    <a:pt x="86" y="13"/>
                  </a:lnTo>
                  <a:lnTo>
                    <a:pt x="91" y="19"/>
                  </a:lnTo>
                  <a:lnTo>
                    <a:pt x="95" y="26"/>
                  </a:lnTo>
                  <a:lnTo>
                    <a:pt x="99" y="34"/>
                  </a:lnTo>
                  <a:close/>
                </a:path>
              </a:pathLst>
            </a:custGeom>
            <a:solidFill>
              <a:srgbClr val="FF87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35" name="Freeform 34"/>
            <p:cNvSpPr>
              <a:spLocks/>
            </p:cNvSpPr>
            <p:nvPr/>
          </p:nvSpPr>
          <p:spPr bwMode="auto">
            <a:xfrm>
              <a:off x="4981" y="3543"/>
              <a:ext cx="57" cy="58"/>
            </a:xfrm>
            <a:custGeom>
              <a:avLst/>
              <a:gdLst>
                <a:gd name="T0" fmla="*/ 1 w 114"/>
                <a:gd name="T1" fmla="*/ 1 h 116"/>
                <a:gd name="T2" fmla="*/ 1 w 114"/>
                <a:gd name="T3" fmla="*/ 0 h 116"/>
                <a:gd name="T4" fmla="*/ 1 w 114"/>
                <a:gd name="T5" fmla="*/ 1 h 116"/>
                <a:gd name="T6" fmla="*/ 1 w 114"/>
                <a:gd name="T7" fmla="*/ 1 h 116"/>
                <a:gd name="T8" fmla="*/ 1 w 114"/>
                <a:gd name="T9" fmla="*/ 1 h 116"/>
                <a:gd name="T10" fmla="*/ 1 w 114"/>
                <a:gd name="T11" fmla="*/ 1 h 116"/>
                <a:gd name="T12" fmla="*/ 1 w 114"/>
                <a:gd name="T13" fmla="*/ 1 h 116"/>
                <a:gd name="T14" fmla="*/ 1 w 114"/>
                <a:gd name="T15" fmla="*/ 1 h 116"/>
                <a:gd name="T16" fmla="*/ 0 w 114"/>
                <a:gd name="T17" fmla="*/ 1 h 116"/>
                <a:gd name="T18" fmla="*/ 1 w 114"/>
                <a:gd name="T19" fmla="*/ 1 h 116"/>
                <a:gd name="T20" fmla="*/ 1 w 114"/>
                <a:gd name="T21" fmla="*/ 1 h 1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4" h="116">
                  <a:moveTo>
                    <a:pt x="10" y="63"/>
                  </a:moveTo>
                  <a:lnTo>
                    <a:pt x="53" y="0"/>
                  </a:lnTo>
                  <a:lnTo>
                    <a:pt x="114" y="34"/>
                  </a:lnTo>
                  <a:lnTo>
                    <a:pt x="90" y="53"/>
                  </a:lnTo>
                  <a:lnTo>
                    <a:pt x="101" y="68"/>
                  </a:lnTo>
                  <a:lnTo>
                    <a:pt x="82" y="78"/>
                  </a:lnTo>
                  <a:lnTo>
                    <a:pt x="90" y="101"/>
                  </a:lnTo>
                  <a:lnTo>
                    <a:pt x="53" y="116"/>
                  </a:lnTo>
                  <a:lnTo>
                    <a:pt x="0" y="76"/>
                  </a:lnTo>
                  <a:lnTo>
                    <a:pt x="10" y="63"/>
                  </a:lnTo>
                  <a:close/>
                </a:path>
              </a:pathLst>
            </a:custGeom>
            <a:solidFill>
              <a:srgbClr val="00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36" name="Freeform 35"/>
            <p:cNvSpPr>
              <a:spLocks/>
            </p:cNvSpPr>
            <p:nvPr/>
          </p:nvSpPr>
          <p:spPr bwMode="auto">
            <a:xfrm>
              <a:off x="4982" y="3552"/>
              <a:ext cx="39" cy="38"/>
            </a:xfrm>
            <a:custGeom>
              <a:avLst/>
              <a:gdLst>
                <a:gd name="T0" fmla="*/ 0 w 80"/>
                <a:gd name="T1" fmla="*/ 0 h 78"/>
                <a:gd name="T2" fmla="*/ 0 w 80"/>
                <a:gd name="T3" fmla="*/ 0 h 78"/>
                <a:gd name="T4" fmla="*/ 0 w 80"/>
                <a:gd name="T5" fmla="*/ 0 h 78"/>
                <a:gd name="T6" fmla="*/ 0 w 80"/>
                <a:gd name="T7" fmla="*/ 0 h 78"/>
                <a:gd name="T8" fmla="*/ 0 w 80"/>
                <a:gd name="T9" fmla="*/ 0 h 78"/>
                <a:gd name="T10" fmla="*/ 0 w 80"/>
                <a:gd name="T11" fmla="*/ 0 h 78"/>
                <a:gd name="T12" fmla="*/ 0 w 80"/>
                <a:gd name="T13" fmla="*/ 0 h 78"/>
                <a:gd name="T14" fmla="*/ 0 w 80"/>
                <a:gd name="T15" fmla="*/ 0 h 78"/>
                <a:gd name="T16" fmla="*/ 0 w 80"/>
                <a:gd name="T17" fmla="*/ 0 h 78"/>
                <a:gd name="T18" fmla="*/ 0 w 80"/>
                <a:gd name="T19" fmla="*/ 0 h 78"/>
                <a:gd name="T20" fmla="*/ 0 w 80"/>
                <a:gd name="T21" fmla="*/ 0 h 78"/>
                <a:gd name="T22" fmla="*/ 0 w 80"/>
                <a:gd name="T23" fmla="*/ 0 h 78"/>
                <a:gd name="T24" fmla="*/ 0 w 80"/>
                <a:gd name="T25" fmla="*/ 0 h 78"/>
                <a:gd name="T26" fmla="*/ 0 w 80"/>
                <a:gd name="T27" fmla="*/ 0 h 78"/>
                <a:gd name="T28" fmla="*/ 0 w 80"/>
                <a:gd name="T29" fmla="*/ 0 h 78"/>
                <a:gd name="T30" fmla="*/ 0 w 80"/>
                <a:gd name="T31" fmla="*/ 0 h 78"/>
                <a:gd name="T32" fmla="*/ 0 w 80"/>
                <a:gd name="T33" fmla="*/ 0 h 78"/>
                <a:gd name="T34" fmla="*/ 0 w 80"/>
                <a:gd name="T35" fmla="*/ 0 h 78"/>
                <a:gd name="T36" fmla="*/ 0 w 80"/>
                <a:gd name="T37" fmla="*/ 0 h 78"/>
                <a:gd name="T38" fmla="*/ 0 w 80"/>
                <a:gd name="T39" fmla="*/ 0 h 78"/>
                <a:gd name="T40" fmla="*/ 0 w 80"/>
                <a:gd name="T41" fmla="*/ 0 h 78"/>
                <a:gd name="T42" fmla="*/ 0 w 80"/>
                <a:gd name="T43" fmla="*/ 0 h 78"/>
                <a:gd name="T44" fmla="*/ 0 w 80"/>
                <a:gd name="T45" fmla="*/ 0 h 78"/>
                <a:gd name="T46" fmla="*/ 0 w 80"/>
                <a:gd name="T47" fmla="*/ 0 h 78"/>
                <a:gd name="T48" fmla="*/ 0 w 80"/>
                <a:gd name="T49" fmla="*/ 0 h 78"/>
                <a:gd name="T50" fmla="*/ 0 w 80"/>
                <a:gd name="T51" fmla="*/ 0 h 78"/>
                <a:gd name="T52" fmla="*/ 0 w 80"/>
                <a:gd name="T53" fmla="*/ 0 h 78"/>
                <a:gd name="T54" fmla="*/ 0 w 80"/>
                <a:gd name="T55" fmla="*/ 0 h 78"/>
                <a:gd name="T56" fmla="*/ 0 w 80"/>
                <a:gd name="T57" fmla="*/ 0 h 78"/>
                <a:gd name="T58" fmla="*/ 0 w 80"/>
                <a:gd name="T59" fmla="*/ 0 h 78"/>
                <a:gd name="T60" fmla="*/ 0 w 80"/>
                <a:gd name="T61" fmla="*/ 0 h 78"/>
                <a:gd name="T62" fmla="*/ 0 w 80"/>
                <a:gd name="T63" fmla="*/ 0 h 78"/>
                <a:gd name="T64" fmla="*/ 0 w 80"/>
                <a:gd name="T65" fmla="*/ 0 h 78"/>
                <a:gd name="T66" fmla="*/ 0 w 80"/>
                <a:gd name="T67" fmla="*/ 0 h 78"/>
                <a:gd name="T68" fmla="*/ 0 w 80"/>
                <a:gd name="T69" fmla="*/ 0 h 78"/>
                <a:gd name="T70" fmla="*/ 0 w 80"/>
                <a:gd name="T71" fmla="*/ 0 h 78"/>
                <a:gd name="T72" fmla="*/ 0 w 80"/>
                <a:gd name="T73" fmla="*/ 0 h 78"/>
                <a:gd name="T74" fmla="*/ 0 w 80"/>
                <a:gd name="T75" fmla="*/ 0 h 78"/>
                <a:gd name="T76" fmla="*/ 0 w 80"/>
                <a:gd name="T77" fmla="*/ 0 h 78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80" h="78">
                  <a:moveTo>
                    <a:pt x="0" y="51"/>
                  </a:moveTo>
                  <a:lnTo>
                    <a:pt x="2" y="51"/>
                  </a:lnTo>
                  <a:lnTo>
                    <a:pt x="6" y="55"/>
                  </a:lnTo>
                  <a:lnTo>
                    <a:pt x="12" y="61"/>
                  </a:lnTo>
                  <a:lnTo>
                    <a:pt x="19" y="67"/>
                  </a:lnTo>
                  <a:lnTo>
                    <a:pt x="27" y="70"/>
                  </a:lnTo>
                  <a:lnTo>
                    <a:pt x="34" y="76"/>
                  </a:lnTo>
                  <a:lnTo>
                    <a:pt x="40" y="78"/>
                  </a:lnTo>
                  <a:lnTo>
                    <a:pt x="44" y="78"/>
                  </a:lnTo>
                  <a:lnTo>
                    <a:pt x="48" y="68"/>
                  </a:lnTo>
                  <a:lnTo>
                    <a:pt x="48" y="61"/>
                  </a:lnTo>
                  <a:lnTo>
                    <a:pt x="46" y="55"/>
                  </a:lnTo>
                  <a:lnTo>
                    <a:pt x="44" y="53"/>
                  </a:lnTo>
                  <a:lnTo>
                    <a:pt x="46" y="51"/>
                  </a:lnTo>
                  <a:lnTo>
                    <a:pt x="50" y="51"/>
                  </a:lnTo>
                  <a:lnTo>
                    <a:pt x="57" y="51"/>
                  </a:lnTo>
                  <a:lnTo>
                    <a:pt x="65" y="51"/>
                  </a:lnTo>
                  <a:lnTo>
                    <a:pt x="70" y="51"/>
                  </a:lnTo>
                  <a:lnTo>
                    <a:pt x="76" y="49"/>
                  </a:lnTo>
                  <a:lnTo>
                    <a:pt x="80" y="46"/>
                  </a:lnTo>
                  <a:lnTo>
                    <a:pt x="80" y="44"/>
                  </a:lnTo>
                  <a:lnTo>
                    <a:pt x="74" y="34"/>
                  </a:lnTo>
                  <a:lnTo>
                    <a:pt x="69" y="27"/>
                  </a:lnTo>
                  <a:lnTo>
                    <a:pt x="67" y="19"/>
                  </a:lnTo>
                  <a:lnTo>
                    <a:pt x="67" y="17"/>
                  </a:lnTo>
                  <a:lnTo>
                    <a:pt x="67" y="15"/>
                  </a:lnTo>
                  <a:lnTo>
                    <a:pt x="70" y="11"/>
                  </a:lnTo>
                  <a:lnTo>
                    <a:pt x="70" y="8"/>
                  </a:lnTo>
                  <a:lnTo>
                    <a:pt x="67" y="4"/>
                  </a:lnTo>
                  <a:lnTo>
                    <a:pt x="61" y="2"/>
                  </a:lnTo>
                  <a:lnTo>
                    <a:pt x="57" y="0"/>
                  </a:lnTo>
                  <a:lnTo>
                    <a:pt x="51" y="0"/>
                  </a:lnTo>
                  <a:lnTo>
                    <a:pt x="46" y="2"/>
                  </a:lnTo>
                  <a:lnTo>
                    <a:pt x="40" y="2"/>
                  </a:lnTo>
                  <a:lnTo>
                    <a:pt x="36" y="2"/>
                  </a:lnTo>
                  <a:lnTo>
                    <a:pt x="32" y="4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FFE6D9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37" name="Freeform 36"/>
            <p:cNvSpPr>
              <a:spLocks/>
            </p:cNvSpPr>
            <p:nvPr/>
          </p:nvSpPr>
          <p:spPr bwMode="auto">
            <a:xfrm>
              <a:off x="5217" y="3327"/>
              <a:ext cx="150" cy="205"/>
            </a:xfrm>
            <a:custGeom>
              <a:avLst/>
              <a:gdLst>
                <a:gd name="T0" fmla="*/ 1 w 298"/>
                <a:gd name="T1" fmla="*/ 1 h 409"/>
                <a:gd name="T2" fmla="*/ 1 w 298"/>
                <a:gd name="T3" fmla="*/ 0 h 409"/>
                <a:gd name="T4" fmla="*/ 1 w 298"/>
                <a:gd name="T5" fmla="*/ 0 h 409"/>
                <a:gd name="T6" fmla="*/ 1 w 298"/>
                <a:gd name="T7" fmla="*/ 1 h 409"/>
                <a:gd name="T8" fmla="*/ 1 w 298"/>
                <a:gd name="T9" fmla="*/ 1 h 409"/>
                <a:gd name="T10" fmla="*/ 1 w 298"/>
                <a:gd name="T11" fmla="*/ 1 h 409"/>
                <a:gd name="T12" fmla="*/ 1 w 298"/>
                <a:gd name="T13" fmla="*/ 1 h 409"/>
                <a:gd name="T14" fmla="*/ 1 w 298"/>
                <a:gd name="T15" fmla="*/ 1 h 409"/>
                <a:gd name="T16" fmla="*/ 1 w 298"/>
                <a:gd name="T17" fmla="*/ 1 h 409"/>
                <a:gd name="T18" fmla="*/ 1 w 298"/>
                <a:gd name="T19" fmla="*/ 1 h 409"/>
                <a:gd name="T20" fmla="*/ 1 w 298"/>
                <a:gd name="T21" fmla="*/ 1 h 409"/>
                <a:gd name="T22" fmla="*/ 1 w 298"/>
                <a:gd name="T23" fmla="*/ 1 h 409"/>
                <a:gd name="T24" fmla="*/ 1 w 298"/>
                <a:gd name="T25" fmla="*/ 1 h 409"/>
                <a:gd name="T26" fmla="*/ 1 w 298"/>
                <a:gd name="T27" fmla="*/ 1 h 409"/>
                <a:gd name="T28" fmla="*/ 1 w 298"/>
                <a:gd name="T29" fmla="*/ 1 h 409"/>
                <a:gd name="T30" fmla="*/ 2 w 298"/>
                <a:gd name="T31" fmla="*/ 1 h 409"/>
                <a:gd name="T32" fmla="*/ 2 w 298"/>
                <a:gd name="T33" fmla="*/ 1 h 409"/>
                <a:gd name="T34" fmla="*/ 2 w 298"/>
                <a:gd name="T35" fmla="*/ 1 h 409"/>
                <a:gd name="T36" fmla="*/ 2 w 298"/>
                <a:gd name="T37" fmla="*/ 1 h 409"/>
                <a:gd name="T38" fmla="*/ 2 w 298"/>
                <a:gd name="T39" fmla="*/ 1 h 409"/>
                <a:gd name="T40" fmla="*/ 2 w 298"/>
                <a:gd name="T41" fmla="*/ 1 h 409"/>
                <a:gd name="T42" fmla="*/ 2 w 298"/>
                <a:gd name="T43" fmla="*/ 1 h 409"/>
                <a:gd name="T44" fmla="*/ 2 w 298"/>
                <a:gd name="T45" fmla="*/ 1 h 409"/>
                <a:gd name="T46" fmla="*/ 2 w 298"/>
                <a:gd name="T47" fmla="*/ 2 h 409"/>
                <a:gd name="T48" fmla="*/ 2 w 298"/>
                <a:gd name="T49" fmla="*/ 2 h 409"/>
                <a:gd name="T50" fmla="*/ 2 w 298"/>
                <a:gd name="T51" fmla="*/ 2 h 409"/>
                <a:gd name="T52" fmla="*/ 2 w 298"/>
                <a:gd name="T53" fmla="*/ 2 h 409"/>
                <a:gd name="T54" fmla="*/ 2 w 298"/>
                <a:gd name="T55" fmla="*/ 2 h 409"/>
                <a:gd name="T56" fmla="*/ 2 w 298"/>
                <a:gd name="T57" fmla="*/ 2 h 409"/>
                <a:gd name="T58" fmla="*/ 2 w 298"/>
                <a:gd name="T59" fmla="*/ 2 h 409"/>
                <a:gd name="T60" fmla="*/ 1 w 298"/>
                <a:gd name="T61" fmla="*/ 2 h 409"/>
                <a:gd name="T62" fmla="*/ 1 w 298"/>
                <a:gd name="T63" fmla="*/ 2 h 409"/>
                <a:gd name="T64" fmla="*/ 1 w 298"/>
                <a:gd name="T65" fmla="*/ 2 h 409"/>
                <a:gd name="T66" fmla="*/ 1 w 298"/>
                <a:gd name="T67" fmla="*/ 2 h 409"/>
                <a:gd name="T68" fmla="*/ 1 w 298"/>
                <a:gd name="T69" fmla="*/ 2 h 409"/>
                <a:gd name="T70" fmla="*/ 1 w 298"/>
                <a:gd name="T71" fmla="*/ 2 h 409"/>
                <a:gd name="T72" fmla="*/ 1 w 298"/>
                <a:gd name="T73" fmla="*/ 2 h 409"/>
                <a:gd name="T74" fmla="*/ 1 w 298"/>
                <a:gd name="T75" fmla="*/ 2 h 409"/>
                <a:gd name="T76" fmla="*/ 1 w 298"/>
                <a:gd name="T77" fmla="*/ 2 h 409"/>
                <a:gd name="T78" fmla="*/ 1 w 298"/>
                <a:gd name="T79" fmla="*/ 2 h 409"/>
                <a:gd name="T80" fmla="*/ 1 w 298"/>
                <a:gd name="T81" fmla="*/ 1 h 409"/>
                <a:gd name="T82" fmla="*/ 1 w 298"/>
                <a:gd name="T83" fmla="*/ 1 h 409"/>
                <a:gd name="T84" fmla="*/ 1 w 298"/>
                <a:gd name="T85" fmla="*/ 1 h 409"/>
                <a:gd name="T86" fmla="*/ 1 w 298"/>
                <a:gd name="T87" fmla="*/ 1 h 409"/>
                <a:gd name="T88" fmla="*/ 1 w 298"/>
                <a:gd name="T89" fmla="*/ 1 h 409"/>
                <a:gd name="T90" fmla="*/ 1 w 298"/>
                <a:gd name="T91" fmla="*/ 1 h 409"/>
                <a:gd name="T92" fmla="*/ 1 w 298"/>
                <a:gd name="T93" fmla="*/ 1 h 409"/>
                <a:gd name="T94" fmla="*/ 1 w 298"/>
                <a:gd name="T95" fmla="*/ 1 h 409"/>
                <a:gd name="T96" fmla="*/ 1 w 298"/>
                <a:gd name="T97" fmla="*/ 1 h 409"/>
                <a:gd name="T98" fmla="*/ 1 w 298"/>
                <a:gd name="T99" fmla="*/ 1 h 409"/>
                <a:gd name="T100" fmla="*/ 1 w 298"/>
                <a:gd name="T101" fmla="*/ 1 h 409"/>
                <a:gd name="T102" fmla="*/ 1 w 298"/>
                <a:gd name="T103" fmla="*/ 1 h 409"/>
                <a:gd name="T104" fmla="*/ 1 w 298"/>
                <a:gd name="T105" fmla="*/ 1 h 409"/>
                <a:gd name="T106" fmla="*/ 1 w 298"/>
                <a:gd name="T107" fmla="*/ 1 h 409"/>
                <a:gd name="T108" fmla="*/ 1 w 298"/>
                <a:gd name="T109" fmla="*/ 1 h 409"/>
                <a:gd name="T110" fmla="*/ 1 w 298"/>
                <a:gd name="T111" fmla="*/ 1 h 409"/>
                <a:gd name="T112" fmla="*/ 1 w 298"/>
                <a:gd name="T113" fmla="*/ 1 h 409"/>
                <a:gd name="T114" fmla="*/ 0 w 298"/>
                <a:gd name="T115" fmla="*/ 1 h 409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98" h="409">
                  <a:moveTo>
                    <a:pt x="0" y="4"/>
                  </a:moveTo>
                  <a:lnTo>
                    <a:pt x="1" y="2"/>
                  </a:lnTo>
                  <a:lnTo>
                    <a:pt x="7" y="2"/>
                  </a:lnTo>
                  <a:lnTo>
                    <a:pt x="9" y="0"/>
                  </a:lnTo>
                  <a:lnTo>
                    <a:pt x="15" y="0"/>
                  </a:lnTo>
                  <a:lnTo>
                    <a:pt x="20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41" y="0"/>
                  </a:lnTo>
                  <a:lnTo>
                    <a:pt x="49" y="0"/>
                  </a:lnTo>
                  <a:lnTo>
                    <a:pt x="58" y="2"/>
                  </a:lnTo>
                  <a:lnTo>
                    <a:pt x="68" y="2"/>
                  </a:lnTo>
                  <a:lnTo>
                    <a:pt x="77" y="4"/>
                  </a:lnTo>
                  <a:lnTo>
                    <a:pt x="83" y="4"/>
                  </a:lnTo>
                  <a:lnTo>
                    <a:pt x="89" y="4"/>
                  </a:lnTo>
                  <a:lnTo>
                    <a:pt x="93" y="6"/>
                  </a:lnTo>
                  <a:lnTo>
                    <a:pt x="98" y="8"/>
                  </a:lnTo>
                  <a:lnTo>
                    <a:pt x="104" y="8"/>
                  </a:lnTo>
                  <a:lnTo>
                    <a:pt x="110" y="8"/>
                  </a:lnTo>
                  <a:lnTo>
                    <a:pt x="114" y="8"/>
                  </a:lnTo>
                  <a:lnTo>
                    <a:pt x="119" y="12"/>
                  </a:lnTo>
                  <a:lnTo>
                    <a:pt x="125" y="12"/>
                  </a:lnTo>
                  <a:lnTo>
                    <a:pt x="131" y="14"/>
                  </a:lnTo>
                  <a:lnTo>
                    <a:pt x="136" y="16"/>
                  </a:lnTo>
                  <a:lnTo>
                    <a:pt x="142" y="18"/>
                  </a:lnTo>
                  <a:lnTo>
                    <a:pt x="146" y="19"/>
                  </a:lnTo>
                  <a:lnTo>
                    <a:pt x="152" y="21"/>
                  </a:lnTo>
                  <a:lnTo>
                    <a:pt x="157" y="23"/>
                  </a:lnTo>
                  <a:lnTo>
                    <a:pt x="163" y="27"/>
                  </a:lnTo>
                  <a:lnTo>
                    <a:pt x="169" y="29"/>
                  </a:lnTo>
                  <a:lnTo>
                    <a:pt x="174" y="33"/>
                  </a:lnTo>
                  <a:lnTo>
                    <a:pt x="180" y="35"/>
                  </a:lnTo>
                  <a:lnTo>
                    <a:pt x="186" y="38"/>
                  </a:lnTo>
                  <a:lnTo>
                    <a:pt x="192" y="40"/>
                  </a:lnTo>
                  <a:lnTo>
                    <a:pt x="195" y="44"/>
                  </a:lnTo>
                  <a:lnTo>
                    <a:pt x="201" y="48"/>
                  </a:lnTo>
                  <a:lnTo>
                    <a:pt x="207" y="52"/>
                  </a:lnTo>
                  <a:lnTo>
                    <a:pt x="212" y="56"/>
                  </a:lnTo>
                  <a:lnTo>
                    <a:pt x="218" y="59"/>
                  </a:lnTo>
                  <a:lnTo>
                    <a:pt x="222" y="63"/>
                  </a:lnTo>
                  <a:lnTo>
                    <a:pt x="228" y="69"/>
                  </a:lnTo>
                  <a:lnTo>
                    <a:pt x="233" y="75"/>
                  </a:lnTo>
                  <a:lnTo>
                    <a:pt x="237" y="78"/>
                  </a:lnTo>
                  <a:lnTo>
                    <a:pt x="243" y="84"/>
                  </a:lnTo>
                  <a:lnTo>
                    <a:pt x="247" y="90"/>
                  </a:lnTo>
                  <a:lnTo>
                    <a:pt x="250" y="96"/>
                  </a:lnTo>
                  <a:lnTo>
                    <a:pt x="256" y="101"/>
                  </a:lnTo>
                  <a:lnTo>
                    <a:pt x="260" y="107"/>
                  </a:lnTo>
                  <a:lnTo>
                    <a:pt x="266" y="115"/>
                  </a:lnTo>
                  <a:lnTo>
                    <a:pt x="268" y="120"/>
                  </a:lnTo>
                  <a:lnTo>
                    <a:pt x="271" y="126"/>
                  </a:lnTo>
                  <a:lnTo>
                    <a:pt x="273" y="134"/>
                  </a:lnTo>
                  <a:lnTo>
                    <a:pt x="277" y="139"/>
                  </a:lnTo>
                  <a:lnTo>
                    <a:pt x="281" y="145"/>
                  </a:lnTo>
                  <a:lnTo>
                    <a:pt x="283" y="153"/>
                  </a:lnTo>
                  <a:lnTo>
                    <a:pt x="285" y="158"/>
                  </a:lnTo>
                  <a:lnTo>
                    <a:pt x="288" y="166"/>
                  </a:lnTo>
                  <a:lnTo>
                    <a:pt x="288" y="172"/>
                  </a:lnTo>
                  <a:lnTo>
                    <a:pt x="290" y="177"/>
                  </a:lnTo>
                  <a:lnTo>
                    <a:pt x="292" y="185"/>
                  </a:lnTo>
                  <a:lnTo>
                    <a:pt x="294" y="191"/>
                  </a:lnTo>
                  <a:lnTo>
                    <a:pt x="294" y="196"/>
                  </a:lnTo>
                  <a:lnTo>
                    <a:pt x="296" y="204"/>
                  </a:lnTo>
                  <a:lnTo>
                    <a:pt x="296" y="210"/>
                  </a:lnTo>
                  <a:lnTo>
                    <a:pt x="298" y="217"/>
                  </a:lnTo>
                  <a:lnTo>
                    <a:pt x="298" y="223"/>
                  </a:lnTo>
                  <a:lnTo>
                    <a:pt x="298" y="229"/>
                  </a:lnTo>
                  <a:lnTo>
                    <a:pt x="298" y="236"/>
                  </a:lnTo>
                  <a:lnTo>
                    <a:pt x="298" y="242"/>
                  </a:lnTo>
                  <a:lnTo>
                    <a:pt x="296" y="248"/>
                  </a:lnTo>
                  <a:lnTo>
                    <a:pt x="296" y="253"/>
                  </a:lnTo>
                  <a:lnTo>
                    <a:pt x="296" y="261"/>
                  </a:lnTo>
                  <a:lnTo>
                    <a:pt x="296" y="267"/>
                  </a:lnTo>
                  <a:lnTo>
                    <a:pt x="294" y="272"/>
                  </a:lnTo>
                  <a:lnTo>
                    <a:pt x="294" y="278"/>
                  </a:lnTo>
                  <a:lnTo>
                    <a:pt x="292" y="284"/>
                  </a:lnTo>
                  <a:lnTo>
                    <a:pt x="292" y="289"/>
                  </a:lnTo>
                  <a:lnTo>
                    <a:pt x="290" y="295"/>
                  </a:lnTo>
                  <a:lnTo>
                    <a:pt x="290" y="301"/>
                  </a:lnTo>
                  <a:lnTo>
                    <a:pt x="288" y="306"/>
                  </a:lnTo>
                  <a:lnTo>
                    <a:pt x="288" y="312"/>
                  </a:lnTo>
                  <a:lnTo>
                    <a:pt x="285" y="322"/>
                  </a:lnTo>
                  <a:lnTo>
                    <a:pt x="281" y="331"/>
                  </a:lnTo>
                  <a:lnTo>
                    <a:pt x="277" y="341"/>
                  </a:lnTo>
                  <a:lnTo>
                    <a:pt x="273" y="352"/>
                  </a:lnTo>
                  <a:lnTo>
                    <a:pt x="269" y="360"/>
                  </a:lnTo>
                  <a:lnTo>
                    <a:pt x="268" y="367"/>
                  </a:lnTo>
                  <a:lnTo>
                    <a:pt x="264" y="375"/>
                  </a:lnTo>
                  <a:lnTo>
                    <a:pt x="262" y="381"/>
                  </a:lnTo>
                  <a:lnTo>
                    <a:pt x="258" y="386"/>
                  </a:lnTo>
                  <a:lnTo>
                    <a:pt x="254" y="392"/>
                  </a:lnTo>
                  <a:lnTo>
                    <a:pt x="252" y="398"/>
                  </a:lnTo>
                  <a:lnTo>
                    <a:pt x="250" y="402"/>
                  </a:lnTo>
                  <a:lnTo>
                    <a:pt x="247" y="405"/>
                  </a:lnTo>
                  <a:lnTo>
                    <a:pt x="247" y="409"/>
                  </a:lnTo>
                  <a:lnTo>
                    <a:pt x="231" y="405"/>
                  </a:lnTo>
                  <a:lnTo>
                    <a:pt x="231" y="402"/>
                  </a:lnTo>
                  <a:lnTo>
                    <a:pt x="231" y="396"/>
                  </a:lnTo>
                  <a:lnTo>
                    <a:pt x="231" y="392"/>
                  </a:lnTo>
                  <a:lnTo>
                    <a:pt x="231" y="384"/>
                  </a:lnTo>
                  <a:lnTo>
                    <a:pt x="233" y="379"/>
                  </a:lnTo>
                  <a:lnTo>
                    <a:pt x="233" y="369"/>
                  </a:lnTo>
                  <a:lnTo>
                    <a:pt x="235" y="360"/>
                  </a:lnTo>
                  <a:lnTo>
                    <a:pt x="235" y="354"/>
                  </a:lnTo>
                  <a:lnTo>
                    <a:pt x="235" y="348"/>
                  </a:lnTo>
                  <a:lnTo>
                    <a:pt x="235" y="343"/>
                  </a:lnTo>
                  <a:lnTo>
                    <a:pt x="235" y="337"/>
                  </a:lnTo>
                  <a:lnTo>
                    <a:pt x="235" y="331"/>
                  </a:lnTo>
                  <a:lnTo>
                    <a:pt x="235" y="324"/>
                  </a:lnTo>
                  <a:lnTo>
                    <a:pt x="235" y="318"/>
                  </a:lnTo>
                  <a:lnTo>
                    <a:pt x="237" y="312"/>
                  </a:lnTo>
                  <a:lnTo>
                    <a:pt x="237" y="305"/>
                  </a:lnTo>
                  <a:lnTo>
                    <a:pt x="237" y="299"/>
                  </a:lnTo>
                  <a:lnTo>
                    <a:pt x="237" y="291"/>
                  </a:lnTo>
                  <a:lnTo>
                    <a:pt x="237" y="286"/>
                  </a:lnTo>
                  <a:lnTo>
                    <a:pt x="237" y="278"/>
                  </a:lnTo>
                  <a:lnTo>
                    <a:pt x="237" y="270"/>
                  </a:lnTo>
                  <a:lnTo>
                    <a:pt x="237" y="265"/>
                  </a:lnTo>
                  <a:lnTo>
                    <a:pt x="237" y="259"/>
                  </a:lnTo>
                  <a:lnTo>
                    <a:pt x="237" y="249"/>
                  </a:lnTo>
                  <a:lnTo>
                    <a:pt x="237" y="244"/>
                  </a:lnTo>
                  <a:lnTo>
                    <a:pt x="235" y="236"/>
                  </a:lnTo>
                  <a:lnTo>
                    <a:pt x="235" y="229"/>
                  </a:lnTo>
                  <a:lnTo>
                    <a:pt x="235" y="221"/>
                  </a:lnTo>
                  <a:lnTo>
                    <a:pt x="233" y="213"/>
                  </a:lnTo>
                  <a:lnTo>
                    <a:pt x="233" y="206"/>
                  </a:lnTo>
                  <a:lnTo>
                    <a:pt x="233" y="200"/>
                  </a:lnTo>
                  <a:lnTo>
                    <a:pt x="231" y="192"/>
                  </a:lnTo>
                  <a:lnTo>
                    <a:pt x="230" y="185"/>
                  </a:lnTo>
                  <a:lnTo>
                    <a:pt x="230" y="177"/>
                  </a:lnTo>
                  <a:lnTo>
                    <a:pt x="228" y="172"/>
                  </a:lnTo>
                  <a:lnTo>
                    <a:pt x="226" y="164"/>
                  </a:lnTo>
                  <a:lnTo>
                    <a:pt x="226" y="158"/>
                  </a:lnTo>
                  <a:lnTo>
                    <a:pt x="224" y="151"/>
                  </a:lnTo>
                  <a:lnTo>
                    <a:pt x="222" y="145"/>
                  </a:lnTo>
                  <a:lnTo>
                    <a:pt x="220" y="139"/>
                  </a:lnTo>
                  <a:lnTo>
                    <a:pt x="218" y="132"/>
                  </a:lnTo>
                  <a:lnTo>
                    <a:pt x="216" y="126"/>
                  </a:lnTo>
                  <a:lnTo>
                    <a:pt x="214" y="120"/>
                  </a:lnTo>
                  <a:lnTo>
                    <a:pt x="212" y="115"/>
                  </a:lnTo>
                  <a:lnTo>
                    <a:pt x="209" y="109"/>
                  </a:lnTo>
                  <a:lnTo>
                    <a:pt x="207" y="105"/>
                  </a:lnTo>
                  <a:lnTo>
                    <a:pt x="205" y="99"/>
                  </a:lnTo>
                  <a:lnTo>
                    <a:pt x="197" y="90"/>
                  </a:lnTo>
                  <a:lnTo>
                    <a:pt x="192" y="82"/>
                  </a:lnTo>
                  <a:lnTo>
                    <a:pt x="184" y="75"/>
                  </a:lnTo>
                  <a:lnTo>
                    <a:pt x="176" y="69"/>
                  </a:lnTo>
                  <a:lnTo>
                    <a:pt x="167" y="63"/>
                  </a:lnTo>
                  <a:lnTo>
                    <a:pt x="159" y="58"/>
                  </a:lnTo>
                  <a:lnTo>
                    <a:pt x="150" y="54"/>
                  </a:lnTo>
                  <a:lnTo>
                    <a:pt x="142" y="50"/>
                  </a:lnTo>
                  <a:lnTo>
                    <a:pt x="133" y="44"/>
                  </a:lnTo>
                  <a:lnTo>
                    <a:pt x="125" y="40"/>
                  </a:lnTo>
                  <a:lnTo>
                    <a:pt x="117" y="37"/>
                  </a:lnTo>
                  <a:lnTo>
                    <a:pt x="110" y="35"/>
                  </a:lnTo>
                  <a:lnTo>
                    <a:pt x="100" y="31"/>
                  </a:lnTo>
                  <a:lnTo>
                    <a:pt x="93" y="29"/>
                  </a:lnTo>
                  <a:lnTo>
                    <a:pt x="87" y="27"/>
                  </a:lnTo>
                  <a:lnTo>
                    <a:pt x="79" y="25"/>
                  </a:lnTo>
                  <a:lnTo>
                    <a:pt x="72" y="21"/>
                  </a:lnTo>
                  <a:lnTo>
                    <a:pt x="64" y="21"/>
                  </a:lnTo>
                  <a:lnTo>
                    <a:pt x="58" y="19"/>
                  </a:lnTo>
                  <a:lnTo>
                    <a:pt x="53" y="18"/>
                  </a:lnTo>
                  <a:lnTo>
                    <a:pt x="47" y="16"/>
                  </a:lnTo>
                  <a:lnTo>
                    <a:pt x="41" y="16"/>
                  </a:lnTo>
                  <a:lnTo>
                    <a:pt x="36" y="14"/>
                  </a:lnTo>
                  <a:lnTo>
                    <a:pt x="30" y="14"/>
                  </a:lnTo>
                  <a:lnTo>
                    <a:pt x="20" y="12"/>
                  </a:lnTo>
                  <a:lnTo>
                    <a:pt x="15" y="12"/>
                  </a:lnTo>
                  <a:lnTo>
                    <a:pt x="7" y="12"/>
                  </a:lnTo>
                  <a:lnTo>
                    <a:pt x="1" y="12"/>
                  </a:lnTo>
                  <a:lnTo>
                    <a:pt x="0" y="12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00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38" name="Freeform 37"/>
            <p:cNvSpPr>
              <a:spLocks/>
            </p:cNvSpPr>
            <p:nvPr/>
          </p:nvSpPr>
          <p:spPr bwMode="auto">
            <a:xfrm>
              <a:off x="5277" y="3532"/>
              <a:ext cx="57" cy="46"/>
            </a:xfrm>
            <a:custGeom>
              <a:avLst/>
              <a:gdLst>
                <a:gd name="T0" fmla="*/ 1 w 114"/>
                <a:gd name="T1" fmla="*/ 0 h 93"/>
                <a:gd name="T2" fmla="*/ 1 w 114"/>
                <a:gd name="T3" fmla="*/ 0 h 93"/>
                <a:gd name="T4" fmla="*/ 1 w 114"/>
                <a:gd name="T5" fmla="*/ 0 h 93"/>
                <a:gd name="T6" fmla="*/ 1 w 114"/>
                <a:gd name="T7" fmla="*/ 0 h 93"/>
                <a:gd name="T8" fmla="*/ 1 w 114"/>
                <a:gd name="T9" fmla="*/ 0 h 93"/>
                <a:gd name="T10" fmla="*/ 0 w 114"/>
                <a:gd name="T11" fmla="*/ 0 h 93"/>
                <a:gd name="T12" fmla="*/ 0 w 114"/>
                <a:gd name="T13" fmla="*/ 0 h 93"/>
                <a:gd name="T14" fmla="*/ 0 w 114"/>
                <a:gd name="T15" fmla="*/ 0 h 93"/>
                <a:gd name="T16" fmla="*/ 1 w 114"/>
                <a:gd name="T17" fmla="*/ 0 h 93"/>
                <a:gd name="T18" fmla="*/ 1 w 114"/>
                <a:gd name="T19" fmla="*/ 0 h 93"/>
                <a:gd name="T20" fmla="*/ 1 w 114"/>
                <a:gd name="T21" fmla="*/ 0 h 93"/>
                <a:gd name="T22" fmla="*/ 1 w 114"/>
                <a:gd name="T23" fmla="*/ 0 h 93"/>
                <a:gd name="T24" fmla="*/ 1 w 114"/>
                <a:gd name="T25" fmla="*/ 0 h 93"/>
                <a:gd name="T26" fmla="*/ 1 w 114"/>
                <a:gd name="T27" fmla="*/ 0 h 93"/>
                <a:gd name="T28" fmla="*/ 1 w 114"/>
                <a:gd name="T29" fmla="*/ 0 h 93"/>
                <a:gd name="T30" fmla="*/ 1 w 114"/>
                <a:gd name="T31" fmla="*/ 0 h 93"/>
                <a:gd name="T32" fmla="*/ 1 w 114"/>
                <a:gd name="T33" fmla="*/ 0 h 93"/>
                <a:gd name="T34" fmla="*/ 1 w 114"/>
                <a:gd name="T35" fmla="*/ 0 h 93"/>
                <a:gd name="T36" fmla="*/ 1 w 114"/>
                <a:gd name="T37" fmla="*/ 0 h 93"/>
                <a:gd name="T38" fmla="*/ 1 w 114"/>
                <a:gd name="T39" fmla="*/ 0 h 93"/>
                <a:gd name="T40" fmla="*/ 1 w 114"/>
                <a:gd name="T41" fmla="*/ 0 h 93"/>
                <a:gd name="T42" fmla="*/ 1 w 114"/>
                <a:gd name="T43" fmla="*/ 0 h 93"/>
                <a:gd name="T44" fmla="*/ 1 w 114"/>
                <a:gd name="T45" fmla="*/ 0 h 93"/>
                <a:gd name="T46" fmla="*/ 1 w 114"/>
                <a:gd name="T47" fmla="*/ 0 h 93"/>
                <a:gd name="T48" fmla="*/ 1 w 114"/>
                <a:gd name="T49" fmla="*/ 0 h 93"/>
                <a:gd name="T50" fmla="*/ 1 w 114"/>
                <a:gd name="T51" fmla="*/ 0 h 93"/>
                <a:gd name="T52" fmla="*/ 1 w 114"/>
                <a:gd name="T53" fmla="*/ 0 h 93"/>
                <a:gd name="T54" fmla="*/ 1 w 114"/>
                <a:gd name="T55" fmla="*/ 0 h 93"/>
                <a:gd name="T56" fmla="*/ 1 w 114"/>
                <a:gd name="T57" fmla="*/ 0 h 93"/>
                <a:gd name="T58" fmla="*/ 1 w 114"/>
                <a:gd name="T59" fmla="*/ 0 h 93"/>
                <a:gd name="T60" fmla="*/ 1 w 114"/>
                <a:gd name="T61" fmla="*/ 0 h 93"/>
                <a:gd name="T62" fmla="*/ 1 w 114"/>
                <a:gd name="T63" fmla="*/ 0 h 93"/>
                <a:gd name="T64" fmla="*/ 1 w 114"/>
                <a:gd name="T65" fmla="*/ 0 h 93"/>
                <a:gd name="T66" fmla="*/ 1 w 114"/>
                <a:gd name="T67" fmla="*/ 0 h 93"/>
                <a:gd name="T68" fmla="*/ 1 w 114"/>
                <a:gd name="T69" fmla="*/ 0 h 93"/>
                <a:gd name="T70" fmla="*/ 1 w 114"/>
                <a:gd name="T71" fmla="*/ 0 h 93"/>
                <a:gd name="T72" fmla="*/ 1 w 114"/>
                <a:gd name="T73" fmla="*/ 0 h 93"/>
                <a:gd name="T74" fmla="*/ 1 w 114"/>
                <a:gd name="T75" fmla="*/ 0 h 93"/>
                <a:gd name="T76" fmla="*/ 1 w 114"/>
                <a:gd name="T77" fmla="*/ 0 h 93"/>
                <a:gd name="T78" fmla="*/ 1 w 114"/>
                <a:gd name="T79" fmla="*/ 0 h 93"/>
                <a:gd name="T80" fmla="*/ 1 w 114"/>
                <a:gd name="T81" fmla="*/ 0 h 93"/>
                <a:gd name="T82" fmla="*/ 1 w 114"/>
                <a:gd name="T83" fmla="*/ 0 h 93"/>
                <a:gd name="T84" fmla="*/ 1 w 114"/>
                <a:gd name="T85" fmla="*/ 0 h 93"/>
                <a:gd name="T86" fmla="*/ 1 w 114"/>
                <a:gd name="T87" fmla="*/ 0 h 93"/>
                <a:gd name="T88" fmla="*/ 1 w 114"/>
                <a:gd name="T89" fmla="*/ 0 h 93"/>
                <a:gd name="T90" fmla="*/ 1 w 114"/>
                <a:gd name="T91" fmla="*/ 0 h 93"/>
                <a:gd name="T92" fmla="*/ 1 w 114"/>
                <a:gd name="T93" fmla="*/ 0 h 93"/>
                <a:gd name="T94" fmla="*/ 1 w 114"/>
                <a:gd name="T95" fmla="*/ 0 h 93"/>
                <a:gd name="T96" fmla="*/ 1 w 114"/>
                <a:gd name="T97" fmla="*/ 0 h 93"/>
                <a:gd name="T98" fmla="*/ 1 w 114"/>
                <a:gd name="T99" fmla="*/ 0 h 93"/>
                <a:gd name="T100" fmla="*/ 1 w 114"/>
                <a:gd name="T101" fmla="*/ 0 h 93"/>
                <a:gd name="T102" fmla="*/ 1 w 114"/>
                <a:gd name="T103" fmla="*/ 0 h 93"/>
                <a:gd name="T104" fmla="*/ 1 w 114"/>
                <a:gd name="T105" fmla="*/ 0 h 93"/>
                <a:gd name="T106" fmla="*/ 1 w 114"/>
                <a:gd name="T107" fmla="*/ 0 h 93"/>
                <a:gd name="T108" fmla="*/ 1 w 114"/>
                <a:gd name="T109" fmla="*/ 0 h 93"/>
                <a:gd name="T110" fmla="*/ 1 w 114"/>
                <a:gd name="T111" fmla="*/ 0 h 93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114" h="93">
                  <a:moveTo>
                    <a:pt x="17" y="32"/>
                  </a:moveTo>
                  <a:lnTo>
                    <a:pt x="16" y="32"/>
                  </a:lnTo>
                  <a:lnTo>
                    <a:pt x="14" y="36"/>
                  </a:lnTo>
                  <a:lnTo>
                    <a:pt x="8" y="40"/>
                  </a:lnTo>
                  <a:lnTo>
                    <a:pt x="6" y="46"/>
                  </a:lnTo>
                  <a:lnTo>
                    <a:pt x="0" y="50"/>
                  </a:lnTo>
                  <a:lnTo>
                    <a:pt x="0" y="55"/>
                  </a:lnTo>
                  <a:lnTo>
                    <a:pt x="0" y="59"/>
                  </a:lnTo>
                  <a:lnTo>
                    <a:pt x="4" y="65"/>
                  </a:lnTo>
                  <a:lnTo>
                    <a:pt x="8" y="67"/>
                  </a:lnTo>
                  <a:lnTo>
                    <a:pt x="14" y="67"/>
                  </a:lnTo>
                  <a:lnTo>
                    <a:pt x="17" y="63"/>
                  </a:lnTo>
                  <a:lnTo>
                    <a:pt x="23" y="61"/>
                  </a:lnTo>
                  <a:lnTo>
                    <a:pt x="31" y="53"/>
                  </a:lnTo>
                  <a:lnTo>
                    <a:pt x="35" y="50"/>
                  </a:lnTo>
                  <a:lnTo>
                    <a:pt x="33" y="53"/>
                  </a:lnTo>
                  <a:lnTo>
                    <a:pt x="29" y="59"/>
                  </a:lnTo>
                  <a:lnTo>
                    <a:pt x="27" y="69"/>
                  </a:lnTo>
                  <a:lnTo>
                    <a:pt x="31" y="74"/>
                  </a:lnTo>
                  <a:lnTo>
                    <a:pt x="36" y="76"/>
                  </a:lnTo>
                  <a:lnTo>
                    <a:pt x="44" y="74"/>
                  </a:lnTo>
                  <a:lnTo>
                    <a:pt x="48" y="72"/>
                  </a:lnTo>
                  <a:lnTo>
                    <a:pt x="52" y="70"/>
                  </a:lnTo>
                  <a:lnTo>
                    <a:pt x="52" y="72"/>
                  </a:lnTo>
                  <a:lnTo>
                    <a:pt x="50" y="80"/>
                  </a:lnTo>
                  <a:lnTo>
                    <a:pt x="52" y="88"/>
                  </a:lnTo>
                  <a:lnTo>
                    <a:pt x="55" y="93"/>
                  </a:lnTo>
                  <a:lnTo>
                    <a:pt x="57" y="91"/>
                  </a:lnTo>
                  <a:lnTo>
                    <a:pt x="63" y="89"/>
                  </a:lnTo>
                  <a:lnTo>
                    <a:pt x="67" y="86"/>
                  </a:lnTo>
                  <a:lnTo>
                    <a:pt x="73" y="84"/>
                  </a:lnTo>
                  <a:lnTo>
                    <a:pt x="80" y="76"/>
                  </a:lnTo>
                  <a:lnTo>
                    <a:pt x="84" y="74"/>
                  </a:lnTo>
                  <a:lnTo>
                    <a:pt x="86" y="88"/>
                  </a:lnTo>
                  <a:lnTo>
                    <a:pt x="90" y="88"/>
                  </a:lnTo>
                  <a:lnTo>
                    <a:pt x="99" y="84"/>
                  </a:lnTo>
                  <a:lnTo>
                    <a:pt x="103" y="80"/>
                  </a:lnTo>
                  <a:lnTo>
                    <a:pt x="109" y="74"/>
                  </a:lnTo>
                  <a:lnTo>
                    <a:pt x="112" y="69"/>
                  </a:lnTo>
                  <a:lnTo>
                    <a:pt x="114" y="59"/>
                  </a:lnTo>
                  <a:lnTo>
                    <a:pt x="114" y="53"/>
                  </a:lnTo>
                  <a:lnTo>
                    <a:pt x="112" y="50"/>
                  </a:lnTo>
                  <a:lnTo>
                    <a:pt x="109" y="44"/>
                  </a:lnTo>
                  <a:lnTo>
                    <a:pt x="107" y="40"/>
                  </a:lnTo>
                  <a:lnTo>
                    <a:pt x="101" y="34"/>
                  </a:lnTo>
                  <a:lnTo>
                    <a:pt x="97" y="29"/>
                  </a:lnTo>
                  <a:lnTo>
                    <a:pt x="92" y="23"/>
                  </a:lnTo>
                  <a:lnTo>
                    <a:pt x="88" y="19"/>
                  </a:lnTo>
                  <a:lnTo>
                    <a:pt x="82" y="15"/>
                  </a:lnTo>
                  <a:lnTo>
                    <a:pt x="76" y="12"/>
                  </a:lnTo>
                  <a:lnTo>
                    <a:pt x="71" y="8"/>
                  </a:lnTo>
                  <a:lnTo>
                    <a:pt x="67" y="6"/>
                  </a:lnTo>
                  <a:lnTo>
                    <a:pt x="61" y="0"/>
                  </a:lnTo>
                  <a:lnTo>
                    <a:pt x="59" y="0"/>
                  </a:lnTo>
                  <a:lnTo>
                    <a:pt x="17" y="32"/>
                  </a:lnTo>
                  <a:close/>
                </a:path>
              </a:pathLst>
            </a:custGeom>
            <a:solidFill>
              <a:srgbClr val="00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39" name="Freeform 38"/>
            <p:cNvSpPr>
              <a:spLocks/>
            </p:cNvSpPr>
            <p:nvPr/>
          </p:nvSpPr>
          <p:spPr bwMode="auto">
            <a:xfrm>
              <a:off x="5117" y="3420"/>
              <a:ext cx="60" cy="31"/>
            </a:xfrm>
            <a:custGeom>
              <a:avLst/>
              <a:gdLst>
                <a:gd name="T0" fmla="*/ 0 w 122"/>
                <a:gd name="T1" fmla="*/ 1 h 61"/>
                <a:gd name="T2" fmla="*/ 0 w 122"/>
                <a:gd name="T3" fmla="*/ 1 h 61"/>
                <a:gd name="T4" fmla="*/ 0 w 122"/>
                <a:gd name="T5" fmla="*/ 1 h 61"/>
                <a:gd name="T6" fmla="*/ 0 w 122"/>
                <a:gd name="T7" fmla="*/ 1 h 61"/>
                <a:gd name="T8" fmla="*/ 0 w 122"/>
                <a:gd name="T9" fmla="*/ 1 h 61"/>
                <a:gd name="T10" fmla="*/ 0 w 122"/>
                <a:gd name="T11" fmla="*/ 1 h 61"/>
                <a:gd name="T12" fmla="*/ 0 w 122"/>
                <a:gd name="T13" fmla="*/ 1 h 61"/>
                <a:gd name="T14" fmla="*/ 0 w 122"/>
                <a:gd name="T15" fmla="*/ 1 h 61"/>
                <a:gd name="T16" fmla="*/ 0 w 122"/>
                <a:gd name="T17" fmla="*/ 1 h 61"/>
                <a:gd name="T18" fmla="*/ 0 w 122"/>
                <a:gd name="T19" fmla="*/ 1 h 61"/>
                <a:gd name="T20" fmla="*/ 0 w 122"/>
                <a:gd name="T21" fmla="*/ 1 h 61"/>
                <a:gd name="T22" fmla="*/ 0 w 122"/>
                <a:gd name="T23" fmla="*/ 1 h 61"/>
                <a:gd name="T24" fmla="*/ 0 w 122"/>
                <a:gd name="T25" fmla="*/ 1 h 61"/>
                <a:gd name="T26" fmla="*/ 0 w 122"/>
                <a:gd name="T27" fmla="*/ 1 h 61"/>
                <a:gd name="T28" fmla="*/ 0 w 122"/>
                <a:gd name="T29" fmla="*/ 1 h 61"/>
                <a:gd name="T30" fmla="*/ 0 w 122"/>
                <a:gd name="T31" fmla="*/ 1 h 61"/>
                <a:gd name="T32" fmla="*/ 0 w 122"/>
                <a:gd name="T33" fmla="*/ 1 h 61"/>
                <a:gd name="T34" fmla="*/ 0 w 122"/>
                <a:gd name="T35" fmla="*/ 1 h 61"/>
                <a:gd name="T36" fmla="*/ 0 w 122"/>
                <a:gd name="T37" fmla="*/ 1 h 61"/>
                <a:gd name="T38" fmla="*/ 0 w 122"/>
                <a:gd name="T39" fmla="*/ 0 h 61"/>
                <a:gd name="T40" fmla="*/ 0 w 122"/>
                <a:gd name="T41" fmla="*/ 0 h 61"/>
                <a:gd name="T42" fmla="*/ 0 w 122"/>
                <a:gd name="T43" fmla="*/ 1 h 61"/>
                <a:gd name="T44" fmla="*/ 0 w 122"/>
                <a:gd name="T45" fmla="*/ 1 h 61"/>
                <a:gd name="T46" fmla="*/ 0 w 122"/>
                <a:gd name="T47" fmla="*/ 1 h 61"/>
                <a:gd name="T48" fmla="*/ 0 w 122"/>
                <a:gd name="T49" fmla="*/ 1 h 61"/>
                <a:gd name="T50" fmla="*/ 0 w 122"/>
                <a:gd name="T51" fmla="*/ 1 h 61"/>
                <a:gd name="T52" fmla="*/ 0 w 122"/>
                <a:gd name="T53" fmla="*/ 1 h 61"/>
                <a:gd name="T54" fmla="*/ 0 w 122"/>
                <a:gd name="T55" fmla="*/ 1 h 61"/>
                <a:gd name="T56" fmla="*/ 0 w 122"/>
                <a:gd name="T57" fmla="*/ 1 h 61"/>
                <a:gd name="T58" fmla="*/ 0 w 122"/>
                <a:gd name="T59" fmla="*/ 1 h 61"/>
                <a:gd name="T60" fmla="*/ 0 w 122"/>
                <a:gd name="T61" fmla="*/ 1 h 61"/>
                <a:gd name="T62" fmla="*/ 0 w 122"/>
                <a:gd name="T63" fmla="*/ 1 h 61"/>
                <a:gd name="T64" fmla="*/ 0 w 122"/>
                <a:gd name="T65" fmla="*/ 1 h 61"/>
                <a:gd name="T66" fmla="*/ 0 w 122"/>
                <a:gd name="T67" fmla="*/ 1 h 61"/>
                <a:gd name="T68" fmla="*/ 0 w 122"/>
                <a:gd name="T69" fmla="*/ 1 h 61"/>
                <a:gd name="T70" fmla="*/ 0 w 122"/>
                <a:gd name="T71" fmla="*/ 1 h 61"/>
                <a:gd name="T72" fmla="*/ 0 w 122"/>
                <a:gd name="T73" fmla="*/ 1 h 61"/>
                <a:gd name="T74" fmla="*/ 0 w 122"/>
                <a:gd name="T75" fmla="*/ 1 h 61"/>
                <a:gd name="T76" fmla="*/ 0 w 122"/>
                <a:gd name="T77" fmla="*/ 1 h 61"/>
                <a:gd name="T78" fmla="*/ 0 w 122"/>
                <a:gd name="T79" fmla="*/ 1 h 61"/>
                <a:gd name="T80" fmla="*/ 0 w 122"/>
                <a:gd name="T81" fmla="*/ 1 h 61"/>
                <a:gd name="T82" fmla="*/ 0 w 122"/>
                <a:gd name="T83" fmla="*/ 1 h 61"/>
                <a:gd name="T84" fmla="*/ 0 w 122"/>
                <a:gd name="T85" fmla="*/ 1 h 61"/>
                <a:gd name="T86" fmla="*/ 0 w 122"/>
                <a:gd name="T87" fmla="*/ 1 h 61"/>
                <a:gd name="T88" fmla="*/ 0 w 122"/>
                <a:gd name="T89" fmla="*/ 1 h 61"/>
                <a:gd name="T90" fmla="*/ 0 w 122"/>
                <a:gd name="T91" fmla="*/ 1 h 61"/>
                <a:gd name="T92" fmla="*/ 0 w 122"/>
                <a:gd name="T93" fmla="*/ 1 h 61"/>
                <a:gd name="T94" fmla="*/ 0 w 122"/>
                <a:gd name="T95" fmla="*/ 1 h 61"/>
                <a:gd name="T96" fmla="*/ 0 w 122"/>
                <a:gd name="T97" fmla="*/ 1 h 6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22" h="61">
                  <a:moveTo>
                    <a:pt x="0" y="36"/>
                  </a:moveTo>
                  <a:lnTo>
                    <a:pt x="0" y="34"/>
                  </a:lnTo>
                  <a:lnTo>
                    <a:pt x="4" y="34"/>
                  </a:lnTo>
                  <a:lnTo>
                    <a:pt x="10" y="30"/>
                  </a:lnTo>
                  <a:lnTo>
                    <a:pt x="17" y="28"/>
                  </a:lnTo>
                  <a:lnTo>
                    <a:pt x="25" y="23"/>
                  </a:lnTo>
                  <a:lnTo>
                    <a:pt x="34" y="21"/>
                  </a:lnTo>
                  <a:lnTo>
                    <a:pt x="40" y="17"/>
                  </a:lnTo>
                  <a:lnTo>
                    <a:pt x="46" y="15"/>
                  </a:lnTo>
                  <a:lnTo>
                    <a:pt x="51" y="13"/>
                  </a:lnTo>
                  <a:lnTo>
                    <a:pt x="57" y="13"/>
                  </a:lnTo>
                  <a:lnTo>
                    <a:pt x="61" y="9"/>
                  </a:lnTo>
                  <a:lnTo>
                    <a:pt x="67" y="9"/>
                  </a:lnTo>
                  <a:lnTo>
                    <a:pt x="70" y="7"/>
                  </a:lnTo>
                  <a:lnTo>
                    <a:pt x="76" y="5"/>
                  </a:lnTo>
                  <a:lnTo>
                    <a:pt x="82" y="4"/>
                  </a:lnTo>
                  <a:lnTo>
                    <a:pt x="87" y="4"/>
                  </a:lnTo>
                  <a:lnTo>
                    <a:pt x="91" y="2"/>
                  </a:lnTo>
                  <a:lnTo>
                    <a:pt x="97" y="2"/>
                  </a:lnTo>
                  <a:lnTo>
                    <a:pt x="105" y="0"/>
                  </a:lnTo>
                  <a:lnTo>
                    <a:pt x="112" y="0"/>
                  </a:lnTo>
                  <a:lnTo>
                    <a:pt x="118" y="2"/>
                  </a:lnTo>
                  <a:lnTo>
                    <a:pt x="122" y="5"/>
                  </a:lnTo>
                  <a:lnTo>
                    <a:pt x="122" y="9"/>
                  </a:lnTo>
                  <a:lnTo>
                    <a:pt x="122" y="17"/>
                  </a:lnTo>
                  <a:lnTo>
                    <a:pt x="120" y="23"/>
                  </a:lnTo>
                  <a:lnTo>
                    <a:pt x="116" y="30"/>
                  </a:lnTo>
                  <a:lnTo>
                    <a:pt x="108" y="36"/>
                  </a:lnTo>
                  <a:lnTo>
                    <a:pt x="103" y="42"/>
                  </a:lnTo>
                  <a:lnTo>
                    <a:pt x="99" y="45"/>
                  </a:lnTo>
                  <a:lnTo>
                    <a:pt x="95" y="49"/>
                  </a:lnTo>
                  <a:lnTo>
                    <a:pt x="91" y="49"/>
                  </a:lnTo>
                  <a:lnTo>
                    <a:pt x="87" y="49"/>
                  </a:lnTo>
                  <a:lnTo>
                    <a:pt x="82" y="49"/>
                  </a:lnTo>
                  <a:lnTo>
                    <a:pt x="76" y="51"/>
                  </a:lnTo>
                  <a:lnTo>
                    <a:pt x="67" y="51"/>
                  </a:lnTo>
                  <a:lnTo>
                    <a:pt x="61" y="53"/>
                  </a:lnTo>
                  <a:lnTo>
                    <a:pt x="53" y="53"/>
                  </a:lnTo>
                  <a:lnTo>
                    <a:pt x="46" y="55"/>
                  </a:lnTo>
                  <a:lnTo>
                    <a:pt x="38" y="55"/>
                  </a:lnTo>
                  <a:lnTo>
                    <a:pt x="29" y="57"/>
                  </a:lnTo>
                  <a:lnTo>
                    <a:pt x="21" y="57"/>
                  </a:lnTo>
                  <a:lnTo>
                    <a:pt x="17" y="59"/>
                  </a:lnTo>
                  <a:lnTo>
                    <a:pt x="11" y="59"/>
                  </a:lnTo>
                  <a:lnTo>
                    <a:pt x="8" y="61"/>
                  </a:lnTo>
                  <a:lnTo>
                    <a:pt x="4" y="61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40" name="Freeform 39"/>
            <p:cNvSpPr>
              <a:spLocks/>
            </p:cNvSpPr>
            <p:nvPr/>
          </p:nvSpPr>
          <p:spPr bwMode="auto">
            <a:xfrm>
              <a:off x="5194" y="3421"/>
              <a:ext cx="111" cy="95"/>
            </a:xfrm>
            <a:custGeom>
              <a:avLst/>
              <a:gdLst>
                <a:gd name="T0" fmla="*/ 0 w 220"/>
                <a:gd name="T1" fmla="*/ 1 h 190"/>
                <a:gd name="T2" fmla="*/ 0 w 220"/>
                <a:gd name="T3" fmla="*/ 1 h 190"/>
                <a:gd name="T4" fmla="*/ 0 w 220"/>
                <a:gd name="T5" fmla="*/ 1 h 190"/>
                <a:gd name="T6" fmla="*/ 1 w 220"/>
                <a:gd name="T7" fmla="*/ 1 h 190"/>
                <a:gd name="T8" fmla="*/ 1 w 220"/>
                <a:gd name="T9" fmla="*/ 1 h 190"/>
                <a:gd name="T10" fmla="*/ 1 w 220"/>
                <a:gd name="T11" fmla="*/ 1 h 190"/>
                <a:gd name="T12" fmla="*/ 1 w 220"/>
                <a:gd name="T13" fmla="*/ 1 h 190"/>
                <a:gd name="T14" fmla="*/ 1 w 220"/>
                <a:gd name="T15" fmla="*/ 1 h 190"/>
                <a:gd name="T16" fmla="*/ 1 w 220"/>
                <a:gd name="T17" fmla="*/ 1 h 190"/>
                <a:gd name="T18" fmla="*/ 1 w 220"/>
                <a:gd name="T19" fmla="*/ 1 h 190"/>
                <a:gd name="T20" fmla="*/ 1 w 220"/>
                <a:gd name="T21" fmla="*/ 1 h 190"/>
                <a:gd name="T22" fmla="*/ 1 w 220"/>
                <a:gd name="T23" fmla="*/ 1 h 190"/>
                <a:gd name="T24" fmla="*/ 1 w 220"/>
                <a:gd name="T25" fmla="*/ 1 h 190"/>
                <a:gd name="T26" fmla="*/ 1 w 220"/>
                <a:gd name="T27" fmla="*/ 1 h 190"/>
                <a:gd name="T28" fmla="*/ 1 w 220"/>
                <a:gd name="T29" fmla="*/ 0 h 190"/>
                <a:gd name="T30" fmla="*/ 1 w 220"/>
                <a:gd name="T31" fmla="*/ 1 h 190"/>
                <a:gd name="T32" fmla="*/ 1 w 220"/>
                <a:gd name="T33" fmla="*/ 1 h 190"/>
                <a:gd name="T34" fmla="*/ 1 w 220"/>
                <a:gd name="T35" fmla="*/ 1 h 190"/>
                <a:gd name="T36" fmla="*/ 1 w 220"/>
                <a:gd name="T37" fmla="*/ 1 h 190"/>
                <a:gd name="T38" fmla="*/ 1 w 220"/>
                <a:gd name="T39" fmla="*/ 1 h 190"/>
                <a:gd name="T40" fmla="*/ 1 w 220"/>
                <a:gd name="T41" fmla="*/ 1 h 190"/>
                <a:gd name="T42" fmla="*/ 1 w 220"/>
                <a:gd name="T43" fmla="*/ 1 h 190"/>
                <a:gd name="T44" fmla="*/ 1 w 220"/>
                <a:gd name="T45" fmla="*/ 1 h 190"/>
                <a:gd name="T46" fmla="*/ 1 w 220"/>
                <a:gd name="T47" fmla="*/ 1 h 190"/>
                <a:gd name="T48" fmla="*/ 1 w 220"/>
                <a:gd name="T49" fmla="*/ 1 h 190"/>
                <a:gd name="T50" fmla="*/ 1 w 220"/>
                <a:gd name="T51" fmla="*/ 1 h 190"/>
                <a:gd name="T52" fmla="*/ 1 w 220"/>
                <a:gd name="T53" fmla="*/ 1 h 190"/>
                <a:gd name="T54" fmla="*/ 1 w 220"/>
                <a:gd name="T55" fmla="*/ 1 h 190"/>
                <a:gd name="T56" fmla="*/ 1 w 220"/>
                <a:gd name="T57" fmla="*/ 1 h 190"/>
                <a:gd name="T58" fmla="*/ 1 w 220"/>
                <a:gd name="T59" fmla="*/ 1 h 190"/>
                <a:gd name="T60" fmla="*/ 1 w 220"/>
                <a:gd name="T61" fmla="*/ 1 h 190"/>
                <a:gd name="T62" fmla="*/ 1 w 220"/>
                <a:gd name="T63" fmla="*/ 1 h 190"/>
                <a:gd name="T64" fmla="*/ 1 w 220"/>
                <a:gd name="T65" fmla="*/ 1 h 190"/>
                <a:gd name="T66" fmla="*/ 1 w 220"/>
                <a:gd name="T67" fmla="*/ 1 h 190"/>
                <a:gd name="T68" fmla="*/ 1 w 220"/>
                <a:gd name="T69" fmla="*/ 1 h 190"/>
                <a:gd name="T70" fmla="*/ 1 w 220"/>
                <a:gd name="T71" fmla="*/ 1 h 190"/>
                <a:gd name="T72" fmla="*/ 1 w 220"/>
                <a:gd name="T73" fmla="*/ 1 h 190"/>
                <a:gd name="T74" fmla="*/ 1 w 220"/>
                <a:gd name="T75" fmla="*/ 1 h 190"/>
                <a:gd name="T76" fmla="*/ 1 w 220"/>
                <a:gd name="T77" fmla="*/ 1 h 190"/>
                <a:gd name="T78" fmla="*/ 1 w 220"/>
                <a:gd name="T79" fmla="*/ 1 h 190"/>
                <a:gd name="T80" fmla="*/ 1 w 220"/>
                <a:gd name="T81" fmla="*/ 1 h 190"/>
                <a:gd name="T82" fmla="*/ 1 w 220"/>
                <a:gd name="T83" fmla="*/ 1 h 190"/>
                <a:gd name="T84" fmla="*/ 1 w 220"/>
                <a:gd name="T85" fmla="*/ 1 h 190"/>
                <a:gd name="T86" fmla="*/ 1 w 220"/>
                <a:gd name="T87" fmla="*/ 1 h 190"/>
                <a:gd name="T88" fmla="*/ 1 w 220"/>
                <a:gd name="T89" fmla="*/ 1 h 190"/>
                <a:gd name="T90" fmla="*/ 1 w 220"/>
                <a:gd name="T91" fmla="*/ 1 h 190"/>
                <a:gd name="T92" fmla="*/ 1 w 220"/>
                <a:gd name="T93" fmla="*/ 1 h 190"/>
                <a:gd name="T94" fmla="*/ 1 w 220"/>
                <a:gd name="T95" fmla="*/ 1 h 190"/>
                <a:gd name="T96" fmla="*/ 1 w 220"/>
                <a:gd name="T97" fmla="*/ 1 h 190"/>
                <a:gd name="T98" fmla="*/ 1 w 220"/>
                <a:gd name="T99" fmla="*/ 1 h 190"/>
                <a:gd name="T100" fmla="*/ 1 w 220"/>
                <a:gd name="T101" fmla="*/ 1 h 190"/>
                <a:gd name="T102" fmla="*/ 1 w 220"/>
                <a:gd name="T103" fmla="*/ 1 h 190"/>
                <a:gd name="T104" fmla="*/ 1 w 220"/>
                <a:gd name="T105" fmla="*/ 1 h 190"/>
                <a:gd name="T106" fmla="*/ 1 w 220"/>
                <a:gd name="T107" fmla="*/ 1 h 190"/>
                <a:gd name="T108" fmla="*/ 1 w 220"/>
                <a:gd name="T109" fmla="*/ 1 h 190"/>
                <a:gd name="T110" fmla="*/ 1 w 220"/>
                <a:gd name="T111" fmla="*/ 1 h 190"/>
                <a:gd name="T112" fmla="*/ 1 w 220"/>
                <a:gd name="T113" fmla="*/ 1 h 190"/>
                <a:gd name="T114" fmla="*/ 1 w 220"/>
                <a:gd name="T115" fmla="*/ 1 h 19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20" h="190">
                  <a:moveTo>
                    <a:pt x="2" y="169"/>
                  </a:moveTo>
                  <a:lnTo>
                    <a:pt x="0" y="165"/>
                  </a:lnTo>
                  <a:lnTo>
                    <a:pt x="0" y="159"/>
                  </a:lnTo>
                  <a:lnTo>
                    <a:pt x="0" y="155"/>
                  </a:lnTo>
                  <a:lnTo>
                    <a:pt x="0" y="152"/>
                  </a:lnTo>
                  <a:lnTo>
                    <a:pt x="0" y="146"/>
                  </a:lnTo>
                  <a:lnTo>
                    <a:pt x="2" y="140"/>
                  </a:lnTo>
                  <a:lnTo>
                    <a:pt x="2" y="133"/>
                  </a:lnTo>
                  <a:lnTo>
                    <a:pt x="2" y="127"/>
                  </a:lnTo>
                  <a:lnTo>
                    <a:pt x="2" y="119"/>
                  </a:lnTo>
                  <a:lnTo>
                    <a:pt x="4" y="112"/>
                  </a:lnTo>
                  <a:lnTo>
                    <a:pt x="4" y="104"/>
                  </a:lnTo>
                  <a:lnTo>
                    <a:pt x="6" y="97"/>
                  </a:lnTo>
                  <a:lnTo>
                    <a:pt x="8" y="87"/>
                  </a:lnTo>
                  <a:lnTo>
                    <a:pt x="11" y="81"/>
                  </a:lnTo>
                  <a:lnTo>
                    <a:pt x="11" y="72"/>
                  </a:lnTo>
                  <a:lnTo>
                    <a:pt x="13" y="64"/>
                  </a:lnTo>
                  <a:lnTo>
                    <a:pt x="17" y="55"/>
                  </a:lnTo>
                  <a:lnTo>
                    <a:pt x="19" y="49"/>
                  </a:lnTo>
                  <a:lnTo>
                    <a:pt x="23" y="40"/>
                  </a:lnTo>
                  <a:lnTo>
                    <a:pt x="27" y="34"/>
                  </a:lnTo>
                  <a:lnTo>
                    <a:pt x="30" y="28"/>
                  </a:lnTo>
                  <a:lnTo>
                    <a:pt x="36" y="22"/>
                  </a:lnTo>
                  <a:lnTo>
                    <a:pt x="40" y="15"/>
                  </a:lnTo>
                  <a:lnTo>
                    <a:pt x="46" y="11"/>
                  </a:lnTo>
                  <a:lnTo>
                    <a:pt x="51" y="7"/>
                  </a:lnTo>
                  <a:lnTo>
                    <a:pt x="59" y="5"/>
                  </a:lnTo>
                  <a:lnTo>
                    <a:pt x="63" y="2"/>
                  </a:lnTo>
                  <a:lnTo>
                    <a:pt x="72" y="0"/>
                  </a:lnTo>
                  <a:lnTo>
                    <a:pt x="80" y="0"/>
                  </a:lnTo>
                  <a:lnTo>
                    <a:pt x="89" y="2"/>
                  </a:lnTo>
                  <a:lnTo>
                    <a:pt x="97" y="2"/>
                  </a:lnTo>
                  <a:lnTo>
                    <a:pt x="106" y="3"/>
                  </a:lnTo>
                  <a:lnTo>
                    <a:pt x="114" y="5"/>
                  </a:lnTo>
                  <a:lnTo>
                    <a:pt x="122" y="11"/>
                  </a:lnTo>
                  <a:lnTo>
                    <a:pt x="127" y="15"/>
                  </a:lnTo>
                  <a:lnTo>
                    <a:pt x="135" y="22"/>
                  </a:lnTo>
                  <a:lnTo>
                    <a:pt x="141" y="28"/>
                  </a:lnTo>
                  <a:lnTo>
                    <a:pt x="148" y="34"/>
                  </a:lnTo>
                  <a:lnTo>
                    <a:pt x="154" y="40"/>
                  </a:lnTo>
                  <a:lnTo>
                    <a:pt x="160" y="47"/>
                  </a:lnTo>
                  <a:lnTo>
                    <a:pt x="165" y="55"/>
                  </a:lnTo>
                  <a:lnTo>
                    <a:pt x="171" y="64"/>
                  </a:lnTo>
                  <a:lnTo>
                    <a:pt x="177" y="72"/>
                  </a:lnTo>
                  <a:lnTo>
                    <a:pt x="181" y="81"/>
                  </a:lnTo>
                  <a:lnTo>
                    <a:pt x="186" y="89"/>
                  </a:lnTo>
                  <a:lnTo>
                    <a:pt x="190" y="98"/>
                  </a:lnTo>
                  <a:lnTo>
                    <a:pt x="192" y="106"/>
                  </a:lnTo>
                  <a:lnTo>
                    <a:pt x="196" y="114"/>
                  </a:lnTo>
                  <a:lnTo>
                    <a:pt x="200" y="123"/>
                  </a:lnTo>
                  <a:lnTo>
                    <a:pt x="203" y="131"/>
                  </a:lnTo>
                  <a:lnTo>
                    <a:pt x="205" y="138"/>
                  </a:lnTo>
                  <a:lnTo>
                    <a:pt x="207" y="146"/>
                  </a:lnTo>
                  <a:lnTo>
                    <a:pt x="211" y="154"/>
                  </a:lnTo>
                  <a:lnTo>
                    <a:pt x="213" y="159"/>
                  </a:lnTo>
                  <a:lnTo>
                    <a:pt x="213" y="165"/>
                  </a:lnTo>
                  <a:lnTo>
                    <a:pt x="215" y="171"/>
                  </a:lnTo>
                  <a:lnTo>
                    <a:pt x="217" y="176"/>
                  </a:lnTo>
                  <a:lnTo>
                    <a:pt x="217" y="180"/>
                  </a:lnTo>
                  <a:lnTo>
                    <a:pt x="219" y="186"/>
                  </a:lnTo>
                  <a:lnTo>
                    <a:pt x="220" y="190"/>
                  </a:lnTo>
                  <a:lnTo>
                    <a:pt x="209" y="190"/>
                  </a:lnTo>
                  <a:lnTo>
                    <a:pt x="207" y="186"/>
                  </a:lnTo>
                  <a:lnTo>
                    <a:pt x="205" y="180"/>
                  </a:lnTo>
                  <a:lnTo>
                    <a:pt x="201" y="176"/>
                  </a:lnTo>
                  <a:lnTo>
                    <a:pt x="200" y="173"/>
                  </a:lnTo>
                  <a:lnTo>
                    <a:pt x="198" y="167"/>
                  </a:lnTo>
                  <a:lnTo>
                    <a:pt x="196" y="161"/>
                  </a:lnTo>
                  <a:lnTo>
                    <a:pt x="192" y="154"/>
                  </a:lnTo>
                  <a:lnTo>
                    <a:pt x="190" y="148"/>
                  </a:lnTo>
                  <a:lnTo>
                    <a:pt x="186" y="140"/>
                  </a:lnTo>
                  <a:lnTo>
                    <a:pt x="182" y="135"/>
                  </a:lnTo>
                  <a:lnTo>
                    <a:pt x="177" y="125"/>
                  </a:lnTo>
                  <a:lnTo>
                    <a:pt x="173" y="117"/>
                  </a:lnTo>
                  <a:lnTo>
                    <a:pt x="169" y="112"/>
                  </a:lnTo>
                  <a:lnTo>
                    <a:pt x="165" y="104"/>
                  </a:lnTo>
                  <a:lnTo>
                    <a:pt x="162" y="95"/>
                  </a:lnTo>
                  <a:lnTo>
                    <a:pt x="156" y="87"/>
                  </a:lnTo>
                  <a:lnTo>
                    <a:pt x="152" y="79"/>
                  </a:lnTo>
                  <a:lnTo>
                    <a:pt x="146" y="72"/>
                  </a:lnTo>
                  <a:lnTo>
                    <a:pt x="141" y="64"/>
                  </a:lnTo>
                  <a:lnTo>
                    <a:pt x="137" y="59"/>
                  </a:lnTo>
                  <a:lnTo>
                    <a:pt x="131" y="51"/>
                  </a:lnTo>
                  <a:lnTo>
                    <a:pt x="127" y="45"/>
                  </a:lnTo>
                  <a:lnTo>
                    <a:pt x="122" y="38"/>
                  </a:lnTo>
                  <a:lnTo>
                    <a:pt x="116" y="34"/>
                  </a:lnTo>
                  <a:lnTo>
                    <a:pt x="110" y="28"/>
                  </a:lnTo>
                  <a:lnTo>
                    <a:pt x="106" y="26"/>
                  </a:lnTo>
                  <a:lnTo>
                    <a:pt x="95" y="21"/>
                  </a:lnTo>
                  <a:lnTo>
                    <a:pt x="87" y="21"/>
                  </a:lnTo>
                  <a:lnTo>
                    <a:pt x="78" y="21"/>
                  </a:lnTo>
                  <a:lnTo>
                    <a:pt x="70" y="26"/>
                  </a:lnTo>
                  <a:lnTo>
                    <a:pt x="63" y="32"/>
                  </a:lnTo>
                  <a:lnTo>
                    <a:pt x="59" y="41"/>
                  </a:lnTo>
                  <a:lnTo>
                    <a:pt x="57" y="47"/>
                  </a:lnTo>
                  <a:lnTo>
                    <a:pt x="53" y="53"/>
                  </a:lnTo>
                  <a:lnTo>
                    <a:pt x="51" y="59"/>
                  </a:lnTo>
                  <a:lnTo>
                    <a:pt x="51" y="62"/>
                  </a:lnTo>
                  <a:lnTo>
                    <a:pt x="49" y="68"/>
                  </a:lnTo>
                  <a:lnTo>
                    <a:pt x="47" y="76"/>
                  </a:lnTo>
                  <a:lnTo>
                    <a:pt x="47" y="81"/>
                  </a:lnTo>
                  <a:lnTo>
                    <a:pt x="47" y="89"/>
                  </a:lnTo>
                  <a:lnTo>
                    <a:pt x="46" y="95"/>
                  </a:lnTo>
                  <a:lnTo>
                    <a:pt x="44" y="100"/>
                  </a:lnTo>
                  <a:lnTo>
                    <a:pt x="44" y="106"/>
                  </a:lnTo>
                  <a:lnTo>
                    <a:pt x="44" y="112"/>
                  </a:lnTo>
                  <a:lnTo>
                    <a:pt x="44" y="117"/>
                  </a:lnTo>
                  <a:lnTo>
                    <a:pt x="44" y="123"/>
                  </a:lnTo>
                  <a:lnTo>
                    <a:pt x="44" y="129"/>
                  </a:lnTo>
                  <a:lnTo>
                    <a:pt x="44" y="135"/>
                  </a:lnTo>
                  <a:lnTo>
                    <a:pt x="44" y="142"/>
                  </a:lnTo>
                  <a:lnTo>
                    <a:pt x="44" y="150"/>
                  </a:lnTo>
                  <a:lnTo>
                    <a:pt x="44" y="154"/>
                  </a:lnTo>
                  <a:lnTo>
                    <a:pt x="46" y="155"/>
                  </a:lnTo>
                  <a:lnTo>
                    <a:pt x="2" y="169"/>
                  </a:lnTo>
                  <a:close/>
                </a:path>
              </a:pathLst>
            </a:custGeom>
            <a:solidFill>
              <a:srgbClr val="00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41" name="Freeform 40"/>
            <p:cNvSpPr>
              <a:spLocks/>
            </p:cNvSpPr>
            <p:nvPr/>
          </p:nvSpPr>
          <p:spPr bwMode="auto">
            <a:xfrm>
              <a:off x="5291" y="3539"/>
              <a:ext cx="41" cy="23"/>
            </a:xfrm>
            <a:custGeom>
              <a:avLst/>
              <a:gdLst>
                <a:gd name="T0" fmla="*/ 1 w 82"/>
                <a:gd name="T1" fmla="*/ 0 h 46"/>
                <a:gd name="T2" fmla="*/ 1 w 82"/>
                <a:gd name="T3" fmla="*/ 0 h 46"/>
                <a:gd name="T4" fmla="*/ 1 w 82"/>
                <a:gd name="T5" fmla="*/ 1 h 46"/>
                <a:gd name="T6" fmla="*/ 1 w 82"/>
                <a:gd name="T7" fmla="*/ 1 h 46"/>
                <a:gd name="T8" fmla="*/ 1 w 82"/>
                <a:gd name="T9" fmla="*/ 1 h 46"/>
                <a:gd name="T10" fmla="*/ 1 w 82"/>
                <a:gd name="T11" fmla="*/ 1 h 46"/>
                <a:gd name="T12" fmla="*/ 1 w 82"/>
                <a:gd name="T13" fmla="*/ 1 h 46"/>
                <a:gd name="T14" fmla="*/ 0 w 82"/>
                <a:gd name="T15" fmla="*/ 1 h 46"/>
                <a:gd name="T16" fmla="*/ 1 w 82"/>
                <a:gd name="T17" fmla="*/ 1 h 46"/>
                <a:gd name="T18" fmla="*/ 1 w 82"/>
                <a:gd name="T19" fmla="*/ 1 h 46"/>
                <a:gd name="T20" fmla="*/ 1 w 82"/>
                <a:gd name="T21" fmla="*/ 1 h 46"/>
                <a:gd name="T22" fmla="*/ 1 w 82"/>
                <a:gd name="T23" fmla="*/ 1 h 46"/>
                <a:gd name="T24" fmla="*/ 1 w 82"/>
                <a:gd name="T25" fmla="*/ 1 h 46"/>
                <a:gd name="T26" fmla="*/ 1 w 82"/>
                <a:gd name="T27" fmla="*/ 1 h 46"/>
                <a:gd name="T28" fmla="*/ 1 w 82"/>
                <a:gd name="T29" fmla="*/ 1 h 46"/>
                <a:gd name="T30" fmla="*/ 1 w 82"/>
                <a:gd name="T31" fmla="*/ 1 h 46"/>
                <a:gd name="T32" fmla="*/ 1 w 82"/>
                <a:gd name="T33" fmla="*/ 1 h 46"/>
                <a:gd name="T34" fmla="*/ 1 w 82"/>
                <a:gd name="T35" fmla="*/ 1 h 46"/>
                <a:gd name="T36" fmla="*/ 1 w 82"/>
                <a:gd name="T37" fmla="*/ 1 h 46"/>
                <a:gd name="T38" fmla="*/ 1 w 82"/>
                <a:gd name="T39" fmla="*/ 1 h 46"/>
                <a:gd name="T40" fmla="*/ 1 w 82"/>
                <a:gd name="T41" fmla="*/ 1 h 46"/>
                <a:gd name="T42" fmla="*/ 1 w 82"/>
                <a:gd name="T43" fmla="*/ 1 h 46"/>
                <a:gd name="T44" fmla="*/ 1 w 82"/>
                <a:gd name="T45" fmla="*/ 1 h 46"/>
                <a:gd name="T46" fmla="*/ 1 w 82"/>
                <a:gd name="T47" fmla="*/ 1 h 46"/>
                <a:gd name="T48" fmla="*/ 1 w 82"/>
                <a:gd name="T49" fmla="*/ 1 h 46"/>
                <a:gd name="T50" fmla="*/ 1 w 82"/>
                <a:gd name="T51" fmla="*/ 1 h 46"/>
                <a:gd name="T52" fmla="*/ 1 w 82"/>
                <a:gd name="T53" fmla="*/ 1 h 46"/>
                <a:gd name="T54" fmla="*/ 1 w 82"/>
                <a:gd name="T55" fmla="*/ 1 h 46"/>
                <a:gd name="T56" fmla="*/ 1 w 82"/>
                <a:gd name="T57" fmla="*/ 1 h 46"/>
                <a:gd name="T58" fmla="*/ 1 w 82"/>
                <a:gd name="T59" fmla="*/ 1 h 46"/>
                <a:gd name="T60" fmla="*/ 1 w 82"/>
                <a:gd name="T61" fmla="*/ 1 h 46"/>
                <a:gd name="T62" fmla="*/ 1 w 82"/>
                <a:gd name="T63" fmla="*/ 1 h 46"/>
                <a:gd name="T64" fmla="*/ 1 w 82"/>
                <a:gd name="T65" fmla="*/ 1 h 46"/>
                <a:gd name="T66" fmla="*/ 1 w 82"/>
                <a:gd name="T67" fmla="*/ 1 h 46"/>
                <a:gd name="T68" fmla="*/ 1 w 82"/>
                <a:gd name="T69" fmla="*/ 1 h 46"/>
                <a:gd name="T70" fmla="*/ 1 w 82"/>
                <a:gd name="T71" fmla="*/ 0 h 46"/>
                <a:gd name="T72" fmla="*/ 1 w 82"/>
                <a:gd name="T73" fmla="*/ 0 h 4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82" h="46">
                  <a:moveTo>
                    <a:pt x="30" y="0"/>
                  </a:moveTo>
                  <a:lnTo>
                    <a:pt x="28" y="0"/>
                  </a:lnTo>
                  <a:lnTo>
                    <a:pt x="25" y="2"/>
                  </a:lnTo>
                  <a:lnTo>
                    <a:pt x="19" y="4"/>
                  </a:lnTo>
                  <a:lnTo>
                    <a:pt x="13" y="8"/>
                  </a:lnTo>
                  <a:lnTo>
                    <a:pt x="7" y="12"/>
                  </a:lnTo>
                  <a:lnTo>
                    <a:pt x="4" y="16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11" y="23"/>
                  </a:lnTo>
                  <a:lnTo>
                    <a:pt x="17" y="23"/>
                  </a:lnTo>
                  <a:lnTo>
                    <a:pt x="19" y="23"/>
                  </a:lnTo>
                  <a:lnTo>
                    <a:pt x="15" y="27"/>
                  </a:lnTo>
                  <a:lnTo>
                    <a:pt x="15" y="33"/>
                  </a:lnTo>
                  <a:lnTo>
                    <a:pt x="19" y="33"/>
                  </a:lnTo>
                  <a:lnTo>
                    <a:pt x="25" y="33"/>
                  </a:lnTo>
                  <a:lnTo>
                    <a:pt x="30" y="35"/>
                  </a:lnTo>
                  <a:lnTo>
                    <a:pt x="34" y="35"/>
                  </a:lnTo>
                  <a:lnTo>
                    <a:pt x="40" y="35"/>
                  </a:lnTo>
                  <a:lnTo>
                    <a:pt x="42" y="35"/>
                  </a:lnTo>
                  <a:lnTo>
                    <a:pt x="44" y="35"/>
                  </a:lnTo>
                  <a:lnTo>
                    <a:pt x="42" y="36"/>
                  </a:lnTo>
                  <a:lnTo>
                    <a:pt x="42" y="38"/>
                  </a:lnTo>
                  <a:lnTo>
                    <a:pt x="40" y="42"/>
                  </a:lnTo>
                  <a:lnTo>
                    <a:pt x="42" y="44"/>
                  </a:lnTo>
                  <a:lnTo>
                    <a:pt x="45" y="44"/>
                  </a:lnTo>
                  <a:lnTo>
                    <a:pt x="55" y="46"/>
                  </a:lnTo>
                  <a:lnTo>
                    <a:pt x="64" y="44"/>
                  </a:lnTo>
                  <a:lnTo>
                    <a:pt x="70" y="44"/>
                  </a:lnTo>
                  <a:lnTo>
                    <a:pt x="72" y="42"/>
                  </a:lnTo>
                  <a:lnTo>
                    <a:pt x="76" y="36"/>
                  </a:lnTo>
                  <a:lnTo>
                    <a:pt x="80" y="33"/>
                  </a:lnTo>
                  <a:lnTo>
                    <a:pt x="82" y="31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FE6D9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42" name="Freeform 41"/>
            <p:cNvSpPr>
              <a:spLocks/>
            </p:cNvSpPr>
            <p:nvPr/>
          </p:nvSpPr>
          <p:spPr bwMode="auto">
            <a:xfrm>
              <a:off x="5375" y="3653"/>
              <a:ext cx="366" cy="263"/>
            </a:xfrm>
            <a:custGeom>
              <a:avLst/>
              <a:gdLst>
                <a:gd name="T0" fmla="*/ 1 w 732"/>
                <a:gd name="T1" fmla="*/ 0 h 527"/>
                <a:gd name="T2" fmla="*/ 0 w 732"/>
                <a:gd name="T3" fmla="*/ 2 h 527"/>
                <a:gd name="T4" fmla="*/ 3 w 732"/>
                <a:gd name="T5" fmla="*/ 2 h 527"/>
                <a:gd name="T6" fmla="*/ 2 w 732"/>
                <a:gd name="T7" fmla="*/ 0 h 527"/>
                <a:gd name="T8" fmla="*/ 1 w 732"/>
                <a:gd name="T9" fmla="*/ 0 h 527"/>
                <a:gd name="T10" fmla="*/ 1 w 732"/>
                <a:gd name="T11" fmla="*/ 0 h 5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2" h="527">
                  <a:moveTo>
                    <a:pt x="84" y="0"/>
                  </a:moveTo>
                  <a:lnTo>
                    <a:pt x="0" y="521"/>
                  </a:lnTo>
                  <a:lnTo>
                    <a:pt x="732" y="527"/>
                  </a:lnTo>
                  <a:lnTo>
                    <a:pt x="449" y="35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C7C7E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43" name="Freeform 42"/>
            <p:cNvSpPr>
              <a:spLocks/>
            </p:cNvSpPr>
            <p:nvPr/>
          </p:nvSpPr>
          <p:spPr bwMode="auto">
            <a:xfrm>
              <a:off x="5464" y="3664"/>
              <a:ext cx="135" cy="102"/>
            </a:xfrm>
            <a:custGeom>
              <a:avLst/>
              <a:gdLst>
                <a:gd name="T0" fmla="*/ 2 w 270"/>
                <a:gd name="T1" fmla="*/ 0 h 206"/>
                <a:gd name="T2" fmla="*/ 1 w 270"/>
                <a:gd name="T3" fmla="*/ 0 h 206"/>
                <a:gd name="T4" fmla="*/ 1 w 270"/>
                <a:gd name="T5" fmla="*/ 0 h 206"/>
                <a:gd name="T6" fmla="*/ 1 w 270"/>
                <a:gd name="T7" fmla="*/ 0 h 206"/>
                <a:gd name="T8" fmla="*/ 1 w 270"/>
                <a:gd name="T9" fmla="*/ 0 h 206"/>
                <a:gd name="T10" fmla="*/ 1 w 270"/>
                <a:gd name="T11" fmla="*/ 0 h 206"/>
                <a:gd name="T12" fmla="*/ 1 w 270"/>
                <a:gd name="T13" fmla="*/ 0 h 206"/>
                <a:gd name="T14" fmla="*/ 1 w 270"/>
                <a:gd name="T15" fmla="*/ 0 h 206"/>
                <a:gd name="T16" fmla="*/ 1 w 270"/>
                <a:gd name="T17" fmla="*/ 0 h 206"/>
                <a:gd name="T18" fmla="*/ 1 w 270"/>
                <a:gd name="T19" fmla="*/ 0 h 206"/>
                <a:gd name="T20" fmla="*/ 1 w 270"/>
                <a:gd name="T21" fmla="*/ 0 h 206"/>
                <a:gd name="T22" fmla="*/ 1 w 270"/>
                <a:gd name="T23" fmla="*/ 0 h 206"/>
                <a:gd name="T24" fmla="*/ 1 w 270"/>
                <a:gd name="T25" fmla="*/ 0 h 206"/>
                <a:gd name="T26" fmla="*/ 1 w 270"/>
                <a:gd name="T27" fmla="*/ 0 h 206"/>
                <a:gd name="T28" fmla="*/ 1 w 270"/>
                <a:gd name="T29" fmla="*/ 0 h 206"/>
                <a:gd name="T30" fmla="*/ 1 w 270"/>
                <a:gd name="T31" fmla="*/ 0 h 206"/>
                <a:gd name="T32" fmla="*/ 1 w 270"/>
                <a:gd name="T33" fmla="*/ 0 h 206"/>
                <a:gd name="T34" fmla="*/ 1 w 270"/>
                <a:gd name="T35" fmla="*/ 0 h 206"/>
                <a:gd name="T36" fmla="*/ 0 w 270"/>
                <a:gd name="T37" fmla="*/ 0 h 206"/>
                <a:gd name="T38" fmla="*/ 1 w 270"/>
                <a:gd name="T39" fmla="*/ 0 h 206"/>
                <a:gd name="T40" fmla="*/ 1 w 270"/>
                <a:gd name="T41" fmla="*/ 0 h 206"/>
                <a:gd name="T42" fmla="*/ 1 w 270"/>
                <a:gd name="T43" fmla="*/ 0 h 206"/>
                <a:gd name="T44" fmla="*/ 1 w 270"/>
                <a:gd name="T45" fmla="*/ 0 h 206"/>
                <a:gd name="T46" fmla="*/ 1 w 270"/>
                <a:gd name="T47" fmla="*/ 0 h 206"/>
                <a:gd name="T48" fmla="*/ 1 w 270"/>
                <a:gd name="T49" fmla="*/ 0 h 206"/>
                <a:gd name="T50" fmla="*/ 1 w 270"/>
                <a:gd name="T51" fmla="*/ 0 h 206"/>
                <a:gd name="T52" fmla="*/ 1 w 270"/>
                <a:gd name="T53" fmla="*/ 0 h 206"/>
                <a:gd name="T54" fmla="*/ 1 w 270"/>
                <a:gd name="T55" fmla="*/ 0 h 206"/>
                <a:gd name="T56" fmla="*/ 1 w 270"/>
                <a:gd name="T57" fmla="*/ 0 h 206"/>
                <a:gd name="T58" fmla="*/ 1 w 270"/>
                <a:gd name="T59" fmla="*/ 0 h 206"/>
                <a:gd name="T60" fmla="*/ 1 w 270"/>
                <a:gd name="T61" fmla="*/ 0 h 206"/>
                <a:gd name="T62" fmla="*/ 1 w 270"/>
                <a:gd name="T63" fmla="*/ 0 h 206"/>
                <a:gd name="T64" fmla="*/ 1 w 270"/>
                <a:gd name="T65" fmla="*/ 0 h 206"/>
                <a:gd name="T66" fmla="*/ 1 w 270"/>
                <a:gd name="T67" fmla="*/ 0 h 206"/>
                <a:gd name="T68" fmla="*/ 1 w 270"/>
                <a:gd name="T69" fmla="*/ 0 h 206"/>
                <a:gd name="T70" fmla="*/ 1 w 270"/>
                <a:gd name="T71" fmla="*/ 0 h 206"/>
                <a:gd name="T72" fmla="*/ 1 w 270"/>
                <a:gd name="T73" fmla="*/ 0 h 206"/>
                <a:gd name="T74" fmla="*/ 1 w 270"/>
                <a:gd name="T75" fmla="*/ 0 h 206"/>
                <a:gd name="T76" fmla="*/ 2 w 270"/>
                <a:gd name="T77" fmla="*/ 0 h 20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270" h="206">
                  <a:moveTo>
                    <a:pt x="270" y="192"/>
                  </a:moveTo>
                  <a:lnTo>
                    <a:pt x="266" y="206"/>
                  </a:lnTo>
                  <a:lnTo>
                    <a:pt x="256" y="200"/>
                  </a:lnTo>
                  <a:lnTo>
                    <a:pt x="247" y="196"/>
                  </a:lnTo>
                  <a:lnTo>
                    <a:pt x="237" y="190"/>
                  </a:lnTo>
                  <a:lnTo>
                    <a:pt x="230" y="187"/>
                  </a:lnTo>
                  <a:lnTo>
                    <a:pt x="220" y="181"/>
                  </a:lnTo>
                  <a:lnTo>
                    <a:pt x="211" y="179"/>
                  </a:lnTo>
                  <a:lnTo>
                    <a:pt x="201" y="173"/>
                  </a:lnTo>
                  <a:lnTo>
                    <a:pt x="194" y="169"/>
                  </a:lnTo>
                  <a:lnTo>
                    <a:pt x="182" y="166"/>
                  </a:lnTo>
                  <a:lnTo>
                    <a:pt x="175" y="162"/>
                  </a:lnTo>
                  <a:lnTo>
                    <a:pt x="163" y="156"/>
                  </a:lnTo>
                  <a:lnTo>
                    <a:pt x="156" y="152"/>
                  </a:lnTo>
                  <a:lnTo>
                    <a:pt x="146" y="149"/>
                  </a:lnTo>
                  <a:lnTo>
                    <a:pt x="137" y="147"/>
                  </a:lnTo>
                  <a:lnTo>
                    <a:pt x="127" y="141"/>
                  </a:lnTo>
                  <a:lnTo>
                    <a:pt x="118" y="139"/>
                  </a:lnTo>
                  <a:lnTo>
                    <a:pt x="108" y="133"/>
                  </a:lnTo>
                  <a:lnTo>
                    <a:pt x="99" y="130"/>
                  </a:lnTo>
                  <a:lnTo>
                    <a:pt x="91" y="126"/>
                  </a:lnTo>
                  <a:lnTo>
                    <a:pt x="82" y="122"/>
                  </a:lnTo>
                  <a:lnTo>
                    <a:pt x="74" y="120"/>
                  </a:lnTo>
                  <a:lnTo>
                    <a:pt x="66" y="116"/>
                  </a:lnTo>
                  <a:lnTo>
                    <a:pt x="59" y="112"/>
                  </a:lnTo>
                  <a:lnTo>
                    <a:pt x="55" y="109"/>
                  </a:lnTo>
                  <a:lnTo>
                    <a:pt x="47" y="105"/>
                  </a:lnTo>
                  <a:lnTo>
                    <a:pt x="42" y="101"/>
                  </a:lnTo>
                  <a:lnTo>
                    <a:pt x="36" y="99"/>
                  </a:lnTo>
                  <a:lnTo>
                    <a:pt x="32" y="97"/>
                  </a:lnTo>
                  <a:lnTo>
                    <a:pt x="25" y="90"/>
                  </a:lnTo>
                  <a:lnTo>
                    <a:pt x="19" y="84"/>
                  </a:lnTo>
                  <a:lnTo>
                    <a:pt x="11" y="76"/>
                  </a:lnTo>
                  <a:lnTo>
                    <a:pt x="7" y="71"/>
                  </a:lnTo>
                  <a:lnTo>
                    <a:pt x="6" y="65"/>
                  </a:lnTo>
                  <a:lnTo>
                    <a:pt x="4" y="57"/>
                  </a:lnTo>
                  <a:lnTo>
                    <a:pt x="0" y="50"/>
                  </a:lnTo>
                  <a:lnTo>
                    <a:pt x="0" y="44"/>
                  </a:lnTo>
                  <a:lnTo>
                    <a:pt x="0" y="36"/>
                  </a:lnTo>
                  <a:lnTo>
                    <a:pt x="4" y="31"/>
                  </a:lnTo>
                  <a:lnTo>
                    <a:pt x="6" y="23"/>
                  </a:lnTo>
                  <a:lnTo>
                    <a:pt x="7" y="17"/>
                  </a:lnTo>
                  <a:lnTo>
                    <a:pt x="13" y="12"/>
                  </a:lnTo>
                  <a:lnTo>
                    <a:pt x="21" y="8"/>
                  </a:lnTo>
                  <a:lnTo>
                    <a:pt x="26" y="2"/>
                  </a:lnTo>
                  <a:lnTo>
                    <a:pt x="34" y="0"/>
                  </a:lnTo>
                  <a:lnTo>
                    <a:pt x="42" y="0"/>
                  </a:lnTo>
                  <a:lnTo>
                    <a:pt x="49" y="4"/>
                  </a:lnTo>
                  <a:lnTo>
                    <a:pt x="55" y="4"/>
                  </a:lnTo>
                  <a:lnTo>
                    <a:pt x="63" y="8"/>
                  </a:lnTo>
                  <a:lnTo>
                    <a:pt x="68" y="12"/>
                  </a:lnTo>
                  <a:lnTo>
                    <a:pt x="76" y="17"/>
                  </a:lnTo>
                  <a:lnTo>
                    <a:pt x="80" y="19"/>
                  </a:lnTo>
                  <a:lnTo>
                    <a:pt x="85" y="23"/>
                  </a:lnTo>
                  <a:lnTo>
                    <a:pt x="91" y="29"/>
                  </a:lnTo>
                  <a:lnTo>
                    <a:pt x="99" y="35"/>
                  </a:lnTo>
                  <a:lnTo>
                    <a:pt x="106" y="42"/>
                  </a:lnTo>
                  <a:lnTo>
                    <a:pt x="114" y="50"/>
                  </a:lnTo>
                  <a:lnTo>
                    <a:pt x="118" y="54"/>
                  </a:lnTo>
                  <a:lnTo>
                    <a:pt x="123" y="59"/>
                  </a:lnTo>
                  <a:lnTo>
                    <a:pt x="129" y="65"/>
                  </a:lnTo>
                  <a:lnTo>
                    <a:pt x="135" y="71"/>
                  </a:lnTo>
                  <a:lnTo>
                    <a:pt x="144" y="78"/>
                  </a:lnTo>
                  <a:lnTo>
                    <a:pt x="154" y="88"/>
                  </a:lnTo>
                  <a:lnTo>
                    <a:pt x="161" y="97"/>
                  </a:lnTo>
                  <a:lnTo>
                    <a:pt x="171" y="105"/>
                  </a:lnTo>
                  <a:lnTo>
                    <a:pt x="180" y="112"/>
                  </a:lnTo>
                  <a:lnTo>
                    <a:pt x="188" y="122"/>
                  </a:lnTo>
                  <a:lnTo>
                    <a:pt x="198" y="130"/>
                  </a:lnTo>
                  <a:lnTo>
                    <a:pt x="207" y="137"/>
                  </a:lnTo>
                  <a:lnTo>
                    <a:pt x="215" y="145"/>
                  </a:lnTo>
                  <a:lnTo>
                    <a:pt x="222" y="150"/>
                  </a:lnTo>
                  <a:lnTo>
                    <a:pt x="232" y="158"/>
                  </a:lnTo>
                  <a:lnTo>
                    <a:pt x="239" y="166"/>
                  </a:lnTo>
                  <a:lnTo>
                    <a:pt x="247" y="173"/>
                  </a:lnTo>
                  <a:lnTo>
                    <a:pt x="255" y="179"/>
                  </a:lnTo>
                  <a:lnTo>
                    <a:pt x="262" y="185"/>
                  </a:lnTo>
                  <a:lnTo>
                    <a:pt x="270" y="192"/>
                  </a:lnTo>
                  <a:close/>
                </a:path>
              </a:pathLst>
            </a:custGeom>
            <a:solidFill>
              <a:srgbClr val="FF99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44" name="Freeform 43"/>
            <p:cNvSpPr>
              <a:spLocks/>
            </p:cNvSpPr>
            <p:nvPr/>
          </p:nvSpPr>
          <p:spPr bwMode="auto">
            <a:xfrm>
              <a:off x="5608" y="3759"/>
              <a:ext cx="49" cy="51"/>
            </a:xfrm>
            <a:custGeom>
              <a:avLst/>
              <a:gdLst>
                <a:gd name="T0" fmla="*/ 0 w 99"/>
                <a:gd name="T1" fmla="*/ 0 h 103"/>
                <a:gd name="T2" fmla="*/ 0 w 99"/>
                <a:gd name="T3" fmla="*/ 0 h 103"/>
                <a:gd name="T4" fmla="*/ 0 w 99"/>
                <a:gd name="T5" fmla="*/ 0 h 103"/>
                <a:gd name="T6" fmla="*/ 0 w 99"/>
                <a:gd name="T7" fmla="*/ 0 h 103"/>
                <a:gd name="T8" fmla="*/ 0 w 99"/>
                <a:gd name="T9" fmla="*/ 0 h 103"/>
                <a:gd name="T10" fmla="*/ 0 w 99"/>
                <a:gd name="T11" fmla="*/ 0 h 103"/>
                <a:gd name="T12" fmla="*/ 0 w 99"/>
                <a:gd name="T13" fmla="*/ 0 h 103"/>
                <a:gd name="T14" fmla="*/ 0 w 99"/>
                <a:gd name="T15" fmla="*/ 0 h 103"/>
                <a:gd name="T16" fmla="*/ 0 w 99"/>
                <a:gd name="T17" fmla="*/ 0 h 103"/>
                <a:gd name="T18" fmla="*/ 0 w 99"/>
                <a:gd name="T19" fmla="*/ 0 h 103"/>
                <a:gd name="T20" fmla="*/ 0 w 99"/>
                <a:gd name="T21" fmla="*/ 0 h 103"/>
                <a:gd name="T22" fmla="*/ 0 w 99"/>
                <a:gd name="T23" fmla="*/ 0 h 103"/>
                <a:gd name="T24" fmla="*/ 0 w 99"/>
                <a:gd name="T25" fmla="*/ 0 h 103"/>
                <a:gd name="T26" fmla="*/ 0 w 99"/>
                <a:gd name="T27" fmla="*/ 0 h 103"/>
                <a:gd name="T28" fmla="*/ 0 w 99"/>
                <a:gd name="T29" fmla="*/ 0 h 103"/>
                <a:gd name="T30" fmla="*/ 0 w 99"/>
                <a:gd name="T31" fmla="*/ 0 h 103"/>
                <a:gd name="T32" fmla="*/ 0 w 99"/>
                <a:gd name="T33" fmla="*/ 0 h 103"/>
                <a:gd name="T34" fmla="*/ 0 w 99"/>
                <a:gd name="T35" fmla="*/ 0 h 103"/>
                <a:gd name="T36" fmla="*/ 0 w 99"/>
                <a:gd name="T37" fmla="*/ 0 h 103"/>
                <a:gd name="T38" fmla="*/ 0 w 99"/>
                <a:gd name="T39" fmla="*/ 0 h 103"/>
                <a:gd name="T40" fmla="*/ 0 w 99"/>
                <a:gd name="T41" fmla="*/ 0 h 103"/>
                <a:gd name="T42" fmla="*/ 0 w 99"/>
                <a:gd name="T43" fmla="*/ 0 h 103"/>
                <a:gd name="T44" fmla="*/ 0 w 99"/>
                <a:gd name="T45" fmla="*/ 0 h 103"/>
                <a:gd name="T46" fmla="*/ 0 w 99"/>
                <a:gd name="T47" fmla="*/ 0 h 103"/>
                <a:gd name="T48" fmla="*/ 0 w 99"/>
                <a:gd name="T49" fmla="*/ 0 h 103"/>
                <a:gd name="T50" fmla="*/ 0 w 99"/>
                <a:gd name="T51" fmla="*/ 0 h 103"/>
                <a:gd name="T52" fmla="*/ 0 w 99"/>
                <a:gd name="T53" fmla="*/ 0 h 103"/>
                <a:gd name="T54" fmla="*/ 0 w 99"/>
                <a:gd name="T55" fmla="*/ 0 h 103"/>
                <a:gd name="T56" fmla="*/ 0 w 99"/>
                <a:gd name="T57" fmla="*/ 0 h 103"/>
                <a:gd name="T58" fmla="*/ 0 w 99"/>
                <a:gd name="T59" fmla="*/ 0 h 103"/>
                <a:gd name="T60" fmla="*/ 0 w 99"/>
                <a:gd name="T61" fmla="*/ 0 h 103"/>
                <a:gd name="T62" fmla="*/ 0 w 99"/>
                <a:gd name="T63" fmla="*/ 0 h 103"/>
                <a:gd name="T64" fmla="*/ 0 w 99"/>
                <a:gd name="T65" fmla="*/ 0 h 103"/>
                <a:gd name="T66" fmla="*/ 0 w 99"/>
                <a:gd name="T67" fmla="*/ 0 h 103"/>
                <a:gd name="T68" fmla="*/ 0 w 99"/>
                <a:gd name="T69" fmla="*/ 0 h 103"/>
                <a:gd name="T70" fmla="*/ 0 w 99"/>
                <a:gd name="T71" fmla="*/ 0 h 103"/>
                <a:gd name="T72" fmla="*/ 0 w 99"/>
                <a:gd name="T73" fmla="*/ 0 h 103"/>
                <a:gd name="T74" fmla="*/ 0 w 99"/>
                <a:gd name="T75" fmla="*/ 0 h 103"/>
                <a:gd name="T76" fmla="*/ 0 w 99"/>
                <a:gd name="T77" fmla="*/ 0 h 103"/>
                <a:gd name="T78" fmla="*/ 0 w 99"/>
                <a:gd name="T79" fmla="*/ 0 h 103"/>
                <a:gd name="T80" fmla="*/ 0 w 99"/>
                <a:gd name="T81" fmla="*/ 0 h 103"/>
                <a:gd name="T82" fmla="*/ 0 w 99"/>
                <a:gd name="T83" fmla="*/ 0 h 103"/>
                <a:gd name="T84" fmla="*/ 0 w 99"/>
                <a:gd name="T85" fmla="*/ 0 h 103"/>
                <a:gd name="T86" fmla="*/ 0 w 99"/>
                <a:gd name="T87" fmla="*/ 0 h 103"/>
                <a:gd name="T88" fmla="*/ 0 w 99"/>
                <a:gd name="T89" fmla="*/ 0 h 103"/>
                <a:gd name="T90" fmla="*/ 0 w 99"/>
                <a:gd name="T91" fmla="*/ 0 h 10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99" h="103">
                  <a:moveTo>
                    <a:pt x="0" y="38"/>
                  </a:moveTo>
                  <a:lnTo>
                    <a:pt x="4" y="29"/>
                  </a:lnTo>
                  <a:lnTo>
                    <a:pt x="9" y="21"/>
                  </a:lnTo>
                  <a:lnTo>
                    <a:pt x="11" y="17"/>
                  </a:lnTo>
                  <a:lnTo>
                    <a:pt x="15" y="14"/>
                  </a:lnTo>
                  <a:lnTo>
                    <a:pt x="21" y="12"/>
                  </a:lnTo>
                  <a:lnTo>
                    <a:pt x="25" y="8"/>
                  </a:lnTo>
                  <a:lnTo>
                    <a:pt x="34" y="2"/>
                  </a:lnTo>
                  <a:lnTo>
                    <a:pt x="44" y="0"/>
                  </a:lnTo>
                  <a:lnTo>
                    <a:pt x="47" y="0"/>
                  </a:lnTo>
                  <a:lnTo>
                    <a:pt x="53" y="0"/>
                  </a:lnTo>
                  <a:lnTo>
                    <a:pt x="57" y="0"/>
                  </a:lnTo>
                  <a:lnTo>
                    <a:pt x="63" y="2"/>
                  </a:lnTo>
                  <a:lnTo>
                    <a:pt x="72" y="6"/>
                  </a:lnTo>
                  <a:lnTo>
                    <a:pt x="80" y="12"/>
                  </a:lnTo>
                  <a:lnTo>
                    <a:pt x="87" y="17"/>
                  </a:lnTo>
                  <a:lnTo>
                    <a:pt x="95" y="27"/>
                  </a:lnTo>
                  <a:lnTo>
                    <a:pt x="97" y="36"/>
                  </a:lnTo>
                  <a:lnTo>
                    <a:pt x="99" y="46"/>
                  </a:lnTo>
                  <a:lnTo>
                    <a:pt x="99" y="50"/>
                  </a:lnTo>
                  <a:lnTo>
                    <a:pt x="99" y="55"/>
                  </a:lnTo>
                  <a:lnTo>
                    <a:pt x="99" y="61"/>
                  </a:lnTo>
                  <a:lnTo>
                    <a:pt x="99" y="65"/>
                  </a:lnTo>
                  <a:lnTo>
                    <a:pt x="95" y="74"/>
                  </a:lnTo>
                  <a:lnTo>
                    <a:pt x="89" y="84"/>
                  </a:lnTo>
                  <a:lnTo>
                    <a:pt x="83" y="90"/>
                  </a:lnTo>
                  <a:lnTo>
                    <a:pt x="76" y="97"/>
                  </a:lnTo>
                  <a:lnTo>
                    <a:pt x="66" y="101"/>
                  </a:lnTo>
                  <a:lnTo>
                    <a:pt x="57" y="103"/>
                  </a:lnTo>
                  <a:lnTo>
                    <a:pt x="51" y="103"/>
                  </a:lnTo>
                  <a:lnTo>
                    <a:pt x="45" y="103"/>
                  </a:lnTo>
                  <a:lnTo>
                    <a:pt x="42" y="103"/>
                  </a:lnTo>
                  <a:lnTo>
                    <a:pt x="36" y="101"/>
                  </a:lnTo>
                  <a:lnTo>
                    <a:pt x="26" y="97"/>
                  </a:lnTo>
                  <a:lnTo>
                    <a:pt x="19" y="93"/>
                  </a:lnTo>
                  <a:lnTo>
                    <a:pt x="13" y="88"/>
                  </a:lnTo>
                  <a:lnTo>
                    <a:pt x="7" y="80"/>
                  </a:lnTo>
                  <a:lnTo>
                    <a:pt x="6" y="74"/>
                  </a:lnTo>
                  <a:lnTo>
                    <a:pt x="2" y="69"/>
                  </a:lnTo>
                  <a:lnTo>
                    <a:pt x="0" y="63"/>
                  </a:lnTo>
                  <a:lnTo>
                    <a:pt x="0" y="59"/>
                  </a:lnTo>
                  <a:lnTo>
                    <a:pt x="0" y="54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FF99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45" name="Freeform 44"/>
            <p:cNvSpPr>
              <a:spLocks/>
            </p:cNvSpPr>
            <p:nvPr/>
          </p:nvSpPr>
          <p:spPr bwMode="auto">
            <a:xfrm>
              <a:off x="5405" y="3718"/>
              <a:ext cx="185" cy="140"/>
            </a:xfrm>
            <a:custGeom>
              <a:avLst/>
              <a:gdLst>
                <a:gd name="T0" fmla="*/ 1 w 371"/>
                <a:gd name="T1" fmla="*/ 1 h 281"/>
                <a:gd name="T2" fmla="*/ 1 w 371"/>
                <a:gd name="T3" fmla="*/ 1 h 281"/>
                <a:gd name="T4" fmla="*/ 1 w 371"/>
                <a:gd name="T5" fmla="*/ 1 h 281"/>
                <a:gd name="T6" fmla="*/ 1 w 371"/>
                <a:gd name="T7" fmla="*/ 0 h 281"/>
                <a:gd name="T8" fmla="*/ 1 w 371"/>
                <a:gd name="T9" fmla="*/ 0 h 281"/>
                <a:gd name="T10" fmla="*/ 1 w 371"/>
                <a:gd name="T11" fmla="*/ 0 h 281"/>
                <a:gd name="T12" fmla="*/ 0 w 371"/>
                <a:gd name="T13" fmla="*/ 0 h 281"/>
                <a:gd name="T14" fmla="*/ 0 w 371"/>
                <a:gd name="T15" fmla="*/ 0 h 281"/>
                <a:gd name="T16" fmla="*/ 0 w 371"/>
                <a:gd name="T17" fmla="*/ 0 h 281"/>
                <a:gd name="T18" fmla="*/ 0 w 371"/>
                <a:gd name="T19" fmla="*/ 0 h 281"/>
                <a:gd name="T20" fmla="*/ 0 w 371"/>
                <a:gd name="T21" fmla="*/ 0 h 281"/>
                <a:gd name="T22" fmla="*/ 0 w 371"/>
                <a:gd name="T23" fmla="*/ 0 h 281"/>
                <a:gd name="T24" fmla="*/ 0 w 371"/>
                <a:gd name="T25" fmla="*/ 0 h 281"/>
                <a:gd name="T26" fmla="*/ 0 w 371"/>
                <a:gd name="T27" fmla="*/ 0 h 281"/>
                <a:gd name="T28" fmla="*/ 0 w 371"/>
                <a:gd name="T29" fmla="*/ 0 h 281"/>
                <a:gd name="T30" fmla="*/ 0 w 371"/>
                <a:gd name="T31" fmla="*/ 0 h 281"/>
                <a:gd name="T32" fmla="*/ 0 w 371"/>
                <a:gd name="T33" fmla="*/ 0 h 281"/>
                <a:gd name="T34" fmla="*/ 0 w 371"/>
                <a:gd name="T35" fmla="*/ 0 h 281"/>
                <a:gd name="T36" fmla="*/ 0 w 371"/>
                <a:gd name="T37" fmla="*/ 0 h 281"/>
                <a:gd name="T38" fmla="*/ 0 w 371"/>
                <a:gd name="T39" fmla="*/ 0 h 281"/>
                <a:gd name="T40" fmla="*/ 0 w 371"/>
                <a:gd name="T41" fmla="*/ 0 h 281"/>
                <a:gd name="T42" fmla="*/ 0 w 371"/>
                <a:gd name="T43" fmla="*/ 0 h 281"/>
                <a:gd name="T44" fmla="*/ 0 w 371"/>
                <a:gd name="T45" fmla="*/ 0 h 281"/>
                <a:gd name="T46" fmla="*/ 0 w 371"/>
                <a:gd name="T47" fmla="*/ 0 h 281"/>
                <a:gd name="T48" fmla="*/ 0 w 371"/>
                <a:gd name="T49" fmla="*/ 0 h 281"/>
                <a:gd name="T50" fmla="*/ 0 w 371"/>
                <a:gd name="T51" fmla="*/ 0 h 281"/>
                <a:gd name="T52" fmla="*/ 0 w 371"/>
                <a:gd name="T53" fmla="*/ 0 h 281"/>
                <a:gd name="T54" fmla="*/ 0 w 371"/>
                <a:gd name="T55" fmla="*/ 0 h 281"/>
                <a:gd name="T56" fmla="*/ 0 w 371"/>
                <a:gd name="T57" fmla="*/ 0 h 281"/>
                <a:gd name="T58" fmla="*/ 0 w 371"/>
                <a:gd name="T59" fmla="*/ 0 h 281"/>
                <a:gd name="T60" fmla="*/ 0 w 371"/>
                <a:gd name="T61" fmla="*/ 0 h 281"/>
                <a:gd name="T62" fmla="*/ 0 w 371"/>
                <a:gd name="T63" fmla="*/ 0 h 281"/>
                <a:gd name="T64" fmla="*/ 0 w 371"/>
                <a:gd name="T65" fmla="*/ 0 h 281"/>
                <a:gd name="T66" fmla="*/ 0 w 371"/>
                <a:gd name="T67" fmla="*/ 0 h 281"/>
                <a:gd name="T68" fmla="*/ 0 w 371"/>
                <a:gd name="T69" fmla="*/ 0 h 281"/>
                <a:gd name="T70" fmla="*/ 1 w 371"/>
                <a:gd name="T71" fmla="*/ 0 h 281"/>
                <a:gd name="T72" fmla="*/ 1 w 371"/>
                <a:gd name="T73" fmla="*/ 0 h 281"/>
                <a:gd name="T74" fmla="*/ 1 w 371"/>
                <a:gd name="T75" fmla="*/ 0 h 281"/>
                <a:gd name="T76" fmla="*/ 1 w 371"/>
                <a:gd name="T77" fmla="*/ 0 h 281"/>
                <a:gd name="T78" fmla="*/ 1 w 371"/>
                <a:gd name="T79" fmla="*/ 0 h 281"/>
                <a:gd name="T80" fmla="*/ 1 w 371"/>
                <a:gd name="T81" fmla="*/ 0 h 281"/>
                <a:gd name="T82" fmla="*/ 1 w 371"/>
                <a:gd name="T83" fmla="*/ 0 h 281"/>
                <a:gd name="T84" fmla="*/ 1 w 371"/>
                <a:gd name="T85" fmla="*/ 1 h 28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371" h="281">
                  <a:moveTo>
                    <a:pt x="371" y="262"/>
                  </a:moveTo>
                  <a:lnTo>
                    <a:pt x="367" y="281"/>
                  </a:lnTo>
                  <a:lnTo>
                    <a:pt x="359" y="277"/>
                  </a:lnTo>
                  <a:lnTo>
                    <a:pt x="352" y="275"/>
                  </a:lnTo>
                  <a:lnTo>
                    <a:pt x="346" y="271"/>
                  </a:lnTo>
                  <a:lnTo>
                    <a:pt x="340" y="268"/>
                  </a:lnTo>
                  <a:lnTo>
                    <a:pt x="333" y="264"/>
                  </a:lnTo>
                  <a:lnTo>
                    <a:pt x="327" y="262"/>
                  </a:lnTo>
                  <a:lnTo>
                    <a:pt x="321" y="258"/>
                  </a:lnTo>
                  <a:lnTo>
                    <a:pt x="316" y="256"/>
                  </a:lnTo>
                  <a:lnTo>
                    <a:pt x="308" y="252"/>
                  </a:lnTo>
                  <a:lnTo>
                    <a:pt x="302" y="251"/>
                  </a:lnTo>
                  <a:lnTo>
                    <a:pt x="295" y="247"/>
                  </a:lnTo>
                  <a:lnTo>
                    <a:pt x="289" y="243"/>
                  </a:lnTo>
                  <a:lnTo>
                    <a:pt x="283" y="241"/>
                  </a:lnTo>
                  <a:lnTo>
                    <a:pt x="276" y="237"/>
                  </a:lnTo>
                  <a:lnTo>
                    <a:pt x="270" y="235"/>
                  </a:lnTo>
                  <a:lnTo>
                    <a:pt x="264" y="232"/>
                  </a:lnTo>
                  <a:lnTo>
                    <a:pt x="257" y="228"/>
                  </a:lnTo>
                  <a:lnTo>
                    <a:pt x="251" y="226"/>
                  </a:lnTo>
                  <a:lnTo>
                    <a:pt x="245" y="224"/>
                  </a:lnTo>
                  <a:lnTo>
                    <a:pt x="238" y="220"/>
                  </a:lnTo>
                  <a:lnTo>
                    <a:pt x="232" y="218"/>
                  </a:lnTo>
                  <a:lnTo>
                    <a:pt x="226" y="214"/>
                  </a:lnTo>
                  <a:lnTo>
                    <a:pt x="219" y="213"/>
                  </a:lnTo>
                  <a:lnTo>
                    <a:pt x="213" y="209"/>
                  </a:lnTo>
                  <a:lnTo>
                    <a:pt x="205" y="207"/>
                  </a:lnTo>
                  <a:lnTo>
                    <a:pt x="200" y="203"/>
                  </a:lnTo>
                  <a:lnTo>
                    <a:pt x="194" y="201"/>
                  </a:lnTo>
                  <a:lnTo>
                    <a:pt x="186" y="197"/>
                  </a:lnTo>
                  <a:lnTo>
                    <a:pt x="181" y="195"/>
                  </a:lnTo>
                  <a:lnTo>
                    <a:pt x="175" y="194"/>
                  </a:lnTo>
                  <a:lnTo>
                    <a:pt x="167" y="192"/>
                  </a:lnTo>
                  <a:lnTo>
                    <a:pt x="162" y="190"/>
                  </a:lnTo>
                  <a:lnTo>
                    <a:pt x="154" y="186"/>
                  </a:lnTo>
                  <a:lnTo>
                    <a:pt x="148" y="184"/>
                  </a:lnTo>
                  <a:lnTo>
                    <a:pt x="141" y="180"/>
                  </a:lnTo>
                  <a:lnTo>
                    <a:pt x="135" y="178"/>
                  </a:lnTo>
                  <a:lnTo>
                    <a:pt x="129" y="174"/>
                  </a:lnTo>
                  <a:lnTo>
                    <a:pt x="124" y="173"/>
                  </a:lnTo>
                  <a:lnTo>
                    <a:pt x="118" y="171"/>
                  </a:lnTo>
                  <a:lnTo>
                    <a:pt x="112" y="169"/>
                  </a:lnTo>
                  <a:lnTo>
                    <a:pt x="106" y="167"/>
                  </a:lnTo>
                  <a:lnTo>
                    <a:pt x="101" y="163"/>
                  </a:lnTo>
                  <a:lnTo>
                    <a:pt x="97" y="161"/>
                  </a:lnTo>
                  <a:lnTo>
                    <a:pt x="91" y="159"/>
                  </a:lnTo>
                  <a:lnTo>
                    <a:pt x="82" y="154"/>
                  </a:lnTo>
                  <a:lnTo>
                    <a:pt x="74" y="150"/>
                  </a:lnTo>
                  <a:lnTo>
                    <a:pt x="67" y="144"/>
                  </a:lnTo>
                  <a:lnTo>
                    <a:pt x="57" y="140"/>
                  </a:lnTo>
                  <a:lnTo>
                    <a:pt x="49" y="135"/>
                  </a:lnTo>
                  <a:lnTo>
                    <a:pt x="46" y="131"/>
                  </a:lnTo>
                  <a:lnTo>
                    <a:pt x="38" y="125"/>
                  </a:lnTo>
                  <a:lnTo>
                    <a:pt x="34" y="121"/>
                  </a:lnTo>
                  <a:lnTo>
                    <a:pt x="29" y="117"/>
                  </a:lnTo>
                  <a:lnTo>
                    <a:pt x="25" y="114"/>
                  </a:lnTo>
                  <a:lnTo>
                    <a:pt x="17" y="104"/>
                  </a:lnTo>
                  <a:lnTo>
                    <a:pt x="11" y="97"/>
                  </a:lnTo>
                  <a:lnTo>
                    <a:pt x="6" y="87"/>
                  </a:lnTo>
                  <a:lnTo>
                    <a:pt x="4" y="78"/>
                  </a:lnTo>
                  <a:lnTo>
                    <a:pt x="0" y="68"/>
                  </a:lnTo>
                  <a:lnTo>
                    <a:pt x="0" y="59"/>
                  </a:lnTo>
                  <a:lnTo>
                    <a:pt x="0" y="49"/>
                  </a:lnTo>
                  <a:lnTo>
                    <a:pt x="4" y="40"/>
                  </a:lnTo>
                  <a:lnTo>
                    <a:pt x="6" y="30"/>
                  </a:lnTo>
                  <a:lnTo>
                    <a:pt x="11" y="22"/>
                  </a:lnTo>
                  <a:lnTo>
                    <a:pt x="19" y="15"/>
                  </a:lnTo>
                  <a:lnTo>
                    <a:pt x="27" y="9"/>
                  </a:lnTo>
                  <a:lnTo>
                    <a:pt x="32" y="5"/>
                  </a:lnTo>
                  <a:lnTo>
                    <a:pt x="36" y="3"/>
                  </a:lnTo>
                  <a:lnTo>
                    <a:pt x="42" y="2"/>
                  </a:lnTo>
                  <a:lnTo>
                    <a:pt x="48" y="2"/>
                  </a:lnTo>
                  <a:lnTo>
                    <a:pt x="51" y="0"/>
                  </a:lnTo>
                  <a:lnTo>
                    <a:pt x="57" y="0"/>
                  </a:lnTo>
                  <a:lnTo>
                    <a:pt x="63" y="0"/>
                  </a:lnTo>
                  <a:lnTo>
                    <a:pt x="68" y="3"/>
                  </a:lnTo>
                  <a:lnTo>
                    <a:pt x="76" y="5"/>
                  </a:lnTo>
                  <a:lnTo>
                    <a:pt x="86" y="9"/>
                  </a:lnTo>
                  <a:lnTo>
                    <a:pt x="89" y="11"/>
                  </a:lnTo>
                  <a:lnTo>
                    <a:pt x="95" y="13"/>
                  </a:lnTo>
                  <a:lnTo>
                    <a:pt x="99" y="17"/>
                  </a:lnTo>
                  <a:lnTo>
                    <a:pt x="105" y="21"/>
                  </a:lnTo>
                  <a:lnTo>
                    <a:pt x="110" y="24"/>
                  </a:lnTo>
                  <a:lnTo>
                    <a:pt x="116" y="30"/>
                  </a:lnTo>
                  <a:lnTo>
                    <a:pt x="120" y="32"/>
                  </a:lnTo>
                  <a:lnTo>
                    <a:pt x="124" y="38"/>
                  </a:lnTo>
                  <a:lnTo>
                    <a:pt x="127" y="40"/>
                  </a:lnTo>
                  <a:lnTo>
                    <a:pt x="133" y="45"/>
                  </a:lnTo>
                  <a:lnTo>
                    <a:pt x="139" y="51"/>
                  </a:lnTo>
                  <a:lnTo>
                    <a:pt x="145" y="57"/>
                  </a:lnTo>
                  <a:lnTo>
                    <a:pt x="150" y="62"/>
                  </a:lnTo>
                  <a:lnTo>
                    <a:pt x="156" y="68"/>
                  </a:lnTo>
                  <a:lnTo>
                    <a:pt x="162" y="74"/>
                  </a:lnTo>
                  <a:lnTo>
                    <a:pt x="169" y="81"/>
                  </a:lnTo>
                  <a:lnTo>
                    <a:pt x="177" y="89"/>
                  </a:lnTo>
                  <a:lnTo>
                    <a:pt x="184" y="97"/>
                  </a:lnTo>
                  <a:lnTo>
                    <a:pt x="190" y="102"/>
                  </a:lnTo>
                  <a:lnTo>
                    <a:pt x="198" y="108"/>
                  </a:lnTo>
                  <a:lnTo>
                    <a:pt x="203" y="114"/>
                  </a:lnTo>
                  <a:lnTo>
                    <a:pt x="209" y="119"/>
                  </a:lnTo>
                  <a:lnTo>
                    <a:pt x="215" y="125"/>
                  </a:lnTo>
                  <a:lnTo>
                    <a:pt x="222" y="133"/>
                  </a:lnTo>
                  <a:lnTo>
                    <a:pt x="228" y="138"/>
                  </a:lnTo>
                  <a:lnTo>
                    <a:pt x="234" y="144"/>
                  </a:lnTo>
                  <a:lnTo>
                    <a:pt x="240" y="150"/>
                  </a:lnTo>
                  <a:lnTo>
                    <a:pt x="245" y="155"/>
                  </a:lnTo>
                  <a:lnTo>
                    <a:pt x="251" y="161"/>
                  </a:lnTo>
                  <a:lnTo>
                    <a:pt x="259" y="167"/>
                  </a:lnTo>
                  <a:lnTo>
                    <a:pt x="264" y="171"/>
                  </a:lnTo>
                  <a:lnTo>
                    <a:pt x="270" y="176"/>
                  </a:lnTo>
                  <a:lnTo>
                    <a:pt x="276" y="182"/>
                  </a:lnTo>
                  <a:lnTo>
                    <a:pt x="281" y="190"/>
                  </a:lnTo>
                  <a:lnTo>
                    <a:pt x="287" y="194"/>
                  </a:lnTo>
                  <a:lnTo>
                    <a:pt x="293" y="197"/>
                  </a:lnTo>
                  <a:lnTo>
                    <a:pt x="298" y="203"/>
                  </a:lnTo>
                  <a:lnTo>
                    <a:pt x="304" y="209"/>
                  </a:lnTo>
                  <a:lnTo>
                    <a:pt x="310" y="213"/>
                  </a:lnTo>
                  <a:lnTo>
                    <a:pt x="316" y="218"/>
                  </a:lnTo>
                  <a:lnTo>
                    <a:pt x="321" y="222"/>
                  </a:lnTo>
                  <a:lnTo>
                    <a:pt x="327" y="228"/>
                  </a:lnTo>
                  <a:lnTo>
                    <a:pt x="331" y="232"/>
                  </a:lnTo>
                  <a:lnTo>
                    <a:pt x="337" y="235"/>
                  </a:lnTo>
                  <a:lnTo>
                    <a:pt x="342" y="241"/>
                  </a:lnTo>
                  <a:lnTo>
                    <a:pt x="348" y="245"/>
                  </a:lnTo>
                  <a:lnTo>
                    <a:pt x="354" y="249"/>
                  </a:lnTo>
                  <a:lnTo>
                    <a:pt x="359" y="252"/>
                  </a:lnTo>
                  <a:lnTo>
                    <a:pt x="365" y="258"/>
                  </a:lnTo>
                  <a:lnTo>
                    <a:pt x="371" y="262"/>
                  </a:lnTo>
                  <a:close/>
                </a:path>
              </a:pathLst>
            </a:custGeom>
            <a:solidFill>
              <a:srgbClr val="FFFFFF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46" name="Freeform 45"/>
            <p:cNvSpPr>
              <a:spLocks/>
            </p:cNvSpPr>
            <p:nvPr/>
          </p:nvSpPr>
          <p:spPr bwMode="auto">
            <a:xfrm>
              <a:off x="5600" y="3847"/>
              <a:ext cx="69" cy="72"/>
            </a:xfrm>
            <a:custGeom>
              <a:avLst/>
              <a:gdLst>
                <a:gd name="T0" fmla="*/ 1 w 137"/>
                <a:gd name="T1" fmla="*/ 0 h 145"/>
                <a:gd name="T2" fmla="*/ 1 w 137"/>
                <a:gd name="T3" fmla="*/ 0 h 145"/>
                <a:gd name="T4" fmla="*/ 1 w 137"/>
                <a:gd name="T5" fmla="*/ 0 h 145"/>
                <a:gd name="T6" fmla="*/ 1 w 137"/>
                <a:gd name="T7" fmla="*/ 0 h 145"/>
                <a:gd name="T8" fmla="*/ 1 w 137"/>
                <a:gd name="T9" fmla="*/ 0 h 145"/>
                <a:gd name="T10" fmla="*/ 1 w 137"/>
                <a:gd name="T11" fmla="*/ 0 h 145"/>
                <a:gd name="T12" fmla="*/ 1 w 137"/>
                <a:gd name="T13" fmla="*/ 0 h 145"/>
                <a:gd name="T14" fmla="*/ 1 w 137"/>
                <a:gd name="T15" fmla="*/ 0 h 145"/>
                <a:gd name="T16" fmla="*/ 1 w 137"/>
                <a:gd name="T17" fmla="*/ 0 h 145"/>
                <a:gd name="T18" fmla="*/ 1 w 137"/>
                <a:gd name="T19" fmla="*/ 0 h 145"/>
                <a:gd name="T20" fmla="*/ 1 w 137"/>
                <a:gd name="T21" fmla="*/ 0 h 145"/>
                <a:gd name="T22" fmla="*/ 1 w 137"/>
                <a:gd name="T23" fmla="*/ 0 h 145"/>
                <a:gd name="T24" fmla="*/ 1 w 137"/>
                <a:gd name="T25" fmla="*/ 0 h 145"/>
                <a:gd name="T26" fmla="*/ 1 w 137"/>
                <a:gd name="T27" fmla="*/ 0 h 145"/>
                <a:gd name="T28" fmla="*/ 1 w 137"/>
                <a:gd name="T29" fmla="*/ 0 h 145"/>
                <a:gd name="T30" fmla="*/ 1 w 137"/>
                <a:gd name="T31" fmla="*/ 0 h 145"/>
                <a:gd name="T32" fmla="*/ 1 w 137"/>
                <a:gd name="T33" fmla="*/ 0 h 145"/>
                <a:gd name="T34" fmla="*/ 1 w 137"/>
                <a:gd name="T35" fmla="*/ 0 h 145"/>
                <a:gd name="T36" fmla="*/ 1 w 137"/>
                <a:gd name="T37" fmla="*/ 0 h 145"/>
                <a:gd name="T38" fmla="*/ 1 w 137"/>
                <a:gd name="T39" fmla="*/ 0 h 145"/>
                <a:gd name="T40" fmla="*/ 1 w 137"/>
                <a:gd name="T41" fmla="*/ 0 h 145"/>
                <a:gd name="T42" fmla="*/ 1 w 137"/>
                <a:gd name="T43" fmla="*/ 0 h 145"/>
                <a:gd name="T44" fmla="*/ 1 w 137"/>
                <a:gd name="T45" fmla="*/ 0 h 145"/>
                <a:gd name="T46" fmla="*/ 1 w 137"/>
                <a:gd name="T47" fmla="*/ 0 h 145"/>
                <a:gd name="T48" fmla="*/ 1 w 137"/>
                <a:gd name="T49" fmla="*/ 0 h 145"/>
                <a:gd name="T50" fmla="*/ 1 w 137"/>
                <a:gd name="T51" fmla="*/ 0 h 145"/>
                <a:gd name="T52" fmla="*/ 1 w 137"/>
                <a:gd name="T53" fmla="*/ 0 h 145"/>
                <a:gd name="T54" fmla="*/ 1 w 137"/>
                <a:gd name="T55" fmla="*/ 0 h 145"/>
                <a:gd name="T56" fmla="*/ 1 w 137"/>
                <a:gd name="T57" fmla="*/ 0 h 145"/>
                <a:gd name="T58" fmla="*/ 1 w 137"/>
                <a:gd name="T59" fmla="*/ 0 h 145"/>
                <a:gd name="T60" fmla="*/ 0 w 137"/>
                <a:gd name="T61" fmla="*/ 0 h 145"/>
                <a:gd name="T62" fmla="*/ 0 w 137"/>
                <a:gd name="T63" fmla="*/ 0 h 145"/>
                <a:gd name="T64" fmla="*/ 1 w 137"/>
                <a:gd name="T65" fmla="*/ 0 h 14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37" h="145">
                  <a:moveTo>
                    <a:pt x="3" y="55"/>
                  </a:moveTo>
                  <a:lnTo>
                    <a:pt x="3" y="48"/>
                  </a:lnTo>
                  <a:lnTo>
                    <a:pt x="7" y="42"/>
                  </a:lnTo>
                  <a:lnTo>
                    <a:pt x="9" y="36"/>
                  </a:lnTo>
                  <a:lnTo>
                    <a:pt x="13" y="31"/>
                  </a:lnTo>
                  <a:lnTo>
                    <a:pt x="17" y="25"/>
                  </a:lnTo>
                  <a:lnTo>
                    <a:pt x="22" y="19"/>
                  </a:lnTo>
                  <a:lnTo>
                    <a:pt x="28" y="15"/>
                  </a:lnTo>
                  <a:lnTo>
                    <a:pt x="36" y="13"/>
                  </a:lnTo>
                  <a:lnTo>
                    <a:pt x="41" y="8"/>
                  </a:lnTo>
                  <a:lnTo>
                    <a:pt x="47" y="6"/>
                  </a:lnTo>
                  <a:lnTo>
                    <a:pt x="53" y="2"/>
                  </a:lnTo>
                  <a:lnTo>
                    <a:pt x="60" y="2"/>
                  </a:lnTo>
                  <a:lnTo>
                    <a:pt x="66" y="0"/>
                  </a:lnTo>
                  <a:lnTo>
                    <a:pt x="74" y="2"/>
                  </a:lnTo>
                  <a:lnTo>
                    <a:pt x="79" y="2"/>
                  </a:lnTo>
                  <a:lnTo>
                    <a:pt x="87" y="4"/>
                  </a:lnTo>
                  <a:lnTo>
                    <a:pt x="93" y="6"/>
                  </a:lnTo>
                  <a:lnTo>
                    <a:pt x="98" y="10"/>
                  </a:lnTo>
                  <a:lnTo>
                    <a:pt x="104" y="12"/>
                  </a:lnTo>
                  <a:lnTo>
                    <a:pt x="110" y="17"/>
                  </a:lnTo>
                  <a:lnTo>
                    <a:pt x="116" y="19"/>
                  </a:lnTo>
                  <a:lnTo>
                    <a:pt x="121" y="25"/>
                  </a:lnTo>
                  <a:lnTo>
                    <a:pt x="125" y="31"/>
                  </a:lnTo>
                  <a:lnTo>
                    <a:pt x="129" y="38"/>
                  </a:lnTo>
                  <a:lnTo>
                    <a:pt x="131" y="44"/>
                  </a:lnTo>
                  <a:lnTo>
                    <a:pt x="135" y="50"/>
                  </a:lnTo>
                  <a:lnTo>
                    <a:pt x="135" y="55"/>
                  </a:lnTo>
                  <a:lnTo>
                    <a:pt x="137" y="63"/>
                  </a:lnTo>
                  <a:lnTo>
                    <a:pt x="137" y="70"/>
                  </a:lnTo>
                  <a:lnTo>
                    <a:pt x="137" y="76"/>
                  </a:lnTo>
                  <a:lnTo>
                    <a:pt x="137" y="84"/>
                  </a:lnTo>
                  <a:lnTo>
                    <a:pt x="137" y="91"/>
                  </a:lnTo>
                  <a:lnTo>
                    <a:pt x="133" y="97"/>
                  </a:lnTo>
                  <a:lnTo>
                    <a:pt x="131" y="103"/>
                  </a:lnTo>
                  <a:lnTo>
                    <a:pt x="127" y="110"/>
                  </a:lnTo>
                  <a:lnTo>
                    <a:pt x="123" y="116"/>
                  </a:lnTo>
                  <a:lnTo>
                    <a:pt x="119" y="122"/>
                  </a:lnTo>
                  <a:lnTo>
                    <a:pt x="114" y="126"/>
                  </a:lnTo>
                  <a:lnTo>
                    <a:pt x="110" y="129"/>
                  </a:lnTo>
                  <a:lnTo>
                    <a:pt x="104" y="135"/>
                  </a:lnTo>
                  <a:lnTo>
                    <a:pt x="98" y="137"/>
                  </a:lnTo>
                  <a:lnTo>
                    <a:pt x="91" y="141"/>
                  </a:lnTo>
                  <a:lnTo>
                    <a:pt x="85" y="143"/>
                  </a:lnTo>
                  <a:lnTo>
                    <a:pt x="79" y="145"/>
                  </a:lnTo>
                  <a:lnTo>
                    <a:pt x="72" y="145"/>
                  </a:lnTo>
                  <a:lnTo>
                    <a:pt x="64" y="145"/>
                  </a:lnTo>
                  <a:lnTo>
                    <a:pt x="59" y="143"/>
                  </a:lnTo>
                  <a:lnTo>
                    <a:pt x="51" y="141"/>
                  </a:lnTo>
                  <a:lnTo>
                    <a:pt x="43" y="139"/>
                  </a:lnTo>
                  <a:lnTo>
                    <a:pt x="38" y="135"/>
                  </a:lnTo>
                  <a:lnTo>
                    <a:pt x="34" y="131"/>
                  </a:lnTo>
                  <a:lnTo>
                    <a:pt x="28" y="129"/>
                  </a:lnTo>
                  <a:lnTo>
                    <a:pt x="22" y="124"/>
                  </a:lnTo>
                  <a:lnTo>
                    <a:pt x="19" y="120"/>
                  </a:lnTo>
                  <a:lnTo>
                    <a:pt x="15" y="114"/>
                  </a:lnTo>
                  <a:lnTo>
                    <a:pt x="11" y="110"/>
                  </a:lnTo>
                  <a:lnTo>
                    <a:pt x="7" y="103"/>
                  </a:lnTo>
                  <a:lnTo>
                    <a:pt x="5" y="97"/>
                  </a:lnTo>
                  <a:lnTo>
                    <a:pt x="2" y="89"/>
                  </a:lnTo>
                  <a:lnTo>
                    <a:pt x="2" y="84"/>
                  </a:lnTo>
                  <a:lnTo>
                    <a:pt x="0" y="76"/>
                  </a:lnTo>
                  <a:lnTo>
                    <a:pt x="0" y="69"/>
                  </a:lnTo>
                  <a:lnTo>
                    <a:pt x="0" y="61"/>
                  </a:lnTo>
                  <a:lnTo>
                    <a:pt x="3" y="55"/>
                  </a:lnTo>
                  <a:close/>
                </a:path>
              </a:pathLst>
            </a:custGeom>
            <a:solidFill>
              <a:srgbClr val="FFFFFF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47" name="Freeform 46"/>
            <p:cNvSpPr>
              <a:spLocks/>
            </p:cNvSpPr>
            <p:nvPr/>
          </p:nvSpPr>
          <p:spPr bwMode="auto">
            <a:xfrm>
              <a:off x="5466" y="3615"/>
              <a:ext cx="98" cy="227"/>
            </a:xfrm>
            <a:custGeom>
              <a:avLst/>
              <a:gdLst>
                <a:gd name="T0" fmla="*/ 0 w 195"/>
                <a:gd name="T1" fmla="*/ 1 h 455"/>
                <a:gd name="T2" fmla="*/ 1 w 195"/>
                <a:gd name="T3" fmla="*/ 1 h 455"/>
                <a:gd name="T4" fmla="*/ 1 w 195"/>
                <a:gd name="T5" fmla="*/ 1 h 455"/>
                <a:gd name="T6" fmla="*/ 1 w 195"/>
                <a:gd name="T7" fmla="*/ 1 h 455"/>
                <a:gd name="T8" fmla="*/ 1 w 195"/>
                <a:gd name="T9" fmla="*/ 1 h 455"/>
                <a:gd name="T10" fmla="*/ 1 w 195"/>
                <a:gd name="T11" fmla="*/ 1 h 455"/>
                <a:gd name="T12" fmla="*/ 1 w 195"/>
                <a:gd name="T13" fmla="*/ 1 h 455"/>
                <a:gd name="T14" fmla="*/ 1 w 195"/>
                <a:gd name="T15" fmla="*/ 1 h 455"/>
                <a:gd name="T16" fmla="*/ 1 w 195"/>
                <a:gd name="T17" fmla="*/ 1 h 455"/>
                <a:gd name="T18" fmla="*/ 1 w 195"/>
                <a:gd name="T19" fmla="*/ 0 h 455"/>
                <a:gd name="T20" fmla="*/ 1 w 195"/>
                <a:gd name="T21" fmla="*/ 0 h 455"/>
                <a:gd name="T22" fmla="*/ 1 w 195"/>
                <a:gd name="T23" fmla="*/ 0 h 455"/>
                <a:gd name="T24" fmla="*/ 1 w 195"/>
                <a:gd name="T25" fmla="*/ 0 h 455"/>
                <a:gd name="T26" fmla="*/ 1 w 195"/>
                <a:gd name="T27" fmla="*/ 0 h 455"/>
                <a:gd name="T28" fmla="*/ 1 w 195"/>
                <a:gd name="T29" fmla="*/ 0 h 455"/>
                <a:gd name="T30" fmla="*/ 1 w 195"/>
                <a:gd name="T31" fmla="*/ 0 h 455"/>
                <a:gd name="T32" fmla="*/ 1 w 195"/>
                <a:gd name="T33" fmla="*/ 0 h 455"/>
                <a:gd name="T34" fmla="*/ 1 w 195"/>
                <a:gd name="T35" fmla="*/ 0 h 455"/>
                <a:gd name="T36" fmla="*/ 1 w 195"/>
                <a:gd name="T37" fmla="*/ 0 h 455"/>
                <a:gd name="T38" fmla="*/ 1 w 195"/>
                <a:gd name="T39" fmla="*/ 0 h 455"/>
                <a:gd name="T40" fmla="*/ 1 w 195"/>
                <a:gd name="T41" fmla="*/ 0 h 455"/>
                <a:gd name="T42" fmla="*/ 1 w 195"/>
                <a:gd name="T43" fmla="*/ 0 h 455"/>
                <a:gd name="T44" fmla="*/ 1 w 195"/>
                <a:gd name="T45" fmla="*/ 0 h 455"/>
                <a:gd name="T46" fmla="*/ 1 w 195"/>
                <a:gd name="T47" fmla="*/ 0 h 455"/>
                <a:gd name="T48" fmla="*/ 1 w 195"/>
                <a:gd name="T49" fmla="*/ 0 h 455"/>
                <a:gd name="T50" fmla="*/ 1 w 195"/>
                <a:gd name="T51" fmla="*/ 0 h 455"/>
                <a:gd name="T52" fmla="*/ 1 w 195"/>
                <a:gd name="T53" fmla="*/ 0 h 455"/>
                <a:gd name="T54" fmla="*/ 1 w 195"/>
                <a:gd name="T55" fmla="*/ 0 h 455"/>
                <a:gd name="T56" fmla="*/ 1 w 195"/>
                <a:gd name="T57" fmla="*/ 0 h 455"/>
                <a:gd name="T58" fmla="*/ 1 w 195"/>
                <a:gd name="T59" fmla="*/ 0 h 455"/>
                <a:gd name="T60" fmla="*/ 1 w 195"/>
                <a:gd name="T61" fmla="*/ 0 h 455"/>
                <a:gd name="T62" fmla="*/ 1 w 195"/>
                <a:gd name="T63" fmla="*/ 0 h 455"/>
                <a:gd name="T64" fmla="*/ 1 w 195"/>
                <a:gd name="T65" fmla="*/ 0 h 455"/>
                <a:gd name="T66" fmla="*/ 1 w 195"/>
                <a:gd name="T67" fmla="*/ 0 h 455"/>
                <a:gd name="T68" fmla="*/ 1 w 195"/>
                <a:gd name="T69" fmla="*/ 0 h 455"/>
                <a:gd name="T70" fmla="*/ 1 w 195"/>
                <a:gd name="T71" fmla="*/ 0 h 455"/>
                <a:gd name="T72" fmla="*/ 1 w 195"/>
                <a:gd name="T73" fmla="*/ 0 h 455"/>
                <a:gd name="T74" fmla="*/ 1 w 195"/>
                <a:gd name="T75" fmla="*/ 1 h 455"/>
                <a:gd name="T76" fmla="*/ 1 w 195"/>
                <a:gd name="T77" fmla="*/ 1 h 455"/>
                <a:gd name="T78" fmla="*/ 1 w 195"/>
                <a:gd name="T79" fmla="*/ 1 h 455"/>
                <a:gd name="T80" fmla="*/ 1 w 195"/>
                <a:gd name="T81" fmla="*/ 1 h 455"/>
                <a:gd name="T82" fmla="*/ 1 w 195"/>
                <a:gd name="T83" fmla="*/ 1 h 455"/>
                <a:gd name="T84" fmla="*/ 1 w 195"/>
                <a:gd name="T85" fmla="*/ 1 h 455"/>
                <a:gd name="T86" fmla="*/ 1 w 195"/>
                <a:gd name="T87" fmla="*/ 1 h 455"/>
                <a:gd name="T88" fmla="*/ 1 w 195"/>
                <a:gd name="T89" fmla="*/ 1 h 455"/>
                <a:gd name="T90" fmla="*/ 1 w 195"/>
                <a:gd name="T91" fmla="*/ 1 h 455"/>
                <a:gd name="T92" fmla="*/ 1 w 195"/>
                <a:gd name="T93" fmla="*/ 1 h 45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195" h="455">
                  <a:moveTo>
                    <a:pt x="19" y="455"/>
                  </a:moveTo>
                  <a:lnTo>
                    <a:pt x="0" y="455"/>
                  </a:lnTo>
                  <a:lnTo>
                    <a:pt x="0" y="447"/>
                  </a:lnTo>
                  <a:lnTo>
                    <a:pt x="2" y="439"/>
                  </a:lnTo>
                  <a:lnTo>
                    <a:pt x="2" y="432"/>
                  </a:lnTo>
                  <a:lnTo>
                    <a:pt x="3" y="424"/>
                  </a:lnTo>
                  <a:lnTo>
                    <a:pt x="3" y="417"/>
                  </a:lnTo>
                  <a:lnTo>
                    <a:pt x="5" y="409"/>
                  </a:lnTo>
                  <a:lnTo>
                    <a:pt x="7" y="401"/>
                  </a:lnTo>
                  <a:lnTo>
                    <a:pt x="9" y="394"/>
                  </a:lnTo>
                  <a:lnTo>
                    <a:pt x="9" y="386"/>
                  </a:lnTo>
                  <a:lnTo>
                    <a:pt x="11" y="379"/>
                  </a:lnTo>
                  <a:lnTo>
                    <a:pt x="13" y="371"/>
                  </a:lnTo>
                  <a:lnTo>
                    <a:pt x="15" y="363"/>
                  </a:lnTo>
                  <a:lnTo>
                    <a:pt x="15" y="356"/>
                  </a:lnTo>
                  <a:lnTo>
                    <a:pt x="17" y="348"/>
                  </a:lnTo>
                  <a:lnTo>
                    <a:pt x="19" y="341"/>
                  </a:lnTo>
                  <a:lnTo>
                    <a:pt x="21" y="333"/>
                  </a:lnTo>
                  <a:lnTo>
                    <a:pt x="21" y="325"/>
                  </a:lnTo>
                  <a:lnTo>
                    <a:pt x="22" y="318"/>
                  </a:lnTo>
                  <a:lnTo>
                    <a:pt x="22" y="310"/>
                  </a:lnTo>
                  <a:lnTo>
                    <a:pt x="24" y="303"/>
                  </a:lnTo>
                  <a:lnTo>
                    <a:pt x="24" y="295"/>
                  </a:lnTo>
                  <a:lnTo>
                    <a:pt x="26" y="287"/>
                  </a:lnTo>
                  <a:lnTo>
                    <a:pt x="26" y="280"/>
                  </a:lnTo>
                  <a:lnTo>
                    <a:pt x="28" y="272"/>
                  </a:lnTo>
                  <a:lnTo>
                    <a:pt x="28" y="265"/>
                  </a:lnTo>
                  <a:lnTo>
                    <a:pt x="30" y="257"/>
                  </a:lnTo>
                  <a:lnTo>
                    <a:pt x="30" y="249"/>
                  </a:lnTo>
                  <a:lnTo>
                    <a:pt x="32" y="242"/>
                  </a:lnTo>
                  <a:lnTo>
                    <a:pt x="32" y="234"/>
                  </a:lnTo>
                  <a:lnTo>
                    <a:pt x="34" y="227"/>
                  </a:lnTo>
                  <a:lnTo>
                    <a:pt x="34" y="219"/>
                  </a:lnTo>
                  <a:lnTo>
                    <a:pt x="36" y="211"/>
                  </a:lnTo>
                  <a:lnTo>
                    <a:pt x="36" y="204"/>
                  </a:lnTo>
                  <a:lnTo>
                    <a:pt x="36" y="194"/>
                  </a:lnTo>
                  <a:lnTo>
                    <a:pt x="38" y="189"/>
                  </a:lnTo>
                  <a:lnTo>
                    <a:pt x="38" y="181"/>
                  </a:lnTo>
                  <a:lnTo>
                    <a:pt x="38" y="173"/>
                  </a:lnTo>
                  <a:lnTo>
                    <a:pt x="40" y="168"/>
                  </a:lnTo>
                  <a:lnTo>
                    <a:pt x="40" y="160"/>
                  </a:lnTo>
                  <a:lnTo>
                    <a:pt x="41" y="154"/>
                  </a:lnTo>
                  <a:lnTo>
                    <a:pt x="41" y="147"/>
                  </a:lnTo>
                  <a:lnTo>
                    <a:pt x="43" y="141"/>
                  </a:lnTo>
                  <a:lnTo>
                    <a:pt x="43" y="133"/>
                  </a:lnTo>
                  <a:lnTo>
                    <a:pt x="45" y="128"/>
                  </a:lnTo>
                  <a:lnTo>
                    <a:pt x="47" y="122"/>
                  </a:lnTo>
                  <a:lnTo>
                    <a:pt x="49" y="116"/>
                  </a:lnTo>
                  <a:lnTo>
                    <a:pt x="49" y="111"/>
                  </a:lnTo>
                  <a:lnTo>
                    <a:pt x="51" y="107"/>
                  </a:lnTo>
                  <a:lnTo>
                    <a:pt x="51" y="101"/>
                  </a:lnTo>
                  <a:lnTo>
                    <a:pt x="53" y="95"/>
                  </a:lnTo>
                  <a:lnTo>
                    <a:pt x="53" y="90"/>
                  </a:lnTo>
                  <a:lnTo>
                    <a:pt x="55" y="86"/>
                  </a:lnTo>
                  <a:lnTo>
                    <a:pt x="59" y="76"/>
                  </a:lnTo>
                  <a:lnTo>
                    <a:pt x="60" y="69"/>
                  </a:lnTo>
                  <a:lnTo>
                    <a:pt x="64" y="61"/>
                  </a:lnTo>
                  <a:lnTo>
                    <a:pt x="66" y="54"/>
                  </a:lnTo>
                  <a:lnTo>
                    <a:pt x="70" y="48"/>
                  </a:lnTo>
                  <a:lnTo>
                    <a:pt x="74" y="42"/>
                  </a:lnTo>
                  <a:lnTo>
                    <a:pt x="76" y="36"/>
                  </a:lnTo>
                  <a:lnTo>
                    <a:pt x="79" y="33"/>
                  </a:lnTo>
                  <a:lnTo>
                    <a:pt x="81" y="29"/>
                  </a:lnTo>
                  <a:lnTo>
                    <a:pt x="87" y="25"/>
                  </a:lnTo>
                  <a:lnTo>
                    <a:pt x="95" y="17"/>
                  </a:lnTo>
                  <a:lnTo>
                    <a:pt x="102" y="12"/>
                  </a:lnTo>
                  <a:lnTo>
                    <a:pt x="110" y="6"/>
                  </a:lnTo>
                  <a:lnTo>
                    <a:pt x="121" y="4"/>
                  </a:lnTo>
                  <a:lnTo>
                    <a:pt x="129" y="0"/>
                  </a:lnTo>
                  <a:lnTo>
                    <a:pt x="140" y="0"/>
                  </a:lnTo>
                  <a:lnTo>
                    <a:pt x="144" y="0"/>
                  </a:lnTo>
                  <a:lnTo>
                    <a:pt x="150" y="2"/>
                  </a:lnTo>
                  <a:lnTo>
                    <a:pt x="154" y="2"/>
                  </a:lnTo>
                  <a:lnTo>
                    <a:pt x="159" y="6"/>
                  </a:lnTo>
                  <a:lnTo>
                    <a:pt x="165" y="8"/>
                  </a:lnTo>
                  <a:lnTo>
                    <a:pt x="169" y="10"/>
                  </a:lnTo>
                  <a:lnTo>
                    <a:pt x="174" y="14"/>
                  </a:lnTo>
                  <a:lnTo>
                    <a:pt x="180" y="19"/>
                  </a:lnTo>
                  <a:lnTo>
                    <a:pt x="186" y="27"/>
                  </a:lnTo>
                  <a:lnTo>
                    <a:pt x="192" y="36"/>
                  </a:lnTo>
                  <a:lnTo>
                    <a:pt x="194" y="42"/>
                  </a:lnTo>
                  <a:lnTo>
                    <a:pt x="194" y="48"/>
                  </a:lnTo>
                  <a:lnTo>
                    <a:pt x="195" y="54"/>
                  </a:lnTo>
                  <a:lnTo>
                    <a:pt x="195" y="61"/>
                  </a:lnTo>
                  <a:lnTo>
                    <a:pt x="195" y="65"/>
                  </a:lnTo>
                  <a:lnTo>
                    <a:pt x="195" y="69"/>
                  </a:lnTo>
                  <a:lnTo>
                    <a:pt x="194" y="74"/>
                  </a:lnTo>
                  <a:lnTo>
                    <a:pt x="194" y="80"/>
                  </a:lnTo>
                  <a:lnTo>
                    <a:pt x="192" y="86"/>
                  </a:lnTo>
                  <a:lnTo>
                    <a:pt x="192" y="92"/>
                  </a:lnTo>
                  <a:lnTo>
                    <a:pt x="190" y="97"/>
                  </a:lnTo>
                  <a:lnTo>
                    <a:pt x="190" y="105"/>
                  </a:lnTo>
                  <a:lnTo>
                    <a:pt x="186" y="111"/>
                  </a:lnTo>
                  <a:lnTo>
                    <a:pt x="180" y="120"/>
                  </a:lnTo>
                  <a:lnTo>
                    <a:pt x="178" y="124"/>
                  </a:lnTo>
                  <a:lnTo>
                    <a:pt x="176" y="130"/>
                  </a:lnTo>
                  <a:lnTo>
                    <a:pt x="173" y="135"/>
                  </a:lnTo>
                  <a:lnTo>
                    <a:pt x="171" y="143"/>
                  </a:lnTo>
                  <a:lnTo>
                    <a:pt x="165" y="149"/>
                  </a:lnTo>
                  <a:lnTo>
                    <a:pt x="161" y="156"/>
                  </a:lnTo>
                  <a:lnTo>
                    <a:pt x="157" y="164"/>
                  </a:lnTo>
                  <a:lnTo>
                    <a:pt x="154" y="173"/>
                  </a:lnTo>
                  <a:lnTo>
                    <a:pt x="148" y="181"/>
                  </a:lnTo>
                  <a:lnTo>
                    <a:pt x="144" y="190"/>
                  </a:lnTo>
                  <a:lnTo>
                    <a:pt x="140" y="194"/>
                  </a:lnTo>
                  <a:lnTo>
                    <a:pt x="138" y="200"/>
                  </a:lnTo>
                  <a:lnTo>
                    <a:pt x="135" y="206"/>
                  </a:lnTo>
                  <a:lnTo>
                    <a:pt x="133" y="211"/>
                  </a:lnTo>
                  <a:lnTo>
                    <a:pt x="127" y="219"/>
                  </a:lnTo>
                  <a:lnTo>
                    <a:pt x="123" y="228"/>
                  </a:lnTo>
                  <a:lnTo>
                    <a:pt x="119" y="236"/>
                  </a:lnTo>
                  <a:lnTo>
                    <a:pt x="114" y="246"/>
                  </a:lnTo>
                  <a:lnTo>
                    <a:pt x="110" y="253"/>
                  </a:lnTo>
                  <a:lnTo>
                    <a:pt x="106" y="261"/>
                  </a:lnTo>
                  <a:lnTo>
                    <a:pt x="102" y="270"/>
                  </a:lnTo>
                  <a:lnTo>
                    <a:pt x="98" y="278"/>
                  </a:lnTo>
                  <a:lnTo>
                    <a:pt x="93" y="285"/>
                  </a:lnTo>
                  <a:lnTo>
                    <a:pt x="89" y="295"/>
                  </a:lnTo>
                  <a:lnTo>
                    <a:pt x="85" y="303"/>
                  </a:lnTo>
                  <a:lnTo>
                    <a:pt x="81" y="310"/>
                  </a:lnTo>
                  <a:lnTo>
                    <a:pt x="78" y="318"/>
                  </a:lnTo>
                  <a:lnTo>
                    <a:pt x="74" y="325"/>
                  </a:lnTo>
                  <a:lnTo>
                    <a:pt x="70" y="333"/>
                  </a:lnTo>
                  <a:lnTo>
                    <a:pt x="68" y="342"/>
                  </a:lnTo>
                  <a:lnTo>
                    <a:pt x="62" y="348"/>
                  </a:lnTo>
                  <a:lnTo>
                    <a:pt x="59" y="356"/>
                  </a:lnTo>
                  <a:lnTo>
                    <a:pt x="55" y="363"/>
                  </a:lnTo>
                  <a:lnTo>
                    <a:pt x="53" y="371"/>
                  </a:lnTo>
                  <a:lnTo>
                    <a:pt x="49" y="377"/>
                  </a:lnTo>
                  <a:lnTo>
                    <a:pt x="45" y="384"/>
                  </a:lnTo>
                  <a:lnTo>
                    <a:pt x="43" y="392"/>
                  </a:lnTo>
                  <a:lnTo>
                    <a:pt x="40" y="400"/>
                  </a:lnTo>
                  <a:lnTo>
                    <a:pt x="38" y="405"/>
                  </a:lnTo>
                  <a:lnTo>
                    <a:pt x="34" y="413"/>
                  </a:lnTo>
                  <a:lnTo>
                    <a:pt x="32" y="420"/>
                  </a:lnTo>
                  <a:lnTo>
                    <a:pt x="28" y="428"/>
                  </a:lnTo>
                  <a:lnTo>
                    <a:pt x="26" y="434"/>
                  </a:lnTo>
                  <a:lnTo>
                    <a:pt x="24" y="441"/>
                  </a:lnTo>
                  <a:lnTo>
                    <a:pt x="21" y="447"/>
                  </a:lnTo>
                  <a:lnTo>
                    <a:pt x="19" y="455"/>
                  </a:lnTo>
                  <a:close/>
                </a:path>
              </a:pathLst>
            </a:custGeom>
            <a:solidFill>
              <a:srgbClr val="00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48" name="Freeform 47"/>
            <p:cNvSpPr>
              <a:spLocks/>
            </p:cNvSpPr>
            <p:nvPr/>
          </p:nvSpPr>
          <p:spPr bwMode="auto">
            <a:xfrm>
              <a:off x="5417" y="3863"/>
              <a:ext cx="73" cy="77"/>
            </a:xfrm>
            <a:custGeom>
              <a:avLst/>
              <a:gdLst>
                <a:gd name="T0" fmla="*/ 1 w 146"/>
                <a:gd name="T1" fmla="*/ 0 h 154"/>
                <a:gd name="T2" fmla="*/ 1 w 146"/>
                <a:gd name="T3" fmla="*/ 1 h 154"/>
                <a:gd name="T4" fmla="*/ 1 w 146"/>
                <a:gd name="T5" fmla="*/ 1 h 154"/>
                <a:gd name="T6" fmla="*/ 1 w 146"/>
                <a:gd name="T7" fmla="*/ 1 h 154"/>
                <a:gd name="T8" fmla="*/ 1 w 146"/>
                <a:gd name="T9" fmla="*/ 1 h 154"/>
                <a:gd name="T10" fmla="*/ 1 w 146"/>
                <a:gd name="T11" fmla="*/ 1 h 154"/>
                <a:gd name="T12" fmla="*/ 1 w 146"/>
                <a:gd name="T13" fmla="*/ 1 h 154"/>
                <a:gd name="T14" fmla="*/ 1 w 146"/>
                <a:gd name="T15" fmla="*/ 1 h 154"/>
                <a:gd name="T16" fmla="*/ 1 w 146"/>
                <a:gd name="T17" fmla="*/ 1 h 154"/>
                <a:gd name="T18" fmla="*/ 1 w 146"/>
                <a:gd name="T19" fmla="*/ 1 h 154"/>
                <a:gd name="T20" fmla="*/ 1 w 146"/>
                <a:gd name="T21" fmla="*/ 1 h 154"/>
                <a:gd name="T22" fmla="*/ 1 w 146"/>
                <a:gd name="T23" fmla="*/ 1 h 154"/>
                <a:gd name="T24" fmla="*/ 1 w 146"/>
                <a:gd name="T25" fmla="*/ 1 h 154"/>
                <a:gd name="T26" fmla="*/ 1 w 146"/>
                <a:gd name="T27" fmla="*/ 1 h 154"/>
                <a:gd name="T28" fmla="*/ 1 w 146"/>
                <a:gd name="T29" fmla="*/ 1 h 154"/>
                <a:gd name="T30" fmla="*/ 1 w 146"/>
                <a:gd name="T31" fmla="*/ 1 h 154"/>
                <a:gd name="T32" fmla="*/ 1 w 146"/>
                <a:gd name="T33" fmla="*/ 1 h 154"/>
                <a:gd name="T34" fmla="*/ 1 w 146"/>
                <a:gd name="T35" fmla="*/ 1 h 154"/>
                <a:gd name="T36" fmla="*/ 1 w 146"/>
                <a:gd name="T37" fmla="*/ 1 h 154"/>
                <a:gd name="T38" fmla="*/ 1 w 146"/>
                <a:gd name="T39" fmla="*/ 1 h 154"/>
                <a:gd name="T40" fmla="*/ 1 w 146"/>
                <a:gd name="T41" fmla="*/ 1 h 154"/>
                <a:gd name="T42" fmla="*/ 1 w 146"/>
                <a:gd name="T43" fmla="*/ 1 h 154"/>
                <a:gd name="T44" fmla="*/ 1 w 146"/>
                <a:gd name="T45" fmla="*/ 1 h 154"/>
                <a:gd name="T46" fmla="*/ 0 w 146"/>
                <a:gd name="T47" fmla="*/ 1 h 154"/>
                <a:gd name="T48" fmla="*/ 0 w 146"/>
                <a:gd name="T49" fmla="*/ 1 h 154"/>
                <a:gd name="T50" fmla="*/ 1 w 146"/>
                <a:gd name="T51" fmla="*/ 1 h 154"/>
                <a:gd name="T52" fmla="*/ 1 w 146"/>
                <a:gd name="T53" fmla="*/ 1 h 154"/>
                <a:gd name="T54" fmla="*/ 1 w 146"/>
                <a:gd name="T55" fmla="*/ 1 h 154"/>
                <a:gd name="T56" fmla="*/ 1 w 146"/>
                <a:gd name="T57" fmla="*/ 1 h 154"/>
                <a:gd name="T58" fmla="*/ 1 w 146"/>
                <a:gd name="T59" fmla="*/ 1 h 154"/>
                <a:gd name="T60" fmla="*/ 1 w 146"/>
                <a:gd name="T61" fmla="*/ 1 h 154"/>
                <a:gd name="T62" fmla="*/ 1 w 146"/>
                <a:gd name="T63" fmla="*/ 0 h 154"/>
                <a:gd name="T64" fmla="*/ 1 w 146"/>
                <a:gd name="T65" fmla="*/ 0 h 15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46" h="154">
                  <a:moveTo>
                    <a:pt x="74" y="0"/>
                  </a:moveTo>
                  <a:lnTo>
                    <a:pt x="80" y="0"/>
                  </a:lnTo>
                  <a:lnTo>
                    <a:pt x="87" y="2"/>
                  </a:lnTo>
                  <a:lnTo>
                    <a:pt x="93" y="2"/>
                  </a:lnTo>
                  <a:lnTo>
                    <a:pt x="101" y="6"/>
                  </a:lnTo>
                  <a:lnTo>
                    <a:pt x="106" y="8"/>
                  </a:lnTo>
                  <a:lnTo>
                    <a:pt x="112" y="12"/>
                  </a:lnTo>
                  <a:lnTo>
                    <a:pt x="118" y="16"/>
                  </a:lnTo>
                  <a:lnTo>
                    <a:pt x="125" y="23"/>
                  </a:lnTo>
                  <a:lnTo>
                    <a:pt x="129" y="29"/>
                  </a:lnTo>
                  <a:lnTo>
                    <a:pt x="133" y="35"/>
                  </a:lnTo>
                  <a:lnTo>
                    <a:pt x="137" y="40"/>
                  </a:lnTo>
                  <a:lnTo>
                    <a:pt x="140" y="48"/>
                  </a:lnTo>
                  <a:lnTo>
                    <a:pt x="142" y="54"/>
                  </a:lnTo>
                  <a:lnTo>
                    <a:pt x="144" y="61"/>
                  </a:lnTo>
                  <a:lnTo>
                    <a:pt x="146" y="67"/>
                  </a:lnTo>
                  <a:lnTo>
                    <a:pt x="146" y="76"/>
                  </a:lnTo>
                  <a:lnTo>
                    <a:pt x="146" y="84"/>
                  </a:lnTo>
                  <a:lnTo>
                    <a:pt x="144" y="92"/>
                  </a:lnTo>
                  <a:lnTo>
                    <a:pt x="142" y="99"/>
                  </a:lnTo>
                  <a:lnTo>
                    <a:pt x="140" y="107"/>
                  </a:lnTo>
                  <a:lnTo>
                    <a:pt x="137" y="113"/>
                  </a:lnTo>
                  <a:lnTo>
                    <a:pt x="133" y="118"/>
                  </a:lnTo>
                  <a:lnTo>
                    <a:pt x="129" y="124"/>
                  </a:lnTo>
                  <a:lnTo>
                    <a:pt x="125" y="132"/>
                  </a:lnTo>
                  <a:lnTo>
                    <a:pt x="118" y="135"/>
                  </a:lnTo>
                  <a:lnTo>
                    <a:pt x="112" y="139"/>
                  </a:lnTo>
                  <a:lnTo>
                    <a:pt x="106" y="143"/>
                  </a:lnTo>
                  <a:lnTo>
                    <a:pt x="101" y="147"/>
                  </a:lnTo>
                  <a:lnTo>
                    <a:pt x="93" y="149"/>
                  </a:lnTo>
                  <a:lnTo>
                    <a:pt x="87" y="152"/>
                  </a:lnTo>
                  <a:lnTo>
                    <a:pt x="80" y="152"/>
                  </a:lnTo>
                  <a:lnTo>
                    <a:pt x="74" y="154"/>
                  </a:lnTo>
                  <a:lnTo>
                    <a:pt x="64" y="152"/>
                  </a:lnTo>
                  <a:lnTo>
                    <a:pt x="57" y="152"/>
                  </a:lnTo>
                  <a:lnTo>
                    <a:pt x="49" y="149"/>
                  </a:lnTo>
                  <a:lnTo>
                    <a:pt x="43" y="147"/>
                  </a:lnTo>
                  <a:lnTo>
                    <a:pt x="38" y="143"/>
                  </a:lnTo>
                  <a:lnTo>
                    <a:pt x="32" y="139"/>
                  </a:lnTo>
                  <a:lnTo>
                    <a:pt x="26" y="135"/>
                  </a:lnTo>
                  <a:lnTo>
                    <a:pt x="21" y="132"/>
                  </a:lnTo>
                  <a:lnTo>
                    <a:pt x="15" y="124"/>
                  </a:lnTo>
                  <a:lnTo>
                    <a:pt x="11" y="118"/>
                  </a:lnTo>
                  <a:lnTo>
                    <a:pt x="7" y="113"/>
                  </a:lnTo>
                  <a:lnTo>
                    <a:pt x="5" y="107"/>
                  </a:lnTo>
                  <a:lnTo>
                    <a:pt x="2" y="99"/>
                  </a:lnTo>
                  <a:lnTo>
                    <a:pt x="2" y="92"/>
                  </a:lnTo>
                  <a:lnTo>
                    <a:pt x="0" y="84"/>
                  </a:lnTo>
                  <a:lnTo>
                    <a:pt x="0" y="76"/>
                  </a:lnTo>
                  <a:lnTo>
                    <a:pt x="0" y="67"/>
                  </a:lnTo>
                  <a:lnTo>
                    <a:pt x="2" y="61"/>
                  </a:lnTo>
                  <a:lnTo>
                    <a:pt x="2" y="54"/>
                  </a:lnTo>
                  <a:lnTo>
                    <a:pt x="5" y="48"/>
                  </a:lnTo>
                  <a:lnTo>
                    <a:pt x="7" y="40"/>
                  </a:lnTo>
                  <a:lnTo>
                    <a:pt x="11" y="35"/>
                  </a:lnTo>
                  <a:lnTo>
                    <a:pt x="15" y="29"/>
                  </a:lnTo>
                  <a:lnTo>
                    <a:pt x="21" y="23"/>
                  </a:lnTo>
                  <a:lnTo>
                    <a:pt x="26" y="16"/>
                  </a:lnTo>
                  <a:lnTo>
                    <a:pt x="32" y="12"/>
                  </a:lnTo>
                  <a:lnTo>
                    <a:pt x="38" y="8"/>
                  </a:lnTo>
                  <a:lnTo>
                    <a:pt x="43" y="6"/>
                  </a:lnTo>
                  <a:lnTo>
                    <a:pt x="49" y="2"/>
                  </a:lnTo>
                  <a:lnTo>
                    <a:pt x="57" y="2"/>
                  </a:lnTo>
                  <a:lnTo>
                    <a:pt x="64" y="0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00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49" name="Freeform 48"/>
            <p:cNvSpPr>
              <a:spLocks/>
            </p:cNvSpPr>
            <p:nvPr/>
          </p:nvSpPr>
          <p:spPr bwMode="auto">
            <a:xfrm>
              <a:off x="5581" y="3803"/>
              <a:ext cx="117" cy="73"/>
            </a:xfrm>
            <a:custGeom>
              <a:avLst/>
              <a:gdLst>
                <a:gd name="T0" fmla="*/ 0 w 233"/>
                <a:gd name="T1" fmla="*/ 1 h 144"/>
                <a:gd name="T2" fmla="*/ 1 w 233"/>
                <a:gd name="T3" fmla="*/ 1 h 144"/>
                <a:gd name="T4" fmla="*/ 1 w 233"/>
                <a:gd name="T5" fmla="*/ 1 h 144"/>
                <a:gd name="T6" fmla="*/ 1 w 233"/>
                <a:gd name="T7" fmla="*/ 1 h 144"/>
                <a:gd name="T8" fmla="*/ 1 w 233"/>
                <a:gd name="T9" fmla="*/ 1 h 144"/>
                <a:gd name="T10" fmla="*/ 1 w 233"/>
                <a:gd name="T11" fmla="*/ 1 h 144"/>
                <a:gd name="T12" fmla="*/ 1 w 233"/>
                <a:gd name="T13" fmla="*/ 1 h 144"/>
                <a:gd name="T14" fmla="*/ 1 w 233"/>
                <a:gd name="T15" fmla="*/ 1 h 144"/>
                <a:gd name="T16" fmla="*/ 1 w 233"/>
                <a:gd name="T17" fmla="*/ 1 h 144"/>
                <a:gd name="T18" fmla="*/ 1 w 233"/>
                <a:gd name="T19" fmla="*/ 1 h 144"/>
                <a:gd name="T20" fmla="*/ 1 w 233"/>
                <a:gd name="T21" fmla="*/ 1 h 144"/>
                <a:gd name="T22" fmla="*/ 1 w 233"/>
                <a:gd name="T23" fmla="*/ 1 h 144"/>
                <a:gd name="T24" fmla="*/ 1 w 233"/>
                <a:gd name="T25" fmla="*/ 1 h 144"/>
                <a:gd name="T26" fmla="*/ 1 w 233"/>
                <a:gd name="T27" fmla="*/ 1 h 144"/>
                <a:gd name="T28" fmla="*/ 1 w 233"/>
                <a:gd name="T29" fmla="*/ 1 h 144"/>
                <a:gd name="T30" fmla="*/ 1 w 233"/>
                <a:gd name="T31" fmla="*/ 0 h 144"/>
                <a:gd name="T32" fmla="*/ 1 w 233"/>
                <a:gd name="T33" fmla="*/ 1 h 144"/>
                <a:gd name="T34" fmla="*/ 1 w 233"/>
                <a:gd name="T35" fmla="*/ 1 h 144"/>
                <a:gd name="T36" fmla="*/ 1 w 233"/>
                <a:gd name="T37" fmla="*/ 1 h 144"/>
                <a:gd name="T38" fmla="*/ 1 w 233"/>
                <a:gd name="T39" fmla="*/ 1 h 144"/>
                <a:gd name="T40" fmla="*/ 1 w 233"/>
                <a:gd name="T41" fmla="*/ 1 h 144"/>
                <a:gd name="T42" fmla="*/ 1 w 233"/>
                <a:gd name="T43" fmla="*/ 1 h 144"/>
                <a:gd name="T44" fmla="*/ 1 w 233"/>
                <a:gd name="T45" fmla="*/ 1 h 144"/>
                <a:gd name="T46" fmla="*/ 1 w 233"/>
                <a:gd name="T47" fmla="*/ 1 h 144"/>
                <a:gd name="T48" fmla="*/ 1 w 233"/>
                <a:gd name="T49" fmla="*/ 1 h 144"/>
                <a:gd name="T50" fmla="*/ 1 w 233"/>
                <a:gd name="T51" fmla="*/ 1 h 144"/>
                <a:gd name="T52" fmla="*/ 1 w 233"/>
                <a:gd name="T53" fmla="*/ 1 h 144"/>
                <a:gd name="T54" fmla="*/ 1 w 233"/>
                <a:gd name="T55" fmla="*/ 1 h 144"/>
                <a:gd name="T56" fmla="*/ 1 w 233"/>
                <a:gd name="T57" fmla="*/ 1 h 144"/>
                <a:gd name="T58" fmla="*/ 1 w 233"/>
                <a:gd name="T59" fmla="*/ 1 h 144"/>
                <a:gd name="T60" fmla="*/ 1 w 233"/>
                <a:gd name="T61" fmla="*/ 1 h 144"/>
                <a:gd name="T62" fmla="*/ 1 w 233"/>
                <a:gd name="T63" fmla="*/ 1 h 144"/>
                <a:gd name="T64" fmla="*/ 1 w 233"/>
                <a:gd name="T65" fmla="*/ 1 h 144"/>
                <a:gd name="T66" fmla="*/ 1 w 233"/>
                <a:gd name="T67" fmla="*/ 1 h 144"/>
                <a:gd name="T68" fmla="*/ 1 w 233"/>
                <a:gd name="T69" fmla="*/ 1 h 144"/>
                <a:gd name="T70" fmla="*/ 1 w 233"/>
                <a:gd name="T71" fmla="*/ 1 h 144"/>
                <a:gd name="T72" fmla="*/ 1 w 233"/>
                <a:gd name="T73" fmla="*/ 1 h 144"/>
                <a:gd name="T74" fmla="*/ 1 w 233"/>
                <a:gd name="T75" fmla="*/ 1 h 144"/>
                <a:gd name="T76" fmla="*/ 1 w 233"/>
                <a:gd name="T77" fmla="*/ 1 h 14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233" h="144">
                  <a:moveTo>
                    <a:pt x="9" y="144"/>
                  </a:moveTo>
                  <a:lnTo>
                    <a:pt x="0" y="137"/>
                  </a:lnTo>
                  <a:lnTo>
                    <a:pt x="5" y="131"/>
                  </a:lnTo>
                  <a:lnTo>
                    <a:pt x="13" y="127"/>
                  </a:lnTo>
                  <a:lnTo>
                    <a:pt x="21" y="121"/>
                  </a:lnTo>
                  <a:lnTo>
                    <a:pt x="26" y="118"/>
                  </a:lnTo>
                  <a:lnTo>
                    <a:pt x="32" y="112"/>
                  </a:lnTo>
                  <a:lnTo>
                    <a:pt x="40" y="106"/>
                  </a:lnTo>
                  <a:lnTo>
                    <a:pt x="47" y="102"/>
                  </a:lnTo>
                  <a:lnTo>
                    <a:pt x="53" y="97"/>
                  </a:lnTo>
                  <a:lnTo>
                    <a:pt x="59" y="91"/>
                  </a:lnTo>
                  <a:lnTo>
                    <a:pt x="66" y="85"/>
                  </a:lnTo>
                  <a:lnTo>
                    <a:pt x="72" y="80"/>
                  </a:lnTo>
                  <a:lnTo>
                    <a:pt x="79" y="76"/>
                  </a:lnTo>
                  <a:lnTo>
                    <a:pt x="85" y="70"/>
                  </a:lnTo>
                  <a:lnTo>
                    <a:pt x="93" y="66"/>
                  </a:lnTo>
                  <a:lnTo>
                    <a:pt x="98" y="61"/>
                  </a:lnTo>
                  <a:lnTo>
                    <a:pt x="104" y="57"/>
                  </a:lnTo>
                  <a:lnTo>
                    <a:pt x="110" y="49"/>
                  </a:lnTo>
                  <a:lnTo>
                    <a:pt x="117" y="43"/>
                  </a:lnTo>
                  <a:lnTo>
                    <a:pt x="123" y="38"/>
                  </a:lnTo>
                  <a:lnTo>
                    <a:pt x="129" y="34"/>
                  </a:lnTo>
                  <a:lnTo>
                    <a:pt x="133" y="28"/>
                  </a:lnTo>
                  <a:lnTo>
                    <a:pt x="138" y="26"/>
                  </a:lnTo>
                  <a:lnTo>
                    <a:pt x="144" y="23"/>
                  </a:lnTo>
                  <a:lnTo>
                    <a:pt x="150" y="19"/>
                  </a:lnTo>
                  <a:lnTo>
                    <a:pt x="157" y="13"/>
                  </a:lnTo>
                  <a:lnTo>
                    <a:pt x="167" y="7"/>
                  </a:lnTo>
                  <a:lnTo>
                    <a:pt x="175" y="3"/>
                  </a:lnTo>
                  <a:lnTo>
                    <a:pt x="182" y="2"/>
                  </a:lnTo>
                  <a:lnTo>
                    <a:pt x="188" y="0"/>
                  </a:lnTo>
                  <a:lnTo>
                    <a:pt x="194" y="0"/>
                  </a:lnTo>
                  <a:lnTo>
                    <a:pt x="199" y="0"/>
                  </a:lnTo>
                  <a:lnTo>
                    <a:pt x="205" y="2"/>
                  </a:lnTo>
                  <a:lnTo>
                    <a:pt x="214" y="5"/>
                  </a:lnTo>
                  <a:lnTo>
                    <a:pt x="224" y="13"/>
                  </a:lnTo>
                  <a:lnTo>
                    <a:pt x="228" y="17"/>
                  </a:lnTo>
                  <a:lnTo>
                    <a:pt x="232" y="23"/>
                  </a:lnTo>
                  <a:lnTo>
                    <a:pt x="232" y="28"/>
                  </a:lnTo>
                  <a:lnTo>
                    <a:pt x="233" y="36"/>
                  </a:lnTo>
                  <a:lnTo>
                    <a:pt x="233" y="42"/>
                  </a:lnTo>
                  <a:lnTo>
                    <a:pt x="232" y="47"/>
                  </a:lnTo>
                  <a:lnTo>
                    <a:pt x="230" y="53"/>
                  </a:lnTo>
                  <a:lnTo>
                    <a:pt x="228" y="57"/>
                  </a:lnTo>
                  <a:lnTo>
                    <a:pt x="222" y="62"/>
                  </a:lnTo>
                  <a:lnTo>
                    <a:pt x="216" y="66"/>
                  </a:lnTo>
                  <a:lnTo>
                    <a:pt x="211" y="70"/>
                  </a:lnTo>
                  <a:lnTo>
                    <a:pt x="207" y="74"/>
                  </a:lnTo>
                  <a:lnTo>
                    <a:pt x="201" y="74"/>
                  </a:lnTo>
                  <a:lnTo>
                    <a:pt x="197" y="76"/>
                  </a:lnTo>
                  <a:lnTo>
                    <a:pt x="192" y="80"/>
                  </a:lnTo>
                  <a:lnTo>
                    <a:pt x="184" y="81"/>
                  </a:lnTo>
                  <a:lnTo>
                    <a:pt x="180" y="81"/>
                  </a:lnTo>
                  <a:lnTo>
                    <a:pt x="175" y="83"/>
                  </a:lnTo>
                  <a:lnTo>
                    <a:pt x="171" y="83"/>
                  </a:lnTo>
                  <a:lnTo>
                    <a:pt x="167" y="85"/>
                  </a:lnTo>
                  <a:lnTo>
                    <a:pt x="161" y="87"/>
                  </a:lnTo>
                  <a:lnTo>
                    <a:pt x="155" y="89"/>
                  </a:lnTo>
                  <a:lnTo>
                    <a:pt x="150" y="91"/>
                  </a:lnTo>
                  <a:lnTo>
                    <a:pt x="144" y="93"/>
                  </a:lnTo>
                  <a:lnTo>
                    <a:pt x="138" y="95"/>
                  </a:lnTo>
                  <a:lnTo>
                    <a:pt x="133" y="97"/>
                  </a:lnTo>
                  <a:lnTo>
                    <a:pt x="129" y="97"/>
                  </a:lnTo>
                  <a:lnTo>
                    <a:pt x="125" y="99"/>
                  </a:lnTo>
                  <a:lnTo>
                    <a:pt x="114" y="102"/>
                  </a:lnTo>
                  <a:lnTo>
                    <a:pt x="106" y="106"/>
                  </a:lnTo>
                  <a:lnTo>
                    <a:pt x="97" y="108"/>
                  </a:lnTo>
                  <a:lnTo>
                    <a:pt x="87" y="112"/>
                  </a:lnTo>
                  <a:lnTo>
                    <a:pt x="78" y="116"/>
                  </a:lnTo>
                  <a:lnTo>
                    <a:pt x="70" y="119"/>
                  </a:lnTo>
                  <a:lnTo>
                    <a:pt x="60" y="121"/>
                  </a:lnTo>
                  <a:lnTo>
                    <a:pt x="53" y="125"/>
                  </a:lnTo>
                  <a:lnTo>
                    <a:pt x="45" y="129"/>
                  </a:lnTo>
                  <a:lnTo>
                    <a:pt x="38" y="131"/>
                  </a:lnTo>
                  <a:lnTo>
                    <a:pt x="28" y="135"/>
                  </a:lnTo>
                  <a:lnTo>
                    <a:pt x="22" y="138"/>
                  </a:lnTo>
                  <a:lnTo>
                    <a:pt x="15" y="140"/>
                  </a:lnTo>
                  <a:lnTo>
                    <a:pt x="9" y="144"/>
                  </a:lnTo>
                  <a:close/>
                </a:path>
              </a:pathLst>
            </a:custGeom>
            <a:solidFill>
              <a:srgbClr val="00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  <p:sp>
          <p:nvSpPr>
            <p:cNvPr id="50" name="Freeform 49"/>
            <p:cNvSpPr>
              <a:spLocks/>
            </p:cNvSpPr>
            <p:nvPr/>
          </p:nvSpPr>
          <p:spPr bwMode="auto">
            <a:xfrm>
              <a:off x="5536" y="3869"/>
              <a:ext cx="40" cy="42"/>
            </a:xfrm>
            <a:custGeom>
              <a:avLst/>
              <a:gdLst>
                <a:gd name="T0" fmla="*/ 1 w 80"/>
                <a:gd name="T1" fmla="*/ 1 h 83"/>
                <a:gd name="T2" fmla="*/ 1 w 80"/>
                <a:gd name="T3" fmla="*/ 1 h 83"/>
                <a:gd name="T4" fmla="*/ 1 w 80"/>
                <a:gd name="T5" fmla="*/ 1 h 83"/>
                <a:gd name="T6" fmla="*/ 1 w 80"/>
                <a:gd name="T7" fmla="*/ 1 h 83"/>
                <a:gd name="T8" fmla="*/ 1 w 80"/>
                <a:gd name="T9" fmla="*/ 1 h 83"/>
                <a:gd name="T10" fmla="*/ 1 w 80"/>
                <a:gd name="T11" fmla="*/ 1 h 83"/>
                <a:gd name="T12" fmla="*/ 1 w 80"/>
                <a:gd name="T13" fmla="*/ 1 h 83"/>
                <a:gd name="T14" fmla="*/ 1 w 80"/>
                <a:gd name="T15" fmla="*/ 1 h 83"/>
                <a:gd name="T16" fmla="*/ 1 w 80"/>
                <a:gd name="T17" fmla="*/ 1 h 83"/>
                <a:gd name="T18" fmla="*/ 1 w 80"/>
                <a:gd name="T19" fmla="*/ 1 h 83"/>
                <a:gd name="T20" fmla="*/ 1 w 80"/>
                <a:gd name="T21" fmla="*/ 1 h 83"/>
                <a:gd name="T22" fmla="*/ 1 w 80"/>
                <a:gd name="T23" fmla="*/ 1 h 83"/>
                <a:gd name="T24" fmla="*/ 1 w 80"/>
                <a:gd name="T25" fmla="*/ 1 h 83"/>
                <a:gd name="T26" fmla="*/ 1 w 80"/>
                <a:gd name="T27" fmla="*/ 1 h 83"/>
                <a:gd name="T28" fmla="*/ 1 w 80"/>
                <a:gd name="T29" fmla="*/ 1 h 83"/>
                <a:gd name="T30" fmla="*/ 1 w 80"/>
                <a:gd name="T31" fmla="*/ 1 h 83"/>
                <a:gd name="T32" fmla="*/ 1 w 80"/>
                <a:gd name="T33" fmla="*/ 1 h 83"/>
                <a:gd name="T34" fmla="*/ 1 w 80"/>
                <a:gd name="T35" fmla="*/ 1 h 83"/>
                <a:gd name="T36" fmla="*/ 1 w 80"/>
                <a:gd name="T37" fmla="*/ 1 h 83"/>
                <a:gd name="T38" fmla="*/ 0 w 80"/>
                <a:gd name="T39" fmla="*/ 1 h 83"/>
                <a:gd name="T40" fmla="*/ 0 w 80"/>
                <a:gd name="T41" fmla="*/ 1 h 83"/>
                <a:gd name="T42" fmla="*/ 0 w 80"/>
                <a:gd name="T43" fmla="*/ 1 h 83"/>
                <a:gd name="T44" fmla="*/ 1 w 80"/>
                <a:gd name="T45" fmla="*/ 1 h 83"/>
                <a:gd name="T46" fmla="*/ 1 w 80"/>
                <a:gd name="T47" fmla="*/ 1 h 83"/>
                <a:gd name="T48" fmla="*/ 1 w 80"/>
                <a:gd name="T49" fmla="*/ 1 h 83"/>
                <a:gd name="T50" fmla="*/ 1 w 80"/>
                <a:gd name="T51" fmla="*/ 1 h 83"/>
                <a:gd name="T52" fmla="*/ 1 w 80"/>
                <a:gd name="T53" fmla="*/ 1 h 83"/>
                <a:gd name="T54" fmla="*/ 1 w 80"/>
                <a:gd name="T55" fmla="*/ 0 h 83"/>
                <a:gd name="T56" fmla="*/ 1 w 80"/>
                <a:gd name="T57" fmla="*/ 0 h 83"/>
                <a:gd name="T58" fmla="*/ 1 w 80"/>
                <a:gd name="T59" fmla="*/ 0 h 83"/>
                <a:gd name="T60" fmla="*/ 1 w 80"/>
                <a:gd name="T61" fmla="*/ 1 h 83"/>
                <a:gd name="T62" fmla="*/ 1 w 80"/>
                <a:gd name="T63" fmla="*/ 1 h 83"/>
                <a:gd name="T64" fmla="*/ 1 w 80"/>
                <a:gd name="T65" fmla="*/ 1 h 83"/>
                <a:gd name="T66" fmla="*/ 1 w 80"/>
                <a:gd name="T67" fmla="*/ 1 h 8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80" h="83">
                  <a:moveTo>
                    <a:pt x="69" y="13"/>
                  </a:moveTo>
                  <a:lnTo>
                    <a:pt x="73" y="19"/>
                  </a:lnTo>
                  <a:lnTo>
                    <a:pt x="76" y="26"/>
                  </a:lnTo>
                  <a:lnTo>
                    <a:pt x="78" y="34"/>
                  </a:lnTo>
                  <a:lnTo>
                    <a:pt x="80" y="42"/>
                  </a:lnTo>
                  <a:lnTo>
                    <a:pt x="78" y="49"/>
                  </a:lnTo>
                  <a:lnTo>
                    <a:pt x="76" y="57"/>
                  </a:lnTo>
                  <a:lnTo>
                    <a:pt x="75" y="64"/>
                  </a:lnTo>
                  <a:lnTo>
                    <a:pt x="69" y="74"/>
                  </a:lnTo>
                  <a:lnTo>
                    <a:pt x="63" y="78"/>
                  </a:lnTo>
                  <a:lnTo>
                    <a:pt x="56" y="80"/>
                  </a:lnTo>
                  <a:lnTo>
                    <a:pt x="48" y="82"/>
                  </a:lnTo>
                  <a:lnTo>
                    <a:pt x="40" y="83"/>
                  </a:lnTo>
                  <a:lnTo>
                    <a:pt x="31" y="83"/>
                  </a:lnTo>
                  <a:lnTo>
                    <a:pt x="23" y="82"/>
                  </a:lnTo>
                  <a:lnTo>
                    <a:pt x="17" y="78"/>
                  </a:lnTo>
                  <a:lnTo>
                    <a:pt x="12" y="74"/>
                  </a:lnTo>
                  <a:lnTo>
                    <a:pt x="6" y="66"/>
                  </a:lnTo>
                  <a:lnTo>
                    <a:pt x="2" y="59"/>
                  </a:lnTo>
                  <a:lnTo>
                    <a:pt x="0" y="51"/>
                  </a:lnTo>
                  <a:lnTo>
                    <a:pt x="0" y="44"/>
                  </a:lnTo>
                  <a:lnTo>
                    <a:pt x="0" y="36"/>
                  </a:lnTo>
                  <a:lnTo>
                    <a:pt x="2" y="26"/>
                  </a:lnTo>
                  <a:lnTo>
                    <a:pt x="4" y="19"/>
                  </a:lnTo>
                  <a:lnTo>
                    <a:pt x="12" y="13"/>
                  </a:lnTo>
                  <a:lnTo>
                    <a:pt x="16" y="7"/>
                  </a:lnTo>
                  <a:lnTo>
                    <a:pt x="23" y="4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48" y="0"/>
                  </a:lnTo>
                  <a:lnTo>
                    <a:pt x="56" y="2"/>
                  </a:lnTo>
                  <a:lnTo>
                    <a:pt x="61" y="7"/>
                  </a:lnTo>
                  <a:lnTo>
                    <a:pt x="69" y="13"/>
                  </a:lnTo>
                  <a:close/>
                </a:path>
              </a:pathLst>
            </a:custGeom>
            <a:solidFill>
              <a:srgbClr val="000000">
                <a:alpha val="2509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3029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7100" y="130057"/>
            <a:ext cx="5115161" cy="624725"/>
          </a:xfrm>
          <a:prstGeom prst="rect">
            <a:avLst/>
          </a:prstGeom>
        </p:spPr>
        <p:txBody>
          <a:bodyPr/>
          <a:lstStyle>
            <a:lvl1pPr algn="l">
              <a:defRPr sz="4400" baseline="0">
                <a:latin typeface="Fujitsu Sans" panose="020B0404060202020204" pitchFamily="34" charset="0"/>
              </a:defRPr>
            </a:lvl1pPr>
          </a:lstStyle>
          <a:p>
            <a:r>
              <a:rPr lang="en-US" dirty="0"/>
              <a:t>Unit x, # 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700" y="1081669"/>
            <a:ext cx="12827000" cy="5880066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Fujitsu Sans" panose="020B0404060202020204" pitchFamily="34" charset="0"/>
              </a:defRPr>
            </a:lvl1pPr>
            <a:lvl2pPr>
              <a:defRPr sz="3200">
                <a:latin typeface="Fujitsu Sans" panose="020B0404060202020204" pitchFamily="34" charset="0"/>
              </a:defRPr>
            </a:lvl2pPr>
            <a:lvl3pPr>
              <a:defRPr sz="2800">
                <a:latin typeface="Fujitsu Sans" panose="020B0404060202020204" pitchFamily="34" charset="0"/>
              </a:defRPr>
            </a:lvl3pPr>
            <a:lvl4pPr>
              <a:defRPr sz="2800">
                <a:latin typeface="Fujitsu Sans" panose="020B0404060202020204" pitchFamily="34" charset="0"/>
              </a:defRPr>
            </a:lvl4pPr>
            <a:lvl5pPr>
              <a:defRPr sz="2800">
                <a:latin typeface="Fujitsu Sans" panose="020B040406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4532" y="-82186"/>
            <a:ext cx="6836049" cy="115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2555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s and 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1635" y="5908238"/>
            <a:ext cx="2144677" cy="1875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9319" y="101482"/>
            <a:ext cx="12177267" cy="624725"/>
          </a:xfrm>
          <a:prstGeom prst="rect">
            <a:avLst/>
          </a:prstGeom>
        </p:spPr>
        <p:txBody>
          <a:bodyPr/>
          <a:lstStyle>
            <a:lvl1pPr algn="l">
              <a:defRPr sz="4400" baseline="0">
                <a:latin typeface="Fujitsu Sans" panose="020B040406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700" y="1081669"/>
            <a:ext cx="12827000" cy="5880066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Fujitsu Sans" panose="020B0404060202020204" pitchFamily="34" charset="0"/>
              </a:defRPr>
            </a:lvl1pPr>
            <a:lvl2pPr>
              <a:defRPr sz="3200">
                <a:latin typeface="Fujitsu Sans" panose="020B0404060202020204" pitchFamily="34" charset="0"/>
              </a:defRPr>
            </a:lvl2pPr>
            <a:lvl3pPr>
              <a:defRPr sz="2800">
                <a:latin typeface="Fujitsu Sans" panose="020B0404060202020204" pitchFamily="34" charset="0"/>
              </a:defRPr>
            </a:lvl3pPr>
            <a:lvl4pPr>
              <a:defRPr sz="2800">
                <a:latin typeface="Fujitsu Sans" panose="020B0404060202020204" pitchFamily="34" charset="0"/>
              </a:defRPr>
            </a:lvl4pPr>
            <a:lvl5pPr>
              <a:defRPr sz="2800">
                <a:latin typeface="Fujitsu Sans" panose="020B040406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31339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ys the S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2070699" y="6063529"/>
            <a:ext cx="1744472" cy="1708871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20701" y="1075808"/>
            <a:ext cx="12827000" cy="5880066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Fujitsu Sans" panose="020B0404060202020204" pitchFamily="34" charset="0"/>
              </a:defRPr>
            </a:lvl1pPr>
            <a:lvl2pPr>
              <a:defRPr sz="3200">
                <a:latin typeface="Fujitsu Sans" panose="020B0404060202020204" pitchFamily="34" charset="0"/>
              </a:defRPr>
            </a:lvl2pPr>
            <a:lvl3pPr>
              <a:defRPr sz="2800">
                <a:latin typeface="Fujitsu Sans" panose="020B0404060202020204" pitchFamily="34" charset="0"/>
              </a:defRPr>
            </a:lvl3pPr>
            <a:lvl4pPr>
              <a:defRPr sz="2800">
                <a:latin typeface="Fujitsu Sans" panose="020B0404060202020204" pitchFamily="34" charset="0"/>
              </a:defRPr>
            </a:lvl4pPr>
            <a:lvl5pPr>
              <a:defRPr sz="2800">
                <a:latin typeface="Fujitsu Sans" panose="020B040406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0701" y="-52754"/>
            <a:ext cx="4925704" cy="100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6074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ps and Tri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MCj03646500000[1]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lum bright="60000" contrast="-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9404" y="5873919"/>
            <a:ext cx="1631325" cy="1898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9319" y="101482"/>
            <a:ext cx="12177267" cy="624725"/>
          </a:xfrm>
          <a:prstGeom prst="rect">
            <a:avLst/>
          </a:prstGeom>
        </p:spPr>
        <p:txBody>
          <a:bodyPr/>
          <a:lstStyle>
            <a:lvl1pPr algn="l">
              <a:defRPr sz="4400" baseline="0">
                <a:latin typeface="Fujitsu Sans" panose="020B0404060202020204" pitchFamily="34" charset="0"/>
              </a:defRPr>
            </a:lvl1pPr>
          </a:lstStyle>
          <a:p>
            <a:r>
              <a:rPr lang="en-US" dirty="0"/>
              <a:t>Tips and Tricks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700" y="1081669"/>
            <a:ext cx="12827000" cy="5880066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Fujitsu Sans" panose="020B0404060202020204" pitchFamily="34" charset="0"/>
              </a:defRPr>
            </a:lvl1pPr>
            <a:lvl2pPr>
              <a:defRPr sz="3200">
                <a:latin typeface="Fujitsu Sans" panose="020B0404060202020204" pitchFamily="34" charset="0"/>
              </a:defRPr>
            </a:lvl2pPr>
            <a:lvl3pPr>
              <a:defRPr sz="2800">
                <a:latin typeface="Fujitsu Sans" panose="020B0404060202020204" pitchFamily="34" charset="0"/>
              </a:defRPr>
            </a:lvl3pPr>
            <a:lvl4pPr>
              <a:defRPr sz="2800">
                <a:latin typeface="Fujitsu Sans" panose="020B0404060202020204" pitchFamily="34" charset="0"/>
              </a:defRPr>
            </a:lvl4pPr>
            <a:lvl5pPr>
              <a:defRPr sz="2800">
                <a:latin typeface="Fujitsu Sans" panose="020B040406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 userDrawn="1"/>
        </p:nvSpPr>
        <p:spPr>
          <a:xfrm rot="20005975">
            <a:off x="4669960" y="3858814"/>
            <a:ext cx="4746997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16398460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lide -Un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198350" y="6124575"/>
            <a:ext cx="1619250" cy="1647825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8270" y="101482"/>
            <a:ext cx="8128316" cy="624725"/>
          </a:xfrm>
          <a:prstGeom prst="rect">
            <a:avLst/>
          </a:prstGeom>
        </p:spPr>
        <p:txBody>
          <a:bodyPr/>
          <a:lstStyle>
            <a:lvl1pPr algn="l">
              <a:defRPr sz="4400">
                <a:latin typeface="Fujitsu Sans" panose="020B0404060202020204" pitchFamily="34" charset="0"/>
              </a:defRPr>
            </a:lvl1pPr>
          </a:lstStyle>
          <a:p>
            <a:r>
              <a:rPr lang="en-US" dirty="0"/>
              <a:t>X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4315" y="0"/>
            <a:ext cx="4153955" cy="963386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20700" y="1081669"/>
            <a:ext cx="12827000" cy="5880066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Fujitsu Sans" panose="020B0404060202020204" pitchFamily="34" charset="0"/>
              </a:defRPr>
            </a:lvl1pPr>
            <a:lvl2pPr>
              <a:defRPr sz="3200">
                <a:latin typeface="Fujitsu Sans" panose="020B0404060202020204" pitchFamily="34" charset="0"/>
              </a:defRPr>
            </a:lvl2pPr>
            <a:lvl3pPr>
              <a:defRPr sz="2800">
                <a:latin typeface="Fujitsu Sans" panose="020B0404060202020204" pitchFamily="34" charset="0"/>
              </a:defRPr>
            </a:lvl3pPr>
            <a:lvl4pPr>
              <a:defRPr sz="2800">
                <a:latin typeface="Fujitsu Sans" panose="020B0404060202020204" pitchFamily="34" charset="0"/>
              </a:defRPr>
            </a:lvl4pPr>
            <a:lvl5pPr>
              <a:defRPr sz="2800">
                <a:latin typeface="Fujitsu Sans" panose="020B040406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06628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lide -- Cou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4" descr="MCTN00715_0000[1]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408945" y="5387937"/>
            <a:ext cx="2400088" cy="2385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20700" y="101482"/>
            <a:ext cx="12185886" cy="624725"/>
          </a:xfrm>
          <a:prstGeom prst="rect">
            <a:avLst/>
          </a:prstGeom>
        </p:spPr>
        <p:txBody>
          <a:bodyPr/>
          <a:lstStyle>
            <a:lvl1pPr algn="l">
              <a:defRPr sz="4400" baseline="0">
                <a:latin typeface="Fujitsu Sans" panose="020B0404060202020204" pitchFamily="34" charset="0"/>
              </a:defRPr>
            </a:lvl1pPr>
          </a:lstStyle>
          <a:p>
            <a:r>
              <a:rPr lang="en-US" dirty="0"/>
              <a:t>Course Summary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20700" y="1081669"/>
            <a:ext cx="12827000" cy="5880066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Fujitsu Sans" panose="020B0404060202020204" pitchFamily="34" charset="0"/>
              </a:defRPr>
            </a:lvl1pPr>
            <a:lvl2pPr>
              <a:defRPr sz="3200">
                <a:latin typeface="Fujitsu Sans" panose="020B0404060202020204" pitchFamily="34" charset="0"/>
              </a:defRPr>
            </a:lvl2pPr>
            <a:lvl3pPr>
              <a:defRPr sz="2800">
                <a:latin typeface="Fujitsu Sans" panose="020B0404060202020204" pitchFamily="34" charset="0"/>
              </a:defRPr>
            </a:lvl3pPr>
            <a:lvl4pPr>
              <a:defRPr sz="2800">
                <a:latin typeface="Fujitsu Sans" panose="020B0404060202020204" pitchFamily="34" charset="0"/>
              </a:defRPr>
            </a:lvl4pPr>
            <a:lvl5pPr>
              <a:defRPr sz="2800">
                <a:latin typeface="Fujitsu Sans" panose="020B040406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86030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&amp; Answ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6463" y="5935365"/>
            <a:ext cx="1431137" cy="18409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0700" y="1106381"/>
            <a:ext cx="13059113" cy="5467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0699" y="-76200"/>
            <a:ext cx="1850449" cy="109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8915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IFF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9DB913-B61D-4E73-9599-3B5D8D0019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26769" y="6012815"/>
            <a:ext cx="2882265" cy="17595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9319" y="101482"/>
            <a:ext cx="12177267" cy="624725"/>
          </a:xfrm>
          <a:prstGeom prst="rect">
            <a:avLst/>
          </a:prstGeom>
        </p:spPr>
        <p:txBody>
          <a:bodyPr/>
          <a:lstStyle>
            <a:lvl1pPr algn="l">
              <a:defRPr sz="4400" baseline="0">
                <a:latin typeface="Fujitsu Sans" panose="020B0404060202020204" pitchFamily="34" charset="0"/>
              </a:defRPr>
            </a:lvl1pPr>
          </a:lstStyle>
          <a:p>
            <a:r>
              <a:rPr lang="en-US" dirty="0"/>
              <a:t>WIIFM – What’s In It For 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700" y="1081669"/>
            <a:ext cx="12827000" cy="5880066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Fujitsu Sans" panose="020B0404060202020204" pitchFamily="34" charset="0"/>
              </a:defRPr>
            </a:lvl1pPr>
            <a:lvl2pPr>
              <a:defRPr sz="3200">
                <a:latin typeface="Fujitsu Sans" panose="020B0404060202020204" pitchFamily="34" charset="0"/>
              </a:defRPr>
            </a:lvl2pPr>
            <a:lvl3pPr>
              <a:defRPr sz="2800">
                <a:latin typeface="Fujitsu Sans" panose="020B0404060202020204" pitchFamily="34" charset="0"/>
              </a:defRPr>
            </a:lvl3pPr>
            <a:lvl4pPr>
              <a:defRPr sz="2800">
                <a:latin typeface="Fujitsu Sans" panose="020B0404060202020204" pitchFamily="34" charset="0"/>
              </a:defRPr>
            </a:lvl4pPr>
            <a:lvl5pPr>
              <a:defRPr sz="2800">
                <a:latin typeface="Fujitsu Sans" panose="020B040406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8511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microsoft.com/office/2007/relationships/hdphoto" Target="../media/hdphoto2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1.xml"/><Relationship Id="rId11" Type="http://schemas.openxmlformats.org/officeDocument/2006/relationships/image" Target="../media/image4.png"/><Relationship Id="rId5" Type="http://schemas.openxmlformats.org/officeDocument/2006/relationships/theme" Target="../theme/theme1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4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ltGray">
          <a:xfrm>
            <a:off x="-2154" y="2"/>
            <a:ext cx="13819753" cy="7775945"/>
          </a:xfrm>
          <a:prstGeom prst="rect">
            <a:avLst/>
          </a:prstGeom>
          <a:solidFill>
            <a:srgbClr val="681A14"/>
          </a:solidFill>
        </p:spPr>
      </p:pic>
      <p:sp>
        <p:nvSpPr>
          <p:cNvPr id="2" name="Rectangle 1"/>
          <p:cNvSpPr/>
          <p:nvPr userDrawn="1"/>
        </p:nvSpPr>
        <p:spPr>
          <a:xfrm>
            <a:off x="623412" y="602646"/>
            <a:ext cx="3758454" cy="4314162"/>
          </a:xfrm>
          <a:prstGeom prst="rect">
            <a:avLst/>
          </a:prstGeom>
          <a:blipFill dpi="0" rotWithShape="1">
            <a:blip r:embed="rId8">
              <a:alphaModFix amt="90000"/>
            </a:blip>
            <a:srcRect/>
            <a:stretch>
              <a:fillRect/>
            </a:stretch>
          </a:blip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4039" dirty="0">
              <a:solidFill>
                <a:schemeClr val="tx1"/>
              </a:solidFill>
            </a:endParaRPr>
          </a:p>
        </p:txBody>
      </p:sp>
      <p:sp>
        <p:nvSpPr>
          <p:cNvPr id="7" name="VCT_Marker_ID_7" hidden="1"/>
          <p:cNvSpPr/>
          <p:nvPr>
            <p:custDataLst>
              <p:tags r:id="rId6"/>
            </p:custDataLst>
          </p:nvPr>
        </p:nvSpPr>
        <p:spPr>
          <a:xfrm>
            <a:off x="1919111" y="143934"/>
            <a:ext cx="191911" cy="1439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39" dirty="0"/>
          </a:p>
        </p:txBody>
      </p:sp>
      <p:sp>
        <p:nvSpPr>
          <p:cNvPr id="19" name="Footer Placeholder 110"/>
          <p:cNvSpPr txBox="1">
            <a:spLocks/>
          </p:cNvSpPr>
          <p:nvPr userDrawn="1"/>
        </p:nvSpPr>
        <p:spPr>
          <a:xfrm>
            <a:off x="12131780" y="7449134"/>
            <a:ext cx="1310520" cy="304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marL="0" algn="r" defTabSz="914400" rtl="0" eaLnBrk="1" fontAlgn="base" latinLnBrk="0" hangingPunct="1">
              <a:defRPr kumimoji="0" lang="de-DE" altLang="ja-JP" sz="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z="1209" dirty="0">
                <a:solidFill>
                  <a:schemeClr val="bg1"/>
                </a:solidFill>
                <a:latin typeface="Fujitsu Sans" panose="020B0404060202020204" pitchFamily="34" charset="0"/>
              </a:rPr>
              <a:t>© 2021 FUJITSU</a:t>
            </a:r>
          </a:p>
        </p:txBody>
      </p:sp>
      <p:grpSp>
        <p:nvGrpSpPr>
          <p:cNvPr id="21" name="Group 20"/>
          <p:cNvGrpSpPr/>
          <p:nvPr userDrawn="1"/>
        </p:nvGrpSpPr>
        <p:grpSpPr bwMode="black">
          <a:xfrm>
            <a:off x="388620" y="7497818"/>
            <a:ext cx="955717" cy="213310"/>
            <a:chOff x="1219189" y="6312097"/>
            <a:chExt cx="632460" cy="210711"/>
          </a:xfrm>
        </p:grpSpPr>
        <p:sp>
          <p:nvSpPr>
            <p:cNvPr id="22" name="Rounded Rectangle 21"/>
            <p:cNvSpPr/>
            <p:nvPr userDrawn="1"/>
          </p:nvSpPr>
          <p:spPr bwMode="black">
            <a:xfrm>
              <a:off x="1219189" y="6312097"/>
              <a:ext cx="632460" cy="210711"/>
            </a:xfrm>
            <a:prstGeom prst="roundRect">
              <a:avLst>
                <a:gd name="adj" fmla="val 50000"/>
              </a:avLst>
            </a:prstGeom>
            <a:noFill/>
            <a:ln w="63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1381750" rtl="0" eaLnBrk="1" fontAlgn="ctr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1481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black">
            <a:xfrm>
              <a:off x="1243066" y="6322125"/>
              <a:ext cx="568578" cy="179903"/>
            </a:xfrm>
            <a:prstGeom prst="rect">
              <a:avLst/>
            </a:prstGeom>
          </p:spPr>
          <p:txBody>
            <a:bodyPr wrap="square" lIns="0" tIns="0" rIns="0" bIns="0" anchor="b">
              <a:noAutofit/>
            </a:bodyPr>
            <a:lstStyle/>
            <a:p>
              <a:pPr marL="0" marR="0" lvl="0" indent="0" algn="ctr" defTabSz="1841537" rtl="0" eaLnBrk="1" fontAlgn="ctr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GB" altLang="ja-JP" sz="1133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ujitsu Sans Medium" panose="020B0504060202020204" pitchFamily="34" charset="0"/>
                  <a:ea typeface="+mn-ea"/>
                  <a:cs typeface="+mn-cs"/>
                </a:rPr>
                <a:t>Unclassified</a:t>
              </a:r>
              <a:endParaRPr kumimoji="1" lang="en-US" altLang="ja-JP" sz="1133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jitsu Sans Medium" panose="020B0504060202020204" pitchFamily="34" charset="0"/>
                <a:ea typeface="+mn-ea"/>
                <a:cs typeface="+mn-cs"/>
              </a:endParaRPr>
            </a:p>
          </p:txBody>
        </p:sp>
      </p:grp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2654" y="186446"/>
            <a:ext cx="1727025" cy="107075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681" y="1030160"/>
            <a:ext cx="2053449" cy="340872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 rot="20005975">
            <a:off x="4555830" y="3010286"/>
            <a:ext cx="4406997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5">
                    <a:lumMod val="10000"/>
                    <a:lumOff val="90000"/>
                  </a:schemeClr>
                </a:solidFill>
                <a:effectLst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269398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6" r:id="rId2"/>
    <p:sldLayoutId id="2147483693" r:id="rId3"/>
    <p:sldLayoutId id="2147483695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100" fill="hold"/>
                                        <p:tgtEl>
                                          <p:spTgt spid="43"/>
                                        </p:tgtEl>
                                      </p:cBhvr>
                                      <p:by x="111000" y="111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6" presetClass="emph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43"/>
                                        </p:tgtEl>
                                      </p:cBhvr>
                                      <p:by x="90090" y="9009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400" fill="hold"/>
                                        <p:tgtEl>
                                          <p:spTgt spid="2"/>
                                        </p:tgtEl>
                                      </p:cBhvr>
                                      <p:by x="10000" y="1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5000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8" dur="1500" fill="hold"/>
                                        <p:tgtEl>
                                          <p:spTgt spid="2"/>
                                        </p:tgtEl>
                                      </p:cBhvr>
                                      <p:by x="1000000" y="10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42" presetClass="path" presetSubtype="0" decel="5000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12309 0.19074 L 3.61111E-6 1.7284E-6 " pathEditMode="relative" rAng="0" ptsTypes="AA">
                                      <p:cBhvr>
                                        <p:cTn id="20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63" y="-9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  <p:bldP spid="2" grpId="3" animBg="1"/>
      <p:bldP spid="2" grpId="4" animBg="1"/>
      <p:bldP spid="2" grpId="5" animBg="1"/>
      <p:bldP spid="2" grpId="6" animBg="1"/>
      <p:bldP spid="2" grpId="7" animBg="1"/>
    </p:bldLst>
  </p:timing>
  <p:hf sldNum="0" hdr="0" dt="0"/>
  <p:txStyles>
    <p:titleStyle>
      <a:lvl1pPr algn="l" defTabSz="1381750" rtl="0" eaLnBrk="1" latinLnBrk="0" hangingPunct="1">
        <a:lnSpc>
          <a:spcPct val="90000"/>
        </a:lnSpc>
        <a:spcBef>
          <a:spcPct val="0"/>
        </a:spcBef>
        <a:buNone/>
        <a:tabLst>
          <a:tab pos="4339559" algn="l"/>
          <a:tab pos="5555786" algn="l"/>
        </a:tabLst>
        <a:defRPr kumimoji="1" lang="de-DE" altLang="ja-JP" sz="4231" kern="1200" dirty="0" smtClean="0">
          <a:solidFill>
            <a:schemeClr val="tx1"/>
          </a:solidFill>
          <a:latin typeface="Fujitsu Sans" panose="020B0404060202020204" pitchFamily="34" charset="0"/>
          <a:ea typeface="+mj-ea"/>
          <a:cs typeface="+mj-cs"/>
        </a:defRPr>
      </a:lvl1pPr>
    </p:titleStyle>
    <p:bodyStyle>
      <a:lvl1pPr marL="407808" indent="-407808" algn="l" defTabSz="1381750" rtl="0" eaLnBrk="1" latinLnBrk="0" hangingPunct="1">
        <a:lnSpc>
          <a:spcPct val="110000"/>
        </a:lnSpc>
        <a:spcBef>
          <a:spcPts val="453"/>
        </a:spcBef>
        <a:spcAft>
          <a:spcPts val="302"/>
        </a:spcAft>
        <a:buClr>
          <a:schemeClr val="accent2"/>
        </a:buClr>
        <a:buFont typeface="Wingdings" pitchFamily="2" charset="2"/>
        <a:buChar char=""/>
        <a:defRPr sz="3324" b="0" kern="1200">
          <a:solidFill>
            <a:schemeClr val="tx1"/>
          </a:solidFill>
          <a:latin typeface="Fujitsu Sans" panose="020B0404060202020204" pitchFamily="34" charset="0"/>
          <a:ea typeface="+mn-ea"/>
          <a:cs typeface="+mn-cs"/>
        </a:defRPr>
      </a:lvl1pPr>
      <a:lvl2pPr marL="815616" indent="-407808" algn="l" defTabSz="1381750" rtl="0" eaLnBrk="1" latinLnBrk="0" hangingPunct="1">
        <a:lnSpc>
          <a:spcPct val="110000"/>
        </a:lnSpc>
        <a:spcBef>
          <a:spcPts val="453"/>
        </a:spcBef>
        <a:spcAft>
          <a:spcPts val="302"/>
        </a:spcAft>
        <a:buClr>
          <a:schemeClr val="tx2"/>
        </a:buClr>
        <a:buFont typeface="Wingdings" pitchFamily="2" charset="2"/>
        <a:buChar char=""/>
        <a:defRPr sz="2720" kern="1200">
          <a:solidFill>
            <a:schemeClr val="tx1"/>
          </a:solidFill>
          <a:latin typeface="Fujitsu Sans" panose="020B0404060202020204" pitchFamily="34" charset="0"/>
          <a:ea typeface="+mn-ea"/>
          <a:cs typeface="+mn-cs"/>
        </a:defRPr>
      </a:lvl2pPr>
      <a:lvl3pPr marL="1079492" indent="-263876" algn="l" defTabSz="1381750" rtl="0" eaLnBrk="1" latinLnBrk="0" hangingPunct="1">
        <a:lnSpc>
          <a:spcPct val="110000"/>
        </a:lnSpc>
        <a:spcBef>
          <a:spcPts val="453"/>
        </a:spcBef>
        <a:spcAft>
          <a:spcPts val="302"/>
        </a:spcAft>
        <a:buClr>
          <a:schemeClr val="tx2"/>
        </a:buClr>
        <a:buFont typeface="Arial" pitchFamily="34" charset="0"/>
        <a:buChar char="•"/>
        <a:tabLst/>
        <a:defRPr sz="2418" kern="1200">
          <a:solidFill>
            <a:schemeClr val="tx1"/>
          </a:solidFill>
          <a:latin typeface="Fujitsu Sans" panose="020B0404060202020204" pitchFamily="34" charset="0"/>
          <a:ea typeface="+mn-ea"/>
          <a:cs typeface="+mn-cs"/>
        </a:defRPr>
      </a:lvl3pPr>
      <a:lvl4pPr marL="1355363" indent="-275871" algn="l" defTabSz="1355363" rtl="0" eaLnBrk="1" latinLnBrk="0" hangingPunct="1">
        <a:lnSpc>
          <a:spcPct val="110000"/>
        </a:lnSpc>
        <a:spcBef>
          <a:spcPts val="453"/>
        </a:spcBef>
        <a:spcAft>
          <a:spcPts val="302"/>
        </a:spcAft>
        <a:buClr>
          <a:schemeClr val="tx2"/>
        </a:buClr>
        <a:buFont typeface="Arial" pitchFamily="34" charset="0"/>
        <a:buChar char="•"/>
        <a:defRPr sz="2116" kern="1200">
          <a:solidFill>
            <a:schemeClr val="tx1"/>
          </a:solidFill>
          <a:latin typeface="Fujitsu Sans" panose="020B0404060202020204" pitchFamily="34" charset="0"/>
          <a:ea typeface="+mn-ea"/>
          <a:cs typeface="+mn-cs"/>
        </a:defRPr>
      </a:lvl4pPr>
      <a:lvl5pPr marL="1631232" indent="-275871" algn="l" defTabSz="1381750" rtl="0" eaLnBrk="1" latinLnBrk="0" hangingPunct="1">
        <a:lnSpc>
          <a:spcPct val="110000"/>
        </a:lnSpc>
        <a:spcBef>
          <a:spcPts val="453"/>
        </a:spcBef>
        <a:spcAft>
          <a:spcPts val="302"/>
        </a:spcAft>
        <a:buClr>
          <a:schemeClr val="tx2"/>
        </a:buClr>
        <a:buFont typeface="Arial" pitchFamily="34" charset="0"/>
        <a:buChar char="•"/>
        <a:defRPr sz="1813" kern="1200">
          <a:solidFill>
            <a:schemeClr val="tx1"/>
          </a:solidFill>
          <a:latin typeface="Fujitsu Sans" panose="020B0404060202020204" pitchFamily="34" charset="0"/>
          <a:ea typeface="+mn-ea"/>
          <a:cs typeface="+mn-cs"/>
        </a:defRPr>
      </a:lvl5pPr>
      <a:lvl6pPr marL="3799812" indent="-345437" algn="l" defTabSz="1381750" rtl="0" eaLnBrk="1" latinLnBrk="0" hangingPunct="1">
        <a:spcBef>
          <a:spcPct val="20000"/>
        </a:spcBef>
        <a:buFont typeface="Arial" pitchFamily="34" charset="0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6pPr>
      <a:lvl7pPr marL="4490687" indent="-345437" algn="l" defTabSz="1381750" rtl="0" eaLnBrk="1" latinLnBrk="0" hangingPunct="1">
        <a:spcBef>
          <a:spcPct val="20000"/>
        </a:spcBef>
        <a:buFont typeface="Arial" pitchFamily="34" charset="0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7pPr>
      <a:lvl8pPr marL="5181562" indent="-345437" algn="l" defTabSz="1381750" rtl="0" eaLnBrk="1" latinLnBrk="0" hangingPunct="1">
        <a:spcBef>
          <a:spcPct val="20000"/>
        </a:spcBef>
        <a:buFont typeface="Arial" pitchFamily="34" charset="0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8pPr>
      <a:lvl9pPr marL="5872437" indent="-345437" algn="l" defTabSz="1381750" rtl="0" eaLnBrk="1" latinLnBrk="0" hangingPunct="1">
        <a:spcBef>
          <a:spcPct val="20000"/>
        </a:spcBef>
        <a:buFont typeface="Arial" pitchFamily="34" charset="0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381750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1pPr>
      <a:lvl2pPr marL="690875" algn="l" defTabSz="1381750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2pPr>
      <a:lvl3pPr marL="1381750" algn="l" defTabSz="1381750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3pPr>
      <a:lvl4pPr marL="2072625" algn="l" defTabSz="1381750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4pPr>
      <a:lvl5pPr marL="2763500" algn="l" defTabSz="1381750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5pPr>
      <a:lvl6pPr marL="3454375" algn="l" defTabSz="1381750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6pPr>
      <a:lvl7pPr marL="4145250" algn="l" defTabSz="1381750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7pPr>
      <a:lvl8pPr marL="4836124" algn="l" defTabSz="1381750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99" algn="l" defTabSz="1381750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/>
          <p:nvPr userDrawn="1"/>
        </p:nvGrpSpPr>
        <p:grpSpPr>
          <a:xfrm>
            <a:off x="0" y="7559641"/>
            <a:ext cx="13817600" cy="218197"/>
            <a:chOff x="0" y="7559641"/>
            <a:chExt cx="13817600" cy="218197"/>
          </a:xfrm>
        </p:grpSpPr>
        <p:sp>
          <p:nvSpPr>
            <p:cNvPr id="11" name="Line 4"/>
            <p:cNvSpPr>
              <a:spLocks noChangeShapeType="1"/>
            </p:cNvSpPr>
            <p:nvPr userDrawn="1"/>
          </p:nvSpPr>
          <p:spPr bwMode="gray">
            <a:xfrm flipV="1">
              <a:off x="0" y="7559641"/>
              <a:ext cx="13817600" cy="16815"/>
            </a:xfrm>
            <a:prstGeom prst="line">
              <a:avLst/>
            </a:prstGeom>
            <a:noFill/>
            <a:ln w="12700">
              <a:solidFill>
                <a:srgbClr val="87867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noProof="0" dirty="0">
                <a:latin typeface="Fujitsu Sans" panose="020B0404060202020204" pitchFamily="34" charset="0"/>
              </a:endParaRPr>
            </a:p>
          </p:txBody>
        </p:sp>
        <p:grpSp>
          <p:nvGrpSpPr>
            <p:cNvPr id="3" name="Group 2"/>
            <p:cNvGrpSpPr/>
            <p:nvPr userDrawn="1"/>
          </p:nvGrpSpPr>
          <p:grpSpPr>
            <a:xfrm>
              <a:off x="0" y="7570731"/>
              <a:ext cx="13569240" cy="207107"/>
              <a:chOff x="0" y="7570731"/>
              <a:chExt cx="13569240" cy="207107"/>
            </a:xfrm>
          </p:grpSpPr>
          <p:sp>
            <p:nvSpPr>
              <p:cNvPr id="9" name="Rectangle 8"/>
              <p:cNvSpPr/>
              <p:nvPr userDrawn="1"/>
            </p:nvSpPr>
            <p:spPr bwMode="gray">
              <a:xfrm>
                <a:off x="6461002" y="7570731"/>
                <a:ext cx="540000" cy="20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</a:bodyPr>
              <a:lstStyle/>
              <a:p>
                <a:pPr marL="0" algn="ctr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</a:pPr>
                <a:fld id="{AC746033-9F45-4508-8446-72AA2BBAAD2A}" type="slidenum">
                  <a:rPr kumimoji="0" lang="en-US" altLang="ja-JP" sz="800" kern="1200" noProof="0" smtClean="0">
                    <a:solidFill>
                      <a:schemeClr val="tx1"/>
                    </a:solidFill>
                    <a:latin typeface="Fujitsu Sans" panose="020B0404060202020204" pitchFamily="34" charset="0"/>
                    <a:ea typeface="ＭＳ Ｐゴシック" charset="-128"/>
                    <a:cs typeface="+mn-cs"/>
                  </a:rPr>
                  <a:pPr marL="0" algn="ctr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</a:pPr>
                  <a:t>‹#›</a:t>
                </a:fld>
                <a:endParaRPr kumimoji="0" lang="en-US" altLang="ja-JP" sz="800" kern="1200" noProof="0" dirty="0">
                  <a:solidFill>
                    <a:schemeClr val="tx1"/>
                  </a:solidFill>
                  <a:latin typeface="Fujitsu Sans" panose="020B0404060202020204" pitchFamily="34" charset="0"/>
                  <a:ea typeface="ＭＳ Ｐゴシック" charset="-128"/>
                  <a:cs typeface="+mn-cs"/>
                </a:endParaRPr>
              </a:p>
            </p:txBody>
          </p:sp>
          <p:sp>
            <p:nvSpPr>
              <p:cNvPr id="10" name="Footer Placeholder 110"/>
              <p:cNvSpPr txBox="1">
                <a:spLocks/>
              </p:cNvSpPr>
              <p:nvPr userDrawn="1"/>
            </p:nvSpPr>
            <p:spPr>
              <a:xfrm>
                <a:off x="9605640" y="7570800"/>
                <a:ext cx="3963600" cy="20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</a:bodyPr>
              <a:lstStyle>
                <a:lvl1pPr marL="0" algn="r" defTabSz="914400" rtl="0" eaLnBrk="1" fontAlgn="base" latinLnBrk="0" hangingPunct="1">
                  <a:defRPr kumimoji="0" lang="de-DE" altLang="ja-JP" sz="8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</a:lstStyle>
              <a:p>
                <a:r>
                  <a:rPr lang="en-US" dirty="0">
                    <a:solidFill>
                      <a:schemeClr val="tx1"/>
                    </a:solidFill>
                    <a:latin typeface="Fujitsu Sans" panose="020B0404060202020204" pitchFamily="34" charset="0"/>
                  </a:rPr>
                  <a:t>© 2020 FUJITSU</a:t>
                </a:r>
              </a:p>
            </p:txBody>
          </p:sp>
          <p:grpSp>
            <p:nvGrpSpPr>
              <p:cNvPr id="12" name="Group 11"/>
              <p:cNvGrpSpPr/>
              <p:nvPr userDrawn="1"/>
            </p:nvGrpSpPr>
            <p:grpSpPr bwMode="black">
              <a:xfrm>
                <a:off x="0" y="7636677"/>
                <a:ext cx="632460" cy="141161"/>
                <a:chOff x="1219189" y="6312097"/>
                <a:chExt cx="632460" cy="210711"/>
              </a:xfrm>
            </p:grpSpPr>
            <p:sp>
              <p:nvSpPr>
                <p:cNvPr id="13" name="Rounded Rectangle 12"/>
                <p:cNvSpPr/>
                <p:nvPr userDrawn="1"/>
              </p:nvSpPr>
              <p:spPr bwMode="black">
                <a:xfrm>
                  <a:off x="1219189" y="6312097"/>
                  <a:ext cx="632460" cy="210711"/>
                </a:xfrm>
                <a:prstGeom prst="roundRect">
                  <a:avLst>
                    <a:gd name="adj" fmla="val 50000"/>
                  </a:avLst>
                </a:prstGeom>
                <a:noFill/>
                <a:ln w="6350" cap="flat" cmpd="sng" algn="ctr">
                  <a:solidFill>
                    <a:srgbClr val="F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ctr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en-US" sz="98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14" name="Rectangle 13"/>
                <p:cNvSpPr/>
                <p:nvPr userDrawn="1"/>
              </p:nvSpPr>
              <p:spPr bwMode="black">
                <a:xfrm>
                  <a:off x="1243066" y="6322125"/>
                  <a:ext cx="568578" cy="179903"/>
                </a:xfrm>
                <a:prstGeom prst="rect">
                  <a:avLst/>
                </a:prstGeom>
              </p:spPr>
              <p:txBody>
                <a:bodyPr wrap="square" lIns="0" tIns="0" rIns="0" bIns="0" anchor="b">
                  <a:noAutofit/>
                </a:bodyPr>
                <a:lstStyle/>
                <a:p>
                  <a:pPr marL="0" marR="0" lvl="0" indent="0" algn="ctr" defTabSz="1218673" rtl="0" eaLnBrk="1" fontAlgn="ctr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GB" altLang="ja-JP" sz="7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00000"/>
                      </a:solidFill>
                      <a:effectLst/>
                      <a:uLnTx/>
                      <a:uFillTx/>
                      <a:latin typeface="Fujitsu Sans Medium" panose="020B0504060202020204" pitchFamily="34" charset="0"/>
                      <a:ea typeface="+mn-ea"/>
                      <a:cs typeface="+mn-cs"/>
                    </a:rPr>
                    <a:t>Unclassified</a:t>
                  </a:r>
                  <a:endParaRPr kumimoji="1" lang="en-US" altLang="ja-JP" sz="7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00000"/>
                    </a:solidFill>
                    <a:effectLst/>
                    <a:uLnTx/>
                    <a:uFillTx/>
                    <a:latin typeface="Fujitsu Sans Medium" panose="020B0504060202020204" pitchFamily="34" charset="0"/>
                    <a:ea typeface="+mn-ea"/>
                    <a:cs typeface="+mn-cs"/>
                  </a:endParaRPr>
                </a:p>
              </p:txBody>
            </p:sp>
          </p:grpSp>
        </p:grpSp>
      </p:grpSp>
      <p:pic>
        <p:nvPicPr>
          <p:cNvPr id="16" name="図 1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817600" cy="1333500"/>
          </a:xfrm>
          <a:prstGeom prst="rect">
            <a:avLst/>
          </a:prstGeom>
        </p:spPr>
      </p:pic>
      <p:pic>
        <p:nvPicPr>
          <p:cNvPr id="15" name="Picture 4"/>
          <p:cNvPicPr>
            <a:picLocks noChangeAspect="1" noChangeArrowheads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1314" y="0"/>
            <a:ext cx="1306286" cy="86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 userDrawn="1"/>
        </p:nvSpPr>
        <p:spPr>
          <a:xfrm rot="20005975">
            <a:off x="4569255" y="3067149"/>
            <a:ext cx="4152715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5">
                    <a:lumMod val="10000"/>
                    <a:lumOff val="90000"/>
                  </a:schemeClr>
                </a:solidFill>
                <a:effectLst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4023744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98" r:id="rId2"/>
    <p:sldLayoutId id="2147483704" r:id="rId3"/>
    <p:sldLayoutId id="2147483703" r:id="rId4"/>
    <p:sldLayoutId id="2147483696" r:id="rId5"/>
    <p:sldLayoutId id="2147483678" r:id="rId6"/>
    <p:sldLayoutId id="2147483710" r:id="rId7"/>
    <p:sldLayoutId id="2147483711" r:id="rId8"/>
    <p:sldLayoutId id="2147483697" r:id="rId9"/>
    <p:sldLayoutId id="2147483699" r:id="rId10"/>
    <p:sldLayoutId id="2147483708" r:id="rId11"/>
    <p:sldLayoutId id="2147483705" r:id="rId12"/>
    <p:sldLayoutId id="2147483707" r:id="rId13"/>
    <p:sldLayoutId id="2147483701" r:id="rId14"/>
    <p:sldLayoutId id="2147483713" r:id="rId15"/>
    <p:sldLayoutId id="2147483702" r:id="rId16"/>
    <p:sldLayoutId id="2147483709" r:id="rId17"/>
  </p:sldLayoutIdLst>
  <p:hf sldNum="0" hdr="0" ftr="0" dt="0"/>
  <p:txStyles>
    <p:titleStyle>
      <a:lvl1pPr algn="ctr" defTabSz="1381683" rtl="0" eaLnBrk="1" latinLnBrk="0" hangingPunct="1">
        <a:spcBef>
          <a:spcPct val="0"/>
        </a:spcBef>
        <a:buNone/>
        <a:defRPr sz="66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18129" indent="-518129" algn="l" defTabSz="1381683" rtl="0" eaLnBrk="1" latinLnBrk="0" hangingPunct="1">
        <a:spcBef>
          <a:spcPct val="20000"/>
        </a:spcBef>
        <a:buFont typeface="Arial" panose="020B0604020202020204" pitchFamily="34" charset="0"/>
        <a:buChar char="•"/>
        <a:defRPr sz="4835" kern="1200">
          <a:solidFill>
            <a:schemeClr val="tx1"/>
          </a:solidFill>
          <a:latin typeface="+mn-lt"/>
          <a:ea typeface="+mn-ea"/>
          <a:cs typeface="+mn-cs"/>
        </a:defRPr>
      </a:lvl1pPr>
      <a:lvl2pPr marL="1122618" indent="-431777" algn="l" defTabSz="1381683" rtl="0" eaLnBrk="1" latinLnBrk="0" hangingPunct="1">
        <a:spcBef>
          <a:spcPct val="20000"/>
        </a:spcBef>
        <a:buFont typeface="Arial" panose="020B0604020202020204" pitchFamily="34" charset="0"/>
        <a:buChar char="–"/>
        <a:defRPr sz="4231" kern="1200">
          <a:solidFill>
            <a:schemeClr val="tx1"/>
          </a:solidFill>
          <a:latin typeface="+mn-lt"/>
          <a:ea typeface="+mn-ea"/>
          <a:cs typeface="+mn-cs"/>
        </a:defRPr>
      </a:lvl2pPr>
      <a:lvl3pPr marL="1727102" indent="-345421" algn="l" defTabSz="1381683" rtl="0" eaLnBrk="1" latinLnBrk="0" hangingPunct="1">
        <a:spcBef>
          <a:spcPct val="20000"/>
        </a:spcBef>
        <a:buFont typeface="Arial" panose="020B0604020202020204" pitchFamily="34" charset="0"/>
        <a:buChar char="•"/>
        <a:defRPr sz="3627" kern="1200">
          <a:solidFill>
            <a:schemeClr val="tx1"/>
          </a:solidFill>
          <a:latin typeface="+mn-lt"/>
          <a:ea typeface="+mn-ea"/>
          <a:cs typeface="+mn-cs"/>
        </a:defRPr>
      </a:lvl3pPr>
      <a:lvl4pPr marL="2417943" indent="-345421" algn="l" defTabSz="1381683" rtl="0" eaLnBrk="1" latinLnBrk="0" hangingPunct="1">
        <a:spcBef>
          <a:spcPct val="20000"/>
        </a:spcBef>
        <a:buFont typeface="Arial" panose="020B0604020202020204" pitchFamily="34" charset="0"/>
        <a:buChar char="–"/>
        <a:defRPr sz="3022" kern="1200">
          <a:solidFill>
            <a:schemeClr val="tx1"/>
          </a:solidFill>
          <a:latin typeface="+mn-lt"/>
          <a:ea typeface="+mn-ea"/>
          <a:cs typeface="+mn-cs"/>
        </a:defRPr>
      </a:lvl4pPr>
      <a:lvl5pPr marL="3108786" indent="-345421" algn="l" defTabSz="1381683" rtl="0" eaLnBrk="1" latinLnBrk="0" hangingPunct="1">
        <a:spcBef>
          <a:spcPct val="20000"/>
        </a:spcBef>
        <a:buFont typeface="Arial" panose="020B0604020202020204" pitchFamily="34" charset="0"/>
        <a:buChar char="»"/>
        <a:defRPr sz="3022" kern="1200">
          <a:solidFill>
            <a:schemeClr val="tx1"/>
          </a:solidFill>
          <a:latin typeface="+mn-lt"/>
          <a:ea typeface="+mn-ea"/>
          <a:cs typeface="+mn-cs"/>
        </a:defRPr>
      </a:lvl5pPr>
      <a:lvl6pPr marL="3799627" indent="-345421" algn="l" defTabSz="1381683" rtl="0" eaLnBrk="1" latinLnBrk="0" hangingPunct="1">
        <a:spcBef>
          <a:spcPct val="20000"/>
        </a:spcBef>
        <a:buFont typeface="Arial" panose="020B0604020202020204" pitchFamily="34" charset="0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6pPr>
      <a:lvl7pPr marL="4490467" indent="-345421" algn="l" defTabSz="1381683" rtl="0" eaLnBrk="1" latinLnBrk="0" hangingPunct="1">
        <a:spcBef>
          <a:spcPct val="20000"/>
        </a:spcBef>
        <a:buFont typeface="Arial" panose="020B0604020202020204" pitchFamily="34" charset="0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7pPr>
      <a:lvl8pPr marL="5181309" indent="-345421" algn="l" defTabSz="1381683" rtl="0" eaLnBrk="1" latinLnBrk="0" hangingPunct="1">
        <a:spcBef>
          <a:spcPct val="20000"/>
        </a:spcBef>
        <a:buFont typeface="Arial" panose="020B0604020202020204" pitchFamily="34" charset="0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8pPr>
      <a:lvl9pPr marL="5872150" indent="-345421" algn="l" defTabSz="1381683" rtl="0" eaLnBrk="1" latinLnBrk="0" hangingPunct="1">
        <a:spcBef>
          <a:spcPct val="20000"/>
        </a:spcBef>
        <a:buFont typeface="Arial" panose="020B0604020202020204" pitchFamily="34" charset="0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81683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1pPr>
      <a:lvl2pPr marL="690843" algn="l" defTabSz="1381683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2pPr>
      <a:lvl3pPr marL="1381683" algn="l" defTabSz="1381683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3pPr>
      <a:lvl4pPr marL="2072525" algn="l" defTabSz="1381683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4pPr>
      <a:lvl5pPr marL="2763365" algn="l" defTabSz="1381683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5pPr>
      <a:lvl6pPr marL="3454206" algn="l" defTabSz="1381683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6pPr>
      <a:lvl7pPr marL="4145045" algn="l" defTabSz="1381683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7pPr>
      <a:lvl8pPr marL="4835887" algn="l" defTabSz="1381683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8pPr>
      <a:lvl9pPr marL="5526729" algn="l" defTabSz="1381683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9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9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60586" y="5216035"/>
            <a:ext cx="13049956" cy="1438342"/>
          </a:xfrm>
          <a:prstGeom prst="rect">
            <a:avLst/>
          </a:prstGeom>
          <a:noFill/>
          <a:ln>
            <a:noFill/>
          </a:ln>
        </p:spPr>
        <p:txBody>
          <a:bodyPr wrap="square" lIns="138176" tIns="69088" rIns="138176" bIns="69088" rtlCol="0">
            <a:spAutoFit/>
          </a:bodyPr>
          <a:lstStyle/>
          <a:p>
            <a:pPr algn="r"/>
            <a:r>
              <a:rPr lang="en-US" sz="5640" b="1" dirty="0">
                <a:solidFill>
                  <a:schemeClr val="bg1"/>
                </a:solidFill>
                <a:latin typeface="Fujitsu Sans Medium" panose="020B0504060202020204" pitchFamily="34" charset="0"/>
                <a:cs typeface="Arial" panose="020B0604020202020204" pitchFamily="34" charset="0"/>
              </a:rPr>
              <a:t>Managing </a:t>
            </a:r>
            <a:r>
              <a:rPr lang="en-US" sz="5640" b="1" dirty="0" smtClean="0">
                <a:solidFill>
                  <a:schemeClr val="bg1"/>
                </a:solidFill>
                <a:latin typeface="Fujitsu Sans Medium" panose="020B0504060202020204" pitchFamily="34" charset="0"/>
                <a:cs typeface="Arial" panose="020B0604020202020204" pitchFamily="34" charset="0"/>
              </a:rPr>
              <a:t>Accounts Payables</a:t>
            </a:r>
            <a:r>
              <a:rPr lang="en-US" sz="5640" b="1" dirty="0">
                <a:solidFill>
                  <a:schemeClr val="bg1"/>
                </a:solidFill>
                <a:latin typeface="Fujitsu Sans Medium" panose="020B0504060202020204" pitchFamily="34" charset="0"/>
                <a:cs typeface="Arial" panose="020B0604020202020204" pitchFamily="34" charset="0"/>
              </a:rPr>
              <a:t/>
            </a:r>
            <a:br>
              <a:rPr lang="en-US" sz="5640" b="1" dirty="0">
                <a:solidFill>
                  <a:schemeClr val="bg1"/>
                </a:solidFill>
                <a:latin typeface="Fujitsu Sans Medium" panose="020B0504060202020204" pitchFamily="34" charset="0"/>
                <a:cs typeface="Arial" panose="020B0604020202020204" pitchFamily="34" charset="0"/>
              </a:rPr>
            </a:br>
            <a:r>
              <a:rPr lang="en-US" sz="2800" b="1" dirty="0" smtClean="0">
                <a:solidFill>
                  <a:schemeClr val="bg1"/>
                </a:solidFill>
                <a:latin typeface="Fujitsu Sans Medium" panose="020B0504060202020204" pitchFamily="34" charset="0"/>
                <a:cs typeface="Arial" panose="020B0604020202020204" pitchFamily="34" charset="0"/>
              </a:rPr>
              <a:t>RTR AP Managing Accounts Payables</a:t>
            </a:r>
            <a:endParaRPr lang="en-US" sz="2800" b="1" dirty="0">
              <a:solidFill>
                <a:schemeClr val="tx1">
                  <a:lumMod val="50000"/>
                  <a:lumOff val="50000"/>
                </a:schemeClr>
              </a:solidFill>
              <a:latin typeface="Fujitsu Sans Medium" panose="020B050406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446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 bright="10000"/>
          </a:blip>
          <a:stretch>
            <a:fillRect/>
          </a:stretch>
        </p:blipFill>
        <p:spPr>
          <a:xfrm>
            <a:off x="11806075" y="6449818"/>
            <a:ext cx="2011525" cy="13323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 and Ground Rules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 smtClean="0"/>
              <a:t>Ground Rules</a:t>
            </a:r>
            <a:endParaRPr lang="en-US" sz="2800" dirty="0"/>
          </a:p>
          <a:p>
            <a:pPr lvl="1"/>
            <a:r>
              <a:rPr lang="en-US" sz="2700" dirty="0"/>
              <a:t>Single conversation</a:t>
            </a:r>
          </a:p>
          <a:p>
            <a:pPr lvl="1"/>
            <a:r>
              <a:rPr lang="en-US" sz="2700" dirty="0"/>
              <a:t>Please “Raise Hand” in Teams</a:t>
            </a:r>
          </a:p>
          <a:p>
            <a:r>
              <a:rPr lang="en-US" altLang="en-US" sz="2800" dirty="0"/>
              <a:t>Prerequisites</a:t>
            </a:r>
          </a:p>
          <a:p>
            <a:pPr lvl="1"/>
            <a:r>
              <a:rPr lang="en-US" altLang="en-US" sz="2700" dirty="0"/>
              <a:t>SAP Overview &amp; Navigation</a:t>
            </a:r>
          </a:p>
          <a:p>
            <a:r>
              <a:rPr lang="en-US" altLang="en-US" sz="2800" dirty="0"/>
              <a:t>Roles</a:t>
            </a:r>
          </a:p>
          <a:p>
            <a:pPr lvl="1"/>
            <a:r>
              <a:rPr lang="en-US" altLang="en-US" sz="2700" dirty="0"/>
              <a:t>Employee </a:t>
            </a:r>
          </a:p>
          <a:p>
            <a:pPr lvl="1"/>
            <a:r>
              <a:rPr lang="en-US" altLang="en-US" sz="2700" dirty="0" smtClean="0"/>
              <a:t>Accounts Payable Accountant</a:t>
            </a:r>
          </a:p>
          <a:p>
            <a:r>
              <a:rPr lang="en-US" altLang="en-US" sz="2800" dirty="0" smtClean="0"/>
              <a:t>Duration </a:t>
            </a:r>
            <a:r>
              <a:rPr lang="en-US" altLang="en-US" sz="2800" dirty="0"/>
              <a:t>of Class</a:t>
            </a:r>
          </a:p>
          <a:p>
            <a:pPr lvl="1"/>
            <a:r>
              <a:rPr lang="en-US" altLang="en-US" sz="2700" dirty="0"/>
              <a:t>3</a:t>
            </a:r>
            <a:r>
              <a:rPr lang="en-US" altLang="en-US" sz="2700" dirty="0" smtClean="0"/>
              <a:t> </a:t>
            </a:r>
            <a:r>
              <a:rPr lang="en-US" altLang="en-US" sz="2700" dirty="0"/>
              <a:t>hrs</a:t>
            </a:r>
          </a:p>
          <a:p>
            <a:r>
              <a:rPr lang="en-US" altLang="en-US" sz="2800" dirty="0"/>
              <a:t>Class Attendance</a:t>
            </a:r>
          </a:p>
          <a:p>
            <a:pPr lvl="1"/>
            <a:r>
              <a:rPr lang="en-US" altLang="en-US" sz="2500" dirty="0"/>
              <a:t>Attendance log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78668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lum bright="10000"/>
          </a:blip>
          <a:stretch>
            <a:fillRect/>
          </a:stretch>
        </p:blipFill>
        <p:spPr>
          <a:xfrm>
            <a:off x="11806075" y="6449818"/>
            <a:ext cx="2011525" cy="13323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to Virtual Training!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Classroom Logistics</a:t>
            </a:r>
          </a:p>
          <a:p>
            <a:pPr lvl="1"/>
            <a:r>
              <a:rPr lang="en-US" dirty="0"/>
              <a:t>Computer and User IDs</a:t>
            </a:r>
          </a:p>
          <a:p>
            <a:pPr lvl="1"/>
            <a:r>
              <a:rPr lang="en-US" dirty="0"/>
              <a:t>Course schedule: duration</a:t>
            </a:r>
          </a:p>
          <a:p>
            <a:pPr lvl="1"/>
            <a:r>
              <a:rPr lang="en-US" dirty="0"/>
              <a:t>Attendance Tracking</a:t>
            </a:r>
          </a:p>
          <a:p>
            <a:pPr lvl="1"/>
            <a:r>
              <a:rPr lang="en-US" dirty="0"/>
              <a:t>Parking Lot</a:t>
            </a:r>
          </a:p>
          <a:p>
            <a:r>
              <a:rPr lang="en-US" dirty="0"/>
              <a:t>Check: Participants have copies of all materials</a:t>
            </a:r>
          </a:p>
          <a:p>
            <a:r>
              <a:rPr lang="en-US" altLang="en-US" dirty="0"/>
              <a:t>Link to electronic versions of Work Instructions, Job Aids, and SIMs at </a:t>
            </a:r>
            <a:r>
              <a:rPr lang="en-US" altLang="en-US" dirty="0">
                <a:solidFill>
                  <a:srgbClr val="0070C0"/>
                </a:solidFill>
              </a:rPr>
              <a:t>SuccessFactors</a:t>
            </a:r>
          </a:p>
          <a:p>
            <a:endParaRPr lang="en-US" alt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dirty="0"/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519335-39E5-4BB2-B2BB-78DD3BA45AAC}"/>
              </a:ext>
            </a:extLst>
          </p:cNvPr>
          <p:cNvSpPr/>
          <p:nvPr/>
        </p:nvSpPr>
        <p:spPr>
          <a:xfrm>
            <a:off x="6777995" y="3634368"/>
            <a:ext cx="261610" cy="503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610499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 descr="bss00071"/>
          <p:cNvPicPr>
            <a:picLocks noChangeAspect="1" noChangeArrowheads="1"/>
          </p:cNvPicPr>
          <p:nvPr/>
        </p:nvPicPr>
        <p:blipFill>
          <a:blip r:embed="rId3">
            <a:lum bright="76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46"/>
          <a:stretch>
            <a:fillRect/>
          </a:stretch>
        </p:blipFill>
        <p:spPr bwMode="auto">
          <a:xfrm>
            <a:off x="12090401" y="5732544"/>
            <a:ext cx="1727200" cy="2039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Course Objectives</a:t>
            </a:r>
          </a:p>
        </p:txBody>
      </p:sp>
      <p:sp>
        <p:nvSpPr>
          <p:cNvPr id="43013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You should be able to:</a:t>
            </a:r>
          </a:p>
          <a:p>
            <a:r>
              <a:rPr lang="en-US" altLang="en-US" dirty="0"/>
              <a:t>Describe the accounts payable process</a:t>
            </a:r>
          </a:p>
          <a:p>
            <a:r>
              <a:rPr lang="en-US" altLang="en-US" dirty="0" smtClean="0"/>
              <a:t>Enter/park </a:t>
            </a:r>
            <a:r>
              <a:rPr lang="en-US" altLang="en-US" dirty="0"/>
              <a:t>a vendor invoice </a:t>
            </a:r>
          </a:p>
          <a:p>
            <a:r>
              <a:rPr lang="en-US" altLang="en-US" dirty="0"/>
              <a:t>Enter a vendor credit </a:t>
            </a:r>
            <a:r>
              <a:rPr lang="en-US" altLang="en-US" dirty="0" smtClean="0"/>
              <a:t>memo</a:t>
            </a:r>
          </a:p>
          <a:p>
            <a:r>
              <a:rPr lang="en-US" altLang="en-US" dirty="0"/>
              <a:t>Create a vendor account </a:t>
            </a:r>
            <a:endParaRPr lang="en-US" altLang="en-US" dirty="0"/>
          </a:p>
          <a:p>
            <a:r>
              <a:rPr lang="en-US" altLang="en-US" dirty="0"/>
              <a:t>Initiate the automatic clearing process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C3236A-0750-4F69-BC22-0115EAA85BF4}" type="slidenum">
              <a:rPr lang="en-US" altLang="en-US" sz="1600" smtClean="0"/>
              <a:pPr/>
              <a:t>4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92533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Unit 1 – Introduction – </a:t>
            </a:r>
            <a:r>
              <a:rPr lang="en-US" altLang="en-US" dirty="0" smtClean="0"/>
              <a:t>Accounts Payable (20 </a:t>
            </a:r>
            <a:r>
              <a:rPr lang="en-US" altLang="en-US" dirty="0"/>
              <a:t>mins) </a:t>
            </a:r>
          </a:p>
          <a:p>
            <a:r>
              <a:rPr lang="en-US" altLang="en-US" dirty="0" smtClean="0"/>
              <a:t>Unit </a:t>
            </a:r>
            <a:r>
              <a:rPr lang="en-US" altLang="en-US" dirty="0"/>
              <a:t>2</a:t>
            </a:r>
            <a:r>
              <a:rPr lang="en-US" altLang="en-US" dirty="0" smtClean="0"/>
              <a:t> </a:t>
            </a:r>
            <a:r>
              <a:rPr lang="en-US" altLang="en-US" dirty="0" smtClean="0"/>
              <a:t>– Enter/Park a Vendor Invoice (60 mins)</a:t>
            </a:r>
            <a:endParaRPr lang="en-US" altLang="en-US" dirty="0"/>
          </a:p>
          <a:p>
            <a:r>
              <a:rPr lang="en-US" altLang="en-US" dirty="0"/>
              <a:t>Unit </a:t>
            </a:r>
            <a:r>
              <a:rPr lang="en-US" altLang="en-US" dirty="0"/>
              <a:t>3</a:t>
            </a:r>
            <a:r>
              <a:rPr lang="en-US" altLang="en-US" dirty="0" smtClean="0"/>
              <a:t> </a:t>
            </a:r>
            <a:r>
              <a:rPr lang="en-US" altLang="en-US" dirty="0"/>
              <a:t>– </a:t>
            </a:r>
            <a:r>
              <a:rPr lang="en-US" altLang="en-US" dirty="0" smtClean="0"/>
              <a:t>Enter a Vendor Credit Memo (60 </a:t>
            </a:r>
            <a:r>
              <a:rPr lang="en-US" altLang="en-US" dirty="0"/>
              <a:t>mins</a:t>
            </a:r>
            <a:r>
              <a:rPr lang="en-US" altLang="en-US" dirty="0" smtClean="0"/>
              <a:t>)</a:t>
            </a:r>
          </a:p>
          <a:p>
            <a:r>
              <a:rPr lang="en-US" altLang="en-US" dirty="0" smtClean="0"/>
              <a:t>Unit 4 - </a:t>
            </a:r>
            <a:r>
              <a:rPr lang="en-US" altLang="en-US" dirty="0"/>
              <a:t>Create a Vendor Account (30 mins</a:t>
            </a:r>
            <a:r>
              <a:rPr lang="en-US" altLang="en-US" dirty="0" smtClean="0"/>
              <a:t>)</a:t>
            </a:r>
            <a:endParaRPr lang="en-US" altLang="en-US" dirty="0" smtClean="0"/>
          </a:p>
          <a:p>
            <a:r>
              <a:rPr lang="en-US" altLang="en-US" dirty="0" smtClean="0"/>
              <a:t>Unit 5 – Summary (10 mins)</a:t>
            </a:r>
            <a:endParaRPr lang="en-US" altLang="en-US" dirty="0"/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Agenda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C3236A-0750-4F69-BC22-0115EAA85BF4}" type="slidenum">
              <a:rPr lang="en-US" altLang="en-US" sz="1600" smtClean="0"/>
              <a:pPr/>
              <a:t>5</a:t>
            </a:fld>
            <a:endParaRPr lang="en-US" altLang="en-US" sz="1600" dirty="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520699" y="1111370"/>
            <a:ext cx="11366501" cy="65211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762000">
              <a:lnSpc>
                <a:spcPct val="90000"/>
              </a:lnSpc>
              <a:spcBef>
                <a:spcPct val="50000"/>
              </a:spcBef>
              <a:buClr>
                <a:srgbClr val="867366"/>
              </a:buClr>
              <a:buSzPct val="85000"/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indent="-342900" defTabSz="762000">
              <a:lnSpc>
                <a:spcPct val="90000"/>
              </a:lnSpc>
              <a:spcBef>
                <a:spcPct val="50000"/>
              </a:spcBef>
              <a:buClr>
                <a:srgbClr val="FF0000"/>
              </a:buClr>
              <a:buSzPct val="12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285750" defTabSz="762000">
              <a:lnSpc>
                <a:spcPct val="90000"/>
              </a:lnSpc>
              <a:spcBef>
                <a:spcPct val="20000"/>
              </a:spcBef>
              <a:buClr>
                <a:srgbClr val="867366"/>
              </a:buClr>
              <a:buSzPct val="120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87450" indent="-215900" defTabSz="7620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o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SzPct val="80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3200" b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683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3013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You should be able to:</a:t>
            </a:r>
          </a:p>
          <a:p>
            <a:r>
              <a:rPr lang="en-US" altLang="en-US" dirty="0" smtClean="0"/>
              <a:t>Describe the accounts payable process</a:t>
            </a:r>
            <a:endParaRPr lang="en-US" altLang="en-US" dirty="0"/>
          </a:p>
          <a:p>
            <a:r>
              <a:rPr lang="en-US" altLang="en-US" dirty="0"/>
              <a:t>Define new SAP terms for </a:t>
            </a:r>
            <a:r>
              <a:rPr lang="en-US" altLang="en-US" dirty="0" smtClean="0"/>
              <a:t>accounts payable</a:t>
            </a:r>
            <a:endParaRPr lang="en-US" alt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C3236A-0750-4F69-BC22-0115EAA85BF4}" type="slidenum">
              <a:rPr lang="en-US" altLang="en-US" sz="1600" smtClean="0"/>
              <a:pPr/>
              <a:t>6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988593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184C3-B887-46E1-8F0B-1609CFD1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</a:t>
            </a:r>
            <a:r>
              <a:rPr lang="en-US" dirty="0" smtClean="0"/>
              <a:t>is Accounts Payable (AP)?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88B54-943C-46E9-A90E-CE3C972F3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 </a:t>
            </a:r>
            <a:r>
              <a:rPr lang="en-US" dirty="0"/>
              <a:t>is a critical business process through which </a:t>
            </a:r>
            <a:r>
              <a:rPr lang="en-US" dirty="0" smtClean="0"/>
              <a:t>FAI </a:t>
            </a:r>
            <a:r>
              <a:rPr lang="en-US" dirty="0"/>
              <a:t>manages its payable obligations effectively</a:t>
            </a:r>
          </a:p>
          <a:p>
            <a:r>
              <a:rPr lang="en-US" dirty="0"/>
              <a:t>V</a:t>
            </a:r>
            <a:r>
              <a:rPr lang="en-US" dirty="0" smtClean="0"/>
              <a:t>ital </a:t>
            </a:r>
            <a:r>
              <a:rPr lang="en-US" dirty="0"/>
              <a:t>for </a:t>
            </a:r>
            <a:r>
              <a:rPr lang="en-US" dirty="0" smtClean="0"/>
              <a:t>FAI </a:t>
            </a:r>
            <a:r>
              <a:rPr lang="en-US" dirty="0"/>
              <a:t>because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It takes </a:t>
            </a:r>
            <a:r>
              <a:rPr lang="en-US" dirty="0"/>
              <a:t>charge of paying </a:t>
            </a:r>
            <a:r>
              <a:rPr lang="en-US" dirty="0" smtClean="0"/>
              <a:t>bills </a:t>
            </a:r>
            <a:r>
              <a:rPr lang="en-US" dirty="0"/>
              <a:t>on a timely </a:t>
            </a:r>
            <a:r>
              <a:rPr lang="en-US" dirty="0" smtClean="0"/>
              <a:t>basis</a:t>
            </a:r>
          </a:p>
          <a:p>
            <a:pPr lvl="1"/>
            <a:r>
              <a:rPr lang="en-US" dirty="0" smtClean="0"/>
              <a:t>Vendors ensure </a:t>
            </a:r>
            <a:r>
              <a:rPr lang="en-US" dirty="0"/>
              <a:t>an uninterrupted flow of supplies and </a:t>
            </a:r>
            <a:r>
              <a:rPr lang="en-US" dirty="0" smtClean="0"/>
              <a:t>services due to on-time payments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ensures there are no overdue charges, </a:t>
            </a:r>
            <a:r>
              <a:rPr lang="en-US" dirty="0" smtClean="0"/>
              <a:t>penalties, </a:t>
            </a:r>
            <a:r>
              <a:rPr lang="en-US" dirty="0"/>
              <a:t>or late </a:t>
            </a:r>
            <a:r>
              <a:rPr lang="en-US" dirty="0" smtClean="0"/>
              <a:t>fees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ensures all </a:t>
            </a:r>
            <a:r>
              <a:rPr lang="en-US" dirty="0" smtClean="0"/>
              <a:t>invoices </a:t>
            </a:r>
            <a:r>
              <a:rPr lang="en-US" dirty="0"/>
              <a:t>due are tracked and paid properly</a:t>
            </a:r>
          </a:p>
          <a:p>
            <a:pPr marL="690841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083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Accounts Payable in SAP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Accounts Payable is a submodule of SAP FI used to manage and record Accounting data for all </a:t>
            </a:r>
            <a:r>
              <a:rPr lang="en-US" dirty="0" smtClean="0"/>
              <a:t>vendors</a:t>
            </a:r>
          </a:p>
          <a:p>
            <a:r>
              <a:rPr lang="en-US" dirty="0"/>
              <a:t> It handles vendor invoices, approvals, payments and other allied </a:t>
            </a:r>
            <a:r>
              <a:rPr lang="en-US" dirty="0" smtClean="0"/>
              <a:t>activities</a:t>
            </a:r>
          </a:p>
          <a:p>
            <a:r>
              <a:rPr lang="en-US" dirty="0"/>
              <a:t>Any postings made in Accounts Payable </a:t>
            </a:r>
            <a:r>
              <a:rPr lang="en-US" dirty="0" smtClean="0"/>
              <a:t>are </a:t>
            </a:r>
            <a:r>
              <a:rPr lang="en-US" dirty="0"/>
              <a:t>updated in General Ledger as </a:t>
            </a:r>
            <a:r>
              <a:rPr lang="en-US" dirty="0" smtClean="0"/>
              <a:t>well</a:t>
            </a:r>
          </a:p>
          <a:p>
            <a:r>
              <a:rPr lang="en-US" dirty="0" smtClean="0"/>
              <a:t>AP’s role</a:t>
            </a:r>
            <a:r>
              <a:rPr lang="en-US" dirty="0"/>
              <a:t> is to complete </a:t>
            </a:r>
            <a:r>
              <a:rPr lang="en-US" dirty="0" smtClean="0"/>
              <a:t>payments, </a:t>
            </a:r>
            <a:r>
              <a:rPr lang="en-US" dirty="0"/>
              <a:t>plus processing, verifying and reconciling invoices</a:t>
            </a:r>
          </a:p>
        </p:txBody>
      </p:sp>
    </p:spTree>
    <p:extLst>
      <p:ext uri="{BB962C8B-B14F-4D97-AF65-F5344CB8AC3E}">
        <p14:creationId xmlns:p14="http://schemas.microsoft.com/office/powerpoint/2010/main" val="3113312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Accounts Payable Process </a:t>
            </a:r>
            <a:r>
              <a:rPr lang="en-US" altLang="en-US" dirty="0"/>
              <a:t>Flow</a:t>
            </a:r>
          </a:p>
        </p:txBody>
      </p:sp>
      <p:sp>
        <p:nvSpPr>
          <p:cNvPr id="45060" name="Rectangle 4"/>
          <p:cNvSpPr>
            <a:spLocks noGrp="1" noChangeArrowheads="1"/>
          </p:cNvSpPr>
          <p:nvPr>
            <p:ph idx="1"/>
          </p:nvPr>
        </p:nvSpPr>
        <p:spPr>
          <a:xfrm>
            <a:off x="115664" y="4180107"/>
            <a:ext cx="13469707" cy="3352809"/>
          </a:xfrm>
        </p:spPr>
        <p:txBody>
          <a:bodyPr/>
          <a:lstStyle/>
          <a:p>
            <a:r>
              <a:rPr lang="en-US" altLang="en-US" sz="3200" dirty="0"/>
              <a:t>The </a:t>
            </a:r>
            <a:r>
              <a:rPr lang="en-US" altLang="en-US" sz="3200" dirty="0" smtClean="0"/>
              <a:t>Accounts Payable Life </a:t>
            </a:r>
            <a:r>
              <a:rPr lang="en-US" altLang="en-US" sz="3200" dirty="0"/>
              <a:t>Cycle:</a:t>
            </a:r>
          </a:p>
          <a:p>
            <a:pPr lvl="1"/>
            <a:r>
              <a:rPr lang="en-US" altLang="en-US" sz="2500" dirty="0" smtClean="0"/>
              <a:t>Invoice is received and a 2 or 3-way match is performed</a:t>
            </a:r>
            <a:endParaRPr lang="en-US" altLang="en-US" sz="2500" dirty="0"/>
          </a:p>
          <a:p>
            <a:pPr lvl="1"/>
            <a:r>
              <a:rPr lang="en-US" altLang="en-US" sz="2500" dirty="0" smtClean="0"/>
              <a:t>Payment is released upon approval</a:t>
            </a:r>
            <a:endParaRPr lang="en-US" altLang="en-US" sz="2500" dirty="0"/>
          </a:p>
          <a:p>
            <a:pPr lvl="1"/>
            <a:r>
              <a:rPr lang="en-US" altLang="en-US" sz="2500" dirty="0" smtClean="0"/>
              <a:t>Payment is made to vendor via either ACH deposit or paper check</a:t>
            </a:r>
            <a:endParaRPr lang="en-US" altLang="en-US" sz="2500" dirty="0"/>
          </a:p>
          <a:p>
            <a:pPr lvl="1"/>
            <a:r>
              <a:rPr lang="en-US" altLang="en-US" sz="2500" dirty="0" smtClean="0"/>
              <a:t>Review of all accounts at period end is done to ensure accounts are balanced</a:t>
            </a:r>
            <a:endParaRPr lang="en-US" altLang="en-US" sz="2500" dirty="0"/>
          </a:p>
          <a:p>
            <a:pPr lvl="1"/>
            <a:r>
              <a:rPr lang="en-US" altLang="en-US" sz="2500" dirty="0" smtClean="0"/>
              <a:t>Generate AP reports as needed</a:t>
            </a:r>
            <a:endParaRPr lang="en-US" altLang="en-US" sz="2500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62466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130D220-9093-409D-9FE0-EFE0B999B6BA}" type="slidenum">
              <a:rPr lang="en-US" altLang="en-US" sz="1600" smtClean="0"/>
              <a:pPr/>
              <a:t>9</a:t>
            </a:fld>
            <a:endParaRPr lang="en-US" altLang="en-US" sz="1600" dirty="0"/>
          </a:p>
        </p:txBody>
      </p:sp>
      <p:graphicFrame>
        <p:nvGraphicFramePr>
          <p:cNvPr id="13" name="Diagram 12"/>
          <p:cNvGraphicFramePr/>
          <p:nvPr>
            <p:extLst>
              <p:ext uri="{D42A27DB-BD31-4B8C-83A1-F6EECF244321}">
                <p14:modId xmlns:p14="http://schemas.microsoft.com/office/powerpoint/2010/main" val="172538454"/>
              </p:ext>
            </p:extLst>
          </p:nvPr>
        </p:nvGraphicFramePr>
        <p:xfrm>
          <a:off x="0" y="726207"/>
          <a:ext cx="13817600" cy="3453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99435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B9DB913-B61D-4E73-9599-3B5D8D001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6769" y="6012815"/>
            <a:ext cx="2882265" cy="1759585"/>
          </a:xfrm>
          <a:prstGeom prst="rect">
            <a:avLst/>
          </a:prstGeom>
        </p:spPr>
      </p:pic>
      <p:sp>
        <p:nvSpPr>
          <p:cNvPr id="624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What’s In It For Me?</a:t>
            </a:r>
          </a:p>
        </p:txBody>
      </p:sp>
      <p:sp>
        <p:nvSpPr>
          <p:cNvPr id="45060" name="Rectangle 4"/>
          <p:cNvSpPr>
            <a:spLocks noGrp="1" noChangeArrowheads="1"/>
          </p:cNvSpPr>
          <p:nvPr>
            <p:ph idx="1"/>
          </p:nvPr>
        </p:nvSpPr>
        <p:spPr>
          <a:xfrm>
            <a:off x="520700" y="885730"/>
            <a:ext cx="12827000" cy="5880066"/>
          </a:xfrm>
        </p:spPr>
        <p:txBody>
          <a:bodyPr lIns="91440" tIns="45720" rIns="91440" bIns="45720" anchor="t"/>
          <a:lstStyle/>
          <a:p>
            <a:pPr marL="0" indent="0">
              <a:buNone/>
              <a:defRPr/>
            </a:pPr>
            <a:r>
              <a:rPr lang="en-US" altLang="en-US" dirty="0"/>
              <a:t>The Bad:</a:t>
            </a:r>
          </a:p>
          <a:p>
            <a:pPr>
              <a:defRPr/>
            </a:pPr>
            <a:r>
              <a:rPr lang="en-US" altLang="en-US" sz="2493" dirty="0" smtClean="0"/>
              <a:t>Potential process changes to accommodate navigation in a new environment</a:t>
            </a:r>
            <a:endParaRPr lang="en-US" altLang="en-US" sz="2493" dirty="0"/>
          </a:p>
          <a:p>
            <a:pPr>
              <a:defRPr/>
            </a:pPr>
            <a:r>
              <a:rPr lang="en-US" altLang="en-US" sz="2493" dirty="0" smtClean="0"/>
              <a:t>Needing to invest time to learn a new system</a:t>
            </a:r>
            <a:endParaRPr lang="en-US" altLang="en-US" dirty="0"/>
          </a:p>
          <a:p>
            <a:pPr marL="0" indent="0">
              <a:buNone/>
              <a:defRPr/>
            </a:pPr>
            <a:r>
              <a:rPr lang="en-US" altLang="en-US" dirty="0"/>
              <a:t>The Good:</a:t>
            </a:r>
          </a:p>
          <a:p>
            <a:r>
              <a:rPr lang="en-US" sz="2800" dirty="0" smtClean="0"/>
              <a:t>Ensures a streamlined invoice matching and approval process</a:t>
            </a:r>
            <a:endParaRPr lang="en-US" altLang="en-US" sz="2800" dirty="0"/>
          </a:p>
          <a:p>
            <a:pPr>
              <a:defRPr/>
            </a:pPr>
            <a:r>
              <a:rPr lang="en-US" sz="2800" dirty="0" smtClean="0"/>
              <a:t>Helps </a:t>
            </a:r>
            <a:r>
              <a:rPr lang="en-US" sz="2800" dirty="0"/>
              <a:t>to ensure the </a:t>
            </a:r>
            <a:r>
              <a:rPr lang="en-US" sz="2800" dirty="0" smtClean="0"/>
              <a:t>AP lifecycle </a:t>
            </a:r>
            <a:r>
              <a:rPr lang="en-US" sz="2800" dirty="0"/>
              <a:t>is managed in a centralized location with on time results and minimal manual </a:t>
            </a:r>
            <a:r>
              <a:rPr lang="en-US" sz="2800" dirty="0" smtClean="0"/>
              <a:t>intervention</a:t>
            </a:r>
            <a:endParaRPr lang="en-US" altLang="en-US" sz="2380" dirty="0"/>
          </a:p>
          <a:p>
            <a:pPr marL="128905" lvl="1" indent="0">
              <a:buClr>
                <a:srgbClr val="867366"/>
              </a:buClr>
              <a:buSzPct val="85000"/>
              <a:buNone/>
              <a:defRPr/>
            </a:pPr>
            <a:r>
              <a:rPr lang="en-US" altLang="en-US" sz="3600" dirty="0"/>
              <a:t>For FAI:</a:t>
            </a:r>
          </a:p>
          <a:p>
            <a:r>
              <a:rPr lang="en-US" sz="2800" dirty="0" smtClean="0"/>
              <a:t>Decrease department </a:t>
            </a:r>
            <a:r>
              <a:rPr lang="en-US" sz="2800" dirty="0"/>
              <a:t>costs through automated postings, self-service tools, and mobile access </a:t>
            </a:r>
            <a:r>
              <a:rPr lang="en-US" sz="2800" dirty="0" smtClean="0"/>
              <a:t>for </a:t>
            </a:r>
            <a:r>
              <a:rPr lang="en-US" sz="2800" dirty="0"/>
              <a:t>key </a:t>
            </a:r>
            <a:r>
              <a:rPr lang="en-US" sz="2800" dirty="0" smtClean="0"/>
              <a:t>payables</a:t>
            </a:r>
            <a:r>
              <a:rPr lang="en-US" sz="2800" dirty="0"/>
              <a:t> information</a:t>
            </a:r>
          </a:p>
        </p:txBody>
      </p:sp>
      <p:sp>
        <p:nvSpPr>
          <p:cNvPr id="62466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130D220-9093-409D-9FE0-EFE0B999B6BA}" type="slidenum">
              <a:rPr lang="en-US" altLang="en-US" sz="1600" smtClean="0"/>
              <a:pPr/>
              <a:t>10</a:t>
            </a:fld>
            <a:endParaRPr lang="en-US" altLang="en-US" sz="1600" dirty="0"/>
          </a:p>
        </p:txBody>
      </p:sp>
      <p:sp>
        <p:nvSpPr>
          <p:cNvPr id="2" name="Rectangle 1"/>
          <p:cNvSpPr/>
          <p:nvPr/>
        </p:nvSpPr>
        <p:spPr>
          <a:xfrm>
            <a:off x="5678559" y="3634368"/>
            <a:ext cx="2460482" cy="503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I’ll just trike-out </a:t>
            </a:r>
          </a:p>
        </p:txBody>
      </p:sp>
    </p:spTree>
    <p:extLst>
      <p:ext uri="{BB962C8B-B14F-4D97-AF65-F5344CB8AC3E}">
        <p14:creationId xmlns:p14="http://schemas.microsoft.com/office/powerpoint/2010/main" val="3967038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3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/>
              <a:t>New Terms</a:t>
            </a:r>
          </a:p>
        </p:txBody>
      </p:sp>
      <p:graphicFrame>
        <p:nvGraphicFramePr>
          <p:cNvPr id="1097732" name="Group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2414005"/>
              </p:ext>
            </p:extLst>
          </p:nvPr>
        </p:nvGraphicFramePr>
        <p:xfrm>
          <a:off x="326570" y="849091"/>
          <a:ext cx="13215257" cy="6780435"/>
        </p:xfrm>
        <a:graphic>
          <a:graphicData uri="http://schemas.openxmlformats.org/drawingml/2006/table">
            <a:tbl>
              <a:tblPr/>
              <a:tblGrid>
                <a:gridCol w="3770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5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609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rgbClr val="867366"/>
                        </a:buClr>
                        <a:buSzPct val="8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114300" algn="l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rgbClr val="FF0000"/>
                        </a:buClr>
                        <a:buSzPct val="12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5715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867366"/>
                        </a:buClr>
                        <a:buSzPct val="12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9715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67366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ujitsu Sans" panose="020B0404060202020204" pitchFamily="34" charset="0"/>
                        </a:rPr>
                        <a:t>New Term</a:t>
                      </a:r>
                    </a:p>
                  </a:txBody>
                  <a:tcPr marL="121249" marR="121249" marT="51816" marB="5181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rgbClr val="867366"/>
                        </a:buClr>
                        <a:buSzPct val="8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114300" algn="l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rgbClr val="FF0000"/>
                        </a:buClr>
                        <a:buSzPct val="12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5715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867366"/>
                        </a:buClr>
                        <a:buSzPct val="12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9715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67366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ujitsu Sans" panose="020B0404060202020204" pitchFamily="34" charset="0"/>
                        </a:rPr>
                        <a:t>Definition</a:t>
                      </a:r>
                    </a:p>
                  </a:txBody>
                  <a:tcPr marL="121249" marR="121249" marT="51816" marB="518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352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rgbClr val="867366"/>
                        </a:buClr>
                        <a:buSzPct val="8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114300" algn="l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rgbClr val="FF0000"/>
                        </a:buClr>
                        <a:buSzPct val="12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5715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867366"/>
                        </a:buClr>
                        <a:buSzPct val="12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9715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67366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ujitsu Sans" panose="020B0404060202020204" pitchFamily="34" charset="0"/>
                          <a:cs typeface="Arial" panose="020B0604020202020204" pitchFamily="34" charset="0"/>
                        </a:rPr>
                        <a:t>Accounts Payable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ujitsu Sans" panose="020B040406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249" marR="121249" marT="51816" marB="51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rgbClr val="867366"/>
                        </a:buClr>
                        <a:buSzPct val="8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114300" algn="l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rgbClr val="FF0000"/>
                        </a:buClr>
                        <a:buSzPct val="12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5715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867366"/>
                        </a:buClr>
                        <a:buSzPct val="12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9715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67366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000" b="0" i="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Fujitsu Sans" panose="020B0404060202020204" pitchFamily="34" charset="0"/>
                          <a:ea typeface="+mn-ea"/>
                          <a:cs typeface="Arial" panose="020B0604020202020204" pitchFamily="34" charset="0"/>
                        </a:rPr>
                        <a:t>A short-term debt that a company accrues when they purchase a good and/or service</a:t>
                      </a:r>
                      <a:endParaRPr lang="en-US" altLang="en-US" sz="2000" b="0" i="0" kern="120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Fujitsu Sans" panose="020B040406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249" marR="121249" marT="51816" marB="51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0088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rgbClr val="867366"/>
                        </a:buClr>
                        <a:buSzPct val="8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114300" algn="l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rgbClr val="FF0000"/>
                        </a:buClr>
                        <a:buSzPct val="12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5715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867366"/>
                        </a:buClr>
                        <a:buSzPct val="12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9715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67366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ujitsu Sans" panose="020B0404060202020204" pitchFamily="34" charset="0"/>
                          <a:cs typeface="Arial" panose="020B0604020202020204" pitchFamily="34" charset="0"/>
                        </a:rPr>
                        <a:t>Accruals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ujitsu Sans" panose="020B040406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249" marR="121249" marT="51816" marB="51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rgbClr val="867366"/>
                        </a:buClr>
                        <a:buSzPct val="8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114300" algn="l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rgbClr val="FF0000"/>
                        </a:buClr>
                        <a:buSzPct val="12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5715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867366"/>
                        </a:buClr>
                        <a:buSzPct val="12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9715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67366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000" b="0" i="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Fujitsu Sans" panose="020B0404060202020204" pitchFamily="34" charset="0"/>
                          <a:ea typeface="+mn-ea"/>
                          <a:cs typeface="Arial" panose="020B0604020202020204" pitchFamily="34" charset="0"/>
                        </a:rPr>
                        <a:t>Recording of expenses incurred in a period for which no invoice or payment has changed hands by the end of that period. 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67366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000" b="0" i="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Fujitsu Sans" panose="020B0404060202020204" pitchFamily="34" charset="0"/>
                          <a:ea typeface="+mn-ea"/>
                          <a:cs typeface="Arial" panose="020B0604020202020204" pitchFamily="34" charset="0"/>
                        </a:rPr>
                        <a:t>Accruals enable company’s to be more accurate on their cash flow forecasts</a:t>
                      </a:r>
                      <a:endParaRPr lang="en-US" altLang="en-US" sz="2000" b="0" i="0" kern="120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Fujitsu Sans" panose="020B040406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249" marR="121249" marT="51816" marB="51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2613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rgbClr val="867366"/>
                        </a:buClr>
                        <a:buSzPct val="8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114300" algn="l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rgbClr val="FF0000"/>
                        </a:buClr>
                        <a:buSzPct val="12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5715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867366"/>
                        </a:buClr>
                        <a:buSzPct val="12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9715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67366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ujitsu Sans" panose="020B0404060202020204" pitchFamily="34" charset="0"/>
                          <a:cs typeface="Arial" panose="020B0604020202020204" pitchFamily="34" charset="0"/>
                        </a:rPr>
                        <a:t>Credit Memo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ujitsu Sans" panose="020B040406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249" marR="121249" marT="51816" marB="51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rgbClr val="867366"/>
                        </a:buClr>
                        <a:buSzPct val="8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114300" algn="l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rgbClr val="FF0000"/>
                        </a:buClr>
                        <a:buSzPct val="12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5715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867366"/>
                        </a:buClr>
                        <a:buSzPct val="12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9715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67366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000" b="0" i="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Fujitsu Sans" panose="020B0404060202020204" pitchFamily="34" charset="0"/>
                          <a:ea typeface="+mn-ea"/>
                          <a:cs typeface="Arial" panose="020B0604020202020204" pitchFamily="34" charset="0"/>
                        </a:rPr>
                        <a:t>A document issued by a vendor to a buyer that offsets a specified amount from an invoice, which makes good issues such as damaged/returned goods, lack of delivery, incorrect pricing, freight charges etc.. 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67366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000" b="0" i="0" kern="12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Fujitsu Sans" panose="020B0404060202020204" pitchFamily="34" charset="0"/>
                          <a:ea typeface="+mn-ea"/>
                          <a:cs typeface="Arial" panose="020B0604020202020204" pitchFamily="34" charset="0"/>
                        </a:rPr>
                        <a:t>Vendors usually apply credit memo amount to a customers outstanding balances or issues the customer a refund</a:t>
                      </a:r>
                      <a:endParaRPr lang="en-US" altLang="en-US" sz="2000" b="0" i="0" kern="120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Fujitsu Sans" panose="020B040406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249" marR="121249" marT="51816" marB="51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8218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rgbClr val="867366"/>
                        </a:buClr>
                        <a:buSzPct val="8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114300" algn="l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rgbClr val="FF0000"/>
                        </a:buClr>
                        <a:buSzPct val="12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5715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867366"/>
                        </a:buClr>
                        <a:buSzPct val="12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9715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67366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ujitsu Sans" panose="020B0404060202020204" pitchFamily="34" charset="0"/>
                          <a:cs typeface="Arial" panose="020B0604020202020204" pitchFamily="34" charset="0"/>
                        </a:rPr>
                        <a:t>Debit Balance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ujitsu Sans" panose="020B040406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249" marR="121249" marT="51816" marB="51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rgbClr val="867366"/>
                        </a:buClr>
                        <a:buSzPct val="8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114300" algn="l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rgbClr val="FF0000"/>
                        </a:buClr>
                        <a:buSzPct val="12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5715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867366"/>
                        </a:buClr>
                        <a:buSzPct val="12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9715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67366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000" b="0" i="0" kern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Fujitsu Sans" panose="020B0404060202020204" pitchFamily="34" charset="0"/>
                          <a:ea typeface="+mn-ea"/>
                          <a:cs typeface="Arial" panose="020B0604020202020204" pitchFamily="34" charset="0"/>
                        </a:rPr>
                        <a:t>Represents an asset or expense for a company; in a general ledger account, represents a vendor’s debt owed to a company, which can occur as a result of returns, rebates allowances and chargebacks</a:t>
                      </a:r>
                      <a:endParaRPr lang="en-US" altLang="en-US" sz="2000" b="0" i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Fujitsu Sans" panose="020B040406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249" marR="121249" marT="51816" marB="51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47623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rgbClr val="867366"/>
                        </a:buClr>
                        <a:buSzPct val="8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114300" algn="l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rgbClr val="FF0000"/>
                        </a:buClr>
                        <a:buSzPct val="12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5715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867366"/>
                        </a:buClr>
                        <a:buSzPct val="12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9715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67366"/>
                        </a:buClr>
                        <a:buSzPct val="8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Fujitsu Sans" panose="020B0404060202020204" pitchFamily="34" charset="0"/>
                          <a:cs typeface="Arial" panose="020B0604020202020204" pitchFamily="34" charset="0"/>
                        </a:rPr>
                        <a:t>Invoice Matching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ujitsu Sans" panose="020B040406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249" marR="121249" marT="51816" marB="518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rgbClr val="867366"/>
                        </a:buClr>
                        <a:buSzPct val="8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114300" algn="l">
                        <a:lnSpc>
                          <a:spcPct val="90000"/>
                        </a:lnSpc>
                        <a:spcBef>
                          <a:spcPct val="50000"/>
                        </a:spcBef>
                        <a:buClr>
                          <a:srgbClr val="FF0000"/>
                        </a:buClr>
                        <a:buSzPct val="12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57150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rgbClr val="867366"/>
                        </a:buClr>
                        <a:buSzPct val="12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971550" algn="l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67366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000" b="0" i="0" kern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Fujitsu Sans" panose="020B0404060202020204" pitchFamily="34" charset="0"/>
                          <a:ea typeface="+mn-ea"/>
                          <a:cs typeface="Arial" panose="020B0604020202020204" pitchFamily="34" charset="0"/>
                        </a:rPr>
                        <a:t>The process in which information on a supplier’s invoice is compared with relevant documents, such as a service contract, purchase order or goods receipt. 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67366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000" b="0" i="0" kern="12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Fujitsu Sans" panose="020B0404060202020204" pitchFamily="34" charset="0"/>
                          <a:ea typeface="+mn-ea"/>
                          <a:cs typeface="Arial" panose="020B0604020202020204" pitchFamily="34" charset="0"/>
                        </a:rPr>
                        <a:t>The process of matching, approving and reconciling invoices may be time-consuming, leading to delays in settling payments</a:t>
                      </a:r>
                      <a:endParaRPr lang="en-US" altLang="en-US" sz="2000" b="0" i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Fujitsu Sans" panose="020B040406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1249" marR="121249" marT="51816" marB="518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213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3830" y="6152110"/>
            <a:ext cx="222377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Unit 1, # </a:t>
            </a:r>
            <a:r>
              <a:rPr lang="en-US" altLang="en-US" dirty="0" smtClean="0"/>
              <a:t>1</a:t>
            </a:r>
            <a:endParaRPr lang="en-US" altLang="en-US" dirty="0"/>
          </a:p>
        </p:txBody>
      </p:sp>
      <p:sp>
        <p:nvSpPr>
          <p:cNvPr id="73733" name="Rectangle 3"/>
          <p:cNvSpPr>
            <a:spLocks noGrp="1" noChangeArrowheads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r>
              <a:rPr lang="en-US" altLang="en-US" dirty="0" smtClean="0">
                <a:latin typeface="Fujitsu Sans"/>
              </a:rPr>
              <a:t>What is the role of AP?</a:t>
            </a:r>
            <a:endParaRPr lang="en-US" altLang="en-US" dirty="0">
              <a:latin typeface="Fujitsu Sans"/>
            </a:endParaRPr>
          </a:p>
          <a:p>
            <a:pPr marL="517525" indent="-517525"/>
            <a:endParaRPr lang="en-US" altLang="en-US" dirty="0"/>
          </a:p>
          <a:p>
            <a:pPr marL="517525" indent="-517525"/>
            <a:endParaRPr lang="en-US" altLang="en-US" dirty="0"/>
          </a:p>
          <a:p>
            <a:pPr marL="517525" indent="-517525"/>
            <a:endParaRPr lang="en-US" alt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C67485-719C-460B-BE50-F908EA1276DE}" type="slidenum">
              <a:rPr lang="en-US" altLang="en-US" sz="1600" smtClean="0"/>
              <a:pPr/>
              <a:t>12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94506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Unit 1, # </a:t>
            </a:r>
            <a:r>
              <a:rPr lang="en-US" altLang="en-US" dirty="0" smtClean="0"/>
              <a:t>1</a:t>
            </a:r>
            <a:endParaRPr lang="en-US" altLang="en-US" dirty="0"/>
          </a:p>
        </p:txBody>
      </p:sp>
      <p:sp>
        <p:nvSpPr>
          <p:cNvPr id="45060" name="Rectangle 4"/>
          <p:cNvSpPr>
            <a:spLocks noGrp="1" noChangeArrowheads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altLang="en-US" dirty="0" smtClean="0">
                <a:latin typeface="Fujitsu Sans"/>
              </a:rPr>
              <a:t>What is the role of AP?</a:t>
            </a:r>
            <a:endParaRPr lang="en-US" altLang="en-US" dirty="0">
              <a:latin typeface="Fujitsu Sans"/>
            </a:endParaRPr>
          </a:p>
          <a:p>
            <a:pPr marL="517525" indent="-517525"/>
            <a:endParaRPr lang="en-US" altLang="en-US" dirty="0"/>
          </a:p>
          <a:p>
            <a:pPr marL="1122045" lvl="1" indent="-431165"/>
            <a:r>
              <a:rPr lang="en-US" i="1" dirty="0" smtClean="0">
                <a:solidFill>
                  <a:srgbClr val="FF0000"/>
                </a:solidFill>
              </a:rPr>
              <a:t>AP’s </a:t>
            </a:r>
            <a:r>
              <a:rPr lang="en-US" i="1" dirty="0">
                <a:solidFill>
                  <a:srgbClr val="FF0000"/>
                </a:solidFill>
              </a:rPr>
              <a:t>role is to complete </a:t>
            </a:r>
            <a:r>
              <a:rPr lang="en-US" i="1" dirty="0" smtClean="0">
                <a:solidFill>
                  <a:srgbClr val="FF0000"/>
                </a:solidFill>
              </a:rPr>
              <a:t>payments, </a:t>
            </a:r>
            <a:r>
              <a:rPr lang="en-US" i="1" dirty="0">
                <a:solidFill>
                  <a:srgbClr val="FF0000"/>
                </a:solidFill>
              </a:rPr>
              <a:t>plus processing, verifying and reconciling invoices</a:t>
            </a:r>
          </a:p>
          <a:p>
            <a:pPr marL="1122045" lvl="1" indent="-431165"/>
            <a:endParaRPr lang="en-US" i="1" dirty="0" smtClean="0">
              <a:solidFill>
                <a:srgbClr val="FF0000"/>
              </a:solidFill>
            </a:endParaRPr>
          </a:p>
          <a:p>
            <a:pPr marL="1122045" lvl="1" indent="-431165"/>
            <a:endParaRPr lang="en-US" altLang="en-US" i="1" dirty="0" smtClean="0">
              <a:solidFill>
                <a:srgbClr val="FF0000"/>
              </a:solidFill>
              <a:latin typeface="Fujitsu Sans"/>
            </a:endParaRPr>
          </a:p>
          <a:p>
            <a:pPr marL="690245" lvl="1" indent="0">
              <a:buNone/>
            </a:pPr>
            <a:endParaRPr lang="en-US" altLang="en-US" dirty="0"/>
          </a:p>
        </p:txBody>
      </p:sp>
      <p:sp>
        <p:nvSpPr>
          <p:cNvPr id="62466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130D220-9093-409D-9FE0-EFE0B999B6BA}" type="slidenum">
              <a:rPr lang="en-US" altLang="en-US" sz="1600" smtClean="0"/>
              <a:pPr/>
              <a:t>13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13507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 descr="MCj04415100000[1]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7983" y="5924070"/>
            <a:ext cx="1859619" cy="1859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Summary – Unit </a:t>
            </a:r>
          </a:p>
        </p:txBody>
      </p:sp>
      <p:sp>
        <p:nvSpPr>
          <p:cNvPr id="77829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You </a:t>
            </a:r>
            <a:r>
              <a:rPr lang="en-US" altLang="en-US" dirty="0" smtClean="0"/>
              <a:t>should now </a:t>
            </a:r>
            <a:r>
              <a:rPr lang="en-US" altLang="en-US" dirty="0"/>
              <a:t>be able to:</a:t>
            </a:r>
          </a:p>
          <a:p>
            <a:r>
              <a:rPr lang="en-US" altLang="en-US" dirty="0"/>
              <a:t>Describe the accounts </a:t>
            </a:r>
            <a:r>
              <a:rPr lang="en-US" altLang="en-US" dirty="0" smtClean="0"/>
              <a:t>payable </a:t>
            </a:r>
            <a:r>
              <a:rPr lang="en-US" altLang="en-US" dirty="0"/>
              <a:t>process</a:t>
            </a:r>
          </a:p>
          <a:p>
            <a:r>
              <a:rPr lang="en-US" altLang="en-US" dirty="0"/>
              <a:t>Define new SAP terms for accounts </a:t>
            </a:r>
            <a:r>
              <a:rPr lang="en-US" altLang="en-US" dirty="0" smtClean="0"/>
              <a:t>payable</a:t>
            </a:r>
            <a:endParaRPr lang="en-US" altLang="en-US" dirty="0"/>
          </a:p>
        </p:txBody>
      </p:sp>
      <p:sp>
        <p:nvSpPr>
          <p:cNvPr id="77827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64D916E-780F-4F36-9EEA-B0E6C110BE23}" type="slidenum">
              <a:rPr lang="en-US" altLang="en-US" sz="1600" smtClean="0"/>
              <a:pPr/>
              <a:t>14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30436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20700" y="1081669"/>
            <a:ext cx="12827000" cy="5880066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83971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0A293A-6492-4A1F-A0D4-05E445FB280C}" type="slidenum">
              <a:rPr lang="en-US" altLang="en-US" sz="1600" smtClean="0"/>
              <a:pPr/>
              <a:t>15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36421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Unit 1 – Introduction – </a:t>
            </a:r>
            <a:r>
              <a:rPr lang="en-US" altLang="en-US" dirty="0" smtClean="0"/>
              <a:t>Accounts Payable (20 </a:t>
            </a:r>
            <a:r>
              <a:rPr lang="en-US" altLang="en-US" dirty="0"/>
              <a:t>mins) </a:t>
            </a:r>
          </a:p>
          <a:p>
            <a:r>
              <a:rPr lang="en-US" altLang="en-US" dirty="0" smtClean="0"/>
              <a:t>Unit </a:t>
            </a:r>
            <a:r>
              <a:rPr lang="en-US" altLang="en-US" dirty="0"/>
              <a:t>2</a:t>
            </a:r>
            <a:r>
              <a:rPr lang="en-US" altLang="en-US" dirty="0" smtClean="0"/>
              <a:t> </a:t>
            </a:r>
            <a:r>
              <a:rPr lang="en-US" altLang="en-US" dirty="0" smtClean="0"/>
              <a:t>– Enter/Park a Vendor Invoice (60 mins)</a:t>
            </a:r>
            <a:endParaRPr lang="en-US" altLang="en-US" dirty="0"/>
          </a:p>
          <a:p>
            <a:r>
              <a:rPr lang="en-US" altLang="en-US" dirty="0"/>
              <a:t>Unit </a:t>
            </a:r>
            <a:r>
              <a:rPr lang="en-US" altLang="en-US" dirty="0"/>
              <a:t>3</a:t>
            </a:r>
            <a:r>
              <a:rPr lang="en-US" altLang="en-US" dirty="0" smtClean="0"/>
              <a:t> </a:t>
            </a:r>
            <a:r>
              <a:rPr lang="en-US" altLang="en-US" dirty="0"/>
              <a:t>– </a:t>
            </a:r>
            <a:r>
              <a:rPr lang="en-US" altLang="en-US" dirty="0" smtClean="0"/>
              <a:t>Enter a Vendor Credit Memo (60 </a:t>
            </a:r>
            <a:r>
              <a:rPr lang="en-US" altLang="en-US" dirty="0"/>
              <a:t>mins</a:t>
            </a:r>
            <a:r>
              <a:rPr lang="en-US" altLang="en-US" dirty="0" smtClean="0"/>
              <a:t>)</a:t>
            </a:r>
          </a:p>
          <a:p>
            <a:r>
              <a:rPr lang="en-US" altLang="en-US" dirty="0" smtClean="0"/>
              <a:t>Unit 4 - </a:t>
            </a:r>
            <a:r>
              <a:rPr lang="en-US" altLang="en-US" dirty="0"/>
              <a:t>Create a Vendor Account (30 mins</a:t>
            </a:r>
            <a:r>
              <a:rPr lang="en-US" altLang="en-US" dirty="0" smtClean="0"/>
              <a:t>)</a:t>
            </a:r>
            <a:endParaRPr lang="en-US" altLang="en-US" dirty="0" smtClean="0"/>
          </a:p>
          <a:p>
            <a:r>
              <a:rPr lang="en-US" altLang="en-US" dirty="0" smtClean="0"/>
              <a:t>Unit 5 – Summary (10 mins)</a:t>
            </a:r>
            <a:endParaRPr lang="en-US" altLang="en-US" dirty="0"/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Agenda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C3236A-0750-4F69-BC22-0115EAA85BF4}" type="slidenum">
              <a:rPr lang="en-US" altLang="en-US" sz="1600" smtClean="0"/>
              <a:pPr/>
              <a:t>16</a:t>
            </a:fld>
            <a:endParaRPr lang="en-US" altLang="en-US" sz="1600" dirty="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520699" y="1764505"/>
            <a:ext cx="11366501" cy="65211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762000">
              <a:lnSpc>
                <a:spcPct val="90000"/>
              </a:lnSpc>
              <a:spcBef>
                <a:spcPct val="50000"/>
              </a:spcBef>
              <a:buClr>
                <a:srgbClr val="867366"/>
              </a:buClr>
              <a:buSzPct val="85000"/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indent="-342900" defTabSz="762000">
              <a:lnSpc>
                <a:spcPct val="90000"/>
              </a:lnSpc>
              <a:spcBef>
                <a:spcPct val="50000"/>
              </a:spcBef>
              <a:buClr>
                <a:srgbClr val="FF0000"/>
              </a:buClr>
              <a:buSzPct val="12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285750" defTabSz="762000">
              <a:lnSpc>
                <a:spcPct val="90000"/>
              </a:lnSpc>
              <a:spcBef>
                <a:spcPct val="20000"/>
              </a:spcBef>
              <a:buClr>
                <a:srgbClr val="867366"/>
              </a:buClr>
              <a:buSzPct val="120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87450" indent="-215900" defTabSz="7620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o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SzPct val="80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3200" b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904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 descr="bss00071"/>
          <p:cNvPicPr>
            <a:picLocks noChangeAspect="1" noChangeArrowheads="1"/>
          </p:cNvPicPr>
          <p:nvPr/>
        </p:nvPicPr>
        <p:blipFill>
          <a:blip r:embed="rId3">
            <a:lum bright="76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46"/>
          <a:stretch>
            <a:fillRect/>
          </a:stretch>
        </p:blipFill>
        <p:spPr bwMode="auto">
          <a:xfrm>
            <a:off x="12090400" y="5732544"/>
            <a:ext cx="1727200" cy="2039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</a:t>
            </a:r>
            <a:endParaRPr lang="en-US" altLang="en-US" dirty="0"/>
          </a:p>
        </p:txBody>
      </p:sp>
      <p:sp>
        <p:nvSpPr>
          <p:cNvPr id="43013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You </a:t>
            </a:r>
            <a:r>
              <a:rPr lang="en-US" altLang="en-US" dirty="0" smtClean="0"/>
              <a:t>should </a:t>
            </a:r>
            <a:r>
              <a:rPr lang="en-US" altLang="en-US" dirty="0"/>
              <a:t>be able to:</a:t>
            </a:r>
          </a:p>
          <a:p>
            <a:r>
              <a:rPr lang="en-US" altLang="en-US" dirty="0" smtClean="0"/>
              <a:t>Enter a credit memo</a:t>
            </a:r>
          </a:p>
          <a:p>
            <a:r>
              <a:rPr lang="en-US" altLang="en-US" dirty="0" smtClean="0"/>
              <a:t>Initiate the automatic clearing process</a:t>
            </a:r>
          </a:p>
          <a:p>
            <a:r>
              <a:rPr lang="en-US" altLang="en-US" dirty="0" smtClean="0"/>
              <a:t>Initiate a post with clearing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C3236A-0750-4F69-BC22-0115EAA85BF4}" type="slidenum">
              <a:rPr lang="en-US" altLang="en-US" sz="1600" smtClean="0"/>
              <a:pPr/>
              <a:t>17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79860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/>
          </p:nvPr>
        </p:nvGraphicFramePr>
        <p:xfrm>
          <a:off x="0" y="6396711"/>
          <a:ext cx="5104659" cy="14586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45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Entering a Vendor Credit Memo</a:t>
            </a:r>
            <a:endParaRPr lang="en-US" altLang="en-US" dirty="0"/>
          </a:p>
        </p:txBody>
      </p:sp>
      <p:sp>
        <p:nvSpPr>
          <p:cNvPr id="64516" name="Rectangle 4"/>
          <p:cNvSpPr>
            <a:spLocks noGrp="1" noChangeArrowheads="1"/>
          </p:cNvSpPr>
          <p:nvPr>
            <p:ph idx="1"/>
          </p:nvPr>
        </p:nvSpPr>
        <p:spPr>
          <a:xfrm>
            <a:off x="520700" y="1364692"/>
            <a:ext cx="12827000" cy="5880066"/>
          </a:xfrm>
        </p:spPr>
        <p:txBody>
          <a:bodyPr/>
          <a:lstStyle/>
          <a:p>
            <a:r>
              <a:rPr lang="en-US" altLang="en-US" dirty="0" smtClean="0"/>
              <a:t>Credit memos can be applied to a vendor’s account as a payment or reduction in cost</a:t>
            </a:r>
          </a:p>
          <a:p>
            <a:endParaRPr lang="en-US" altLang="en-US" dirty="0"/>
          </a:p>
          <a:p>
            <a:r>
              <a:rPr lang="en-US" altLang="en-US" dirty="0" smtClean="0"/>
              <a:t>Credit memo must be entered manually in the system</a:t>
            </a:r>
          </a:p>
          <a:p>
            <a:endParaRPr lang="en-US" altLang="en-US" dirty="0"/>
          </a:p>
          <a:p>
            <a:r>
              <a:rPr lang="en-US" altLang="en-US" dirty="0" smtClean="0"/>
              <a:t>Reasons for a credit memo include:</a:t>
            </a:r>
          </a:p>
          <a:p>
            <a:pPr lvl="1"/>
            <a:r>
              <a:rPr lang="en-US" dirty="0" smtClean="0"/>
              <a:t>Refund for damaged goods</a:t>
            </a:r>
          </a:p>
          <a:p>
            <a:pPr lvl="1"/>
            <a:r>
              <a:rPr lang="en-US" dirty="0" smtClean="0"/>
              <a:t>Return of goods/Canceled services</a:t>
            </a:r>
          </a:p>
          <a:p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6451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6FE162-D387-498F-AEA6-BD416347918F}" type="slidenum">
              <a:rPr lang="en-US" altLang="en-US" sz="1600" smtClean="0"/>
              <a:pPr/>
              <a:t>18</a:t>
            </a:fld>
            <a:endParaRPr lang="en-US" alt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498929" y="6621973"/>
            <a:ext cx="850916" cy="87053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052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914" y="1098694"/>
            <a:ext cx="9601200" cy="63420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235" y="101482"/>
            <a:ext cx="12177267" cy="624725"/>
          </a:xfrm>
        </p:spPr>
        <p:txBody>
          <a:bodyPr/>
          <a:lstStyle/>
          <a:p>
            <a:r>
              <a:rPr lang="en-US" dirty="0" smtClean="0"/>
              <a:t>Enter Credit Memo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083" y="951043"/>
            <a:ext cx="3830867" cy="5880066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Some fields required prior to entering a credit memo include:</a:t>
            </a:r>
          </a:p>
          <a:p>
            <a:pPr lvl="1"/>
            <a:r>
              <a:rPr lang="en-US" dirty="0" smtClean="0"/>
              <a:t>Vendor</a:t>
            </a:r>
          </a:p>
          <a:p>
            <a:pPr lvl="1"/>
            <a:r>
              <a:rPr lang="en-US" dirty="0" smtClean="0"/>
              <a:t>Document Date</a:t>
            </a:r>
          </a:p>
          <a:p>
            <a:pPr lvl="1"/>
            <a:r>
              <a:rPr lang="en-US" dirty="0" smtClean="0"/>
              <a:t>Amount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73511" y="3138545"/>
            <a:ext cx="4269014" cy="252202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69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Enter a Credit Memo – Process Flowchart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r>
              <a:rPr lang="en-US" sz="1600" dirty="0">
                <a:latin typeface="Arial" panose="020B0604020202020204" pitchFamily="34" charset="0"/>
              </a:rPr>
              <a:t>59</a:t>
            </a:r>
          </a:p>
          <a:p>
            <a:endParaRPr lang="en-US" dirty="0"/>
          </a:p>
        </p:txBody>
      </p:sp>
      <p:sp>
        <p:nvSpPr>
          <p:cNvPr id="3" name="Flowchart: Decision 2"/>
          <p:cNvSpPr/>
          <p:nvPr/>
        </p:nvSpPr>
        <p:spPr>
          <a:xfrm>
            <a:off x="1871888" y="2632510"/>
            <a:ext cx="1339088" cy="1188720"/>
          </a:xfrm>
          <a:prstGeom prst="flowChartDecision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Decision</a:t>
            </a:r>
          </a:p>
        </p:txBody>
      </p:sp>
      <p:sp>
        <p:nvSpPr>
          <p:cNvPr id="6" name="Flowchart: Process 5"/>
          <p:cNvSpPr/>
          <p:nvPr/>
        </p:nvSpPr>
        <p:spPr>
          <a:xfrm>
            <a:off x="1871888" y="4196135"/>
            <a:ext cx="1339088" cy="800365"/>
          </a:xfrm>
          <a:prstGeom prst="flowChartProcess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53" tIns="45720" rIns="41453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Activity Outside of OneERP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Name Only</a:t>
            </a:r>
          </a:p>
        </p:txBody>
      </p:sp>
      <p:sp>
        <p:nvSpPr>
          <p:cNvPr id="10" name="Flowchart: Document 9"/>
          <p:cNvSpPr/>
          <p:nvPr/>
        </p:nvSpPr>
        <p:spPr>
          <a:xfrm>
            <a:off x="1871888" y="6459011"/>
            <a:ext cx="1339088" cy="800365"/>
          </a:xfrm>
          <a:prstGeom prst="flowChartDocumen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53" tIns="45720" rIns="41453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Output</a:t>
            </a:r>
          </a:p>
        </p:txBody>
      </p:sp>
      <p:cxnSp>
        <p:nvCxnSpPr>
          <p:cNvPr id="12" name="Elbow Connector 11"/>
          <p:cNvCxnSpPr/>
          <p:nvPr/>
        </p:nvCxnSpPr>
        <p:spPr>
          <a:xfrm>
            <a:off x="4209958" y="2057401"/>
            <a:ext cx="2045970" cy="1085850"/>
          </a:xfrm>
          <a:prstGeom prst="bentConnector3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>
            <a:off x="336651" y="1386011"/>
            <a:ext cx="13168363" cy="6013959"/>
            <a:chOff x="255726" y="915566"/>
            <a:chExt cx="8714358" cy="3979826"/>
          </a:xfrm>
        </p:grpSpPr>
        <p:grpSp>
          <p:nvGrpSpPr>
            <p:cNvPr id="8" name="Group 7"/>
            <p:cNvGrpSpPr/>
            <p:nvPr/>
          </p:nvGrpSpPr>
          <p:grpSpPr>
            <a:xfrm>
              <a:off x="255726" y="915566"/>
              <a:ext cx="8713663" cy="3979826"/>
              <a:chOff x="250825" y="968188"/>
              <a:chExt cx="8425632" cy="3907815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250826" y="968188"/>
                <a:ext cx="8425631" cy="390781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endParaRPr lang="en-US" sz="4039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250825" y="968188"/>
                <a:ext cx="8425632" cy="235410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t" anchorCtr="0">
                <a:normAutofit lnSpcReduction="10000"/>
              </a:bodyPr>
              <a:lstStyle/>
              <a:p>
                <a:pPr algn="ctr"/>
                <a:endParaRPr lang="en-US" sz="2418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" name="Flowchart: Process 10"/>
            <p:cNvSpPr/>
            <p:nvPr/>
          </p:nvSpPr>
          <p:spPr>
            <a:xfrm>
              <a:off x="256421" y="1871056"/>
              <a:ext cx="8713663" cy="792088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sz="4039" dirty="0">
                <a:solidFill>
                  <a:schemeClr val="tx1"/>
                </a:solidFill>
              </a:endParaRPr>
            </a:p>
          </p:txBody>
        </p:sp>
        <p:sp>
          <p:nvSpPr>
            <p:cNvPr id="13" name="Flowchart: Process 12"/>
            <p:cNvSpPr/>
            <p:nvPr/>
          </p:nvSpPr>
          <p:spPr>
            <a:xfrm>
              <a:off x="255726" y="3388599"/>
              <a:ext cx="8713663" cy="792088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sz="4039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81700" y="1748878"/>
            <a:ext cx="562449" cy="5623438"/>
            <a:chOff x="248746" y="1164260"/>
            <a:chExt cx="372209" cy="3721393"/>
          </a:xfrm>
        </p:grpSpPr>
        <p:sp>
          <p:nvSpPr>
            <p:cNvPr id="15" name="Flowchart: Process 14"/>
            <p:cNvSpPr/>
            <p:nvPr/>
          </p:nvSpPr>
          <p:spPr>
            <a:xfrm>
              <a:off x="259525" y="1164260"/>
              <a:ext cx="360735" cy="696264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41453" bIns="41453" rtlCol="0" anchor="ctr" anchorCtr="1">
              <a:normAutofit lnSpcReduction="10000"/>
            </a:bodyPr>
            <a:lstStyle/>
            <a:p>
              <a:pPr algn="ctr"/>
              <a:r>
                <a:rPr lang="en-US" sz="1587" dirty="0" smtClean="0">
                  <a:solidFill>
                    <a:schemeClr val="tx1"/>
                  </a:solidFill>
                </a:rPr>
                <a:t>AP Manager</a:t>
              </a:r>
              <a:endParaRPr lang="en-US" sz="1587" dirty="0">
                <a:solidFill>
                  <a:schemeClr val="tx1"/>
                </a:solidFill>
              </a:endParaRPr>
            </a:p>
          </p:txBody>
        </p:sp>
        <p:sp>
          <p:nvSpPr>
            <p:cNvPr id="16" name="Flowchart: Process 15"/>
            <p:cNvSpPr/>
            <p:nvPr/>
          </p:nvSpPr>
          <p:spPr>
            <a:xfrm>
              <a:off x="259525" y="1871056"/>
              <a:ext cx="360735" cy="782349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41453" bIns="41453" rtlCol="0" anchor="ctr" anchorCtr="0">
              <a:normAutofit lnSpcReduction="10000"/>
            </a:bodyPr>
            <a:lstStyle/>
            <a:p>
              <a:pPr algn="ctr"/>
              <a:r>
                <a:rPr lang="en-US" sz="1587" dirty="0" smtClean="0">
                  <a:solidFill>
                    <a:schemeClr val="tx1"/>
                  </a:solidFill>
                </a:rPr>
                <a:t>Data Entry Team</a:t>
              </a:r>
              <a:endParaRPr lang="en-US" sz="1587" dirty="0">
                <a:solidFill>
                  <a:schemeClr val="tx1"/>
                </a:solidFill>
              </a:endParaRPr>
            </a:p>
          </p:txBody>
        </p:sp>
        <p:sp>
          <p:nvSpPr>
            <p:cNvPr id="17" name="Flowchart: Process 16"/>
            <p:cNvSpPr/>
            <p:nvPr/>
          </p:nvSpPr>
          <p:spPr>
            <a:xfrm>
              <a:off x="248746" y="2672883"/>
              <a:ext cx="360735" cy="725455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41453" bIns="41453" rtlCol="0" anchor="ctr" anchorCtr="1">
              <a:normAutofit/>
            </a:bodyPr>
            <a:lstStyle/>
            <a:p>
              <a:pPr algn="ctr"/>
              <a:endParaRPr lang="en-US" sz="1587" dirty="0">
                <a:solidFill>
                  <a:schemeClr val="tx1"/>
                </a:solidFill>
              </a:endParaRPr>
            </a:p>
          </p:txBody>
        </p:sp>
        <p:sp>
          <p:nvSpPr>
            <p:cNvPr id="18" name="Flowchart: Process 17"/>
            <p:cNvSpPr/>
            <p:nvPr/>
          </p:nvSpPr>
          <p:spPr>
            <a:xfrm>
              <a:off x="260220" y="3388599"/>
              <a:ext cx="360735" cy="782349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41453" bIns="41453" rtlCol="0" anchor="ctr" anchorCtr="1">
              <a:normAutofit/>
            </a:bodyPr>
            <a:lstStyle/>
            <a:p>
              <a:pPr algn="ctr"/>
              <a:endParaRPr lang="en-US" sz="1587" dirty="0">
                <a:solidFill>
                  <a:schemeClr val="tx1"/>
                </a:solidFill>
              </a:endParaRPr>
            </a:p>
          </p:txBody>
        </p:sp>
        <p:sp>
          <p:nvSpPr>
            <p:cNvPr id="19" name="Flowchart: Process 18"/>
            <p:cNvSpPr/>
            <p:nvPr/>
          </p:nvSpPr>
          <p:spPr>
            <a:xfrm>
              <a:off x="260220" y="4180687"/>
              <a:ext cx="360735" cy="704966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41453" bIns="41453" rtlCol="0" anchor="ctr" anchorCtr="1">
              <a:normAutofit/>
            </a:bodyPr>
            <a:lstStyle/>
            <a:p>
              <a:pPr algn="ctr"/>
              <a:endParaRPr lang="en-US" sz="1587" dirty="0">
                <a:solidFill>
                  <a:schemeClr val="tx1"/>
                </a:solidFill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355206" y="1306550"/>
            <a:ext cx="2809680" cy="4644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18" dirty="0" smtClean="0"/>
              <a:t>Enter a Credit Memo</a:t>
            </a:r>
            <a:endParaRPr lang="en-US" sz="2418" dirty="0"/>
          </a:p>
        </p:txBody>
      </p:sp>
      <p:sp>
        <p:nvSpPr>
          <p:cNvPr id="25" name="Flowchart: Process 24"/>
          <p:cNvSpPr/>
          <p:nvPr/>
        </p:nvSpPr>
        <p:spPr>
          <a:xfrm>
            <a:off x="1116897" y="1850854"/>
            <a:ext cx="1223380" cy="870497"/>
          </a:xfrm>
          <a:prstGeom prst="flowChartProcess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53" tIns="45720" rIns="41453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Credit Memo reviewed by Manager before entry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2374985" y="3434218"/>
            <a:ext cx="271761" cy="0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owchart: Terminator 27"/>
          <p:cNvSpPr/>
          <p:nvPr/>
        </p:nvSpPr>
        <p:spPr>
          <a:xfrm>
            <a:off x="7980845" y="3283768"/>
            <a:ext cx="865385" cy="276446"/>
          </a:xfrm>
          <a:prstGeom prst="flowChartTerminator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/>
          <a:lstStyle/>
          <a:p>
            <a:pPr algn="ctr"/>
            <a:r>
              <a:rPr lang="en-US" sz="1360" dirty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End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4051888" y="3426757"/>
            <a:ext cx="294553" cy="3007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5711868" y="3423577"/>
            <a:ext cx="294553" cy="3007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owchart: Process 30"/>
          <p:cNvSpPr/>
          <p:nvPr/>
        </p:nvSpPr>
        <p:spPr>
          <a:xfrm>
            <a:off x="4381149" y="3034919"/>
            <a:ext cx="1330719" cy="792022"/>
          </a:xfrm>
          <a:prstGeom prst="flowChartProcess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53" tIns="45720" rIns="41453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Original invoice ref # required</a:t>
            </a:r>
            <a:endParaRPr lang="en-US" sz="1360" b="1" dirty="0">
              <a:solidFill>
                <a:srgbClr val="FF000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2" name="Flowchart: Predefined Process 31"/>
          <p:cNvSpPr/>
          <p:nvPr/>
        </p:nvSpPr>
        <p:spPr>
          <a:xfrm>
            <a:off x="2646746" y="3026576"/>
            <a:ext cx="1404913" cy="800365"/>
          </a:xfrm>
          <a:prstGeom prst="flowChartPredefinedProcess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Create Credit Memo in  SAP </a:t>
            </a:r>
            <a:endParaRPr lang="en-US" sz="1360" b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/>
            <a:r>
              <a:rPr lang="en-US" sz="136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FB65</a:t>
            </a:r>
          </a:p>
        </p:txBody>
      </p:sp>
      <p:sp>
        <p:nvSpPr>
          <p:cNvPr id="33" name="Flowchart: Process 32"/>
          <p:cNvSpPr/>
          <p:nvPr/>
        </p:nvSpPr>
        <p:spPr>
          <a:xfrm>
            <a:off x="1116897" y="3043668"/>
            <a:ext cx="1223380" cy="785445"/>
          </a:xfrm>
          <a:prstGeom prst="flowChartProcess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53" tIns="45720" rIns="41453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Review BPP – </a:t>
            </a:r>
            <a:r>
              <a:rPr lang="en-US" sz="136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Create Credit Memo 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1685820" y="2732462"/>
            <a:ext cx="0" cy="295879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lowchart: Document 34"/>
          <p:cNvSpPr/>
          <p:nvPr/>
        </p:nvSpPr>
        <p:spPr>
          <a:xfrm>
            <a:off x="6021013" y="3079291"/>
            <a:ext cx="1404736" cy="749822"/>
          </a:xfrm>
          <a:prstGeom prst="flowChartDocumen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53" tIns="45720" rIns="41453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G/L posting will be expense credit and vendor debit</a:t>
            </a:r>
            <a:endParaRPr lang="en-US" sz="1360" b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 flipV="1">
            <a:off x="7457195" y="3421991"/>
            <a:ext cx="518579" cy="3170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8616" y="5942179"/>
            <a:ext cx="2538984" cy="1830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6" name="Rectangle 3"/>
          <p:cNvSpPr>
            <a:spLocks noGrp="1" noChangeArrowheads="1"/>
          </p:cNvSpPr>
          <p:nvPr>
            <p:ph type="title"/>
          </p:nvPr>
        </p:nvSpPr>
        <p:spPr>
          <a:xfrm>
            <a:off x="212651" y="101482"/>
            <a:ext cx="12493935" cy="624725"/>
          </a:xfrm>
        </p:spPr>
        <p:txBody>
          <a:bodyPr/>
          <a:lstStyle/>
          <a:p>
            <a:r>
              <a:rPr lang="en-US" altLang="en-US" dirty="0"/>
              <a:t>Demo </a:t>
            </a:r>
            <a:r>
              <a:rPr lang="en-US" altLang="en-US" dirty="0" smtClean="0"/>
              <a:t>2.1</a:t>
            </a:r>
            <a:r>
              <a:rPr lang="en-US" altLang="en-US" dirty="0" smtClean="0"/>
              <a:t>: </a:t>
            </a:r>
            <a:r>
              <a:rPr lang="en-US" altLang="en-US" dirty="0" smtClean="0"/>
              <a:t>Enter a Credit Memo</a:t>
            </a:r>
            <a:br>
              <a:rPr lang="en-US" altLang="en-US" dirty="0" smtClean="0"/>
            </a:br>
            <a:endParaRPr lang="en-US" altLang="en-US" dirty="0"/>
          </a:p>
        </p:txBody>
      </p:sp>
      <p:sp>
        <p:nvSpPr>
          <p:cNvPr id="79877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A credit memo for Global Resources has been issued for canceled services. The memo must be entered in the system</a:t>
            </a:r>
            <a:endParaRPr lang="en-US" altLang="en-US" dirty="0"/>
          </a:p>
          <a:p>
            <a:r>
              <a:rPr lang="en-US" altLang="en-US" dirty="0"/>
              <a:t>Notes</a:t>
            </a:r>
          </a:p>
          <a:p>
            <a:pPr lvl="1"/>
            <a:r>
              <a:rPr lang="en-US" altLang="en-US" dirty="0" smtClean="0"/>
              <a:t>Transaction Code: FB65</a:t>
            </a:r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79875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56DF02-B972-47C9-B00D-779435B411F7}" type="slidenum">
              <a:rPr lang="en-US" altLang="en-US" sz="1600" smtClean="0"/>
              <a:pPr/>
              <a:t>21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511960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 descr="MPj04225930000[1]"/>
          <p:cNvPicPr>
            <a:picLocks noChangeAspect="1" noChangeArrowheads="1"/>
          </p:cNvPicPr>
          <p:nvPr/>
        </p:nvPicPr>
        <p:blipFill>
          <a:blip r:embed="rId3">
            <a:lum bright="54000" contrast="-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3077" y="6187335"/>
            <a:ext cx="2324523" cy="1585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Exercise </a:t>
            </a:r>
            <a:r>
              <a:rPr lang="en-US" altLang="en-US" dirty="0" smtClean="0"/>
              <a:t>2.2</a:t>
            </a:r>
            <a:r>
              <a:rPr lang="en-US" altLang="en-US" dirty="0" smtClean="0"/>
              <a:t>: </a:t>
            </a:r>
            <a:r>
              <a:rPr lang="en-US" altLang="en-US" dirty="0" smtClean="0"/>
              <a:t>Enter a Credit Memo</a:t>
            </a:r>
            <a:endParaRPr lang="en-US" altLang="en-US" dirty="0"/>
          </a:p>
        </p:txBody>
      </p:sp>
      <p:sp>
        <p:nvSpPr>
          <p:cNvPr id="6963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 credit memo for Global Resources has been issued for canceled services. The memo must be entered in the system</a:t>
            </a:r>
          </a:p>
          <a:p>
            <a:r>
              <a:rPr lang="en-US" altLang="en-US" dirty="0" smtClean="0"/>
              <a:t>Enter a Credit Memo</a:t>
            </a:r>
          </a:p>
          <a:p>
            <a:r>
              <a:rPr lang="en-US" altLang="en-US" dirty="0"/>
              <a:t>Notes</a:t>
            </a:r>
          </a:p>
          <a:p>
            <a:pPr lvl="1"/>
            <a:r>
              <a:rPr lang="en-US" altLang="en-US" dirty="0" smtClean="0"/>
              <a:t>Transaction Code</a:t>
            </a:r>
            <a:r>
              <a:rPr lang="en-US" altLang="en-US" dirty="0"/>
              <a:t>: </a:t>
            </a:r>
            <a:r>
              <a:rPr lang="en-US" altLang="en-US" dirty="0" smtClean="0"/>
              <a:t>FB65</a:t>
            </a:r>
            <a:endParaRPr lang="en-US" altLang="en-US" dirty="0"/>
          </a:p>
          <a:p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C94C66-C52E-487D-82B9-B896A1AB6338}" type="slidenum">
              <a:rPr lang="en-US" altLang="en-US" sz="1600" smtClean="0"/>
              <a:pPr/>
              <a:t>22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73554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agram 10"/>
          <p:cNvGraphicFramePr/>
          <p:nvPr>
            <p:extLst/>
          </p:nvPr>
        </p:nvGraphicFramePr>
        <p:xfrm>
          <a:off x="0" y="6396711"/>
          <a:ext cx="5104659" cy="14586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45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Clear a Vendor Account</a:t>
            </a:r>
            <a:endParaRPr lang="en-US" altLang="en-US" dirty="0"/>
          </a:p>
        </p:txBody>
      </p:sp>
      <p:sp>
        <p:nvSpPr>
          <p:cNvPr id="64516" name="Rectangle 4"/>
          <p:cNvSpPr>
            <a:spLocks noGrp="1" noChangeArrowheads="1"/>
          </p:cNvSpPr>
          <p:nvPr>
            <p:ph idx="1"/>
          </p:nvPr>
        </p:nvSpPr>
        <p:spPr>
          <a:xfrm>
            <a:off x="520700" y="1212295"/>
            <a:ext cx="12827000" cy="5880066"/>
          </a:xfrm>
        </p:spPr>
        <p:txBody>
          <a:bodyPr/>
          <a:lstStyle/>
          <a:p>
            <a:r>
              <a:rPr lang="en-US" dirty="0" smtClean="0"/>
              <a:t>After a credit memo is posted to a vendor’s account, it must be cleared</a:t>
            </a:r>
          </a:p>
          <a:p>
            <a:r>
              <a:rPr lang="en-US" dirty="0" smtClean="0"/>
              <a:t>If not cleared, debits or credits remain on the vendor’s account as open items</a:t>
            </a:r>
            <a:endParaRPr lang="en-US" dirty="0"/>
          </a:p>
          <a:p>
            <a:r>
              <a:rPr lang="en-US" dirty="0"/>
              <a:t>Deducted from vendor’s next payment</a:t>
            </a:r>
            <a:endParaRPr lang="en-US" altLang="en-US" dirty="0"/>
          </a:p>
        </p:txBody>
      </p:sp>
      <p:sp>
        <p:nvSpPr>
          <p:cNvPr id="6451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6FE162-D387-498F-AEA6-BD416347918F}" type="slidenum">
              <a:rPr lang="en-US" altLang="en-US" sz="1600" smtClean="0"/>
              <a:pPr/>
              <a:t>23</a:t>
            </a:fld>
            <a:endParaRPr lang="en-US" alt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3069785" y="6596744"/>
            <a:ext cx="936158" cy="9184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61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8616" y="5942179"/>
            <a:ext cx="2538984" cy="1830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6" name="Rectangle 3"/>
          <p:cNvSpPr>
            <a:spLocks noGrp="1" noChangeArrowheads="1"/>
          </p:cNvSpPr>
          <p:nvPr>
            <p:ph type="title"/>
          </p:nvPr>
        </p:nvSpPr>
        <p:spPr>
          <a:xfrm>
            <a:off x="212651" y="101482"/>
            <a:ext cx="12493935" cy="624725"/>
          </a:xfrm>
        </p:spPr>
        <p:txBody>
          <a:bodyPr/>
          <a:lstStyle/>
          <a:p>
            <a:r>
              <a:rPr lang="en-US" altLang="en-US" dirty="0"/>
              <a:t>Demo </a:t>
            </a:r>
            <a:r>
              <a:rPr lang="en-US" altLang="en-US" dirty="0" smtClean="0"/>
              <a:t>2.3</a:t>
            </a:r>
            <a:r>
              <a:rPr lang="en-US" altLang="en-US" dirty="0" smtClean="0"/>
              <a:t>: </a:t>
            </a:r>
            <a:r>
              <a:rPr lang="en-US" altLang="en-US" dirty="0" smtClean="0"/>
              <a:t>Clear a Vendor Account</a:t>
            </a:r>
            <a:br>
              <a:rPr lang="en-US" altLang="en-US" dirty="0" smtClean="0"/>
            </a:br>
            <a:endParaRPr lang="en-US" altLang="en-US" dirty="0"/>
          </a:p>
        </p:txBody>
      </p:sp>
      <p:sp>
        <p:nvSpPr>
          <p:cNvPr id="79877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 credit memo has been posted to Global Resources account and now the account must be cleared</a:t>
            </a:r>
          </a:p>
          <a:p>
            <a:r>
              <a:rPr lang="en-US" altLang="en-US" dirty="0" smtClean="0"/>
              <a:t>Notes</a:t>
            </a:r>
            <a:endParaRPr lang="en-US" altLang="en-US" dirty="0"/>
          </a:p>
          <a:p>
            <a:pPr lvl="1"/>
            <a:r>
              <a:rPr lang="en-US" altLang="en-US" dirty="0" smtClean="0"/>
              <a:t>Transaction Code: FB65</a:t>
            </a:r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79875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56DF02-B972-47C9-B00D-779435B411F7}" type="slidenum">
              <a:rPr lang="en-US" altLang="en-US" sz="1600" smtClean="0"/>
              <a:pPr/>
              <a:t>24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65311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 descr="MPj04225930000[1]"/>
          <p:cNvPicPr>
            <a:picLocks noChangeAspect="1" noChangeArrowheads="1"/>
          </p:cNvPicPr>
          <p:nvPr/>
        </p:nvPicPr>
        <p:blipFill>
          <a:blip r:embed="rId3">
            <a:lum bright="54000" contrast="-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3077" y="6187335"/>
            <a:ext cx="2324523" cy="1585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Exercise </a:t>
            </a:r>
            <a:r>
              <a:rPr lang="en-US" altLang="en-US" dirty="0" smtClean="0"/>
              <a:t>2.4</a:t>
            </a:r>
            <a:r>
              <a:rPr lang="en-US" altLang="en-US" dirty="0" smtClean="0"/>
              <a:t>: </a:t>
            </a:r>
            <a:r>
              <a:rPr lang="en-US" altLang="en-US" dirty="0" smtClean="0"/>
              <a:t>Clear a Vendor Account</a:t>
            </a:r>
            <a:endParaRPr lang="en-US" altLang="en-US" dirty="0"/>
          </a:p>
        </p:txBody>
      </p:sp>
      <p:sp>
        <p:nvSpPr>
          <p:cNvPr id="6963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 </a:t>
            </a:r>
            <a:r>
              <a:rPr lang="en-US" altLang="en-US" dirty="0" smtClean="0"/>
              <a:t>credit memo has been posted to Global Resources account and now the account must be cleared</a:t>
            </a:r>
            <a:endParaRPr lang="en-US" altLang="en-US" dirty="0"/>
          </a:p>
          <a:p>
            <a:r>
              <a:rPr lang="en-US" altLang="en-US" dirty="0" smtClean="0"/>
              <a:t>Clear a customer account</a:t>
            </a:r>
          </a:p>
          <a:p>
            <a:r>
              <a:rPr lang="en-US" altLang="en-US" dirty="0"/>
              <a:t>Notes</a:t>
            </a:r>
          </a:p>
          <a:p>
            <a:pPr lvl="1"/>
            <a:r>
              <a:rPr lang="en-US" altLang="en-US" dirty="0" smtClean="0"/>
              <a:t>Transaction Code</a:t>
            </a:r>
            <a:r>
              <a:rPr lang="en-US" altLang="en-US" dirty="0"/>
              <a:t>: </a:t>
            </a:r>
            <a:r>
              <a:rPr lang="en-US" altLang="en-US" dirty="0" smtClean="0"/>
              <a:t>FB65</a:t>
            </a:r>
            <a:endParaRPr lang="en-US" altLang="en-US" dirty="0"/>
          </a:p>
          <a:p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C94C66-C52E-487D-82B9-B896A1AB6338}" type="slidenum">
              <a:rPr lang="en-US" altLang="en-US" sz="1600" smtClean="0"/>
              <a:pPr/>
              <a:t>25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11773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agram 10"/>
          <p:cNvGraphicFramePr/>
          <p:nvPr>
            <p:extLst/>
          </p:nvPr>
        </p:nvGraphicFramePr>
        <p:xfrm>
          <a:off x="0" y="6396711"/>
          <a:ext cx="5104659" cy="14586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45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Post with Clearing</a:t>
            </a:r>
            <a:endParaRPr lang="en-US" altLang="en-US" dirty="0"/>
          </a:p>
        </p:txBody>
      </p:sp>
      <p:sp>
        <p:nvSpPr>
          <p:cNvPr id="64516" name="Rectangle 4"/>
          <p:cNvSpPr>
            <a:spLocks noGrp="1" noChangeArrowheads="1"/>
          </p:cNvSpPr>
          <p:nvPr>
            <p:ph idx="1"/>
          </p:nvPr>
        </p:nvSpPr>
        <p:spPr>
          <a:xfrm>
            <a:off x="0" y="907495"/>
            <a:ext cx="5096117" cy="5689249"/>
          </a:xfrm>
        </p:spPr>
        <p:txBody>
          <a:bodyPr/>
          <a:lstStyle/>
          <a:p>
            <a:r>
              <a:rPr lang="en-US" sz="3200" dirty="0" smtClean="0"/>
              <a:t>Use </a:t>
            </a:r>
            <a:r>
              <a:rPr lang="en-US" sz="3200" dirty="0"/>
              <a:t>the </a:t>
            </a:r>
            <a:r>
              <a:rPr lang="en-US" sz="3200" dirty="0" smtClean="0"/>
              <a:t>post </a:t>
            </a:r>
            <a:r>
              <a:rPr lang="en-US" sz="3200" dirty="0"/>
              <a:t>with </a:t>
            </a:r>
            <a:r>
              <a:rPr lang="en-US" sz="3200" dirty="0" smtClean="0"/>
              <a:t>clearing</a:t>
            </a:r>
            <a:r>
              <a:rPr lang="en-US" sz="3200" dirty="0"/>
              <a:t> </a:t>
            </a:r>
            <a:r>
              <a:rPr lang="en-US" sz="3200" dirty="0" smtClean="0"/>
              <a:t>function (F-51) to enter </a:t>
            </a:r>
            <a:r>
              <a:rPr lang="en-US" sz="3200" dirty="0"/>
              <a:t>document line items and </a:t>
            </a:r>
            <a:r>
              <a:rPr lang="en-US" sz="3200" dirty="0" smtClean="0"/>
              <a:t>select open </a:t>
            </a:r>
            <a:r>
              <a:rPr lang="en-US" sz="3200" dirty="0"/>
              <a:t>items to be </a:t>
            </a:r>
            <a:r>
              <a:rPr lang="en-US" sz="3200" dirty="0" smtClean="0"/>
              <a:t>cleared</a:t>
            </a:r>
          </a:p>
          <a:p>
            <a:r>
              <a:rPr lang="en-US" sz="3200" dirty="0"/>
              <a:t>Once all </a:t>
            </a:r>
            <a:r>
              <a:rPr lang="en-US" sz="3200" dirty="0" smtClean="0"/>
              <a:t>prerequisites </a:t>
            </a:r>
            <a:r>
              <a:rPr lang="en-US" sz="3200" dirty="0"/>
              <a:t>for clearing are fulfilled, the system clears the open items</a:t>
            </a:r>
            <a:endParaRPr lang="en-US" sz="3200" dirty="0" smtClean="0"/>
          </a:p>
        </p:txBody>
      </p:sp>
      <p:sp>
        <p:nvSpPr>
          <p:cNvPr id="6451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6FE162-D387-498F-AEA6-BD416347918F}" type="slidenum">
              <a:rPr lang="en-US" altLang="en-US" sz="1600" smtClean="0"/>
              <a:pPr/>
              <a:t>26</a:t>
            </a:fld>
            <a:endParaRPr lang="en-US" alt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3069785" y="6596744"/>
            <a:ext cx="936158" cy="9184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6117" y="1132114"/>
            <a:ext cx="8562734" cy="624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72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8616" y="5942179"/>
            <a:ext cx="2538984" cy="1830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6" name="Rectangle 3"/>
          <p:cNvSpPr>
            <a:spLocks noGrp="1" noChangeArrowheads="1"/>
          </p:cNvSpPr>
          <p:nvPr>
            <p:ph type="title"/>
          </p:nvPr>
        </p:nvSpPr>
        <p:spPr>
          <a:xfrm>
            <a:off x="212651" y="101482"/>
            <a:ext cx="12493935" cy="624725"/>
          </a:xfrm>
        </p:spPr>
        <p:txBody>
          <a:bodyPr/>
          <a:lstStyle/>
          <a:p>
            <a:r>
              <a:rPr lang="en-US" altLang="en-US" dirty="0"/>
              <a:t>Demo </a:t>
            </a:r>
            <a:r>
              <a:rPr lang="en-US" altLang="en-US" dirty="0" smtClean="0"/>
              <a:t>2.5</a:t>
            </a:r>
            <a:r>
              <a:rPr lang="en-US" altLang="en-US" dirty="0" smtClean="0"/>
              <a:t>: </a:t>
            </a:r>
            <a:r>
              <a:rPr lang="en-US" altLang="en-US" dirty="0" smtClean="0"/>
              <a:t>Initiate a Posting with Clearing</a:t>
            </a:r>
            <a:endParaRPr lang="en-US" altLang="en-US" dirty="0"/>
          </a:p>
        </p:txBody>
      </p:sp>
      <p:sp>
        <p:nvSpPr>
          <p:cNvPr id="79877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 series of vendors must have their accounts cleared. Enter all open postings to be cleared using the General Ledger Line Items transaction</a:t>
            </a:r>
          </a:p>
          <a:p>
            <a:r>
              <a:rPr lang="en-US" altLang="en-US" dirty="0" smtClean="0"/>
              <a:t>Notes</a:t>
            </a:r>
            <a:endParaRPr lang="en-US" altLang="en-US" dirty="0"/>
          </a:p>
          <a:p>
            <a:pPr lvl="1"/>
            <a:r>
              <a:rPr lang="en-US" altLang="en-US" dirty="0" smtClean="0"/>
              <a:t>Transaction Code: F-51</a:t>
            </a:r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79875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56DF02-B972-47C9-B00D-779435B411F7}" type="slidenum">
              <a:rPr lang="en-US" altLang="en-US" sz="1600" smtClean="0"/>
              <a:pPr/>
              <a:t>27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557793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 descr="MPj04225930000[1]"/>
          <p:cNvPicPr>
            <a:picLocks noChangeAspect="1" noChangeArrowheads="1"/>
          </p:cNvPicPr>
          <p:nvPr/>
        </p:nvPicPr>
        <p:blipFill>
          <a:blip r:embed="rId3">
            <a:lum bright="54000" contrast="-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3077" y="6187335"/>
            <a:ext cx="2324523" cy="1585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Exercise </a:t>
            </a:r>
            <a:r>
              <a:rPr lang="en-US" altLang="en-US" dirty="0" smtClean="0"/>
              <a:t>2.5</a:t>
            </a:r>
            <a:r>
              <a:rPr lang="en-US" altLang="en-US" dirty="0" smtClean="0"/>
              <a:t>: </a:t>
            </a:r>
            <a:r>
              <a:rPr lang="en-US" altLang="en-US" dirty="0"/>
              <a:t>Initiate a Posting with Clearing</a:t>
            </a:r>
          </a:p>
        </p:txBody>
      </p:sp>
      <p:sp>
        <p:nvSpPr>
          <p:cNvPr id="6963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 </a:t>
            </a:r>
            <a:r>
              <a:rPr lang="en-US" altLang="en-US" dirty="0" smtClean="0"/>
              <a:t>series of vendors must have their accounts cleared. Enter all open postings to be cleared using the General Ledger Line Items transaction</a:t>
            </a:r>
            <a:endParaRPr lang="en-US" altLang="en-US" dirty="0"/>
          </a:p>
          <a:p>
            <a:r>
              <a:rPr lang="en-US" altLang="en-US" dirty="0" smtClean="0"/>
              <a:t>Clear a vendor account</a:t>
            </a:r>
          </a:p>
          <a:p>
            <a:r>
              <a:rPr lang="en-US" altLang="en-US" dirty="0"/>
              <a:t>Notes</a:t>
            </a:r>
          </a:p>
          <a:p>
            <a:pPr lvl="1"/>
            <a:r>
              <a:rPr lang="en-US" altLang="en-US" dirty="0" smtClean="0"/>
              <a:t>Transaction Code</a:t>
            </a:r>
            <a:r>
              <a:rPr lang="en-US" altLang="en-US" dirty="0"/>
              <a:t>: </a:t>
            </a:r>
            <a:r>
              <a:rPr lang="en-US" altLang="en-US" dirty="0" smtClean="0"/>
              <a:t>F-51</a:t>
            </a:r>
            <a:endParaRPr lang="en-US" altLang="en-US" dirty="0"/>
          </a:p>
          <a:p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C94C66-C52E-487D-82B9-B896A1AB6338}" type="slidenum">
              <a:rPr lang="en-US" altLang="en-US" sz="1600" smtClean="0"/>
              <a:pPr/>
              <a:t>28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17118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Payment/Invoice Upload 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following payment and invoice upload options are scheduled to be available for use in the system:</a:t>
            </a:r>
          </a:p>
          <a:p>
            <a:pPr lvl="1"/>
            <a:r>
              <a:rPr lang="en-US" dirty="0" smtClean="0"/>
              <a:t>P/E Card:</a:t>
            </a:r>
          </a:p>
          <a:p>
            <a:pPr lvl="2"/>
            <a:r>
              <a:rPr lang="en-US" dirty="0" smtClean="0"/>
              <a:t>US bank card for </a:t>
            </a:r>
            <a:r>
              <a:rPr lang="en-US" dirty="0"/>
              <a:t>non-catalog procurement </a:t>
            </a:r>
            <a:endParaRPr lang="en-US" dirty="0" smtClean="0"/>
          </a:p>
          <a:p>
            <a:pPr lvl="1"/>
            <a:r>
              <a:rPr lang="en-US" dirty="0" smtClean="0"/>
              <a:t>PAYPLUS:</a:t>
            </a:r>
          </a:p>
          <a:p>
            <a:pPr lvl="2"/>
            <a:r>
              <a:rPr lang="en-US" dirty="0"/>
              <a:t>Process used by FAI to pay </a:t>
            </a:r>
            <a:r>
              <a:rPr lang="en-US" dirty="0" smtClean="0"/>
              <a:t>vendors </a:t>
            </a:r>
            <a:r>
              <a:rPr lang="en-US" dirty="0"/>
              <a:t>through US Bank</a:t>
            </a:r>
            <a:endParaRPr lang="en-US" dirty="0" smtClean="0"/>
          </a:p>
          <a:p>
            <a:pPr lvl="1"/>
            <a:r>
              <a:rPr lang="en-US" dirty="0" smtClean="0"/>
              <a:t>TANGOE:</a:t>
            </a:r>
          </a:p>
          <a:p>
            <a:pPr lvl="2"/>
            <a:r>
              <a:rPr lang="en-US" dirty="0" smtClean="0"/>
              <a:t>Uploads </a:t>
            </a:r>
            <a:r>
              <a:rPr lang="en-US" dirty="0"/>
              <a:t>invoice file to server TANGOERM then advises AP by forwarding .csv files 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8329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Payment/Invoice Upload Options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following payment and invoice upload options are scheduled to be available for use in the system:</a:t>
            </a:r>
          </a:p>
          <a:p>
            <a:pPr lvl="1"/>
            <a:r>
              <a:rPr lang="en-US" dirty="0" smtClean="0"/>
              <a:t>ZFBOA:</a:t>
            </a:r>
          </a:p>
          <a:p>
            <a:pPr lvl="2"/>
            <a:r>
              <a:rPr lang="en-US" dirty="0" smtClean="0"/>
              <a:t>ACH and check interface with Bank of America to transfer required payments</a:t>
            </a:r>
          </a:p>
          <a:p>
            <a:pPr lvl="1"/>
            <a:r>
              <a:rPr lang="en-US" dirty="0" smtClean="0"/>
              <a:t>ZFRBC:</a:t>
            </a:r>
          </a:p>
          <a:p>
            <a:pPr lvl="2"/>
            <a:r>
              <a:rPr lang="en-US" dirty="0" smtClean="0"/>
              <a:t>ACH interface with Royal Bank to transfer required payments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5591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3830" y="6152110"/>
            <a:ext cx="222377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Unit </a:t>
            </a:r>
            <a:r>
              <a:rPr lang="en-US" altLang="en-US" dirty="0"/>
              <a:t>2</a:t>
            </a:r>
            <a:r>
              <a:rPr lang="en-US" altLang="en-US" dirty="0" smtClean="0"/>
              <a:t>, </a:t>
            </a:r>
            <a:r>
              <a:rPr lang="en-US" altLang="en-US" dirty="0"/>
              <a:t># 1</a:t>
            </a:r>
          </a:p>
        </p:txBody>
      </p:sp>
      <p:sp>
        <p:nvSpPr>
          <p:cNvPr id="73733" name="Rectangle 3"/>
          <p:cNvSpPr>
            <a:spLocks noGrp="1" noChangeArrowheads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r>
              <a:rPr lang="en-US" dirty="0" smtClean="0"/>
              <a:t>Reasons for a credit memo include?</a:t>
            </a:r>
            <a:endParaRPr lang="en-US" dirty="0"/>
          </a:p>
          <a:p>
            <a:pPr marL="517525" indent="-517525"/>
            <a:endParaRPr lang="en-US" altLang="en-US" dirty="0"/>
          </a:p>
          <a:p>
            <a:pPr marL="517525" indent="-517525"/>
            <a:endParaRPr lang="en-US" altLang="en-US" dirty="0"/>
          </a:p>
          <a:p>
            <a:pPr marL="517525" indent="-517525"/>
            <a:endParaRPr lang="en-US" alt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C67485-719C-460B-BE50-F908EA1276DE}" type="slidenum">
              <a:rPr lang="en-US" altLang="en-US" sz="1600" smtClean="0"/>
              <a:pPr/>
              <a:t>31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17118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Unit </a:t>
            </a:r>
            <a:r>
              <a:rPr lang="en-US" altLang="en-US" dirty="0"/>
              <a:t>2</a:t>
            </a:r>
            <a:r>
              <a:rPr lang="en-US" altLang="en-US" dirty="0" smtClean="0"/>
              <a:t>, </a:t>
            </a:r>
            <a:r>
              <a:rPr lang="en-US" altLang="en-US" dirty="0"/>
              <a:t># 1</a:t>
            </a:r>
          </a:p>
        </p:txBody>
      </p:sp>
      <p:sp>
        <p:nvSpPr>
          <p:cNvPr id="45060" name="Rectangle 4"/>
          <p:cNvSpPr>
            <a:spLocks noGrp="1" noChangeArrowheads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r>
              <a:rPr lang="en-US" dirty="0" smtClean="0"/>
              <a:t>Reasons for a credit memo include</a:t>
            </a:r>
            <a:r>
              <a:rPr lang="en-US" altLang="en-US" dirty="0" smtClean="0">
                <a:latin typeface="Fujitsu Sans"/>
              </a:rPr>
              <a:t>?</a:t>
            </a:r>
            <a:endParaRPr lang="en-US" altLang="en-US" dirty="0"/>
          </a:p>
          <a:p>
            <a:pPr marL="517525" indent="-517525"/>
            <a:endParaRPr lang="en-US" altLang="en-US" dirty="0"/>
          </a:p>
          <a:p>
            <a:pPr lvl="1"/>
            <a:r>
              <a:rPr lang="en-US" i="1" dirty="0" smtClean="0">
                <a:solidFill>
                  <a:srgbClr val="FF0000"/>
                </a:solidFill>
                <a:latin typeface="Fujitsu Sans"/>
              </a:rPr>
              <a:t>Reasons for a credit memo include:</a:t>
            </a:r>
          </a:p>
          <a:p>
            <a:pPr lvl="2"/>
            <a:r>
              <a:rPr lang="en-US" i="1" dirty="0">
                <a:solidFill>
                  <a:srgbClr val="FF0000"/>
                </a:solidFill>
                <a:latin typeface="Fujitsu Sans"/>
              </a:rPr>
              <a:t>Refund for damaged goods</a:t>
            </a:r>
          </a:p>
          <a:p>
            <a:pPr lvl="2"/>
            <a:r>
              <a:rPr lang="en-US" i="1" dirty="0">
                <a:solidFill>
                  <a:srgbClr val="FF0000"/>
                </a:solidFill>
                <a:latin typeface="Fujitsu Sans"/>
              </a:rPr>
              <a:t>Return of goods/Canceled services</a:t>
            </a:r>
          </a:p>
          <a:p>
            <a:pPr lvl="2"/>
            <a:endParaRPr lang="en-US" i="1" dirty="0">
              <a:solidFill>
                <a:srgbClr val="FF0000"/>
              </a:solidFill>
              <a:latin typeface="Fujitsu Sans"/>
            </a:endParaRPr>
          </a:p>
          <a:p>
            <a:pPr lvl="1"/>
            <a:endParaRPr lang="en-US" i="1" dirty="0">
              <a:solidFill>
                <a:srgbClr val="FF0000"/>
              </a:solidFill>
              <a:latin typeface="Fujitsu Sans"/>
            </a:endParaRPr>
          </a:p>
          <a:p>
            <a:pPr marL="690245" lvl="1" indent="0">
              <a:buNone/>
            </a:pPr>
            <a:r>
              <a:rPr lang="en-US" altLang="en-US" dirty="0" smtClean="0"/>
              <a:t>	</a:t>
            </a:r>
            <a:endParaRPr lang="en-US" altLang="en-US" dirty="0"/>
          </a:p>
        </p:txBody>
      </p:sp>
      <p:sp>
        <p:nvSpPr>
          <p:cNvPr id="62466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41124" y="-10281"/>
            <a:ext cx="0" cy="0"/>
          </a:xfrm>
        </p:spPr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130D220-9093-409D-9FE0-EFE0B999B6BA}" type="slidenum">
              <a:rPr lang="en-US" altLang="en-US" sz="1600" smtClean="0"/>
              <a:pPr/>
              <a:t>32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8418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 descr="MCj04415100000[1]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7983" y="5924070"/>
            <a:ext cx="1859619" cy="1859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</a:t>
            </a:r>
            <a:endParaRPr lang="en-US" altLang="en-US" dirty="0"/>
          </a:p>
        </p:txBody>
      </p:sp>
      <p:sp>
        <p:nvSpPr>
          <p:cNvPr id="77829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You </a:t>
            </a:r>
            <a:r>
              <a:rPr lang="en-US" altLang="en-US" dirty="0" smtClean="0"/>
              <a:t>should now be able to:</a:t>
            </a:r>
            <a:endParaRPr lang="en-US" altLang="en-US" dirty="0"/>
          </a:p>
          <a:p>
            <a:r>
              <a:rPr lang="en-US" altLang="en-US" dirty="0"/>
              <a:t>Enter a credit memo</a:t>
            </a:r>
          </a:p>
          <a:p>
            <a:r>
              <a:rPr lang="en-US" altLang="en-US" dirty="0" smtClean="0"/>
              <a:t>Initiate </a:t>
            </a:r>
            <a:r>
              <a:rPr lang="en-US" altLang="en-US" dirty="0"/>
              <a:t>the automatic clearing </a:t>
            </a:r>
            <a:r>
              <a:rPr lang="en-US" altLang="en-US" dirty="0" smtClean="0"/>
              <a:t>process</a:t>
            </a:r>
          </a:p>
          <a:p>
            <a:r>
              <a:rPr lang="en-US" altLang="en-US" dirty="0" smtClean="0"/>
              <a:t>Initiate a post with clearing</a:t>
            </a:r>
            <a:endParaRPr lang="en-US" altLang="en-US" dirty="0"/>
          </a:p>
        </p:txBody>
      </p:sp>
      <p:sp>
        <p:nvSpPr>
          <p:cNvPr id="77827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64D916E-780F-4F36-9EEA-B0E6C110BE23}" type="slidenum">
              <a:rPr lang="en-US" altLang="en-US" sz="1600" smtClean="0"/>
              <a:pPr/>
              <a:t>33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09647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for a Break!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Class starts again in </a:t>
            </a:r>
            <a:r>
              <a:rPr lang="en-US" altLang="en-US" dirty="0" smtClean="0"/>
              <a:t>10 minutes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BE6A29-3330-4120-8C4F-D901DC38695C}" type="slidenum">
              <a:rPr lang="en-US" altLang="en-US" sz="1600" smtClean="0"/>
              <a:pPr/>
              <a:t>34</a:t>
            </a:fld>
            <a:endParaRPr lang="en-US" altLang="en-US" sz="1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080" y="2125028"/>
            <a:ext cx="4663440" cy="465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116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0A293A-6492-4A1F-A0D4-05E445FB280C}" type="slidenum">
              <a:rPr lang="en-US" altLang="en-US" sz="1600" smtClean="0"/>
              <a:pPr/>
              <a:t>35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76379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Unit 1 – Introduction – </a:t>
            </a:r>
            <a:r>
              <a:rPr lang="en-US" altLang="en-US" dirty="0" smtClean="0"/>
              <a:t>Accounts Payable (20 </a:t>
            </a:r>
            <a:r>
              <a:rPr lang="en-US" altLang="en-US" dirty="0"/>
              <a:t>mins) </a:t>
            </a:r>
          </a:p>
          <a:p>
            <a:r>
              <a:rPr lang="en-US" altLang="en-US" dirty="0" smtClean="0"/>
              <a:t>Unit </a:t>
            </a:r>
            <a:r>
              <a:rPr lang="en-US" altLang="en-US" dirty="0"/>
              <a:t>2</a:t>
            </a:r>
            <a:r>
              <a:rPr lang="en-US" altLang="en-US" dirty="0" smtClean="0"/>
              <a:t> </a:t>
            </a:r>
            <a:r>
              <a:rPr lang="en-US" altLang="en-US" dirty="0" smtClean="0"/>
              <a:t>– Enter/Park a Vendor Invoice (60 mins)</a:t>
            </a:r>
            <a:endParaRPr lang="en-US" altLang="en-US" dirty="0"/>
          </a:p>
          <a:p>
            <a:r>
              <a:rPr lang="en-US" altLang="en-US" dirty="0"/>
              <a:t>Unit </a:t>
            </a:r>
            <a:r>
              <a:rPr lang="en-US" altLang="en-US" dirty="0"/>
              <a:t>3</a:t>
            </a:r>
            <a:r>
              <a:rPr lang="en-US" altLang="en-US" dirty="0" smtClean="0"/>
              <a:t> </a:t>
            </a:r>
            <a:r>
              <a:rPr lang="en-US" altLang="en-US" dirty="0"/>
              <a:t>– </a:t>
            </a:r>
            <a:r>
              <a:rPr lang="en-US" altLang="en-US" dirty="0" smtClean="0"/>
              <a:t>Enter a Vendor Credit Memo (60 </a:t>
            </a:r>
            <a:r>
              <a:rPr lang="en-US" altLang="en-US" dirty="0"/>
              <a:t>mins</a:t>
            </a:r>
            <a:r>
              <a:rPr lang="en-US" altLang="en-US" dirty="0" smtClean="0"/>
              <a:t>)</a:t>
            </a:r>
          </a:p>
          <a:p>
            <a:r>
              <a:rPr lang="en-US" altLang="en-US" dirty="0" smtClean="0"/>
              <a:t>Unit 4 - </a:t>
            </a:r>
            <a:r>
              <a:rPr lang="en-US" altLang="en-US" dirty="0"/>
              <a:t>Create a Vendor Account (30 mins</a:t>
            </a:r>
            <a:r>
              <a:rPr lang="en-US" altLang="en-US" dirty="0" smtClean="0"/>
              <a:t>)</a:t>
            </a:r>
            <a:endParaRPr lang="en-US" altLang="en-US" dirty="0" smtClean="0"/>
          </a:p>
          <a:p>
            <a:r>
              <a:rPr lang="en-US" altLang="en-US" dirty="0" smtClean="0"/>
              <a:t>Unit 5 – Summary (10 mins)</a:t>
            </a:r>
            <a:endParaRPr lang="en-US" altLang="en-US" dirty="0"/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Agenda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C3236A-0750-4F69-BC22-0115EAA85BF4}" type="slidenum">
              <a:rPr lang="en-US" altLang="en-US" sz="1600" smtClean="0"/>
              <a:pPr/>
              <a:t>36</a:t>
            </a:fld>
            <a:endParaRPr lang="en-US" altLang="en-US" sz="1600" dirty="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520699" y="2417637"/>
            <a:ext cx="11366501" cy="65211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762000">
              <a:lnSpc>
                <a:spcPct val="90000"/>
              </a:lnSpc>
              <a:spcBef>
                <a:spcPct val="50000"/>
              </a:spcBef>
              <a:buClr>
                <a:srgbClr val="867366"/>
              </a:buClr>
              <a:buSzPct val="85000"/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indent="-342900" defTabSz="762000">
              <a:lnSpc>
                <a:spcPct val="90000"/>
              </a:lnSpc>
              <a:spcBef>
                <a:spcPct val="50000"/>
              </a:spcBef>
              <a:buClr>
                <a:srgbClr val="FF0000"/>
              </a:buClr>
              <a:buSzPct val="12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285750" defTabSz="762000">
              <a:lnSpc>
                <a:spcPct val="90000"/>
              </a:lnSpc>
              <a:spcBef>
                <a:spcPct val="20000"/>
              </a:spcBef>
              <a:buClr>
                <a:srgbClr val="867366"/>
              </a:buClr>
              <a:buSzPct val="120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87450" indent="-215900" defTabSz="7620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o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SzPct val="80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3200" b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393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 descr="bss00071"/>
          <p:cNvPicPr>
            <a:picLocks noChangeAspect="1" noChangeArrowheads="1"/>
          </p:cNvPicPr>
          <p:nvPr/>
        </p:nvPicPr>
        <p:blipFill>
          <a:blip r:embed="rId3">
            <a:lum bright="76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46"/>
          <a:stretch>
            <a:fillRect/>
          </a:stretch>
        </p:blipFill>
        <p:spPr bwMode="auto">
          <a:xfrm>
            <a:off x="12090400" y="5732544"/>
            <a:ext cx="1727200" cy="2039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</a:t>
            </a:r>
          </a:p>
        </p:txBody>
      </p:sp>
      <p:sp>
        <p:nvSpPr>
          <p:cNvPr id="43013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You </a:t>
            </a:r>
            <a:r>
              <a:rPr lang="en-US" altLang="en-US" dirty="0" smtClean="0"/>
              <a:t>should </a:t>
            </a:r>
            <a:r>
              <a:rPr lang="en-US" altLang="en-US" dirty="0"/>
              <a:t>be able to:</a:t>
            </a:r>
          </a:p>
          <a:p>
            <a:r>
              <a:rPr lang="en-US" altLang="en-US" dirty="0" smtClean="0"/>
              <a:t>Enter a vendor invoice</a:t>
            </a:r>
          </a:p>
          <a:p>
            <a:r>
              <a:rPr lang="en-US" altLang="en-US" dirty="0" smtClean="0"/>
              <a:t>Initiate an automatic </a:t>
            </a:r>
            <a:r>
              <a:rPr lang="en-US" altLang="en-US" dirty="0"/>
              <a:t>p</a:t>
            </a:r>
            <a:r>
              <a:rPr lang="en-US" altLang="en-US" dirty="0" smtClean="0"/>
              <a:t>ayment transaction</a:t>
            </a:r>
          </a:p>
          <a:p>
            <a:r>
              <a:rPr lang="en-US" altLang="en-US" dirty="0" smtClean="0"/>
              <a:t>Enter a non-purchase order invoice</a:t>
            </a:r>
          </a:p>
          <a:p>
            <a:r>
              <a:rPr lang="en-US" altLang="en-US" dirty="0" smtClean="0"/>
              <a:t>Perform the steps needed to park a vendor invoice</a:t>
            </a:r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C3236A-0750-4F69-BC22-0115EAA85BF4}" type="slidenum">
              <a:rPr lang="en-US" altLang="en-US" sz="1600" smtClean="0"/>
              <a:pPr/>
              <a:t>37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676082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/>
          </p:nvPr>
        </p:nvGraphicFramePr>
        <p:xfrm>
          <a:off x="0" y="6396711"/>
          <a:ext cx="5104659" cy="14586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45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Entering Invoice Data</a:t>
            </a:r>
            <a:endParaRPr lang="en-US" altLang="en-US" dirty="0"/>
          </a:p>
        </p:txBody>
      </p:sp>
      <p:sp>
        <p:nvSpPr>
          <p:cNvPr id="64516" name="Rectangle 4"/>
          <p:cNvSpPr>
            <a:spLocks noGrp="1" noChangeArrowheads="1"/>
          </p:cNvSpPr>
          <p:nvPr>
            <p:ph idx="1"/>
          </p:nvPr>
        </p:nvSpPr>
        <p:spPr>
          <a:xfrm>
            <a:off x="237674" y="1210450"/>
            <a:ext cx="13296900" cy="5572864"/>
          </a:xfrm>
        </p:spPr>
        <p:txBody>
          <a:bodyPr/>
          <a:lstStyle/>
          <a:p>
            <a:r>
              <a:rPr lang="en-US" dirty="0"/>
              <a:t>U</a:t>
            </a:r>
            <a:r>
              <a:rPr lang="en-US" dirty="0" smtClean="0"/>
              <a:t>se </a:t>
            </a:r>
            <a:r>
              <a:rPr lang="en-US" dirty="0"/>
              <a:t>this procedure during invoice verification to record data that is relevant for interest on arrears, such as date of invoice receipt and suspension </a:t>
            </a:r>
            <a:r>
              <a:rPr lang="en-US" dirty="0" smtClean="0"/>
              <a:t>days</a:t>
            </a:r>
          </a:p>
          <a:p>
            <a:r>
              <a:rPr lang="en-US" dirty="0" smtClean="0"/>
              <a:t>Invoice receipt and entry depends on the vendor and includes:</a:t>
            </a:r>
          </a:p>
          <a:p>
            <a:pPr lvl="1"/>
            <a:r>
              <a:rPr lang="en-US" altLang="en-US" dirty="0" smtClean="0"/>
              <a:t>Receiving an Excel file for upload</a:t>
            </a:r>
          </a:p>
          <a:p>
            <a:pPr lvl="1"/>
            <a:r>
              <a:rPr lang="en-US" altLang="en-US" dirty="0" smtClean="0"/>
              <a:t>Receiving an invoice via email</a:t>
            </a:r>
          </a:p>
          <a:p>
            <a:pPr lvl="1"/>
            <a:r>
              <a:rPr lang="en-US" altLang="en-US" dirty="0" smtClean="0"/>
              <a:t>Vendor interfaces</a:t>
            </a:r>
          </a:p>
          <a:p>
            <a:pPr lvl="1"/>
            <a:endParaRPr lang="en-US" altLang="en-US" dirty="0" smtClean="0"/>
          </a:p>
          <a:p>
            <a:endParaRPr lang="en-US" altLang="en-US" dirty="0"/>
          </a:p>
          <a:p>
            <a:pPr marL="690841" lvl="1" indent="0">
              <a:buNone/>
            </a:pPr>
            <a:endParaRPr lang="en-US" dirty="0"/>
          </a:p>
        </p:txBody>
      </p:sp>
      <p:sp>
        <p:nvSpPr>
          <p:cNvPr id="6451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6FE162-D387-498F-AEA6-BD416347918F}" type="slidenum">
              <a:rPr lang="en-US" altLang="en-US" sz="1600" smtClean="0"/>
              <a:pPr/>
              <a:t>38</a:t>
            </a:fld>
            <a:endParaRPr lang="en-US" alt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529320" y="6652689"/>
            <a:ext cx="766822" cy="84687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416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15" y="101482"/>
            <a:ext cx="12177267" cy="624725"/>
          </a:xfrm>
        </p:spPr>
        <p:txBody>
          <a:bodyPr/>
          <a:lstStyle/>
          <a:p>
            <a:r>
              <a:rPr lang="en-US" dirty="0" smtClean="0"/>
              <a:t>Invoice Entry (2-Way Match) Process Flow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11081" y="867509"/>
            <a:ext cx="13561874" cy="6610649"/>
            <a:chOff x="255726" y="915566"/>
            <a:chExt cx="8714358" cy="3979826"/>
          </a:xfrm>
        </p:grpSpPr>
        <p:grpSp>
          <p:nvGrpSpPr>
            <p:cNvPr id="4" name="Group 3"/>
            <p:cNvGrpSpPr/>
            <p:nvPr/>
          </p:nvGrpSpPr>
          <p:grpSpPr>
            <a:xfrm>
              <a:off x="255726" y="915566"/>
              <a:ext cx="8713663" cy="3979826"/>
              <a:chOff x="250825" y="968188"/>
              <a:chExt cx="8425631" cy="3907818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250825" y="968188"/>
                <a:ext cx="8425631" cy="390781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50825" y="968188"/>
                <a:ext cx="8425631" cy="235410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t" anchorCtr="0">
                <a:normAutofit/>
              </a:bodyPr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Flowchart: Process 4"/>
            <p:cNvSpPr/>
            <p:nvPr/>
          </p:nvSpPr>
          <p:spPr>
            <a:xfrm>
              <a:off x="256421" y="1871056"/>
              <a:ext cx="8713663" cy="792088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Flowchart: Process 5"/>
            <p:cNvSpPr/>
            <p:nvPr/>
          </p:nvSpPr>
          <p:spPr>
            <a:xfrm>
              <a:off x="255726" y="3388599"/>
              <a:ext cx="8713663" cy="792088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34462" y="867509"/>
            <a:ext cx="6166338" cy="503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Invoice Entry (2-Way Match)</a:t>
            </a:r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70338" y="1313796"/>
            <a:ext cx="1195754" cy="6260474"/>
            <a:chOff x="259525" y="1164260"/>
            <a:chExt cx="361430" cy="3721393"/>
          </a:xfrm>
        </p:grpSpPr>
        <p:sp>
          <p:nvSpPr>
            <p:cNvPr id="11" name="Flowchart: Process 10"/>
            <p:cNvSpPr/>
            <p:nvPr/>
          </p:nvSpPr>
          <p:spPr>
            <a:xfrm>
              <a:off x="259525" y="1164260"/>
              <a:ext cx="360735" cy="696264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27432" rIns="91440" bIns="27432" rtlCol="0" anchor="ctr" anchorCtr="1">
              <a:normAutofit/>
            </a:bodyPr>
            <a:lstStyle/>
            <a:p>
              <a:pPr algn="ctr"/>
              <a:r>
                <a:rPr lang="en-US" sz="1800" dirty="0" smtClean="0">
                  <a:solidFill>
                    <a:schemeClr val="tx1"/>
                  </a:solidFill>
                  <a:cs typeface="Arial"/>
                </a:rPr>
                <a:t>AP Data Entry</a:t>
              </a:r>
              <a:endParaRPr lang="en-US" sz="1800" dirty="0">
                <a:solidFill>
                  <a:schemeClr val="tx1"/>
                </a:solidFill>
                <a:cs typeface="Arial"/>
              </a:endParaRPr>
            </a:p>
          </p:txBody>
        </p:sp>
        <p:sp>
          <p:nvSpPr>
            <p:cNvPr id="12" name="Flowchart: Process 11"/>
            <p:cNvSpPr/>
            <p:nvPr/>
          </p:nvSpPr>
          <p:spPr>
            <a:xfrm>
              <a:off x="259525" y="1871056"/>
              <a:ext cx="360735" cy="782349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27432" rIns="91440" bIns="27432" rtlCol="0" anchor="ctr" anchorCtr="0">
              <a:normAutofit/>
            </a:bodyPr>
            <a:lstStyle/>
            <a:p>
              <a:pPr algn="ctr"/>
              <a:r>
                <a:rPr lang="en-US" sz="1800" dirty="0" smtClean="0">
                  <a:solidFill>
                    <a:schemeClr val="tx1"/>
                  </a:solidFill>
                </a:rPr>
                <a:t>PO Requester</a:t>
              </a:r>
              <a:endParaRPr 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13" name="Flowchart: Process 12"/>
            <p:cNvSpPr/>
            <p:nvPr/>
          </p:nvSpPr>
          <p:spPr>
            <a:xfrm>
              <a:off x="259525" y="2663144"/>
              <a:ext cx="360735" cy="725455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27432" bIns="27432" rtlCol="0" anchor="ctr" anchorCtr="1">
              <a:normAutofit/>
            </a:bodyPr>
            <a:lstStyle/>
            <a:p>
              <a:pPr algn="ctr"/>
              <a:r>
                <a:rPr lang="en-US" sz="1800" dirty="0" smtClean="0">
                  <a:solidFill>
                    <a:schemeClr val="tx1"/>
                  </a:solidFill>
                </a:rPr>
                <a:t>AP SME </a:t>
              </a:r>
              <a:endParaRPr 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14" name="Flowchart: Process 13"/>
            <p:cNvSpPr/>
            <p:nvPr/>
          </p:nvSpPr>
          <p:spPr>
            <a:xfrm>
              <a:off x="260220" y="3388599"/>
              <a:ext cx="360735" cy="782349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27432" bIns="27432" rtlCol="0" anchor="ctr" anchorCtr="1">
              <a:normAutofit/>
            </a:bodyPr>
            <a:lstStyle/>
            <a:p>
              <a:pPr algn="ctr"/>
              <a:endParaRPr 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" name="Flowchart: Process 14"/>
            <p:cNvSpPr/>
            <p:nvPr/>
          </p:nvSpPr>
          <p:spPr>
            <a:xfrm>
              <a:off x="260220" y="4180687"/>
              <a:ext cx="360735" cy="704966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27432" bIns="27432" rtlCol="0" anchor="ctr" anchorCtr="1">
              <a:normAutofit/>
            </a:bodyPr>
            <a:lstStyle/>
            <a:p>
              <a:pPr algn="ctr"/>
              <a:endParaRPr lang="en-US" sz="1050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6484664" y="2044144"/>
            <a:ext cx="3971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900" b="1" dirty="0">
              <a:solidFill>
                <a:srgbClr val="00973E"/>
              </a:solidFill>
            </a:endParaRPr>
          </a:p>
        </p:txBody>
      </p:sp>
      <p:cxnSp>
        <p:nvCxnSpPr>
          <p:cNvPr id="86" name="Straight Arrow Connector 85"/>
          <p:cNvCxnSpPr/>
          <p:nvPr/>
        </p:nvCxnSpPr>
        <p:spPr>
          <a:xfrm>
            <a:off x="2814925" y="1883208"/>
            <a:ext cx="271761" cy="0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Flowchart: Process 86"/>
          <p:cNvSpPr/>
          <p:nvPr/>
        </p:nvSpPr>
        <p:spPr>
          <a:xfrm>
            <a:off x="1321968" y="1512475"/>
            <a:ext cx="1455777" cy="797827"/>
          </a:xfrm>
          <a:prstGeom prst="flowChartProcess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53" tIns="45720" rIns="41453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Review BPP - </a:t>
            </a:r>
            <a:r>
              <a:rPr lang="en-US" sz="136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Invoice Matching Process (PO Based)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52692" y="3484003"/>
            <a:ext cx="224742" cy="301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60" b="1" dirty="0">
                <a:solidFill>
                  <a:srgbClr val="00973E"/>
                </a:solidFill>
              </a:rPr>
              <a:t> </a:t>
            </a:r>
          </a:p>
        </p:txBody>
      </p:sp>
      <p:sp>
        <p:nvSpPr>
          <p:cNvPr id="89" name="Flowchart: Document 88"/>
          <p:cNvSpPr/>
          <p:nvPr/>
        </p:nvSpPr>
        <p:spPr>
          <a:xfrm>
            <a:off x="6374124" y="1585217"/>
            <a:ext cx="1404736" cy="749822"/>
          </a:xfrm>
          <a:prstGeom prst="flowChartDocumen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53" tIns="45720" rIns="41453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G/L posting will be expense debit and vendor credit</a:t>
            </a:r>
            <a:endParaRPr lang="en-US" sz="1360" b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90" name="Straight Arrow Connector 89"/>
          <p:cNvCxnSpPr/>
          <p:nvPr/>
        </p:nvCxnSpPr>
        <p:spPr>
          <a:xfrm flipH="1">
            <a:off x="10162874" y="2333859"/>
            <a:ext cx="4894" cy="39641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4470157" y="1880200"/>
            <a:ext cx="294553" cy="3007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Flowchart: Predefined Process 91"/>
          <p:cNvSpPr/>
          <p:nvPr/>
        </p:nvSpPr>
        <p:spPr>
          <a:xfrm>
            <a:off x="3073237" y="1536734"/>
            <a:ext cx="1367166" cy="800365"/>
          </a:xfrm>
          <a:prstGeom prst="flowChartPredefinedProcess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Enter Invoice in  SAP </a:t>
            </a:r>
          </a:p>
          <a:p>
            <a:pPr algn="ctr"/>
            <a:r>
              <a:rPr lang="en-US" sz="136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MIRO</a:t>
            </a:r>
          </a:p>
        </p:txBody>
      </p:sp>
      <p:sp>
        <p:nvSpPr>
          <p:cNvPr id="93" name="Flowchart: Process 92"/>
          <p:cNvSpPr/>
          <p:nvPr/>
        </p:nvSpPr>
        <p:spPr>
          <a:xfrm>
            <a:off x="8091741" y="1536733"/>
            <a:ext cx="1127198" cy="797126"/>
          </a:xfrm>
          <a:prstGeom prst="flowChartProcess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53" tIns="45720" rIns="41453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Invoice is Blocked from Payment</a:t>
            </a:r>
            <a:endParaRPr lang="en-US" sz="1360" b="1" dirty="0">
              <a:solidFill>
                <a:srgbClr val="FF000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94" name="Straight Arrow Connector 93"/>
          <p:cNvCxnSpPr/>
          <p:nvPr/>
        </p:nvCxnSpPr>
        <p:spPr>
          <a:xfrm>
            <a:off x="7804701" y="1908382"/>
            <a:ext cx="294553" cy="3007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Flowchart: Process 94"/>
          <p:cNvSpPr/>
          <p:nvPr/>
        </p:nvSpPr>
        <p:spPr>
          <a:xfrm>
            <a:off x="9541146" y="1561565"/>
            <a:ext cx="1258538" cy="797126"/>
          </a:xfrm>
          <a:prstGeom prst="flowChartProcess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53" tIns="45720" rIns="41453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Approval notification sent to Requester</a:t>
            </a:r>
          </a:p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of PO</a:t>
            </a:r>
            <a:endParaRPr lang="en-US" sz="1360" b="1" dirty="0">
              <a:solidFill>
                <a:srgbClr val="FF000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96" name="Straight Arrow Connector 95"/>
          <p:cNvCxnSpPr/>
          <p:nvPr/>
        </p:nvCxnSpPr>
        <p:spPr>
          <a:xfrm>
            <a:off x="6049817" y="1880200"/>
            <a:ext cx="294553" cy="3007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Flowchart: Decision 96"/>
          <p:cNvSpPr/>
          <p:nvPr/>
        </p:nvSpPr>
        <p:spPr>
          <a:xfrm>
            <a:off x="11107152" y="2557700"/>
            <a:ext cx="1500553" cy="1025319"/>
          </a:xfrm>
          <a:prstGeom prst="flowChartDecision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Approved?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469175" y="2680944"/>
            <a:ext cx="603459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60" b="1" dirty="0">
                <a:solidFill>
                  <a:srgbClr val="00973E"/>
                </a:solidFill>
              </a:rPr>
              <a:t>Yes</a:t>
            </a:r>
          </a:p>
        </p:txBody>
      </p:sp>
      <p:cxnSp>
        <p:nvCxnSpPr>
          <p:cNvPr id="99" name="Straight Arrow Connector 98"/>
          <p:cNvCxnSpPr/>
          <p:nvPr/>
        </p:nvCxnSpPr>
        <p:spPr>
          <a:xfrm>
            <a:off x="11857427" y="3600091"/>
            <a:ext cx="0" cy="292492"/>
          </a:xfrm>
          <a:prstGeom prst="straightConnector1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 flipH="1">
            <a:off x="11196906" y="3352993"/>
            <a:ext cx="1272269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60" b="1" dirty="0">
                <a:solidFill>
                  <a:schemeClr val="accent1"/>
                </a:solidFill>
              </a:rPr>
              <a:t>NO</a:t>
            </a:r>
          </a:p>
        </p:txBody>
      </p:sp>
      <p:cxnSp>
        <p:nvCxnSpPr>
          <p:cNvPr id="101" name="Straight Arrow Connector 100"/>
          <p:cNvCxnSpPr/>
          <p:nvPr/>
        </p:nvCxnSpPr>
        <p:spPr>
          <a:xfrm>
            <a:off x="10835427" y="3054294"/>
            <a:ext cx="294553" cy="3007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Flowchart: Process 101"/>
          <p:cNvSpPr/>
          <p:nvPr/>
        </p:nvSpPr>
        <p:spPr>
          <a:xfrm>
            <a:off x="11367116" y="3892583"/>
            <a:ext cx="1335908" cy="771788"/>
          </a:xfrm>
          <a:prstGeom prst="flowChartProcess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53" tIns="45720" rIns="41453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Follow up with Requester to fix issue  </a:t>
            </a:r>
            <a:endParaRPr lang="en-US" sz="1360" b="1" dirty="0">
              <a:solidFill>
                <a:srgbClr val="FF000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103" name="Straight Arrow Connector 102"/>
          <p:cNvCxnSpPr/>
          <p:nvPr/>
        </p:nvCxnSpPr>
        <p:spPr>
          <a:xfrm>
            <a:off x="12604721" y="3061236"/>
            <a:ext cx="294553" cy="3007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Flowchart: Process 103"/>
          <p:cNvSpPr/>
          <p:nvPr/>
        </p:nvSpPr>
        <p:spPr>
          <a:xfrm>
            <a:off x="4779423" y="1526625"/>
            <a:ext cx="1258538" cy="797126"/>
          </a:xfrm>
          <a:prstGeom prst="flowChartProcess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53" tIns="45720" rIns="41453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Review Vertex Tax Calculation against invoice</a:t>
            </a:r>
            <a:endParaRPr lang="en-US" sz="1360" b="1" dirty="0">
              <a:solidFill>
                <a:srgbClr val="FF000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105" name="Elbow Connector 104"/>
          <p:cNvCxnSpPr>
            <a:stCxn id="102" idx="3"/>
          </p:cNvCxnSpPr>
          <p:nvPr/>
        </p:nvCxnSpPr>
        <p:spPr>
          <a:xfrm flipV="1">
            <a:off x="12703024" y="3205545"/>
            <a:ext cx="660521" cy="1072932"/>
          </a:xfrm>
          <a:prstGeom prst="bentConnector2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>
            <a:off x="9232767" y="1888952"/>
            <a:ext cx="294553" cy="3007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Flowchart: Predefined Process 106"/>
          <p:cNvSpPr/>
          <p:nvPr/>
        </p:nvSpPr>
        <p:spPr>
          <a:xfrm>
            <a:off x="9451857" y="2730803"/>
            <a:ext cx="1367166" cy="800365"/>
          </a:xfrm>
          <a:prstGeom prst="flowChartPredefinedProcess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Create SE in Procurement</a:t>
            </a:r>
          </a:p>
          <a:p>
            <a:pPr algn="ctr"/>
            <a:r>
              <a:rPr lang="en-US" sz="136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ML81N</a:t>
            </a:r>
            <a:endParaRPr lang="en-US" sz="1360" b="1" dirty="0">
              <a:solidFill>
                <a:schemeClr val="accent3">
                  <a:lumMod val="60000"/>
                  <a:lumOff val="40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8" name="Flowchart: Terminator 107"/>
          <p:cNvSpPr/>
          <p:nvPr/>
        </p:nvSpPr>
        <p:spPr>
          <a:xfrm>
            <a:off x="12879430" y="2873916"/>
            <a:ext cx="626912" cy="313805"/>
          </a:xfrm>
          <a:prstGeom prst="flowChartTerminator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/>
          <a:lstStyle/>
          <a:p>
            <a:pPr algn="ctr"/>
            <a:r>
              <a:rPr lang="en-US" sz="1360" dirty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2376284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15" y="101482"/>
            <a:ext cx="12177267" cy="624725"/>
          </a:xfrm>
        </p:spPr>
        <p:txBody>
          <a:bodyPr/>
          <a:lstStyle/>
          <a:p>
            <a:r>
              <a:rPr lang="en-US" dirty="0" smtClean="0"/>
              <a:t>Invoice Entry (Non-PO Match) Process Flow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0" y="952988"/>
            <a:ext cx="13561874" cy="6610649"/>
            <a:chOff x="255726" y="915566"/>
            <a:chExt cx="8714358" cy="3979826"/>
          </a:xfrm>
        </p:grpSpPr>
        <p:grpSp>
          <p:nvGrpSpPr>
            <p:cNvPr id="4" name="Group 3"/>
            <p:cNvGrpSpPr/>
            <p:nvPr/>
          </p:nvGrpSpPr>
          <p:grpSpPr>
            <a:xfrm>
              <a:off x="255726" y="915566"/>
              <a:ext cx="8713663" cy="3979826"/>
              <a:chOff x="250825" y="968188"/>
              <a:chExt cx="8425631" cy="3907818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250825" y="968188"/>
                <a:ext cx="8425631" cy="390781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50825" y="968188"/>
                <a:ext cx="8425631" cy="235410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t" anchorCtr="0">
                <a:normAutofit/>
              </a:bodyPr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Flowchart: Process 4"/>
            <p:cNvSpPr/>
            <p:nvPr/>
          </p:nvSpPr>
          <p:spPr>
            <a:xfrm>
              <a:off x="256421" y="1871056"/>
              <a:ext cx="8713663" cy="792088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Flowchart: Process 5"/>
            <p:cNvSpPr/>
            <p:nvPr/>
          </p:nvSpPr>
          <p:spPr>
            <a:xfrm>
              <a:off x="255726" y="3388599"/>
              <a:ext cx="8713663" cy="792088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34462" y="867509"/>
            <a:ext cx="6166338" cy="503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Invoice Entry (Non-PO Match)</a:t>
            </a:r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70338" y="1313796"/>
            <a:ext cx="1195754" cy="6260474"/>
            <a:chOff x="259525" y="1164260"/>
            <a:chExt cx="361430" cy="3721393"/>
          </a:xfrm>
        </p:grpSpPr>
        <p:sp>
          <p:nvSpPr>
            <p:cNvPr id="11" name="Flowchart: Process 10"/>
            <p:cNvSpPr/>
            <p:nvPr/>
          </p:nvSpPr>
          <p:spPr>
            <a:xfrm>
              <a:off x="259525" y="1164260"/>
              <a:ext cx="360735" cy="696264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27432" rIns="91440" bIns="27432" rtlCol="0" anchor="ctr" anchorCtr="1">
              <a:normAutofit/>
            </a:bodyPr>
            <a:lstStyle/>
            <a:p>
              <a:pPr algn="ctr"/>
              <a:r>
                <a:rPr lang="en-US" sz="1800" dirty="0" smtClean="0">
                  <a:solidFill>
                    <a:schemeClr val="tx1"/>
                  </a:solidFill>
                  <a:cs typeface="Arial"/>
                </a:rPr>
                <a:t>AP Data Entry</a:t>
              </a:r>
              <a:endParaRPr lang="en-US" sz="1800" dirty="0">
                <a:solidFill>
                  <a:schemeClr val="tx1"/>
                </a:solidFill>
                <a:cs typeface="Arial"/>
              </a:endParaRPr>
            </a:p>
          </p:txBody>
        </p:sp>
        <p:sp>
          <p:nvSpPr>
            <p:cNvPr id="12" name="Flowchart: Process 11"/>
            <p:cNvSpPr/>
            <p:nvPr/>
          </p:nvSpPr>
          <p:spPr>
            <a:xfrm>
              <a:off x="259525" y="1871056"/>
              <a:ext cx="360735" cy="782349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27432" rIns="91440" bIns="27432" rtlCol="0" anchor="ctr" anchorCtr="0">
              <a:normAutofit/>
            </a:bodyPr>
            <a:lstStyle/>
            <a:p>
              <a:pPr algn="ctr"/>
              <a:r>
                <a:rPr lang="en-US" sz="1800" dirty="0" smtClean="0">
                  <a:solidFill>
                    <a:schemeClr val="tx1"/>
                  </a:solidFill>
                </a:rPr>
                <a:t>PO Requester</a:t>
              </a:r>
              <a:endParaRPr 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13" name="Flowchart: Process 12"/>
            <p:cNvSpPr/>
            <p:nvPr/>
          </p:nvSpPr>
          <p:spPr>
            <a:xfrm>
              <a:off x="259525" y="2663144"/>
              <a:ext cx="360735" cy="725455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27432" bIns="27432" rtlCol="0" anchor="ctr" anchorCtr="1">
              <a:normAutofit/>
            </a:bodyPr>
            <a:lstStyle/>
            <a:p>
              <a:pPr algn="ctr"/>
              <a:r>
                <a:rPr lang="en-US" sz="1800" dirty="0" smtClean="0">
                  <a:solidFill>
                    <a:schemeClr val="tx1"/>
                  </a:solidFill>
                </a:rPr>
                <a:t> </a:t>
              </a:r>
              <a:endParaRPr 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14" name="Flowchart: Process 13"/>
            <p:cNvSpPr/>
            <p:nvPr/>
          </p:nvSpPr>
          <p:spPr>
            <a:xfrm>
              <a:off x="260220" y="3388599"/>
              <a:ext cx="360735" cy="782349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27432" bIns="27432" rtlCol="0" anchor="ctr" anchorCtr="1">
              <a:normAutofit/>
            </a:bodyPr>
            <a:lstStyle/>
            <a:p>
              <a:pPr algn="ctr"/>
              <a:endParaRPr 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" name="Flowchart: Process 14"/>
            <p:cNvSpPr/>
            <p:nvPr/>
          </p:nvSpPr>
          <p:spPr>
            <a:xfrm>
              <a:off x="260220" y="4180687"/>
              <a:ext cx="360735" cy="704966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27432" bIns="27432" rtlCol="0" anchor="ctr" anchorCtr="1">
              <a:normAutofit/>
            </a:bodyPr>
            <a:lstStyle/>
            <a:p>
              <a:pPr algn="ctr"/>
              <a:endParaRPr lang="en-US" sz="1050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6484664" y="2044144"/>
            <a:ext cx="3971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900" b="1" dirty="0">
              <a:solidFill>
                <a:srgbClr val="00973E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9652692" y="3484003"/>
            <a:ext cx="224742" cy="301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60" b="1" dirty="0">
                <a:solidFill>
                  <a:srgbClr val="00973E"/>
                </a:solidFill>
              </a:rPr>
              <a:t> 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3121060" y="1852793"/>
            <a:ext cx="271761" cy="0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lowchart: Process 40"/>
          <p:cNvSpPr/>
          <p:nvPr/>
        </p:nvSpPr>
        <p:spPr>
          <a:xfrm>
            <a:off x="1632801" y="1502634"/>
            <a:ext cx="1455777" cy="797827"/>
          </a:xfrm>
          <a:prstGeom prst="flowChartProcess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53" tIns="45720" rIns="41453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Review BPP – </a:t>
            </a:r>
            <a:r>
              <a:rPr lang="en-US" sz="136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Post Vendor Invoices</a:t>
            </a:r>
          </a:p>
        </p:txBody>
      </p:sp>
      <p:sp>
        <p:nvSpPr>
          <p:cNvPr id="42" name="Flowchart: Document 41"/>
          <p:cNvSpPr/>
          <p:nvPr/>
        </p:nvSpPr>
        <p:spPr>
          <a:xfrm>
            <a:off x="7294240" y="1531589"/>
            <a:ext cx="1404736" cy="749822"/>
          </a:xfrm>
          <a:prstGeom prst="flowChartDocumen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53" tIns="45720" rIns="41453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G/L posting will be expense debit and vendor credit</a:t>
            </a:r>
            <a:endParaRPr lang="en-US" sz="1360" b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3" name="Flowchart: Terminator 42"/>
          <p:cNvSpPr/>
          <p:nvPr/>
        </p:nvSpPr>
        <p:spPr>
          <a:xfrm>
            <a:off x="9019119" y="1665470"/>
            <a:ext cx="865385" cy="276446"/>
          </a:xfrm>
          <a:prstGeom prst="flowChartTerminator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/>
          <a:lstStyle/>
          <a:p>
            <a:pPr algn="ctr"/>
            <a:r>
              <a:rPr lang="en-US" sz="1360" dirty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End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 flipH="1">
            <a:off x="4065191" y="2318453"/>
            <a:ext cx="4894" cy="396410"/>
          </a:xfrm>
          <a:prstGeom prst="straightConnector1">
            <a:avLst/>
          </a:prstGeom>
          <a:ln w="25400">
            <a:solidFill>
              <a:srgbClr val="FF0000"/>
            </a:solidFill>
            <a:prstDash val="sysDot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lowchart: Predefined Process 44"/>
          <p:cNvSpPr/>
          <p:nvPr/>
        </p:nvSpPr>
        <p:spPr>
          <a:xfrm>
            <a:off x="5351196" y="1486653"/>
            <a:ext cx="1367166" cy="800365"/>
          </a:xfrm>
          <a:prstGeom prst="flowChartPredefinedProcess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Enter Invoice in  SAP </a:t>
            </a:r>
          </a:p>
          <a:p>
            <a:pPr algn="ctr"/>
            <a:r>
              <a:rPr lang="en-US" sz="136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FB60 (</a:t>
            </a:r>
            <a:r>
              <a:rPr lang="en-US" sz="136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</a:t>
            </a:r>
            <a:r>
              <a:rPr lang="en-US" sz="136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</p:txBody>
      </p:sp>
      <p:cxnSp>
        <p:nvCxnSpPr>
          <p:cNvPr id="46" name="Straight Arrow Connector 45"/>
          <p:cNvCxnSpPr/>
          <p:nvPr/>
        </p:nvCxnSpPr>
        <p:spPr>
          <a:xfrm flipV="1">
            <a:off x="6775661" y="1856681"/>
            <a:ext cx="518579" cy="3170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8698977" y="1799182"/>
            <a:ext cx="294553" cy="3007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/>
          <p:cNvCxnSpPr/>
          <p:nvPr/>
        </p:nvCxnSpPr>
        <p:spPr>
          <a:xfrm flipV="1">
            <a:off x="4878966" y="2379762"/>
            <a:ext cx="1155814" cy="867497"/>
          </a:xfrm>
          <a:prstGeom prst="bentConnector2">
            <a:avLst/>
          </a:prstGeom>
          <a:ln w="22225">
            <a:solidFill>
              <a:schemeClr val="bg1">
                <a:lumMod val="50000"/>
              </a:schemeClr>
            </a:solidFill>
            <a:prstDash val="sys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456528" y="2082224"/>
            <a:ext cx="716063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60" b="1" dirty="0">
                <a:solidFill>
                  <a:schemeClr val="accent1"/>
                </a:solidFill>
              </a:rPr>
              <a:t>NO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V="1">
            <a:off x="4821403" y="1835181"/>
            <a:ext cx="518579" cy="3170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821403" y="1471521"/>
            <a:ext cx="603459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60" b="1" dirty="0">
                <a:solidFill>
                  <a:srgbClr val="00973E"/>
                </a:solidFill>
              </a:rPr>
              <a:t>Yes</a:t>
            </a:r>
          </a:p>
        </p:txBody>
      </p:sp>
      <p:sp>
        <p:nvSpPr>
          <p:cNvPr id="52" name="Flowchart: Process 51"/>
          <p:cNvSpPr/>
          <p:nvPr/>
        </p:nvSpPr>
        <p:spPr>
          <a:xfrm>
            <a:off x="3502710" y="2710488"/>
            <a:ext cx="1367166" cy="797126"/>
          </a:xfrm>
          <a:prstGeom prst="flowChartProcess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53" tIns="45720" rIns="41453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Approval contacted by email to provide approval</a:t>
            </a:r>
            <a:endParaRPr lang="en-US" sz="1360" b="1" dirty="0">
              <a:solidFill>
                <a:srgbClr val="FF000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3" name="Flowchart: Decision 52"/>
          <p:cNvSpPr/>
          <p:nvPr/>
        </p:nvSpPr>
        <p:spPr>
          <a:xfrm>
            <a:off x="3364268" y="1330149"/>
            <a:ext cx="1435488" cy="971374"/>
          </a:xfrm>
          <a:prstGeom prst="flowChartDecision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Approved?</a:t>
            </a:r>
          </a:p>
        </p:txBody>
      </p:sp>
    </p:spTree>
    <p:extLst>
      <p:ext uri="{BB962C8B-B14F-4D97-AF65-F5344CB8AC3E}">
        <p14:creationId xmlns:p14="http://schemas.microsoft.com/office/powerpoint/2010/main" val="3200872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0048" y="5953196"/>
            <a:ext cx="2538984" cy="1830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Demo </a:t>
            </a:r>
            <a:r>
              <a:rPr lang="en-US" altLang="en-US" dirty="0" smtClean="0"/>
              <a:t>3.6</a:t>
            </a:r>
            <a:r>
              <a:rPr lang="en-US" altLang="en-US" dirty="0" smtClean="0"/>
              <a:t>: </a:t>
            </a:r>
            <a:r>
              <a:rPr lang="en-US" altLang="en-US" dirty="0" smtClean="0"/>
              <a:t>Enter Invoice Data</a:t>
            </a:r>
            <a:endParaRPr lang="en-US" altLang="en-US" dirty="0"/>
          </a:p>
        </p:txBody>
      </p:sp>
      <p:sp>
        <p:nvSpPr>
          <p:cNvPr id="79877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An invoice from Global Resources has been received and requires entry</a:t>
            </a:r>
            <a:endParaRPr lang="en-US" altLang="en-US" dirty="0"/>
          </a:p>
          <a:p>
            <a:r>
              <a:rPr lang="en-US" altLang="en-US" dirty="0"/>
              <a:t>Notes</a:t>
            </a:r>
          </a:p>
          <a:p>
            <a:pPr lvl="1"/>
            <a:r>
              <a:rPr lang="en-US" altLang="en-US" dirty="0" smtClean="0"/>
              <a:t>Transaction </a:t>
            </a:r>
            <a:r>
              <a:rPr lang="en-US" altLang="en-US" dirty="0"/>
              <a:t>Code: </a:t>
            </a:r>
            <a:r>
              <a:rPr lang="en-US" altLang="en-US" dirty="0" smtClean="0"/>
              <a:t>FB60</a:t>
            </a:r>
          </a:p>
          <a:p>
            <a:pPr marL="690841" lvl="1" indent="0">
              <a:buNone/>
            </a:pPr>
            <a:endParaRPr lang="en-US" altLang="en-US" dirty="0"/>
          </a:p>
        </p:txBody>
      </p:sp>
      <p:sp>
        <p:nvSpPr>
          <p:cNvPr id="79875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56DF02-B972-47C9-B00D-779435B411F7}" type="slidenum">
              <a:rPr lang="en-US" altLang="en-US" sz="1600" smtClean="0"/>
              <a:pPr/>
              <a:t>41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6702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 descr="MPj04225930000[1]"/>
          <p:cNvPicPr>
            <a:picLocks noChangeAspect="1" noChangeArrowheads="1"/>
          </p:cNvPicPr>
          <p:nvPr/>
        </p:nvPicPr>
        <p:blipFill>
          <a:blip r:embed="rId3">
            <a:lum bright="54000" contrast="-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3077" y="6187335"/>
            <a:ext cx="2324523" cy="1585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Exercise </a:t>
            </a:r>
            <a:r>
              <a:rPr lang="en-US" altLang="en-US" dirty="0" smtClean="0"/>
              <a:t>3.6</a:t>
            </a:r>
            <a:r>
              <a:rPr lang="en-US" altLang="en-US" dirty="0" smtClean="0"/>
              <a:t>: </a:t>
            </a:r>
            <a:r>
              <a:rPr lang="en-US" altLang="en-US" dirty="0" smtClean="0"/>
              <a:t>Enter Invoice Data</a:t>
            </a:r>
            <a:endParaRPr lang="en-US" altLang="en-US" dirty="0"/>
          </a:p>
        </p:txBody>
      </p:sp>
      <p:sp>
        <p:nvSpPr>
          <p:cNvPr id="69637" name="Rectangle 3"/>
          <p:cNvSpPr>
            <a:spLocks noGrp="1" noChangeArrowheads="1"/>
          </p:cNvSpPr>
          <p:nvPr>
            <p:ph idx="1"/>
          </p:nvPr>
        </p:nvSpPr>
        <p:spPr>
          <a:xfrm>
            <a:off x="520700" y="1081669"/>
            <a:ext cx="12827000" cy="2967817"/>
          </a:xfrm>
        </p:spPr>
        <p:txBody>
          <a:bodyPr/>
          <a:lstStyle/>
          <a:p>
            <a:r>
              <a:rPr lang="en-US" altLang="en-US" dirty="0"/>
              <a:t>An invoice from Global Resources has been received and requires entry</a:t>
            </a:r>
          </a:p>
          <a:p>
            <a:r>
              <a:rPr lang="en-US" altLang="en-US" dirty="0" smtClean="0"/>
              <a:t>Enter Invoice Data</a:t>
            </a:r>
          </a:p>
          <a:p>
            <a:r>
              <a:rPr lang="en-US" altLang="en-US" dirty="0"/>
              <a:t>Notes</a:t>
            </a:r>
          </a:p>
          <a:p>
            <a:pPr lvl="1"/>
            <a:r>
              <a:rPr lang="en-US" altLang="en-US" dirty="0" smtClean="0"/>
              <a:t>Transaction </a:t>
            </a:r>
            <a:r>
              <a:rPr lang="en-US" altLang="en-US" dirty="0"/>
              <a:t>Code: </a:t>
            </a:r>
            <a:r>
              <a:rPr lang="en-US" altLang="en-US" dirty="0" smtClean="0"/>
              <a:t>FB60</a:t>
            </a:r>
            <a:endParaRPr lang="en-US" altLang="en-US" dirty="0"/>
          </a:p>
          <a:p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C94C66-C52E-487D-82B9-B896A1AB6338}" type="slidenum">
              <a:rPr lang="en-US" altLang="en-US" sz="1600" smtClean="0"/>
              <a:pPr/>
              <a:t>42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75603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/>
          </p:nvPr>
        </p:nvGraphicFramePr>
        <p:xfrm>
          <a:off x="0" y="6396711"/>
          <a:ext cx="5104659" cy="14586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45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Post an Invoice</a:t>
            </a:r>
            <a:endParaRPr lang="en-US" altLang="en-US" dirty="0"/>
          </a:p>
        </p:txBody>
      </p:sp>
      <p:sp>
        <p:nvSpPr>
          <p:cNvPr id="64516" name="Rectangle 4"/>
          <p:cNvSpPr>
            <a:spLocks noGrp="1" noChangeArrowheads="1"/>
          </p:cNvSpPr>
          <p:nvPr>
            <p:ph idx="1"/>
          </p:nvPr>
        </p:nvSpPr>
        <p:spPr>
          <a:xfrm>
            <a:off x="237674" y="1077100"/>
            <a:ext cx="13296900" cy="5572864"/>
          </a:xfrm>
        </p:spPr>
        <p:txBody>
          <a:bodyPr/>
          <a:lstStyle/>
          <a:p>
            <a:r>
              <a:rPr lang="en-US" dirty="0"/>
              <a:t>Invoice posting updates all the related documents in financials and </a:t>
            </a:r>
            <a:r>
              <a:rPr lang="en-US" dirty="0" smtClean="0"/>
              <a:t>accounting</a:t>
            </a:r>
          </a:p>
          <a:p>
            <a:r>
              <a:rPr lang="en-US" dirty="0" smtClean="0"/>
              <a:t>A </a:t>
            </a:r>
            <a:r>
              <a:rPr lang="en-US" dirty="0"/>
              <a:t>file is extracted from </a:t>
            </a:r>
            <a:r>
              <a:rPr lang="en-US" dirty="0" smtClean="0"/>
              <a:t>the system and </a:t>
            </a:r>
            <a:r>
              <a:rPr lang="en-US" dirty="0"/>
              <a:t>is uploaded into </a:t>
            </a:r>
            <a:r>
              <a:rPr lang="en-US" dirty="0" smtClean="0"/>
              <a:t>Beeline</a:t>
            </a:r>
          </a:p>
          <a:p>
            <a:r>
              <a:rPr lang="en-US" dirty="0"/>
              <a:t>Based on the file, Flextrack </a:t>
            </a:r>
            <a:r>
              <a:rPr lang="en-US" dirty="0" smtClean="0"/>
              <a:t>sends </a:t>
            </a:r>
            <a:r>
              <a:rPr lang="en-US" dirty="0"/>
              <a:t>two .csv files with the approved labor time from previous week to FAI and one file to </a:t>
            </a:r>
            <a:r>
              <a:rPr lang="en-US" dirty="0" smtClean="0"/>
              <a:t>FCC</a:t>
            </a:r>
          </a:p>
          <a:p>
            <a:r>
              <a:rPr lang="en-US" dirty="0"/>
              <a:t>A</a:t>
            </a:r>
            <a:r>
              <a:rPr lang="en-US" dirty="0" smtClean="0"/>
              <a:t>n </a:t>
            </a:r>
            <a:r>
              <a:rPr lang="en-US" dirty="0"/>
              <a:t>exception file is generated and a notification is sent to AP </a:t>
            </a:r>
            <a:r>
              <a:rPr lang="en-US" dirty="0" smtClean="0"/>
              <a:t>processor for any errors</a:t>
            </a:r>
          </a:p>
          <a:p>
            <a:r>
              <a:rPr lang="en-US" dirty="0"/>
              <a:t>AP </a:t>
            </a:r>
            <a:r>
              <a:rPr lang="en-US" dirty="0" smtClean="0"/>
              <a:t>receives an updated invoice and </a:t>
            </a:r>
            <a:r>
              <a:rPr lang="en-US" dirty="0"/>
              <a:t>posts </a:t>
            </a:r>
            <a:r>
              <a:rPr lang="en-US" dirty="0" smtClean="0"/>
              <a:t>in the system</a:t>
            </a:r>
            <a:endParaRPr lang="en-US" altLang="en-US" dirty="0" smtClean="0"/>
          </a:p>
          <a:p>
            <a:endParaRPr lang="en-US" altLang="en-US" dirty="0"/>
          </a:p>
          <a:p>
            <a:pPr marL="690841" lvl="1" indent="0">
              <a:buNone/>
            </a:pPr>
            <a:endParaRPr lang="en-US" dirty="0"/>
          </a:p>
        </p:txBody>
      </p:sp>
      <p:sp>
        <p:nvSpPr>
          <p:cNvPr id="6451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6FE162-D387-498F-AEA6-BD416347918F}" type="slidenum">
              <a:rPr lang="en-US" altLang="en-US" sz="1600" smtClean="0"/>
              <a:pPr/>
              <a:t>43</a:t>
            </a:fld>
            <a:endParaRPr lang="en-US" alt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529320" y="6652689"/>
            <a:ext cx="766822" cy="84687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281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/>
          </p:nvPr>
        </p:nvGraphicFramePr>
        <p:xfrm>
          <a:off x="0" y="6396711"/>
          <a:ext cx="5104659" cy="14586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45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Managing BeeLine/Flextrack Invoices</a:t>
            </a:r>
            <a:endParaRPr lang="en-US" altLang="en-US" dirty="0"/>
          </a:p>
        </p:txBody>
      </p:sp>
      <p:sp>
        <p:nvSpPr>
          <p:cNvPr id="64516" name="Rectangle 4"/>
          <p:cNvSpPr>
            <a:spLocks noGrp="1" noChangeArrowheads="1"/>
          </p:cNvSpPr>
          <p:nvPr>
            <p:ph idx="1"/>
          </p:nvPr>
        </p:nvSpPr>
        <p:spPr>
          <a:xfrm>
            <a:off x="237674" y="1077100"/>
            <a:ext cx="13296900" cy="5572864"/>
          </a:xfrm>
        </p:spPr>
        <p:txBody>
          <a:bodyPr/>
          <a:lstStyle/>
          <a:p>
            <a:r>
              <a:rPr lang="en-US" dirty="0"/>
              <a:t>AP receives the file and uploads it to </a:t>
            </a:r>
            <a:r>
              <a:rPr lang="en-US" dirty="0" smtClean="0"/>
              <a:t>the system</a:t>
            </a:r>
          </a:p>
          <a:p>
            <a:r>
              <a:rPr lang="en-US" dirty="0"/>
              <a:t>A file is extracted from </a:t>
            </a:r>
            <a:r>
              <a:rPr lang="en-US" dirty="0" smtClean="0"/>
              <a:t>the system and </a:t>
            </a:r>
            <a:r>
              <a:rPr lang="en-US" dirty="0"/>
              <a:t>is uploaded into </a:t>
            </a:r>
            <a:r>
              <a:rPr lang="en-US" dirty="0" smtClean="0"/>
              <a:t>Beeline</a:t>
            </a:r>
          </a:p>
          <a:p>
            <a:r>
              <a:rPr lang="en-US" dirty="0"/>
              <a:t>Based on the file, Flextrack </a:t>
            </a:r>
            <a:r>
              <a:rPr lang="en-US" dirty="0" smtClean="0"/>
              <a:t>sends </a:t>
            </a:r>
            <a:r>
              <a:rPr lang="en-US" dirty="0"/>
              <a:t>two .csv files with the approved labor time from previous week to FAI and one file to </a:t>
            </a:r>
            <a:r>
              <a:rPr lang="en-US" dirty="0" smtClean="0"/>
              <a:t>FCC</a:t>
            </a:r>
          </a:p>
          <a:p>
            <a:r>
              <a:rPr lang="en-US" dirty="0"/>
              <a:t>A</a:t>
            </a:r>
            <a:r>
              <a:rPr lang="en-US" dirty="0" smtClean="0"/>
              <a:t>n </a:t>
            </a:r>
            <a:r>
              <a:rPr lang="en-US" dirty="0"/>
              <a:t>exception file is generated and a notification is sent to AP </a:t>
            </a:r>
            <a:r>
              <a:rPr lang="en-US" dirty="0" smtClean="0"/>
              <a:t>processor for any errors</a:t>
            </a:r>
          </a:p>
          <a:p>
            <a:r>
              <a:rPr lang="en-US" dirty="0"/>
              <a:t>AP </a:t>
            </a:r>
            <a:r>
              <a:rPr lang="en-US" dirty="0" smtClean="0"/>
              <a:t>receives an updated invoice and </a:t>
            </a:r>
            <a:r>
              <a:rPr lang="en-US" dirty="0"/>
              <a:t>posts </a:t>
            </a:r>
            <a:r>
              <a:rPr lang="en-US" dirty="0" smtClean="0"/>
              <a:t>in the system</a:t>
            </a:r>
            <a:endParaRPr lang="en-US" altLang="en-US" dirty="0" smtClean="0"/>
          </a:p>
          <a:p>
            <a:endParaRPr lang="en-US" altLang="en-US" dirty="0"/>
          </a:p>
          <a:p>
            <a:pPr marL="690841" lvl="1" indent="0">
              <a:buNone/>
            </a:pPr>
            <a:endParaRPr lang="en-US" dirty="0"/>
          </a:p>
        </p:txBody>
      </p:sp>
      <p:sp>
        <p:nvSpPr>
          <p:cNvPr id="6451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6FE162-D387-498F-AEA6-BD416347918F}" type="slidenum">
              <a:rPr lang="en-US" altLang="en-US" sz="1600" smtClean="0"/>
              <a:pPr/>
              <a:t>44</a:t>
            </a:fld>
            <a:endParaRPr lang="en-US" alt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529320" y="6652689"/>
            <a:ext cx="766822" cy="84687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32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/>
          </p:nvPr>
        </p:nvGraphicFramePr>
        <p:xfrm>
          <a:off x="0" y="6396711"/>
          <a:ext cx="5104659" cy="14586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45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Processing an Automatic Payment Transaction</a:t>
            </a:r>
            <a:endParaRPr lang="en-US" altLang="en-US" dirty="0"/>
          </a:p>
        </p:txBody>
      </p:sp>
      <p:sp>
        <p:nvSpPr>
          <p:cNvPr id="64516" name="Rectangle 4"/>
          <p:cNvSpPr>
            <a:spLocks noGrp="1" noChangeArrowheads="1"/>
          </p:cNvSpPr>
          <p:nvPr>
            <p:ph idx="1"/>
          </p:nvPr>
        </p:nvSpPr>
        <p:spPr>
          <a:xfrm>
            <a:off x="237674" y="1077100"/>
            <a:ext cx="13296900" cy="5572864"/>
          </a:xfrm>
        </p:spPr>
        <p:txBody>
          <a:bodyPr/>
          <a:lstStyle/>
          <a:p>
            <a:r>
              <a:rPr lang="en-US" dirty="0"/>
              <a:t>Currently FAI US checks are outsourced to </a:t>
            </a:r>
            <a:r>
              <a:rPr lang="en-US" dirty="0" smtClean="0"/>
              <a:t>BOA (Bank of America) </a:t>
            </a:r>
            <a:r>
              <a:rPr lang="en-US" dirty="0"/>
              <a:t>and BOA prints the </a:t>
            </a:r>
            <a:r>
              <a:rPr lang="en-US" dirty="0" smtClean="0"/>
              <a:t>checks</a:t>
            </a:r>
          </a:p>
          <a:p>
            <a:r>
              <a:rPr lang="en-US" dirty="0" smtClean="0"/>
              <a:t>Automatic payment program offers several payment options including:</a:t>
            </a:r>
          </a:p>
          <a:p>
            <a:pPr lvl="1"/>
            <a:r>
              <a:rPr lang="en-US" dirty="0" smtClean="0"/>
              <a:t>Scheduling payment proposal</a:t>
            </a:r>
          </a:p>
          <a:p>
            <a:pPr lvl="1"/>
            <a:r>
              <a:rPr lang="en-US" dirty="0" smtClean="0"/>
              <a:t>Revising payment proposal</a:t>
            </a:r>
          </a:p>
          <a:p>
            <a:r>
              <a:rPr lang="en-US" dirty="0" smtClean="0"/>
              <a:t>The </a:t>
            </a:r>
            <a:r>
              <a:rPr lang="en-US" dirty="0"/>
              <a:t>system </a:t>
            </a:r>
            <a:r>
              <a:rPr lang="en-US" dirty="0" smtClean="0"/>
              <a:t>allows for managing </a:t>
            </a:r>
            <a:r>
              <a:rPr lang="en-US" dirty="0"/>
              <a:t>open payables invoices that are automatically created from purchasing processes</a:t>
            </a:r>
            <a:endParaRPr lang="en-US" altLang="en-US" dirty="0" smtClean="0"/>
          </a:p>
          <a:p>
            <a:endParaRPr lang="en-US" altLang="en-US" dirty="0"/>
          </a:p>
          <a:p>
            <a:pPr marL="690841" lvl="1" indent="0">
              <a:buNone/>
            </a:pPr>
            <a:endParaRPr lang="en-US" dirty="0"/>
          </a:p>
        </p:txBody>
      </p:sp>
      <p:sp>
        <p:nvSpPr>
          <p:cNvPr id="6451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6FE162-D387-498F-AEA6-BD416347918F}" type="slidenum">
              <a:rPr lang="en-US" altLang="en-US" sz="1600" smtClean="0"/>
              <a:pPr/>
              <a:t>45</a:t>
            </a:fld>
            <a:endParaRPr lang="en-US" alt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529320" y="6652689"/>
            <a:ext cx="766822" cy="84687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41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Initiating Automatic Payments Transaction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" y="929269"/>
            <a:ext cx="4337050" cy="5880066"/>
          </a:xfrm>
        </p:spPr>
        <p:txBody>
          <a:bodyPr/>
          <a:lstStyle/>
          <a:p>
            <a:r>
              <a:rPr lang="en-US" sz="3200" dirty="0" smtClean="0"/>
              <a:t>Transaction provides information on: </a:t>
            </a:r>
          </a:p>
          <a:p>
            <a:pPr lvl="1"/>
            <a:r>
              <a:rPr lang="en-US" sz="2800" dirty="0" smtClean="0"/>
              <a:t>What must be paid</a:t>
            </a:r>
          </a:p>
          <a:p>
            <a:pPr lvl="1"/>
            <a:r>
              <a:rPr lang="en-US" sz="2800" dirty="0" smtClean="0"/>
              <a:t>How it will be paid (paper check vs. ACH)</a:t>
            </a:r>
          </a:p>
          <a:p>
            <a:pPr lvl="1"/>
            <a:r>
              <a:rPr lang="en-US" sz="2800" dirty="0" smtClean="0"/>
              <a:t>Receiving bank accounts</a:t>
            </a:r>
          </a:p>
          <a:p>
            <a:r>
              <a:rPr lang="en-US" sz="3200" b="1" dirty="0" smtClean="0"/>
              <a:t>Run Date</a:t>
            </a:r>
            <a:r>
              <a:rPr lang="en-US" sz="3200" dirty="0" smtClean="0"/>
              <a:t> and </a:t>
            </a:r>
            <a:r>
              <a:rPr lang="en-US" sz="3200" b="1" dirty="0" smtClean="0"/>
              <a:t>Identification</a:t>
            </a:r>
            <a:r>
              <a:rPr lang="en-US" sz="3200" dirty="0" smtClean="0"/>
              <a:t> are required to initiate the transaction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950" y="793490"/>
            <a:ext cx="9607550" cy="62121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362450" y="3147489"/>
            <a:ext cx="3867150" cy="84687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4698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0048" y="5953196"/>
            <a:ext cx="2538984" cy="1830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6" name="Rectangle 3"/>
          <p:cNvSpPr>
            <a:spLocks noGrp="1" noChangeArrowheads="1"/>
          </p:cNvSpPr>
          <p:nvPr>
            <p:ph type="title"/>
          </p:nvPr>
        </p:nvSpPr>
        <p:spPr>
          <a:xfrm>
            <a:off x="376919" y="101482"/>
            <a:ext cx="12177267" cy="624725"/>
          </a:xfrm>
        </p:spPr>
        <p:txBody>
          <a:bodyPr/>
          <a:lstStyle/>
          <a:p>
            <a:r>
              <a:rPr lang="en-US" altLang="en-US" sz="4200" dirty="0"/>
              <a:t>Demo </a:t>
            </a:r>
            <a:r>
              <a:rPr lang="en-US" altLang="en-US" sz="4200" dirty="0" smtClean="0"/>
              <a:t>3.7</a:t>
            </a:r>
            <a:r>
              <a:rPr lang="en-US" altLang="en-US" sz="4200" dirty="0" smtClean="0"/>
              <a:t>: </a:t>
            </a:r>
            <a:r>
              <a:rPr lang="en-US" altLang="en-US" sz="4200" dirty="0" smtClean="0"/>
              <a:t>Initiate Automatic Payment Transaction</a:t>
            </a:r>
            <a:endParaRPr lang="en-US" altLang="en-US" sz="4200" dirty="0"/>
          </a:p>
        </p:txBody>
      </p:sp>
      <p:sp>
        <p:nvSpPr>
          <p:cNvPr id="79877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An invoice for Global Resources requires payment. Use the Automatic Payment Transaction to generate an ACH payment</a:t>
            </a:r>
            <a:endParaRPr lang="en-US" altLang="en-US" dirty="0"/>
          </a:p>
          <a:p>
            <a:r>
              <a:rPr lang="en-US" altLang="en-US" dirty="0" smtClean="0"/>
              <a:t>Notes</a:t>
            </a:r>
            <a:endParaRPr lang="en-US" altLang="en-US" dirty="0"/>
          </a:p>
          <a:p>
            <a:pPr lvl="1"/>
            <a:r>
              <a:rPr lang="en-US" altLang="en-US" dirty="0" smtClean="0"/>
              <a:t>Transaction </a:t>
            </a:r>
            <a:r>
              <a:rPr lang="en-US" altLang="en-US" dirty="0"/>
              <a:t>Code: </a:t>
            </a:r>
            <a:r>
              <a:rPr lang="en-US" altLang="en-US" dirty="0" smtClean="0"/>
              <a:t>F110</a:t>
            </a:r>
          </a:p>
          <a:p>
            <a:pPr lvl="1"/>
            <a:endParaRPr lang="en-US" altLang="en-US" dirty="0" smtClean="0"/>
          </a:p>
          <a:p>
            <a:pPr marL="690841" lvl="1" indent="0">
              <a:buNone/>
            </a:pPr>
            <a:endParaRPr lang="en-US" altLang="en-US" dirty="0"/>
          </a:p>
        </p:txBody>
      </p:sp>
      <p:sp>
        <p:nvSpPr>
          <p:cNvPr id="79875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56DF02-B972-47C9-B00D-779435B411F7}" type="slidenum">
              <a:rPr lang="en-US" altLang="en-US" sz="1600" smtClean="0"/>
              <a:pPr/>
              <a:t>47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46327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 descr="MPj04225930000[1]"/>
          <p:cNvPicPr>
            <a:picLocks noChangeAspect="1" noChangeArrowheads="1"/>
          </p:cNvPicPr>
          <p:nvPr/>
        </p:nvPicPr>
        <p:blipFill>
          <a:blip r:embed="rId3">
            <a:lum bright="54000" contrast="-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3077" y="6187335"/>
            <a:ext cx="2324523" cy="1585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>
          <a:xfrm>
            <a:off x="338822" y="101482"/>
            <a:ext cx="12177267" cy="624725"/>
          </a:xfrm>
        </p:spPr>
        <p:txBody>
          <a:bodyPr/>
          <a:lstStyle/>
          <a:p>
            <a:r>
              <a:rPr lang="en-US" altLang="en-US" sz="4000" dirty="0"/>
              <a:t>Exercise </a:t>
            </a:r>
            <a:r>
              <a:rPr lang="en-US" altLang="en-US" sz="4000" dirty="0" smtClean="0"/>
              <a:t>3.7</a:t>
            </a:r>
            <a:r>
              <a:rPr lang="en-US" altLang="en-US" sz="4000" dirty="0" smtClean="0"/>
              <a:t>: </a:t>
            </a:r>
            <a:r>
              <a:rPr lang="en-US" altLang="en-US" sz="4000" dirty="0" smtClean="0"/>
              <a:t>Initiate Automatic Payment Transaction</a:t>
            </a:r>
            <a:endParaRPr lang="en-US" altLang="en-US" sz="4000" dirty="0"/>
          </a:p>
        </p:txBody>
      </p:sp>
      <p:sp>
        <p:nvSpPr>
          <p:cNvPr id="69637" name="Rectangle 3"/>
          <p:cNvSpPr>
            <a:spLocks noGrp="1" noChangeArrowheads="1"/>
          </p:cNvSpPr>
          <p:nvPr>
            <p:ph idx="1"/>
          </p:nvPr>
        </p:nvSpPr>
        <p:spPr>
          <a:xfrm>
            <a:off x="108858" y="994585"/>
            <a:ext cx="13708742" cy="4034617"/>
          </a:xfrm>
        </p:spPr>
        <p:txBody>
          <a:bodyPr/>
          <a:lstStyle/>
          <a:p>
            <a:r>
              <a:rPr lang="en-US" altLang="en-US" dirty="0"/>
              <a:t>An invoice for Global Resources requires payment. Use the Automatic Payment Transaction to generate an ACH payment</a:t>
            </a:r>
          </a:p>
          <a:p>
            <a:r>
              <a:rPr lang="en-US" altLang="en-US" dirty="0" smtClean="0"/>
              <a:t>Notes</a:t>
            </a:r>
            <a:endParaRPr lang="en-US" altLang="en-US" dirty="0"/>
          </a:p>
          <a:p>
            <a:pPr lvl="1"/>
            <a:r>
              <a:rPr lang="en-US" altLang="en-US" dirty="0" smtClean="0"/>
              <a:t>Transaction </a:t>
            </a:r>
            <a:r>
              <a:rPr lang="en-US" altLang="en-US" dirty="0"/>
              <a:t>Code: </a:t>
            </a:r>
            <a:r>
              <a:rPr lang="en-US" altLang="en-US" dirty="0" smtClean="0"/>
              <a:t>F110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C94C66-C52E-487D-82B9-B896A1AB6338}" type="slidenum">
              <a:rPr lang="en-US" altLang="en-US" sz="1600" smtClean="0"/>
              <a:pPr/>
              <a:t>48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305105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Non-Purchase Order Invoice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Non-PO </a:t>
            </a:r>
            <a:r>
              <a:rPr lang="en-US" dirty="0" smtClean="0"/>
              <a:t>invoices </a:t>
            </a:r>
            <a:r>
              <a:rPr lang="en-US" dirty="0"/>
              <a:t>are the result of spend outside a regulated procurement </a:t>
            </a:r>
            <a:r>
              <a:rPr lang="en-US" dirty="0" smtClean="0"/>
              <a:t>process referred to as Expense Invoices</a:t>
            </a:r>
          </a:p>
          <a:p>
            <a:r>
              <a:rPr lang="en-US" dirty="0"/>
              <a:t>Non-PO </a:t>
            </a:r>
            <a:r>
              <a:rPr lang="en-US" dirty="0" smtClean="0"/>
              <a:t>invoices </a:t>
            </a:r>
            <a:r>
              <a:rPr lang="en-US" dirty="0"/>
              <a:t>can also be the result of contracted products or </a:t>
            </a:r>
            <a:r>
              <a:rPr lang="en-US" dirty="0" smtClean="0"/>
              <a:t>services</a:t>
            </a:r>
          </a:p>
          <a:p>
            <a:r>
              <a:rPr lang="en-US" dirty="0"/>
              <a:t>PO purchasing is a business best </a:t>
            </a:r>
            <a:r>
              <a:rPr lang="en-US" dirty="0" smtClean="0"/>
              <a:t>practice but </a:t>
            </a:r>
            <a:r>
              <a:rPr lang="en-US" dirty="0"/>
              <a:t>POs don’t make sense for smaller purchases, regular expenses, or legally contracted services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052492919"/>
              </p:ext>
            </p:extLst>
          </p:nvPr>
        </p:nvGraphicFramePr>
        <p:xfrm>
          <a:off x="0" y="6396711"/>
          <a:ext cx="5104659" cy="14586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/>
          <p:cNvSpPr/>
          <p:nvPr/>
        </p:nvSpPr>
        <p:spPr>
          <a:xfrm>
            <a:off x="413656" y="6640285"/>
            <a:ext cx="948415" cy="87284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3720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Entering a Non-PO Related Invoice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594" y="1059898"/>
            <a:ext cx="4954065" cy="5880066"/>
          </a:xfrm>
        </p:spPr>
        <p:txBody>
          <a:bodyPr/>
          <a:lstStyle/>
          <a:p>
            <a:r>
              <a:rPr lang="en-US" sz="3200" dirty="0" smtClean="0"/>
              <a:t>Transaction code FB60 used to enter an invoice not related to a purchase order</a:t>
            </a:r>
          </a:p>
          <a:p>
            <a:r>
              <a:rPr lang="en-US" sz="3200" dirty="0" smtClean="0"/>
              <a:t>Required fields for entry include:</a:t>
            </a:r>
          </a:p>
          <a:p>
            <a:pPr lvl="1"/>
            <a:r>
              <a:rPr lang="en-US" sz="2800" dirty="0" smtClean="0"/>
              <a:t>Transaction</a:t>
            </a:r>
          </a:p>
          <a:p>
            <a:pPr lvl="1"/>
            <a:r>
              <a:rPr lang="en-US" sz="2800" dirty="0" smtClean="0"/>
              <a:t>Vendor</a:t>
            </a:r>
          </a:p>
          <a:p>
            <a:pPr lvl="1"/>
            <a:r>
              <a:rPr lang="en-US" sz="2800" dirty="0" smtClean="0"/>
              <a:t>Invoice Date</a:t>
            </a:r>
          </a:p>
          <a:p>
            <a:pPr lvl="1"/>
            <a:r>
              <a:rPr lang="en-US" sz="2800" dirty="0" smtClean="0"/>
              <a:t>Amount</a:t>
            </a:r>
          </a:p>
          <a:p>
            <a:pPr lvl="1"/>
            <a:r>
              <a:rPr lang="en-US" sz="2800" dirty="0" smtClean="0"/>
              <a:t>G/L Acct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253" y="1024760"/>
            <a:ext cx="8406709" cy="602405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334012" y="2525486"/>
            <a:ext cx="5464617" cy="459576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2111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0048" y="5953196"/>
            <a:ext cx="2538984" cy="1830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Demo </a:t>
            </a:r>
            <a:r>
              <a:rPr lang="en-US" altLang="en-US" dirty="0" smtClean="0"/>
              <a:t>3.8</a:t>
            </a:r>
            <a:r>
              <a:rPr lang="en-US" altLang="en-US" dirty="0" smtClean="0"/>
              <a:t>: </a:t>
            </a:r>
            <a:r>
              <a:rPr lang="en-US" altLang="en-US" dirty="0" smtClean="0"/>
              <a:t>Enter a Non-PO Invoice</a:t>
            </a:r>
            <a:endParaRPr lang="en-US" altLang="en-US" dirty="0"/>
          </a:p>
        </p:txBody>
      </p:sp>
      <p:sp>
        <p:nvSpPr>
          <p:cNvPr id="79877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An invoice for Global Resources is required for services rendered, so an invoice must be entered in the system </a:t>
            </a:r>
            <a:endParaRPr lang="en-US" altLang="en-US" dirty="0"/>
          </a:p>
          <a:p>
            <a:r>
              <a:rPr lang="en-US" altLang="en-US" dirty="0" smtClean="0"/>
              <a:t>Notes</a:t>
            </a:r>
            <a:endParaRPr lang="en-US" altLang="en-US" dirty="0"/>
          </a:p>
          <a:p>
            <a:pPr lvl="1"/>
            <a:r>
              <a:rPr lang="en-US" altLang="en-US" dirty="0" smtClean="0"/>
              <a:t>Transaction </a:t>
            </a:r>
            <a:r>
              <a:rPr lang="en-US" altLang="en-US" dirty="0"/>
              <a:t>Code: </a:t>
            </a:r>
            <a:r>
              <a:rPr lang="en-US" altLang="en-US" dirty="0" smtClean="0"/>
              <a:t>FB60</a:t>
            </a:r>
          </a:p>
          <a:p>
            <a:pPr lvl="1"/>
            <a:endParaRPr lang="en-US" altLang="en-US" dirty="0" smtClean="0"/>
          </a:p>
          <a:p>
            <a:pPr marL="690841" lvl="1" indent="0">
              <a:buNone/>
            </a:pPr>
            <a:endParaRPr lang="en-US" altLang="en-US" dirty="0"/>
          </a:p>
        </p:txBody>
      </p:sp>
      <p:sp>
        <p:nvSpPr>
          <p:cNvPr id="79875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56DF02-B972-47C9-B00D-779435B411F7}" type="slidenum">
              <a:rPr lang="en-US" altLang="en-US" sz="1600" smtClean="0"/>
              <a:pPr/>
              <a:t>51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5239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 descr="MPj04225930000[1]"/>
          <p:cNvPicPr>
            <a:picLocks noChangeAspect="1" noChangeArrowheads="1"/>
          </p:cNvPicPr>
          <p:nvPr/>
        </p:nvPicPr>
        <p:blipFill>
          <a:blip r:embed="rId3">
            <a:lum bright="54000" contrast="-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3077" y="6187335"/>
            <a:ext cx="2324523" cy="1585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>
          <a:xfrm>
            <a:off x="376922" y="101482"/>
            <a:ext cx="12177267" cy="624725"/>
          </a:xfrm>
        </p:spPr>
        <p:txBody>
          <a:bodyPr/>
          <a:lstStyle/>
          <a:p>
            <a:r>
              <a:rPr lang="en-US" altLang="en-US" dirty="0" smtClean="0"/>
              <a:t>Exercise 3.8: </a:t>
            </a:r>
            <a:r>
              <a:rPr lang="en-US" altLang="en-US" dirty="0" smtClean="0"/>
              <a:t>Enter a Non-PO Invoice</a:t>
            </a:r>
            <a:endParaRPr lang="en-US" altLang="en-US" dirty="0"/>
          </a:p>
        </p:txBody>
      </p:sp>
      <p:sp>
        <p:nvSpPr>
          <p:cNvPr id="69637" name="Rectangle 3"/>
          <p:cNvSpPr>
            <a:spLocks noGrp="1" noChangeArrowheads="1"/>
          </p:cNvSpPr>
          <p:nvPr>
            <p:ph idx="1"/>
          </p:nvPr>
        </p:nvSpPr>
        <p:spPr>
          <a:xfrm>
            <a:off x="108858" y="994585"/>
            <a:ext cx="13708742" cy="4034617"/>
          </a:xfrm>
        </p:spPr>
        <p:txBody>
          <a:bodyPr/>
          <a:lstStyle/>
          <a:p>
            <a:r>
              <a:rPr lang="en-US" altLang="en-US" dirty="0"/>
              <a:t>An invoice for Global Resources is required for services rendered, so an invoice must be entered in the system </a:t>
            </a:r>
          </a:p>
          <a:p>
            <a:r>
              <a:rPr lang="en-US" altLang="en-US" dirty="0" smtClean="0"/>
              <a:t>Notes</a:t>
            </a:r>
            <a:endParaRPr lang="en-US" altLang="en-US" dirty="0"/>
          </a:p>
          <a:p>
            <a:pPr lvl="1"/>
            <a:r>
              <a:rPr lang="en-US" altLang="en-US" dirty="0" smtClean="0"/>
              <a:t>Transaction </a:t>
            </a:r>
            <a:r>
              <a:rPr lang="en-US" altLang="en-US" dirty="0"/>
              <a:t>Code: </a:t>
            </a:r>
            <a:r>
              <a:rPr lang="en-US" altLang="en-US" dirty="0" smtClean="0"/>
              <a:t>FB60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C94C66-C52E-487D-82B9-B896A1AB6338}" type="slidenum">
              <a:rPr lang="en-US" altLang="en-US" sz="1600" smtClean="0"/>
              <a:pPr/>
              <a:t>52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1325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156208553"/>
              </p:ext>
            </p:extLst>
          </p:nvPr>
        </p:nvGraphicFramePr>
        <p:xfrm>
          <a:off x="0" y="6396711"/>
          <a:ext cx="5104659" cy="14586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Parking Invoices – </a:t>
            </a:r>
            <a:r>
              <a:rPr lang="en-US" b="1" dirty="0" smtClean="0">
                <a:solidFill>
                  <a:srgbClr val="FF0000"/>
                </a:solidFill>
              </a:rPr>
              <a:t>REPLACE WITH BLOCKING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700" y="1231341"/>
            <a:ext cx="12827000" cy="5880066"/>
          </a:xfrm>
        </p:spPr>
        <p:txBody>
          <a:bodyPr/>
          <a:lstStyle/>
          <a:p>
            <a:r>
              <a:rPr lang="en-US" dirty="0" smtClean="0"/>
              <a:t>Utilized when you want to save the document but not officially post to the G/L</a:t>
            </a:r>
          </a:p>
          <a:p>
            <a:endParaRPr lang="en-US" dirty="0" smtClean="0"/>
          </a:p>
          <a:p>
            <a:r>
              <a:rPr lang="en-US" dirty="0" smtClean="0"/>
              <a:t>A parked invoiced can still be edited as required</a:t>
            </a:r>
          </a:p>
          <a:p>
            <a:endParaRPr lang="en-US" dirty="0" smtClean="0"/>
          </a:p>
          <a:p>
            <a:r>
              <a:rPr lang="en-US" dirty="0" smtClean="0"/>
              <a:t>Allows for final review and approval prior to posting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37045" y="6623648"/>
            <a:ext cx="912783" cy="87053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9236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0048" y="5953196"/>
            <a:ext cx="2538984" cy="1830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Demo </a:t>
            </a:r>
            <a:r>
              <a:rPr lang="en-US" altLang="en-US" dirty="0" smtClean="0"/>
              <a:t>3.9</a:t>
            </a:r>
            <a:r>
              <a:rPr lang="en-US" altLang="en-US" dirty="0" smtClean="0"/>
              <a:t>: </a:t>
            </a:r>
            <a:r>
              <a:rPr lang="en-US" altLang="en-US" dirty="0" smtClean="0"/>
              <a:t>Park an Invoice</a:t>
            </a:r>
            <a:endParaRPr lang="en-US" altLang="en-US" dirty="0"/>
          </a:p>
        </p:txBody>
      </p:sp>
      <p:sp>
        <p:nvSpPr>
          <p:cNvPr id="79877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An invoice has been created but must be parked for review and approval prior to G/L posting</a:t>
            </a:r>
            <a:endParaRPr lang="en-US" altLang="en-US" dirty="0"/>
          </a:p>
          <a:p>
            <a:r>
              <a:rPr lang="en-US" altLang="en-US" dirty="0" smtClean="0"/>
              <a:t>Notes</a:t>
            </a:r>
            <a:endParaRPr lang="en-US" altLang="en-US" dirty="0"/>
          </a:p>
          <a:p>
            <a:pPr lvl="1"/>
            <a:r>
              <a:rPr lang="en-US" altLang="en-US" dirty="0" smtClean="0"/>
              <a:t>Transaction </a:t>
            </a:r>
            <a:r>
              <a:rPr lang="en-US" altLang="en-US" dirty="0"/>
              <a:t>Code: </a:t>
            </a:r>
            <a:r>
              <a:rPr lang="en-US" altLang="en-US" dirty="0" smtClean="0"/>
              <a:t>F-63</a:t>
            </a:r>
          </a:p>
          <a:p>
            <a:pPr lvl="1"/>
            <a:endParaRPr lang="en-US" altLang="en-US" dirty="0" smtClean="0"/>
          </a:p>
          <a:p>
            <a:pPr marL="690841" lvl="1" indent="0">
              <a:buNone/>
            </a:pPr>
            <a:endParaRPr lang="en-US" altLang="en-US" dirty="0"/>
          </a:p>
        </p:txBody>
      </p:sp>
      <p:sp>
        <p:nvSpPr>
          <p:cNvPr id="79875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56DF02-B972-47C9-B00D-779435B411F7}" type="slidenum">
              <a:rPr lang="en-US" altLang="en-US" sz="1600" smtClean="0"/>
              <a:pPr/>
              <a:t>54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64450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 descr="MPj04225930000[1]"/>
          <p:cNvPicPr>
            <a:picLocks noChangeAspect="1" noChangeArrowheads="1"/>
          </p:cNvPicPr>
          <p:nvPr/>
        </p:nvPicPr>
        <p:blipFill>
          <a:blip r:embed="rId3">
            <a:lum bright="54000" contrast="-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3077" y="6187335"/>
            <a:ext cx="2324523" cy="1585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01482"/>
            <a:ext cx="12627429" cy="624725"/>
          </a:xfrm>
        </p:spPr>
        <p:txBody>
          <a:bodyPr/>
          <a:lstStyle/>
          <a:p>
            <a:r>
              <a:rPr lang="en-US" altLang="en-US" dirty="0"/>
              <a:t>Exercise </a:t>
            </a:r>
            <a:r>
              <a:rPr lang="en-US" altLang="en-US" dirty="0" smtClean="0"/>
              <a:t>3.9</a:t>
            </a:r>
            <a:r>
              <a:rPr lang="en-US" altLang="en-US" dirty="0" smtClean="0"/>
              <a:t>: </a:t>
            </a:r>
            <a:r>
              <a:rPr lang="en-US" altLang="en-US" dirty="0" smtClean="0"/>
              <a:t>Park an Invoice</a:t>
            </a:r>
            <a:endParaRPr lang="en-US" altLang="en-US" dirty="0"/>
          </a:p>
        </p:txBody>
      </p:sp>
      <p:sp>
        <p:nvSpPr>
          <p:cNvPr id="6963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An </a:t>
            </a:r>
            <a:r>
              <a:rPr lang="en-US" altLang="en-US" dirty="0"/>
              <a:t>invoice has been created but must be parked for review and approval prior to G/L posting</a:t>
            </a:r>
          </a:p>
          <a:p>
            <a:r>
              <a:rPr lang="en-US" altLang="en-US" dirty="0" smtClean="0"/>
              <a:t>Notes</a:t>
            </a:r>
            <a:endParaRPr lang="en-US" altLang="en-US" dirty="0"/>
          </a:p>
          <a:p>
            <a:pPr lvl="1"/>
            <a:r>
              <a:rPr lang="en-US" altLang="en-US" dirty="0" smtClean="0"/>
              <a:t>Transaction </a:t>
            </a:r>
            <a:r>
              <a:rPr lang="en-US" altLang="en-US" dirty="0"/>
              <a:t>Code: </a:t>
            </a:r>
            <a:r>
              <a:rPr lang="en-US" altLang="en-US" dirty="0" smtClean="0"/>
              <a:t>F-63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C94C66-C52E-487D-82B9-B896A1AB6338}" type="slidenum">
              <a:rPr lang="en-US" altLang="en-US" sz="1600" smtClean="0"/>
              <a:pPr/>
              <a:t>55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05876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3830" y="6152110"/>
            <a:ext cx="222377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Unit </a:t>
            </a:r>
            <a:r>
              <a:rPr lang="en-US" altLang="en-US" dirty="0" smtClean="0"/>
              <a:t>3, </a:t>
            </a:r>
            <a:r>
              <a:rPr lang="en-US" altLang="en-US" dirty="0"/>
              <a:t># 1</a:t>
            </a:r>
          </a:p>
        </p:txBody>
      </p:sp>
      <p:sp>
        <p:nvSpPr>
          <p:cNvPr id="73733" name="Rectangle 3"/>
          <p:cNvSpPr>
            <a:spLocks noGrp="1" noChangeArrowheads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pPr marL="517525" indent="-517525"/>
            <a:r>
              <a:rPr lang="en-US" altLang="en-US" dirty="0" smtClean="0">
                <a:latin typeface="Fujitsu Sans"/>
              </a:rPr>
              <a:t>What does a parked invoice allow for?</a:t>
            </a:r>
            <a:endParaRPr lang="en-US" dirty="0">
              <a:latin typeface="Fujitsu Sans"/>
            </a:endParaRPr>
          </a:p>
          <a:p>
            <a:pPr marL="517525" indent="-517525"/>
            <a:endParaRPr lang="en-US" altLang="en-US" dirty="0"/>
          </a:p>
          <a:p>
            <a:pPr marL="517525" indent="-517525"/>
            <a:endParaRPr lang="en-US" altLang="en-US" dirty="0"/>
          </a:p>
          <a:p>
            <a:pPr marL="517525" indent="-517525"/>
            <a:endParaRPr lang="en-US" alt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C67485-719C-460B-BE50-F908EA1276DE}" type="slidenum">
              <a:rPr lang="en-US" altLang="en-US" sz="1600" smtClean="0"/>
              <a:pPr/>
              <a:t>56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48168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Unit </a:t>
            </a:r>
            <a:r>
              <a:rPr lang="en-US" altLang="en-US" dirty="0" smtClean="0"/>
              <a:t>3, </a:t>
            </a:r>
            <a:r>
              <a:rPr lang="en-US" altLang="en-US" dirty="0"/>
              <a:t># 1</a:t>
            </a:r>
          </a:p>
        </p:txBody>
      </p:sp>
      <p:sp>
        <p:nvSpPr>
          <p:cNvPr id="45060" name="Rectangle 4"/>
          <p:cNvSpPr>
            <a:spLocks noGrp="1" noChangeArrowheads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pPr marL="517525" indent="-517525"/>
            <a:r>
              <a:rPr lang="en-US" altLang="en-US" dirty="0">
                <a:latin typeface="Fujitsu Sans"/>
              </a:rPr>
              <a:t>What does a parked invoice allow for?</a:t>
            </a:r>
            <a:endParaRPr lang="en-US" dirty="0">
              <a:latin typeface="Fujitsu Sans"/>
            </a:endParaRPr>
          </a:p>
          <a:p>
            <a:pPr marL="517525" indent="-517525"/>
            <a:endParaRPr lang="en-US" altLang="en-US" dirty="0"/>
          </a:p>
          <a:p>
            <a:pPr marL="1122045" lvl="1" indent="-431165"/>
            <a:r>
              <a:rPr lang="en-US" i="1" dirty="0" smtClean="0">
                <a:solidFill>
                  <a:srgbClr val="FF0000"/>
                </a:solidFill>
                <a:latin typeface="Fujitsu Sans"/>
              </a:rPr>
              <a:t>Allows </a:t>
            </a:r>
            <a:r>
              <a:rPr lang="en-US" i="1" dirty="0">
                <a:solidFill>
                  <a:srgbClr val="FF0000"/>
                </a:solidFill>
                <a:latin typeface="Fujitsu Sans"/>
              </a:rPr>
              <a:t>for final review and approval prior to posting</a:t>
            </a:r>
          </a:p>
          <a:p>
            <a:pPr marL="1122045" lvl="1" indent="-431165"/>
            <a:endParaRPr lang="en-US" altLang="en-US" i="1" dirty="0">
              <a:solidFill>
                <a:srgbClr val="FF0000"/>
              </a:solidFill>
              <a:latin typeface="Fujitsu Sans"/>
            </a:endParaRPr>
          </a:p>
          <a:p>
            <a:pPr marL="690245" lvl="1" indent="0">
              <a:buNone/>
            </a:pPr>
            <a:endParaRPr lang="en-US" altLang="en-US" dirty="0"/>
          </a:p>
        </p:txBody>
      </p:sp>
      <p:sp>
        <p:nvSpPr>
          <p:cNvPr id="62466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41124" y="-10281"/>
            <a:ext cx="0" cy="0"/>
          </a:xfrm>
        </p:spPr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130D220-9093-409D-9FE0-EFE0B999B6BA}" type="slidenum">
              <a:rPr lang="en-US" altLang="en-US" sz="1600" smtClean="0"/>
              <a:pPr/>
              <a:t>57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66993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 descr="MCj04415100000[1]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7983" y="5924070"/>
            <a:ext cx="1859619" cy="1859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</a:t>
            </a:r>
          </a:p>
        </p:txBody>
      </p:sp>
      <p:sp>
        <p:nvSpPr>
          <p:cNvPr id="77829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You </a:t>
            </a:r>
            <a:r>
              <a:rPr lang="en-US" altLang="en-US" dirty="0" smtClean="0"/>
              <a:t>should now be able to:</a:t>
            </a:r>
            <a:endParaRPr lang="en-US" altLang="en-US" dirty="0"/>
          </a:p>
          <a:p>
            <a:r>
              <a:rPr lang="en-US" altLang="en-US" dirty="0" smtClean="0"/>
              <a:t>Enter a vendor invoice</a:t>
            </a:r>
          </a:p>
          <a:p>
            <a:r>
              <a:rPr lang="en-US" altLang="en-US" dirty="0" smtClean="0"/>
              <a:t>Initiate an automatic payment transaction</a:t>
            </a:r>
          </a:p>
          <a:p>
            <a:r>
              <a:rPr lang="en-US" altLang="en-US" dirty="0" smtClean="0"/>
              <a:t>Enter </a:t>
            </a:r>
            <a:r>
              <a:rPr lang="en-US" altLang="en-US" dirty="0"/>
              <a:t>a non-purchase order invoice</a:t>
            </a:r>
          </a:p>
          <a:p>
            <a:r>
              <a:rPr lang="en-US" altLang="en-US" dirty="0"/>
              <a:t>Perform the steps needed to park a vendor invoice</a:t>
            </a:r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77827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64D916E-780F-4F36-9EEA-B0E6C110BE23}" type="slidenum">
              <a:rPr lang="en-US" altLang="en-US" sz="1600" smtClean="0"/>
              <a:pPr/>
              <a:t>58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38226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for a Break!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Class starts again in 6</a:t>
            </a:r>
            <a:r>
              <a:rPr lang="en-US" altLang="en-US" dirty="0" smtClean="0"/>
              <a:t>0 minutes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BE6A29-3330-4120-8C4F-D901DC38695C}" type="slidenum">
              <a:rPr lang="en-US" altLang="en-US" sz="1600" smtClean="0"/>
              <a:pPr/>
              <a:t>59</a:t>
            </a:fld>
            <a:endParaRPr lang="en-US" altLang="en-US" sz="1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080" y="2125028"/>
            <a:ext cx="4663440" cy="465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982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0A293A-6492-4A1F-A0D4-05E445FB280C}" type="slidenum">
              <a:rPr lang="en-US" altLang="en-US" sz="1600" smtClean="0"/>
              <a:pPr/>
              <a:t>60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32325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Unit 1 – Introduction – </a:t>
            </a:r>
            <a:r>
              <a:rPr lang="en-US" altLang="en-US" dirty="0" smtClean="0"/>
              <a:t>Accounts Payable (20 </a:t>
            </a:r>
            <a:r>
              <a:rPr lang="en-US" altLang="en-US" dirty="0"/>
              <a:t>mins) </a:t>
            </a:r>
          </a:p>
          <a:p>
            <a:r>
              <a:rPr lang="en-US" altLang="en-US" dirty="0" smtClean="0"/>
              <a:t>Unit </a:t>
            </a:r>
            <a:r>
              <a:rPr lang="en-US" altLang="en-US" dirty="0"/>
              <a:t>2</a:t>
            </a:r>
            <a:r>
              <a:rPr lang="en-US" altLang="en-US" dirty="0" smtClean="0"/>
              <a:t> </a:t>
            </a:r>
            <a:r>
              <a:rPr lang="en-US" altLang="en-US" dirty="0" smtClean="0"/>
              <a:t>– Enter/Park a Vendor Invoice (60 mins)</a:t>
            </a:r>
            <a:endParaRPr lang="en-US" altLang="en-US" dirty="0"/>
          </a:p>
          <a:p>
            <a:r>
              <a:rPr lang="en-US" altLang="en-US" dirty="0"/>
              <a:t>Unit </a:t>
            </a:r>
            <a:r>
              <a:rPr lang="en-US" altLang="en-US" dirty="0"/>
              <a:t>3</a:t>
            </a:r>
            <a:r>
              <a:rPr lang="en-US" altLang="en-US" dirty="0" smtClean="0"/>
              <a:t> </a:t>
            </a:r>
            <a:r>
              <a:rPr lang="en-US" altLang="en-US" dirty="0"/>
              <a:t>– </a:t>
            </a:r>
            <a:r>
              <a:rPr lang="en-US" altLang="en-US" dirty="0" smtClean="0"/>
              <a:t>Enter a Vendor Credit Memo (60 </a:t>
            </a:r>
            <a:r>
              <a:rPr lang="en-US" altLang="en-US" dirty="0"/>
              <a:t>mins</a:t>
            </a:r>
            <a:r>
              <a:rPr lang="en-US" altLang="en-US" dirty="0" smtClean="0"/>
              <a:t>)</a:t>
            </a:r>
          </a:p>
          <a:p>
            <a:r>
              <a:rPr lang="en-US" altLang="en-US" dirty="0" smtClean="0"/>
              <a:t>Unit 4 - </a:t>
            </a:r>
            <a:r>
              <a:rPr lang="en-US" altLang="en-US" dirty="0"/>
              <a:t>Create a Vendor Account (30 mins</a:t>
            </a:r>
            <a:r>
              <a:rPr lang="en-US" altLang="en-US" dirty="0" smtClean="0"/>
              <a:t>)</a:t>
            </a:r>
            <a:endParaRPr lang="en-US" altLang="en-US" dirty="0" smtClean="0"/>
          </a:p>
          <a:p>
            <a:r>
              <a:rPr lang="en-US" altLang="en-US" dirty="0" smtClean="0"/>
              <a:t>Unit 5 – Summary (10 mins)</a:t>
            </a:r>
            <a:endParaRPr lang="en-US" altLang="en-US" dirty="0"/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Agenda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C3236A-0750-4F69-BC22-0115EAA85BF4}" type="slidenum">
              <a:rPr lang="en-US" altLang="en-US" sz="1600" smtClean="0"/>
              <a:pPr/>
              <a:t>61</a:t>
            </a:fld>
            <a:endParaRPr lang="en-US" altLang="en-US" sz="1600" dirty="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520699" y="3070786"/>
            <a:ext cx="11366501" cy="65211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762000">
              <a:lnSpc>
                <a:spcPct val="90000"/>
              </a:lnSpc>
              <a:spcBef>
                <a:spcPct val="50000"/>
              </a:spcBef>
              <a:buClr>
                <a:srgbClr val="867366"/>
              </a:buClr>
              <a:buSzPct val="85000"/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indent="-342900" defTabSz="762000">
              <a:lnSpc>
                <a:spcPct val="90000"/>
              </a:lnSpc>
              <a:spcBef>
                <a:spcPct val="50000"/>
              </a:spcBef>
              <a:buClr>
                <a:srgbClr val="FF0000"/>
              </a:buClr>
              <a:buSzPct val="12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285750" defTabSz="762000">
              <a:lnSpc>
                <a:spcPct val="90000"/>
              </a:lnSpc>
              <a:spcBef>
                <a:spcPct val="20000"/>
              </a:spcBef>
              <a:buClr>
                <a:srgbClr val="867366"/>
              </a:buClr>
              <a:buSzPct val="120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87450" indent="-215900" defTabSz="7620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o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SzPct val="80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3200" b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128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 descr="bss00071"/>
          <p:cNvPicPr>
            <a:picLocks noChangeAspect="1" noChangeArrowheads="1"/>
          </p:cNvPicPr>
          <p:nvPr/>
        </p:nvPicPr>
        <p:blipFill>
          <a:blip r:embed="rId3">
            <a:lum bright="76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46"/>
          <a:stretch>
            <a:fillRect/>
          </a:stretch>
        </p:blipFill>
        <p:spPr bwMode="auto">
          <a:xfrm>
            <a:off x="12090400" y="5732544"/>
            <a:ext cx="1727200" cy="2039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4</a:t>
            </a:r>
            <a:endParaRPr lang="en-US" altLang="en-US" dirty="0"/>
          </a:p>
        </p:txBody>
      </p:sp>
      <p:sp>
        <p:nvSpPr>
          <p:cNvPr id="43013" name="Rectangle 4"/>
          <p:cNvSpPr>
            <a:spLocks noGrp="1" noChangeArrowheads="1"/>
          </p:cNvSpPr>
          <p:nvPr>
            <p:ph idx="1"/>
          </p:nvPr>
        </p:nvSpPr>
        <p:spPr>
          <a:xfrm>
            <a:off x="520700" y="1103440"/>
            <a:ext cx="12827000" cy="5880066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You </a:t>
            </a:r>
            <a:r>
              <a:rPr lang="en-US" altLang="en-US" dirty="0" smtClean="0"/>
              <a:t>should </a:t>
            </a:r>
            <a:r>
              <a:rPr lang="en-US" altLang="en-US" dirty="0"/>
              <a:t>be able to:</a:t>
            </a:r>
          </a:p>
          <a:p>
            <a:r>
              <a:rPr lang="en-US" altLang="en-US" dirty="0" smtClean="0"/>
              <a:t>Create a vendor account</a:t>
            </a:r>
          </a:p>
          <a:p>
            <a:pPr marL="0" indent="0">
              <a:buNone/>
            </a:pPr>
            <a:endParaRPr lang="en-US" altLang="en-US" dirty="0" smtClean="0"/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C3236A-0750-4F69-BC22-0115EAA85BF4}" type="slidenum">
              <a:rPr lang="en-US" altLang="en-US" sz="1600" smtClean="0"/>
              <a:pPr/>
              <a:t>62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52655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/>
          </p:nvPr>
        </p:nvGraphicFramePr>
        <p:xfrm>
          <a:off x="0" y="6396711"/>
          <a:ext cx="5104659" cy="14586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45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Creating Vendor Master Data</a:t>
            </a:r>
            <a:endParaRPr lang="en-US" altLang="en-US" dirty="0"/>
          </a:p>
        </p:txBody>
      </p:sp>
      <p:sp>
        <p:nvSpPr>
          <p:cNvPr id="64516" name="Rectangle 4"/>
          <p:cNvSpPr>
            <a:spLocks noGrp="1" noChangeArrowheads="1"/>
          </p:cNvSpPr>
          <p:nvPr>
            <p:ph idx="1"/>
          </p:nvPr>
        </p:nvSpPr>
        <p:spPr>
          <a:xfrm>
            <a:off x="237674" y="1058050"/>
            <a:ext cx="13296900" cy="5572864"/>
          </a:xfrm>
        </p:spPr>
        <p:txBody>
          <a:bodyPr/>
          <a:lstStyle/>
          <a:p>
            <a:r>
              <a:rPr lang="en-US" dirty="0"/>
              <a:t>Vendor Master Data contains information of a permanent nature, about a supplier/vendor that </a:t>
            </a:r>
            <a:r>
              <a:rPr lang="en-US" dirty="0" smtClean="0"/>
              <a:t>FAI does business with</a:t>
            </a:r>
          </a:p>
          <a:p>
            <a:r>
              <a:rPr lang="en-US" dirty="0" smtClean="0"/>
              <a:t>FAI uses three vendor groups:</a:t>
            </a:r>
            <a:endParaRPr lang="en-US" dirty="0"/>
          </a:p>
          <a:p>
            <a:pPr lvl="1"/>
            <a:r>
              <a:rPr lang="en-US" dirty="0"/>
              <a:t>Vendors</a:t>
            </a:r>
          </a:p>
          <a:p>
            <a:pPr lvl="1"/>
            <a:r>
              <a:rPr lang="en-US" dirty="0"/>
              <a:t>One time vendor</a:t>
            </a:r>
          </a:p>
          <a:p>
            <a:pPr lvl="1"/>
            <a:r>
              <a:rPr lang="en-US" dirty="0"/>
              <a:t>Employee Vendors</a:t>
            </a:r>
          </a:p>
          <a:p>
            <a:r>
              <a:rPr lang="en-US" altLang="en-US" dirty="0" smtClean="0"/>
              <a:t>Contains data that determines how business transactions are recorded and processed</a:t>
            </a:r>
          </a:p>
          <a:p>
            <a:pPr marL="0" indent="0">
              <a:buNone/>
            </a:pPr>
            <a:endParaRPr lang="en-US" altLang="en-US" dirty="0" smtClean="0"/>
          </a:p>
          <a:p>
            <a:pPr lvl="1"/>
            <a:endParaRPr lang="en-US" altLang="en-US" dirty="0" smtClean="0"/>
          </a:p>
          <a:p>
            <a:endParaRPr lang="en-US" altLang="en-US" dirty="0"/>
          </a:p>
          <a:p>
            <a:pPr marL="690841" lvl="1" indent="0">
              <a:buNone/>
            </a:pPr>
            <a:endParaRPr lang="en-US" dirty="0"/>
          </a:p>
        </p:txBody>
      </p:sp>
      <p:sp>
        <p:nvSpPr>
          <p:cNvPr id="6451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6FE162-D387-498F-AEA6-BD416347918F}" type="slidenum">
              <a:rPr lang="en-US" altLang="en-US" sz="1600" smtClean="0"/>
              <a:pPr/>
              <a:t>63</a:t>
            </a:fld>
            <a:endParaRPr lang="en-US" alt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457200" y="6705599"/>
            <a:ext cx="838942" cy="83750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943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Vendor Master Process Flow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11621" y="915565"/>
            <a:ext cx="13594965" cy="6630424"/>
            <a:chOff x="234463" y="915566"/>
            <a:chExt cx="8735621" cy="3991731"/>
          </a:xfrm>
        </p:grpSpPr>
        <p:grpSp>
          <p:nvGrpSpPr>
            <p:cNvPr id="4" name="Group 3"/>
            <p:cNvGrpSpPr/>
            <p:nvPr/>
          </p:nvGrpSpPr>
          <p:grpSpPr>
            <a:xfrm>
              <a:off x="234463" y="915566"/>
              <a:ext cx="8734926" cy="3991731"/>
              <a:chOff x="230265" y="968188"/>
              <a:chExt cx="8446191" cy="3919508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230265" y="979878"/>
                <a:ext cx="8425631" cy="390781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50825" y="968188"/>
                <a:ext cx="8425631" cy="235410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t" anchorCtr="0">
                <a:normAutofit/>
              </a:bodyPr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Flowchart: Process 4"/>
            <p:cNvSpPr/>
            <p:nvPr/>
          </p:nvSpPr>
          <p:spPr>
            <a:xfrm>
              <a:off x="256421" y="1871056"/>
              <a:ext cx="8713663" cy="792088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Flowchart: Process 5"/>
            <p:cNvSpPr/>
            <p:nvPr/>
          </p:nvSpPr>
          <p:spPr>
            <a:xfrm>
              <a:off x="255726" y="3388599"/>
              <a:ext cx="8713663" cy="792088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34462" y="867509"/>
            <a:ext cx="6166338" cy="503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Vendor Master </a:t>
            </a:r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70338" y="1313796"/>
            <a:ext cx="1195754" cy="6260474"/>
            <a:chOff x="259525" y="1164260"/>
            <a:chExt cx="361430" cy="3721393"/>
          </a:xfrm>
        </p:grpSpPr>
        <p:sp>
          <p:nvSpPr>
            <p:cNvPr id="11" name="Flowchart: Process 10"/>
            <p:cNvSpPr/>
            <p:nvPr/>
          </p:nvSpPr>
          <p:spPr>
            <a:xfrm>
              <a:off x="259525" y="1164260"/>
              <a:ext cx="360735" cy="696264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27432" rIns="91440" bIns="27432" rtlCol="0" anchor="ctr" anchorCtr="1">
              <a:normAutofit/>
            </a:bodyPr>
            <a:lstStyle/>
            <a:p>
              <a:pPr algn="ctr"/>
              <a:r>
                <a:rPr lang="en-US" sz="1800" dirty="0" smtClean="0">
                  <a:solidFill>
                    <a:schemeClr val="tx1"/>
                  </a:solidFill>
                  <a:cs typeface="Arial"/>
                </a:rPr>
                <a:t>Procure Team</a:t>
              </a:r>
              <a:endParaRPr lang="en-US" sz="1800" dirty="0">
                <a:solidFill>
                  <a:schemeClr val="tx1"/>
                </a:solidFill>
                <a:cs typeface="Arial"/>
              </a:endParaRPr>
            </a:p>
          </p:txBody>
        </p:sp>
        <p:sp>
          <p:nvSpPr>
            <p:cNvPr id="12" name="Flowchart: Process 11"/>
            <p:cNvSpPr/>
            <p:nvPr/>
          </p:nvSpPr>
          <p:spPr>
            <a:xfrm>
              <a:off x="259525" y="1871056"/>
              <a:ext cx="360735" cy="782349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27432" rIns="91440" bIns="27432" rtlCol="0" anchor="ctr" anchorCtr="0">
              <a:normAutofit/>
            </a:bodyPr>
            <a:lstStyle/>
            <a:p>
              <a:pPr algn="ctr"/>
              <a:r>
                <a:rPr lang="en-US" sz="1800" dirty="0" smtClean="0">
                  <a:solidFill>
                    <a:schemeClr val="tx1"/>
                  </a:solidFill>
                </a:rPr>
                <a:t>Procure Global</a:t>
              </a:r>
              <a:endParaRPr 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13" name="Flowchart: Process 12"/>
            <p:cNvSpPr/>
            <p:nvPr/>
          </p:nvSpPr>
          <p:spPr>
            <a:xfrm>
              <a:off x="259525" y="2663144"/>
              <a:ext cx="360735" cy="725455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27432" bIns="27432" rtlCol="0" anchor="ctr" anchorCtr="1">
              <a:normAutofit/>
            </a:bodyPr>
            <a:lstStyle/>
            <a:p>
              <a:pPr algn="ctr"/>
              <a:r>
                <a:rPr lang="en-US" sz="1800" dirty="0" smtClean="0">
                  <a:solidFill>
                    <a:schemeClr val="tx1"/>
                  </a:solidFill>
                </a:rPr>
                <a:t>AP Team </a:t>
              </a:r>
              <a:endParaRPr 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14" name="Flowchart: Process 13"/>
            <p:cNvSpPr/>
            <p:nvPr/>
          </p:nvSpPr>
          <p:spPr>
            <a:xfrm>
              <a:off x="260220" y="3388599"/>
              <a:ext cx="360735" cy="782349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27432" bIns="27432" rtlCol="0" anchor="ctr" anchorCtr="1">
              <a:normAutofit/>
            </a:bodyPr>
            <a:lstStyle/>
            <a:p>
              <a:pPr algn="ctr"/>
              <a:endParaRPr 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" name="Flowchart: Process 14"/>
            <p:cNvSpPr/>
            <p:nvPr/>
          </p:nvSpPr>
          <p:spPr>
            <a:xfrm>
              <a:off x="260220" y="4180687"/>
              <a:ext cx="360735" cy="704966"/>
            </a:xfrm>
            <a:prstGeom prst="flowChartProcess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27432" bIns="27432" rtlCol="0" anchor="ctr" anchorCtr="1">
              <a:normAutofit/>
            </a:bodyPr>
            <a:lstStyle/>
            <a:p>
              <a:pPr algn="ctr"/>
              <a:endParaRPr lang="en-US" sz="1050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6484664" y="2044144"/>
            <a:ext cx="3971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900" b="1" dirty="0">
              <a:solidFill>
                <a:srgbClr val="00973E"/>
              </a:solidFill>
            </a:endParaRPr>
          </a:p>
        </p:txBody>
      </p:sp>
      <p:sp>
        <p:nvSpPr>
          <p:cNvPr id="40" name="Flowchart: Process 39"/>
          <p:cNvSpPr/>
          <p:nvPr/>
        </p:nvSpPr>
        <p:spPr>
          <a:xfrm>
            <a:off x="3105677" y="2822400"/>
            <a:ext cx="1502502" cy="835011"/>
          </a:xfrm>
          <a:prstGeom prst="flowChartProcess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53" tIns="45720" rIns="41453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3PDD questionnaire forwarded to Vendor to complete</a:t>
            </a:r>
            <a:endParaRPr lang="en-US" sz="1360" b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1" name="Flowchart: Terminator 40"/>
          <p:cNvSpPr/>
          <p:nvPr/>
        </p:nvSpPr>
        <p:spPr>
          <a:xfrm>
            <a:off x="12533402" y="4177574"/>
            <a:ext cx="865385" cy="276446"/>
          </a:xfrm>
          <a:prstGeom prst="flowChartTerminator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/>
          <a:lstStyle/>
          <a:p>
            <a:pPr algn="ctr"/>
            <a:r>
              <a:rPr lang="en-US" sz="1360" dirty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End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flipV="1">
            <a:off x="2887112" y="1973203"/>
            <a:ext cx="311705" cy="18499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3847884" y="2549943"/>
            <a:ext cx="0" cy="295879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10194722" y="4289822"/>
            <a:ext cx="507717" cy="5792"/>
          </a:xfrm>
          <a:prstGeom prst="straightConnector1">
            <a:avLst/>
          </a:prstGeom>
          <a:ln w="22225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lowchart: Process 44"/>
          <p:cNvSpPr/>
          <p:nvPr/>
        </p:nvSpPr>
        <p:spPr>
          <a:xfrm>
            <a:off x="1334282" y="1565902"/>
            <a:ext cx="1552830" cy="779635"/>
          </a:xfrm>
          <a:prstGeom prst="flowChartProcess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53" tIns="45720" rIns="41453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Required forms forwarded/obtained from Vendor for Acct set-up</a:t>
            </a:r>
            <a:endParaRPr lang="en-US" sz="1360" b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4608178" y="3244257"/>
            <a:ext cx="276515" cy="12854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lowchart: Predefined Process 46"/>
          <p:cNvSpPr/>
          <p:nvPr/>
        </p:nvSpPr>
        <p:spPr>
          <a:xfrm>
            <a:off x="4951083" y="1506198"/>
            <a:ext cx="1529352" cy="871491"/>
          </a:xfrm>
          <a:prstGeom prst="flowChartPredefinedProcess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Create Vendor Master</a:t>
            </a:r>
          </a:p>
          <a:p>
            <a:pPr algn="ctr"/>
            <a:r>
              <a:rPr lang="en-US" sz="1360" b="1" dirty="0" smtClean="0">
                <a:solidFill>
                  <a:schemeClr val="tx1"/>
                </a:solidFill>
                <a:latin typeface="Calibri Light"/>
                <a:cs typeface="Calibri Light"/>
              </a:rPr>
              <a:t>FK01</a:t>
            </a:r>
            <a:endParaRPr lang="en-US" sz="1360" b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48" name="Elbow Connector 47"/>
          <p:cNvCxnSpPr/>
          <p:nvPr/>
        </p:nvCxnSpPr>
        <p:spPr>
          <a:xfrm rot="16200000" flipH="1">
            <a:off x="6838309" y="3200342"/>
            <a:ext cx="1432237" cy="14460"/>
          </a:xfrm>
          <a:prstGeom prst="bentConnector3">
            <a:avLst>
              <a:gd name="adj1" fmla="val 97404"/>
            </a:avLst>
          </a:prstGeom>
          <a:ln w="22225">
            <a:solidFill>
              <a:schemeClr val="tx1"/>
            </a:solidFill>
            <a:prstDash val="sys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lowchart: Decision 48"/>
          <p:cNvSpPr/>
          <p:nvPr/>
        </p:nvSpPr>
        <p:spPr>
          <a:xfrm>
            <a:off x="3232990" y="1385729"/>
            <a:ext cx="1229788" cy="1082698"/>
          </a:xfrm>
          <a:prstGeom prst="flowChartDecision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3PDD Required?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63627" y="2332415"/>
            <a:ext cx="603459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60" b="1" dirty="0">
                <a:solidFill>
                  <a:srgbClr val="00973E"/>
                </a:solidFill>
              </a:rPr>
              <a:t>Yes</a:t>
            </a:r>
          </a:p>
        </p:txBody>
      </p:sp>
      <p:sp>
        <p:nvSpPr>
          <p:cNvPr id="51" name="Flowchart: Process 50"/>
          <p:cNvSpPr/>
          <p:nvPr/>
        </p:nvSpPr>
        <p:spPr>
          <a:xfrm>
            <a:off x="4929807" y="2845822"/>
            <a:ext cx="1529352" cy="835927"/>
          </a:xfrm>
          <a:prstGeom prst="flowChartProcess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53" tIns="45720" rIns="41453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3PDD </a:t>
            </a:r>
            <a:r>
              <a:rPr lang="en-US" sz="1360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conf</a:t>
            </a:r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# obtained  /if not required  move to next step </a:t>
            </a:r>
            <a:endParaRPr lang="en-US" sz="1360" b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4492839" y="1938367"/>
            <a:ext cx="380522" cy="3344"/>
          </a:xfrm>
          <a:prstGeom prst="straightConnector1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339079" y="1690081"/>
            <a:ext cx="590728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60" b="1" dirty="0">
                <a:solidFill>
                  <a:schemeClr val="accent1"/>
                </a:solidFill>
              </a:rPr>
              <a:t>NO</a:t>
            </a:r>
          </a:p>
        </p:txBody>
      </p:sp>
      <p:sp>
        <p:nvSpPr>
          <p:cNvPr id="58" name="Flowchart: Process 57"/>
          <p:cNvSpPr/>
          <p:nvPr/>
        </p:nvSpPr>
        <p:spPr>
          <a:xfrm>
            <a:off x="6827656" y="1509114"/>
            <a:ext cx="1529352" cy="835927"/>
          </a:xfrm>
          <a:prstGeom prst="flowChartProcess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53" tIns="45720" rIns="41453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Forms attached; email forwarded to AP to set up Accounting section</a:t>
            </a:r>
            <a:endParaRPr lang="en-US" sz="1360" b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59" name="Straight Arrow Connector 58"/>
          <p:cNvCxnSpPr/>
          <p:nvPr/>
        </p:nvCxnSpPr>
        <p:spPr>
          <a:xfrm>
            <a:off x="6515503" y="2066194"/>
            <a:ext cx="276515" cy="12854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lowchart: Predefined Process 60"/>
          <p:cNvSpPr/>
          <p:nvPr/>
        </p:nvSpPr>
        <p:spPr>
          <a:xfrm>
            <a:off x="6827656" y="3912923"/>
            <a:ext cx="1595265" cy="805749"/>
          </a:xfrm>
          <a:prstGeom prst="flowChartPredefinedProcess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Complete </a:t>
            </a:r>
          </a:p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Finance Section on Master</a:t>
            </a:r>
          </a:p>
          <a:p>
            <a:pPr algn="ctr"/>
            <a:r>
              <a:rPr lang="en-US" sz="1360" b="1" dirty="0" smtClean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FK01</a:t>
            </a:r>
            <a:endParaRPr lang="en-US" sz="1360" b="1" dirty="0">
              <a:solidFill>
                <a:srgbClr val="C0000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3" name="Flowchart: Process 62"/>
          <p:cNvSpPr/>
          <p:nvPr/>
        </p:nvSpPr>
        <p:spPr>
          <a:xfrm>
            <a:off x="8742856" y="3898264"/>
            <a:ext cx="1437281" cy="845571"/>
          </a:xfrm>
          <a:prstGeom prst="flowChartProcess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53" tIns="45720" rIns="41453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Complete bank  &amp; tax sections;  mailing codes if required</a:t>
            </a:r>
            <a:endParaRPr lang="en-US" sz="1360" b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8466340" y="4295613"/>
            <a:ext cx="276515" cy="12854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Flowchart: Process 64"/>
          <p:cNvSpPr/>
          <p:nvPr/>
        </p:nvSpPr>
        <p:spPr>
          <a:xfrm>
            <a:off x="10702438" y="3898264"/>
            <a:ext cx="1394973" cy="835927"/>
          </a:xfrm>
          <a:prstGeom prst="flowChartProcess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53" tIns="45720" rIns="41453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Account ready to issue PO /enter invoices &amp; issue payments</a:t>
            </a:r>
            <a:endParaRPr lang="en-US" sz="1360" b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12220304" y="4289186"/>
            <a:ext cx="276515" cy="12854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Flowchart: Process 68"/>
          <p:cNvSpPr/>
          <p:nvPr/>
        </p:nvSpPr>
        <p:spPr>
          <a:xfrm>
            <a:off x="1325800" y="3912924"/>
            <a:ext cx="1552830" cy="805749"/>
          </a:xfrm>
          <a:prstGeom prst="flowChartProcess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53" tIns="45720" rIns="41453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Non-PO accounts to be set up by AP -  (tax agencies, </a:t>
            </a:r>
            <a:r>
              <a:rPr lang="en-US" sz="1360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etc</a:t>
            </a:r>
            <a:r>
              <a:rPr lang="en-US" sz="136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  <a:endParaRPr lang="en-US" sz="1360" b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70" name="Straight Arrow Connector 69"/>
          <p:cNvCxnSpPr>
            <a:stCxn id="51" idx="0"/>
          </p:cNvCxnSpPr>
          <p:nvPr/>
        </p:nvCxnSpPr>
        <p:spPr>
          <a:xfrm flipH="1" flipV="1">
            <a:off x="5694482" y="2490580"/>
            <a:ext cx="2" cy="355241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/>
          <p:cNvCxnSpPr>
            <a:endCxn id="51" idx="2"/>
          </p:cNvCxnSpPr>
          <p:nvPr/>
        </p:nvCxnSpPr>
        <p:spPr>
          <a:xfrm flipV="1">
            <a:off x="2871642" y="3681749"/>
            <a:ext cx="2822842" cy="631939"/>
          </a:xfrm>
          <a:prstGeom prst="bentConnector2">
            <a:avLst/>
          </a:prstGeom>
          <a:ln w="22225">
            <a:solidFill>
              <a:schemeClr val="tx1"/>
            </a:solidFill>
            <a:prstDash val="sys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9970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Vendor Master – General Information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792" y="936170"/>
            <a:ext cx="9553122" cy="64579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1088571"/>
            <a:ext cx="407579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Fujitsu Sans" panose="020B0404060202020204"/>
              </a:rPr>
              <a:t>FK01 is used to create a new vendor </a:t>
            </a:r>
            <a:r>
              <a:rPr lang="en-US" sz="3600" dirty="0" smtClean="0">
                <a:latin typeface="Fujitsu Sans" panose="020B0404060202020204"/>
              </a:rPr>
              <a:t>account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 smtClean="0">
                <a:latin typeface="Fujitsu Sans" panose="020B0404060202020204"/>
              </a:rPr>
              <a:t>Some </a:t>
            </a:r>
            <a:r>
              <a:rPr lang="en-US" sz="3600" dirty="0">
                <a:latin typeface="Fujitsu Sans" panose="020B0404060202020204"/>
              </a:rPr>
              <a:t>general information needed to create the </a:t>
            </a:r>
            <a:r>
              <a:rPr lang="en-US" sz="3600" dirty="0" smtClean="0">
                <a:latin typeface="Fujitsu Sans" panose="020B0404060202020204"/>
              </a:rPr>
              <a:t>account includes</a:t>
            </a:r>
            <a:r>
              <a:rPr lang="en-US" sz="2800" dirty="0" smtClean="0">
                <a:latin typeface="Fujitsu Sans" panose="020B0404060202020204"/>
              </a:rPr>
              <a:t>:</a:t>
            </a:r>
          </a:p>
          <a:p>
            <a:pPr marL="1136264" lvl="1" indent="-45720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Fujitsu Sans" panose="020B0404060202020204"/>
              </a:rPr>
              <a:t>Name</a:t>
            </a:r>
          </a:p>
          <a:p>
            <a:pPr marL="1136264" lvl="1" indent="-45720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Fujitsu Sans" panose="020B0404060202020204"/>
              </a:rPr>
              <a:t>Search Terms</a:t>
            </a:r>
          </a:p>
          <a:p>
            <a:pPr marL="1136264" lvl="1" indent="-45720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Fujitsu Sans" panose="020B0404060202020204"/>
              </a:rPr>
              <a:t>Street Address</a:t>
            </a:r>
            <a:endParaRPr lang="en-US" sz="3200" dirty="0">
              <a:latin typeface="Fujitsu Sans" panose="020B04040602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67199" y="3327637"/>
            <a:ext cx="8055429" cy="34868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54774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0048" y="5953196"/>
            <a:ext cx="2538984" cy="1830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Demo </a:t>
            </a:r>
            <a:r>
              <a:rPr lang="en-US" altLang="en-US" dirty="0" smtClean="0"/>
              <a:t>4.10</a:t>
            </a:r>
            <a:r>
              <a:rPr lang="en-US" altLang="en-US" dirty="0" smtClean="0"/>
              <a:t>: </a:t>
            </a:r>
            <a:r>
              <a:rPr lang="en-US" altLang="en-US" dirty="0" smtClean="0"/>
              <a:t>Create a Vendor Account</a:t>
            </a:r>
            <a:endParaRPr lang="en-US" altLang="en-US" dirty="0"/>
          </a:p>
        </p:txBody>
      </p:sp>
      <p:sp>
        <p:nvSpPr>
          <p:cNvPr id="79877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FAI is scheduled to procure services and goods from Global Resources. Prior to conducting business, they must have a vendor account available in the system</a:t>
            </a:r>
            <a:endParaRPr lang="en-US" altLang="en-US" dirty="0"/>
          </a:p>
          <a:p>
            <a:r>
              <a:rPr lang="en-US" altLang="en-US" dirty="0"/>
              <a:t>Notes</a:t>
            </a:r>
          </a:p>
          <a:p>
            <a:pPr lvl="1"/>
            <a:r>
              <a:rPr lang="en-US" altLang="en-US" dirty="0" smtClean="0"/>
              <a:t>Transaction </a:t>
            </a:r>
            <a:r>
              <a:rPr lang="en-US" altLang="en-US" dirty="0"/>
              <a:t>Code: </a:t>
            </a:r>
            <a:r>
              <a:rPr lang="en-US" altLang="en-US" dirty="0" smtClean="0"/>
              <a:t>FK01</a:t>
            </a:r>
          </a:p>
          <a:p>
            <a:pPr marL="690841" lvl="1" indent="0">
              <a:buNone/>
            </a:pPr>
            <a:endParaRPr lang="en-US" altLang="en-US" dirty="0"/>
          </a:p>
        </p:txBody>
      </p:sp>
      <p:sp>
        <p:nvSpPr>
          <p:cNvPr id="79875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56DF02-B972-47C9-B00D-779435B411F7}" type="slidenum">
              <a:rPr lang="en-US" altLang="en-US" sz="1600" smtClean="0"/>
              <a:pPr/>
              <a:t>66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93723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 descr="MPj04225930000[1]"/>
          <p:cNvPicPr>
            <a:picLocks noChangeAspect="1" noChangeArrowheads="1"/>
          </p:cNvPicPr>
          <p:nvPr/>
        </p:nvPicPr>
        <p:blipFill>
          <a:blip r:embed="rId3">
            <a:lum bright="54000" contrast="-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3077" y="6187335"/>
            <a:ext cx="2324523" cy="1585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Exercise </a:t>
            </a:r>
            <a:r>
              <a:rPr lang="en-US" altLang="en-US" dirty="0" smtClean="0"/>
              <a:t>4.10</a:t>
            </a:r>
            <a:r>
              <a:rPr lang="en-US" altLang="en-US" dirty="0" smtClean="0"/>
              <a:t>: </a:t>
            </a:r>
            <a:r>
              <a:rPr lang="en-US" altLang="en-US" dirty="0"/>
              <a:t>Create </a:t>
            </a:r>
            <a:r>
              <a:rPr lang="en-US" altLang="en-US" dirty="0" smtClean="0"/>
              <a:t>a Vendor Account</a:t>
            </a:r>
            <a:endParaRPr lang="en-US" altLang="en-US" dirty="0"/>
          </a:p>
        </p:txBody>
      </p:sp>
      <p:sp>
        <p:nvSpPr>
          <p:cNvPr id="69637" name="Rectangle 3"/>
          <p:cNvSpPr>
            <a:spLocks noGrp="1" noChangeArrowheads="1"/>
          </p:cNvSpPr>
          <p:nvPr>
            <p:ph idx="1"/>
          </p:nvPr>
        </p:nvSpPr>
        <p:spPr>
          <a:xfrm>
            <a:off x="520700" y="1081669"/>
            <a:ext cx="12827000" cy="2967817"/>
          </a:xfrm>
        </p:spPr>
        <p:txBody>
          <a:bodyPr/>
          <a:lstStyle/>
          <a:p>
            <a:r>
              <a:rPr lang="en-US" altLang="en-US" dirty="0"/>
              <a:t>FAI is scheduled to procure services and goods from Global Resources. Prior to conducting business, they must have a vendor account available in the system</a:t>
            </a:r>
          </a:p>
          <a:p>
            <a:r>
              <a:rPr lang="en-US" altLang="en-US" dirty="0" smtClean="0"/>
              <a:t>Create a Vendor Account</a:t>
            </a:r>
          </a:p>
          <a:p>
            <a:r>
              <a:rPr lang="en-US" altLang="en-US" dirty="0"/>
              <a:t>Notes</a:t>
            </a:r>
          </a:p>
          <a:p>
            <a:pPr lvl="1"/>
            <a:r>
              <a:rPr lang="en-US" altLang="en-US" dirty="0" smtClean="0"/>
              <a:t>Transaction </a:t>
            </a:r>
            <a:r>
              <a:rPr lang="en-US" altLang="en-US" dirty="0"/>
              <a:t>Code: </a:t>
            </a:r>
            <a:r>
              <a:rPr lang="en-US" altLang="en-US" dirty="0" smtClean="0"/>
              <a:t>FK01</a:t>
            </a:r>
            <a:endParaRPr lang="en-US" altLang="en-US" dirty="0"/>
          </a:p>
          <a:p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C94C66-C52E-487D-82B9-B896A1AB6338}" type="slidenum">
              <a:rPr lang="en-US" altLang="en-US" sz="1600" smtClean="0"/>
              <a:pPr/>
              <a:t>67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09287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3830" y="6152110"/>
            <a:ext cx="222377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Unit </a:t>
            </a:r>
            <a:r>
              <a:rPr lang="en-US" altLang="en-US" dirty="0" smtClean="0"/>
              <a:t>4, </a:t>
            </a:r>
            <a:r>
              <a:rPr lang="en-US" altLang="en-US" dirty="0"/>
              <a:t># 1</a:t>
            </a:r>
          </a:p>
        </p:txBody>
      </p:sp>
      <p:sp>
        <p:nvSpPr>
          <p:cNvPr id="73733" name="Rectangle 3"/>
          <p:cNvSpPr>
            <a:spLocks noGrp="1" noChangeArrowheads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FAI uses </a:t>
            </a:r>
            <a:r>
              <a:rPr lang="en-US" dirty="0" smtClean="0"/>
              <a:t>what three </a:t>
            </a:r>
            <a:r>
              <a:rPr lang="en-US" dirty="0"/>
              <a:t>vendor </a:t>
            </a:r>
            <a:r>
              <a:rPr lang="en-US" dirty="0" smtClean="0"/>
              <a:t>groups</a:t>
            </a:r>
            <a:r>
              <a:rPr lang="en-US" altLang="en-US" dirty="0" smtClean="0">
                <a:latin typeface="Fujitsu Sans"/>
              </a:rPr>
              <a:t>?</a:t>
            </a:r>
            <a:endParaRPr lang="en-US" dirty="0">
              <a:latin typeface="Fujitsu Sans"/>
            </a:endParaRPr>
          </a:p>
          <a:p>
            <a:pPr marL="517525" indent="-517525"/>
            <a:endParaRPr lang="en-US" altLang="en-US" dirty="0"/>
          </a:p>
          <a:p>
            <a:pPr marL="517525" indent="-517525"/>
            <a:endParaRPr lang="en-US" altLang="en-US" dirty="0"/>
          </a:p>
          <a:p>
            <a:pPr marL="517525" indent="-517525"/>
            <a:endParaRPr lang="en-US" alt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C67485-719C-460B-BE50-F908EA1276DE}" type="slidenum">
              <a:rPr lang="en-US" altLang="en-US" sz="1600" smtClean="0"/>
              <a:pPr/>
              <a:t>68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153656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Unit </a:t>
            </a:r>
            <a:r>
              <a:rPr lang="en-US" altLang="en-US" dirty="0" smtClean="0"/>
              <a:t>4, </a:t>
            </a:r>
            <a:r>
              <a:rPr lang="en-US" altLang="en-US" dirty="0"/>
              <a:t># 1</a:t>
            </a:r>
          </a:p>
        </p:txBody>
      </p:sp>
      <p:sp>
        <p:nvSpPr>
          <p:cNvPr id="45060" name="Rectangle 4"/>
          <p:cNvSpPr>
            <a:spLocks noGrp="1" noChangeArrowheads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FAI uses what three vendor groups</a:t>
            </a:r>
            <a:r>
              <a:rPr lang="en-US" altLang="en-US" dirty="0" smtClean="0">
                <a:latin typeface="Fujitsu Sans"/>
              </a:rPr>
              <a:t>?</a:t>
            </a:r>
            <a:endParaRPr lang="en-US" dirty="0">
              <a:latin typeface="Fujitsu Sans"/>
            </a:endParaRPr>
          </a:p>
          <a:p>
            <a:pPr marL="517525" indent="-517525"/>
            <a:endParaRPr lang="en-US" altLang="en-US" dirty="0"/>
          </a:p>
          <a:p>
            <a:pPr lvl="1"/>
            <a:r>
              <a:rPr lang="en-US" i="1" dirty="0" smtClean="0">
                <a:solidFill>
                  <a:srgbClr val="FF0000"/>
                </a:solidFill>
              </a:rPr>
              <a:t>FAI </a:t>
            </a:r>
            <a:r>
              <a:rPr lang="en-US" i="1" dirty="0">
                <a:solidFill>
                  <a:srgbClr val="FF0000"/>
                </a:solidFill>
              </a:rPr>
              <a:t>uses three vendor groups:</a:t>
            </a:r>
          </a:p>
          <a:p>
            <a:pPr lvl="2"/>
            <a:r>
              <a:rPr lang="en-US" i="1" dirty="0">
                <a:solidFill>
                  <a:srgbClr val="FF0000"/>
                </a:solidFill>
              </a:rPr>
              <a:t>Vendors</a:t>
            </a:r>
          </a:p>
          <a:p>
            <a:pPr lvl="2"/>
            <a:r>
              <a:rPr lang="en-US" i="1" dirty="0">
                <a:solidFill>
                  <a:srgbClr val="FF0000"/>
                </a:solidFill>
              </a:rPr>
              <a:t>One time vendor</a:t>
            </a:r>
          </a:p>
          <a:p>
            <a:pPr lvl="2"/>
            <a:r>
              <a:rPr lang="en-US" i="1" dirty="0">
                <a:solidFill>
                  <a:srgbClr val="FF0000"/>
                </a:solidFill>
              </a:rPr>
              <a:t>Employee Vendors</a:t>
            </a:r>
          </a:p>
          <a:p>
            <a:pPr lvl="2"/>
            <a:endParaRPr lang="en-US" altLang="en-US" i="1" dirty="0">
              <a:solidFill>
                <a:srgbClr val="FF0000"/>
              </a:solidFill>
            </a:endParaRPr>
          </a:p>
          <a:p>
            <a:pPr lvl="1"/>
            <a:endParaRPr lang="en-US" i="1" dirty="0">
              <a:solidFill>
                <a:srgbClr val="FF0000"/>
              </a:solidFill>
            </a:endParaRPr>
          </a:p>
          <a:p>
            <a:pPr marL="690245" lvl="1" indent="0">
              <a:buNone/>
            </a:pPr>
            <a:endParaRPr lang="en-US" altLang="en-US" dirty="0"/>
          </a:p>
        </p:txBody>
      </p:sp>
      <p:sp>
        <p:nvSpPr>
          <p:cNvPr id="62466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41124" y="-10281"/>
            <a:ext cx="0" cy="0"/>
          </a:xfrm>
        </p:spPr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130D220-9093-409D-9FE0-EFE0B999B6BA}" type="slidenum">
              <a:rPr lang="en-US" altLang="en-US" sz="1600" smtClean="0"/>
              <a:pPr/>
              <a:t>69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346872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 descr="MCj04415100000[1]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7983" y="5924070"/>
            <a:ext cx="1859619" cy="1859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4</a:t>
            </a:r>
            <a:endParaRPr lang="en-US" altLang="en-US" dirty="0"/>
          </a:p>
        </p:txBody>
      </p:sp>
      <p:sp>
        <p:nvSpPr>
          <p:cNvPr id="77829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You </a:t>
            </a:r>
            <a:r>
              <a:rPr lang="en-US" altLang="en-US" dirty="0" smtClean="0"/>
              <a:t>should now be able to:</a:t>
            </a:r>
            <a:endParaRPr lang="en-US" altLang="en-US" dirty="0"/>
          </a:p>
          <a:p>
            <a:r>
              <a:rPr lang="en-US" altLang="en-US" dirty="0"/>
              <a:t>Create a vendor account</a:t>
            </a:r>
          </a:p>
          <a:p>
            <a:endParaRPr lang="en-US" altLang="en-US" dirty="0"/>
          </a:p>
        </p:txBody>
      </p:sp>
      <p:sp>
        <p:nvSpPr>
          <p:cNvPr id="77827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64D916E-780F-4F36-9EEA-B0E6C110BE23}" type="slidenum">
              <a:rPr lang="en-US" altLang="en-US" sz="1600" smtClean="0"/>
              <a:pPr/>
              <a:t>70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92796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0A293A-6492-4A1F-A0D4-05E445FB280C}" type="slidenum">
              <a:rPr lang="en-US" altLang="en-US" sz="1600" smtClean="0"/>
              <a:pPr/>
              <a:t>71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365688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Unit 1 – Introduction – </a:t>
            </a:r>
            <a:r>
              <a:rPr lang="en-US" altLang="en-US" dirty="0" smtClean="0"/>
              <a:t>Accounts Payable (20 </a:t>
            </a:r>
            <a:r>
              <a:rPr lang="en-US" altLang="en-US" dirty="0"/>
              <a:t>mins) </a:t>
            </a:r>
          </a:p>
          <a:p>
            <a:r>
              <a:rPr lang="en-US" altLang="en-US" dirty="0" smtClean="0"/>
              <a:t>Unit </a:t>
            </a:r>
            <a:r>
              <a:rPr lang="en-US" altLang="en-US" dirty="0"/>
              <a:t>2</a:t>
            </a:r>
            <a:r>
              <a:rPr lang="en-US" altLang="en-US" dirty="0" smtClean="0"/>
              <a:t> </a:t>
            </a:r>
            <a:r>
              <a:rPr lang="en-US" altLang="en-US" dirty="0" smtClean="0"/>
              <a:t>– Enter/Park a Vendor Invoice (60 mins)</a:t>
            </a:r>
            <a:endParaRPr lang="en-US" altLang="en-US" dirty="0"/>
          </a:p>
          <a:p>
            <a:r>
              <a:rPr lang="en-US" altLang="en-US" dirty="0"/>
              <a:t>Unit </a:t>
            </a:r>
            <a:r>
              <a:rPr lang="en-US" altLang="en-US" dirty="0"/>
              <a:t>3</a:t>
            </a:r>
            <a:r>
              <a:rPr lang="en-US" altLang="en-US" dirty="0" smtClean="0"/>
              <a:t> </a:t>
            </a:r>
            <a:r>
              <a:rPr lang="en-US" altLang="en-US" dirty="0"/>
              <a:t>– </a:t>
            </a:r>
            <a:r>
              <a:rPr lang="en-US" altLang="en-US" dirty="0" smtClean="0"/>
              <a:t>Enter a Vendor Credit Memo (60 </a:t>
            </a:r>
            <a:r>
              <a:rPr lang="en-US" altLang="en-US" dirty="0"/>
              <a:t>mins</a:t>
            </a:r>
            <a:r>
              <a:rPr lang="en-US" altLang="en-US" dirty="0" smtClean="0"/>
              <a:t>)</a:t>
            </a:r>
          </a:p>
          <a:p>
            <a:r>
              <a:rPr lang="en-US" altLang="en-US" dirty="0" smtClean="0"/>
              <a:t>Unit 4 - </a:t>
            </a:r>
            <a:r>
              <a:rPr lang="en-US" altLang="en-US" dirty="0"/>
              <a:t>Create a Vendor Account (30 mins</a:t>
            </a:r>
            <a:r>
              <a:rPr lang="en-US" altLang="en-US" dirty="0" smtClean="0"/>
              <a:t>)</a:t>
            </a:r>
            <a:endParaRPr lang="en-US" altLang="en-US" dirty="0" smtClean="0"/>
          </a:p>
          <a:p>
            <a:r>
              <a:rPr lang="en-US" altLang="en-US" dirty="0" smtClean="0"/>
              <a:t>Unit 5 – Summary (10 mins)</a:t>
            </a:r>
            <a:endParaRPr lang="en-US" altLang="en-US" dirty="0"/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Agenda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C3236A-0750-4F69-BC22-0115EAA85BF4}" type="slidenum">
              <a:rPr lang="en-US" altLang="en-US" sz="1600" smtClean="0"/>
              <a:pPr/>
              <a:t>72</a:t>
            </a:fld>
            <a:endParaRPr lang="en-US" altLang="en-US" sz="1600" dirty="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520699" y="3745696"/>
            <a:ext cx="11366501" cy="65211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762000">
              <a:lnSpc>
                <a:spcPct val="90000"/>
              </a:lnSpc>
              <a:spcBef>
                <a:spcPct val="50000"/>
              </a:spcBef>
              <a:buClr>
                <a:srgbClr val="867366"/>
              </a:buClr>
              <a:buSzPct val="85000"/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indent="-342900" defTabSz="762000">
              <a:lnSpc>
                <a:spcPct val="90000"/>
              </a:lnSpc>
              <a:spcBef>
                <a:spcPct val="50000"/>
              </a:spcBef>
              <a:buClr>
                <a:srgbClr val="FF0000"/>
              </a:buClr>
              <a:buSzPct val="12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285750" defTabSz="762000">
              <a:lnSpc>
                <a:spcPct val="90000"/>
              </a:lnSpc>
              <a:spcBef>
                <a:spcPct val="20000"/>
              </a:spcBef>
              <a:buClr>
                <a:srgbClr val="867366"/>
              </a:buClr>
              <a:buSzPct val="120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87450" indent="-215900" defTabSz="7620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o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SzPct val="80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3200" b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615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Key 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/>
              <a:t>Vital </a:t>
            </a:r>
            <a:r>
              <a:rPr lang="en-US" dirty="0"/>
              <a:t>for FAI because:</a:t>
            </a:r>
          </a:p>
          <a:p>
            <a:pPr lvl="2"/>
            <a:r>
              <a:rPr lang="en-US" dirty="0"/>
              <a:t>It takes charge of paying bills on a timely basis</a:t>
            </a:r>
          </a:p>
          <a:p>
            <a:pPr lvl="2"/>
            <a:r>
              <a:rPr lang="en-US" dirty="0"/>
              <a:t>Vendors ensure an uninterrupted flow of supplies and services due to on-time payments</a:t>
            </a:r>
          </a:p>
          <a:p>
            <a:pPr lvl="2"/>
            <a:r>
              <a:rPr lang="en-US" dirty="0"/>
              <a:t>It ensures there are no overdue charges, penalties, or late </a:t>
            </a:r>
            <a:r>
              <a:rPr lang="en-US" dirty="0" smtClean="0"/>
              <a:t>fees</a:t>
            </a:r>
          </a:p>
          <a:p>
            <a:pPr lvl="2"/>
            <a:r>
              <a:rPr lang="en-US" dirty="0" smtClean="0"/>
              <a:t>It ensures all invoices due are tracked and paid properly</a:t>
            </a:r>
          </a:p>
          <a:p>
            <a:pPr lvl="1"/>
            <a:r>
              <a:rPr lang="en-US" dirty="0" smtClean="0"/>
              <a:t>AP’s </a:t>
            </a:r>
            <a:r>
              <a:rPr lang="en-US" dirty="0"/>
              <a:t>role is to complete payments and control expenses by receiving payments, plus processing, verifying and reconciling </a:t>
            </a:r>
            <a:r>
              <a:rPr lang="en-US" dirty="0" smtClean="0"/>
              <a:t>invoices</a:t>
            </a:r>
          </a:p>
          <a:p>
            <a:pPr lvl="1"/>
            <a:r>
              <a:rPr lang="en-US" dirty="0"/>
              <a:t>Non-PO invoices are the result of spend outside a regulated procurement process referred to as Expense Invoices</a:t>
            </a:r>
          </a:p>
          <a:p>
            <a:pPr lvl="1"/>
            <a:endParaRPr lang="en-US" dirty="0"/>
          </a:p>
          <a:p>
            <a:pPr marL="1381681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64239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Key Points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950" dirty="0" smtClean="0"/>
              <a:t>A </a:t>
            </a:r>
            <a:r>
              <a:rPr lang="en-US" sz="2950" dirty="0"/>
              <a:t>parked invoiced can still be edited as required</a:t>
            </a:r>
          </a:p>
          <a:p>
            <a:pPr lvl="1"/>
            <a:r>
              <a:rPr lang="en-US" altLang="en-US" sz="2950" dirty="0"/>
              <a:t>Credit memos can be applied to a vendor’s account as a payment or reduction in cost</a:t>
            </a:r>
          </a:p>
          <a:p>
            <a:pPr lvl="1"/>
            <a:r>
              <a:rPr lang="en-US" sz="2950" dirty="0" smtClean="0"/>
              <a:t>After </a:t>
            </a:r>
            <a:r>
              <a:rPr lang="en-US" sz="2950" dirty="0"/>
              <a:t>a credit memo is posted to a customer’s account, it must be cleared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1381681" lvl="2" indent="0">
              <a:buNone/>
            </a:pPr>
            <a:endParaRPr lang="en-US" dirty="0"/>
          </a:p>
          <a:p>
            <a:pPr lvl="1"/>
            <a:endParaRPr lang="en-US" alt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alt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2039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Course Summary</a:t>
            </a:r>
          </a:p>
        </p:txBody>
      </p:sp>
      <p:sp>
        <p:nvSpPr>
          <p:cNvPr id="92165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You </a:t>
            </a:r>
            <a:r>
              <a:rPr lang="en-US" altLang="en-US" dirty="0" smtClean="0"/>
              <a:t>should now be able to:</a:t>
            </a:r>
            <a:endParaRPr lang="en-US" altLang="en-US" dirty="0"/>
          </a:p>
          <a:p>
            <a:r>
              <a:rPr lang="en-US" altLang="en-US" dirty="0"/>
              <a:t>Describe the accounts payable process</a:t>
            </a:r>
          </a:p>
          <a:p>
            <a:r>
              <a:rPr lang="en-US" altLang="en-US" dirty="0"/>
              <a:t>Create a vendor account </a:t>
            </a:r>
          </a:p>
          <a:p>
            <a:r>
              <a:rPr lang="en-US" altLang="en-US" dirty="0"/>
              <a:t>Enter/park a vendor invoice </a:t>
            </a:r>
          </a:p>
          <a:p>
            <a:r>
              <a:rPr lang="en-US" altLang="en-US" dirty="0" smtClean="0"/>
              <a:t>Enter </a:t>
            </a:r>
            <a:r>
              <a:rPr lang="en-US" altLang="en-US" dirty="0"/>
              <a:t>a vendor credit </a:t>
            </a:r>
            <a:r>
              <a:rPr lang="en-US" altLang="en-US" dirty="0" smtClean="0"/>
              <a:t>memo</a:t>
            </a:r>
            <a:endParaRPr lang="en-US" altLang="en-US" dirty="0"/>
          </a:p>
          <a:p>
            <a:r>
              <a:rPr lang="en-US" altLang="en-US" dirty="0" smtClean="0"/>
              <a:t>Initiate </a:t>
            </a:r>
            <a:r>
              <a:rPr lang="en-US" altLang="en-US" dirty="0"/>
              <a:t>the automatic clearing process</a:t>
            </a:r>
          </a:p>
        </p:txBody>
      </p:sp>
      <p:sp>
        <p:nvSpPr>
          <p:cNvPr id="92163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FD34F68-3957-42CF-922E-A1857DB71FED}" type="slidenum">
              <a:rPr lang="en-US" altLang="en-US" sz="1600" smtClean="0"/>
              <a:pPr/>
              <a:t>75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15221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0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1990" y="6108171"/>
            <a:ext cx="2135610" cy="1664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Next Steps</a:t>
            </a:r>
          </a:p>
        </p:txBody>
      </p:sp>
      <p:sp>
        <p:nvSpPr>
          <p:cNvPr id="94213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Practice: Prior to go live, be sure to practice the transactions exercised today using the following resources available:</a:t>
            </a:r>
          </a:p>
          <a:p>
            <a:pPr lvl="1"/>
            <a:r>
              <a:rPr lang="en-US" altLang="en-US" dirty="0" smtClean="0"/>
              <a:t>Training Environment and Training ID </a:t>
            </a:r>
            <a:r>
              <a:rPr lang="en-US" altLang="en-US" dirty="0" smtClean="0">
                <a:solidFill>
                  <a:srgbClr val="FF0000"/>
                </a:solidFill>
              </a:rPr>
              <a:t>(TBD)</a:t>
            </a:r>
          </a:p>
          <a:p>
            <a:pPr lvl="1"/>
            <a:r>
              <a:rPr lang="en-US" altLang="en-US" dirty="0" smtClean="0"/>
              <a:t>uPerform recordings located in the LMS </a:t>
            </a:r>
            <a:r>
              <a:rPr lang="en-US" altLang="en-US" dirty="0" smtClean="0">
                <a:solidFill>
                  <a:srgbClr val="FF0000"/>
                </a:solidFill>
              </a:rPr>
              <a:t>(TBD)</a:t>
            </a:r>
            <a:endParaRPr lang="en-US" altLang="en-US" dirty="0">
              <a:solidFill>
                <a:srgbClr val="FF0000"/>
              </a:solidFill>
            </a:endParaRPr>
          </a:p>
          <a:p>
            <a:r>
              <a:rPr lang="en-US" altLang="en-US" dirty="0"/>
              <a:t>If you have questions...</a:t>
            </a:r>
          </a:p>
          <a:p>
            <a:pPr lvl="1"/>
            <a:r>
              <a:rPr lang="en-US" dirty="0" smtClean="0"/>
              <a:t>Help Desk </a:t>
            </a:r>
            <a:r>
              <a:rPr lang="en-US" dirty="0" smtClean="0">
                <a:solidFill>
                  <a:srgbClr val="FF0000"/>
                </a:solidFill>
              </a:rPr>
              <a:t>(TBD)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 smtClean="0"/>
              <a:t>LMS/SharePoint site for reference materials </a:t>
            </a:r>
            <a:r>
              <a:rPr lang="en-US" dirty="0" smtClean="0">
                <a:solidFill>
                  <a:srgbClr val="FF0000"/>
                </a:solidFill>
              </a:rPr>
              <a:t>(TBD)</a:t>
            </a:r>
          </a:p>
          <a:p>
            <a:pPr lvl="1"/>
            <a:r>
              <a:rPr lang="en-US" dirty="0" smtClean="0"/>
              <a:t>Other </a:t>
            </a:r>
            <a:r>
              <a:rPr lang="en-US" dirty="0"/>
              <a:t>Users</a:t>
            </a:r>
          </a:p>
          <a:p>
            <a:pPr lvl="1"/>
            <a:r>
              <a:rPr lang="en-US" dirty="0"/>
              <a:t>Super Users</a:t>
            </a:r>
          </a:p>
          <a:p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94211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ED3A692-8E4D-4AE1-8533-5DF08E717955}" type="slidenum">
              <a:rPr lang="en-US" altLang="en-US" sz="1600" smtClean="0"/>
              <a:pPr/>
              <a:t>76</a:t>
            </a:fld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73545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Before You Leave…</a:t>
            </a:r>
          </a:p>
        </p:txBody>
      </p:sp>
      <p:sp>
        <p:nvSpPr>
          <p:cNvPr id="9626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90841" lvl="1" indent="0">
              <a:buNone/>
            </a:pPr>
            <a:r>
              <a:rPr lang="en-US" altLang="en-US" dirty="0"/>
              <a:t> 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Last chance for Q &amp; A!</a:t>
            </a:r>
          </a:p>
          <a:p>
            <a:endParaRPr lang="en-US" altLang="en-US" dirty="0"/>
          </a:p>
          <a:p>
            <a:r>
              <a:rPr lang="en-US" altLang="en-US" dirty="0" smtClean="0"/>
              <a:t>Please be sure to complete the Class evaluation in order to help us improve on future classes!</a:t>
            </a:r>
            <a:endParaRPr lang="en-US" altLang="en-US" dirty="0"/>
          </a:p>
          <a:p>
            <a:endParaRPr lang="en-US" altLang="en-US" dirty="0"/>
          </a:p>
        </p:txBody>
      </p:sp>
      <p:sp>
        <p:nvSpPr>
          <p:cNvPr id="96258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 sz="3627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8F12887-6F99-41DE-B96D-957CF2C7DD91}" type="slidenum">
              <a:rPr lang="en-US" altLang="en-US" sz="1800" smtClean="0"/>
              <a:pPr/>
              <a:t>77</a:t>
            </a:fld>
            <a:endParaRPr lang="en-US" altLang="en-US" sz="18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4567" y="5615559"/>
            <a:ext cx="1689414" cy="2156841"/>
          </a:xfrm>
          <a:prstGeom prst="rect">
            <a:avLst/>
          </a:prstGeom>
        </p:spPr>
      </p:pic>
      <p:sp>
        <p:nvSpPr>
          <p:cNvPr id="13" name="Slide Number Placeholder 3"/>
          <p:cNvSpPr txBox="1">
            <a:spLocks/>
          </p:cNvSpPr>
          <p:nvPr/>
        </p:nvSpPr>
        <p:spPr>
          <a:xfrm>
            <a:off x="10055013" y="7356280"/>
            <a:ext cx="3224107" cy="4150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358130" rtl="0" eaLnBrk="1" latinLnBrk="0" hangingPunct="1">
              <a:defRPr sz="3627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841985" indent="-323840" algn="l" defTabSz="1358130" rtl="0" eaLnBrk="1" latinLnBrk="0" hangingPunct="1">
              <a:defRPr sz="3627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295362" indent="-259072" algn="l" defTabSz="1358130" rtl="0" eaLnBrk="1" latinLnBrk="0" hangingPunct="1">
              <a:defRPr sz="3627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813507" indent="-259072" algn="l" defTabSz="1358130" rtl="0" eaLnBrk="1" latinLnBrk="0" hangingPunct="1">
              <a:defRPr sz="3627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331651" indent="-259072" algn="l" defTabSz="1358130" rtl="0" eaLnBrk="1" latinLnBrk="0" hangingPunct="1">
              <a:defRPr sz="3627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849796" indent="-259072" algn="l" defTabSz="1358130" rtl="0" eaLnBrk="0" fontAlgn="base" latinLnBrk="0" hangingPunct="0">
              <a:spcBef>
                <a:spcPct val="0"/>
              </a:spcBef>
              <a:spcAft>
                <a:spcPct val="0"/>
              </a:spcAft>
              <a:defRPr sz="3627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3367941" indent="-259072" algn="l" defTabSz="1358130" rtl="0" eaLnBrk="0" fontAlgn="base" latinLnBrk="0" hangingPunct="0">
              <a:spcBef>
                <a:spcPct val="0"/>
              </a:spcBef>
              <a:spcAft>
                <a:spcPct val="0"/>
              </a:spcAft>
              <a:defRPr sz="3627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886086" indent="-259072" algn="l" defTabSz="1358130" rtl="0" eaLnBrk="0" fontAlgn="base" latinLnBrk="0" hangingPunct="0">
              <a:spcBef>
                <a:spcPct val="0"/>
              </a:spcBef>
              <a:spcAft>
                <a:spcPct val="0"/>
              </a:spcAft>
              <a:defRPr sz="3627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4404230" indent="-259072" algn="l" defTabSz="1358130" rtl="0" eaLnBrk="0" fontAlgn="base" latinLnBrk="0" hangingPunct="0">
              <a:spcBef>
                <a:spcPct val="0"/>
              </a:spcBef>
              <a:spcAft>
                <a:spcPct val="0"/>
              </a:spcAft>
              <a:defRPr sz="3627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424873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7" name="Picture 5" descr="j0341499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080" y="2008125"/>
            <a:ext cx="3574287" cy="4623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Congratulations!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You have completed this course!</a:t>
            </a:r>
          </a:p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41985" indent="-32384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362" indent="-25907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13507" indent="-25907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31651" indent="-25907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49796" indent="-25907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67941" indent="-25907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86086" indent="-25907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04230" indent="-25907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BE6A29-3330-4120-8C4F-D901DC38695C}" type="slidenum">
              <a:rPr lang="en-US" altLang="en-US" sz="1800" smtClean="0"/>
              <a:pPr/>
              <a:t>78</a:t>
            </a:fld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4589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VCT_Marker"/>
  <p:tag name="DATE" val="12.10.2010 13:26:00"/>
  <p:tag name="VCTMASTER" val="Fujitsu Master 16-9 red"/>
  <p:tag name="VCTORD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VCT_Marker"/>
  <p:tag name="DATE" val="12.10.2010 13:26:00"/>
  <p:tag name="VCTMASTER" val="Fujitsu"/>
  <p:tag name="VCTLAYOUT" val="title"/>
  <p:tag name="VCTORDER" val="1"/>
</p:tagLst>
</file>

<file path=ppt/theme/theme1.xml><?xml version="1.0" encoding="utf-8"?>
<a:theme xmlns:a="http://schemas.openxmlformats.org/drawingml/2006/main" name="Master-16-9-Fujitsu Graphical Examples">
  <a:themeElements>
    <a:clrScheme name="Fujitsu">
      <a:dk1>
        <a:srgbClr val="000000"/>
      </a:dk1>
      <a:lt1>
        <a:srgbClr val="FFFFFF"/>
      </a:lt1>
      <a:dk2>
        <a:srgbClr val="87867E"/>
      </a:dk2>
      <a:lt2>
        <a:srgbClr val="DAD9D6"/>
      </a:lt2>
      <a:accent1>
        <a:srgbClr val="FF0000"/>
      </a:accent1>
      <a:accent2>
        <a:srgbClr val="A30B1A"/>
      </a:accent2>
      <a:accent3>
        <a:srgbClr val="861718"/>
      </a:accent3>
      <a:accent4>
        <a:srgbClr val="681A14"/>
      </a:accent4>
      <a:accent5>
        <a:srgbClr val="48190A"/>
      </a:accent5>
      <a:accent6>
        <a:srgbClr val="3C3C35"/>
      </a:accent6>
      <a:hlink>
        <a:srgbClr val="1782DB"/>
      </a:hlink>
      <a:folHlink>
        <a:srgbClr val="FF000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rtlCol="0" anchor="t" anchorCtr="0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5928-006-Key-Visual-2019-Template-External-MS2016-16x9-v1.0.potx" id="{092E281F-9F9D-4FF0-989A-A9BCE9B5733D}" vid="{384363C2-5FF3-448A-85E0-FDB9AD8AD2F2}"/>
    </a:ext>
  </a:extLst>
</a:theme>
</file>

<file path=ppt/theme/theme2.xml><?xml version="1.0" encoding="utf-8"?>
<a:theme xmlns:a="http://schemas.openxmlformats.org/drawingml/2006/main" name="Cover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6E97D27D404C43B460E8F3C4B9BE0C" ma:contentTypeVersion="11" ma:contentTypeDescription="Create a new document." ma:contentTypeScope="" ma:versionID="e6d9edfe604d12914df16e555a60cc6b">
  <xsd:schema xmlns:xsd="http://www.w3.org/2001/XMLSchema" xmlns:xs="http://www.w3.org/2001/XMLSchema" xmlns:p="http://schemas.microsoft.com/office/2006/metadata/properties" xmlns:ns2="5a0746e4-744f-4c97-89f2-fcb5166a034f" xmlns:ns3="dc6d9ee9-d14a-41b6-85ce-5bd9a4947433" targetNamespace="http://schemas.microsoft.com/office/2006/metadata/properties" ma:root="true" ma:fieldsID="97e403c7b5e88de8cc5676c94817c6d2" ns2:_="" ns3:_="">
    <xsd:import namespace="5a0746e4-744f-4c97-89f2-fcb5166a034f"/>
    <xsd:import namespace="dc6d9ee9-d14a-41b6-85ce-5bd9a49474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0746e4-744f-4c97-89f2-fcb5166a03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6d9ee9-d14a-41b6-85ce-5bd9a4947433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373712F-8FAF-4E78-8CC0-FB8B33919E5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A52CFD-E2CC-408D-A795-C9785E0931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0746e4-744f-4c97-89f2-fcb5166a034f"/>
    <ds:schemaRef ds:uri="dc6d9ee9-d14a-41b6-85ce-5bd9a494743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3F86441-E60D-4495-9820-50FFC7B27329}">
  <ds:schemaRefs>
    <ds:schemaRef ds:uri="dc6d9ee9-d14a-41b6-85ce-5bd9a4947433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5a0746e4-744f-4c97-89f2-fcb5166a034f"/>
    <ds:schemaRef ds:uri="http://schemas.microsoft.com/office/2006/metadata/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55216</TotalTime>
  <Words>4541</Words>
  <Application>Microsoft Office PowerPoint</Application>
  <PresentationFormat>Custom</PresentationFormat>
  <Paragraphs>933</Paragraphs>
  <Slides>78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78</vt:i4>
      </vt:variant>
    </vt:vector>
  </HeadingPairs>
  <TitlesOfParts>
    <vt:vector size="89" baseType="lpstr">
      <vt:lpstr>MS PGothic</vt:lpstr>
      <vt:lpstr>Arial</vt:lpstr>
      <vt:lpstr>Arial Unicode MS</vt:lpstr>
      <vt:lpstr>Calibri</vt:lpstr>
      <vt:lpstr>Calibri Light</vt:lpstr>
      <vt:lpstr>Fujitsu Sans</vt:lpstr>
      <vt:lpstr>Fujitsu Sans Medium</vt:lpstr>
      <vt:lpstr>Times New Roman</vt:lpstr>
      <vt:lpstr>Wingdings</vt:lpstr>
      <vt:lpstr>Master-16-9-Fujitsu Graphical Examples</vt:lpstr>
      <vt:lpstr>Cover Master</vt:lpstr>
      <vt:lpstr>PowerPoint Presentation</vt:lpstr>
      <vt:lpstr>Prerequisites and Ground Rules</vt:lpstr>
      <vt:lpstr>Welcome to Virtual Training!</vt:lpstr>
      <vt:lpstr>Course Objectives</vt:lpstr>
      <vt:lpstr>Agenda</vt:lpstr>
      <vt:lpstr>1</vt:lpstr>
      <vt:lpstr>What is Accounts Payable (AP)?</vt:lpstr>
      <vt:lpstr>Accounts Payable in SAP</vt:lpstr>
      <vt:lpstr>Accounts Payable Process Flow</vt:lpstr>
      <vt:lpstr>What’s In It For Me?</vt:lpstr>
      <vt:lpstr>New Terms</vt:lpstr>
      <vt:lpstr>Unit 1, # 1</vt:lpstr>
      <vt:lpstr>Unit 1, # 1</vt:lpstr>
      <vt:lpstr>Summary – Unit </vt:lpstr>
      <vt:lpstr>PowerPoint Presentation</vt:lpstr>
      <vt:lpstr>Agenda</vt:lpstr>
      <vt:lpstr>2</vt:lpstr>
      <vt:lpstr>Entering a Vendor Credit Memo</vt:lpstr>
      <vt:lpstr>Enter Credit Memo</vt:lpstr>
      <vt:lpstr>Enter a Credit Memo – Process Flowchart</vt:lpstr>
      <vt:lpstr>Demo 2.1: Enter a Credit Memo </vt:lpstr>
      <vt:lpstr>Exercise 2.2: Enter a Credit Memo</vt:lpstr>
      <vt:lpstr>Clear a Vendor Account</vt:lpstr>
      <vt:lpstr>Demo 2.3: Clear a Vendor Account </vt:lpstr>
      <vt:lpstr>Exercise 2.4: Clear a Vendor Account</vt:lpstr>
      <vt:lpstr>Post with Clearing</vt:lpstr>
      <vt:lpstr>Demo 2.5: Initiate a Posting with Clearing</vt:lpstr>
      <vt:lpstr>Exercise 2.5: Initiate a Posting with Clearing</vt:lpstr>
      <vt:lpstr>Future Payment/Invoice Upload Options</vt:lpstr>
      <vt:lpstr>Future Payment/Invoice Upload Options (Cont.)</vt:lpstr>
      <vt:lpstr>Unit 2, # 1</vt:lpstr>
      <vt:lpstr>Unit 2, # 1</vt:lpstr>
      <vt:lpstr>2</vt:lpstr>
      <vt:lpstr>Time for a Break!</vt:lpstr>
      <vt:lpstr>PowerPoint Presentation</vt:lpstr>
      <vt:lpstr>Agenda</vt:lpstr>
      <vt:lpstr>3</vt:lpstr>
      <vt:lpstr>Entering Invoice Data</vt:lpstr>
      <vt:lpstr>Invoice Entry (2-Way Match) Process Flow</vt:lpstr>
      <vt:lpstr>Invoice Entry (Non-PO Match) Process Flow</vt:lpstr>
      <vt:lpstr>Demo 3.6: Enter Invoice Data</vt:lpstr>
      <vt:lpstr>Exercise 3.6: Enter Invoice Data</vt:lpstr>
      <vt:lpstr>Post an Invoice</vt:lpstr>
      <vt:lpstr>Managing BeeLine/Flextrack Invoices</vt:lpstr>
      <vt:lpstr>Processing an Automatic Payment Transaction</vt:lpstr>
      <vt:lpstr>Initiating Automatic Payments Transaction</vt:lpstr>
      <vt:lpstr>Demo 3.7: Initiate Automatic Payment Transaction</vt:lpstr>
      <vt:lpstr>Exercise 3.7: Initiate Automatic Payment Transaction</vt:lpstr>
      <vt:lpstr>Non-Purchase Order Invoice</vt:lpstr>
      <vt:lpstr>Entering a Non-PO Related Invoice</vt:lpstr>
      <vt:lpstr>Demo 3.8: Enter a Non-PO Invoice</vt:lpstr>
      <vt:lpstr>Exercise 3.8: Enter a Non-PO Invoice</vt:lpstr>
      <vt:lpstr>Parking Invoices – REPLACE WITH BLOCKING</vt:lpstr>
      <vt:lpstr>Demo 3.9: Park an Invoice</vt:lpstr>
      <vt:lpstr>Exercise 3.9: Park an Invoice</vt:lpstr>
      <vt:lpstr>Unit 3, # 1</vt:lpstr>
      <vt:lpstr>Unit 3, # 1</vt:lpstr>
      <vt:lpstr>3</vt:lpstr>
      <vt:lpstr>Time for a Break!</vt:lpstr>
      <vt:lpstr>PowerPoint Presentation</vt:lpstr>
      <vt:lpstr>Agenda</vt:lpstr>
      <vt:lpstr>4</vt:lpstr>
      <vt:lpstr>Creating Vendor Master Data</vt:lpstr>
      <vt:lpstr>Vendor Master Process Flow</vt:lpstr>
      <vt:lpstr>Vendor Master – General Information</vt:lpstr>
      <vt:lpstr>Demo 4.10: Create a Vendor Account</vt:lpstr>
      <vt:lpstr>Exercise 4.10: Create a Vendor Account</vt:lpstr>
      <vt:lpstr>Unit 4, # 1</vt:lpstr>
      <vt:lpstr>Unit 4, # 1</vt:lpstr>
      <vt:lpstr>4</vt:lpstr>
      <vt:lpstr>PowerPoint Presentation</vt:lpstr>
      <vt:lpstr>Agenda</vt:lpstr>
      <vt:lpstr>Course Key Points</vt:lpstr>
      <vt:lpstr>Course Key Points (Cont.)</vt:lpstr>
      <vt:lpstr>Course Summary</vt:lpstr>
      <vt:lpstr>Next Steps</vt:lpstr>
      <vt:lpstr>Before You Leave…</vt:lpstr>
      <vt:lpstr>Congratulations!</vt:lpstr>
    </vt:vector>
  </TitlesOfParts>
  <Company>New York State - Office of General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 Conti</dc:creator>
  <cp:lastModifiedBy>Deloatch, Eugene</cp:lastModifiedBy>
  <cp:revision>1847</cp:revision>
  <cp:lastPrinted>2017-08-16T19:16:43Z</cp:lastPrinted>
  <dcterms:created xsi:type="dcterms:W3CDTF">2014-12-09T18:34:34Z</dcterms:created>
  <dcterms:modified xsi:type="dcterms:W3CDTF">2021-06-22T17:51:24Z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0x010100516E97D27D404C43B460E8F3C4B9BE0C</vt:lpwstr>
  </property>
</Properties>
</file>