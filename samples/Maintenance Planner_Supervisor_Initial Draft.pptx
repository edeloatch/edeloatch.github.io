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6" r:id="rId4"/>
    <p:sldMasterId id="2147484155" r:id="rId5"/>
    <p:sldMasterId id="2147484157" r:id="rId6"/>
  </p:sldMasterIdLst>
  <p:notesMasterIdLst>
    <p:notesMasterId r:id="rId135"/>
  </p:notesMasterIdLst>
  <p:sldIdLst>
    <p:sldId id="716" r:id="rId7"/>
    <p:sldId id="615" r:id="rId8"/>
    <p:sldId id="616" r:id="rId9"/>
    <p:sldId id="618" r:id="rId10"/>
    <p:sldId id="619" r:id="rId11"/>
    <p:sldId id="753" r:id="rId12"/>
    <p:sldId id="718" r:id="rId13"/>
    <p:sldId id="945" r:id="rId14"/>
    <p:sldId id="946" r:id="rId15"/>
    <p:sldId id="947" r:id="rId16"/>
    <p:sldId id="948" r:id="rId17"/>
    <p:sldId id="949" r:id="rId18"/>
    <p:sldId id="950" r:id="rId19"/>
    <p:sldId id="951" r:id="rId20"/>
    <p:sldId id="719" r:id="rId21"/>
    <p:sldId id="721" r:id="rId22"/>
    <p:sldId id="832" r:id="rId23"/>
    <p:sldId id="831" r:id="rId24"/>
    <p:sldId id="824" r:id="rId25"/>
    <p:sldId id="849" r:id="rId26"/>
    <p:sldId id="738" r:id="rId27"/>
    <p:sldId id="739" r:id="rId28"/>
    <p:sldId id="740" r:id="rId29"/>
    <p:sldId id="746" r:id="rId30"/>
    <p:sldId id="964" r:id="rId31"/>
    <p:sldId id="815" r:id="rId32"/>
    <p:sldId id="803" r:id="rId33"/>
    <p:sldId id="804" r:id="rId34"/>
    <p:sldId id="859" r:id="rId35"/>
    <p:sldId id="816" r:id="rId36"/>
    <p:sldId id="963" r:id="rId37"/>
    <p:sldId id="867" r:id="rId38"/>
    <p:sldId id="817" r:id="rId39"/>
    <p:sldId id="813" r:id="rId40"/>
    <p:sldId id="814" r:id="rId41"/>
    <p:sldId id="743" r:id="rId42"/>
    <p:sldId id="744" r:id="rId43"/>
    <p:sldId id="745" r:id="rId44"/>
    <p:sldId id="965" r:id="rId45"/>
    <p:sldId id="747" r:id="rId46"/>
    <p:sldId id="852" r:id="rId47"/>
    <p:sldId id="823" r:id="rId48"/>
    <p:sldId id="840" r:id="rId49"/>
    <p:sldId id="868" r:id="rId50"/>
    <p:sldId id="856" r:id="rId51"/>
    <p:sldId id="853" r:id="rId52"/>
    <p:sldId id="968" r:id="rId53"/>
    <p:sldId id="869" r:id="rId54"/>
    <p:sldId id="855" r:id="rId55"/>
    <p:sldId id="844" r:id="rId56"/>
    <p:sldId id="837" r:id="rId57"/>
    <p:sldId id="841" r:id="rId58"/>
    <p:sldId id="969" r:id="rId59"/>
    <p:sldId id="843" r:id="rId60"/>
    <p:sldId id="870" r:id="rId61"/>
    <p:sldId id="847" r:id="rId62"/>
    <p:sldId id="944" r:id="rId63"/>
    <p:sldId id="846" r:id="rId64"/>
    <p:sldId id="835" r:id="rId65"/>
    <p:sldId id="836" r:id="rId66"/>
    <p:sldId id="871" r:id="rId67"/>
    <p:sldId id="809" r:id="rId68"/>
    <p:sldId id="781" r:id="rId69"/>
    <p:sldId id="780" r:id="rId70"/>
    <p:sldId id="913" r:id="rId71"/>
    <p:sldId id="914" r:id="rId72"/>
    <p:sldId id="917" r:id="rId73"/>
    <p:sldId id="967" r:id="rId74"/>
    <p:sldId id="955" r:id="rId75"/>
    <p:sldId id="952" r:id="rId76"/>
    <p:sldId id="953" r:id="rId77"/>
    <p:sldId id="954" r:id="rId78"/>
    <p:sldId id="956" r:id="rId79"/>
    <p:sldId id="957" r:id="rId80"/>
    <p:sldId id="958" r:id="rId81"/>
    <p:sldId id="918" r:id="rId82"/>
    <p:sldId id="920" r:id="rId83"/>
    <p:sldId id="921" r:id="rId84"/>
    <p:sldId id="922" r:id="rId85"/>
    <p:sldId id="923" r:id="rId86"/>
    <p:sldId id="924" r:id="rId87"/>
    <p:sldId id="925" r:id="rId88"/>
    <p:sldId id="926" r:id="rId89"/>
    <p:sldId id="927" r:id="rId90"/>
    <p:sldId id="928" r:id="rId91"/>
    <p:sldId id="929" r:id="rId92"/>
    <p:sldId id="930" r:id="rId93"/>
    <p:sldId id="931" r:id="rId94"/>
    <p:sldId id="932" r:id="rId95"/>
    <p:sldId id="941" r:id="rId96"/>
    <p:sldId id="942" r:id="rId97"/>
    <p:sldId id="959" r:id="rId98"/>
    <p:sldId id="960" r:id="rId99"/>
    <p:sldId id="943" r:id="rId100"/>
    <p:sldId id="961" r:id="rId101"/>
    <p:sldId id="962" r:id="rId102"/>
    <p:sldId id="933" r:id="rId103"/>
    <p:sldId id="934" r:id="rId104"/>
    <p:sldId id="935" r:id="rId105"/>
    <p:sldId id="936" r:id="rId106"/>
    <p:sldId id="940" r:id="rId107"/>
    <p:sldId id="938" r:id="rId108"/>
    <p:sldId id="939" r:id="rId109"/>
    <p:sldId id="915" r:id="rId110"/>
    <p:sldId id="754" r:id="rId111"/>
    <p:sldId id="755" r:id="rId112"/>
    <p:sldId id="756" r:id="rId113"/>
    <p:sldId id="966" r:id="rId114"/>
    <p:sldId id="833" r:id="rId115"/>
    <p:sldId id="825" r:id="rId116"/>
    <p:sldId id="908" r:id="rId117"/>
    <p:sldId id="909" r:id="rId118"/>
    <p:sldId id="910" r:id="rId119"/>
    <p:sldId id="911" r:id="rId120"/>
    <p:sldId id="912" r:id="rId121"/>
    <p:sldId id="902" r:id="rId122"/>
    <p:sldId id="903" r:id="rId123"/>
    <p:sldId id="904" r:id="rId124"/>
    <p:sldId id="905" r:id="rId125"/>
    <p:sldId id="906" r:id="rId126"/>
    <p:sldId id="907" r:id="rId127"/>
    <p:sldId id="672" r:id="rId128"/>
    <p:sldId id="673" r:id="rId129"/>
    <p:sldId id="715" r:id="rId130"/>
    <p:sldId id="713" r:id="rId131"/>
    <p:sldId id="821" r:id="rId132"/>
    <p:sldId id="710" r:id="rId133"/>
    <p:sldId id="818" r:id="rId13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00000"/>
    <a:srgbClr val="00FFCC"/>
    <a:srgbClr val="CCFFCC"/>
    <a:srgbClr val="CCFFFF"/>
    <a:srgbClr val="CCECFF"/>
    <a:srgbClr val="666633"/>
    <a:srgbClr val="00CC00"/>
    <a:srgbClr val="7DD571"/>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12" autoAdjust="0"/>
    <p:restoredTop sz="85943" autoAdjust="0"/>
  </p:normalViewPr>
  <p:slideViewPr>
    <p:cSldViewPr>
      <p:cViewPr varScale="1">
        <p:scale>
          <a:sx n="60" d="100"/>
          <a:sy n="60" d="100"/>
        </p:scale>
        <p:origin x="1548"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936"/>
    </p:cViewPr>
  </p:sorterViewPr>
  <p:notesViewPr>
    <p:cSldViewPr>
      <p:cViewPr>
        <p:scale>
          <a:sx n="249" d="100"/>
          <a:sy n="249" d="100"/>
        </p:scale>
        <p:origin x="1788" y="226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38" Type="http://schemas.openxmlformats.org/officeDocument/2006/relationships/theme" Target="theme/theme1.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28" Type="http://schemas.openxmlformats.org/officeDocument/2006/relationships/slide" Target="slides/slide122.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slide" Target="slides/slide112.xml"/><Relationship Id="rId134" Type="http://schemas.openxmlformats.org/officeDocument/2006/relationships/slide" Target="slides/slide128.xml"/><Relationship Id="rId13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slide" Target="slides/slide97.xml"/><Relationship Id="rId108" Type="http://schemas.openxmlformats.org/officeDocument/2006/relationships/slide" Target="slides/slide102.xml"/><Relationship Id="rId116" Type="http://schemas.openxmlformats.org/officeDocument/2006/relationships/slide" Target="slides/slide110.xml"/><Relationship Id="rId124" Type="http://schemas.openxmlformats.org/officeDocument/2006/relationships/slide" Target="slides/slide118.xml"/><Relationship Id="rId129" Type="http://schemas.openxmlformats.org/officeDocument/2006/relationships/slide" Target="slides/slide123.xml"/><Relationship Id="rId13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11" Type="http://schemas.openxmlformats.org/officeDocument/2006/relationships/slide" Target="slides/slide105.xml"/><Relationship Id="rId132" Type="http://schemas.openxmlformats.org/officeDocument/2006/relationships/slide" Target="slides/slide126.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slide" Target="slides/slide100.xml"/><Relationship Id="rId114" Type="http://schemas.openxmlformats.org/officeDocument/2006/relationships/slide" Target="slides/slide108.xml"/><Relationship Id="rId119" Type="http://schemas.openxmlformats.org/officeDocument/2006/relationships/slide" Target="slides/slide113.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30" Type="http://schemas.openxmlformats.org/officeDocument/2006/relationships/slide" Target="slides/slide124.xml"/><Relationship Id="rId13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presProps" Target="presProp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smtClean="0"/>
            <a:t>Create Work Order</a:t>
          </a:r>
          <a:endParaRPr lang="en-US" dirty="0"/>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smtClean="0"/>
            <a:t>Plan &amp; Schedule Work Order</a:t>
          </a:r>
          <a:endParaRPr lang="en-US" dirty="0"/>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smtClean="0"/>
            <a:t>Execute Work Order</a:t>
          </a:r>
          <a:endParaRPr lang="en-US" dirty="0"/>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smtClean="0"/>
            <a:t>Settle and Close Work Order</a:t>
          </a:r>
          <a:endParaRPr lang="en-US" dirty="0"/>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dgm:t>
        <a:bodyPr/>
        <a:lstStyle/>
        <a:p>
          <a:r>
            <a:rPr lang="en-US" dirty="0" smtClean="0"/>
            <a:t>Notifications</a:t>
          </a:r>
          <a:endParaRPr lang="en-US" dirty="0"/>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t>
        <a:bodyPr/>
        <a:lstStyle/>
        <a:p>
          <a:endParaRPr lang="en-US"/>
        </a:p>
      </dgm:t>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t>
        <a:bodyPr/>
        <a:lstStyle/>
        <a:p>
          <a:endParaRPr lang="en-US"/>
        </a:p>
      </dgm:t>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t>
        <a:bodyPr/>
        <a:lstStyle/>
        <a:p>
          <a:endParaRPr lang="en-US"/>
        </a:p>
      </dgm:t>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t>
        <a:bodyPr/>
        <a:lstStyle/>
        <a:p>
          <a:endParaRPr lang="en-US"/>
        </a:p>
      </dgm:t>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t>
        <a:bodyPr/>
        <a:lstStyle/>
        <a:p>
          <a:endParaRPr lang="en-US"/>
        </a:p>
      </dgm:t>
    </dgm:pt>
  </dgm:ptLst>
  <dgm:cxnLst>
    <dgm:cxn modelId="{6EA203CB-410F-4DE5-AA47-7A75DAB200D2}" type="presOf" srcId="{C4F43776-9781-4E15-84BC-087EC7475FF8}" destId="{C29D3575-F59F-42F7-BFD1-7C247985AEFC}" srcOrd="0" destOrd="0" presId="urn:microsoft.com/office/officeart/2005/8/layout/hProcess9"/>
    <dgm:cxn modelId="{F2DADC61-A73D-4FB1-ABFB-8A67B4F64A3F}" type="presOf" srcId="{00A287AA-ABFA-44D7-95B0-59F58EF5D869}" destId="{D5FD1BFE-E7A3-4EB8-B8F0-232D031387E3}"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2AC9D86F-C5BB-4B40-AAA8-E70428667720}" type="presOf" srcId="{75CC0013-4CEF-4544-9C5A-5D1A0F133113}" destId="{59B4525B-7327-4F09-A2B6-D84D0896C8A1}"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5596AC64-F9FC-4E43-AA36-06DB43C406BB}" type="presOf" srcId="{EDAACF7C-6E2A-476F-8E20-CADC094D5D28}" destId="{741E6F06-B35B-4E29-B1E7-86C3A9A2C564}" srcOrd="0" destOrd="0" presId="urn:microsoft.com/office/officeart/2005/8/layout/hProcess9"/>
    <dgm:cxn modelId="{583FCA92-82F5-43D1-9C18-290736A9BA71}" type="presOf" srcId="{7BD13AFC-9D68-436D-9326-64166B2AA8F0}" destId="{03663D1E-A6C3-47E2-9072-ACD344359913}"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4913C879-A5AC-4696-BCCA-311571B778B6}" type="presOf" srcId="{3491930E-230F-4BDC-83EF-43107ED77BC7}" destId="{6F25E48F-35F2-47CE-BD42-A070F33DF86E}"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FD77B68D-FA36-4DDA-8E3A-AB65D196E0A4}" srcId="{3491930E-230F-4BDC-83EF-43107ED77BC7}" destId="{7BD13AFC-9D68-436D-9326-64166B2AA8F0}" srcOrd="0" destOrd="0" parTransId="{96B37AAC-F588-4E5E-B3AA-D64D9D1A597C}" sibTransId="{FAEB54FD-CDB9-4DFB-96BE-B496E6595754}"/>
    <dgm:cxn modelId="{9C1FA12B-9812-4F82-B234-193083A4F586}" type="presParOf" srcId="{6F25E48F-35F2-47CE-BD42-A070F33DF86E}" destId="{78974AED-65E2-43CA-8F15-9071F7B05B1A}" srcOrd="0" destOrd="0" presId="urn:microsoft.com/office/officeart/2005/8/layout/hProcess9"/>
    <dgm:cxn modelId="{2D88D7D2-5475-4894-B5F2-7A97DAD444E2}" type="presParOf" srcId="{6F25E48F-35F2-47CE-BD42-A070F33DF86E}" destId="{E9B90FA4-EAB9-45D5-990A-C23F7E0486E1}" srcOrd="1" destOrd="0" presId="urn:microsoft.com/office/officeart/2005/8/layout/hProcess9"/>
    <dgm:cxn modelId="{49A2302D-7B7A-4263-B75B-75380B3DD54C}" type="presParOf" srcId="{E9B90FA4-EAB9-45D5-990A-C23F7E0486E1}" destId="{03663D1E-A6C3-47E2-9072-ACD344359913}" srcOrd="0" destOrd="0" presId="urn:microsoft.com/office/officeart/2005/8/layout/hProcess9"/>
    <dgm:cxn modelId="{1734A890-08FC-44DD-8BF8-D0B3F82C5EA8}" type="presParOf" srcId="{E9B90FA4-EAB9-45D5-990A-C23F7E0486E1}" destId="{95B0547E-6C2E-42FB-BDF6-CC37FB7AFBFF}" srcOrd="1" destOrd="0" presId="urn:microsoft.com/office/officeart/2005/8/layout/hProcess9"/>
    <dgm:cxn modelId="{1030ACA8-94BD-41AA-9203-4A13728A58B0}" type="presParOf" srcId="{E9B90FA4-EAB9-45D5-990A-C23F7E0486E1}" destId="{D5FD1BFE-E7A3-4EB8-B8F0-232D031387E3}" srcOrd="2" destOrd="0" presId="urn:microsoft.com/office/officeart/2005/8/layout/hProcess9"/>
    <dgm:cxn modelId="{E26B5170-FE83-49E2-9826-2D6E4F17D8CA}" type="presParOf" srcId="{E9B90FA4-EAB9-45D5-990A-C23F7E0486E1}" destId="{3FC67D54-F441-42A8-9EAF-C38897162DCF}" srcOrd="3" destOrd="0" presId="urn:microsoft.com/office/officeart/2005/8/layout/hProcess9"/>
    <dgm:cxn modelId="{9F132564-CDA7-41A1-90F1-8535876BBC1B}" type="presParOf" srcId="{E9B90FA4-EAB9-45D5-990A-C23F7E0486E1}" destId="{741E6F06-B35B-4E29-B1E7-86C3A9A2C564}" srcOrd="4" destOrd="0" presId="urn:microsoft.com/office/officeart/2005/8/layout/hProcess9"/>
    <dgm:cxn modelId="{E1AE548D-DB97-4E0F-AB1D-6C0FAE25DA48}" type="presParOf" srcId="{E9B90FA4-EAB9-45D5-990A-C23F7E0486E1}" destId="{974B184A-8E54-46E0-887B-F29ABC8A29C2}" srcOrd="5" destOrd="0" presId="urn:microsoft.com/office/officeart/2005/8/layout/hProcess9"/>
    <dgm:cxn modelId="{D918E17E-5991-4843-BA81-478526FEC8D9}" type="presParOf" srcId="{E9B90FA4-EAB9-45D5-990A-C23F7E0486E1}" destId="{C29D3575-F59F-42F7-BFD1-7C247985AEFC}" srcOrd="6" destOrd="0" presId="urn:microsoft.com/office/officeart/2005/8/layout/hProcess9"/>
    <dgm:cxn modelId="{7344F64C-974B-47D2-AB57-515F1423A178}" type="presParOf" srcId="{E9B90FA4-EAB9-45D5-990A-C23F7E0486E1}" destId="{397017BD-7FBE-4DCF-A154-814A2C352B5F}" srcOrd="7" destOrd="0" presId="urn:microsoft.com/office/officeart/2005/8/layout/hProcess9"/>
    <dgm:cxn modelId="{011BC79B-5816-41C5-98EF-2D8E832AF075}"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BE2EE0-AA1E-46AF-9631-F352B718FFD3}" type="doc">
      <dgm:prSet loTypeId="urn:diagrams.loki3.com/VaryingWidthList+Icon" loCatId="list" qsTypeId="urn:microsoft.com/office/officeart/2005/8/quickstyle/simple1" qsCatId="simple" csTypeId="urn:microsoft.com/office/officeart/2005/8/colors/accent1_2" csCatId="accent1" phldr="1"/>
      <dgm:spPr/>
    </dgm:pt>
    <dgm:pt modelId="{7D3E23B9-CAF4-43AA-AB5F-301EF6C818E0}">
      <dgm:prSet phldrT="[Text]" custT="1"/>
      <dgm:spPr/>
      <dgm:t>
        <a:bodyPr/>
        <a:lstStyle/>
        <a:p>
          <a:r>
            <a:rPr lang="en-US" sz="1200" dirty="0" smtClean="0"/>
            <a:t>Corrective Maintenance</a:t>
          </a:r>
          <a:endParaRPr lang="en-US" sz="1200" dirty="0"/>
        </a:p>
      </dgm:t>
    </dgm:pt>
    <dgm:pt modelId="{5A9A4A8C-1FEB-4515-9D4B-1EC32D438F7C}" type="parTrans" cxnId="{8F159CCB-5873-49AE-B4F8-DB03D5E15923}">
      <dgm:prSet/>
      <dgm:spPr/>
      <dgm:t>
        <a:bodyPr/>
        <a:lstStyle/>
        <a:p>
          <a:endParaRPr lang="en-US"/>
        </a:p>
      </dgm:t>
    </dgm:pt>
    <dgm:pt modelId="{7798588F-BE96-42FE-BD0C-E23F6E48EC20}" type="sibTrans" cxnId="{8F159CCB-5873-49AE-B4F8-DB03D5E15923}">
      <dgm:prSet/>
      <dgm:spPr/>
      <dgm:t>
        <a:bodyPr/>
        <a:lstStyle/>
        <a:p>
          <a:endParaRPr lang="en-US"/>
        </a:p>
      </dgm:t>
    </dgm:pt>
    <dgm:pt modelId="{655ACF4F-05C4-41DE-9621-263B38151E91}">
      <dgm:prSet phldrT="[Text]" custT="1"/>
      <dgm:spPr/>
      <dgm:t>
        <a:bodyPr/>
        <a:lstStyle/>
        <a:p>
          <a:r>
            <a:rPr lang="en-US" sz="1200" dirty="0" smtClean="0"/>
            <a:t>Unplanned Corrective  Maintenance</a:t>
          </a:r>
          <a:endParaRPr lang="en-US" sz="1200" dirty="0"/>
        </a:p>
      </dgm:t>
    </dgm:pt>
    <dgm:pt modelId="{93F40337-35EC-4BEF-9551-C1E7C4E36DC6}" type="parTrans" cxnId="{B8CEA09E-EEC5-45E8-8F05-72810723FB80}">
      <dgm:prSet/>
      <dgm:spPr/>
      <dgm:t>
        <a:bodyPr/>
        <a:lstStyle/>
        <a:p>
          <a:endParaRPr lang="en-US"/>
        </a:p>
      </dgm:t>
    </dgm:pt>
    <dgm:pt modelId="{DAFFE704-84C4-48B1-93C8-CED0E812F365}" type="sibTrans" cxnId="{B8CEA09E-EEC5-45E8-8F05-72810723FB80}">
      <dgm:prSet/>
      <dgm:spPr/>
      <dgm:t>
        <a:bodyPr/>
        <a:lstStyle/>
        <a:p>
          <a:endParaRPr lang="en-US"/>
        </a:p>
      </dgm:t>
    </dgm:pt>
    <dgm:pt modelId="{9C05C903-6B9F-4433-B1CF-6434C8AB763F}">
      <dgm:prSet phldrT="[Text]" custT="1"/>
      <dgm:spPr/>
      <dgm:t>
        <a:bodyPr/>
        <a:lstStyle/>
        <a:p>
          <a:r>
            <a:rPr lang="en-US" sz="1200" dirty="0" smtClean="0"/>
            <a:t>Emergency Maintenance</a:t>
          </a:r>
          <a:endParaRPr lang="en-US" sz="1200" dirty="0"/>
        </a:p>
      </dgm:t>
    </dgm:pt>
    <dgm:pt modelId="{D4949122-053B-463A-98FC-783667E38763}" type="parTrans" cxnId="{295CAFEA-596B-4D6F-B560-005B4F7B2B3A}">
      <dgm:prSet/>
      <dgm:spPr/>
      <dgm:t>
        <a:bodyPr/>
        <a:lstStyle/>
        <a:p>
          <a:endParaRPr lang="en-US"/>
        </a:p>
      </dgm:t>
    </dgm:pt>
    <dgm:pt modelId="{6BD02970-AB2B-49A9-BD7E-2C1954D7685B}" type="sibTrans" cxnId="{295CAFEA-596B-4D6F-B560-005B4F7B2B3A}">
      <dgm:prSet/>
      <dgm:spPr/>
      <dgm:t>
        <a:bodyPr/>
        <a:lstStyle/>
        <a:p>
          <a:endParaRPr lang="en-US"/>
        </a:p>
      </dgm:t>
    </dgm:pt>
    <dgm:pt modelId="{3E3EEE5D-859B-4478-94BC-3A9F85738865}">
      <dgm:prSet custT="1"/>
      <dgm:spPr/>
      <dgm:t>
        <a:bodyPr/>
        <a:lstStyle/>
        <a:p>
          <a:r>
            <a:rPr lang="en-US" sz="1200" dirty="0" smtClean="0"/>
            <a:t>Preventative Maintenance</a:t>
          </a:r>
          <a:endParaRPr lang="en-US" sz="1200" dirty="0"/>
        </a:p>
      </dgm:t>
    </dgm:pt>
    <dgm:pt modelId="{B60AD859-F703-47F8-852C-F6A9FA39CAF7}" type="parTrans" cxnId="{4A24BF43-BF2A-4B61-9C1A-2FAE35362B71}">
      <dgm:prSet/>
      <dgm:spPr/>
      <dgm:t>
        <a:bodyPr/>
        <a:lstStyle/>
        <a:p>
          <a:endParaRPr lang="en-US"/>
        </a:p>
      </dgm:t>
    </dgm:pt>
    <dgm:pt modelId="{DA3CB93B-F696-4677-BC7F-6AFE3035A559}" type="sibTrans" cxnId="{4A24BF43-BF2A-4B61-9C1A-2FAE35362B71}">
      <dgm:prSet/>
      <dgm:spPr/>
      <dgm:t>
        <a:bodyPr/>
        <a:lstStyle/>
        <a:p>
          <a:endParaRPr lang="en-US"/>
        </a:p>
      </dgm:t>
    </dgm:pt>
    <dgm:pt modelId="{4A8EB3F5-6E4D-4C78-B09F-62A39D430B79}" type="pres">
      <dgm:prSet presAssocID="{34BE2EE0-AA1E-46AF-9631-F352B718FFD3}" presName="Name0" presStyleCnt="0">
        <dgm:presLayoutVars>
          <dgm:resizeHandles/>
        </dgm:presLayoutVars>
      </dgm:prSet>
      <dgm:spPr/>
    </dgm:pt>
    <dgm:pt modelId="{6A1B29CD-5889-4E4E-AF7E-6EF0D8A04AC0}" type="pres">
      <dgm:prSet presAssocID="{7D3E23B9-CAF4-43AA-AB5F-301EF6C818E0}" presName="text" presStyleLbl="node1" presStyleIdx="0" presStyleCnt="4" custScaleX="175168" custLinFactNeighborX="-2917">
        <dgm:presLayoutVars>
          <dgm:bulletEnabled val="1"/>
        </dgm:presLayoutVars>
      </dgm:prSet>
      <dgm:spPr/>
      <dgm:t>
        <a:bodyPr/>
        <a:lstStyle/>
        <a:p>
          <a:endParaRPr lang="en-US"/>
        </a:p>
      </dgm:t>
    </dgm:pt>
    <dgm:pt modelId="{8C28AD26-AC06-45E0-9770-5DF99FD3B4CA}" type="pres">
      <dgm:prSet presAssocID="{7798588F-BE96-42FE-BD0C-E23F6E48EC20}" presName="space" presStyleCnt="0"/>
      <dgm:spPr/>
    </dgm:pt>
    <dgm:pt modelId="{20445616-F93C-439F-A74C-F0A27423DA0A}" type="pres">
      <dgm:prSet presAssocID="{655ACF4F-05C4-41DE-9621-263B38151E91}" presName="text" presStyleLbl="node1" presStyleIdx="1" presStyleCnt="4" custScaleX="169333">
        <dgm:presLayoutVars>
          <dgm:bulletEnabled val="1"/>
        </dgm:presLayoutVars>
      </dgm:prSet>
      <dgm:spPr/>
      <dgm:t>
        <a:bodyPr/>
        <a:lstStyle/>
        <a:p>
          <a:endParaRPr lang="en-US"/>
        </a:p>
      </dgm:t>
    </dgm:pt>
    <dgm:pt modelId="{5B76DA76-658C-4032-B8EF-6906F7CE2609}" type="pres">
      <dgm:prSet presAssocID="{DAFFE704-84C4-48B1-93C8-CED0E812F365}" presName="space" presStyleCnt="0"/>
      <dgm:spPr/>
    </dgm:pt>
    <dgm:pt modelId="{1FF5541A-B501-4867-B68D-28C32734D539}" type="pres">
      <dgm:prSet presAssocID="{9C05C903-6B9F-4433-B1CF-6434C8AB763F}" presName="text" presStyleLbl="node1" presStyleIdx="2" presStyleCnt="4" custScaleX="169333">
        <dgm:presLayoutVars>
          <dgm:bulletEnabled val="1"/>
        </dgm:presLayoutVars>
      </dgm:prSet>
      <dgm:spPr/>
      <dgm:t>
        <a:bodyPr/>
        <a:lstStyle/>
        <a:p>
          <a:endParaRPr lang="en-US"/>
        </a:p>
      </dgm:t>
    </dgm:pt>
    <dgm:pt modelId="{1004656B-1585-442C-AD82-6CC12F6860A8}" type="pres">
      <dgm:prSet presAssocID="{6BD02970-AB2B-49A9-BD7E-2C1954D7685B}" presName="space" presStyleCnt="0"/>
      <dgm:spPr/>
    </dgm:pt>
    <dgm:pt modelId="{335D082B-89ED-4B9D-BE7B-6387901828C3}" type="pres">
      <dgm:prSet presAssocID="{3E3EEE5D-859B-4478-94BC-3A9F85738865}" presName="text" presStyleLbl="node1" presStyleIdx="3" presStyleCnt="4" custScaleX="145143" custLinFactNeighborY="4161">
        <dgm:presLayoutVars>
          <dgm:bulletEnabled val="1"/>
        </dgm:presLayoutVars>
      </dgm:prSet>
      <dgm:spPr/>
      <dgm:t>
        <a:bodyPr/>
        <a:lstStyle/>
        <a:p>
          <a:endParaRPr lang="en-US"/>
        </a:p>
      </dgm:t>
    </dgm:pt>
  </dgm:ptLst>
  <dgm:cxnLst>
    <dgm:cxn modelId="{17454789-AB4D-4FE2-B65B-6C4FE13F61E9}" type="presOf" srcId="{34BE2EE0-AA1E-46AF-9631-F352B718FFD3}" destId="{4A8EB3F5-6E4D-4C78-B09F-62A39D430B79}" srcOrd="0" destOrd="0" presId="urn:diagrams.loki3.com/VaryingWidthList+Icon"/>
    <dgm:cxn modelId="{E678E008-0397-4389-B44F-54C3DFD7419C}" type="presOf" srcId="{3E3EEE5D-859B-4478-94BC-3A9F85738865}" destId="{335D082B-89ED-4B9D-BE7B-6387901828C3}" srcOrd="0" destOrd="0" presId="urn:diagrams.loki3.com/VaryingWidthList+Icon"/>
    <dgm:cxn modelId="{B8CEA09E-EEC5-45E8-8F05-72810723FB80}" srcId="{34BE2EE0-AA1E-46AF-9631-F352B718FFD3}" destId="{655ACF4F-05C4-41DE-9621-263B38151E91}" srcOrd="1" destOrd="0" parTransId="{93F40337-35EC-4BEF-9551-C1E7C4E36DC6}" sibTransId="{DAFFE704-84C4-48B1-93C8-CED0E812F365}"/>
    <dgm:cxn modelId="{DB658E5B-721D-44F4-B994-A7F983E34669}" type="presOf" srcId="{7D3E23B9-CAF4-43AA-AB5F-301EF6C818E0}" destId="{6A1B29CD-5889-4E4E-AF7E-6EF0D8A04AC0}" srcOrd="0" destOrd="0" presId="urn:diagrams.loki3.com/VaryingWidthList+Icon"/>
    <dgm:cxn modelId="{6C5B37E6-B023-472F-9A8B-9600F2189730}" type="presOf" srcId="{9C05C903-6B9F-4433-B1CF-6434C8AB763F}" destId="{1FF5541A-B501-4867-B68D-28C32734D539}" srcOrd="0" destOrd="0" presId="urn:diagrams.loki3.com/VaryingWidthList+Icon"/>
    <dgm:cxn modelId="{295CAFEA-596B-4D6F-B560-005B4F7B2B3A}" srcId="{34BE2EE0-AA1E-46AF-9631-F352B718FFD3}" destId="{9C05C903-6B9F-4433-B1CF-6434C8AB763F}" srcOrd="2" destOrd="0" parTransId="{D4949122-053B-463A-98FC-783667E38763}" sibTransId="{6BD02970-AB2B-49A9-BD7E-2C1954D7685B}"/>
    <dgm:cxn modelId="{4A24BF43-BF2A-4B61-9C1A-2FAE35362B71}" srcId="{34BE2EE0-AA1E-46AF-9631-F352B718FFD3}" destId="{3E3EEE5D-859B-4478-94BC-3A9F85738865}" srcOrd="3" destOrd="0" parTransId="{B60AD859-F703-47F8-852C-F6A9FA39CAF7}" sibTransId="{DA3CB93B-F696-4677-BC7F-6AFE3035A559}"/>
    <dgm:cxn modelId="{D802A40A-21EC-4F46-A61E-6A519264F743}" type="presOf" srcId="{655ACF4F-05C4-41DE-9621-263B38151E91}" destId="{20445616-F93C-439F-A74C-F0A27423DA0A}" srcOrd="0" destOrd="0" presId="urn:diagrams.loki3.com/VaryingWidthList+Icon"/>
    <dgm:cxn modelId="{8F159CCB-5873-49AE-B4F8-DB03D5E15923}" srcId="{34BE2EE0-AA1E-46AF-9631-F352B718FFD3}" destId="{7D3E23B9-CAF4-43AA-AB5F-301EF6C818E0}" srcOrd="0" destOrd="0" parTransId="{5A9A4A8C-1FEB-4515-9D4B-1EC32D438F7C}" sibTransId="{7798588F-BE96-42FE-BD0C-E23F6E48EC20}"/>
    <dgm:cxn modelId="{FABE128C-E1C7-4F7E-9636-90F06A67BDDD}" type="presParOf" srcId="{4A8EB3F5-6E4D-4C78-B09F-62A39D430B79}" destId="{6A1B29CD-5889-4E4E-AF7E-6EF0D8A04AC0}" srcOrd="0" destOrd="0" presId="urn:diagrams.loki3.com/VaryingWidthList+Icon"/>
    <dgm:cxn modelId="{9CF828B6-9659-4BE3-A726-2972FC891D3A}" type="presParOf" srcId="{4A8EB3F5-6E4D-4C78-B09F-62A39D430B79}" destId="{8C28AD26-AC06-45E0-9770-5DF99FD3B4CA}" srcOrd="1" destOrd="0" presId="urn:diagrams.loki3.com/VaryingWidthList+Icon"/>
    <dgm:cxn modelId="{F8278BBD-E5A2-4E60-9A0D-855558C53C6D}" type="presParOf" srcId="{4A8EB3F5-6E4D-4C78-B09F-62A39D430B79}" destId="{20445616-F93C-439F-A74C-F0A27423DA0A}" srcOrd="2" destOrd="0" presId="urn:diagrams.loki3.com/VaryingWidthList+Icon"/>
    <dgm:cxn modelId="{7A9F38DD-2E5B-4CE2-BD49-CB9E10F2CA0C}" type="presParOf" srcId="{4A8EB3F5-6E4D-4C78-B09F-62A39D430B79}" destId="{5B76DA76-658C-4032-B8EF-6906F7CE2609}" srcOrd="3" destOrd="0" presId="urn:diagrams.loki3.com/VaryingWidthList+Icon"/>
    <dgm:cxn modelId="{C0ABC894-BAE6-4390-A483-A0D4138E8E16}" type="presParOf" srcId="{4A8EB3F5-6E4D-4C78-B09F-62A39D430B79}" destId="{1FF5541A-B501-4867-B68D-28C32734D539}" srcOrd="4" destOrd="0" presId="urn:diagrams.loki3.com/VaryingWidthList+Icon"/>
    <dgm:cxn modelId="{49C61745-8D92-4FB3-81A0-EC3F90F6B3A4}" type="presParOf" srcId="{4A8EB3F5-6E4D-4C78-B09F-62A39D430B79}" destId="{1004656B-1585-442C-AD82-6CC12F6860A8}" srcOrd="5" destOrd="0" presId="urn:diagrams.loki3.com/VaryingWidthList+Icon"/>
    <dgm:cxn modelId="{F02F6E04-D084-400E-BD9F-170818D62BA9}" type="presParOf" srcId="{4A8EB3F5-6E4D-4C78-B09F-62A39D430B79}" destId="{335D082B-89ED-4B9D-BE7B-6387901828C3}" srcOrd="6" destOrd="0" presId="urn:diagrams.loki3.com/VaryingWidthList+Icon"/>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BE2EE0-AA1E-46AF-9631-F352B718FFD3}" type="doc">
      <dgm:prSet loTypeId="urn:diagrams.loki3.com/VaryingWidthList+Icon" loCatId="list" qsTypeId="urn:microsoft.com/office/officeart/2005/8/quickstyle/simple1" qsCatId="simple" csTypeId="urn:microsoft.com/office/officeart/2005/8/colors/accent1_2" csCatId="accent1" phldr="1"/>
      <dgm:spPr/>
    </dgm:pt>
    <dgm:pt modelId="{7D3E23B9-CAF4-43AA-AB5F-301EF6C818E0}">
      <dgm:prSet phldrT="[Text]" custT="1"/>
      <dgm:spPr/>
      <dgm:t>
        <a:bodyPr/>
        <a:lstStyle/>
        <a:p>
          <a:r>
            <a:rPr lang="en-US" sz="1200" dirty="0" smtClean="0"/>
            <a:t>Corrective Maintenance</a:t>
          </a:r>
          <a:endParaRPr lang="en-US" sz="1200" dirty="0"/>
        </a:p>
      </dgm:t>
    </dgm:pt>
    <dgm:pt modelId="{5A9A4A8C-1FEB-4515-9D4B-1EC32D438F7C}" type="parTrans" cxnId="{8F159CCB-5873-49AE-B4F8-DB03D5E15923}">
      <dgm:prSet/>
      <dgm:spPr/>
      <dgm:t>
        <a:bodyPr/>
        <a:lstStyle/>
        <a:p>
          <a:endParaRPr lang="en-US"/>
        </a:p>
      </dgm:t>
    </dgm:pt>
    <dgm:pt modelId="{7798588F-BE96-42FE-BD0C-E23F6E48EC20}" type="sibTrans" cxnId="{8F159CCB-5873-49AE-B4F8-DB03D5E15923}">
      <dgm:prSet/>
      <dgm:spPr/>
      <dgm:t>
        <a:bodyPr/>
        <a:lstStyle/>
        <a:p>
          <a:endParaRPr lang="en-US"/>
        </a:p>
      </dgm:t>
    </dgm:pt>
    <dgm:pt modelId="{655ACF4F-05C4-41DE-9621-263B38151E91}">
      <dgm:prSet phldrT="[Text]" custT="1"/>
      <dgm:spPr/>
      <dgm:t>
        <a:bodyPr/>
        <a:lstStyle/>
        <a:p>
          <a:r>
            <a:rPr lang="en-US" sz="1200" dirty="0" smtClean="0"/>
            <a:t>Unplanned Corrective  Maintenance</a:t>
          </a:r>
          <a:endParaRPr lang="en-US" sz="1200" dirty="0"/>
        </a:p>
      </dgm:t>
    </dgm:pt>
    <dgm:pt modelId="{93F40337-35EC-4BEF-9551-C1E7C4E36DC6}" type="parTrans" cxnId="{B8CEA09E-EEC5-45E8-8F05-72810723FB80}">
      <dgm:prSet/>
      <dgm:spPr/>
      <dgm:t>
        <a:bodyPr/>
        <a:lstStyle/>
        <a:p>
          <a:endParaRPr lang="en-US"/>
        </a:p>
      </dgm:t>
    </dgm:pt>
    <dgm:pt modelId="{DAFFE704-84C4-48B1-93C8-CED0E812F365}" type="sibTrans" cxnId="{B8CEA09E-EEC5-45E8-8F05-72810723FB80}">
      <dgm:prSet/>
      <dgm:spPr/>
      <dgm:t>
        <a:bodyPr/>
        <a:lstStyle/>
        <a:p>
          <a:endParaRPr lang="en-US"/>
        </a:p>
      </dgm:t>
    </dgm:pt>
    <dgm:pt modelId="{9C05C903-6B9F-4433-B1CF-6434C8AB763F}">
      <dgm:prSet phldrT="[Text]" custT="1"/>
      <dgm:spPr/>
      <dgm:t>
        <a:bodyPr/>
        <a:lstStyle/>
        <a:p>
          <a:r>
            <a:rPr lang="en-US" sz="1200" dirty="0" smtClean="0"/>
            <a:t>Emergency Maintenance</a:t>
          </a:r>
          <a:endParaRPr lang="en-US" sz="1200" dirty="0"/>
        </a:p>
      </dgm:t>
    </dgm:pt>
    <dgm:pt modelId="{D4949122-053B-463A-98FC-783667E38763}" type="parTrans" cxnId="{295CAFEA-596B-4D6F-B560-005B4F7B2B3A}">
      <dgm:prSet/>
      <dgm:spPr/>
      <dgm:t>
        <a:bodyPr/>
        <a:lstStyle/>
        <a:p>
          <a:endParaRPr lang="en-US"/>
        </a:p>
      </dgm:t>
    </dgm:pt>
    <dgm:pt modelId="{6BD02970-AB2B-49A9-BD7E-2C1954D7685B}" type="sibTrans" cxnId="{295CAFEA-596B-4D6F-B560-005B4F7B2B3A}">
      <dgm:prSet/>
      <dgm:spPr/>
      <dgm:t>
        <a:bodyPr/>
        <a:lstStyle/>
        <a:p>
          <a:endParaRPr lang="en-US"/>
        </a:p>
      </dgm:t>
    </dgm:pt>
    <dgm:pt modelId="{3E3EEE5D-859B-4478-94BC-3A9F85738865}">
      <dgm:prSet custT="1"/>
      <dgm:spPr/>
      <dgm:t>
        <a:bodyPr/>
        <a:lstStyle/>
        <a:p>
          <a:r>
            <a:rPr lang="en-US" sz="1200" dirty="0" smtClean="0"/>
            <a:t>Preventative Maintenance</a:t>
          </a:r>
          <a:endParaRPr lang="en-US" sz="1200" dirty="0"/>
        </a:p>
      </dgm:t>
    </dgm:pt>
    <dgm:pt modelId="{B60AD859-F703-47F8-852C-F6A9FA39CAF7}" type="parTrans" cxnId="{4A24BF43-BF2A-4B61-9C1A-2FAE35362B71}">
      <dgm:prSet/>
      <dgm:spPr/>
      <dgm:t>
        <a:bodyPr/>
        <a:lstStyle/>
        <a:p>
          <a:endParaRPr lang="en-US"/>
        </a:p>
      </dgm:t>
    </dgm:pt>
    <dgm:pt modelId="{DA3CB93B-F696-4677-BC7F-6AFE3035A559}" type="sibTrans" cxnId="{4A24BF43-BF2A-4B61-9C1A-2FAE35362B71}">
      <dgm:prSet/>
      <dgm:spPr/>
      <dgm:t>
        <a:bodyPr/>
        <a:lstStyle/>
        <a:p>
          <a:endParaRPr lang="en-US"/>
        </a:p>
      </dgm:t>
    </dgm:pt>
    <dgm:pt modelId="{4A8EB3F5-6E4D-4C78-B09F-62A39D430B79}" type="pres">
      <dgm:prSet presAssocID="{34BE2EE0-AA1E-46AF-9631-F352B718FFD3}" presName="Name0" presStyleCnt="0">
        <dgm:presLayoutVars>
          <dgm:resizeHandles/>
        </dgm:presLayoutVars>
      </dgm:prSet>
      <dgm:spPr/>
    </dgm:pt>
    <dgm:pt modelId="{6A1B29CD-5889-4E4E-AF7E-6EF0D8A04AC0}" type="pres">
      <dgm:prSet presAssocID="{7D3E23B9-CAF4-43AA-AB5F-301EF6C818E0}" presName="text" presStyleLbl="node1" presStyleIdx="0" presStyleCnt="4" custScaleX="175168" custLinFactNeighborX="-2917">
        <dgm:presLayoutVars>
          <dgm:bulletEnabled val="1"/>
        </dgm:presLayoutVars>
      </dgm:prSet>
      <dgm:spPr/>
      <dgm:t>
        <a:bodyPr/>
        <a:lstStyle/>
        <a:p>
          <a:endParaRPr lang="en-US"/>
        </a:p>
      </dgm:t>
    </dgm:pt>
    <dgm:pt modelId="{8C28AD26-AC06-45E0-9770-5DF99FD3B4CA}" type="pres">
      <dgm:prSet presAssocID="{7798588F-BE96-42FE-BD0C-E23F6E48EC20}" presName="space" presStyleCnt="0"/>
      <dgm:spPr/>
    </dgm:pt>
    <dgm:pt modelId="{20445616-F93C-439F-A74C-F0A27423DA0A}" type="pres">
      <dgm:prSet presAssocID="{655ACF4F-05C4-41DE-9621-263B38151E91}" presName="text" presStyleLbl="node1" presStyleIdx="1" presStyleCnt="4" custScaleX="169333">
        <dgm:presLayoutVars>
          <dgm:bulletEnabled val="1"/>
        </dgm:presLayoutVars>
      </dgm:prSet>
      <dgm:spPr/>
      <dgm:t>
        <a:bodyPr/>
        <a:lstStyle/>
        <a:p>
          <a:endParaRPr lang="en-US"/>
        </a:p>
      </dgm:t>
    </dgm:pt>
    <dgm:pt modelId="{5B76DA76-658C-4032-B8EF-6906F7CE2609}" type="pres">
      <dgm:prSet presAssocID="{DAFFE704-84C4-48B1-93C8-CED0E812F365}" presName="space" presStyleCnt="0"/>
      <dgm:spPr/>
    </dgm:pt>
    <dgm:pt modelId="{1FF5541A-B501-4867-B68D-28C32734D539}" type="pres">
      <dgm:prSet presAssocID="{9C05C903-6B9F-4433-B1CF-6434C8AB763F}" presName="text" presStyleLbl="node1" presStyleIdx="2" presStyleCnt="4" custScaleX="169333">
        <dgm:presLayoutVars>
          <dgm:bulletEnabled val="1"/>
        </dgm:presLayoutVars>
      </dgm:prSet>
      <dgm:spPr/>
      <dgm:t>
        <a:bodyPr/>
        <a:lstStyle/>
        <a:p>
          <a:endParaRPr lang="en-US"/>
        </a:p>
      </dgm:t>
    </dgm:pt>
    <dgm:pt modelId="{1004656B-1585-442C-AD82-6CC12F6860A8}" type="pres">
      <dgm:prSet presAssocID="{6BD02970-AB2B-49A9-BD7E-2C1954D7685B}" presName="space" presStyleCnt="0"/>
      <dgm:spPr/>
    </dgm:pt>
    <dgm:pt modelId="{335D082B-89ED-4B9D-BE7B-6387901828C3}" type="pres">
      <dgm:prSet presAssocID="{3E3EEE5D-859B-4478-94BC-3A9F85738865}" presName="text" presStyleLbl="node1" presStyleIdx="3" presStyleCnt="4" custScaleX="145143" custLinFactNeighborY="4161">
        <dgm:presLayoutVars>
          <dgm:bulletEnabled val="1"/>
        </dgm:presLayoutVars>
      </dgm:prSet>
      <dgm:spPr/>
      <dgm:t>
        <a:bodyPr/>
        <a:lstStyle/>
        <a:p>
          <a:endParaRPr lang="en-US"/>
        </a:p>
      </dgm:t>
    </dgm:pt>
  </dgm:ptLst>
  <dgm:cxnLst>
    <dgm:cxn modelId="{22E7B639-31D1-4B71-B759-DAC199E69681}" type="presOf" srcId="{7D3E23B9-CAF4-43AA-AB5F-301EF6C818E0}" destId="{6A1B29CD-5889-4E4E-AF7E-6EF0D8A04AC0}" srcOrd="0" destOrd="0" presId="urn:diagrams.loki3.com/VaryingWidthList+Icon"/>
    <dgm:cxn modelId="{6B397910-E0C2-4DEA-A9B5-C20AEF49762F}" type="presOf" srcId="{3E3EEE5D-859B-4478-94BC-3A9F85738865}" destId="{335D082B-89ED-4B9D-BE7B-6387901828C3}" srcOrd="0" destOrd="0" presId="urn:diagrams.loki3.com/VaryingWidthList+Icon"/>
    <dgm:cxn modelId="{B8CEA09E-EEC5-45E8-8F05-72810723FB80}" srcId="{34BE2EE0-AA1E-46AF-9631-F352B718FFD3}" destId="{655ACF4F-05C4-41DE-9621-263B38151E91}" srcOrd="1" destOrd="0" parTransId="{93F40337-35EC-4BEF-9551-C1E7C4E36DC6}" sibTransId="{DAFFE704-84C4-48B1-93C8-CED0E812F365}"/>
    <dgm:cxn modelId="{295CAFEA-596B-4D6F-B560-005B4F7B2B3A}" srcId="{34BE2EE0-AA1E-46AF-9631-F352B718FFD3}" destId="{9C05C903-6B9F-4433-B1CF-6434C8AB763F}" srcOrd="2" destOrd="0" parTransId="{D4949122-053B-463A-98FC-783667E38763}" sibTransId="{6BD02970-AB2B-49A9-BD7E-2C1954D7685B}"/>
    <dgm:cxn modelId="{4A24BF43-BF2A-4B61-9C1A-2FAE35362B71}" srcId="{34BE2EE0-AA1E-46AF-9631-F352B718FFD3}" destId="{3E3EEE5D-859B-4478-94BC-3A9F85738865}" srcOrd="3" destOrd="0" parTransId="{B60AD859-F703-47F8-852C-F6A9FA39CAF7}" sibTransId="{DA3CB93B-F696-4677-BC7F-6AFE3035A559}"/>
    <dgm:cxn modelId="{528E806D-F8A6-42F5-9316-20BE25EE79D7}" type="presOf" srcId="{9C05C903-6B9F-4433-B1CF-6434C8AB763F}" destId="{1FF5541A-B501-4867-B68D-28C32734D539}" srcOrd="0" destOrd="0" presId="urn:diagrams.loki3.com/VaryingWidthList+Icon"/>
    <dgm:cxn modelId="{8863ADF9-2FA7-4580-8401-9E3A82941E8D}" type="presOf" srcId="{34BE2EE0-AA1E-46AF-9631-F352B718FFD3}" destId="{4A8EB3F5-6E4D-4C78-B09F-62A39D430B79}" srcOrd="0" destOrd="0" presId="urn:diagrams.loki3.com/VaryingWidthList+Icon"/>
    <dgm:cxn modelId="{25B2C387-BFD5-4973-B31E-44EA82E4E976}" type="presOf" srcId="{655ACF4F-05C4-41DE-9621-263B38151E91}" destId="{20445616-F93C-439F-A74C-F0A27423DA0A}" srcOrd="0" destOrd="0" presId="urn:diagrams.loki3.com/VaryingWidthList+Icon"/>
    <dgm:cxn modelId="{8F159CCB-5873-49AE-B4F8-DB03D5E15923}" srcId="{34BE2EE0-AA1E-46AF-9631-F352B718FFD3}" destId="{7D3E23B9-CAF4-43AA-AB5F-301EF6C818E0}" srcOrd="0" destOrd="0" parTransId="{5A9A4A8C-1FEB-4515-9D4B-1EC32D438F7C}" sibTransId="{7798588F-BE96-42FE-BD0C-E23F6E48EC20}"/>
    <dgm:cxn modelId="{27460BA4-0609-4DAE-B12D-0E5097B230F2}" type="presParOf" srcId="{4A8EB3F5-6E4D-4C78-B09F-62A39D430B79}" destId="{6A1B29CD-5889-4E4E-AF7E-6EF0D8A04AC0}" srcOrd="0" destOrd="0" presId="urn:diagrams.loki3.com/VaryingWidthList+Icon"/>
    <dgm:cxn modelId="{E1D40594-D724-4BDF-A85D-3DA092E3DB88}" type="presParOf" srcId="{4A8EB3F5-6E4D-4C78-B09F-62A39D430B79}" destId="{8C28AD26-AC06-45E0-9770-5DF99FD3B4CA}" srcOrd="1" destOrd="0" presId="urn:diagrams.loki3.com/VaryingWidthList+Icon"/>
    <dgm:cxn modelId="{778A949C-5041-46BB-A464-908A2A5376F8}" type="presParOf" srcId="{4A8EB3F5-6E4D-4C78-B09F-62A39D430B79}" destId="{20445616-F93C-439F-A74C-F0A27423DA0A}" srcOrd="2" destOrd="0" presId="urn:diagrams.loki3.com/VaryingWidthList+Icon"/>
    <dgm:cxn modelId="{9197E2F0-F19A-4F98-8210-C2A8EB9D9B7D}" type="presParOf" srcId="{4A8EB3F5-6E4D-4C78-B09F-62A39D430B79}" destId="{5B76DA76-658C-4032-B8EF-6906F7CE2609}" srcOrd="3" destOrd="0" presId="urn:diagrams.loki3.com/VaryingWidthList+Icon"/>
    <dgm:cxn modelId="{ACB95A7A-2049-4B13-BA03-DA3D480B7110}" type="presParOf" srcId="{4A8EB3F5-6E4D-4C78-B09F-62A39D430B79}" destId="{1FF5541A-B501-4867-B68D-28C32734D539}" srcOrd="4" destOrd="0" presId="urn:diagrams.loki3.com/VaryingWidthList+Icon"/>
    <dgm:cxn modelId="{56681A30-248B-4084-98B4-A5678FBC7668}" type="presParOf" srcId="{4A8EB3F5-6E4D-4C78-B09F-62A39D430B79}" destId="{1004656B-1585-442C-AD82-6CC12F6860A8}" srcOrd="5" destOrd="0" presId="urn:diagrams.loki3.com/VaryingWidthList+Icon"/>
    <dgm:cxn modelId="{8CF9C7C2-1155-46FE-BC8E-37D2E189992B}" type="presParOf" srcId="{4A8EB3F5-6E4D-4C78-B09F-62A39D430B79}" destId="{335D082B-89ED-4B9D-BE7B-6387901828C3}" srcOrd="6" destOrd="0" presId="urn:diagrams.loki3.com/VaryingWidthLis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smtClean="0"/>
            <a:t>Create Work Order</a:t>
          </a:r>
          <a:endParaRPr lang="en-US" dirty="0"/>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smtClean="0"/>
            <a:t>Plan &amp; Schedule Work Order</a:t>
          </a:r>
          <a:endParaRPr lang="en-US" dirty="0"/>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smtClean="0"/>
            <a:t>Execute Work Order</a:t>
          </a:r>
          <a:endParaRPr lang="en-US" dirty="0"/>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smtClean="0"/>
            <a:t>Close and Settle Work Order</a:t>
          </a:r>
          <a:endParaRPr lang="en-US" dirty="0"/>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ln w="63500">
          <a:solidFill>
            <a:srgbClr val="FF0000"/>
          </a:solidFill>
        </a:ln>
      </dgm:spPr>
      <dgm:t>
        <a:bodyPr/>
        <a:lstStyle/>
        <a:p>
          <a:r>
            <a:rPr lang="en-US" dirty="0" smtClean="0"/>
            <a:t>Notifications</a:t>
          </a:r>
          <a:endParaRPr lang="en-US" dirty="0"/>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t>
        <a:bodyPr/>
        <a:lstStyle/>
        <a:p>
          <a:endParaRPr lang="en-US"/>
        </a:p>
      </dgm:t>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t>
        <a:bodyPr/>
        <a:lstStyle/>
        <a:p>
          <a:endParaRPr lang="en-US"/>
        </a:p>
      </dgm:t>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t>
        <a:bodyPr/>
        <a:lstStyle/>
        <a:p>
          <a:endParaRPr lang="en-US"/>
        </a:p>
      </dgm:t>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t>
        <a:bodyPr/>
        <a:lstStyle/>
        <a:p>
          <a:endParaRPr lang="en-US"/>
        </a:p>
      </dgm:t>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t>
        <a:bodyPr/>
        <a:lstStyle/>
        <a:p>
          <a:endParaRPr lang="en-US"/>
        </a:p>
      </dgm:t>
    </dgm:pt>
  </dgm:ptLst>
  <dgm:cxnLst>
    <dgm:cxn modelId="{68A97605-B52B-42A3-9FF0-617B5D73D86A}" type="presOf" srcId="{7BD13AFC-9D68-436D-9326-64166B2AA8F0}" destId="{03663D1E-A6C3-47E2-9072-ACD344359913}" srcOrd="0" destOrd="0" presId="urn:microsoft.com/office/officeart/2005/8/layout/hProcess9"/>
    <dgm:cxn modelId="{DCDBC1C4-FD9E-4928-912C-3194095789BA}" type="presOf" srcId="{C4F43776-9781-4E15-84BC-087EC7475FF8}" destId="{C29D3575-F59F-42F7-BFD1-7C247985AEFC}" srcOrd="0" destOrd="0" presId="urn:microsoft.com/office/officeart/2005/8/layout/hProcess9"/>
    <dgm:cxn modelId="{00DE6963-E48B-4BD1-92CA-C9AB300EB219}" type="presOf" srcId="{00A287AA-ABFA-44D7-95B0-59F58EF5D869}" destId="{D5FD1BFE-E7A3-4EB8-B8F0-232D031387E3}"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256F8E45-2D62-4789-875E-3F9F00D3C3D2}" srcId="{3491930E-230F-4BDC-83EF-43107ED77BC7}" destId="{75CC0013-4CEF-4544-9C5A-5D1A0F133113}" srcOrd="4" destOrd="0" parTransId="{751183EB-FCAD-4833-91F4-3168B1F119EC}" sibTransId="{1DABCF15-1C91-42C8-98EB-72E8A4E03716}"/>
    <dgm:cxn modelId="{E63833BF-602D-4ECD-BB3B-0B38A2A52155}" srcId="{3491930E-230F-4BDC-83EF-43107ED77BC7}" destId="{EDAACF7C-6E2A-476F-8E20-CADC094D5D28}" srcOrd="2" destOrd="0" parTransId="{194A6DDD-701B-47BD-A436-6D61B92194CA}" sibTransId="{78312653-78A9-4BB6-A5C7-6A75AD27813F}"/>
    <dgm:cxn modelId="{F02C9833-7E45-4F1A-A916-5BD03D001EAD}" type="presOf" srcId="{3491930E-230F-4BDC-83EF-43107ED77BC7}" destId="{6F25E48F-35F2-47CE-BD42-A070F33DF86E}" srcOrd="0" destOrd="0" presId="urn:microsoft.com/office/officeart/2005/8/layout/hProcess9"/>
    <dgm:cxn modelId="{1C1FC5B5-1999-467F-BDC6-D429C3172967}" type="presOf" srcId="{EDAACF7C-6E2A-476F-8E20-CADC094D5D28}" destId="{741E6F06-B35B-4E29-B1E7-86C3A9A2C564}" srcOrd="0" destOrd="0" presId="urn:microsoft.com/office/officeart/2005/8/layout/hProcess9"/>
    <dgm:cxn modelId="{54801CCE-3FF8-49EA-A1A0-A84E46219CED}" type="presOf" srcId="{75CC0013-4CEF-4544-9C5A-5D1A0F133113}" destId="{59B4525B-7327-4F09-A2B6-D84D0896C8A1}"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FD77B68D-FA36-4DDA-8E3A-AB65D196E0A4}" srcId="{3491930E-230F-4BDC-83EF-43107ED77BC7}" destId="{7BD13AFC-9D68-436D-9326-64166B2AA8F0}" srcOrd="0" destOrd="0" parTransId="{96B37AAC-F588-4E5E-B3AA-D64D9D1A597C}" sibTransId="{FAEB54FD-CDB9-4DFB-96BE-B496E6595754}"/>
    <dgm:cxn modelId="{C3D9EF9A-6041-425E-AA67-6B4DAFD22544}" type="presParOf" srcId="{6F25E48F-35F2-47CE-BD42-A070F33DF86E}" destId="{78974AED-65E2-43CA-8F15-9071F7B05B1A}" srcOrd="0" destOrd="0" presId="urn:microsoft.com/office/officeart/2005/8/layout/hProcess9"/>
    <dgm:cxn modelId="{7A4D9313-783A-4AE1-BC11-9DC5042A634A}" type="presParOf" srcId="{6F25E48F-35F2-47CE-BD42-A070F33DF86E}" destId="{E9B90FA4-EAB9-45D5-990A-C23F7E0486E1}" srcOrd="1" destOrd="0" presId="urn:microsoft.com/office/officeart/2005/8/layout/hProcess9"/>
    <dgm:cxn modelId="{2881AE5F-AD32-41BB-897C-24A088BA08D8}" type="presParOf" srcId="{E9B90FA4-EAB9-45D5-990A-C23F7E0486E1}" destId="{03663D1E-A6C3-47E2-9072-ACD344359913}" srcOrd="0" destOrd="0" presId="urn:microsoft.com/office/officeart/2005/8/layout/hProcess9"/>
    <dgm:cxn modelId="{E1588C5E-8551-4FF1-A927-73B03D8650FD}" type="presParOf" srcId="{E9B90FA4-EAB9-45D5-990A-C23F7E0486E1}" destId="{95B0547E-6C2E-42FB-BDF6-CC37FB7AFBFF}" srcOrd="1" destOrd="0" presId="urn:microsoft.com/office/officeart/2005/8/layout/hProcess9"/>
    <dgm:cxn modelId="{6B746D1B-9B86-4E7E-A9C0-678D12D3276E}" type="presParOf" srcId="{E9B90FA4-EAB9-45D5-990A-C23F7E0486E1}" destId="{D5FD1BFE-E7A3-4EB8-B8F0-232D031387E3}" srcOrd="2" destOrd="0" presId="urn:microsoft.com/office/officeart/2005/8/layout/hProcess9"/>
    <dgm:cxn modelId="{F77EDA34-A199-40FE-A8E6-DE79ADDFF27B}" type="presParOf" srcId="{E9B90FA4-EAB9-45D5-990A-C23F7E0486E1}" destId="{3FC67D54-F441-42A8-9EAF-C38897162DCF}" srcOrd="3" destOrd="0" presId="urn:microsoft.com/office/officeart/2005/8/layout/hProcess9"/>
    <dgm:cxn modelId="{4129CB23-C333-4511-AE4C-2C8BE0A14DD3}" type="presParOf" srcId="{E9B90FA4-EAB9-45D5-990A-C23F7E0486E1}" destId="{741E6F06-B35B-4E29-B1E7-86C3A9A2C564}" srcOrd="4" destOrd="0" presId="urn:microsoft.com/office/officeart/2005/8/layout/hProcess9"/>
    <dgm:cxn modelId="{59F7D11B-2F36-42E8-96FE-C32E653E6A09}" type="presParOf" srcId="{E9B90FA4-EAB9-45D5-990A-C23F7E0486E1}" destId="{974B184A-8E54-46E0-887B-F29ABC8A29C2}" srcOrd="5" destOrd="0" presId="urn:microsoft.com/office/officeart/2005/8/layout/hProcess9"/>
    <dgm:cxn modelId="{AF8107C8-D2D3-43EE-BB72-E423F471FA16}" type="presParOf" srcId="{E9B90FA4-EAB9-45D5-990A-C23F7E0486E1}" destId="{C29D3575-F59F-42F7-BFD1-7C247985AEFC}" srcOrd="6" destOrd="0" presId="urn:microsoft.com/office/officeart/2005/8/layout/hProcess9"/>
    <dgm:cxn modelId="{8AADF00F-D175-485F-8EE6-C3871E167280}" type="presParOf" srcId="{E9B90FA4-EAB9-45D5-990A-C23F7E0486E1}" destId="{397017BD-7FBE-4DCF-A154-814A2C352B5F}" srcOrd="7" destOrd="0" presId="urn:microsoft.com/office/officeart/2005/8/layout/hProcess9"/>
    <dgm:cxn modelId="{285B7F69-B625-4C60-899E-6290D735DC45}"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BE2EE0-AA1E-46AF-9631-F352B718FFD3}" type="doc">
      <dgm:prSet loTypeId="urn:diagrams.loki3.com/VaryingWidthList+Icon" loCatId="list" qsTypeId="urn:microsoft.com/office/officeart/2005/8/quickstyle/simple1" qsCatId="simple" csTypeId="urn:microsoft.com/office/officeart/2005/8/colors/accent1_2" csCatId="accent1" phldr="1"/>
      <dgm:spPr/>
    </dgm:pt>
    <dgm:pt modelId="{7D3E23B9-CAF4-43AA-AB5F-301EF6C818E0}">
      <dgm:prSet phldrT="[Text]" custT="1"/>
      <dgm:spPr/>
      <dgm:t>
        <a:bodyPr/>
        <a:lstStyle/>
        <a:p>
          <a:r>
            <a:rPr lang="en-US" sz="1200" dirty="0" smtClean="0"/>
            <a:t>Corrective Maintenance</a:t>
          </a:r>
          <a:endParaRPr lang="en-US" sz="1200" dirty="0"/>
        </a:p>
      </dgm:t>
    </dgm:pt>
    <dgm:pt modelId="{5A9A4A8C-1FEB-4515-9D4B-1EC32D438F7C}" type="parTrans" cxnId="{8F159CCB-5873-49AE-B4F8-DB03D5E15923}">
      <dgm:prSet/>
      <dgm:spPr/>
      <dgm:t>
        <a:bodyPr/>
        <a:lstStyle/>
        <a:p>
          <a:endParaRPr lang="en-US"/>
        </a:p>
      </dgm:t>
    </dgm:pt>
    <dgm:pt modelId="{7798588F-BE96-42FE-BD0C-E23F6E48EC20}" type="sibTrans" cxnId="{8F159CCB-5873-49AE-B4F8-DB03D5E15923}">
      <dgm:prSet/>
      <dgm:spPr/>
      <dgm:t>
        <a:bodyPr/>
        <a:lstStyle/>
        <a:p>
          <a:endParaRPr lang="en-US"/>
        </a:p>
      </dgm:t>
    </dgm:pt>
    <dgm:pt modelId="{655ACF4F-05C4-41DE-9621-263B38151E91}">
      <dgm:prSet phldrT="[Text]" custT="1"/>
      <dgm:spPr/>
      <dgm:t>
        <a:bodyPr/>
        <a:lstStyle/>
        <a:p>
          <a:r>
            <a:rPr lang="en-US" sz="1200" dirty="0" smtClean="0"/>
            <a:t>Unplanned Corrective  Maintenance</a:t>
          </a:r>
          <a:endParaRPr lang="en-US" sz="1200" dirty="0"/>
        </a:p>
      </dgm:t>
    </dgm:pt>
    <dgm:pt modelId="{93F40337-35EC-4BEF-9551-C1E7C4E36DC6}" type="parTrans" cxnId="{B8CEA09E-EEC5-45E8-8F05-72810723FB80}">
      <dgm:prSet/>
      <dgm:spPr/>
      <dgm:t>
        <a:bodyPr/>
        <a:lstStyle/>
        <a:p>
          <a:endParaRPr lang="en-US"/>
        </a:p>
      </dgm:t>
    </dgm:pt>
    <dgm:pt modelId="{DAFFE704-84C4-48B1-93C8-CED0E812F365}" type="sibTrans" cxnId="{B8CEA09E-EEC5-45E8-8F05-72810723FB80}">
      <dgm:prSet/>
      <dgm:spPr/>
      <dgm:t>
        <a:bodyPr/>
        <a:lstStyle/>
        <a:p>
          <a:endParaRPr lang="en-US"/>
        </a:p>
      </dgm:t>
    </dgm:pt>
    <dgm:pt modelId="{9C05C903-6B9F-4433-B1CF-6434C8AB763F}">
      <dgm:prSet phldrT="[Text]" custT="1"/>
      <dgm:spPr/>
      <dgm:t>
        <a:bodyPr/>
        <a:lstStyle/>
        <a:p>
          <a:r>
            <a:rPr lang="en-US" sz="1200" dirty="0" smtClean="0"/>
            <a:t>Emergency Maintenance</a:t>
          </a:r>
          <a:endParaRPr lang="en-US" sz="1200" dirty="0"/>
        </a:p>
      </dgm:t>
    </dgm:pt>
    <dgm:pt modelId="{D4949122-053B-463A-98FC-783667E38763}" type="parTrans" cxnId="{295CAFEA-596B-4D6F-B560-005B4F7B2B3A}">
      <dgm:prSet/>
      <dgm:spPr/>
      <dgm:t>
        <a:bodyPr/>
        <a:lstStyle/>
        <a:p>
          <a:endParaRPr lang="en-US"/>
        </a:p>
      </dgm:t>
    </dgm:pt>
    <dgm:pt modelId="{6BD02970-AB2B-49A9-BD7E-2C1954D7685B}" type="sibTrans" cxnId="{295CAFEA-596B-4D6F-B560-005B4F7B2B3A}">
      <dgm:prSet/>
      <dgm:spPr/>
      <dgm:t>
        <a:bodyPr/>
        <a:lstStyle/>
        <a:p>
          <a:endParaRPr lang="en-US"/>
        </a:p>
      </dgm:t>
    </dgm:pt>
    <dgm:pt modelId="{3E3EEE5D-859B-4478-94BC-3A9F85738865}">
      <dgm:prSet custT="1"/>
      <dgm:spPr/>
      <dgm:t>
        <a:bodyPr/>
        <a:lstStyle/>
        <a:p>
          <a:r>
            <a:rPr lang="en-US" sz="1200" dirty="0" smtClean="0"/>
            <a:t>Preventative Maintenance</a:t>
          </a:r>
          <a:endParaRPr lang="en-US" sz="1200" dirty="0"/>
        </a:p>
      </dgm:t>
    </dgm:pt>
    <dgm:pt modelId="{B60AD859-F703-47F8-852C-F6A9FA39CAF7}" type="parTrans" cxnId="{4A24BF43-BF2A-4B61-9C1A-2FAE35362B71}">
      <dgm:prSet/>
      <dgm:spPr/>
      <dgm:t>
        <a:bodyPr/>
        <a:lstStyle/>
        <a:p>
          <a:endParaRPr lang="en-US"/>
        </a:p>
      </dgm:t>
    </dgm:pt>
    <dgm:pt modelId="{DA3CB93B-F696-4677-BC7F-6AFE3035A559}" type="sibTrans" cxnId="{4A24BF43-BF2A-4B61-9C1A-2FAE35362B71}">
      <dgm:prSet/>
      <dgm:spPr/>
      <dgm:t>
        <a:bodyPr/>
        <a:lstStyle/>
        <a:p>
          <a:endParaRPr lang="en-US"/>
        </a:p>
      </dgm:t>
    </dgm:pt>
    <dgm:pt modelId="{4A8EB3F5-6E4D-4C78-B09F-62A39D430B79}" type="pres">
      <dgm:prSet presAssocID="{34BE2EE0-AA1E-46AF-9631-F352B718FFD3}" presName="Name0" presStyleCnt="0">
        <dgm:presLayoutVars>
          <dgm:resizeHandles/>
        </dgm:presLayoutVars>
      </dgm:prSet>
      <dgm:spPr/>
    </dgm:pt>
    <dgm:pt modelId="{6A1B29CD-5889-4E4E-AF7E-6EF0D8A04AC0}" type="pres">
      <dgm:prSet presAssocID="{7D3E23B9-CAF4-43AA-AB5F-301EF6C818E0}" presName="text" presStyleLbl="node1" presStyleIdx="0" presStyleCnt="4" custScaleX="175168" custLinFactNeighborX="-2917">
        <dgm:presLayoutVars>
          <dgm:bulletEnabled val="1"/>
        </dgm:presLayoutVars>
      </dgm:prSet>
      <dgm:spPr/>
      <dgm:t>
        <a:bodyPr/>
        <a:lstStyle/>
        <a:p>
          <a:endParaRPr lang="en-US"/>
        </a:p>
      </dgm:t>
    </dgm:pt>
    <dgm:pt modelId="{8C28AD26-AC06-45E0-9770-5DF99FD3B4CA}" type="pres">
      <dgm:prSet presAssocID="{7798588F-BE96-42FE-BD0C-E23F6E48EC20}" presName="space" presStyleCnt="0"/>
      <dgm:spPr/>
    </dgm:pt>
    <dgm:pt modelId="{20445616-F93C-439F-A74C-F0A27423DA0A}" type="pres">
      <dgm:prSet presAssocID="{655ACF4F-05C4-41DE-9621-263B38151E91}" presName="text" presStyleLbl="node1" presStyleIdx="1" presStyleCnt="4" custScaleX="169333">
        <dgm:presLayoutVars>
          <dgm:bulletEnabled val="1"/>
        </dgm:presLayoutVars>
      </dgm:prSet>
      <dgm:spPr/>
      <dgm:t>
        <a:bodyPr/>
        <a:lstStyle/>
        <a:p>
          <a:endParaRPr lang="en-US"/>
        </a:p>
      </dgm:t>
    </dgm:pt>
    <dgm:pt modelId="{5B76DA76-658C-4032-B8EF-6906F7CE2609}" type="pres">
      <dgm:prSet presAssocID="{DAFFE704-84C4-48B1-93C8-CED0E812F365}" presName="space" presStyleCnt="0"/>
      <dgm:spPr/>
    </dgm:pt>
    <dgm:pt modelId="{1FF5541A-B501-4867-B68D-28C32734D539}" type="pres">
      <dgm:prSet presAssocID="{9C05C903-6B9F-4433-B1CF-6434C8AB763F}" presName="text" presStyleLbl="node1" presStyleIdx="2" presStyleCnt="4" custScaleX="169333">
        <dgm:presLayoutVars>
          <dgm:bulletEnabled val="1"/>
        </dgm:presLayoutVars>
      </dgm:prSet>
      <dgm:spPr/>
      <dgm:t>
        <a:bodyPr/>
        <a:lstStyle/>
        <a:p>
          <a:endParaRPr lang="en-US"/>
        </a:p>
      </dgm:t>
    </dgm:pt>
    <dgm:pt modelId="{1004656B-1585-442C-AD82-6CC12F6860A8}" type="pres">
      <dgm:prSet presAssocID="{6BD02970-AB2B-49A9-BD7E-2C1954D7685B}" presName="space" presStyleCnt="0"/>
      <dgm:spPr/>
    </dgm:pt>
    <dgm:pt modelId="{335D082B-89ED-4B9D-BE7B-6387901828C3}" type="pres">
      <dgm:prSet presAssocID="{3E3EEE5D-859B-4478-94BC-3A9F85738865}" presName="text" presStyleLbl="node1" presStyleIdx="3" presStyleCnt="4" custScaleX="145143" custLinFactNeighborY="4161">
        <dgm:presLayoutVars>
          <dgm:bulletEnabled val="1"/>
        </dgm:presLayoutVars>
      </dgm:prSet>
      <dgm:spPr/>
      <dgm:t>
        <a:bodyPr/>
        <a:lstStyle/>
        <a:p>
          <a:endParaRPr lang="en-US"/>
        </a:p>
      </dgm:t>
    </dgm:pt>
  </dgm:ptLst>
  <dgm:cxnLst>
    <dgm:cxn modelId="{B8CEA09E-EEC5-45E8-8F05-72810723FB80}" srcId="{34BE2EE0-AA1E-46AF-9631-F352B718FFD3}" destId="{655ACF4F-05C4-41DE-9621-263B38151E91}" srcOrd="1" destOrd="0" parTransId="{93F40337-35EC-4BEF-9551-C1E7C4E36DC6}" sibTransId="{DAFFE704-84C4-48B1-93C8-CED0E812F365}"/>
    <dgm:cxn modelId="{4A24BF43-BF2A-4B61-9C1A-2FAE35362B71}" srcId="{34BE2EE0-AA1E-46AF-9631-F352B718FFD3}" destId="{3E3EEE5D-859B-4478-94BC-3A9F85738865}" srcOrd="3" destOrd="0" parTransId="{B60AD859-F703-47F8-852C-F6A9FA39CAF7}" sibTransId="{DA3CB93B-F696-4677-BC7F-6AFE3035A559}"/>
    <dgm:cxn modelId="{FB155E65-79AF-4906-B539-B9AF8DFF00EE}" type="presOf" srcId="{9C05C903-6B9F-4433-B1CF-6434C8AB763F}" destId="{1FF5541A-B501-4867-B68D-28C32734D539}" srcOrd="0" destOrd="0" presId="urn:diagrams.loki3.com/VaryingWidthList+Icon"/>
    <dgm:cxn modelId="{295CAFEA-596B-4D6F-B560-005B4F7B2B3A}" srcId="{34BE2EE0-AA1E-46AF-9631-F352B718FFD3}" destId="{9C05C903-6B9F-4433-B1CF-6434C8AB763F}" srcOrd="2" destOrd="0" parTransId="{D4949122-053B-463A-98FC-783667E38763}" sibTransId="{6BD02970-AB2B-49A9-BD7E-2C1954D7685B}"/>
    <dgm:cxn modelId="{03F779D6-F663-47C6-A017-E392D154708F}" type="presOf" srcId="{655ACF4F-05C4-41DE-9621-263B38151E91}" destId="{20445616-F93C-439F-A74C-F0A27423DA0A}" srcOrd="0" destOrd="0" presId="urn:diagrams.loki3.com/VaryingWidthList+Icon"/>
    <dgm:cxn modelId="{1C8D1270-655A-4270-A461-12EFCE36A166}" type="presOf" srcId="{34BE2EE0-AA1E-46AF-9631-F352B718FFD3}" destId="{4A8EB3F5-6E4D-4C78-B09F-62A39D430B79}" srcOrd="0" destOrd="0" presId="urn:diagrams.loki3.com/VaryingWidthList+Icon"/>
    <dgm:cxn modelId="{FE384594-DDA6-4965-B4CE-73E98920EFA1}" type="presOf" srcId="{7D3E23B9-CAF4-43AA-AB5F-301EF6C818E0}" destId="{6A1B29CD-5889-4E4E-AF7E-6EF0D8A04AC0}" srcOrd="0" destOrd="0" presId="urn:diagrams.loki3.com/VaryingWidthList+Icon"/>
    <dgm:cxn modelId="{8F159CCB-5873-49AE-B4F8-DB03D5E15923}" srcId="{34BE2EE0-AA1E-46AF-9631-F352B718FFD3}" destId="{7D3E23B9-CAF4-43AA-AB5F-301EF6C818E0}" srcOrd="0" destOrd="0" parTransId="{5A9A4A8C-1FEB-4515-9D4B-1EC32D438F7C}" sibTransId="{7798588F-BE96-42FE-BD0C-E23F6E48EC20}"/>
    <dgm:cxn modelId="{8AE285C7-FDEC-48AF-8B1D-4E65E4127E8C}" type="presOf" srcId="{3E3EEE5D-859B-4478-94BC-3A9F85738865}" destId="{335D082B-89ED-4B9D-BE7B-6387901828C3}" srcOrd="0" destOrd="0" presId="urn:diagrams.loki3.com/VaryingWidthList+Icon"/>
    <dgm:cxn modelId="{691C3538-DCB2-440A-99A9-A57E6E02F3E6}" type="presParOf" srcId="{4A8EB3F5-6E4D-4C78-B09F-62A39D430B79}" destId="{6A1B29CD-5889-4E4E-AF7E-6EF0D8A04AC0}" srcOrd="0" destOrd="0" presId="urn:diagrams.loki3.com/VaryingWidthList+Icon"/>
    <dgm:cxn modelId="{7C25F2ED-130C-4ED5-B265-079590FD4DCE}" type="presParOf" srcId="{4A8EB3F5-6E4D-4C78-B09F-62A39D430B79}" destId="{8C28AD26-AC06-45E0-9770-5DF99FD3B4CA}" srcOrd="1" destOrd="0" presId="urn:diagrams.loki3.com/VaryingWidthList+Icon"/>
    <dgm:cxn modelId="{2EC7FB85-A34D-41ED-B230-969FC46B369F}" type="presParOf" srcId="{4A8EB3F5-6E4D-4C78-B09F-62A39D430B79}" destId="{20445616-F93C-439F-A74C-F0A27423DA0A}" srcOrd="2" destOrd="0" presId="urn:diagrams.loki3.com/VaryingWidthList+Icon"/>
    <dgm:cxn modelId="{F66DC757-A077-4F7A-A8DE-EC4A0B665D34}" type="presParOf" srcId="{4A8EB3F5-6E4D-4C78-B09F-62A39D430B79}" destId="{5B76DA76-658C-4032-B8EF-6906F7CE2609}" srcOrd="3" destOrd="0" presId="urn:diagrams.loki3.com/VaryingWidthList+Icon"/>
    <dgm:cxn modelId="{9F955E7B-07C2-469E-9A11-6EAD502EB0BE}" type="presParOf" srcId="{4A8EB3F5-6E4D-4C78-B09F-62A39D430B79}" destId="{1FF5541A-B501-4867-B68D-28C32734D539}" srcOrd="4" destOrd="0" presId="urn:diagrams.loki3.com/VaryingWidthList+Icon"/>
    <dgm:cxn modelId="{C69B721E-8869-4DBF-A33B-4F86535CD02C}" type="presParOf" srcId="{4A8EB3F5-6E4D-4C78-B09F-62A39D430B79}" destId="{1004656B-1585-442C-AD82-6CC12F6860A8}" srcOrd="5" destOrd="0" presId="urn:diagrams.loki3.com/VaryingWidthList+Icon"/>
    <dgm:cxn modelId="{5AAE60A5-5F8F-46D2-9E97-15809724D9FE}" type="presParOf" srcId="{4A8EB3F5-6E4D-4C78-B09F-62A39D430B79}" destId="{335D082B-89ED-4B9D-BE7B-6387901828C3}" srcOrd="6" destOrd="0" presId="urn:diagrams.loki3.com/VaryingWidthList+Icon"/>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a:ln w="63500">
          <a:solidFill>
            <a:srgbClr val="FF0000"/>
          </a:solidFill>
        </a:ln>
      </dgm:spPr>
      <dgm:t>
        <a:bodyPr/>
        <a:lstStyle/>
        <a:p>
          <a:r>
            <a:rPr lang="en-US" dirty="0" smtClean="0"/>
            <a:t>Create Work Order</a:t>
          </a:r>
          <a:endParaRPr lang="en-US" dirty="0"/>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a:ln w="63500">
          <a:solidFill>
            <a:srgbClr val="FF0000"/>
          </a:solidFill>
        </a:ln>
      </dgm:spPr>
      <dgm:t>
        <a:bodyPr/>
        <a:lstStyle/>
        <a:p>
          <a:r>
            <a:rPr lang="en-US" dirty="0" smtClean="0"/>
            <a:t>Plan &amp; Schedule Work Order</a:t>
          </a:r>
          <a:endParaRPr lang="en-US" dirty="0"/>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a:ln w="63500">
          <a:solidFill>
            <a:srgbClr val="FF0000"/>
          </a:solidFill>
        </a:ln>
      </dgm:spPr>
      <dgm:t>
        <a:bodyPr/>
        <a:lstStyle/>
        <a:p>
          <a:r>
            <a:rPr lang="en-US" dirty="0" smtClean="0"/>
            <a:t>Execute Work Order</a:t>
          </a:r>
          <a:endParaRPr lang="en-US" dirty="0"/>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a:ln w="63500">
          <a:solidFill>
            <a:srgbClr val="FF0000"/>
          </a:solidFill>
        </a:ln>
      </dgm:spPr>
      <dgm:t>
        <a:bodyPr/>
        <a:lstStyle/>
        <a:p>
          <a:r>
            <a:rPr lang="en-US" dirty="0" smtClean="0"/>
            <a:t>Settle and Close Work Order</a:t>
          </a:r>
          <a:endParaRPr lang="en-US" dirty="0"/>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dgm:t>
        <a:bodyPr/>
        <a:lstStyle/>
        <a:p>
          <a:r>
            <a:rPr lang="en-US" dirty="0" smtClean="0"/>
            <a:t>Notifications</a:t>
          </a:r>
          <a:endParaRPr lang="en-US" dirty="0"/>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t>
        <a:bodyPr/>
        <a:lstStyle/>
        <a:p>
          <a:endParaRPr lang="en-US"/>
        </a:p>
      </dgm:t>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t>
        <a:bodyPr/>
        <a:lstStyle/>
        <a:p>
          <a:endParaRPr lang="en-US"/>
        </a:p>
      </dgm:t>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t>
        <a:bodyPr/>
        <a:lstStyle/>
        <a:p>
          <a:endParaRPr lang="en-US"/>
        </a:p>
      </dgm:t>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t>
        <a:bodyPr/>
        <a:lstStyle/>
        <a:p>
          <a:endParaRPr lang="en-US"/>
        </a:p>
      </dgm:t>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t>
        <a:bodyPr/>
        <a:lstStyle/>
        <a:p>
          <a:endParaRPr lang="en-US"/>
        </a:p>
      </dgm:t>
    </dgm:pt>
  </dgm:ptLst>
  <dgm:cxnLst>
    <dgm:cxn modelId="{1335AAC2-1C29-4FD9-B99A-0AA672894313}" type="presOf" srcId="{75CC0013-4CEF-4544-9C5A-5D1A0F133113}" destId="{59B4525B-7327-4F09-A2B6-D84D0896C8A1}"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59C30D65-4F03-4D82-BF0A-55D404BCC4AC}" type="presOf" srcId="{00A287AA-ABFA-44D7-95B0-59F58EF5D869}" destId="{D5FD1BFE-E7A3-4EB8-B8F0-232D031387E3}"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E63833BF-602D-4ECD-BB3B-0B38A2A52155}" srcId="{3491930E-230F-4BDC-83EF-43107ED77BC7}" destId="{EDAACF7C-6E2A-476F-8E20-CADC094D5D28}" srcOrd="2" destOrd="0" parTransId="{194A6DDD-701B-47BD-A436-6D61B92194CA}" sibTransId="{78312653-78A9-4BB6-A5C7-6A75AD27813F}"/>
    <dgm:cxn modelId="{CC38CA4D-B11A-4163-A254-40C14C8AE5AC}" type="presOf" srcId="{3491930E-230F-4BDC-83EF-43107ED77BC7}" destId="{6F25E48F-35F2-47CE-BD42-A070F33DF86E}" srcOrd="0" destOrd="0" presId="urn:microsoft.com/office/officeart/2005/8/layout/hProcess9"/>
    <dgm:cxn modelId="{74E9B0F9-2F7E-4C70-ADCC-B53D99F9D454}" type="presOf" srcId="{EDAACF7C-6E2A-476F-8E20-CADC094D5D28}" destId="{741E6F06-B35B-4E29-B1E7-86C3A9A2C564}" srcOrd="0" destOrd="0" presId="urn:microsoft.com/office/officeart/2005/8/layout/hProcess9"/>
    <dgm:cxn modelId="{F798E387-2C65-43C0-8E84-0E2B918012B2}" type="presOf" srcId="{C4F43776-9781-4E15-84BC-087EC7475FF8}" destId="{C29D3575-F59F-42F7-BFD1-7C247985AEFC}"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FD77B68D-FA36-4DDA-8E3A-AB65D196E0A4}" srcId="{3491930E-230F-4BDC-83EF-43107ED77BC7}" destId="{7BD13AFC-9D68-436D-9326-64166B2AA8F0}" srcOrd="0" destOrd="0" parTransId="{96B37AAC-F588-4E5E-B3AA-D64D9D1A597C}" sibTransId="{FAEB54FD-CDB9-4DFB-96BE-B496E6595754}"/>
    <dgm:cxn modelId="{D8911DAC-F227-4385-B8A8-A2C5CD371A61}" type="presOf" srcId="{7BD13AFC-9D68-436D-9326-64166B2AA8F0}" destId="{03663D1E-A6C3-47E2-9072-ACD344359913}" srcOrd="0" destOrd="0" presId="urn:microsoft.com/office/officeart/2005/8/layout/hProcess9"/>
    <dgm:cxn modelId="{C47E2553-257C-4353-9C65-EF60BE2DA777}" type="presParOf" srcId="{6F25E48F-35F2-47CE-BD42-A070F33DF86E}" destId="{78974AED-65E2-43CA-8F15-9071F7B05B1A}" srcOrd="0" destOrd="0" presId="urn:microsoft.com/office/officeart/2005/8/layout/hProcess9"/>
    <dgm:cxn modelId="{424EB34B-2910-4227-9EB5-913616A3BF90}" type="presParOf" srcId="{6F25E48F-35F2-47CE-BD42-A070F33DF86E}" destId="{E9B90FA4-EAB9-45D5-990A-C23F7E0486E1}" srcOrd="1" destOrd="0" presId="urn:microsoft.com/office/officeart/2005/8/layout/hProcess9"/>
    <dgm:cxn modelId="{253D7234-4FE8-4BB6-B6C9-0B3237307F8D}" type="presParOf" srcId="{E9B90FA4-EAB9-45D5-990A-C23F7E0486E1}" destId="{03663D1E-A6C3-47E2-9072-ACD344359913}" srcOrd="0" destOrd="0" presId="urn:microsoft.com/office/officeart/2005/8/layout/hProcess9"/>
    <dgm:cxn modelId="{688FEE8D-2308-404C-ADEF-DF9335C5A431}" type="presParOf" srcId="{E9B90FA4-EAB9-45D5-990A-C23F7E0486E1}" destId="{95B0547E-6C2E-42FB-BDF6-CC37FB7AFBFF}" srcOrd="1" destOrd="0" presId="urn:microsoft.com/office/officeart/2005/8/layout/hProcess9"/>
    <dgm:cxn modelId="{9AE16CE0-B43F-4174-BCD6-90BC0CC7F782}" type="presParOf" srcId="{E9B90FA4-EAB9-45D5-990A-C23F7E0486E1}" destId="{D5FD1BFE-E7A3-4EB8-B8F0-232D031387E3}" srcOrd="2" destOrd="0" presId="urn:microsoft.com/office/officeart/2005/8/layout/hProcess9"/>
    <dgm:cxn modelId="{4FC76053-D493-40EE-BBB8-BBFAE3356E25}" type="presParOf" srcId="{E9B90FA4-EAB9-45D5-990A-C23F7E0486E1}" destId="{3FC67D54-F441-42A8-9EAF-C38897162DCF}" srcOrd="3" destOrd="0" presId="urn:microsoft.com/office/officeart/2005/8/layout/hProcess9"/>
    <dgm:cxn modelId="{5418704D-75E6-472E-996A-F5A02E403D9F}" type="presParOf" srcId="{E9B90FA4-EAB9-45D5-990A-C23F7E0486E1}" destId="{741E6F06-B35B-4E29-B1E7-86C3A9A2C564}" srcOrd="4" destOrd="0" presId="urn:microsoft.com/office/officeart/2005/8/layout/hProcess9"/>
    <dgm:cxn modelId="{E7D6373A-10AA-4D79-8F4D-5075C3E446D2}" type="presParOf" srcId="{E9B90FA4-EAB9-45D5-990A-C23F7E0486E1}" destId="{974B184A-8E54-46E0-887B-F29ABC8A29C2}" srcOrd="5" destOrd="0" presId="urn:microsoft.com/office/officeart/2005/8/layout/hProcess9"/>
    <dgm:cxn modelId="{310809B2-F5D7-4DCC-B9ED-D21B4304888D}" type="presParOf" srcId="{E9B90FA4-EAB9-45D5-990A-C23F7E0486E1}" destId="{C29D3575-F59F-42F7-BFD1-7C247985AEFC}" srcOrd="6" destOrd="0" presId="urn:microsoft.com/office/officeart/2005/8/layout/hProcess9"/>
    <dgm:cxn modelId="{9ACE0278-3192-4CB3-877C-894EC2D858AC}" type="presParOf" srcId="{E9B90FA4-EAB9-45D5-990A-C23F7E0486E1}" destId="{397017BD-7FBE-4DCF-A154-814A2C352B5F}" srcOrd="7" destOrd="0" presId="urn:microsoft.com/office/officeart/2005/8/layout/hProcess9"/>
    <dgm:cxn modelId="{600E46FD-330C-43E6-84D0-C64A60E2C16D}"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4BE2EE0-AA1E-46AF-9631-F352B718FFD3}" type="doc">
      <dgm:prSet loTypeId="urn:diagrams.loki3.com/VaryingWidthList+Icon" loCatId="list" qsTypeId="urn:microsoft.com/office/officeart/2005/8/quickstyle/simple1" qsCatId="simple" csTypeId="urn:microsoft.com/office/officeart/2005/8/colors/accent1_2" csCatId="accent1" phldr="1"/>
      <dgm:spPr/>
    </dgm:pt>
    <dgm:pt modelId="{7D3E23B9-CAF4-43AA-AB5F-301EF6C818E0}">
      <dgm:prSet phldrT="[Text]" custT="1"/>
      <dgm:spPr/>
      <dgm:t>
        <a:bodyPr/>
        <a:lstStyle/>
        <a:p>
          <a:r>
            <a:rPr lang="en-US" sz="1200" dirty="0" smtClean="0"/>
            <a:t>Corrective Maintenance</a:t>
          </a:r>
          <a:endParaRPr lang="en-US" sz="1200" dirty="0"/>
        </a:p>
      </dgm:t>
    </dgm:pt>
    <dgm:pt modelId="{5A9A4A8C-1FEB-4515-9D4B-1EC32D438F7C}" type="parTrans" cxnId="{8F159CCB-5873-49AE-B4F8-DB03D5E15923}">
      <dgm:prSet/>
      <dgm:spPr/>
      <dgm:t>
        <a:bodyPr/>
        <a:lstStyle/>
        <a:p>
          <a:endParaRPr lang="en-US"/>
        </a:p>
      </dgm:t>
    </dgm:pt>
    <dgm:pt modelId="{7798588F-BE96-42FE-BD0C-E23F6E48EC20}" type="sibTrans" cxnId="{8F159CCB-5873-49AE-B4F8-DB03D5E15923}">
      <dgm:prSet/>
      <dgm:spPr/>
      <dgm:t>
        <a:bodyPr/>
        <a:lstStyle/>
        <a:p>
          <a:endParaRPr lang="en-US"/>
        </a:p>
      </dgm:t>
    </dgm:pt>
    <dgm:pt modelId="{655ACF4F-05C4-41DE-9621-263B38151E91}">
      <dgm:prSet phldrT="[Text]" custT="1"/>
      <dgm:spPr/>
      <dgm:t>
        <a:bodyPr/>
        <a:lstStyle/>
        <a:p>
          <a:r>
            <a:rPr lang="en-US" sz="1200" dirty="0" smtClean="0"/>
            <a:t>Unplanned Corrective  Maintenance</a:t>
          </a:r>
          <a:endParaRPr lang="en-US" sz="1200" dirty="0"/>
        </a:p>
      </dgm:t>
    </dgm:pt>
    <dgm:pt modelId="{93F40337-35EC-4BEF-9551-C1E7C4E36DC6}" type="parTrans" cxnId="{B8CEA09E-EEC5-45E8-8F05-72810723FB80}">
      <dgm:prSet/>
      <dgm:spPr/>
      <dgm:t>
        <a:bodyPr/>
        <a:lstStyle/>
        <a:p>
          <a:endParaRPr lang="en-US"/>
        </a:p>
      </dgm:t>
    </dgm:pt>
    <dgm:pt modelId="{DAFFE704-84C4-48B1-93C8-CED0E812F365}" type="sibTrans" cxnId="{B8CEA09E-EEC5-45E8-8F05-72810723FB80}">
      <dgm:prSet/>
      <dgm:spPr/>
      <dgm:t>
        <a:bodyPr/>
        <a:lstStyle/>
        <a:p>
          <a:endParaRPr lang="en-US"/>
        </a:p>
      </dgm:t>
    </dgm:pt>
    <dgm:pt modelId="{9C05C903-6B9F-4433-B1CF-6434C8AB763F}">
      <dgm:prSet phldrT="[Text]" custT="1"/>
      <dgm:spPr/>
      <dgm:t>
        <a:bodyPr/>
        <a:lstStyle/>
        <a:p>
          <a:r>
            <a:rPr lang="en-US" sz="1200" dirty="0" smtClean="0"/>
            <a:t>Emergency Maintenance</a:t>
          </a:r>
          <a:endParaRPr lang="en-US" sz="1200" dirty="0"/>
        </a:p>
      </dgm:t>
    </dgm:pt>
    <dgm:pt modelId="{D4949122-053B-463A-98FC-783667E38763}" type="parTrans" cxnId="{295CAFEA-596B-4D6F-B560-005B4F7B2B3A}">
      <dgm:prSet/>
      <dgm:spPr/>
      <dgm:t>
        <a:bodyPr/>
        <a:lstStyle/>
        <a:p>
          <a:endParaRPr lang="en-US"/>
        </a:p>
      </dgm:t>
    </dgm:pt>
    <dgm:pt modelId="{6BD02970-AB2B-49A9-BD7E-2C1954D7685B}" type="sibTrans" cxnId="{295CAFEA-596B-4D6F-B560-005B4F7B2B3A}">
      <dgm:prSet/>
      <dgm:spPr/>
      <dgm:t>
        <a:bodyPr/>
        <a:lstStyle/>
        <a:p>
          <a:endParaRPr lang="en-US"/>
        </a:p>
      </dgm:t>
    </dgm:pt>
    <dgm:pt modelId="{3E3EEE5D-859B-4478-94BC-3A9F85738865}">
      <dgm:prSet custT="1"/>
      <dgm:spPr/>
      <dgm:t>
        <a:bodyPr/>
        <a:lstStyle/>
        <a:p>
          <a:r>
            <a:rPr lang="en-US" sz="1200" dirty="0" smtClean="0"/>
            <a:t>Preventative Maintenance</a:t>
          </a:r>
          <a:endParaRPr lang="en-US" sz="1200" dirty="0"/>
        </a:p>
      </dgm:t>
    </dgm:pt>
    <dgm:pt modelId="{B60AD859-F703-47F8-852C-F6A9FA39CAF7}" type="parTrans" cxnId="{4A24BF43-BF2A-4B61-9C1A-2FAE35362B71}">
      <dgm:prSet/>
      <dgm:spPr/>
      <dgm:t>
        <a:bodyPr/>
        <a:lstStyle/>
        <a:p>
          <a:endParaRPr lang="en-US"/>
        </a:p>
      </dgm:t>
    </dgm:pt>
    <dgm:pt modelId="{DA3CB93B-F696-4677-BC7F-6AFE3035A559}" type="sibTrans" cxnId="{4A24BF43-BF2A-4B61-9C1A-2FAE35362B71}">
      <dgm:prSet/>
      <dgm:spPr/>
      <dgm:t>
        <a:bodyPr/>
        <a:lstStyle/>
        <a:p>
          <a:endParaRPr lang="en-US"/>
        </a:p>
      </dgm:t>
    </dgm:pt>
    <dgm:pt modelId="{4A8EB3F5-6E4D-4C78-B09F-62A39D430B79}" type="pres">
      <dgm:prSet presAssocID="{34BE2EE0-AA1E-46AF-9631-F352B718FFD3}" presName="Name0" presStyleCnt="0">
        <dgm:presLayoutVars>
          <dgm:resizeHandles/>
        </dgm:presLayoutVars>
      </dgm:prSet>
      <dgm:spPr/>
    </dgm:pt>
    <dgm:pt modelId="{6A1B29CD-5889-4E4E-AF7E-6EF0D8A04AC0}" type="pres">
      <dgm:prSet presAssocID="{7D3E23B9-CAF4-43AA-AB5F-301EF6C818E0}" presName="text" presStyleLbl="node1" presStyleIdx="0" presStyleCnt="4" custScaleX="175168" custLinFactNeighborX="-2917">
        <dgm:presLayoutVars>
          <dgm:bulletEnabled val="1"/>
        </dgm:presLayoutVars>
      </dgm:prSet>
      <dgm:spPr/>
      <dgm:t>
        <a:bodyPr/>
        <a:lstStyle/>
        <a:p>
          <a:endParaRPr lang="en-US"/>
        </a:p>
      </dgm:t>
    </dgm:pt>
    <dgm:pt modelId="{8C28AD26-AC06-45E0-9770-5DF99FD3B4CA}" type="pres">
      <dgm:prSet presAssocID="{7798588F-BE96-42FE-BD0C-E23F6E48EC20}" presName="space" presStyleCnt="0"/>
      <dgm:spPr/>
    </dgm:pt>
    <dgm:pt modelId="{20445616-F93C-439F-A74C-F0A27423DA0A}" type="pres">
      <dgm:prSet presAssocID="{655ACF4F-05C4-41DE-9621-263B38151E91}" presName="text" presStyleLbl="node1" presStyleIdx="1" presStyleCnt="4" custScaleX="169333">
        <dgm:presLayoutVars>
          <dgm:bulletEnabled val="1"/>
        </dgm:presLayoutVars>
      </dgm:prSet>
      <dgm:spPr/>
      <dgm:t>
        <a:bodyPr/>
        <a:lstStyle/>
        <a:p>
          <a:endParaRPr lang="en-US"/>
        </a:p>
      </dgm:t>
    </dgm:pt>
    <dgm:pt modelId="{5B76DA76-658C-4032-B8EF-6906F7CE2609}" type="pres">
      <dgm:prSet presAssocID="{DAFFE704-84C4-48B1-93C8-CED0E812F365}" presName="space" presStyleCnt="0"/>
      <dgm:spPr/>
    </dgm:pt>
    <dgm:pt modelId="{1FF5541A-B501-4867-B68D-28C32734D539}" type="pres">
      <dgm:prSet presAssocID="{9C05C903-6B9F-4433-B1CF-6434C8AB763F}" presName="text" presStyleLbl="node1" presStyleIdx="2" presStyleCnt="4" custScaleX="169333">
        <dgm:presLayoutVars>
          <dgm:bulletEnabled val="1"/>
        </dgm:presLayoutVars>
      </dgm:prSet>
      <dgm:spPr/>
      <dgm:t>
        <a:bodyPr/>
        <a:lstStyle/>
        <a:p>
          <a:endParaRPr lang="en-US"/>
        </a:p>
      </dgm:t>
    </dgm:pt>
    <dgm:pt modelId="{1004656B-1585-442C-AD82-6CC12F6860A8}" type="pres">
      <dgm:prSet presAssocID="{6BD02970-AB2B-49A9-BD7E-2C1954D7685B}" presName="space" presStyleCnt="0"/>
      <dgm:spPr/>
    </dgm:pt>
    <dgm:pt modelId="{335D082B-89ED-4B9D-BE7B-6387901828C3}" type="pres">
      <dgm:prSet presAssocID="{3E3EEE5D-859B-4478-94BC-3A9F85738865}" presName="text" presStyleLbl="node1" presStyleIdx="3" presStyleCnt="4" custScaleX="145143" custLinFactNeighborY="4161">
        <dgm:presLayoutVars>
          <dgm:bulletEnabled val="1"/>
        </dgm:presLayoutVars>
      </dgm:prSet>
      <dgm:spPr/>
      <dgm:t>
        <a:bodyPr/>
        <a:lstStyle/>
        <a:p>
          <a:endParaRPr lang="en-US"/>
        </a:p>
      </dgm:t>
    </dgm:pt>
  </dgm:ptLst>
  <dgm:cxnLst>
    <dgm:cxn modelId="{B8CEA09E-EEC5-45E8-8F05-72810723FB80}" srcId="{34BE2EE0-AA1E-46AF-9631-F352B718FFD3}" destId="{655ACF4F-05C4-41DE-9621-263B38151E91}" srcOrd="1" destOrd="0" parTransId="{93F40337-35EC-4BEF-9551-C1E7C4E36DC6}" sibTransId="{DAFFE704-84C4-48B1-93C8-CED0E812F365}"/>
    <dgm:cxn modelId="{83F582B4-E242-40F5-AE25-8C931EADD387}" type="presOf" srcId="{655ACF4F-05C4-41DE-9621-263B38151E91}" destId="{20445616-F93C-439F-A74C-F0A27423DA0A}" srcOrd="0" destOrd="0" presId="urn:diagrams.loki3.com/VaryingWidthList+Icon"/>
    <dgm:cxn modelId="{0A07165D-0A9C-49D9-815D-958BFCE10141}" type="presOf" srcId="{7D3E23B9-CAF4-43AA-AB5F-301EF6C818E0}" destId="{6A1B29CD-5889-4E4E-AF7E-6EF0D8A04AC0}" srcOrd="0" destOrd="0" presId="urn:diagrams.loki3.com/VaryingWidthList+Icon"/>
    <dgm:cxn modelId="{4A24BF43-BF2A-4B61-9C1A-2FAE35362B71}" srcId="{34BE2EE0-AA1E-46AF-9631-F352B718FFD3}" destId="{3E3EEE5D-859B-4478-94BC-3A9F85738865}" srcOrd="3" destOrd="0" parTransId="{B60AD859-F703-47F8-852C-F6A9FA39CAF7}" sibTransId="{DA3CB93B-F696-4677-BC7F-6AFE3035A559}"/>
    <dgm:cxn modelId="{DD373A4C-D549-4AA7-B3C2-12DD8667175E}" type="presOf" srcId="{34BE2EE0-AA1E-46AF-9631-F352B718FFD3}" destId="{4A8EB3F5-6E4D-4C78-B09F-62A39D430B79}" srcOrd="0" destOrd="0" presId="urn:diagrams.loki3.com/VaryingWidthList+Icon"/>
    <dgm:cxn modelId="{295CAFEA-596B-4D6F-B560-005B4F7B2B3A}" srcId="{34BE2EE0-AA1E-46AF-9631-F352B718FFD3}" destId="{9C05C903-6B9F-4433-B1CF-6434C8AB763F}" srcOrd="2" destOrd="0" parTransId="{D4949122-053B-463A-98FC-783667E38763}" sibTransId="{6BD02970-AB2B-49A9-BD7E-2C1954D7685B}"/>
    <dgm:cxn modelId="{EFEE9CF6-BFCA-44E8-9E31-DE2EF4BD9258}" type="presOf" srcId="{3E3EEE5D-859B-4478-94BC-3A9F85738865}" destId="{335D082B-89ED-4B9D-BE7B-6387901828C3}" srcOrd="0" destOrd="0" presId="urn:diagrams.loki3.com/VaryingWidthList+Icon"/>
    <dgm:cxn modelId="{8F159CCB-5873-49AE-B4F8-DB03D5E15923}" srcId="{34BE2EE0-AA1E-46AF-9631-F352B718FFD3}" destId="{7D3E23B9-CAF4-43AA-AB5F-301EF6C818E0}" srcOrd="0" destOrd="0" parTransId="{5A9A4A8C-1FEB-4515-9D4B-1EC32D438F7C}" sibTransId="{7798588F-BE96-42FE-BD0C-E23F6E48EC20}"/>
    <dgm:cxn modelId="{5DB12857-2D04-4218-A7BA-65AC41ECA1A1}" type="presOf" srcId="{9C05C903-6B9F-4433-B1CF-6434C8AB763F}" destId="{1FF5541A-B501-4867-B68D-28C32734D539}" srcOrd="0" destOrd="0" presId="urn:diagrams.loki3.com/VaryingWidthList+Icon"/>
    <dgm:cxn modelId="{89810B3E-3F62-4D7F-994F-2BBA6F4CA3E6}" type="presParOf" srcId="{4A8EB3F5-6E4D-4C78-B09F-62A39D430B79}" destId="{6A1B29CD-5889-4E4E-AF7E-6EF0D8A04AC0}" srcOrd="0" destOrd="0" presId="urn:diagrams.loki3.com/VaryingWidthList+Icon"/>
    <dgm:cxn modelId="{C8408474-4010-4CA3-AAA2-F22171247848}" type="presParOf" srcId="{4A8EB3F5-6E4D-4C78-B09F-62A39D430B79}" destId="{8C28AD26-AC06-45E0-9770-5DF99FD3B4CA}" srcOrd="1" destOrd="0" presId="urn:diagrams.loki3.com/VaryingWidthList+Icon"/>
    <dgm:cxn modelId="{481617F2-5703-4B09-A0A0-8E63FB51BD33}" type="presParOf" srcId="{4A8EB3F5-6E4D-4C78-B09F-62A39D430B79}" destId="{20445616-F93C-439F-A74C-F0A27423DA0A}" srcOrd="2" destOrd="0" presId="urn:diagrams.loki3.com/VaryingWidthList+Icon"/>
    <dgm:cxn modelId="{7CD2A8BE-F00D-40B9-AE55-38AA7EFDBAD6}" type="presParOf" srcId="{4A8EB3F5-6E4D-4C78-B09F-62A39D430B79}" destId="{5B76DA76-658C-4032-B8EF-6906F7CE2609}" srcOrd="3" destOrd="0" presId="urn:diagrams.loki3.com/VaryingWidthList+Icon"/>
    <dgm:cxn modelId="{D4C36923-13B7-4C39-A724-0AD930B96733}" type="presParOf" srcId="{4A8EB3F5-6E4D-4C78-B09F-62A39D430B79}" destId="{1FF5541A-B501-4867-B68D-28C32734D539}" srcOrd="4" destOrd="0" presId="urn:diagrams.loki3.com/VaryingWidthList+Icon"/>
    <dgm:cxn modelId="{632D02B6-E55A-4C0D-951A-34966044AA72}" type="presParOf" srcId="{4A8EB3F5-6E4D-4C78-B09F-62A39D430B79}" destId="{1004656B-1585-442C-AD82-6CC12F6860A8}" srcOrd="5" destOrd="0" presId="urn:diagrams.loki3.com/VaryingWidthList+Icon"/>
    <dgm:cxn modelId="{96932A73-44C4-4B9B-91B8-5C9E8C6D29D6}" type="presParOf" srcId="{4A8EB3F5-6E4D-4C78-B09F-62A39D430B79}" destId="{335D082B-89ED-4B9D-BE7B-6387901828C3}" srcOrd="6" destOrd="0" presId="urn:diagrams.loki3.com/VaryingWidthList+Icon"/>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smtClean="0"/>
            <a:t>Create Work Order</a:t>
          </a:r>
          <a:endParaRPr lang="en-US" dirty="0"/>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smtClean="0"/>
            <a:t>Plan &amp; Schedule Work Order</a:t>
          </a:r>
          <a:endParaRPr lang="en-US" dirty="0"/>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smtClean="0"/>
            <a:t>Execute Work Order</a:t>
          </a:r>
          <a:endParaRPr lang="en-US" dirty="0"/>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smtClean="0"/>
            <a:t>Settle and Close Work Order</a:t>
          </a:r>
          <a:endParaRPr lang="en-US" dirty="0"/>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dgm:t>
        <a:bodyPr/>
        <a:lstStyle/>
        <a:p>
          <a:r>
            <a:rPr lang="en-US" dirty="0" smtClean="0"/>
            <a:t>Notifications</a:t>
          </a:r>
          <a:endParaRPr lang="en-US" dirty="0"/>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t>
        <a:bodyPr/>
        <a:lstStyle/>
        <a:p>
          <a:endParaRPr lang="en-US"/>
        </a:p>
      </dgm:t>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t>
        <a:bodyPr/>
        <a:lstStyle/>
        <a:p>
          <a:endParaRPr lang="en-US"/>
        </a:p>
      </dgm:t>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t>
        <a:bodyPr/>
        <a:lstStyle/>
        <a:p>
          <a:endParaRPr lang="en-US"/>
        </a:p>
      </dgm:t>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t>
        <a:bodyPr/>
        <a:lstStyle/>
        <a:p>
          <a:endParaRPr lang="en-US"/>
        </a:p>
      </dgm:t>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t>
        <a:bodyPr/>
        <a:lstStyle/>
        <a:p>
          <a:endParaRPr lang="en-US"/>
        </a:p>
      </dgm:t>
    </dgm:pt>
  </dgm:ptLst>
  <dgm:cxnLst>
    <dgm:cxn modelId="{EF7EFF1D-1532-4E6F-A6EF-7B352626D4E1}" type="presOf" srcId="{C4F43776-9781-4E15-84BC-087EC7475FF8}" destId="{C29D3575-F59F-42F7-BFD1-7C247985AEFC}"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B560AEB2-EA64-4F13-838B-E10D6801B1D3}" type="presOf" srcId="{75CC0013-4CEF-4544-9C5A-5D1A0F133113}" destId="{59B4525B-7327-4F09-A2B6-D84D0896C8A1}" srcOrd="0" destOrd="0" presId="urn:microsoft.com/office/officeart/2005/8/layout/hProcess9"/>
    <dgm:cxn modelId="{01C9BD9D-B2CD-44E3-8527-7F0785DBE4DF}" type="presOf" srcId="{7BD13AFC-9D68-436D-9326-64166B2AA8F0}" destId="{03663D1E-A6C3-47E2-9072-ACD344359913}"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E63833BF-602D-4ECD-BB3B-0B38A2A52155}" srcId="{3491930E-230F-4BDC-83EF-43107ED77BC7}" destId="{EDAACF7C-6E2A-476F-8E20-CADC094D5D28}" srcOrd="2" destOrd="0" parTransId="{194A6DDD-701B-47BD-A436-6D61B92194CA}" sibTransId="{78312653-78A9-4BB6-A5C7-6A75AD27813F}"/>
    <dgm:cxn modelId="{36F6A978-2ECE-40C6-A18D-891DA5EC07DA}" type="presOf" srcId="{3491930E-230F-4BDC-83EF-43107ED77BC7}" destId="{6F25E48F-35F2-47CE-BD42-A070F33DF86E}"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FD77B68D-FA36-4DDA-8E3A-AB65D196E0A4}" srcId="{3491930E-230F-4BDC-83EF-43107ED77BC7}" destId="{7BD13AFC-9D68-436D-9326-64166B2AA8F0}" srcOrd="0" destOrd="0" parTransId="{96B37AAC-F588-4E5E-B3AA-D64D9D1A597C}" sibTransId="{FAEB54FD-CDB9-4DFB-96BE-B496E6595754}"/>
    <dgm:cxn modelId="{80919AE4-E572-4C29-9BB5-94AF6494D9C0}" type="presOf" srcId="{EDAACF7C-6E2A-476F-8E20-CADC094D5D28}" destId="{741E6F06-B35B-4E29-B1E7-86C3A9A2C564}" srcOrd="0" destOrd="0" presId="urn:microsoft.com/office/officeart/2005/8/layout/hProcess9"/>
    <dgm:cxn modelId="{90E9195A-7099-45D5-B3FD-DE4CE8CAFFA8}" type="presOf" srcId="{00A287AA-ABFA-44D7-95B0-59F58EF5D869}" destId="{D5FD1BFE-E7A3-4EB8-B8F0-232D031387E3}" srcOrd="0" destOrd="0" presId="urn:microsoft.com/office/officeart/2005/8/layout/hProcess9"/>
    <dgm:cxn modelId="{0FAC8727-960C-40C3-933C-9995D923C1C6}" type="presParOf" srcId="{6F25E48F-35F2-47CE-BD42-A070F33DF86E}" destId="{78974AED-65E2-43CA-8F15-9071F7B05B1A}" srcOrd="0" destOrd="0" presId="urn:microsoft.com/office/officeart/2005/8/layout/hProcess9"/>
    <dgm:cxn modelId="{A33B862C-5CB1-4804-8B95-99BC5FC1EF72}" type="presParOf" srcId="{6F25E48F-35F2-47CE-BD42-A070F33DF86E}" destId="{E9B90FA4-EAB9-45D5-990A-C23F7E0486E1}" srcOrd="1" destOrd="0" presId="urn:microsoft.com/office/officeart/2005/8/layout/hProcess9"/>
    <dgm:cxn modelId="{9BFB023B-AB8F-4E5C-BA73-8804DE5C9F30}" type="presParOf" srcId="{E9B90FA4-EAB9-45D5-990A-C23F7E0486E1}" destId="{03663D1E-A6C3-47E2-9072-ACD344359913}" srcOrd="0" destOrd="0" presId="urn:microsoft.com/office/officeart/2005/8/layout/hProcess9"/>
    <dgm:cxn modelId="{ED69329B-1458-4145-9D38-8427A43EA9A2}" type="presParOf" srcId="{E9B90FA4-EAB9-45D5-990A-C23F7E0486E1}" destId="{95B0547E-6C2E-42FB-BDF6-CC37FB7AFBFF}" srcOrd="1" destOrd="0" presId="urn:microsoft.com/office/officeart/2005/8/layout/hProcess9"/>
    <dgm:cxn modelId="{13D1E511-AABF-4614-807B-032296E150F5}" type="presParOf" srcId="{E9B90FA4-EAB9-45D5-990A-C23F7E0486E1}" destId="{D5FD1BFE-E7A3-4EB8-B8F0-232D031387E3}" srcOrd="2" destOrd="0" presId="urn:microsoft.com/office/officeart/2005/8/layout/hProcess9"/>
    <dgm:cxn modelId="{8DEE82A2-68FF-4B3C-9303-431E1BB46415}" type="presParOf" srcId="{E9B90FA4-EAB9-45D5-990A-C23F7E0486E1}" destId="{3FC67D54-F441-42A8-9EAF-C38897162DCF}" srcOrd="3" destOrd="0" presId="urn:microsoft.com/office/officeart/2005/8/layout/hProcess9"/>
    <dgm:cxn modelId="{96C99746-C3A9-4548-8E9A-955FC49E560A}" type="presParOf" srcId="{E9B90FA4-EAB9-45D5-990A-C23F7E0486E1}" destId="{741E6F06-B35B-4E29-B1E7-86C3A9A2C564}" srcOrd="4" destOrd="0" presId="urn:microsoft.com/office/officeart/2005/8/layout/hProcess9"/>
    <dgm:cxn modelId="{E068CDA0-D215-4B15-BD22-C1A1739E307C}" type="presParOf" srcId="{E9B90FA4-EAB9-45D5-990A-C23F7E0486E1}" destId="{974B184A-8E54-46E0-887B-F29ABC8A29C2}" srcOrd="5" destOrd="0" presId="urn:microsoft.com/office/officeart/2005/8/layout/hProcess9"/>
    <dgm:cxn modelId="{C8FD0066-AB06-4324-A2B6-2D3B49F2E527}" type="presParOf" srcId="{E9B90FA4-EAB9-45D5-990A-C23F7E0486E1}" destId="{C29D3575-F59F-42F7-BFD1-7C247985AEFC}" srcOrd="6" destOrd="0" presId="urn:microsoft.com/office/officeart/2005/8/layout/hProcess9"/>
    <dgm:cxn modelId="{55A2DCD9-ED90-490C-AB8F-0BD9FBE38827}" type="presParOf" srcId="{E9B90FA4-EAB9-45D5-990A-C23F7E0486E1}" destId="{397017BD-7FBE-4DCF-A154-814A2C352B5F}" srcOrd="7" destOrd="0" presId="urn:microsoft.com/office/officeart/2005/8/layout/hProcess9"/>
    <dgm:cxn modelId="{2B51AD95-ED02-4EA5-9711-B4D36DD70E7A}"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4BE2EE0-AA1E-46AF-9631-F352B718FFD3}" type="doc">
      <dgm:prSet loTypeId="urn:diagrams.loki3.com/VaryingWidthList+Icon" loCatId="list" qsTypeId="urn:microsoft.com/office/officeart/2005/8/quickstyle/simple1" qsCatId="simple" csTypeId="urn:microsoft.com/office/officeart/2005/8/colors/accent1_2" csCatId="accent1" phldr="1"/>
      <dgm:spPr/>
    </dgm:pt>
    <dgm:pt modelId="{7D3E23B9-CAF4-43AA-AB5F-301EF6C818E0}">
      <dgm:prSet phldrT="[Text]" custT="1"/>
      <dgm:spPr/>
      <dgm:t>
        <a:bodyPr/>
        <a:lstStyle/>
        <a:p>
          <a:r>
            <a:rPr lang="en-US" sz="1200" dirty="0" smtClean="0"/>
            <a:t>Corrective Maintenance</a:t>
          </a:r>
          <a:endParaRPr lang="en-US" sz="1200" dirty="0"/>
        </a:p>
      </dgm:t>
    </dgm:pt>
    <dgm:pt modelId="{5A9A4A8C-1FEB-4515-9D4B-1EC32D438F7C}" type="parTrans" cxnId="{8F159CCB-5873-49AE-B4F8-DB03D5E15923}">
      <dgm:prSet/>
      <dgm:spPr/>
      <dgm:t>
        <a:bodyPr/>
        <a:lstStyle/>
        <a:p>
          <a:endParaRPr lang="en-US"/>
        </a:p>
      </dgm:t>
    </dgm:pt>
    <dgm:pt modelId="{7798588F-BE96-42FE-BD0C-E23F6E48EC20}" type="sibTrans" cxnId="{8F159CCB-5873-49AE-B4F8-DB03D5E15923}">
      <dgm:prSet/>
      <dgm:spPr/>
      <dgm:t>
        <a:bodyPr/>
        <a:lstStyle/>
        <a:p>
          <a:endParaRPr lang="en-US"/>
        </a:p>
      </dgm:t>
    </dgm:pt>
    <dgm:pt modelId="{655ACF4F-05C4-41DE-9621-263B38151E91}">
      <dgm:prSet phldrT="[Text]" custT="1"/>
      <dgm:spPr/>
      <dgm:t>
        <a:bodyPr/>
        <a:lstStyle/>
        <a:p>
          <a:r>
            <a:rPr lang="en-US" sz="1200" dirty="0" smtClean="0"/>
            <a:t>Unplanned Corrective  Maintenance</a:t>
          </a:r>
          <a:endParaRPr lang="en-US" sz="1200" dirty="0"/>
        </a:p>
      </dgm:t>
    </dgm:pt>
    <dgm:pt modelId="{93F40337-35EC-4BEF-9551-C1E7C4E36DC6}" type="parTrans" cxnId="{B8CEA09E-EEC5-45E8-8F05-72810723FB80}">
      <dgm:prSet/>
      <dgm:spPr/>
      <dgm:t>
        <a:bodyPr/>
        <a:lstStyle/>
        <a:p>
          <a:endParaRPr lang="en-US"/>
        </a:p>
      </dgm:t>
    </dgm:pt>
    <dgm:pt modelId="{DAFFE704-84C4-48B1-93C8-CED0E812F365}" type="sibTrans" cxnId="{B8CEA09E-EEC5-45E8-8F05-72810723FB80}">
      <dgm:prSet/>
      <dgm:spPr/>
      <dgm:t>
        <a:bodyPr/>
        <a:lstStyle/>
        <a:p>
          <a:endParaRPr lang="en-US"/>
        </a:p>
      </dgm:t>
    </dgm:pt>
    <dgm:pt modelId="{9C05C903-6B9F-4433-B1CF-6434C8AB763F}">
      <dgm:prSet phldrT="[Text]" custT="1"/>
      <dgm:spPr/>
      <dgm:t>
        <a:bodyPr/>
        <a:lstStyle/>
        <a:p>
          <a:r>
            <a:rPr lang="en-US" sz="1200" dirty="0" smtClean="0"/>
            <a:t>Emergency Maintenance</a:t>
          </a:r>
          <a:endParaRPr lang="en-US" sz="1200" dirty="0"/>
        </a:p>
      </dgm:t>
    </dgm:pt>
    <dgm:pt modelId="{D4949122-053B-463A-98FC-783667E38763}" type="parTrans" cxnId="{295CAFEA-596B-4D6F-B560-005B4F7B2B3A}">
      <dgm:prSet/>
      <dgm:spPr/>
      <dgm:t>
        <a:bodyPr/>
        <a:lstStyle/>
        <a:p>
          <a:endParaRPr lang="en-US"/>
        </a:p>
      </dgm:t>
    </dgm:pt>
    <dgm:pt modelId="{6BD02970-AB2B-49A9-BD7E-2C1954D7685B}" type="sibTrans" cxnId="{295CAFEA-596B-4D6F-B560-005B4F7B2B3A}">
      <dgm:prSet/>
      <dgm:spPr/>
      <dgm:t>
        <a:bodyPr/>
        <a:lstStyle/>
        <a:p>
          <a:endParaRPr lang="en-US"/>
        </a:p>
      </dgm:t>
    </dgm:pt>
    <dgm:pt modelId="{3E3EEE5D-859B-4478-94BC-3A9F85738865}">
      <dgm:prSet custT="1"/>
      <dgm:spPr/>
      <dgm:t>
        <a:bodyPr/>
        <a:lstStyle/>
        <a:p>
          <a:r>
            <a:rPr lang="en-US" sz="1200" dirty="0" smtClean="0"/>
            <a:t>Preventive </a:t>
          </a:r>
          <a:r>
            <a:rPr lang="en-US" sz="1200" dirty="0" smtClean="0"/>
            <a:t>Maintenance</a:t>
          </a:r>
          <a:endParaRPr lang="en-US" sz="1200" dirty="0"/>
        </a:p>
      </dgm:t>
    </dgm:pt>
    <dgm:pt modelId="{B60AD859-F703-47F8-852C-F6A9FA39CAF7}" type="parTrans" cxnId="{4A24BF43-BF2A-4B61-9C1A-2FAE35362B71}">
      <dgm:prSet/>
      <dgm:spPr/>
      <dgm:t>
        <a:bodyPr/>
        <a:lstStyle/>
        <a:p>
          <a:endParaRPr lang="en-US"/>
        </a:p>
      </dgm:t>
    </dgm:pt>
    <dgm:pt modelId="{DA3CB93B-F696-4677-BC7F-6AFE3035A559}" type="sibTrans" cxnId="{4A24BF43-BF2A-4B61-9C1A-2FAE35362B71}">
      <dgm:prSet/>
      <dgm:spPr/>
      <dgm:t>
        <a:bodyPr/>
        <a:lstStyle/>
        <a:p>
          <a:endParaRPr lang="en-US"/>
        </a:p>
      </dgm:t>
    </dgm:pt>
    <dgm:pt modelId="{4A8EB3F5-6E4D-4C78-B09F-62A39D430B79}" type="pres">
      <dgm:prSet presAssocID="{34BE2EE0-AA1E-46AF-9631-F352B718FFD3}" presName="Name0" presStyleCnt="0">
        <dgm:presLayoutVars>
          <dgm:resizeHandles/>
        </dgm:presLayoutVars>
      </dgm:prSet>
      <dgm:spPr/>
    </dgm:pt>
    <dgm:pt modelId="{6A1B29CD-5889-4E4E-AF7E-6EF0D8A04AC0}" type="pres">
      <dgm:prSet presAssocID="{7D3E23B9-CAF4-43AA-AB5F-301EF6C818E0}" presName="text" presStyleLbl="node1" presStyleIdx="0" presStyleCnt="4" custScaleX="175168" custLinFactNeighborX="-2917">
        <dgm:presLayoutVars>
          <dgm:bulletEnabled val="1"/>
        </dgm:presLayoutVars>
      </dgm:prSet>
      <dgm:spPr/>
      <dgm:t>
        <a:bodyPr/>
        <a:lstStyle/>
        <a:p>
          <a:endParaRPr lang="en-US"/>
        </a:p>
      </dgm:t>
    </dgm:pt>
    <dgm:pt modelId="{8C28AD26-AC06-45E0-9770-5DF99FD3B4CA}" type="pres">
      <dgm:prSet presAssocID="{7798588F-BE96-42FE-BD0C-E23F6E48EC20}" presName="space" presStyleCnt="0"/>
      <dgm:spPr/>
    </dgm:pt>
    <dgm:pt modelId="{20445616-F93C-439F-A74C-F0A27423DA0A}" type="pres">
      <dgm:prSet presAssocID="{655ACF4F-05C4-41DE-9621-263B38151E91}" presName="text" presStyleLbl="node1" presStyleIdx="1" presStyleCnt="4" custScaleX="169333">
        <dgm:presLayoutVars>
          <dgm:bulletEnabled val="1"/>
        </dgm:presLayoutVars>
      </dgm:prSet>
      <dgm:spPr/>
      <dgm:t>
        <a:bodyPr/>
        <a:lstStyle/>
        <a:p>
          <a:endParaRPr lang="en-US"/>
        </a:p>
      </dgm:t>
    </dgm:pt>
    <dgm:pt modelId="{5B76DA76-658C-4032-B8EF-6906F7CE2609}" type="pres">
      <dgm:prSet presAssocID="{DAFFE704-84C4-48B1-93C8-CED0E812F365}" presName="space" presStyleCnt="0"/>
      <dgm:spPr/>
    </dgm:pt>
    <dgm:pt modelId="{1FF5541A-B501-4867-B68D-28C32734D539}" type="pres">
      <dgm:prSet presAssocID="{9C05C903-6B9F-4433-B1CF-6434C8AB763F}" presName="text" presStyleLbl="node1" presStyleIdx="2" presStyleCnt="4" custScaleX="169333">
        <dgm:presLayoutVars>
          <dgm:bulletEnabled val="1"/>
        </dgm:presLayoutVars>
      </dgm:prSet>
      <dgm:spPr/>
      <dgm:t>
        <a:bodyPr/>
        <a:lstStyle/>
        <a:p>
          <a:endParaRPr lang="en-US"/>
        </a:p>
      </dgm:t>
    </dgm:pt>
    <dgm:pt modelId="{1004656B-1585-442C-AD82-6CC12F6860A8}" type="pres">
      <dgm:prSet presAssocID="{6BD02970-AB2B-49A9-BD7E-2C1954D7685B}" presName="space" presStyleCnt="0"/>
      <dgm:spPr/>
    </dgm:pt>
    <dgm:pt modelId="{335D082B-89ED-4B9D-BE7B-6387901828C3}" type="pres">
      <dgm:prSet presAssocID="{3E3EEE5D-859B-4478-94BC-3A9F85738865}" presName="text" presStyleLbl="node1" presStyleIdx="3" presStyleCnt="4" custScaleX="145143" custLinFactNeighborY="4161">
        <dgm:presLayoutVars>
          <dgm:bulletEnabled val="1"/>
        </dgm:presLayoutVars>
      </dgm:prSet>
      <dgm:spPr/>
      <dgm:t>
        <a:bodyPr/>
        <a:lstStyle/>
        <a:p>
          <a:endParaRPr lang="en-US"/>
        </a:p>
      </dgm:t>
    </dgm:pt>
  </dgm:ptLst>
  <dgm:cxnLst>
    <dgm:cxn modelId="{B1ADCBB0-001B-4F83-BCFE-7DB30CE743AE}" type="presOf" srcId="{655ACF4F-05C4-41DE-9621-263B38151E91}" destId="{20445616-F93C-439F-A74C-F0A27423DA0A}" srcOrd="0" destOrd="0" presId="urn:diagrams.loki3.com/VaryingWidthList+Icon"/>
    <dgm:cxn modelId="{B8CEA09E-EEC5-45E8-8F05-72810723FB80}" srcId="{34BE2EE0-AA1E-46AF-9631-F352B718FFD3}" destId="{655ACF4F-05C4-41DE-9621-263B38151E91}" srcOrd="1" destOrd="0" parTransId="{93F40337-35EC-4BEF-9551-C1E7C4E36DC6}" sibTransId="{DAFFE704-84C4-48B1-93C8-CED0E812F365}"/>
    <dgm:cxn modelId="{905C6C7F-B4D0-4510-B622-1337A29A551E}" type="presOf" srcId="{3E3EEE5D-859B-4478-94BC-3A9F85738865}" destId="{335D082B-89ED-4B9D-BE7B-6387901828C3}" srcOrd="0" destOrd="0" presId="urn:diagrams.loki3.com/VaryingWidthList+Icon"/>
    <dgm:cxn modelId="{4A24BF43-BF2A-4B61-9C1A-2FAE35362B71}" srcId="{34BE2EE0-AA1E-46AF-9631-F352B718FFD3}" destId="{3E3EEE5D-859B-4478-94BC-3A9F85738865}" srcOrd="3" destOrd="0" parTransId="{B60AD859-F703-47F8-852C-F6A9FA39CAF7}" sibTransId="{DA3CB93B-F696-4677-BC7F-6AFE3035A559}"/>
    <dgm:cxn modelId="{295CAFEA-596B-4D6F-B560-005B4F7B2B3A}" srcId="{34BE2EE0-AA1E-46AF-9631-F352B718FFD3}" destId="{9C05C903-6B9F-4433-B1CF-6434C8AB763F}" srcOrd="2" destOrd="0" parTransId="{D4949122-053B-463A-98FC-783667E38763}" sibTransId="{6BD02970-AB2B-49A9-BD7E-2C1954D7685B}"/>
    <dgm:cxn modelId="{743E42DD-0B58-4ACF-B754-863AD633ECB1}" type="presOf" srcId="{34BE2EE0-AA1E-46AF-9631-F352B718FFD3}" destId="{4A8EB3F5-6E4D-4C78-B09F-62A39D430B79}" srcOrd="0" destOrd="0" presId="urn:diagrams.loki3.com/VaryingWidthList+Icon"/>
    <dgm:cxn modelId="{8F159CCB-5873-49AE-B4F8-DB03D5E15923}" srcId="{34BE2EE0-AA1E-46AF-9631-F352B718FFD3}" destId="{7D3E23B9-CAF4-43AA-AB5F-301EF6C818E0}" srcOrd="0" destOrd="0" parTransId="{5A9A4A8C-1FEB-4515-9D4B-1EC32D438F7C}" sibTransId="{7798588F-BE96-42FE-BD0C-E23F6E48EC20}"/>
    <dgm:cxn modelId="{29866A60-297D-45BD-A03C-D739E128A9F7}" type="presOf" srcId="{9C05C903-6B9F-4433-B1CF-6434C8AB763F}" destId="{1FF5541A-B501-4867-B68D-28C32734D539}" srcOrd="0" destOrd="0" presId="urn:diagrams.loki3.com/VaryingWidthList+Icon"/>
    <dgm:cxn modelId="{A24A18BB-D4CB-4563-9CC7-31C52CA3BDAD}" type="presOf" srcId="{7D3E23B9-CAF4-43AA-AB5F-301EF6C818E0}" destId="{6A1B29CD-5889-4E4E-AF7E-6EF0D8A04AC0}" srcOrd="0" destOrd="0" presId="urn:diagrams.loki3.com/VaryingWidthList+Icon"/>
    <dgm:cxn modelId="{27F5EF95-04C8-4B91-8055-876F4C4FDE49}" type="presParOf" srcId="{4A8EB3F5-6E4D-4C78-B09F-62A39D430B79}" destId="{6A1B29CD-5889-4E4E-AF7E-6EF0D8A04AC0}" srcOrd="0" destOrd="0" presId="urn:diagrams.loki3.com/VaryingWidthList+Icon"/>
    <dgm:cxn modelId="{40D16CB7-3D7C-4B81-9DF3-627450B35073}" type="presParOf" srcId="{4A8EB3F5-6E4D-4C78-B09F-62A39D430B79}" destId="{8C28AD26-AC06-45E0-9770-5DF99FD3B4CA}" srcOrd="1" destOrd="0" presId="urn:diagrams.loki3.com/VaryingWidthList+Icon"/>
    <dgm:cxn modelId="{1DEA43B7-802C-4034-90EE-5AC85441C2C1}" type="presParOf" srcId="{4A8EB3F5-6E4D-4C78-B09F-62A39D430B79}" destId="{20445616-F93C-439F-A74C-F0A27423DA0A}" srcOrd="2" destOrd="0" presId="urn:diagrams.loki3.com/VaryingWidthList+Icon"/>
    <dgm:cxn modelId="{0BE78B83-1646-423E-8121-4D9ACECD4C3E}" type="presParOf" srcId="{4A8EB3F5-6E4D-4C78-B09F-62A39D430B79}" destId="{5B76DA76-658C-4032-B8EF-6906F7CE2609}" srcOrd="3" destOrd="0" presId="urn:diagrams.loki3.com/VaryingWidthList+Icon"/>
    <dgm:cxn modelId="{5F771569-A220-4158-BEA3-2AC1ACFE7738}" type="presParOf" srcId="{4A8EB3F5-6E4D-4C78-B09F-62A39D430B79}" destId="{1FF5541A-B501-4867-B68D-28C32734D539}" srcOrd="4" destOrd="0" presId="urn:diagrams.loki3.com/VaryingWidthList+Icon"/>
    <dgm:cxn modelId="{DC0FCAA1-0015-477E-B823-5E748CF14511}" type="presParOf" srcId="{4A8EB3F5-6E4D-4C78-B09F-62A39D430B79}" destId="{1004656B-1585-442C-AD82-6CC12F6860A8}" srcOrd="5" destOrd="0" presId="urn:diagrams.loki3.com/VaryingWidthList+Icon"/>
    <dgm:cxn modelId="{EE587436-880A-4051-83C4-7FF44AAF4E4E}" type="presParOf" srcId="{4A8EB3F5-6E4D-4C78-B09F-62A39D430B79}" destId="{335D082B-89ED-4B9D-BE7B-6387901828C3}" srcOrd="6" destOrd="0" presId="urn:diagrams.loki3.com/VaryingWidthList+Icon"/>
  </dgm:cxnLst>
  <dgm:bg/>
  <dgm:whole>
    <a:ln w="63500">
      <a:solidFill>
        <a:srgbClr val="FF0000"/>
      </a:solidFill>
    </a:ln>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smtClean="0"/>
            <a:t>Create Work Order</a:t>
          </a:r>
          <a:endParaRPr lang="en-US" dirty="0"/>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smtClean="0"/>
            <a:t>Plan &amp; Schedule Work Order</a:t>
          </a:r>
          <a:endParaRPr lang="en-US" dirty="0"/>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smtClean="0"/>
            <a:t>Execute Work Order</a:t>
          </a:r>
          <a:endParaRPr lang="en-US" dirty="0"/>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smtClean="0"/>
            <a:t>Settle and Close Work Order</a:t>
          </a:r>
          <a:endParaRPr lang="en-US" dirty="0"/>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dgm:t>
        <a:bodyPr/>
        <a:lstStyle/>
        <a:p>
          <a:r>
            <a:rPr lang="en-US" dirty="0" smtClean="0"/>
            <a:t>Notifications</a:t>
          </a:r>
          <a:endParaRPr lang="en-US" dirty="0"/>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t>
        <a:bodyPr/>
        <a:lstStyle/>
        <a:p>
          <a:endParaRPr lang="en-US"/>
        </a:p>
      </dgm:t>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t>
        <a:bodyPr/>
        <a:lstStyle/>
        <a:p>
          <a:endParaRPr lang="en-US"/>
        </a:p>
      </dgm:t>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t>
        <a:bodyPr/>
        <a:lstStyle/>
        <a:p>
          <a:endParaRPr lang="en-US"/>
        </a:p>
      </dgm:t>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t>
        <a:bodyPr/>
        <a:lstStyle/>
        <a:p>
          <a:endParaRPr lang="en-US"/>
        </a:p>
      </dgm:t>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t>
        <a:bodyPr/>
        <a:lstStyle/>
        <a:p>
          <a:endParaRPr lang="en-US"/>
        </a:p>
      </dgm:t>
    </dgm:pt>
  </dgm:ptLst>
  <dgm:cxnLst>
    <dgm:cxn modelId="{67F826A9-913C-4B27-8FD7-8C7FA12020E5}" type="presOf" srcId="{75CC0013-4CEF-4544-9C5A-5D1A0F133113}" destId="{59B4525B-7327-4F09-A2B6-D84D0896C8A1}"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960CA070-82CB-4C9F-BB59-8F484171E760}" type="presOf" srcId="{00A287AA-ABFA-44D7-95B0-59F58EF5D869}" destId="{D5FD1BFE-E7A3-4EB8-B8F0-232D031387E3}"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E63833BF-602D-4ECD-BB3B-0B38A2A52155}" srcId="{3491930E-230F-4BDC-83EF-43107ED77BC7}" destId="{EDAACF7C-6E2A-476F-8E20-CADC094D5D28}" srcOrd="2" destOrd="0" parTransId="{194A6DDD-701B-47BD-A436-6D61B92194CA}" sibTransId="{78312653-78A9-4BB6-A5C7-6A75AD27813F}"/>
    <dgm:cxn modelId="{031DC313-A54B-402D-8B9B-3BB304E09091}" type="presOf" srcId="{7BD13AFC-9D68-436D-9326-64166B2AA8F0}" destId="{03663D1E-A6C3-47E2-9072-ACD344359913}" srcOrd="0" destOrd="0" presId="urn:microsoft.com/office/officeart/2005/8/layout/hProcess9"/>
    <dgm:cxn modelId="{C2299F94-F4A2-4E2C-AD06-B1183FC99A31}" type="presOf" srcId="{EDAACF7C-6E2A-476F-8E20-CADC094D5D28}" destId="{741E6F06-B35B-4E29-B1E7-86C3A9A2C564}"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C6C7DE3F-4684-463B-B6C1-E27827022F50}" type="presOf" srcId="{C4F43776-9781-4E15-84BC-087EC7475FF8}" destId="{C29D3575-F59F-42F7-BFD1-7C247985AEFC}" srcOrd="0" destOrd="0" presId="urn:microsoft.com/office/officeart/2005/8/layout/hProcess9"/>
    <dgm:cxn modelId="{FD77B68D-FA36-4DDA-8E3A-AB65D196E0A4}" srcId="{3491930E-230F-4BDC-83EF-43107ED77BC7}" destId="{7BD13AFC-9D68-436D-9326-64166B2AA8F0}" srcOrd="0" destOrd="0" parTransId="{96B37AAC-F588-4E5E-B3AA-D64D9D1A597C}" sibTransId="{FAEB54FD-CDB9-4DFB-96BE-B496E6595754}"/>
    <dgm:cxn modelId="{B06E1D49-F011-407C-8928-DE53FAD77531}" type="presOf" srcId="{3491930E-230F-4BDC-83EF-43107ED77BC7}" destId="{6F25E48F-35F2-47CE-BD42-A070F33DF86E}" srcOrd="0" destOrd="0" presId="urn:microsoft.com/office/officeart/2005/8/layout/hProcess9"/>
    <dgm:cxn modelId="{993023D9-AB3B-4FFF-93AE-5DA2835A28F0}" type="presParOf" srcId="{6F25E48F-35F2-47CE-BD42-A070F33DF86E}" destId="{78974AED-65E2-43CA-8F15-9071F7B05B1A}" srcOrd="0" destOrd="0" presId="urn:microsoft.com/office/officeart/2005/8/layout/hProcess9"/>
    <dgm:cxn modelId="{AC066B28-BE5C-4E7C-A325-C1018F860303}" type="presParOf" srcId="{6F25E48F-35F2-47CE-BD42-A070F33DF86E}" destId="{E9B90FA4-EAB9-45D5-990A-C23F7E0486E1}" srcOrd="1" destOrd="0" presId="urn:microsoft.com/office/officeart/2005/8/layout/hProcess9"/>
    <dgm:cxn modelId="{606E6FAC-AFF8-4A9A-B366-8B5C78E2B826}" type="presParOf" srcId="{E9B90FA4-EAB9-45D5-990A-C23F7E0486E1}" destId="{03663D1E-A6C3-47E2-9072-ACD344359913}" srcOrd="0" destOrd="0" presId="urn:microsoft.com/office/officeart/2005/8/layout/hProcess9"/>
    <dgm:cxn modelId="{E103668D-0694-4A9B-92DF-4E1B5AB1D784}" type="presParOf" srcId="{E9B90FA4-EAB9-45D5-990A-C23F7E0486E1}" destId="{95B0547E-6C2E-42FB-BDF6-CC37FB7AFBFF}" srcOrd="1" destOrd="0" presId="urn:microsoft.com/office/officeart/2005/8/layout/hProcess9"/>
    <dgm:cxn modelId="{A4260F26-B7C6-45D1-A1C8-28C21AC756A4}" type="presParOf" srcId="{E9B90FA4-EAB9-45D5-990A-C23F7E0486E1}" destId="{D5FD1BFE-E7A3-4EB8-B8F0-232D031387E3}" srcOrd="2" destOrd="0" presId="urn:microsoft.com/office/officeart/2005/8/layout/hProcess9"/>
    <dgm:cxn modelId="{9C0E3617-049C-4DD1-9F4D-ADEDBE730D17}" type="presParOf" srcId="{E9B90FA4-EAB9-45D5-990A-C23F7E0486E1}" destId="{3FC67D54-F441-42A8-9EAF-C38897162DCF}" srcOrd="3" destOrd="0" presId="urn:microsoft.com/office/officeart/2005/8/layout/hProcess9"/>
    <dgm:cxn modelId="{DE170CEE-BB87-4726-BFCC-5296101A6ED5}" type="presParOf" srcId="{E9B90FA4-EAB9-45D5-990A-C23F7E0486E1}" destId="{741E6F06-B35B-4E29-B1E7-86C3A9A2C564}" srcOrd="4" destOrd="0" presId="urn:microsoft.com/office/officeart/2005/8/layout/hProcess9"/>
    <dgm:cxn modelId="{B28407DE-FEB3-45A7-B3EA-068DD3DC154E}" type="presParOf" srcId="{E9B90FA4-EAB9-45D5-990A-C23F7E0486E1}" destId="{974B184A-8E54-46E0-887B-F29ABC8A29C2}" srcOrd="5" destOrd="0" presId="urn:microsoft.com/office/officeart/2005/8/layout/hProcess9"/>
    <dgm:cxn modelId="{B2F315F9-D98E-44FB-AEE4-D580A858F241}" type="presParOf" srcId="{E9B90FA4-EAB9-45D5-990A-C23F7E0486E1}" destId="{C29D3575-F59F-42F7-BFD1-7C247985AEFC}" srcOrd="6" destOrd="0" presId="urn:microsoft.com/office/officeart/2005/8/layout/hProcess9"/>
    <dgm:cxn modelId="{F0BB2BAC-9370-4653-B99A-96F0EE623CF8}" type="presParOf" srcId="{E9B90FA4-EAB9-45D5-990A-C23F7E0486E1}" destId="{397017BD-7FBE-4DCF-A154-814A2C352B5F}" srcOrd="7" destOrd="0" presId="urn:microsoft.com/office/officeart/2005/8/layout/hProcess9"/>
    <dgm:cxn modelId="{0394624B-7974-4853-BBBD-D07005653837}"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4BE2EE0-AA1E-46AF-9631-F352B718FFD3}" type="doc">
      <dgm:prSet loTypeId="urn:diagrams.loki3.com/VaryingWidthList+Icon" loCatId="list" qsTypeId="urn:microsoft.com/office/officeart/2005/8/quickstyle/simple1" qsCatId="simple" csTypeId="urn:microsoft.com/office/officeart/2005/8/colors/accent1_2" csCatId="accent1" phldr="1"/>
      <dgm:spPr/>
    </dgm:pt>
    <dgm:pt modelId="{7D3E23B9-CAF4-43AA-AB5F-301EF6C818E0}">
      <dgm:prSet phldrT="[Text]" custT="1"/>
      <dgm:spPr/>
      <dgm:t>
        <a:bodyPr/>
        <a:lstStyle/>
        <a:p>
          <a:r>
            <a:rPr lang="en-US" sz="1200" dirty="0" smtClean="0"/>
            <a:t>Corrective Maintenance</a:t>
          </a:r>
          <a:endParaRPr lang="en-US" sz="1200" dirty="0"/>
        </a:p>
      </dgm:t>
    </dgm:pt>
    <dgm:pt modelId="{5A9A4A8C-1FEB-4515-9D4B-1EC32D438F7C}" type="parTrans" cxnId="{8F159CCB-5873-49AE-B4F8-DB03D5E15923}">
      <dgm:prSet/>
      <dgm:spPr/>
      <dgm:t>
        <a:bodyPr/>
        <a:lstStyle/>
        <a:p>
          <a:endParaRPr lang="en-US"/>
        </a:p>
      </dgm:t>
    </dgm:pt>
    <dgm:pt modelId="{7798588F-BE96-42FE-BD0C-E23F6E48EC20}" type="sibTrans" cxnId="{8F159CCB-5873-49AE-B4F8-DB03D5E15923}">
      <dgm:prSet/>
      <dgm:spPr/>
      <dgm:t>
        <a:bodyPr/>
        <a:lstStyle/>
        <a:p>
          <a:endParaRPr lang="en-US"/>
        </a:p>
      </dgm:t>
    </dgm:pt>
    <dgm:pt modelId="{655ACF4F-05C4-41DE-9621-263B38151E91}">
      <dgm:prSet phldrT="[Text]" custT="1"/>
      <dgm:spPr/>
      <dgm:t>
        <a:bodyPr/>
        <a:lstStyle/>
        <a:p>
          <a:r>
            <a:rPr lang="en-US" sz="1200" dirty="0" smtClean="0"/>
            <a:t>Unplanned Corrective  Maintenance</a:t>
          </a:r>
          <a:endParaRPr lang="en-US" sz="1200" dirty="0"/>
        </a:p>
      </dgm:t>
    </dgm:pt>
    <dgm:pt modelId="{93F40337-35EC-4BEF-9551-C1E7C4E36DC6}" type="parTrans" cxnId="{B8CEA09E-EEC5-45E8-8F05-72810723FB80}">
      <dgm:prSet/>
      <dgm:spPr/>
      <dgm:t>
        <a:bodyPr/>
        <a:lstStyle/>
        <a:p>
          <a:endParaRPr lang="en-US"/>
        </a:p>
      </dgm:t>
    </dgm:pt>
    <dgm:pt modelId="{DAFFE704-84C4-48B1-93C8-CED0E812F365}" type="sibTrans" cxnId="{B8CEA09E-EEC5-45E8-8F05-72810723FB80}">
      <dgm:prSet/>
      <dgm:spPr/>
      <dgm:t>
        <a:bodyPr/>
        <a:lstStyle/>
        <a:p>
          <a:endParaRPr lang="en-US"/>
        </a:p>
      </dgm:t>
    </dgm:pt>
    <dgm:pt modelId="{9C05C903-6B9F-4433-B1CF-6434C8AB763F}">
      <dgm:prSet phldrT="[Text]" custT="1"/>
      <dgm:spPr/>
      <dgm:t>
        <a:bodyPr/>
        <a:lstStyle/>
        <a:p>
          <a:r>
            <a:rPr lang="en-US" sz="1200" dirty="0" smtClean="0"/>
            <a:t>Emergency Maintenance</a:t>
          </a:r>
          <a:endParaRPr lang="en-US" sz="1200" dirty="0"/>
        </a:p>
      </dgm:t>
    </dgm:pt>
    <dgm:pt modelId="{D4949122-053B-463A-98FC-783667E38763}" type="parTrans" cxnId="{295CAFEA-596B-4D6F-B560-005B4F7B2B3A}">
      <dgm:prSet/>
      <dgm:spPr/>
      <dgm:t>
        <a:bodyPr/>
        <a:lstStyle/>
        <a:p>
          <a:endParaRPr lang="en-US"/>
        </a:p>
      </dgm:t>
    </dgm:pt>
    <dgm:pt modelId="{6BD02970-AB2B-49A9-BD7E-2C1954D7685B}" type="sibTrans" cxnId="{295CAFEA-596B-4D6F-B560-005B4F7B2B3A}">
      <dgm:prSet/>
      <dgm:spPr/>
      <dgm:t>
        <a:bodyPr/>
        <a:lstStyle/>
        <a:p>
          <a:endParaRPr lang="en-US"/>
        </a:p>
      </dgm:t>
    </dgm:pt>
    <dgm:pt modelId="{3E3EEE5D-859B-4478-94BC-3A9F85738865}">
      <dgm:prSet custT="1"/>
      <dgm:spPr/>
      <dgm:t>
        <a:bodyPr/>
        <a:lstStyle/>
        <a:p>
          <a:r>
            <a:rPr lang="en-US" sz="1200" dirty="0" smtClean="0"/>
            <a:t>Preventative Maintenance</a:t>
          </a:r>
          <a:endParaRPr lang="en-US" sz="1200" dirty="0"/>
        </a:p>
      </dgm:t>
    </dgm:pt>
    <dgm:pt modelId="{B60AD859-F703-47F8-852C-F6A9FA39CAF7}" type="parTrans" cxnId="{4A24BF43-BF2A-4B61-9C1A-2FAE35362B71}">
      <dgm:prSet/>
      <dgm:spPr/>
      <dgm:t>
        <a:bodyPr/>
        <a:lstStyle/>
        <a:p>
          <a:endParaRPr lang="en-US"/>
        </a:p>
      </dgm:t>
    </dgm:pt>
    <dgm:pt modelId="{DA3CB93B-F696-4677-BC7F-6AFE3035A559}" type="sibTrans" cxnId="{4A24BF43-BF2A-4B61-9C1A-2FAE35362B71}">
      <dgm:prSet/>
      <dgm:spPr/>
      <dgm:t>
        <a:bodyPr/>
        <a:lstStyle/>
        <a:p>
          <a:endParaRPr lang="en-US"/>
        </a:p>
      </dgm:t>
    </dgm:pt>
    <dgm:pt modelId="{4A8EB3F5-6E4D-4C78-B09F-62A39D430B79}" type="pres">
      <dgm:prSet presAssocID="{34BE2EE0-AA1E-46AF-9631-F352B718FFD3}" presName="Name0" presStyleCnt="0">
        <dgm:presLayoutVars>
          <dgm:resizeHandles/>
        </dgm:presLayoutVars>
      </dgm:prSet>
      <dgm:spPr/>
    </dgm:pt>
    <dgm:pt modelId="{6A1B29CD-5889-4E4E-AF7E-6EF0D8A04AC0}" type="pres">
      <dgm:prSet presAssocID="{7D3E23B9-CAF4-43AA-AB5F-301EF6C818E0}" presName="text" presStyleLbl="node1" presStyleIdx="0" presStyleCnt="4" custScaleX="175168" custLinFactNeighborX="-2917">
        <dgm:presLayoutVars>
          <dgm:bulletEnabled val="1"/>
        </dgm:presLayoutVars>
      </dgm:prSet>
      <dgm:spPr/>
      <dgm:t>
        <a:bodyPr/>
        <a:lstStyle/>
        <a:p>
          <a:endParaRPr lang="en-US"/>
        </a:p>
      </dgm:t>
    </dgm:pt>
    <dgm:pt modelId="{8C28AD26-AC06-45E0-9770-5DF99FD3B4CA}" type="pres">
      <dgm:prSet presAssocID="{7798588F-BE96-42FE-BD0C-E23F6E48EC20}" presName="space" presStyleCnt="0"/>
      <dgm:spPr/>
    </dgm:pt>
    <dgm:pt modelId="{20445616-F93C-439F-A74C-F0A27423DA0A}" type="pres">
      <dgm:prSet presAssocID="{655ACF4F-05C4-41DE-9621-263B38151E91}" presName="text" presStyleLbl="node1" presStyleIdx="1" presStyleCnt="4" custScaleX="169333">
        <dgm:presLayoutVars>
          <dgm:bulletEnabled val="1"/>
        </dgm:presLayoutVars>
      </dgm:prSet>
      <dgm:spPr/>
      <dgm:t>
        <a:bodyPr/>
        <a:lstStyle/>
        <a:p>
          <a:endParaRPr lang="en-US"/>
        </a:p>
      </dgm:t>
    </dgm:pt>
    <dgm:pt modelId="{5B76DA76-658C-4032-B8EF-6906F7CE2609}" type="pres">
      <dgm:prSet presAssocID="{DAFFE704-84C4-48B1-93C8-CED0E812F365}" presName="space" presStyleCnt="0"/>
      <dgm:spPr/>
    </dgm:pt>
    <dgm:pt modelId="{1FF5541A-B501-4867-B68D-28C32734D539}" type="pres">
      <dgm:prSet presAssocID="{9C05C903-6B9F-4433-B1CF-6434C8AB763F}" presName="text" presStyleLbl="node1" presStyleIdx="2" presStyleCnt="4" custScaleX="169333">
        <dgm:presLayoutVars>
          <dgm:bulletEnabled val="1"/>
        </dgm:presLayoutVars>
      </dgm:prSet>
      <dgm:spPr/>
      <dgm:t>
        <a:bodyPr/>
        <a:lstStyle/>
        <a:p>
          <a:endParaRPr lang="en-US"/>
        </a:p>
      </dgm:t>
    </dgm:pt>
    <dgm:pt modelId="{1004656B-1585-442C-AD82-6CC12F6860A8}" type="pres">
      <dgm:prSet presAssocID="{6BD02970-AB2B-49A9-BD7E-2C1954D7685B}" presName="space" presStyleCnt="0"/>
      <dgm:spPr/>
    </dgm:pt>
    <dgm:pt modelId="{335D082B-89ED-4B9D-BE7B-6387901828C3}" type="pres">
      <dgm:prSet presAssocID="{3E3EEE5D-859B-4478-94BC-3A9F85738865}" presName="text" presStyleLbl="node1" presStyleIdx="3" presStyleCnt="4" custScaleX="145143" custLinFactNeighborY="4161">
        <dgm:presLayoutVars>
          <dgm:bulletEnabled val="1"/>
        </dgm:presLayoutVars>
      </dgm:prSet>
      <dgm:spPr/>
      <dgm:t>
        <a:bodyPr/>
        <a:lstStyle/>
        <a:p>
          <a:endParaRPr lang="en-US"/>
        </a:p>
      </dgm:t>
    </dgm:pt>
  </dgm:ptLst>
  <dgm:cxnLst>
    <dgm:cxn modelId="{622E57FE-47B3-4ACF-A444-35B1843BAD8B}" type="presOf" srcId="{9C05C903-6B9F-4433-B1CF-6434C8AB763F}" destId="{1FF5541A-B501-4867-B68D-28C32734D539}" srcOrd="0" destOrd="0" presId="urn:diagrams.loki3.com/VaryingWidthList+Icon"/>
    <dgm:cxn modelId="{05EE9129-D8CB-493C-829C-7AF515861407}" type="presOf" srcId="{3E3EEE5D-859B-4478-94BC-3A9F85738865}" destId="{335D082B-89ED-4B9D-BE7B-6387901828C3}" srcOrd="0" destOrd="0" presId="urn:diagrams.loki3.com/VaryingWidthList+Icon"/>
    <dgm:cxn modelId="{F8F55A0B-AEC6-4D20-989E-772E8D68361D}" type="presOf" srcId="{7D3E23B9-CAF4-43AA-AB5F-301EF6C818E0}" destId="{6A1B29CD-5889-4E4E-AF7E-6EF0D8A04AC0}" srcOrd="0" destOrd="0" presId="urn:diagrams.loki3.com/VaryingWidthList+Icon"/>
    <dgm:cxn modelId="{62DA358B-EF99-4AAB-9DB2-AE569FCEF6F0}" type="presOf" srcId="{655ACF4F-05C4-41DE-9621-263B38151E91}" destId="{20445616-F93C-439F-A74C-F0A27423DA0A}" srcOrd="0" destOrd="0" presId="urn:diagrams.loki3.com/VaryingWidthList+Icon"/>
    <dgm:cxn modelId="{B8CEA09E-EEC5-45E8-8F05-72810723FB80}" srcId="{34BE2EE0-AA1E-46AF-9631-F352B718FFD3}" destId="{655ACF4F-05C4-41DE-9621-263B38151E91}" srcOrd="1" destOrd="0" parTransId="{93F40337-35EC-4BEF-9551-C1E7C4E36DC6}" sibTransId="{DAFFE704-84C4-48B1-93C8-CED0E812F365}"/>
    <dgm:cxn modelId="{4A24BF43-BF2A-4B61-9C1A-2FAE35362B71}" srcId="{34BE2EE0-AA1E-46AF-9631-F352B718FFD3}" destId="{3E3EEE5D-859B-4478-94BC-3A9F85738865}" srcOrd="3" destOrd="0" parTransId="{B60AD859-F703-47F8-852C-F6A9FA39CAF7}" sibTransId="{DA3CB93B-F696-4677-BC7F-6AFE3035A559}"/>
    <dgm:cxn modelId="{295CAFEA-596B-4D6F-B560-005B4F7B2B3A}" srcId="{34BE2EE0-AA1E-46AF-9631-F352B718FFD3}" destId="{9C05C903-6B9F-4433-B1CF-6434C8AB763F}" srcOrd="2" destOrd="0" parTransId="{D4949122-053B-463A-98FC-783667E38763}" sibTransId="{6BD02970-AB2B-49A9-BD7E-2C1954D7685B}"/>
    <dgm:cxn modelId="{9F4B0CDA-FEB4-4C5C-8305-9A23ED353D43}" type="presOf" srcId="{34BE2EE0-AA1E-46AF-9631-F352B718FFD3}" destId="{4A8EB3F5-6E4D-4C78-B09F-62A39D430B79}" srcOrd="0" destOrd="0" presId="urn:diagrams.loki3.com/VaryingWidthList+Icon"/>
    <dgm:cxn modelId="{8F159CCB-5873-49AE-B4F8-DB03D5E15923}" srcId="{34BE2EE0-AA1E-46AF-9631-F352B718FFD3}" destId="{7D3E23B9-CAF4-43AA-AB5F-301EF6C818E0}" srcOrd="0" destOrd="0" parTransId="{5A9A4A8C-1FEB-4515-9D4B-1EC32D438F7C}" sibTransId="{7798588F-BE96-42FE-BD0C-E23F6E48EC20}"/>
    <dgm:cxn modelId="{B60D006C-BDFB-448E-B08D-6F174799A803}" type="presParOf" srcId="{4A8EB3F5-6E4D-4C78-B09F-62A39D430B79}" destId="{6A1B29CD-5889-4E4E-AF7E-6EF0D8A04AC0}" srcOrd="0" destOrd="0" presId="urn:diagrams.loki3.com/VaryingWidthList+Icon"/>
    <dgm:cxn modelId="{E37B158C-0497-45C0-9277-55AE88DA38AD}" type="presParOf" srcId="{4A8EB3F5-6E4D-4C78-B09F-62A39D430B79}" destId="{8C28AD26-AC06-45E0-9770-5DF99FD3B4CA}" srcOrd="1" destOrd="0" presId="urn:diagrams.loki3.com/VaryingWidthList+Icon"/>
    <dgm:cxn modelId="{62EBDC09-9BBB-462E-A398-08E75ACC4794}" type="presParOf" srcId="{4A8EB3F5-6E4D-4C78-B09F-62A39D430B79}" destId="{20445616-F93C-439F-A74C-F0A27423DA0A}" srcOrd="2" destOrd="0" presId="urn:diagrams.loki3.com/VaryingWidthList+Icon"/>
    <dgm:cxn modelId="{8DFB5E36-CEB0-4FF2-905C-0A990D563CF2}" type="presParOf" srcId="{4A8EB3F5-6E4D-4C78-B09F-62A39D430B79}" destId="{5B76DA76-658C-4032-B8EF-6906F7CE2609}" srcOrd="3" destOrd="0" presId="urn:diagrams.loki3.com/VaryingWidthList+Icon"/>
    <dgm:cxn modelId="{69F9530B-A760-4B3F-9594-40BC096D130B}" type="presParOf" srcId="{4A8EB3F5-6E4D-4C78-B09F-62A39D430B79}" destId="{1FF5541A-B501-4867-B68D-28C32734D539}" srcOrd="4" destOrd="0" presId="urn:diagrams.loki3.com/VaryingWidthList+Icon"/>
    <dgm:cxn modelId="{5EE8793B-896F-4D14-B874-8D41504AC792}" type="presParOf" srcId="{4A8EB3F5-6E4D-4C78-B09F-62A39D430B79}" destId="{1004656B-1585-442C-AD82-6CC12F6860A8}" srcOrd="5" destOrd="0" presId="urn:diagrams.loki3.com/VaryingWidthList+Icon"/>
    <dgm:cxn modelId="{B2F3F2D5-4711-4B14-BB26-DC912C1A2EA6}" type="presParOf" srcId="{4A8EB3F5-6E4D-4C78-B09F-62A39D430B79}" destId="{335D082B-89ED-4B9D-BE7B-6387901828C3}" srcOrd="6" destOrd="0" presId="urn:diagrams.loki3.com/VaryingWidthList+Icon"/>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480298" y="0"/>
          <a:ext cx="5443378" cy="182879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3450"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Notifications</a:t>
          </a:r>
          <a:endParaRPr lang="en-US" sz="1400" kern="1200" dirty="0"/>
        </a:p>
      </dsp:txBody>
      <dsp:txXfrm>
        <a:off x="39160" y="584349"/>
        <a:ext cx="1151209" cy="660099"/>
      </dsp:txXfrm>
    </dsp:sp>
    <dsp:sp modelId="{D5FD1BFE-E7A3-4EB8-B8F0-232D031387E3}">
      <dsp:nvSpPr>
        <dsp:cNvPr id="0" name=""/>
        <dsp:cNvSpPr/>
      </dsp:nvSpPr>
      <dsp:spPr>
        <a:xfrm>
          <a:off x="1297061"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Create Work Order</a:t>
          </a:r>
          <a:endParaRPr lang="en-US" sz="1400" kern="1200" dirty="0"/>
        </a:p>
      </dsp:txBody>
      <dsp:txXfrm>
        <a:off x="1332771" y="584349"/>
        <a:ext cx="1151209" cy="660099"/>
      </dsp:txXfrm>
    </dsp:sp>
    <dsp:sp modelId="{741E6F06-B35B-4E29-B1E7-86C3A9A2C564}">
      <dsp:nvSpPr>
        <dsp:cNvPr id="0" name=""/>
        <dsp:cNvSpPr/>
      </dsp:nvSpPr>
      <dsp:spPr>
        <a:xfrm>
          <a:off x="2590672"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Plan &amp; Schedule Work Order</a:t>
          </a:r>
          <a:endParaRPr lang="en-US" sz="1400" kern="1200" dirty="0"/>
        </a:p>
      </dsp:txBody>
      <dsp:txXfrm>
        <a:off x="2626382" y="584349"/>
        <a:ext cx="1151209" cy="660099"/>
      </dsp:txXfrm>
    </dsp:sp>
    <dsp:sp modelId="{C29D3575-F59F-42F7-BFD1-7C247985AEFC}">
      <dsp:nvSpPr>
        <dsp:cNvPr id="0" name=""/>
        <dsp:cNvSpPr/>
      </dsp:nvSpPr>
      <dsp:spPr>
        <a:xfrm>
          <a:off x="3884283"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Execute Work Order</a:t>
          </a:r>
          <a:endParaRPr lang="en-US" sz="1400" kern="1200" dirty="0"/>
        </a:p>
      </dsp:txBody>
      <dsp:txXfrm>
        <a:off x="3919993" y="584349"/>
        <a:ext cx="1151209" cy="660099"/>
      </dsp:txXfrm>
    </dsp:sp>
    <dsp:sp modelId="{59B4525B-7327-4F09-A2B6-D84D0896C8A1}">
      <dsp:nvSpPr>
        <dsp:cNvPr id="0" name=""/>
        <dsp:cNvSpPr/>
      </dsp:nvSpPr>
      <dsp:spPr>
        <a:xfrm>
          <a:off x="5177895"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Settle and Close Work Order</a:t>
          </a:r>
          <a:endParaRPr lang="en-US" sz="1400" kern="1200" dirty="0"/>
        </a:p>
      </dsp:txBody>
      <dsp:txXfrm>
        <a:off x="5213605" y="584349"/>
        <a:ext cx="1151209" cy="6600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29CD-5889-4E4E-AF7E-6EF0D8A04AC0}">
      <dsp:nvSpPr>
        <dsp:cNvPr id="0" name=""/>
        <dsp:cNvSpPr/>
      </dsp:nvSpPr>
      <dsp:spPr>
        <a:xfrm>
          <a:off x="0" y="203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Corrective Maintenance</a:t>
          </a:r>
          <a:endParaRPr lang="en-US" sz="1200" kern="1200" dirty="0"/>
        </a:p>
      </dsp:txBody>
      <dsp:txXfrm>
        <a:off x="0" y="2033"/>
        <a:ext cx="990600" cy="978296"/>
      </dsp:txXfrm>
    </dsp:sp>
    <dsp:sp modelId="{20445616-F93C-439F-A74C-F0A27423DA0A}">
      <dsp:nvSpPr>
        <dsp:cNvPr id="0" name=""/>
        <dsp:cNvSpPr/>
      </dsp:nvSpPr>
      <dsp:spPr>
        <a:xfrm>
          <a:off x="0" y="1029245"/>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Unplanned Corrective  Maintenance</a:t>
          </a:r>
          <a:endParaRPr lang="en-US" sz="1200" kern="1200" dirty="0"/>
        </a:p>
      </dsp:txBody>
      <dsp:txXfrm>
        <a:off x="0" y="1029245"/>
        <a:ext cx="990600" cy="978296"/>
      </dsp:txXfrm>
    </dsp:sp>
    <dsp:sp modelId="{1FF5541A-B501-4867-B68D-28C32734D539}">
      <dsp:nvSpPr>
        <dsp:cNvPr id="0" name=""/>
        <dsp:cNvSpPr/>
      </dsp:nvSpPr>
      <dsp:spPr>
        <a:xfrm>
          <a:off x="0" y="2056457"/>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Emergency Maintenance</a:t>
          </a:r>
          <a:endParaRPr lang="en-US" sz="1200" kern="1200" dirty="0"/>
        </a:p>
      </dsp:txBody>
      <dsp:txXfrm>
        <a:off x="0" y="2056457"/>
        <a:ext cx="990600" cy="978296"/>
      </dsp:txXfrm>
    </dsp:sp>
    <dsp:sp modelId="{335D082B-89ED-4B9D-BE7B-6387901828C3}">
      <dsp:nvSpPr>
        <dsp:cNvPr id="0" name=""/>
        <dsp:cNvSpPr/>
      </dsp:nvSpPr>
      <dsp:spPr>
        <a:xfrm>
          <a:off x="0" y="308570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Preventative Maintenance</a:t>
          </a:r>
          <a:endParaRPr lang="en-US" sz="1200" kern="1200" dirty="0"/>
        </a:p>
      </dsp:txBody>
      <dsp:txXfrm>
        <a:off x="0" y="3085703"/>
        <a:ext cx="990600" cy="9782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29CD-5889-4E4E-AF7E-6EF0D8A04AC0}">
      <dsp:nvSpPr>
        <dsp:cNvPr id="0" name=""/>
        <dsp:cNvSpPr/>
      </dsp:nvSpPr>
      <dsp:spPr>
        <a:xfrm>
          <a:off x="0" y="203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Corrective Maintenance</a:t>
          </a:r>
          <a:endParaRPr lang="en-US" sz="1200" kern="1200" dirty="0"/>
        </a:p>
      </dsp:txBody>
      <dsp:txXfrm>
        <a:off x="0" y="2033"/>
        <a:ext cx="990600" cy="978296"/>
      </dsp:txXfrm>
    </dsp:sp>
    <dsp:sp modelId="{20445616-F93C-439F-A74C-F0A27423DA0A}">
      <dsp:nvSpPr>
        <dsp:cNvPr id="0" name=""/>
        <dsp:cNvSpPr/>
      </dsp:nvSpPr>
      <dsp:spPr>
        <a:xfrm>
          <a:off x="0" y="1029245"/>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Unplanned Corrective  Maintenance</a:t>
          </a:r>
          <a:endParaRPr lang="en-US" sz="1200" kern="1200" dirty="0"/>
        </a:p>
      </dsp:txBody>
      <dsp:txXfrm>
        <a:off x="0" y="1029245"/>
        <a:ext cx="990600" cy="978296"/>
      </dsp:txXfrm>
    </dsp:sp>
    <dsp:sp modelId="{1FF5541A-B501-4867-B68D-28C32734D539}">
      <dsp:nvSpPr>
        <dsp:cNvPr id="0" name=""/>
        <dsp:cNvSpPr/>
      </dsp:nvSpPr>
      <dsp:spPr>
        <a:xfrm>
          <a:off x="0" y="2056457"/>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Emergency Maintenance</a:t>
          </a:r>
          <a:endParaRPr lang="en-US" sz="1200" kern="1200" dirty="0"/>
        </a:p>
      </dsp:txBody>
      <dsp:txXfrm>
        <a:off x="0" y="2056457"/>
        <a:ext cx="990600" cy="978296"/>
      </dsp:txXfrm>
    </dsp:sp>
    <dsp:sp modelId="{335D082B-89ED-4B9D-BE7B-6387901828C3}">
      <dsp:nvSpPr>
        <dsp:cNvPr id="0" name=""/>
        <dsp:cNvSpPr/>
      </dsp:nvSpPr>
      <dsp:spPr>
        <a:xfrm>
          <a:off x="0" y="308570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Preventative Maintenance</a:t>
          </a:r>
          <a:endParaRPr lang="en-US" sz="1200" kern="1200" dirty="0"/>
        </a:p>
      </dsp:txBody>
      <dsp:txXfrm>
        <a:off x="0" y="3085703"/>
        <a:ext cx="990600" cy="9782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480298" y="0"/>
          <a:ext cx="5443378" cy="182879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3450" y="548639"/>
          <a:ext cx="1222629" cy="731519"/>
        </a:xfrm>
        <a:prstGeom prst="roundRect">
          <a:avLst/>
        </a:prstGeom>
        <a:solidFill>
          <a:schemeClr val="accent1">
            <a:hueOff val="0"/>
            <a:satOff val="0"/>
            <a:lumOff val="0"/>
            <a:alphaOff val="0"/>
          </a:schemeClr>
        </a:solidFill>
        <a:ln w="635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Notifications</a:t>
          </a:r>
          <a:endParaRPr lang="en-US" sz="1400" kern="1200" dirty="0"/>
        </a:p>
      </dsp:txBody>
      <dsp:txXfrm>
        <a:off x="39160" y="584349"/>
        <a:ext cx="1151209" cy="660099"/>
      </dsp:txXfrm>
    </dsp:sp>
    <dsp:sp modelId="{D5FD1BFE-E7A3-4EB8-B8F0-232D031387E3}">
      <dsp:nvSpPr>
        <dsp:cNvPr id="0" name=""/>
        <dsp:cNvSpPr/>
      </dsp:nvSpPr>
      <dsp:spPr>
        <a:xfrm>
          <a:off x="1297061"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Create Work Order</a:t>
          </a:r>
          <a:endParaRPr lang="en-US" sz="1400" kern="1200" dirty="0"/>
        </a:p>
      </dsp:txBody>
      <dsp:txXfrm>
        <a:off x="1332771" y="584349"/>
        <a:ext cx="1151209" cy="660099"/>
      </dsp:txXfrm>
    </dsp:sp>
    <dsp:sp modelId="{741E6F06-B35B-4E29-B1E7-86C3A9A2C564}">
      <dsp:nvSpPr>
        <dsp:cNvPr id="0" name=""/>
        <dsp:cNvSpPr/>
      </dsp:nvSpPr>
      <dsp:spPr>
        <a:xfrm>
          <a:off x="2590672"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Plan &amp; Schedule Work Order</a:t>
          </a:r>
          <a:endParaRPr lang="en-US" sz="1400" kern="1200" dirty="0"/>
        </a:p>
      </dsp:txBody>
      <dsp:txXfrm>
        <a:off x="2626382" y="584349"/>
        <a:ext cx="1151209" cy="660099"/>
      </dsp:txXfrm>
    </dsp:sp>
    <dsp:sp modelId="{C29D3575-F59F-42F7-BFD1-7C247985AEFC}">
      <dsp:nvSpPr>
        <dsp:cNvPr id="0" name=""/>
        <dsp:cNvSpPr/>
      </dsp:nvSpPr>
      <dsp:spPr>
        <a:xfrm>
          <a:off x="3884283"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Execute Work Order</a:t>
          </a:r>
          <a:endParaRPr lang="en-US" sz="1400" kern="1200" dirty="0"/>
        </a:p>
      </dsp:txBody>
      <dsp:txXfrm>
        <a:off x="3919993" y="584349"/>
        <a:ext cx="1151209" cy="660099"/>
      </dsp:txXfrm>
    </dsp:sp>
    <dsp:sp modelId="{59B4525B-7327-4F09-A2B6-D84D0896C8A1}">
      <dsp:nvSpPr>
        <dsp:cNvPr id="0" name=""/>
        <dsp:cNvSpPr/>
      </dsp:nvSpPr>
      <dsp:spPr>
        <a:xfrm>
          <a:off x="5177895"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Close and Settle Work Order</a:t>
          </a:r>
          <a:endParaRPr lang="en-US" sz="1400" kern="1200" dirty="0"/>
        </a:p>
      </dsp:txBody>
      <dsp:txXfrm>
        <a:off x="5213605" y="584349"/>
        <a:ext cx="1151209" cy="6600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29CD-5889-4E4E-AF7E-6EF0D8A04AC0}">
      <dsp:nvSpPr>
        <dsp:cNvPr id="0" name=""/>
        <dsp:cNvSpPr/>
      </dsp:nvSpPr>
      <dsp:spPr>
        <a:xfrm>
          <a:off x="0" y="203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Corrective Maintenance</a:t>
          </a:r>
          <a:endParaRPr lang="en-US" sz="1200" kern="1200" dirty="0"/>
        </a:p>
      </dsp:txBody>
      <dsp:txXfrm>
        <a:off x="0" y="2033"/>
        <a:ext cx="990600" cy="978296"/>
      </dsp:txXfrm>
    </dsp:sp>
    <dsp:sp modelId="{20445616-F93C-439F-A74C-F0A27423DA0A}">
      <dsp:nvSpPr>
        <dsp:cNvPr id="0" name=""/>
        <dsp:cNvSpPr/>
      </dsp:nvSpPr>
      <dsp:spPr>
        <a:xfrm>
          <a:off x="0" y="1029245"/>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Unplanned Corrective  Maintenance</a:t>
          </a:r>
          <a:endParaRPr lang="en-US" sz="1200" kern="1200" dirty="0"/>
        </a:p>
      </dsp:txBody>
      <dsp:txXfrm>
        <a:off x="0" y="1029245"/>
        <a:ext cx="990600" cy="978296"/>
      </dsp:txXfrm>
    </dsp:sp>
    <dsp:sp modelId="{1FF5541A-B501-4867-B68D-28C32734D539}">
      <dsp:nvSpPr>
        <dsp:cNvPr id="0" name=""/>
        <dsp:cNvSpPr/>
      </dsp:nvSpPr>
      <dsp:spPr>
        <a:xfrm>
          <a:off x="0" y="2056457"/>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Emergency Maintenance</a:t>
          </a:r>
          <a:endParaRPr lang="en-US" sz="1200" kern="1200" dirty="0"/>
        </a:p>
      </dsp:txBody>
      <dsp:txXfrm>
        <a:off x="0" y="2056457"/>
        <a:ext cx="990600" cy="978296"/>
      </dsp:txXfrm>
    </dsp:sp>
    <dsp:sp modelId="{335D082B-89ED-4B9D-BE7B-6387901828C3}">
      <dsp:nvSpPr>
        <dsp:cNvPr id="0" name=""/>
        <dsp:cNvSpPr/>
      </dsp:nvSpPr>
      <dsp:spPr>
        <a:xfrm>
          <a:off x="0" y="308570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Preventative Maintenance</a:t>
          </a:r>
          <a:endParaRPr lang="en-US" sz="1200" kern="1200" dirty="0"/>
        </a:p>
      </dsp:txBody>
      <dsp:txXfrm>
        <a:off x="0" y="3085703"/>
        <a:ext cx="990600" cy="9782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480298" y="0"/>
          <a:ext cx="5443378" cy="182879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3450"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Notifications</a:t>
          </a:r>
          <a:endParaRPr lang="en-US" sz="1400" kern="1200" dirty="0"/>
        </a:p>
      </dsp:txBody>
      <dsp:txXfrm>
        <a:off x="39160" y="584349"/>
        <a:ext cx="1151209" cy="660099"/>
      </dsp:txXfrm>
    </dsp:sp>
    <dsp:sp modelId="{D5FD1BFE-E7A3-4EB8-B8F0-232D031387E3}">
      <dsp:nvSpPr>
        <dsp:cNvPr id="0" name=""/>
        <dsp:cNvSpPr/>
      </dsp:nvSpPr>
      <dsp:spPr>
        <a:xfrm>
          <a:off x="1297061" y="548639"/>
          <a:ext cx="1222629" cy="731519"/>
        </a:xfrm>
        <a:prstGeom prst="roundRect">
          <a:avLst/>
        </a:prstGeom>
        <a:solidFill>
          <a:schemeClr val="accent1">
            <a:hueOff val="0"/>
            <a:satOff val="0"/>
            <a:lumOff val="0"/>
            <a:alphaOff val="0"/>
          </a:schemeClr>
        </a:solidFill>
        <a:ln w="635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Create Work Order</a:t>
          </a:r>
          <a:endParaRPr lang="en-US" sz="1400" kern="1200" dirty="0"/>
        </a:p>
      </dsp:txBody>
      <dsp:txXfrm>
        <a:off x="1332771" y="584349"/>
        <a:ext cx="1151209" cy="660099"/>
      </dsp:txXfrm>
    </dsp:sp>
    <dsp:sp modelId="{741E6F06-B35B-4E29-B1E7-86C3A9A2C564}">
      <dsp:nvSpPr>
        <dsp:cNvPr id="0" name=""/>
        <dsp:cNvSpPr/>
      </dsp:nvSpPr>
      <dsp:spPr>
        <a:xfrm>
          <a:off x="2590672" y="548639"/>
          <a:ext cx="1222629" cy="731519"/>
        </a:xfrm>
        <a:prstGeom prst="roundRect">
          <a:avLst/>
        </a:prstGeom>
        <a:solidFill>
          <a:schemeClr val="accent1">
            <a:hueOff val="0"/>
            <a:satOff val="0"/>
            <a:lumOff val="0"/>
            <a:alphaOff val="0"/>
          </a:schemeClr>
        </a:solidFill>
        <a:ln w="635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Plan &amp; Schedule Work Order</a:t>
          </a:r>
          <a:endParaRPr lang="en-US" sz="1400" kern="1200" dirty="0"/>
        </a:p>
      </dsp:txBody>
      <dsp:txXfrm>
        <a:off x="2626382" y="584349"/>
        <a:ext cx="1151209" cy="660099"/>
      </dsp:txXfrm>
    </dsp:sp>
    <dsp:sp modelId="{C29D3575-F59F-42F7-BFD1-7C247985AEFC}">
      <dsp:nvSpPr>
        <dsp:cNvPr id="0" name=""/>
        <dsp:cNvSpPr/>
      </dsp:nvSpPr>
      <dsp:spPr>
        <a:xfrm>
          <a:off x="3884283" y="548639"/>
          <a:ext cx="1222629" cy="731519"/>
        </a:xfrm>
        <a:prstGeom prst="roundRect">
          <a:avLst/>
        </a:prstGeom>
        <a:solidFill>
          <a:schemeClr val="accent1">
            <a:hueOff val="0"/>
            <a:satOff val="0"/>
            <a:lumOff val="0"/>
            <a:alphaOff val="0"/>
          </a:schemeClr>
        </a:solidFill>
        <a:ln w="635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Execute Work Order</a:t>
          </a:r>
          <a:endParaRPr lang="en-US" sz="1400" kern="1200" dirty="0"/>
        </a:p>
      </dsp:txBody>
      <dsp:txXfrm>
        <a:off x="3919993" y="584349"/>
        <a:ext cx="1151209" cy="660099"/>
      </dsp:txXfrm>
    </dsp:sp>
    <dsp:sp modelId="{59B4525B-7327-4F09-A2B6-D84D0896C8A1}">
      <dsp:nvSpPr>
        <dsp:cNvPr id="0" name=""/>
        <dsp:cNvSpPr/>
      </dsp:nvSpPr>
      <dsp:spPr>
        <a:xfrm>
          <a:off x="5177895" y="548639"/>
          <a:ext cx="1222629" cy="731519"/>
        </a:xfrm>
        <a:prstGeom prst="roundRect">
          <a:avLst/>
        </a:prstGeom>
        <a:solidFill>
          <a:schemeClr val="accent1">
            <a:hueOff val="0"/>
            <a:satOff val="0"/>
            <a:lumOff val="0"/>
            <a:alphaOff val="0"/>
          </a:schemeClr>
        </a:solidFill>
        <a:ln w="635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Settle and Close Work Order</a:t>
          </a:r>
          <a:endParaRPr lang="en-US" sz="1400" kern="1200" dirty="0"/>
        </a:p>
      </dsp:txBody>
      <dsp:txXfrm>
        <a:off x="5213605" y="584349"/>
        <a:ext cx="1151209" cy="6600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29CD-5889-4E4E-AF7E-6EF0D8A04AC0}">
      <dsp:nvSpPr>
        <dsp:cNvPr id="0" name=""/>
        <dsp:cNvSpPr/>
      </dsp:nvSpPr>
      <dsp:spPr>
        <a:xfrm>
          <a:off x="0" y="203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Corrective Maintenance</a:t>
          </a:r>
          <a:endParaRPr lang="en-US" sz="1200" kern="1200" dirty="0"/>
        </a:p>
      </dsp:txBody>
      <dsp:txXfrm>
        <a:off x="0" y="2033"/>
        <a:ext cx="990600" cy="978296"/>
      </dsp:txXfrm>
    </dsp:sp>
    <dsp:sp modelId="{20445616-F93C-439F-A74C-F0A27423DA0A}">
      <dsp:nvSpPr>
        <dsp:cNvPr id="0" name=""/>
        <dsp:cNvSpPr/>
      </dsp:nvSpPr>
      <dsp:spPr>
        <a:xfrm>
          <a:off x="0" y="1029245"/>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Unplanned Corrective  Maintenance</a:t>
          </a:r>
          <a:endParaRPr lang="en-US" sz="1200" kern="1200" dirty="0"/>
        </a:p>
      </dsp:txBody>
      <dsp:txXfrm>
        <a:off x="0" y="1029245"/>
        <a:ext cx="990600" cy="978296"/>
      </dsp:txXfrm>
    </dsp:sp>
    <dsp:sp modelId="{1FF5541A-B501-4867-B68D-28C32734D539}">
      <dsp:nvSpPr>
        <dsp:cNvPr id="0" name=""/>
        <dsp:cNvSpPr/>
      </dsp:nvSpPr>
      <dsp:spPr>
        <a:xfrm>
          <a:off x="0" y="2056457"/>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Emergency Maintenance</a:t>
          </a:r>
          <a:endParaRPr lang="en-US" sz="1200" kern="1200" dirty="0"/>
        </a:p>
      </dsp:txBody>
      <dsp:txXfrm>
        <a:off x="0" y="2056457"/>
        <a:ext cx="990600" cy="978296"/>
      </dsp:txXfrm>
    </dsp:sp>
    <dsp:sp modelId="{335D082B-89ED-4B9D-BE7B-6387901828C3}">
      <dsp:nvSpPr>
        <dsp:cNvPr id="0" name=""/>
        <dsp:cNvSpPr/>
      </dsp:nvSpPr>
      <dsp:spPr>
        <a:xfrm>
          <a:off x="0" y="308570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Preventative Maintenance</a:t>
          </a:r>
          <a:endParaRPr lang="en-US" sz="1200" kern="1200" dirty="0"/>
        </a:p>
      </dsp:txBody>
      <dsp:txXfrm>
        <a:off x="0" y="3085703"/>
        <a:ext cx="990600" cy="9782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480298" y="0"/>
          <a:ext cx="5443378" cy="182879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3450"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Notifications</a:t>
          </a:r>
          <a:endParaRPr lang="en-US" sz="1400" kern="1200" dirty="0"/>
        </a:p>
      </dsp:txBody>
      <dsp:txXfrm>
        <a:off x="39160" y="584349"/>
        <a:ext cx="1151209" cy="660099"/>
      </dsp:txXfrm>
    </dsp:sp>
    <dsp:sp modelId="{D5FD1BFE-E7A3-4EB8-B8F0-232D031387E3}">
      <dsp:nvSpPr>
        <dsp:cNvPr id="0" name=""/>
        <dsp:cNvSpPr/>
      </dsp:nvSpPr>
      <dsp:spPr>
        <a:xfrm>
          <a:off x="1297061"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Create Work Order</a:t>
          </a:r>
          <a:endParaRPr lang="en-US" sz="1400" kern="1200" dirty="0"/>
        </a:p>
      </dsp:txBody>
      <dsp:txXfrm>
        <a:off x="1332771" y="584349"/>
        <a:ext cx="1151209" cy="660099"/>
      </dsp:txXfrm>
    </dsp:sp>
    <dsp:sp modelId="{741E6F06-B35B-4E29-B1E7-86C3A9A2C564}">
      <dsp:nvSpPr>
        <dsp:cNvPr id="0" name=""/>
        <dsp:cNvSpPr/>
      </dsp:nvSpPr>
      <dsp:spPr>
        <a:xfrm>
          <a:off x="2590672"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Plan &amp; Schedule Work Order</a:t>
          </a:r>
          <a:endParaRPr lang="en-US" sz="1400" kern="1200" dirty="0"/>
        </a:p>
      </dsp:txBody>
      <dsp:txXfrm>
        <a:off x="2626382" y="584349"/>
        <a:ext cx="1151209" cy="660099"/>
      </dsp:txXfrm>
    </dsp:sp>
    <dsp:sp modelId="{C29D3575-F59F-42F7-BFD1-7C247985AEFC}">
      <dsp:nvSpPr>
        <dsp:cNvPr id="0" name=""/>
        <dsp:cNvSpPr/>
      </dsp:nvSpPr>
      <dsp:spPr>
        <a:xfrm>
          <a:off x="3884283"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Execute Work Order</a:t>
          </a:r>
          <a:endParaRPr lang="en-US" sz="1400" kern="1200" dirty="0"/>
        </a:p>
      </dsp:txBody>
      <dsp:txXfrm>
        <a:off x="3919993" y="584349"/>
        <a:ext cx="1151209" cy="660099"/>
      </dsp:txXfrm>
    </dsp:sp>
    <dsp:sp modelId="{59B4525B-7327-4F09-A2B6-D84D0896C8A1}">
      <dsp:nvSpPr>
        <dsp:cNvPr id="0" name=""/>
        <dsp:cNvSpPr/>
      </dsp:nvSpPr>
      <dsp:spPr>
        <a:xfrm>
          <a:off x="5177895"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Settle and Close Work Order</a:t>
          </a:r>
          <a:endParaRPr lang="en-US" sz="1400" kern="1200" dirty="0"/>
        </a:p>
      </dsp:txBody>
      <dsp:txXfrm>
        <a:off x="5213605" y="584349"/>
        <a:ext cx="1151209" cy="6600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29CD-5889-4E4E-AF7E-6EF0D8A04AC0}">
      <dsp:nvSpPr>
        <dsp:cNvPr id="0" name=""/>
        <dsp:cNvSpPr/>
      </dsp:nvSpPr>
      <dsp:spPr>
        <a:xfrm>
          <a:off x="0" y="203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Corrective Maintenance</a:t>
          </a:r>
          <a:endParaRPr lang="en-US" sz="1200" kern="1200" dirty="0"/>
        </a:p>
      </dsp:txBody>
      <dsp:txXfrm>
        <a:off x="0" y="2033"/>
        <a:ext cx="990600" cy="978296"/>
      </dsp:txXfrm>
    </dsp:sp>
    <dsp:sp modelId="{20445616-F93C-439F-A74C-F0A27423DA0A}">
      <dsp:nvSpPr>
        <dsp:cNvPr id="0" name=""/>
        <dsp:cNvSpPr/>
      </dsp:nvSpPr>
      <dsp:spPr>
        <a:xfrm>
          <a:off x="0" y="1029245"/>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Unplanned Corrective  Maintenance</a:t>
          </a:r>
          <a:endParaRPr lang="en-US" sz="1200" kern="1200" dirty="0"/>
        </a:p>
      </dsp:txBody>
      <dsp:txXfrm>
        <a:off x="0" y="1029245"/>
        <a:ext cx="990600" cy="978296"/>
      </dsp:txXfrm>
    </dsp:sp>
    <dsp:sp modelId="{1FF5541A-B501-4867-B68D-28C32734D539}">
      <dsp:nvSpPr>
        <dsp:cNvPr id="0" name=""/>
        <dsp:cNvSpPr/>
      </dsp:nvSpPr>
      <dsp:spPr>
        <a:xfrm>
          <a:off x="0" y="2056457"/>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Emergency Maintenance</a:t>
          </a:r>
          <a:endParaRPr lang="en-US" sz="1200" kern="1200" dirty="0"/>
        </a:p>
      </dsp:txBody>
      <dsp:txXfrm>
        <a:off x="0" y="2056457"/>
        <a:ext cx="990600" cy="978296"/>
      </dsp:txXfrm>
    </dsp:sp>
    <dsp:sp modelId="{335D082B-89ED-4B9D-BE7B-6387901828C3}">
      <dsp:nvSpPr>
        <dsp:cNvPr id="0" name=""/>
        <dsp:cNvSpPr/>
      </dsp:nvSpPr>
      <dsp:spPr>
        <a:xfrm>
          <a:off x="0" y="308570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Preventive </a:t>
          </a:r>
          <a:r>
            <a:rPr lang="en-US" sz="1200" kern="1200" dirty="0" smtClean="0"/>
            <a:t>Maintenance</a:t>
          </a:r>
          <a:endParaRPr lang="en-US" sz="1200" kern="1200" dirty="0"/>
        </a:p>
      </dsp:txBody>
      <dsp:txXfrm>
        <a:off x="0" y="3085703"/>
        <a:ext cx="990600" cy="9782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480298" y="0"/>
          <a:ext cx="5443378" cy="182879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3450"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Notifications</a:t>
          </a:r>
          <a:endParaRPr lang="en-US" sz="1400" kern="1200" dirty="0"/>
        </a:p>
      </dsp:txBody>
      <dsp:txXfrm>
        <a:off x="39160" y="584349"/>
        <a:ext cx="1151209" cy="660099"/>
      </dsp:txXfrm>
    </dsp:sp>
    <dsp:sp modelId="{D5FD1BFE-E7A3-4EB8-B8F0-232D031387E3}">
      <dsp:nvSpPr>
        <dsp:cNvPr id="0" name=""/>
        <dsp:cNvSpPr/>
      </dsp:nvSpPr>
      <dsp:spPr>
        <a:xfrm>
          <a:off x="1297061"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Create Work Order</a:t>
          </a:r>
          <a:endParaRPr lang="en-US" sz="1400" kern="1200" dirty="0"/>
        </a:p>
      </dsp:txBody>
      <dsp:txXfrm>
        <a:off x="1332771" y="584349"/>
        <a:ext cx="1151209" cy="660099"/>
      </dsp:txXfrm>
    </dsp:sp>
    <dsp:sp modelId="{741E6F06-B35B-4E29-B1E7-86C3A9A2C564}">
      <dsp:nvSpPr>
        <dsp:cNvPr id="0" name=""/>
        <dsp:cNvSpPr/>
      </dsp:nvSpPr>
      <dsp:spPr>
        <a:xfrm>
          <a:off x="2590672"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Plan &amp; Schedule Work Order</a:t>
          </a:r>
          <a:endParaRPr lang="en-US" sz="1400" kern="1200" dirty="0"/>
        </a:p>
      </dsp:txBody>
      <dsp:txXfrm>
        <a:off x="2626382" y="584349"/>
        <a:ext cx="1151209" cy="660099"/>
      </dsp:txXfrm>
    </dsp:sp>
    <dsp:sp modelId="{C29D3575-F59F-42F7-BFD1-7C247985AEFC}">
      <dsp:nvSpPr>
        <dsp:cNvPr id="0" name=""/>
        <dsp:cNvSpPr/>
      </dsp:nvSpPr>
      <dsp:spPr>
        <a:xfrm>
          <a:off x="3884283"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Execute Work Order</a:t>
          </a:r>
          <a:endParaRPr lang="en-US" sz="1400" kern="1200" dirty="0"/>
        </a:p>
      </dsp:txBody>
      <dsp:txXfrm>
        <a:off x="3919993" y="584349"/>
        <a:ext cx="1151209" cy="660099"/>
      </dsp:txXfrm>
    </dsp:sp>
    <dsp:sp modelId="{59B4525B-7327-4F09-A2B6-D84D0896C8A1}">
      <dsp:nvSpPr>
        <dsp:cNvPr id="0" name=""/>
        <dsp:cNvSpPr/>
      </dsp:nvSpPr>
      <dsp:spPr>
        <a:xfrm>
          <a:off x="5177895" y="548639"/>
          <a:ext cx="1222629"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Settle and Close Work Order</a:t>
          </a:r>
          <a:endParaRPr lang="en-US" sz="1400" kern="1200" dirty="0"/>
        </a:p>
      </dsp:txBody>
      <dsp:txXfrm>
        <a:off x="5213605" y="584349"/>
        <a:ext cx="1151209" cy="66009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29CD-5889-4E4E-AF7E-6EF0D8A04AC0}">
      <dsp:nvSpPr>
        <dsp:cNvPr id="0" name=""/>
        <dsp:cNvSpPr/>
      </dsp:nvSpPr>
      <dsp:spPr>
        <a:xfrm>
          <a:off x="0" y="203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Corrective Maintenance</a:t>
          </a:r>
          <a:endParaRPr lang="en-US" sz="1200" kern="1200" dirty="0"/>
        </a:p>
      </dsp:txBody>
      <dsp:txXfrm>
        <a:off x="0" y="2033"/>
        <a:ext cx="990600" cy="978296"/>
      </dsp:txXfrm>
    </dsp:sp>
    <dsp:sp modelId="{20445616-F93C-439F-A74C-F0A27423DA0A}">
      <dsp:nvSpPr>
        <dsp:cNvPr id="0" name=""/>
        <dsp:cNvSpPr/>
      </dsp:nvSpPr>
      <dsp:spPr>
        <a:xfrm>
          <a:off x="0" y="1029245"/>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Unplanned Corrective  Maintenance</a:t>
          </a:r>
          <a:endParaRPr lang="en-US" sz="1200" kern="1200" dirty="0"/>
        </a:p>
      </dsp:txBody>
      <dsp:txXfrm>
        <a:off x="0" y="1029245"/>
        <a:ext cx="990600" cy="978296"/>
      </dsp:txXfrm>
    </dsp:sp>
    <dsp:sp modelId="{1FF5541A-B501-4867-B68D-28C32734D539}">
      <dsp:nvSpPr>
        <dsp:cNvPr id="0" name=""/>
        <dsp:cNvSpPr/>
      </dsp:nvSpPr>
      <dsp:spPr>
        <a:xfrm>
          <a:off x="0" y="2056457"/>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Emergency Maintenance</a:t>
          </a:r>
          <a:endParaRPr lang="en-US" sz="1200" kern="1200" dirty="0"/>
        </a:p>
      </dsp:txBody>
      <dsp:txXfrm>
        <a:off x="0" y="2056457"/>
        <a:ext cx="990600" cy="978296"/>
      </dsp:txXfrm>
    </dsp:sp>
    <dsp:sp modelId="{335D082B-89ED-4B9D-BE7B-6387901828C3}">
      <dsp:nvSpPr>
        <dsp:cNvPr id="0" name=""/>
        <dsp:cNvSpPr/>
      </dsp:nvSpPr>
      <dsp:spPr>
        <a:xfrm>
          <a:off x="0" y="308570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533400">
            <a:lnSpc>
              <a:spcPct val="90000"/>
            </a:lnSpc>
            <a:spcBef>
              <a:spcPct val="0"/>
            </a:spcBef>
            <a:spcAft>
              <a:spcPct val="35000"/>
            </a:spcAft>
          </a:pPr>
          <a:r>
            <a:rPr lang="en-US" sz="1200" kern="1200" dirty="0" smtClean="0"/>
            <a:t>Preventative Maintenance</a:t>
          </a:r>
          <a:endParaRPr lang="en-US" sz="1200" kern="1200" dirty="0"/>
        </a:p>
      </dsp:txBody>
      <dsp:txXfrm>
        <a:off x="0" y="3085703"/>
        <a:ext cx="990600" cy="97829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3.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38475" cy="465138"/>
          </a:xfrm>
          <a:prstGeom prst="rect">
            <a:avLst/>
          </a:prstGeom>
          <a:noFill/>
          <a:ln w="9525">
            <a:noFill/>
            <a:miter lim="800000"/>
            <a:headEnd/>
            <a:tailEnd/>
          </a:ln>
        </p:spPr>
        <p:txBody>
          <a:bodyPr vert="horz" wrap="square" lIns="93157" tIns="46579" rIns="93157" bIns="46579" numCol="1" anchor="t" anchorCtr="0" compatLnSpc="1">
            <a:prstTxWarp prst="textNoShape">
              <a:avLst/>
            </a:prstTxWarp>
          </a:bodyPr>
          <a:lstStyle>
            <a:lvl1pPr algn="l" defTabSz="931863">
              <a:defRPr sz="1200">
                <a:latin typeface="Arial" charset="0"/>
                <a:cs typeface="Arial" charset="0"/>
              </a:defRPr>
            </a:lvl1pPr>
          </a:lstStyle>
          <a:p>
            <a:pPr>
              <a:defRPr/>
            </a:pPr>
            <a:endParaRPr lang="en-US"/>
          </a:p>
        </p:txBody>
      </p:sp>
      <p:sp>
        <p:nvSpPr>
          <p:cNvPr id="3" name="Date Placeholder 2"/>
          <p:cNvSpPr>
            <a:spLocks noGrp="1"/>
          </p:cNvSpPr>
          <p:nvPr>
            <p:ph type="dt" idx="1"/>
          </p:nvPr>
        </p:nvSpPr>
        <p:spPr bwMode="auto">
          <a:xfrm>
            <a:off x="3970338" y="0"/>
            <a:ext cx="3038475" cy="465138"/>
          </a:xfrm>
          <a:prstGeom prst="rect">
            <a:avLst/>
          </a:prstGeom>
          <a:noFill/>
          <a:ln w="9525">
            <a:noFill/>
            <a:miter lim="800000"/>
            <a:headEnd/>
            <a:tailEnd/>
          </a:ln>
        </p:spPr>
        <p:txBody>
          <a:bodyPr vert="horz" wrap="square" lIns="93157" tIns="46579" rIns="93157" bIns="46579" numCol="1" anchor="t" anchorCtr="0" compatLnSpc="1">
            <a:prstTxWarp prst="textNoShape">
              <a:avLst/>
            </a:prstTxWarp>
          </a:bodyPr>
          <a:lstStyle>
            <a:lvl1pPr algn="r" defTabSz="931863">
              <a:defRPr sz="1200">
                <a:latin typeface="Arial" charset="0"/>
                <a:cs typeface="Arial" charset="0"/>
              </a:defRPr>
            </a:lvl1pPr>
          </a:lstStyle>
          <a:p>
            <a:pPr>
              <a:defRPr/>
            </a:pPr>
            <a:fld id="{E277CFB5-C76B-441D-98BD-DCE467829DD8}" type="datetimeFigureOut">
              <a:rPr lang="en-US"/>
              <a:pPr>
                <a:defRPr/>
              </a:pPr>
              <a:t>3/27/2013</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bwMode="auto">
          <a:xfrm>
            <a:off x="701675" y="4416425"/>
            <a:ext cx="5607050" cy="4183063"/>
          </a:xfrm>
          <a:prstGeom prst="rect">
            <a:avLst/>
          </a:prstGeom>
          <a:noFill/>
          <a:ln w="9525">
            <a:noFill/>
            <a:miter lim="800000"/>
            <a:headEnd/>
            <a:tailEnd/>
          </a:ln>
        </p:spPr>
        <p:txBody>
          <a:bodyPr vert="horz" wrap="square" lIns="93157" tIns="46579" rIns="93157" bIns="4657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bwMode="auto">
          <a:xfrm>
            <a:off x="0" y="8829675"/>
            <a:ext cx="3038475" cy="465138"/>
          </a:xfrm>
          <a:prstGeom prst="rect">
            <a:avLst/>
          </a:prstGeom>
          <a:noFill/>
          <a:ln w="9525">
            <a:noFill/>
            <a:miter lim="800000"/>
            <a:headEnd/>
            <a:tailEnd/>
          </a:ln>
        </p:spPr>
        <p:txBody>
          <a:bodyPr vert="horz" wrap="square" lIns="93157" tIns="46579" rIns="93157" bIns="46579" numCol="1" anchor="b" anchorCtr="0" compatLnSpc="1">
            <a:prstTxWarp prst="textNoShape">
              <a:avLst/>
            </a:prstTxWarp>
          </a:bodyPr>
          <a:lstStyle>
            <a:lvl1pPr algn="l" defTabSz="931863">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bwMode="auto">
          <a:xfrm>
            <a:off x="3970338" y="8829675"/>
            <a:ext cx="3038475" cy="465138"/>
          </a:xfrm>
          <a:prstGeom prst="rect">
            <a:avLst/>
          </a:prstGeom>
          <a:noFill/>
          <a:ln w="9525">
            <a:noFill/>
            <a:miter lim="800000"/>
            <a:headEnd/>
            <a:tailEnd/>
          </a:ln>
        </p:spPr>
        <p:txBody>
          <a:bodyPr vert="horz" wrap="square" lIns="93157" tIns="46579" rIns="93157" bIns="46579" numCol="1" anchor="b" anchorCtr="0" compatLnSpc="1">
            <a:prstTxWarp prst="textNoShape">
              <a:avLst/>
            </a:prstTxWarp>
          </a:bodyPr>
          <a:lstStyle>
            <a:lvl1pPr algn="r" defTabSz="931863">
              <a:defRPr sz="1200">
                <a:latin typeface="Arial" charset="0"/>
                <a:cs typeface="Arial" charset="0"/>
              </a:defRPr>
            </a:lvl1pPr>
          </a:lstStyle>
          <a:p>
            <a:pPr>
              <a:defRPr/>
            </a:pPr>
            <a:fld id="{BA4C2663-F94D-43F9-9FC3-223D95D63248}" type="slidenum">
              <a:rPr lang="en-US"/>
              <a:pPr>
                <a:defRPr/>
              </a:pPr>
              <a:t>‹#›</a:t>
            </a:fld>
            <a:endParaRPr lang="en-US" dirty="0"/>
          </a:p>
        </p:txBody>
      </p:sp>
    </p:spTree>
    <p:extLst>
      <p:ext uri="{BB962C8B-B14F-4D97-AF65-F5344CB8AC3E}">
        <p14:creationId xmlns:p14="http://schemas.microsoft.com/office/powerpoint/2010/main" val="36271184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a:t>
            </a:fld>
            <a:endParaRPr lang="en-US"/>
          </a:p>
        </p:txBody>
      </p:sp>
    </p:spTree>
    <p:extLst>
      <p:ext uri="{BB962C8B-B14F-4D97-AF65-F5344CB8AC3E}">
        <p14:creationId xmlns:p14="http://schemas.microsoft.com/office/powerpoint/2010/main" val="3249995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7F281E5C-5893-447D-B4EA-BB156D5D98B7}" type="slidenum">
              <a:rPr lang="en-US"/>
              <a:pPr/>
              <a:t>4</a:t>
            </a:fld>
            <a:endParaRPr lang="en-US" dirty="0"/>
          </a:p>
        </p:txBody>
      </p:sp>
      <p:sp>
        <p:nvSpPr>
          <p:cNvPr id="44035" name="Rectangle 2"/>
          <p:cNvSpPr>
            <a:spLocks noGrp="1" noRot="1" noChangeAspect="1" noChangeArrowheads="1" noTextEdit="1"/>
          </p:cNvSpPr>
          <p:nvPr>
            <p:ph type="sldImg"/>
          </p:nvPr>
        </p:nvSpPr>
        <p:spPr>
          <a:xfrm>
            <a:off x="1077913" y="696913"/>
            <a:ext cx="4854575" cy="3641725"/>
          </a:xfrm>
          <a:ln/>
        </p:spPr>
      </p:sp>
      <p:sp>
        <p:nvSpPr>
          <p:cNvPr id="44036" name="Rectangle 3"/>
          <p:cNvSpPr>
            <a:spLocks noGrp="1" noChangeArrowheads="1"/>
          </p:cNvSpPr>
          <p:nvPr>
            <p:ph type="body" idx="1"/>
          </p:nvPr>
        </p:nvSpPr>
        <p:spPr>
          <a:noFill/>
        </p:spPr>
        <p:txBody>
          <a:bodyPr/>
          <a:lstStyle/>
          <a:p>
            <a:r>
              <a:rPr lang="en-US" b="1" u="sng" dirty="0" smtClean="0">
                <a:latin typeface="Arial" pitchFamily="34" charset="0"/>
                <a:cs typeface="Arial" pitchFamily="34" charset="0"/>
              </a:rPr>
              <a:t>Notes:</a:t>
            </a:r>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1205569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9B3CE070-D409-4F73-A4B7-67003AFF4DE7}" type="slidenum">
              <a:rPr lang="en-US"/>
              <a:pPr/>
              <a:t>5</a:t>
            </a:fld>
            <a:endParaRPr lang="en-US" dirty="0"/>
          </a:p>
        </p:txBody>
      </p:sp>
      <p:sp>
        <p:nvSpPr>
          <p:cNvPr id="45059" name="Rectangle 2"/>
          <p:cNvSpPr>
            <a:spLocks noGrp="1" noRot="1" noChangeAspect="1" noChangeArrowheads="1" noTextEdit="1"/>
          </p:cNvSpPr>
          <p:nvPr>
            <p:ph type="sldImg"/>
          </p:nvPr>
        </p:nvSpPr>
        <p:spPr>
          <a:xfrm>
            <a:off x="1077913" y="696913"/>
            <a:ext cx="4854575" cy="3641725"/>
          </a:xfrm>
          <a:ln/>
        </p:spPr>
      </p:sp>
      <p:sp>
        <p:nvSpPr>
          <p:cNvPr id="45060" name="Rectangle 3"/>
          <p:cNvSpPr>
            <a:spLocks noGrp="1" noChangeArrowheads="1"/>
          </p:cNvSpPr>
          <p:nvPr>
            <p:ph type="body" idx="1"/>
          </p:nvPr>
        </p:nvSpPr>
        <p:spPr>
          <a:noFill/>
        </p:spPr>
        <p:txBody>
          <a:bodyPr/>
          <a:lstStyle/>
          <a:p>
            <a:r>
              <a:rPr lang="en-US" b="1" u="sng" dirty="0" smtClean="0">
                <a:latin typeface="Arial" pitchFamily="34" charset="0"/>
                <a:cs typeface="Arial" pitchFamily="34" charset="0"/>
              </a:rPr>
              <a:t>Notes:</a:t>
            </a:r>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3706378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eaLnBrk="1" hangingPunct="1">
              <a:defRPr/>
            </a:pPr>
            <a:r>
              <a:rPr lang="en-US" dirty="0" smtClean="0"/>
              <a:t>SAP is software that integrates and streamlines business processes that span various applications and data sources. Using SAP, you can access and display the data and transactions you use to complete your tasks. </a:t>
            </a:r>
            <a:r>
              <a:rPr lang="en-US" dirty="0">
                <a:latin typeface="Arial" charset="0"/>
              </a:rPr>
              <a:t>This course </a:t>
            </a:r>
            <a:r>
              <a:rPr lang="en-US" dirty="0" smtClean="0">
                <a:latin typeface="Arial" charset="0"/>
              </a:rPr>
              <a:t>discusses </a:t>
            </a:r>
            <a:r>
              <a:rPr lang="en-US" dirty="0">
                <a:latin typeface="Arial" charset="0"/>
              </a:rPr>
              <a:t>the plant maintenance process and how it is integrated with SAP.</a:t>
            </a:r>
          </a:p>
          <a:p>
            <a:pPr defTabSz="931774" eaLnBrk="1" hangingPunct="1">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6</a:t>
            </a:fld>
            <a:endParaRPr lang="en-US"/>
          </a:p>
        </p:txBody>
      </p:sp>
    </p:spTree>
    <p:extLst>
      <p:ext uri="{BB962C8B-B14F-4D97-AF65-F5344CB8AC3E}">
        <p14:creationId xmlns:p14="http://schemas.microsoft.com/office/powerpoint/2010/main" val="1589785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module</a:t>
            </a:r>
            <a:r>
              <a:rPr lang="en-US" baseline="0" dirty="0" smtClean="0"/>
              <a:t> introduces you to basic SAP navigation, including the basic screens, menus, transaction codes and buttons that you use frequently. The first step to learning SAP is to become familiar with SAP navigation. Understanding the skills presented in this module is necessary prior to completing other modules or courses.</a:t>
            </a:r>
          </a:p>
          <a:p>
            <a:endParaRPr lang="en-US" baseline="0" dirty="0" smtClean="0"/>
          </a:p>
          <a:p>
            <a:r>
              <a:rPr lang="en-US" baseline="0" dirty="0" smtClean="0"/>
              <a:t>As you continue to work on your own with the SAP system, you find that it offers several different ways of completing standard tasks. This great flexibility allows each user to develop personalized preferences for using navigation options and system shortcuts.</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9</a:t>
            </a:fld>
            <a:endParaRPr lang="en-US"/>
          </a:p>
        </p:txBody>
      </p:sp>
    </p:spTree>
    <p:extLst>
      <p:ext uri="{BB962C8B-B14F-4D97-AF65-F5344CB8AC3E}">
        <p14:creationId xmlns:p14="http://schemas.microsoft.com/office/powerpoint/2010/main" val="631658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charset="0"/>
              </a:rPr>
              <a:t>To log onto the SAP ECC system, begin by locating the SAP icon located on your desktop and double-clicking it.  </a:t>
            </a:r>
            <a:r>
              <a:rPr lang="en-US" dirty="0" smtClean="0">
                <a:latin typeface="Arial" charset="0"/>
              </a:rPr>
              <a:t>This launches </a:t>
            </a:r>
            <a:r>
              <a:rPr lang="en-US" dirty="0">
                <a:latin typeface="Arial" charset="0"/>
              </a:rPr>
              <a:t>an </a:t>
            </a:r>
            <a:r>
              <a:rPr lang="en-US" dirty="0" smtClean="0">
                <a:latin typeface="Arial" charset="0"/>
              </a:rPr>
              <a:t>SAP Easy</a:t>
            </a:r>
            <a:r>
              <a:rPr lang="en-US" baseline="0" dirty="0" smtClean="0">
                <a:latin typeface="Arial" charset="0"/>
              </a:rPr>
              <a:t> Access</a:t>
            </a:r>
            <a:r>
              <a:rPr lang="en-US" dirty="0" smtClean="0">
                <a:latin typeface="Arial" charset="0"/>
              </a:rPr>
              <a:t> </a:t>
            </a:r>
            <a:r>
              <a:rPr lang="en-US" dirty="0">
                <a:latin typeface="Arial" charset="0"/>
              </a:rPr>
              <a:t>screen </a:t>
            </a:r>
            <a:r>
              <a:rPr lang="en-US" dirty="0" smtClean="0">
                <a:latin typeface="Arial" charset="0"/>
              </a:rPr>
              <a:t>that displays the SAP menu. </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10</a:t>
            </a:fld>
            <a:endParaRPr lang="en-US"/>
          </a:p>
        </p:txBody>
      </p:sp>
    </p:spTree>
    <p:extLst>
      <p:ext uri="{BB962C8B-B14F-4D97-AF65-F5344CB8AC3E}">
        <p14:creationId xmlns:p14="http://schemas.microsoft.com/office/powerpoint/2010/main" val="2203927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Screen Header </a:t>
            </a:r>
            <a:r>
              <a:rPr lang="en-US" dirty="0" smtClean="0"/>
              <a:t>– Displays standard Windows buttons such as </a:t>
            </a:r>
            <a:r>
              <a:rPr lang="en-US" i="1" dirty="0" smtClean="0"/>
              <a:t>minimize</a:t>
            </a:r>
            <a:r>
              <a:rPr lang="en-US" dirty="0" smtClean="0"/>
              <a:t>, </a:t>
            </a:r>
            <a:r>
              <a:rPr lang="en-US" i="1" dirty="0" smtClean="0"/>
              <a:t>maximize</a:t>
            </a:r>
            <a:r>
              <a:rPr lang="en-US" dirty="0" smtClean="0"/>
              <a:t>,</a:t>
            </a:r>
            <a:r>
              <a:rPr lang="en-US" baseline="0" dirty="0" smtClean="0"/>
              <a:t> and </a:t>
            </a:r>
            <a:r>
              <a:rPr lang="en-US" i="1" baseline="0" dirty="0" smtClean="0"/>
              <a:t>close</a:t>
            </a:r>
            <a:r>
              <a:rPr lang="en-US" baseline="0" dirty="0" smtClean="0"/>
              <a:t>. On a PC, the Screen Header also contains the </a:t>
            </a:r>
            <a:r>
              <a:rPr lang="en-US" b="1" baseline="0" dirty="0" smtClean="0"/>
              <a:t>Stop Transaction</a:t>
            </a:r>
            <a:r>
              <a:rPr lang="en-US" baseline="0" dirty="0" smtClean="0"/>
              <a:t> button on the upper left corner. This button can be used for stopping transactions and reports that have already been run.</a:t>
            </a:r>
          </a:p>
          <a:p>
            <a:endParaRPr lang="en-US" baseline="0" dirty="0" smtClean="0"/>
          </a:p>
          <a:p>
            <a:r>
              <a:rPr lang="en-US" b="1" baseline="0" dirty="0" smtClean="0"/>
              <a:t>Menu Bar </a:t>
            </a:r>
            <a:r>
              <a:rPr lang="en-US" baseline="0" dirty="0" smtClean="0"/>
              <a:t>– Contains menus for the functional and administrative areas of the system. As you navigate through SAP screens, the options on the Menu Bar change, but every Menu Bar contains </a:t>
            </a:r>
            <a:r>
              <a:rPr lang="en-US" b="1" baseline="0" dirty="0" smtClean="0"/>
              <a:t>System</a:t>
            </a:r>
            <a:r>
              <a:rPr lang="en-US" baseline="0" dirty="0" smtClean="0"/>
              <a:t> and </a:t>
            </a:r>
            <a:r>
              <a:rPr lang="en-US" b="1" baseline="0" dirty="0" smtClean="0"/>
              <a:t>Help</a:t>
            </a:r>
            <a:r>
              <a:rPr lang="en-US" baseline="0" dirty="0" smtClean="0"/>
              <a:t>. Clicking on the System option on the Menu Bar opens a drop down menu of useful functions such as Create session, End session and Log off.</a:t>
            </a:r>
          </a:p>
          <a:p>
            <a:endParaRPr lang="en-US" baseline="0" dirty="0" smtClean="0"/>
          </a:p>
          <a:p>
            <a:r>
              <a:rPr lang="en-US" b="1" baseline="0" dirty="0" smtClean="0"/>
              <a:t>Standard Toolbar</a:t>
            </a:r>
            <a:r>
              <a:rPr lang="en-US" b="0" baseline="0" dirty="0" smtClean="0"/>
              <a:t> – Contains the </a:t>
            </a:r>
            <a:r>
              <a:rPr lang="en-US" b="1" baseline="0" dirty="0" smtClean="0"/>
              <a:t>Command field </a:t>
            </a:r>
            <a:r>
              <a:rPr lang="en-US" b="0" baseline="0" dirty="0" smtClean="0"/>
              <a:t>and the standard SAP Toolbar buttons.</a:t>
            </a:r>
          </a:p>
          <a:p>
            <a:endParaRPr lang="en-US" b="0" baseline="0" dirty="0" smtClean="0"/>
          </a:p>
          <a:p>
            <a:r>
              <a:rPr lang="en-US" b="1" baseline="0" dirty="0" smtClean="0"/>
              <a:t>Title Bar </a:t>
            </a:r>
            <a:r>
              <a:rPr lang="en-US" b="0" baseline="0" dirty="0" smtClean="0"/>
              <a:t>– Displays the name of the screen you are working on.</a:t>
            </a:r>
          </a:p>
          <a:p>
            <a:endParaRPr lang="en-US" b="0" baseline="0" dirty="0" smtClean="0"/>
          </a:p>
          <a:p>
            <a:r>
              <a:rPr lang="en-US" b="1" baseline="0" dirty="0" smtClean="0"/>
              <a:t>Navigation Toolbar </a:t>
            </a:r>
            <a:r>
              <a:rPr lang="en-US" b="0" baseline="0" dirty="0" smtClean="0"/>
              <a:t>– Contains the </a:t>
            </a:r>
            <a:r>
              <a:rPr lang="en-US" b="1" baseline="0" dirty="0" smtClean="0"/>
              <a:t>SAP Standard Menu</a:t>
            </a:r>
            <a:r>
              <a:rPr lang="en-US" b="0" baseline="0" dirty="0" smtClean="0"/>
              <a:t>, </a:t>
            </a:r>
            <a:r>
              <a:rPr lang="en-US" b="1" baseline="0" dirty="0" smtClean="0"/>
              <a:t>SAP User Menu </a:t>
            </a:r>
            <a:r>
              <a:rPr lang="en-US" b="0" baseline="0" dirty="0" smtClean="0"/>
              <a:t>buttons and </a:t>
            </a:r>
            <a:r>
              <a:rPr lang="en-US" b="0" i="1" baseline="0" dirty="0" smtClean="0"/>
              <a:t>Favorites</a:t>
            </a:r>
            <a:r>
              <a:rPr lang="en-US" b="0" baseline="0" dirty="0" smtClean="0"/>
              <a:t>. When you are in a transaction, the Navigation Toolbar is replaced by the </a:t>
            </a:r>
            <a:r>
              <a:rPr lang="en-US" b="1" baseline="0" dirty="0" smtClean="0"/>
              <a:t>Application Toolbar</a:t>
            </a:r>
            <a:r>
              <a:rPr lang="en-US" b="0" baseline="0" dirty="0" smtClean="0"/>
              <a:t>.  The Application Toolbar provides quick access to commonly used functions.</a:t>
            </a:r>
          </a:p>
          <a:p>
            <a:endParaRPr lang="en-US" b="0" baseline="0" dirty="0" smtClean="0"/>
          </a:p>
          <a:p>
            <a:r>
              <a:rPr lang="en-US" b="1" baseline="0" dirty="0" smtClean="0"/>
              <a:t>Screen Body </a:t>
            </a:r>
            <a:r>
              <a:rPr lang="en-US" b="0" baseline="0" dirty="0" smtClean="0"/>
              <a:t>– Displays different elements depending on where you are in the system.</a:t>
            </a:r>
          </a:p>
          <a:p>
            <a:endParaRPr lang="en-US" b="0" baseline="0" dirty="0" smtClean="0"/>
          </a:p>
          <a:p>
            <a:r>
              <a:rPr lang="en-US" b="1" baseline="0" dirty="0" smtClean="0"/>
              <a:t>Status Bar </a:t>
            </a:r>
            <a:r>
              <a:rPr lang="en-US" b="0" baseline="0" dirty="0" smtClean="0"/>
              <a:t>– Located at the bottom of the SAP screen, displays system messages and other session information.</a:t>
            </a:r>
          </a:p>
          <a:p>
            <a:endParaRPr lang="en-US" b="0" baseline="0" dirty="0" smtClean="0"/>
          </a:p>
          <a:p>
            <a:endParaRPr lang="en-US" b="1"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a:t>
            </a:fld>
            <a:endParaRPr lang="en-US"/>
          </a:p>
        </p:txBody>
      </p:sp>
    </p:spTree>
    <p:extLst>
      <p:ext uri="{BB962C8B-B14F-4D97-AF65-F5344CB8AC3E}">
        <p14:creationId xmlns:p14="http://schemas.microsoft.com/office/powerpoint/2010/main" val="51851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charset="0"/>
              </a:rPr>
              <a:t>A transaction code or T-Code for short are letters, numbers, or both that make up a unique code that takes you directly to an application or the first screen of a task. </a:t>
            </a:r>
          </a:p>
          <a:p>
            <a:r>
              <a:rPr lang="en-US" dirty="0">
                <a:latin typeface="Arial" charset="0"/>
              </a:rPr>
              <a:t> </a:t>
            </a:r>
          </a:p>
          <a:p>
            <a:r>
              <a:rPr lang="en-US" dirty="0">
                <a:latin typeface="Arial" charset="0"/>
              </a:rPr>
              <a:t>To use the Menu Tree to locate a transaction, from the SAP Easy Access screen, click on the SAP Menu icon to expand the SAP Standard menu tree. The first-level folders </a:t>
            </a:r>
            <a:r>
              <a:rPr lang="en-US" dirty="0" smtClean="0">
                <a:latin typeface="Arial" charset="0"/>
              </a:rPr>
              <a:t>are </a:t>
            </a:r>
            <a:r>
              <a:rPr lang="en-US" dirty="0">
                <a:latin typeface="Arial" charset="0"/>
              </a:rPr>
              <a:t>displayed; select the appropriate folder and double-click on the arrow next to it to expand it. Continue drilling down in this manner until SAP displays the transaction you are seeking. Once you arrive at the transaction, double-click on it to access the initial transaction screen.</a:t>
            </a:r>
          </a:p>
          <a:p>
            <a:r>
              <a:rPr lang="en-US" dirty="0">
                <a:latin typeface="Arial" charset="0"/>
              </a:rPr>
              <a:t> </a:t>
            </a:r>
          </a:p>
          <a:p>
            <a:r>
              <a:rPr lang="en-US" dirty="0">
                <a:latin typeface="Arial" charset="0"/>
              </a:rPr>
              <a:t>Please note that while the standard menu displays all SAP transactions, you </a:t>
            </a:r>
            <a:r>
              <a:rPr lang="en-US" dirty="0" smtClean="0">
                <a:latin typeface="Arial" charset="0"/>
              </a:rPr>
              <a:t>are only </a:t>
            </a:r>
            <a:r>
              <a:rPr lang="en-US" dirty="0">
                <a:latin typeface="Arial" charset="0"/>
              </a:rPr>
              <a:t>able to access those transactions associated with your assigned role.</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a:t>
            </a:fld>
            <a:endParaRPr lang="en-US"/>
          </a:p>
        </p:txBody>
      </p:sp>
    </p:spTree>
    <p:extLst>
      <p:ext uri="{BB962C8B-B14F-4D97-AF65-F5344CB8AC3E}">
        <p14:creationId xmlns:p14="http://schemas.microsoft.com/office/powerpoint/2010/main" val="1133285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2943" indent="-232943">
              <a:buAutoNum type="arabicPeriod"/>
            </a:pPr>
            <a:r>
              <a:rPr lang="en-US" baseline="0" dirty="0" smtClean="0"/>
              <a:t>System Menu and Help Menu</a:t>
            </a:r>
          </a:p>
          <a:p>
            <a:pPr marL="232943" indent="-232943">
              <a:buAutoNum type="arabicPeriod"/>
            </a:pPr>
            <a:r>
              <a:rPr lang="en-US" baseline="0" dirty="0" smtClean="0"/>
              <a:t>The SAP Standard Menu shows all transactions while the SAP User Menu shows only those transactions a user has the security role to execute.</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14</a:t>
            </a:fld>
            <a:endParaRPr lang="en-US"/>
          </a:p>
        </p:txBody>
      </p:sp>
    </p:spTree>
    <p:extLst>
      <p:ext uri="{BB962C8B-B14F-4D97-AF65-F5344CB8AC3E}">
        <p14:creationId xmlns:p14="http://schemas.microsoft.com/office/powerpoint/2010/main" val="1018325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Planner receives</a:t>
            </a:r>
            <a:r>
              <a:rPr lang="en-US" baseline="0" dirty="0" smtClean="0"/>
              <a:t> a</a:t>
            </a:r>
            <a:r>
              <a:rPr lang="en-US" dirty="0" smtClean="0"/>
              <a:t> notification (preventive, corrective, emergency, etc.) to create a work</a:t>
            </a:r>
            <a:r>
              <a:rPr lang="en-US" baseline="0" dirty="0" smtClean="0"/>
              <a:t> order</a:t>
            </a:r>
            <a:r>
              <a:rPr lang="en-US" dirty="0" smtClean="0"/>
              <a:t>. A planned work order includes pre-defined</a:t>
            </a:r>
            <a:r>
              <a:rPr lang="en-US" baseline="0" dirty="0" smtClean="0"/>
              <a:t> work steps, labor cost associated with the work, parts/supplies needed, and any external services that are needed as well. The work order is scheduled by the Planner, which assigns it to the employee tasked to complete the order. Once complete, the work order is marked “technically complete”. Batch settlement is generated monthly to close the work order on the financials side. After that is complete, the planner can access the work order again and officially close it. Reports can be generated by Management to review detailed status information for the work order.</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17</a:t>
            </a:fld>
            <a:endParaRPr lang="en-US" dirty="0"/>
          </a:p>
        </p:txBody>
      </p:sp>
    </p:spTree>
    <p:extLst>
      <p:ext uri="{BB962C8B-B14F-4D97-AF65-F5344CB8AC3E}">
        <p14:creationId xmlns:p14="http://schemas.microsoft.com/office/powerpoint/2010/main" val="7440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The work order process starts with a Planner receiving a notification.  These events include Corrective Maintenance, Unplanned Corrective Maintenance, and Emergency Maintenance. Preventive Maintenance typically flows straight into SAP for Work Order creation (SAP creates the notification in the background). </a:t>
            </a:r>
            <a:r>
              <a:rPr lang="en-US" baseline="0" dirty="0" smtClean="0">
                <a:solidFill>
                  <a:srgbClr val="FF0000"/>
                </a:solidFill>
              </a:rPr>
              <a:t>Upon completion, the planner closes the work order, and an EAM </a:t>
            </a:r>
            <a:r>
              <a:rPr lang="en-US" baseline="0" dirty="0" err="1" smtClean="0">
                <a:solidFill>
                  <a:srgbClr val="FF0000"/>
                </a:solidFill>
              </a:rPr>
              <a:t>Mgr</a:t>
            </a:r>
            <a:r>
              <a:rPr lang="en-US" baseline="0" dirty="0" smtClean="0">
                <a:solidFill>
                  <a:srgbClr val="FF0000"/>
                </a:solidFill>
              </a:rPr>
              <a:t>/Admin generates the necessary reports for detailed order review.</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18</a:t>
            </a:fld>
            <a:endParaRPr lang="en-US" dirty="0"/>
          </a:p>
        </p:txBody>
      </p:sp>
    </p:spTree>
    <p:extLst>
      <p:ext uri="{BB962C8B-B14F-4D97-AF65-F5344CB8AC3E}">
        <p14:creationId xmlns:p14="http://schemas.microsoft.com/office/powerpoint/2010/main" val="3177752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19</a:t>
            </a:fld>
            <a:endParaRPr lang="en-US" dirty="0"/>
          </a:p>
        </p:txBody>
      </p:sp>
    </p:spTree>
    <p:extLst>
      <p:ext uri="{BB962C8B-B14F-4D97-AF65-F5344CB8AC3E}">
        <p14:creationId xmlns:p14="http://schemas.microsoft.com/office/powerpoint/2010/main" val="3738941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itchFamily="34" charset="0"/>
              <a:buChar char="•"/>
            </a:pPr>
            <a:r>
              <a:rPr lang="en-US" dirty="0" smtClean="0"/>
              <a:t>1. </a:t>
            </a:r>
            <a:r>
              <a:rPr lang="en-US" b="0" dirty="0" smtClean="0"/>
              <a:t>Notifications, Create Work Order, Plan &amp; Schedule</a:t>
            </a:r>
            <a:r>
              <a:rPr lang="en-US" b="0" baseline="0" dirty="0" smtClean="0"/>
              <a:t> Work Order, Execute Work Order, Settle and Close Work Order</a:t>
            </a:r>
            <a:endParaRPr lang="en-US" b="0"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20</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23</a:t>
            </a:fld>
            <a:endParaRPr lang="en-US"/>
          </a:p>
        </p:txBody>
      </p:sp>
    </p:spTree>
    <p:extLst>
      <p:ext uri="{BB962C8B-B14F-4D97-AF65-F5344CB8AC3E}">
        <p14:creationId xmlns:p14="http://schemas.microsoft.com/office/powerpoint/2010/main" val="2370826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highlights the</a:t>
            </a:r>
            <a:r>
              <a:rPr lang="en-US" baseline="0" dirty="0" smtClean="0"/>
              <a:t> part of the process currently being reviewed. </a:t>
            </a:r>
            <a:r>
              <a:rPr lang="en-US" dirty="0" smtClean="0"/>
              <a:t>A Planner receives</a:t>
            </a:r>
            <a:r>
              <a:rPr lang="en-US" baseline="0" dirty="0" smtClean="0"/>
              <a:t> a</a:t>
            </a:r>
            <a:r>
              <a:rPr lang="en-US" dirty="0" smtClean="0"/>
              <a:t> notification (preventive, corrective, emergency, etc.) to create a work</a:t>
            </a:r>
            <a:r>
              <a:rPr lang="en-US" baseline="0" dirty="0" smtClean="0"/>
              <a:t> order</a:t>
            </a:r>
            <a:r>
              <a:rPr lang="en-US" dirty="0" smtClean="0"/>
              <a:t>. </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25</a:t>
            </a:fld>
            <a:endParaRPr lang="en-US" dirty="0"/>
          </a:p>
        </p:txBody>
      </p:sp>
    </p:spTree>
    <p:extLst>
      <p:ext uri="{BB962C8B-B14F-4D97-AF65-F5344CB8AC3E}">
        <p14:creationId xmlns:p14="http://schemas.microsoft.com/office/powerpoint/2010/main" val="37697954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29</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32</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itchFamily="34" charset="0"/>
              <a:buChar char="•"/>
            </a:pPr>
            <a:r>
              <a:rPr lang="en-US" dirty="0" smtClean="0"/>
              <a:t>1. A notification is used to capture technical information and assign tasks that do not involve the tracking of costs. </a:t>
            </a:r>
          </a:p>
          <a:p>
            <a:pPr marL="342900" indent="-342900">
              <a:buFont typeface="Arial" pitchFamily="34" charset="0"/>
              <a:buChar char="•"/>
            </a:pPr>
            <a:r>
              <a:rPr lang="en-US" dirty="0" smtClean="0"/>
              <a:t>2. </a:t>
            </a:r>
            <a:r>
              <a:rPr lang="en-US" baseline="0" dirty="0" smtClean="0"/>
              <a:t>Corrective Maintenance, Unplanned Corrective Maintenance, Emergency Maintenance, and Preventive Maintenance</a:t>
            </a:r>
          </a:p>
          <a:p>
            <a:pPr marL="342900" indent="-342900">
              <a:buFont typeface="Arial" pitchFamily="34" charset="0"/>
              <a:buChar char="•"/>
            </a:pPr>
            <a:r>
              <a:rPr lang="en-US" baseline="0" dirty="0" smtClean="0"/>
              <a:t>3.</a:t>
            </a:r>
            <a:r>
              <a:rPr lang="en-US" dirty="0" smtClean="0"/>
              <a:t> </a:t>
            </a:r>
            <a:r>
              <a:rPr lang="en-US" b="1" dirty="0" smtClean="0"/>
              <a:t>M1</a:t>
            </a:r>
            <a:r>
              <a:rPr lang="en-US" dirty="0" smtClean="0"/>
              <a:t>: Corrective - Used for normal or routine repairs or malfunctions that do not severely affect the output of the equipment</a:t>
            </a:r>
          </a:p>
          <a:p>
            <a:pPr marL="342900" indent="-342900">
              <a:buFont typeface="Arial" pitchFamily="34" charset="0"/>
              <a:buChar char="•"/>
            </a:pPr>
            <a:r>
              <a:rPr lang="en-US" b="1" dirty="0" smtClean="0"/>
              <a:t>    M2</a:t>
            </a:r>
            <a:r>
              <a:rPr lang="en-US" dirty="0" smtClean="0"/>
              <a:t>: Malfunction Report - Used when equipment has failed and to track Mean Time To Repair (MTTR) and Mean Time Between Repairs (MTBR)     </a:t>
            </a:r>
            <a:r>
              <a:rPr lang="en-US" baseline="0" dirty="0" smtClean="0"/>
              <a:t>                                                                                                                                                                         	</a:t>
            </a:r>
            <a:r>
              <a:rPr lang="en-US" dirty="0" smtClean="0"/>
              <a:t>statistics each month</a:t>
            </a:r>
          </a:p>
          <a:p>
            <a:pPr marL="342900" indent="-342900">
              <a:buFont typeface="Arial" pitchFamily="34" charset="0"/>
              <a:buChar char="•"/>
            </a:pPr>
            <a:r>
              <a:rPr lang="en-US" b="1" dirty="0" smtClean="0"/>
              <a:t>    M3</a:t>
            </a:r>
            <a:r>
              <a:rPr lang="en-US" dirty="0" smtClean="0"/>
              <a:t>: Activity Report - Used to record activities (work) that are minor in nature and no work order has to be created for them but a history of the event 	needs to be recorded. Example; fire extinguisher checks were completed this month</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34</a:t>
            </a:fld>
            <a:endParaRPr lang="en-US"/>
          </a:p>
        </p:txBody>
      </p:sp>
    </p:spTree>
    <p:extLst>
      <p:ext uri="{BB962C8B-B14F-4D97-AF65-F5344CB8AC3E}">
        <p14:creationId xmlns:p14="http://schemas.microsoft.com/office/powerpoint/2010/main" val="3573078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highlights the part of the process</a:t>
            </a:r>
            <a:r>
              <a:rPr lang="en-US" baseline="0" dirty="0" smtClean="0"/>
              <a:t> currently being reviewed. </a:t>
            </a:r>
            <a:r>
              <a:rPr lang="en-US" dirty="0" smtClean="0"/>
              <a:t>A planned work order includes pre-defined</a:t>
            </a:r>
            <a:r>
              <a:rPr lang="en-US" baseline="0" dirty="0" smtClean="0"/>
              <a:t> work steps, labor cost associated with the work, parts/supplies needed, and any external services that are needed as well. The work order is scheduled by the Planner, which assigns it to the employee tasked to complete the order. Once complete, the work order is marked “technically complete”. Batch settlement is generated monthly to close the work order on the financials side. After that is complete, the planner can access the work order again and officially close it.</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39</a:t>
            </a:fld>
            <a:endParaRPr lang="en-US" dirty="0"/>
          </a:p>
        </p:txBody>
      </p:sp>
    </p:spTree>
    <p:extLst>
      <p:ext uri="{BB962C8B-B14F-4D97-AF65-F5344CB8AC3E}">
        <p14:creationId xmlns:p14="http://schemas.microsoft.com/office/powerpoint/2010/main" val="1863757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44</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48</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50</a:t>
            </a:fld>
            <a:endParaRPr lang="en-US" dirty="0"/>
          </a:p>
        </p:txBody>
      </p:sp>
    </p:spTree>
    <p:extLst>
      <p:ext uri="{BB962C8B-B14F-4D97-AF65-F5344CB8AC3E}">
        <p14:creationId xmlns:p14="http://schemas.microsoft.com/office/powerpoint/2010/main" val="2188999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55</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61</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aseline="0" dirty="0" smtClean="0"/>
              <a:t>False: A work order can be created with or without a notification.</a:t>
            </a:r>
          </a:p>
          <a:p>
            <a:pPr marL="228600" indent="-228600">
              <a:buAutoNum type="arabicPeriod"/>
            </a:pPr>
            <a:r>
              <a:rPr lang="en-US" baseline="0" dirty="0" smtClean="0"/>
              <a:t>Batch settlement. This process is currently scheduled to generate once a month, but can be generated any other time when needed.</a:t>
            </a:r>
          </a:p>
          <a:p>
            <a:pPr marL="228600" indent="-228600">
              <a:buAutoNum type="arabicPeriod"/>
            </a:pPr>
            <a:endParaRPr lang="en-US" baseline="0" dirty="0" smtClean="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63</a:t>
            </a:fld>
            <a:endParaRPr lang="en-US" dirty="0"/>
          </a:p>
        </p:txBody>
      </p:sp>
    </p:spTree>
    <p:extLst>
      <p:ext uri="{BB962C8B-B14F-4D97-AF65-F5344CB8AC3E}">
        <p14:creationId xmlns:p14="http://schemas.microsoft.com/office/powerpoint/2010/main" val="12001476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Prior to notifications or work orders being created; materials/equipment, employees, labor categories, etc., must be setup in SAP. During the creation of the work order, equipment and labor activities can be added as well. This module focuses on those activities that help form the foundation of the EAM process flow.</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68</a:t>
            </a:fld>
            <a:endParaRPr lang="en-US" dirty="0"/>
          </a:p>
        </p:txBody>
      </p:sp>
    </p:spTree>
    <p:extLst>
      <p:ext uri="{BB962C8B-B14F-4D97-AF65-F5344CB8AC3E}">
        <p14:creationId xmlns:p14="http://schemas.microsoft.com/office/powerpoint/2010/main" val="38223994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71</a:t>
            </a:fld>
            <a:endParaRPr lang="en-US" dirty="0"/>
          </a:p>
        </p:txBody>
      </p:sp>
    </p:spTree>
    <p:extLst>
      <p:ext uri="{BB962C8B-B14F-4D97-AF65-F5344CB8AC3E}">
        <p14:creationId xmlns:p14="http://schemas.microsoft.com/office/powerpoint/2010/main" val="23987700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74</a:t>
            </a:fld>
            <a:endParaRPr lang="en-US" dirty="0"/>
          </a:p>
        </p:txBody>
      </p:sp>
    </p:spTree>
    <p:extLst>
      <p:ext uri="{BB962C8B-B14F-4D97-AF65-F5344CB8AC3E}">
        <p14:creationId xmlns:p14="http://schemas.microsoft.com/office/powerpoint/2010/main" val="2026276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78</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81</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85</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88</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92</a:t>
            </a:fld>
            <a:endParaRPr lang="en-US" dirty="0"/>
          </a:p>
        </p:txBody>
      </p:sp>
    </p:spTree>
    <p:extLst>
      <p:ext uri="{BB962C8B-B14F-4D97-AF65-F5344CB8AC3E}">
        <p14:creationId xmlns:p14="http://schemas.microsoft.com/office/powerpoint/2010/main" val="1230703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95</a:t>
            </a:fld>
            <a:endParaRPr lang="en-US" dirty="0"/>
          </a:p>
        </p:txBody>
      </p:sp>
    </p:spTree>
    <p:extLst>
      <p:ext uri="{BB962C8B-B14F-4D97-AF65-F5344CB8AC3E}">
        <p14:creationId xmlns:p14="http://schemas.microsoft.com/office/powerpoint/2010/main" val="117671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99</a:t>
            </a:fld>
            <a:endParaRPr lang="en-US" dirty="0"/>
          </a:p>
        </p:txBody>
      </p:sp>
    </p:spTree>
    <p:extLst>
      <p:ext uri="{BB962C8B-B14F-4D97-AF65-F5344CB8AC3E}">
        <p14:creationId xmlns:p14="http://schemas.microsoft.com/office/powerpoint/2010/main" val="41324432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102</a:t>
            </a:fld>
            <a:endParaRPr lang="en-US" dirty="0"/>
          </a:p>
        </p:txBody>
      </p:sp>
    </p:spTree>
    <p:extLst>
      <p:ext uri="{BB962C8B-B14F-4D97-AF65-F5344CB8AC3E}">
        <p14:creationId xmlns:p14="http://schemas.microsoft.com/office/powerpoint/2010/main" val="24712123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highlights the process currently being reviewed. </a:t>
            </a:r>
            <a:r>
              <a:rPr lang="en-US" baseline="0" dirty="0" smtClean="0"/>
              <a:t>Reports can be generated to review detailed status information for the work order.</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108</a:t>
            </a:fld>
            <a:endParaRPr lang="en-US" dirty="0"/>
          </a:p>
        </p:txBody>
      </p:sp>
    </p:spTree>
    <p:extLst>
      <p:ext uri="{BB962C8B-B14F-4D97-AF65-F5344CB8AC3E}">
        <p14:creationId xmlns:p14="http://schemas.microsoft.com/office/powerpoint/2010/main" val="12853720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add reports you use most often to your Favorites folder. </a:t>
            </a:r>
          </a:p>
          <a:p>
            <a:endParaRPr lang="en-US" dirty="0" smtClean="0"/>
          </a:p>
          <a:p>
            <a:r>
              <a:rPr lang="en-US" dirty="0" smtClean="0"/>
              <a:t>Access to</a:t>
            </a:r>
            <a:r>
              <a:rPr lang="en-US" baseline="0" dirty="0" smtClean="0"/>
              <a:t> reports is restricted by the role(s) assigned to the user – for example, not everyone has the ability to generate capital project reports. And for those that are able to generate budget reports, your access is limited to just your department. You are not be able to see another department’s budget.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109</a:t>
            </a:fld>
            <a:endParaRPr lang="en-US"/>
          </a:p>
        </p:txBody>
      </p:sp>
    </p:spTree>
    <p:extLst>
      <p:ext uri="{BB962C8B-B14F-4D97-AF65-F5344CB8AC3E}">
        <p14:creationId xmlns:p14="http://schemas.microsoft.com/office/powerpoint/2010/main" val="20153476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112</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114</a:t>
            </a:fld>
            <a:endParaRPr lang="en-US" dirty="0"/>
          </a:p>
        </p:txBody>
      </p:sp>
    </p:spTree>
    <p:extLst>
      <p:ext uri="{BB962C8B-B14F-4D97-AF65-F5344CB8AC3E}">
        <p14:creationId xmlns:p14="http://schemas.microsoft.com/office/powerpoint/2010/main" val="39738307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accent3">
                    <a:lumMod val="10000"/>
                  </a:schemeClr>
                </a:solidFill>
              </a:rPr>
              <a:t>The use of selection criteria offers the following benefits:</a:t>
            </a:r>
          </a:p>
          <a:p>
            <a:pPr lvl="1"/>
            <a:r>
              <a:rPr lang="en-US" dirty="0" smtClean="0">
                <a:solidFill>
                  <a:schemeClr val="accent3">
                    <a:lumMod val="10000"/>
                  </a:schemeClr>
                </a:solidFill>
              </a:rPr>
              <a:t>You can limit the length of the report</a:t>
            </a:r>
          </a:p>
          <a:p>
            <a:pPr lvl="1"/>
            <a:r>
              <a:rPr lang="en-US" dirty="0" smtClean="0">
                <a:solidFill>
                  <a:schemeClr val="accent3">
                    <a:lumMod val="10000"/>
                  </a:schemeClr>
                </a:solidFill>
              </a:rPr>
              <a:t>You can minimize the processing time needed by SAP for data retrieval</a:t>
            </a:r>
          </a:p>
          <a:p>
            <a:pPr lvl="1"/>
            <a:r>
              <a:rPr lang="en-US" dirty="0" smtClean="0">
                <a:solidFill>
                  <a:schemeClr val="accent3">
                    <a:lumMod val="10000"/>
                  </a:schemeClr>
                </a:solidFill>
              </a:rPr>
              <a:t>You can extract relevant data and exclude unwanted data</a:t>
            </a:r>
          </a:p>
          <a:p>
            <a:pPr defTabSz="931774" eaLnBrk="1" hangingPunct="1">
              <a:defRPr/>
            </a:pPr>
            <a:r>
              <a:rPr lang="en-US" dirty="0" smtClean="0">
                <a:solidFill>
                  <a:schemeClr val="accent3">
                    <a:lumMod val="10000"/>
                  </a:schemeClr>
                </a:solidFill>
              </a:rPr>
              <a:t>Because of the wealth of data in the SAP system, be very cautious of generating reports with vast amounts of data by using few or no selection criteria.</a:t>
            </a:r>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116</a:t>
            </a:fld>
            <a:endParaRPr lang="en-US"/>
          </a:p>
        </p:txBody>
      </p:sp>
    </p:spTree>
    <p:extLst>
      <p:ext uri="{BB962C8B-B14F-4D97-AF65-F5344CB8AC3E}">
        <p14:creationId xmlns:p14="http://schemas.microsoft.com/office/powerpoint/2010/main" val="27261638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Will need to identify criteria once training</a:t>
            </a:r>
            <a:r>
              <a:rPr lang="en-US" baseline="0" dirty="0" smtClean="0"/>
              <a:t> client is built.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120</a:t>
            </a:fld>
            <a:endParaRPr lang="en-US"/>
          </a:p>
        </p:txBody>
      </p:sp>
    </p:spTree>
    <p:extLst>
      <p:ext uri="{BB962C8B-B14F-4D97-AF65-F5344CB8AC3E}">
        <p14:creationId xmlns:p14="http://schemas.microsoft.com/office/powerpoint/2010/main" val="24514475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Validate once training</a:t>
            </a:r>
            <a:r>
              <a:rPr lang="en-US" baseline="0" dirty="0" smtClean="0"/>
              <a:t> client is built.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121</a:t>
            </a:fld>
            <a:endParaRPr lang="en-US"/>
          </a:p>
        </p:txBody>
      </p:sp>
    </p:spTree>
    <p:extLst>
      <p:ext uri="{BB962C8B-B14F-4D97-AF65-F5344CB8AC3E}">
        <p14:creationId xmlns:p14="http://schemas.microsoft.com/office/powerpoint/2010/main" val="27014573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True</a:t>
            </a:r>
          </a:p>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r>
              <a:rPr lang="en-US" dirty="0" smtClean="0"/>
              <a:t>False:</a:t>
            </a:r>
            <a:r>
              <a:rPr lang="en-US" baseline="0" dirty="0" smtClean="0"/>
              <a:t> </a:t>
            </a:r>
            <a:r>
              <a:rPr lang="en-US" sz="1200" dirty="0" smtClean="0">
                <a:solidFill>
                  <a:srgbClr val="000000"/>
                </a:solidFill>
                <a:latin typeface="Verdana" pitchFamily="34" charset="0"/>
                <a:ea typeface="Verdana" pitchFamily="34" charset="0"/>
                <a:cs typeface="Verdana" pitchFamily="34" charset="0"/>
              </a:rPr>
              <a:t>Once generated, a report can be exported to Excel or re-formatted on the screen.</a:t>
            </a:r>
          </a:p>
          <a:p>
            <a:pPr marL="0" indent="0">
              <a:buNone/>
            </a:pP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122</a:t>
            </a:fld>
            <a:endParaRPr lang="en-US" dirty="0"/>
          </a:p>
        </p:txBody>
      </p:sp>
    </p:spTree>
    <p:extLst>
      <p:ext uri="{BB962C8B-B14F-4D97-AF65-F5344CB8AC3E}">
        <p14:creationId xmlns:p14="http://schemas.microsoft.com/office/powerpoint/2010/main" val="20570171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134" name="Picture 14" descr="puritybar_logo"/>
          <p:cNvPicPr>
            <a:picLocks noChangeAspect="1" noChangeArrowheads="1"/>
          </p:cNvPicPr>
          <p:nvPr userDrawn="1"/>
        </p:nvPicPr>
        <p:blipFill>
          <a:blip r:embed="rId2" cstate="print">
            <a:clrChange>
              <a:clrFrom>
                <a:srgbClr val="FFFFFF"/>
              </a:clrFrom>
              <a:clrTo>
                <a:srgbClr val="FFFFFF">
                  <a:alpha val="0"/>
                </a:srgbClr>
              </a:clrTo>
            </a:clrChange>
          </a:blip>
          <a:srcRect/>
          <a:stretch>
            <a:fillRect/>
          </a:stretch>
        </p:blipFill>
        <p:spPr bwMode="auto">
          <a:xfrm>
            <a:off x="0" y="5211763"/>
            <a:ext cx="9144000" cy="1646237"/>
          </a:xfrm>
          <a:prstGeom prst="rect">
            <a:avLst/>
          </a:prstGeom>
          <a:noFill/>
        </p:spPr>
      </p:pic>
      <p:sp>
        <p:nvSpPr>
          <p:cNvPr id="5122" name="Rectangle 2"/>
          <p:cNvSpPr>
            <a:spLocks noGrp="1" noRot="1" noChangeArrowheads="1"/>
          </p:cNvSpPr>
          <p:nvPr>
            <p:ph type="ctrTitle" hasCustomPrompt="1"/>
          </p:nvPr>
        </p:nvSpPr>
        <p:spPr>
          <a:xfrm>
            <a:off x="1676400" y="1981200"/>
            <a:ext cx="6781800" cy="1600200"/>
          </a:xfrm>
        </p:spPr>
        <p:txBody>
          <a:bodyPr/>
          <a:lstStyle>
            <a:lvl1pPr algn="ctr">
              <a:spcBef>
                <a:spcPts val="1200"/>
              </a:spcBef>
              <a:spcAft>
                <a:spcPts val="1800"/>
              </a:spcAft>
              <a:defRPr sz="4000" baseline="0">
                <a:solidFill>
                  <a:srgbClr val="000000"/>
                </a:solidFill>
                <a:effectLst/>
              </a:defRPr>
            </a:lvl1pPr>
          </a:lstStyle>
          <a:p>
            <a:r>
              <a:rPr lang="en-US" dirty="0"/>
              <a:t>Title of </a:t>
            </a:r>
            <a:r>
              <a:rPr lang="en-US" dirty="0" smtClean="0"/>
              <a:t>Presentation</a:t>
            </a:r>
            <a:br>
              <a:rPr lang="en-US" dirty="0" smtClean="0"/>
            </a:br>
            <a:r>
              <a:rPr lang="en-US" sz="2000" dirty="0" smtClean="0"/>
              <a:t>Course ID</a:t>
            </a:r>
            <a:endParaRPr lang="en-US" dirty="0"/>
          </a:p>
        </p:txBody>
      </p:sp>
      <p:grpSp>
        <p:nvGrpSpPr>
          <p:cNvPr id="5127" name="Group 7"/>
          <p:cNvGrpSpPr>
            <a:grpSpLocks/>
          </p:cNvGrpSpPr>
          <p:nvPr userDrawn="1"/>
        </p:nvGrpSpPr>
        <p:grpSpPr bwMode="auto">
          <a:xfrm>
            <a:off x="0" y="0"/>
            <a:ext cx="1501775" cy="6861175"/>
            <a:chOff x="0" y="0"/>
            <a:chExt cx="946" cy="4322"/>
          </a:xfrm>
        </p:grpSpPr>
        <p:pic>
          <p:nvPicPr>
            <p:cNvPr id="5128" name="Picture 8" descr="MPj04304570000[1]"/>
            <p:cNvPicPr>
              <a:picLocks noChangeArrowheads="1"/>
            </p:cNvPicPr>
            <p:nvPr userDrawn="1"/>
          </p:nvPicPr>
          <p:blipFill>
            <a:blip r:embed="rId3" cstate="print"/>
            <a:srcRect b="-8"/>
            <a:stretch>
              <a:fillRect/>
            </a:stretch>
          </p:blipFill>
          <p:spPr bwMode="auto">
            <a:xfrm>
              <a:off x="0" y="2208"/>
              <a:ext cx="944" cy="1056"/>
            </a:xfrm>
            <a:prstGeom prst="rect">
              <a:avLst/>
            </a:prstGeom>
            <a:noFill/>
            <a:ln w="9525">
              <a:noFill/>
              <a:miter lim="800000"/>
              <a:headEnd/>
              <a:tailEnd/>
            </a:ln>
          </p:spPr>
        </p:pic>
        <p:pic>
          <p:nvPicPr>
            <p:cNvPr id="5129" name="Picture 9" descr="MPj04231330000[1]"/>
            <p:cNvPicPr>
              <a:picLocks noChangeArrowheads="1"/>
            </p:cNvPicPr>
            <p:nvPr userDrawn="1"/>
          </p:nvPicPr>
          <p:blipFill>
            <a:blip r:embed="rId4" cstate="print"/>
            <a:srcRect t="4001"/>
            <a:stretch>
              <a:fillRect/>
            </a:stretch>
          </p:blipFill>
          <p:spPr bwMode="auto">
            <a:xfrm>
              <a:off x="0" y="0"/>
              <a:ext cx="944" cy="1152"/>
            </a:xfrm>
            <a:prstGeom prst="rect">
              <a:avLst/>
            </a:prstGeom>
            <a:noFill/>
          </p:spPr>
        </p:pic>
        <p:pic>
          <p:nvPicPr>
            <p:cNvPr id="5130" name="Picture 10" descr="MPj04231190000[1]"/>
            <p:cNvPicPr>
              <a:picLocks noChangeAspect="1" noChangeArrowheads="1"/>
            </p:cNvPicPr>
            <p:nvPr userDrawn="1"/>
          </p:nvPicPr>
          <p:blipFill>
            <a:blip r:embed="rId5" cstate="print"/>
            <a:srcRect b="4173"/>
            <a:stretch>
              <a:fillRect/>
            </a:stretch>
          </p:blipFill>
          <p:spPr bwMode="auto">
            <a:xfrm>
              <a:off x="0" y="3264"/>
              <a:ext cx="946" cy="1058"/>
            </a:xfrm>
            <a:prstGeom prst="rect">
              <a:avLst/>
            </a:prstGeom>
            <a:noFill/>
          </p:spPr>
        </p:pic>
        <p:pic>
          <p:nvPicPr>
            <p:cNvPr id="5131" name="Picture 11" descr="MPj04229880000[1]"/>
            <p:cNvPicPr>
              <a:picLocks noChangeArrowheads="1"/>
            </p:cNvPicPr>
            <p:nvPr userDrawn="1"/>
          </p:nvPicPr>
          <p:blipFill>
            <a:blip r:embed="rId6" cstate="print"/>
            <a:srcRect t="8014"/>
            <a:stretch>
              <a:fillRect/>
            </a:stretch>
          </p:blipFill>
          <p:spPr bwMode="auto">
            <a:xfrm>
              <a:off x="0" y="1152"/>
              <a:ext cx="944" cy="1056"/>
            </a:xfrm>
            <a:prstGeom prst="rect">
              <a:avLst/>
            </a:prstGeom>
            <a:noFill/>
            <a:ln w="9525">
              <a:noFill/>
              <a:miter lim="800000"/>
              <a:headEnd/>
              <a:tailEnd/>
            </a:ln>
          </p:spPr>
        </p:pic>
      </p:grpSp>
    </p:spTree>
    <p:extLst>
      <p:ext uri="{BB962C8B-B14F-4D97-AF65-F5344CB8AC3E}">
        <p14:creationId xmlns:p14="http://schemas.microsoft.com/office/powerpoint/2010/main" val="89068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lstStyle>
            <a:lvl1pPr algn="l">
              <a:defRPr sz="3200" b="1" cap="all">
                <a:solidFill>
                  <a:schemeClr val="tx2">
                    <a:lumMod val="25000"/>
                  </a:schemeClr>
                </a:solidFill>
              </a:defRPr>
            </a:lvl1pPr>
          </a:lstStyle>
          <a:p>
            <a:r>
              <a:rPr lang="en-US" dirty="0" smtClean="0"/>
              <a:t>Module Title</a:t>
            </a:r>
            <a:endParaRPr lang="en-US" dirty="0"/>
          </a:p>
        </p:txBody>
      </p:sp>
      <p:sp>
        <p:nvSpPr>
          <p:cNvPr id="3" name="Text Placeholder 2"/>
          <p:cNvSpPr>
            <a:spLocks noGrp="1"/>
          </p:cNvSpPr>
          <p:nvPr>
            <p:ph type="body" idx="1" hasCustomPrompt="1"/>
          </p:nvPr>
        </p:nvSpPr>
        <p:spPr>
          <a:xfrm>
            <a:off x="722313" y="2906713"/>
            <a:ext cx="7772400" cy="1500187"/>
          </a:xfrm>
        </p:spPr>
        <p:txBody>
          <a:bodyPr anchor="b"/>
          <a:lstStyle>
            <a:lvl1pPr marL="0" indent="0">
              <a:buNone/>
              <a:defRPr sz="24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Module #</a:t>
            </a:r>
          </a:p>
        </p:txBody>
      </p:sp>
      <p:cxnSp>
        <p:nvCxnSpPr>
          <p:cNvPr id="6" name="Straight Connector 5"/>
          <p:cNvCxnSpPr/>
          <p:nvPr userDrawn="1"/>
        </p:nvCxnSpPr>
        <p:spPr bwMode="auto">
          <a:xfrm>
            <a:off x="685800" y="4419600"/>
            <a:ext cx="7848600" cy="0"/>
          </a:xfrm>
          <a:prstGeom prst="line">
            <a:avLst/>
          </a:prstGeom>
          <a:solidFill>
            <a:schemeClr val="accent1"/>
          </a:solidFill>
          <a:ln w="28575" cap="flat" cmpd="sng" algn="ctr">
            <a:solidFill>
              <a:srgbClr val="C1D82F"/>
            </a:solidFill>
            <a:prstDash val="solid"/>
            <a:round/>
            <a:headEnd type="none" w="med" len="med"/>
            <a:tailEnd type="none" w="med" len="med"/>
          </a:ln>
          <a:effectLst/>
        </p:spPr>
      </p:cxnSp>
    </p:spTree>
    <p:extLst>
      <p:ext uri="{BB962C8B-B14F-4D97-AF65-F5344CB8AC3E}">
        <p14:creationId xmlns:p14="http://schemas.microsoft.com/office/powerpoint/2010/main" val="1984981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_Tagline_Text">
    <p:spTree>
      <p:nvGrpSpPr>
        <p:cNvPr id="1" name=""/>
        <p:cNvGrpSpPr/>
        <p:nvPr/>
      </p:nvGrpSpPr>
      <p:grpSpPr>
        <a:xfrm>
          <a:off x="0" y="0"/>
          <a:ext cx="0" cy="0"/>
          <a:chOff x="0" y="0"/>
          <a:chExt cx="0" cy="0"/>
        </a:xfrm>
      </p:grpSpPr>
      <p:sp>
        <p:nvSpPr>
          <p:cNvPr id="4" name="Content Placeholder 2"/>
          <p:cNvSpPr>
            <a:spLocks noGrp="1"/>
          </p:cNvSpPr>
          <p:nvPr>
            <p:ph idx="10"/>
          </p:nvPr>
        </p:nvSpPr>
        <p:spPr>
          <a:xfrm>
            <a:off x="304800" y="381000"/>
            <a:ext cx="8528085" cy="914400"/>
          </a:xfrm>
          <a:prstGeom prst="rect">
            <a:avLst/>
          </a:prstGeom>
        </p:spPr>
        <p:txBody>
          <a:bodyPr anchor="ctr"/>
          <a:lstStyle>
            <a:lvl1pPr marL="0" indent="0" algn="r">
              <a:buNone/>
              <a:defRPr sz="2000" b="1" i="0"/>
            </a:lvl1pPr>
            <a:lvl2pPr>
              <a:buNone/>
              <a:defRPr sz="1600"/>
            </a:lvl2pPr>
            <a:lvl3pPr>
              <a:buNone/>
              <a:defRPr sz="1400"/>
            </a:lvl3pPr>
            <a:lvl4pPr>
              <a:buNone/>
              <a:defRPr sz="1200"/>
            </a:lvl4pPr>
            <a:lvl5pPr>
              <a:buNone/>
              <a:defRPr sz="1100"/>
            </a:lvl5pPr>
          </a:lstStyle>
          <a:p>
            <a:pPr lvl="0"/>
            <a:r>
              <a:rPr lang="en-US" dirty="0" smtClean="0"/>
              <a:t>Click to edit Master text styles</a:t>
            </a:r>
            <a:endParaRPr lang="en-US" dirty="0"/>
          </a:p>
        </p:txBody>
      </p:sp>
      <p:sp>
        <p:nvSpPr>
          <p:cNvPr id="7" name="Title 1"/>
          <p:cNvSpPr>
            <a:spLocks noGrp="1"/>
          </p:cNvSpPr>
          <p:nvPr>
            <p:ph type="title"/>
          </p:nvPr>
        </p:nvSpPr>
        <p:spPr>
          <a:xfrm>
            <a:off x="4220029" y="1"/>
            <a:ext cx="4619171" cy="380999"/>
          </a:xfrm>
          <a:prstGeom prst="rect">
            <a:avLst/>
          </a:prstGeom>
        </p:spPr>
        <p:txBody>
          <a:bodyPr/>
          <a:lstStyle>
            <a:lvl1pPr algn="r">
              <a:defRPr sz="1400" i="1"/>
            </a:lvl1pPr>
          </a:lstStyle>
          <a:p>
            <a:r>
              <a:rPr lang="en-US" dirty="0" smtClean="0"/>
              <a:t>Click to edit Master title style</a:t>
            </a:r>
            <a:endParaRPr lang="en-US" dirty="0"/>
          </a:p>
        </p:txBody>
      </p:sp>
      <p:sp>
        <p:nvSpPr>
          <p:cNvPr id="6" name="Footer Placeholder 4"/>
          <p:cNvSpPr>
            <a:spLocks noGrp="1"/>
          </p:cNvSpPr>
          <p:nvPr>
            <p:ph type="ftr" sz="quarter" idx="11"/>
          </p:nvPr>
        </p:nvSpPr>
        <p:spPr>
          <a:xfrm>
            <a:off x="6096000" y="6388100"/>
            <a:ext cx="2794000" cy="206375"/>
          </a:xfrm>
          <a:prstGeom prst="rect">
            <a:avLst/>
          </a:prstGeom>
        </p:spPr>
        <p:txBody>
          <a:bodyPr/>
          <a:lstStyle>
            <a:lvl1pPr>
              <a:defRPr sz="1000">
                <a:solidFill>
                  <a:srgbClr val="00B050"/>
                </a:solidFill>
                <a:latin typeface="Arial" pitchFamily="34" charset="0"/>
                <a:cs typeface="Arial" pitchFamily="34" charset="0"/>
              </a:defRPr>
            </a:lvl1pPr>
          </a:lstStyle>
          <a:p>
            <a:pPr>
              <a:defRPr/>
            </a:pPr>
            <a:r>
              <a:rPr lang="en-US" dirty="0" smtClean="0"/>
              <a:t>Copyright © 2011 Accenture </a:t>
            </a:r>
          </a:p>
          <a:p>
            <a:pPr>
              <a:defRPr/>
            </a:pPr>
            <a:r>
              <a:rPr lang="en-US" dirty="0" smtClean="0"/>
              <a:t>All Rights Reserved</a:t>
            </a:r>
            <a:endParaRPr lang="en-US" dirty="0"/>
          </a:p>
        </p:txBody>
      </p:sp>
    </p:spTree>
    <p:extLst>
      <p:ext uri="{BB962C8B-B14F-4D97-AF65-F5344CB8AC3E}">
        <p14:creationId xmlns:p14="http://schemas.microsoft.com/office/powerpoint/2010/main" val="861032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Main Body">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639762"/>
          </a:xfrm>
        </p:spPr>
        <p:txBody>
          <a:bodyPr/>
          <a:lstStyle>
            <a:lvl1pPr>
              <a:defRPr b="1">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01625" y="990600"/>
            <a:ext cx="8537575" cy="5135563"/>
          </a:xfrm>
        </p:spPr>
        <p:txBody>
          <a:bodyPr/>
          <a:lstStyle>
            <a:lvl1pPr marL="0" indent="0">
              <a:spcAft>
                <a:spcPts val="300"/>
              </a:spcAft>
              <a:defRPr sz="2000">
                <a:latin typeface="Verdana" pitchFamily="34" charset="0"/>
                <a:ea typeface="Verdana" pitchFamily="34" charset="0"/>
                <a:cs typeface="Verdana" pitchFamily="34" charset="0"/>
              </a:defRPr>
            </a:lvl1pPr>
            <a:lvl2pPr>
              <a:spcAft>
                <a:spcPts val="300"/>
              </a:spcAft>
              <a:defRPr sz="2000">
                <a:latin typeface="Verdana" pitchFamily="34" charset="0"/>
                <a:ea typeface="Verdana" pitchFamily="34" charset="0"/>
                <a:cs typeface="Verdana" pitchFamily="34" charset="0"/>
              </a:defRPr>
            </a:lvl2pPr>
            <a:lvl3pPr>
              <a:spcAft>
                <a:spcPts val="300"/>
              </a:spcAft>
              <a:defRPr sz="1800">
                <a:latin typeface="Verdana" pitchFamily="34" charset="0"/>
                <a:ea typeface="Verdana" pitchFamily="34" charset="0"/>
                <a:cs typeface="Verdana" pitchFamily="34" charset="0"/>
              </a:defRPr>
            </a:lvl3pPr>
            <a:lvl4pPr>
              <a:spcAft>
                <a:spcPts val="300"/>
              </a:spcAft>
              <a:defRPr sz="1800">
                <a:latin typeface="Verdana" pitchFamily="34" charset="0"/>
                <a:ea typeface="Verdana" pitchFamily="34" charset="0"/>
                <a:cs typeface="Verdana" pitchFamily="34" charset="0"/>
              </a:defRPr>
            </a:lvl4pPr>
            <a:lvl5pPr>
              <a:spcAft>
                <a:spcPts val="300"/>
              </a:spcAft>
              <a:defRPr sz="1800">
                <a:latin typeface="Verdana" pitchFamily="34" charset="0"/>
                <a:ea typeface="Verdana" pitchFamily="34" charset="0"/>
                <a:cs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endParaRPr lang="en-US" dirty="0" smtClean="0">
              <a:solidFill>
                <a:srgbClr val="FFFFFF"/>
              </a:solidFill>
            </a:endParaRPr>
          </a:p>
          <a:p>
            <a:fld id="{5191FF04-12CB-4D8B-8BA0-EC1EAA325CB1}" type="slidenum">
              <a:rPr lang="en-US" smtClean="0">
                <a:solidFill>
                  <a:schemeClr val="accent4">
                    <a:lumMod val="10000"/>
                  </a:schemeClr>
                </a:solidFill>
                <a:effectLst/>
              </a:rPr>
              <a:t>‹#›</a:t>
            </a:fld>
            <a:endParaRPr lang="en-US" dirty="0">
              <a:solidFill>
                <a:schemeClr val="accent4">
                  <a:lumMod val="10000"/>
                </a:schemeClr>
              </a:solidFill>
              <a:effectLst/>
            </a:endParaRPr>
          </a:p>
        </p:txBody>
      </p:sp>
    </p:spTree>
    <p:extLst>
      <p:ext uri="{BB962C8B-B14F-4D97-AF65-F5344CB8AC3E}">
        <p14:creationId xmlns:p14="http://schemas.microsoft.com/office/powerpoint/2010/main" val="2451742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ain Body">
    <p:spTree>
      <p:nvGrpSpPr>
        <p:cNvPr id="1" name=""/>
        <p:cNvGrpSpPr/>
        <p:nvPr/>
      </p:nvGrpSpPr>
      <p:grpSpPr>
        <a:xfrm>
          <a:off x="0" y="0"/>
          <a:ext cx="0" cy="0"/>
          <a:chOff x="0" y="0"/>
          <a:chExt cx="0" cy="0"/>
        </a:xfrm>
      </p:grpSpPr>
      <p:sp>
        <p:nvSpPr>
          <p:cNvPr id="5" name="Rectangle 4"/>
          <p:cNvSpPr/>
          <p:nvPr userDrawn="1"/>
        </p:nvSpPr>
        <p:spPr bwMode="auto">
          <a:xfrm>
            <a:off x="0" y="0"/>
            <a:ext cx="9144000" cy="9144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 name="Title 1"/>
          <p:cNvSpPr>
            <a:spLocks noGrp="1"/>
          </p:cNvSpPr>
          <p:nvPr>
            <p:ph type="title"/>
          </p:nvPr>
        </p:nvSpPr>
        <p:spPr>
          <a:xfrm>
            <a:off x="301625" y="228600"/>
            <a:ext cx="8510588" cy="639762"/>
          </a:xfrm>
        </p:spPr>
        <p:txBody>
          <a:bodyPr/>
          <a:lstStyle>
            <a:lvl1pPr>
              <a:defRPr sz="2800" b="1">
                <a:solidFill>
                  <a:schemeClr val="tx1"/>
                </a:solidFill>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a:xfrm>
            <a:off x="301625" y="1143000"/>
            <a:ext cx="8537575" cy="4983163"/>
          </a:xfrm>
        </p:spPr>
        <p:txBody>
          <a:bodyPr/>
          <a:lstStyle>
            <a:lvl1pPr marL="0" indent="0">
              <a:defRPr sz="2000">
                <a:latin typeface="Verdana" pitchFamily="34" charset="0"/>
                <a:ea typeface="Verdana" pitchFamily="34" charset="0"/>
                <a:cs typeface="Verdana" pitchFamily="34" charset="0"/>
              </a:defRPr>
            </a:lvl1pPr>
            <a:lvl2pPr>
              <a:defRPr sz="2000">
                <a:latin typeface="Verdana" pitchFamily="34" charset="0"/>
                <a:ea typeface="Verdana" pitchFamily="34" charset="0"/>
                <a:cs typeface="Verdana" pitchFamily="34" charset="0"/>
              </a:defRPr>
            </a:lvl2pPr>
            <a:lvl3pPr>
              <a:buClr>
                <a:srgbClr val="004B91"/>
              </a:buClr>
              <a:defRPr sz="1800">
                <a:latin typeface="Verdana" pitchFamily="34" charset="0"/>
                <a:ea typeface="Verdana" pitchFamily="34" charset="0"/>
                <a:cs typeface="Verdana" pitchFamily="34" charset="0"/>
              </a:defRPr>
            </a:lvl3pPr>
            <a:lvl4pPr>
              <a:defRPr sz="1800">
                <a:latin typeface="Verdana" pitchFamily="34" charset="0"/>
                <a:ea typeface="Verdana" pitchFamily="34" charset="0"/>
                <a:cs typeface="Verdana" pitchFamily="34" charset="0"/>
              </a:defRPr>
            </a:lvl4pPr>
            <a:lvl5pPr>
              <a:defRPr sz="1800">
                <a:latin typeface="Verdana" pitchFamily="34" charset="0"/>
                <a:ea typeface="Verdana" pitchFamily="34" charset="0"/>
                <a:cs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3"/>
          <p:cNvSpPr>
            <a:spLocks noGrp="1"/>
          </p:cNvSpPr>
          <p:nvPr>
            <p:ph type="sldNum" sz="quarter" idx="10"/>
          </p:nvPr>
        </p:nvSpPr>
        <p:spPr>
          <a:xfrm>
            <a:off x="304800" y="6248400"/>
            <a:ext cx="2286000" cy="476250"/>
          </a:xfrm>
        </p:spPr>
        <p:txBody>
          <a:bodyPr/>
          <a:lstStyle/>
          <a:p>
            <a:endParaRPr lang="en-US" dirty="0" smtClean="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2386160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1"/>
            <a:ext cx="2133600" cy="365125"/>
          </a:xfrm>
          <a:prstGeom prst="rect">
            <a:avLst/>
          </a:prstGeom>
        </p:spPr>
        <p:txBody>
          <a:bodyPr/>
          <a:lstStyle/>
          <a:p>
            <a:fld id="{50D1C161-B749-4904-8FC1-14B03D843B98}" type="datetimeFigureOut">
              <a:rPr lang="en-US" smtClean="0"/>
              <a:t>3/27/2013</a:t>
            </a:fld>
            <a:endParaRPr lang="en-US"/>
          </a:p>
        </p:txBody>
      </p:sp>
      <p:sp>
        <p:nvSpPr>
          <p:cNvPr id="5" name="Footer Placeholder 4"/>
          <p:cNvSpPr>
            <a:spLocks noGrp="1"/>
          </p:cNvSpPr>
          <p:nvPr>
            <p:ph type="ftr" sz="quarter" idx="11"/>
          </p:nvPr>
        </p:nvSpPr>
        <p:spPr>
          <a:xfrm>
            <a:off x="3124200" y="6356351"/>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430E139F-6BB3-4E68-9FCE-4C00150CF0DE}" type="slidenum">
              <a:rPr lang="en-US" smtClean="0"/>
              <a:t>‹#›</a:t>
            </a:fld>
            <a:endParaRPr lang="en-US"/>
          </a:p>
        </p:txBody>
      </p:sp>
    </p:spTree>
    <p:extLst>
      <p:ext uri="{BB962C8B-B14F-4D97-AF65-F5344CB8AC3E}">
        <p14:creationId xmlns:p14="http://schemas.microsoft.com/office/powerpoint/2010/main" val="352226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a:xfrm>
            <a:off x="304800" y="6248400"/>
            <a:ext cx="2286000" cy="476250"/>
          </a:xfrm>
        </p:spPr>
        <p:txBody>
          <a:bodyPr/>
          <a:lstStyle/>
          <a:p>
            <a:endParaRPr lang="en-US" dirty="0" smtClean="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3631095973"/>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wo Picture">
    <p:spTree>
      <p:nvGrpSpPr>
        <p:cNvPr id="1" name=""/>
        <p:cNvGrpSpPr/>
        <p:nvPr/>
      </p:nvGrpSpPr>
      <p:grpSpPr>
        <a:xfrm>
          <a:off x="0" y="0"/>
          <a:ext cx="0" cy="0"/>
          <a:chOff x="0" y="0"/>
          <a:chExt cx="0" cy="0"/>
        </a:xfrm>
      </p:grpSpPr>
      <p:sp>
        <p:nvSpPr>
          <p:cNvPr id="5" name="Content Placeholder 2"/>
          <p:cNvSpPr>
            <a:spLocks noGrp="1"/>
          </p:cNvSpPr>
          <p:nvPr>
            <p:ph sz="half" idx="1"/>
          </p:nvPr>
        </p:nvSpPr>
        <p:spPr>
          <a:xfrm>
            <a:off x="457200" y="1143000"/>
            <a:ext cx="3048000" cy="2176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6" name="Content Placeholder 3"/>
          <p:cNvSpPr>
            <a:spLocks noGrp="1"/>
          </p:cNvSpPr>
          <p:nvPr>
            <p:ph sz="half" idx="2"/>
          </p:nvPr>
        </p:nvSpPr>
        <p:spPr>
          <a:xfrm>
            <a:off x="3657600" y="1143000"/>
            <a:ext cx="5029200" cy="2144037"/>
          </a:xfrm>
        </p:spPr>
        <p:txBody>
          <a:bodyPr anchor="ctr">
            <a:normAutofit/>
          </a:bodyPr>
          <a:lstStyle>
            <a:lvl1pPr>
              <a:defRPr sz="20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9" name="Content Placeholder 2"/>
          <p:cNvSpPr>
            <a:spLocks noGrp="1"/>
          </p:cNvSpPr>
          <p:nvPr>
            <p:ph sz="half" idx="14"/>
          </p:nvPr>
        </p:nvSpPr>
        <p:spPr>
          <a:xfrm>
            <a:off x="457200" y="3392186"/>
            <a:ext cx="3048000" cy="224661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10" name="Content Placeholder 3"/>
          <p:cNvSpPr>
            <a:spLocks noGrp="1"/>
          </p:cNvSpPr>
          <p:nvPr>
            <p:ph sz="half" idx="15"/>
          </p:nvPr>
        </p:nvSpPr>
        <p:spPr>
          <a:xfrm>
            <a:off x="3657600" y="3392185"/>
            <a:ext cx="5029200" cy="2213200"/>
          </a:xfrm>
        </p:spPr>
        <p:txBody>
          <a:bodyPr anchor="ctr">
            <a:normAutofit/>
          </a:bodyPr>
          <a:lstStyle>
            <a:lvl1pPr>
              <a:defRPr sz="20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11" name="Title Placeholder 1"/>
          <p:cNvSpPr>
            <a:spLocks noGrp="1"/>
          </p:cNvSpPr>
          <p:nvPr>
            <p:ph type="title"/>
          </p:nvPr>
        </p:nvSpPr>
        <p:spPr>
          <a:xfrm>
            <a:off x="533400" y="5884977"/>
            <a:ext cx="8229600" cy="792163"/>
          </a:xfrm>
          <a:prstGeom prst="rect">
            <a:avLst/>
          </a:prstGeom>
        </p:spPr>
        <p:txBody>
          <a:bodyPr vert="horz" lIns="91440" tIns="45720" rIns="91440" bIns="45720" rtlCol="0" anchor="ctr"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val="223966345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Main Body">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639762"/>
          </a:xfrm>
        </p:spPr>
        <p:txBody>
          <a:bodyPr/>
          <a:lstStyle>
            <a:lvl1pPr>
              <a:defRPr b="1">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01625" y="1143000"/>
            <a:ext cx="8537575" cy="4983163"/>
          </a:xfrm>
        </p:spPr>
        <p:txBody>
          <a:bodyPr/>
          <a:lstStyle>
            <a:lvl1pPr marL="0" indent="0">
              <a:spcAft>
                <a:spcPts val="300"/>
              </a:spcAft>
              <a:defRPr sz="2000">
                <a:latin typeface="Verdana" pitchFamily="34" charset="0"/>
                <a:ea typeface="Verdana" pitchFamily="34" charset="0"/>
                <a:cs typeface="Verdana" pitchFamily="34" charset="0"/>
              </a:defRPr>
            </a:lvl1pPr>
            <a:lvl2pPr>
              <a:spcAft>
                <a:spcPts val="300"/>
              </a:spcAft>
              <a:defRPr sz="2000">
                <a:latin typeface="Verdana" pitchFamily="34" charset="0"/>
                <a:ea typeface="Verdana" pitchFamily="34" charset="0"/>
                <a:cs typeface="Verdana" pitchFamily="34" charset="0"/>
              </a:defRPr>
            </a:lvl2pPr>
            <a:lvl3pPr>
              <a:spcAft>
                <a:spcPts val="300"/>
              </a:spcAft>
              <a:defRPr sz="1800">
                <a:latin typeface="Verdana" pitchFamily="34" charset="0"/>
                <a:ea typeface="Verdana" pitchFamily="34" charset="0"/>
                <a:cs typeface="Verdana" pitchFamily="34" charset="0"/>
              </a:defRPr>
            </a:lvl3pPr>
            <a:lvl4pPr>
              <a:spcAft>
                <a:spcPts val="300"/>
              </a:spcAft>
              <a:defRPr sz="1800">
                <a:latin typeface="Verdana" pitchFamily="34" charset="0"/>
                <a:ea typeface="Verdana" pitchFamily="34" charset="0"/>
                <a:cs typeface="Verdana" pitchFamily="34" charset="0"/>
              </a:defRPr>
            </a:lvl4pPr>
            <a:lvl5pPr>
              <a:spcAft>
                <a:spcPts val="300"/>
              </a:spcAft>
              <a:defRPr sz="1800">
                <a:latin typeface="Verdana" pitchFamily="34" charset="0"/>
                <a:ea typeface="Verdana" pitchFamily="34" charset="0"/>
                <a:cs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lide Number Placeholder 3"/>
          <p:cNvSpPr>
            <a:spLocks noGrp="1"/>
          </p:cNvSpPr>
          <p:nvPr>
            <p:ph type="sldNum" sz="quarter" idx="10"/>
          </p:nvPr>
        </p:nvSpPr>
        <p:spPr>
          <a:xfrm>
            <a:off x="304800" y="6248400"/>
            <a:ext cx="2286000" cy="476250"/>
          </a:xfrm>
          <a:prstGeom prst="rect">
            <a:avLst/>
          </a:prstGeom>
        </p:spPr>
        <p:txBody>
          <a:bodyPr/>
          <a:lstStyle/>
          <a:p>
            <a:endParaRPr lang="en-US" dirty="0" smtClean="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1313286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a:xfrm>
            <a:off x="304800" y="6248400"/>
            <a:ext cx="2286000" cy="476250"/>
          </a:xfrm>
        </p:spPr>
        <p:txBody>
          <a:bodyPr/>
          <a:lstStyle/>
          <a:p>
            <a:endParaRPr lang="en-US" dirty="0" smtClean="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579907595"/>
      </p:ext>
    </p:extLst>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lstStyle>
            <a:lvl1pPr algn="l">
              <a:defRPr sz="3200" b="1" cap="all">
                <a:solidFill>
                  <a:schemeClr val="tx2">
                    <a:lumMod val="25000"/>
                  </a:schemeClr>
                </a:solidFill>
              </a:defRPr>
            </a:lvl1pPr>
          </a:lstStyle>
          <a:p>
            <a:r>
              <a:rPr lang="en-US" dirty="0" smtClean="0"/>
              <a:t>Module Title</a:t>
            </a:r>
            <a:endParaRPr lang="en-US" dirty="0"/>
          </a:p>
        </p:txBody>
      </p:sp>
      <p:sp>
        <p:nvSpPr>
          <p:cNvPr id="3" name="Text Placeholder 2"/>
          <p:cNvSpPr>
            <a:spLocks noGrp="1"/>
          </p:cNvSpPr>
          <p:nvPr>
            <p:ph type="body" idx="1" hasCustomPrompt="1"/>
          </p:nvPr>
        </p:nvSpPr>
        <p:spPr>
          <a:xfrm>
            <a:off x="722313" y="2906713"/>
            <a:ext cx="7772400" cy="1500187"/>
          </a:xfrm>
        </p:spPr>
        <p:txBody>
          <a:bodyPr anchor="b"/>
          <a:lstStyle>
            <a:lvl1pPr marL="0" indent="0">
              <a:buNone/>
              <a:defRPr sz="24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Module #</a:t>
            </a:r>
          </a:p>
        </p:txBody>
      </p:sp>
      <p:cxnSp>
        <p:nvCxnSpPr>
          <p:cNvPr id="6" name="Straight Connector 5"/>
          <p:cNvCxnSpPr/>
          <p:nvPr userDrawn="1"/>
        </p:nvCxnSpPr>
        <p:spPr bwMode="auto">
          <a:xfrm>
            <a:off x="685800" y="4419600"/>
            <a:ext cx="7848600" cy="0"/>
          </a:xfrm>
          <a:prstGeom prst="line">
            <a:avLst/>
          </a:prstGeom>
          <a:solidFill>
            <a:schemeClr val="accent1"/>
          </a:solidFill>
          <a:ln w="28575" cap="flat" cmpd="sng" algn="ctr">
            <a:solidFill>
              <a:srgbClr val="C1D82F"/>
            </a:solidFill>
            <a:prstDash val="solid"/>
            <a:round/>
            <a:headEnd type="none" w="med" len="med"/>
            <a:tailEnd type="none" w="med" len="med"/>
          </a:ln>
          <a:effectLst/>
        </p:spPr>
      </p:cxnSp>
    </p:spTree>
    <p:extLst>
      <p:ext uri="{BB962C8B-B14F-4D97-AF65-F5344CB8AC3E}">
        <p14:creationId xmlns:p14="http://schemas.microsoft.com/office/powerpoint/2010/main" val="38844166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bwMode="auto">
          <a:xfrm>
            <a:off x="301625" y="228600"/>
            <a:ext cx="8510588"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smtClean="0"/>
          </a:p>
        </p:txBody>
      </p:sp>
      <p:sp>
        <p:nvSpPr>
          <p:cNvPr id="4099" name="Rectangle 3"/>
          <p:cNvSpPr>
            <a:spLocks noGrp="1" noRot="1" noChangeArrowheads="1"/>
          </p:cNvSpPr>
          <p:nvPr>
            <p:ph type="body" idx="1"/>
          </p:nvPr>
        </p:nvSpPr>
        <p:spPr bwMode="auto">
          <a:xfrm>
            <a:off x="301625" y="914400"/>
            <a:ext cx="8540750" cy="5184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p:txBody>
      </p:sp>
      <p:sp>
        <p:nvSpPr>
          <p:cNvPr id="4102" name="Rectangle 6"/>
          <p:cNvSpPr>
            <a:spLocks noGrp="1" noChangeArrowheads="1"/>
          </p:cNvSpPr>
          <p:nvPr>
            <p:ph type="sldNum" sz="quarter" idx="4"/>
          </p:nvPr>
        </p:nvSpPr>
        <p:spPr bwMode="auto">
          <a:xfrm>
            <a:off x="304800" y="6248400"/>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solidFill>
                  <a:srgbClr val="000000"/>
                </a:solidFill>
                <a:effectLst>
                  <a:outerShdw blurRad="38100" dist="38100" dir="2700000" algn="tl">
                    <a:srgbClr val="FFFFFF"/>
                  </a:outerShdw>
                </a:effectLst>
                <a:latin typeface="+mj-lt"/>
              </a:defRPr>
            </a:lvl1pPr>
          </a:lstStyle>
          <a:p>
            <a:fld id="{2B92AE9C-49E5-4BD3-9210-8616C2D6A037}" type="slidenum">
              <a:rPr lang="en-US"/>
              <a:pPr/>
              <a:t>‹#›</a:t>
            </a:fld>
            <a:endParaRPr lang="en-US"/>
          </a:p>
        </p:txBody>
      </p:sp>
      <p:pic>
        <p:nvPicPr>
          <p:cNvPr id="4108" name="Picture 12" descr="half dropleaf"/>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8139113" y="4041775"/>
            <a:ext cx="1004887" cy="2816225"/>
          </a:xfrm>
          <a:prstGeom prst="rect">
            <a:avLst/>
          </a:prstGeom>
          <a:noFill/>
        </p:spPr>
      </p:pic>
    </p:spTree>
    <p:extLst>
      <p:ext uri="{BB962C8B-B14F-4D97-AF65-F5344CB8AC3E}">
        <p14:creationId xmlns:p14="http://schemas.microsoft.com/office/powerpoint/2010/main" val="201584489"/>
      </p:ext>
    </p:extLst>
  </p:cSld>
  <p:clrMap bg1="dk2" tx1="lt1" bg2="dk1" tx2="lt2" accent1="accent1" accent2="accent2" accent3="accent3" accent4="accent4" accent5="accent5" accent6="accent6" hlink="hlink" folHlink="folHlink"/>
  <p:sldLayoutIdLst>
    <p:sldLayoutId id="2147484147" r:id="rId1"/>
    <p:sldLayoutId id="2147484148" r:id="rId2"/>
    <p:sldLayoutId id="2147484198" r:id="rId3"/>
    <p:sldLayoutId id="2147484205" r:id="rId4"/>
  </p:sldLayoutIdLst>
  <p:hf hdr="0" ftr="0" dt="0"/>
  <p:txStyles>
    <p:titleStyle>
      <a:lvl1pPr algn="l" rtl="0" eaLnBrk="1" fontAlgn="base" hangingPunct="1">
        <a:spcBef>
          <a:spcPct val="0"/>
        </a:spcBef>
        <a:spcAft>
          <a:spcPct val="0"/>
        </a:spcAft>
        <a:defRPr sz="2400">
          <a:solidFill>
            <a:srgbClr val="004B91"/>
          </a:solidFill>
          <a:latin typeface="+mj-lt"/>
          <a:ea typeface="+mj-ea"/>
          <a:cs typeface="+mj-cs"/>
        </a:defRPr>
      </a:lvl1pPr>
      <a:lvl2pPr algn="ctr" rtl="0" eaLnBrk="1" fontAlgn="base" hangingPunct="1">
        <a:spcBef>
          <a:spcPct val="0"/>
        </a:spcBef>
        <a:spcAft>
          <a:spcPct val="0"/>
        </a:spcAft>
        <a:defRPr sz="4400">
          <a:solidFill>
            <a:srgbClr val="004B91"/>
          </a:solidFill>
          <a:latin typeface="Tahoma" pitchFamily="34" charset="0"/>
        </a:defRPr>
      </a:lvl2pPr>
      <a:lvl3pPr algn="ctr" rtl="0" eaLnBrk="1" fontAlgn="base" hangingPunct="1">
        <a:spcBef>
          <a:spcPct val="0"/>
        </a:spcBef>
        <a:spcAft>
          <a:spcPct val="0"/>
        </a:spcAft>
        <a:defRPr sz="4400">
          <a:solidFill>
            <a:srgbClr val="004B91"/>
          </a:solidFill>
          <a:latin typeface="Tahoma" pitchFamily="34" charset="0"/>
        </a:defRPr>
      </a:lvl3pPr>
      <a:lvl4pPr algn="ctr" rtl="0" eaLnBrk="1" fontAlgn="base" hangingPunct="1">
        <a:spcBef>
          <a:spcPct val="0"/>
        </a:spcBef>
        <a:spcAft>
          <a:spcPct val="0"/>
        </a:spcAft>
        <a:defRPr sz="4400">
          <a:solidFill>
            <a:srgbClr val="004B91"/>
          </a:solidFill>
          <a:latin typeface="Tahoma" pitchFamily="34" charset="0"/>
        </a:defRPr>
      </a:lvl4pPr>
      <a:lvl5pPr algn="ctr" rtl="0" eaLnBrk="1" fontAlgn="base" hangingPunct="1">
        <a:spcBef>
          <a:spcPct val="0"/>
        </a:spcBef>
        <a:spcAft>
          <a:spcPct val="0"/>
        </a:spcAft>
        <a:defRPr sz="4400">
          <a:solidFill>
            <a:srgbClr val="004B91"/>
          </a:solidFill>
          <a:latin typeface="Tahoma" pitchFamily="34" charset="0"/>
        </a:defRPr>
      </a:lvl5pPr>
      <a:lvl6pPr marL="457200" algn="ctr" rtl="0" eaLnBrk="1" fontAlgn="base" hangingPunct="1">
        <a:spcBef>
          <a:spcPct val="0"/>
        </a:spcBef>
        <a:spcAft>
          <a:spcPct val="0"/>
        </a:spcAft>
        <a:defRPr sz="4400">
          <a:solidFill>
            <a:srgbClr val="004B91"/>
          </a:solidFill>
          <a:latin typeface="Tahoma" pitchFamily="34" charset="0"/>
        </a:defRPr>
      </a:lvl6pPr>
      <a:lvl7pPr marL="914400" algn="ctr" rtl="0" eaLnBrk="1" fontAlgn="base" hangingPunct="1">
        <a:spcBef>
          <a:spcPct val="0"/>
        </a:spcBef>
        <a:spcAft>
          <a:spcPct val="0"/>
        </a:spcAft>
        <a:defRPr sz="4400">
          <a:solidFill>
            <a:srgbClr val="004B91"/>
          </a:solidFill>
          <a:latin typeface="Tahoma" pitchFamily="34" charset="0"/>
        </a:defRPr>
      </a:lvl7pPr>
      <a:lvl8pPr marL="1371600" algn="ctr" rtl="0" eaLnBrk="1" fontAlgn="base" hangingPunct="1">
        <a:spcBef>
          <a:spcPct val="0"/>
        </a:spcBef>
        <a:spcAft>
          <a:spcPct val="0"/>
        </a:spcAft>
        <a:defRPr sz="4400">
          <a:solidFill>
            <a:srgbClr val="004B91"/>
          </a:solidFill>
          <a:latin typeface="Tahoma" pitchFamily="34" charset="0"/>
        </a:defRPr>
      </a:lvl8pPr>
      <a:lvl9pPr marL="1828800" algn="ctr" rtl="0" eaLnBrk="1" fontAlgn="base" hangingPunct="1">
        <a:spcBef>
          <a:spcPct val="0"/>
        </a:spcBef>
        <a:spcAft>
          <a:spcPct val="0"/>
        </a:spcAft>
        <a:defRPr sz="4400">
          <a:solidFill>
            <a:srgbClr val="004B91"/>
          </a:solidFill>
          <a:latin typeface="Tahoma" pitchFamily="34" charset="0"/>
        </a:defRPr>
      </a:lvl9pPr>
    </p:titleStyle>
    <p:bodyStyle>
      <a:lvl1pPr marL="342900" indent="-342900" algn="l" rtl="0" eaLnBrk="1" fontAlgn="base" hangingPunct="1">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eaLnBrk="1" fontAlgn="base" hangingPunct="1">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eaLnBrk="1" fontAlgn="base" hangingPunct="1">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eaLnBrk="1" fontAlgn="base" hangingPunct="1">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eaLnBrk="1" fontAlgn="base" hangingPunct="1">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eaLnBrk="1" fontAlgn="base" hangingPunct="1">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eaLnBrk="1" fontAlgn="base" hangingPunct="1">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eaLnBrk="1" fontAlgn="base" hangingPunct="1">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eaLnBrk="1" fontAlgn="base" hangingPunct="1">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6" name="Rectangle 5"/>
          <p:cNvSpPr/>
          <p:nvPr/>
        </p:nvSpPr>
        <p:spPr bwMode="auto">
          <a:xfrm>
            <a:off x="0" y="0"/>
            <a:ext cx="9144000" cy="685800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099" name="Rectangle 3"/>
          <p:cNvSpPr>
            <a:spLocks noGrp="1" noRot="1" noChangeArrowheads="1"/>
          </p:cNvSpPr>
          <p:nvPr>
            <p:ph type="body" idx="1"/>
          </p:nvPr>
        </p:nvSpPr>
        <p:spPr bwMode="auto">
          <a:xfrm>
            <a:off x="301625" y="1143000"/>
            <a:ext cx="8540750" cy="49561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p:txBody>
      </p:sp>
      <p:pic>
        <p:nvPicPr>
          <p:cNvPr id="4108" name="Picture 12" descr="half dropleaf"/>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8139113" y="4041775"/>
            <a:ext cx="1004887" cy="2816225"/>
          </a:xfrm>
          <a:prstGeom prst="rect">
            <a:avLst/>
          </a:prstGeom>
          <a:noFill/>
        </p:spPr>
      </p:pic>
      <p:sp>
        <p:nvSpPr>
          <p:cNvPr id="7" name="Rectangle 6"/>
          <p:cNvSpPr/>
          <p:nvPr/>
        </p:nvSpPr>
        <p:spPr bwMode="auto">
          <a:xfrm>
            <a:off x="0" y="0"/>
            <a:ext cx="9144000" cy="9144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098" name="Rectangle 2"/>
          <p:cNvSpPr>
            <a:spLocks noGrp="1" noRot="1" noChangeArrowheads="1"/>
          </p:cNvSpPr>
          <p:nvPr>
            <p:ph type="title"/>
          </p:nvPr>
        </p:nvSpPr>
        <p:spPr bwMode="auto">
          <a:xfrm>
            <a:off x="301625" y="228600"/>
            <a:ext cx="8510588"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8" name="Slide Number Placeholder 3"/>
          <p:cNvSpPr>
            <a:spLocks noGrp="1"/>
          </p:cNvSpPr>
          <p:nvPr>
            <p:ph type="sldNum" sz="quarter" idx="4"/>
          </p:nvPr>
        </p:nvSpPr>
        <p:spPr>
          <a:xfrm>
            <a:off x="304800" y="6248400"/>
            <a:ext cx="2286000" cy="476250"/>
          </a:xfrm>
          <a:prstGeom prst="rect">
            <a:avLst/>
          </a:prstGeom>
        </p:spPr>
        <p:txBody>
          <a:bodyPr/>
          <a:lstStyle/>
          <a:p>
            <a:endParaRPr lang="en-US" dirty="0" smtClean="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3027965247"/>
      </p:ext>
    </p:extLst>
  </p:cSld>
  <p:clrMap bg1="dk2" tx1="lt1" bg2="dk1" tx2="lt2" accent1="accent1" accent2="accent2" accent3="accent3" accent4="accent4" accent5="accent5" accent6="accent6" hlink="hlink" folHlink="folHlink"/>
  <p:sldLayoutIdLst>
    <p:sldLayoutId id="2147484156" r:id="rId1"/>
    <p:sldLayoutId id="2147484202" r:id="rId2"/>
    <p:sldLayoutId id="2147484203" r:id="rId3"/>
    <p:sldLayoutId id="2147484204" r:id="rId4"/>
  </p:sldLayoutIdLst>
  <p:hf hdr="0" ftr="0" dt="0"/>
  <p:txStyles>
    <p:title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6" name="Rectangle 5"/>
          <p:cNvSpPr/>
          <p:nvPr/>
        </p:nvSpPr>
        <p:spPr bwMode="auto">
          <a:xfrm>
            <a:off x="0" y="0"/>
            <a:ext cx="9144000" cy="685800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mtClean="0">
              <a:solidFill>
                <a:srgbClr val="FFFFFF"/>
              </a:solidFill>
            </a:endParaRPr>
          </a:p>
        </p:txBody>
      </p:sp>
      <p:sp>
        <p:nvSpPr>
          <p:cNvPr id="4099" name="Rectangle 3"/>
          <p:cNvSpPr>
            <a:spLocks noGrp="1" noRot="1" noChangeArrowheads="1"/>
          </p:cNvSpPr>
          <p:nvPr>
            <p:ph type="body" idx="1"/>
          </p:nvPr>
        </p:nvSpPr>
        <p:spPr bwMode="auto">
          <a:xfrm>
            <a:off x="301625" y="990600"/>
            <a:ext cx="8540750" cy="5108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p:txBody>
      </p:sp>
      <p:sp>
        <p:nvSpPr>
          <p:cNvPr id="8" name="Rectangle 7"/>
          <p:cNvSpPr/>
          <p:nvPr/>
        </p:nvSpPr>
        <p:spPr bwMode="auto">
          <a:xfrm>
            <a:off x="0" y="0"/>
            <a:ext cx="9144000" cy="9144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098" name="Rectangle 2"/>
          <p:cNvSpPr>
            <a:spLocks noGrp="1" noRot="1" noChangeArrowheads="1"/>
          </p:cNvSpPr>
          <p:nvPr>
            <p:ph type="title"/>
          </p:nvPr>
        </p:nvSpPr>
        <p:spPr bwMode="auto">
          <a:xfrm>
            <a:off x="301625" y="228600"/>
            <a:ext cx="8510588"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7" name="Slide Number Placeholder 3"/>
          <p:cNvSpPr>
            <a:spLocks noGrp="1"/>
          </p:cNvSpPr>
          <p:nvPr>
            <p:ph type="sldNum" sz="quarter" idx="4"/>
          </p:nvPr>
        </p:nvSpPr>
        <p:spPr>
          <a:xfrm>
            <a:off x="304800" y="6248400"/>
            <a:ext cx="2286000" cy="476250"/>
          </a:xfrm>
          <a:prstGeom prst="rect">
            <a:avLst/>
          </a:prstGeom>
        </p:spPr>
        <p:txBody>
          <a:bodyPr/>
          <a:lstStyle/>
          <a:p>
            <a:endParaRPr lang="en-US" dirty="0" smtClean="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3835303896"/>
      </p:ext>
    </p:extLst>
  </p:cSld>
  <p:clrMap bg1="dk2" tx1="lt1" bg2="dk1" tx2="lt2" accent1="accent1" accent2="accent2" accent3="accent3" accent4="accent4" accent5="accent5" accent6="accent6" hlink="hlink" folHlink="folHlink"/>
  <p:sldLayoutIdLst>
    <p:sldLayoutId id="2147484158" r:id="rId1"/>
    <p:sldLayoutId id="2147484194" r:id="rId2"/>
    <p:sldLayoutId id="2147484196" r:id="rId3"/>
  </p:sldLayoutIdLst>
  <p:hf hdr="0" ftr="0" dt="0"/>
  <p:txStyles>
    <p:title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2.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0.png"/><Relationship Id="rId5" Type="http://schemas.openxmlformats.org/officeDocument/2006/relationships/tags" Target="../tags/tag5.xml"/><Relationship Id="rId15" Type="http://schemas.openxmlformats.org/officeDocument/2006/relationships/image" Target="../media/image14.emf"/><Relationship Id="rId10" Type="http://schemas.openxmlformats.org/officeDocument/2006/relationships/image" Target="../media/image9.jpeg"/><Relationship Id="rId4" Type="http://schemas.openxmlformats.org/officeDocument/2006/relationships/tags" Target="../tags/tag4.xml"/><Relationship Id="rId9" Type="http://schemas.openxmlformats.org/officeDocument/2006/relationships/notesSlide" Target="../notesSlides/notesSlide2.xml"/><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8.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7.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16.png"/><Relationship Id="rId5" Type="http://schemas.openxmlformats.org/officeDocument/2006/relationships/tags" Target="../tags/tag12.xml"/><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tags" Target="../tags/tag11.xml"/><Relationship Id="rId9" Type="http://schemas.openxmlformats.org/officeDocument/2006/relationships/notesSlide" Target="../notesSlides/notesSlide3.xml"/><Relationship Id="rId14" Type="http://schemas.openxmlformats.org/officeDocument/2006/relationships/image" Target="../media/image19.emf"/></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29.wmf"/></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9.xml"/><Relationship Id="rId5" Type="http://schemas.openxmlformats.org/officeDocument/2006/relationships/image" Target="../media/image46.png"/><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5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0.xml"/><Relationship Id="rId4" Type="http://schemas.openxmlformats.org/officeDocument/2006/relationships/image" Target="../media/image56.png"/></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9.xml"/><Relationship Id="rId4" Type="http://schemas.openxmlformats.org/officeDocument/2006/relationships/image" Target="../media/image59.png"/></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0.xml"/><Relationship Id="rId4" Type="http://schemas.openxmlformats.org/officeDocument/2006/relationships/image" Target="../media/image60.png"/></Relationships>
</file>

<file path=ppt/slides/_rels/slide6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6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4.png"/><Relationship Id="rId1" Type="http://schemas.openxmlformats.org/officeDocument/2006/relationships/slideLayout" Target="../slideLayouts/slideLayout10.xml"/><Relationship Id="rId5" Type="http://schemas.openxmlformats.org/officeDocument/2006/relationships/image" Target="../media/image46.png"/><Relationship Id="rId4" Type="http://schemas.openxmlformats.org/officeDocument/2006/relationships/image" Target="../media/image39.png"/></Relationships>
</file>

<file path=ppt/slides/_rels/slide7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9.xml"/><Relationship Id="rId5" Type="http://schemas.openxmlformats.org/officeDocument/2006/relationships/image" Target="../media/image40.png"/><Relationship Id="rId4" Type="http://schemas.openxmlformats.org/officeDocument/2006/relationships/image" Target="../media/image39.png"/></Relationships>
</file>

<file path=ppt/slides/_rels/slide7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39.png"/></Relationships>
</file>

<file path=ppt/slides/_rels/slide8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9.xml"/><Relationship Id="rId5" Type="http://schemas.openxmlformats.org/officeDocument/2006/relationships/image" Target="../media/image40.png"/><Relationship Id="rId4" Type="http://schemas.openxmlformats.org/officeDocument/2006/relationships/image" Target="../media/image39.png"/></Relationships>
</file>

<file path=ppt/slides/_rels/slide8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39.png"/></Relationships>
</file>

<file path=ppt/slides/_rels/slide8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77.png"/><Relationship Id="rId1" Type="http://schemas.openxmlformats.org/officeDocument/2006/relationships/slideLayout" Target="../slideLayouts/slideLayout9.xml"/><Relationship Id="rId5" Type="http://schemas.openxmlformats.org/officeDocument/2006/relationships/image" Target="../media/image40.png"/><Relationship Id="rId4" Type="http://schemas.openxmlformats.org/officeDocument/2006/relationships/image" Target="../media/image78.png"/></Relationships>
</file>

<file path=ppt/slides/_rels/slide9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79.png"/><Relationship Id="rId1" Type="http://schemas.openxmlformats.org/officeDocument/2006/relationships/slideLayout" Target="../slideLayouts/slideLayout10.xml"/><Relationship Id="rId5" Type="http://schemas.openxmlformats.org/officeDocument/2006/relationships/image" Target="../media/image80.png"/><Relationship Id="rId4" Type="http://schemas.openxmlformats.org/officeDocument/2006/relationships/image" Target="../media/image40.png"/></Relationships>
</file>

<file path=ppt/slides/_rels/slide10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37.xml"/><Relationship Id="rId1" Type="http://schemas.openxmlformats.org/officeDocument/2006/relationships/slideLayout" Target="../slideLayouts/slideLayout9.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10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8.xml"/><Relationship Id="rId1" Type="http://schemas.openxmlformats.org/officeDocument/2006/relationships/slideLayout" Target="../slideLayouts/slideLayout9.xml"/><Relationship Id="rId6" Type="http://schemas.openxmlformats.org/officeDocument/2006/relationships/image" Target="../media/image84.jpeg"/><Relationship Id="rId5" Type="http://schemas.openxmlformats.org/officeDocument/2006/relationships/image" Target="../media/image83.png"/><Relationship Id="rId4" Type="http://schemas.openxmlformats.org/officeDocument/2006/relationships/image" Target="../media/image82.jpe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0.png"/><Relationship Id="rId1" Type="http://schemas.openxmlformats.org/officeDocument/2006/relationships/slideLayout" Target="../slideLayouts/slideLayout9.xml"/><Relationship Id="rId4" Type="http://schemas.openxmlformats.org/officeDocument/2006/relationships/image" Target="../media/image91.png"/></Relationships>
</file>

<file path=ppt/slides/_rels/slide1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rrowheads="1"/>
          </p:cNvSpPr>
          <p:nvPr>
            <p:ph type="ctrTitle"/>
          </p:nvPr>
        </p:nvSpPr>
        <p:spPr/>
        <p:txBody>
          <a:bodyPr/>
          <a:lstStyle/>
          <a:p>
            <a:r>
              <a:rPr lang="en-US" dirty="0" smtClean="0"/>
              <a:t>Maintenance Planner/Supervisor</a:t>
            </a:r>
            <a:endParaRPr lang="en-US" dirty="0"/>
          </a:p>
        </p:txBody>
      </p:sp>
    </p:spTree>
    <p:extLst>
      <p:ext uri="{BB962C8B-B14F-4D97-AF65-F5344CB8AC3E}">
        <p14:creationId xmlns:p14="http://schemas.microsoft.com/office/powerpoint/2010/main" val="2929224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Welcome </a:t>
            </a:r>
            <a:endParaRPr lang="en-US" dirty="0"/>
          </a:p>
        </p:txBody>
      </p:sp>
      <p:sp>
        <p:nvSpPr>
          <p:cNvPr id="3" name="Content Placeholder 2"/>
          <p:cNvSpPr>
            <a:spLocks noGrp="1"/>
          </p:cNvSpPr>
          <p:nvPr>
            <p:ph idx="1"/>
          </p:nvPr>
        </p:nvSpPr>
        <p:spPr/>
        <p:txBody>
          <a:bodyPr/>
          <a:lstStyle/>
          <a:p>
            <a:pPr>
              <a:spcAft>
                <a:spcPts val="300"/>
              </a:spcAft>
            </a:pPr>
            <a:r>
              <a:rPr lang="en-US" dirty="0"/>
              <a:t>This course </a:t>
            </a:r>
            <a:r>
              <a:rPr lang="en-US" dirty="0" smtClean="0"/>
              <a:t>is an introduction for the Maintenance Planners and Supervisors and how they manage Planning responsibilities using SAP. </a:t>
            </a:r>
            <a:r>
              <a:rPr lang="en-US" dirty="0" smtClean="0"/>
              <a:t>This course targets the Planners, however Supervisors must also be aware of the daily activities involved with navigating SAP. </a:t>
            </a:r>
            <a:r>
              <a:rPr lang="en-US" dirty="0" smtClean="0"/>
              <a:t>During </a:t>
            </a:r>
            <a:r>
              <a:rPr lang="en-US" dirty="0"/>
              <a:t>the course, we </a:t>
            </a:r>
            <a:r>
              <a:rPr lang="en-US" dirty="0" smtClean="0"/>
              <a:t>are going to:</a:t>
            </a:r>
          </a:p>
          <a:p>
            <a:pPr>
              <a:spcAft>
                <a:spcPts val="300"/>
              </a:spcAft>
            </a:pPr>
            <a:endParaRPr lang="en-US" dirty="0"/>
          </a:p>
          <a:p>
            <a:pPr marL="341313" indent="-342900" eaLnBrk="0" hangingPunct="0">
              <a:spcAft>
                <a:spcPts val="300"/>
              </a:spcAft>
              <a:buFont typeface="Wingdings" pitchFamily="2" charset="2"/>
              <a:buChar char="§"/>
              <a:tabLst>
                <a:tab pos="228600" algn="l"/>
              </a:tabLst>
            </a:pPr>
            <a:r>
              <a:rPr lang="en-US" dirty="0"/>
              <a:t>Prepare you for what is new or </a:t>
            </a:r>
            <a:r>
              <a:rPr lang="en-US" dirty="0" smtClean="0"/>
              <a:t>changing</a:t>
            </a:r>
            <a:endParaRPr lang="en-US" dirty="0"/>
          </a:p>
          <a:p>
            <a:pPr marL="341313" indent="-342900" eaLnBrk="0" hangingPunct="0">
              <a:spcAft>
                <a:spcPts val="300"/>
              </a:spcAft>
              <a:buFont typeface="Wingdings" pitchFamily="2" charset="2"/>
              <a:buChar char="§"/>
              <a:tabLst>
                <a:tab pos="228600" algn="l"/>
              </a:tabLst>
            </a:pPr>
            <a:r>
              <a:rPr lang="en-US" dirty="0"/>
              <a:t>Tell you what you </a:t>
            </a:r>
            <a:r>
              <a:rPr lang="en-US" dirty="0" smtClean="0"/>
              <a:t>should </a:t>
            </a:r>
            <a:r>
              <a:rPr lang="en-US" dirty="0"/>
              <a:t>be able to </a:t>
            </a:r>
            <a:r>
              <a:rPr lang="en-US" dirty="0" smtClean="0"/>
              <a:t>do</a:t>
            </a:r>
            <a:endParaRPr lang="en-US" dirty="0"/>
          </a:p>
          <a:p>
            <a:pPr marL="341313" indent="-342900" eaLnBrk="0" hangingPunct="0">
              <a:spcAft>
                <a:spcPts val="300"/>
              </a:spcAft>
              <a:buFont typeface="Wingdings" pitchFamily="2" charset="2"/>
              <a:buChar char="§"/>
              <a:tabLst>
                <a:tab pos="228600" algn="l"/>
              </a:tabLst>
            </a:pPr>
            <a:r>
              <a:rPr lang="en-US" dirty="0"/>
              <a:t>Show you how to complete transactions in </a:t>
            </a:r>
            <a:r>
              <a:rPr lang="en-US" dirty="0" smtClean="0"/>
              <a:t>SAP</a:t>
            </a:r>
            <a:endParaRPr lang="en-US" dirty="0"/>
          </a:p>
          <a:p>
            <a:pPr marL="341313" indent="-342900" eaLnBrk="0" hangingPunct="0">
              <a:spcAft>
                <a:spcPts val="300"/>
              </a:spcAft>
              <a:buFont typeface="Wingdings" pitchFamily="2" charset="2"/>
              <a:buChar char="§"/>
              <a:tabLst>
                <a:tab pos="228600" algn="l"/>
              </a:tabLst>
            </a:pPr>
            <a:r>
              <a:rPr lang="en-US" dirty="0"/>
              <a:t>Let you practice in a structured </a:t>
            </a:r>
            <a:r>
              <a:rPr lang="en-US" dirty="0" smtClean="0"/>
              <a:t>environment                      </a:t>
            </a:r>
            <a:r>
              <a:rPr lang="en-US" dirty="0"/>
              <a:t>and learn from your </a:t>
            </a:r>
            <a:r>
              <a:rPr lang="en-US" dirty="0" smtClean="0"/>
              <a:t>mistakes</a:t>
            </a:r>
            <a:endParaRPr lang="en-US" dirty="0"/>
          </a:p>
          <a:p>
            <a:pPr marL="341313" indent="-342900" eaLnBrk="0" hangingPunct="0">
              <a:spcAft>
                <a:spcPts val="300"/>
              </a:spcAft>
              <a:buFont typeface="Wingdings" pitchFamily="2" charset="2"/>
              <a:buChar char="§"/>
              <a:tabLst>
                <a:tab pos="228600" algn="l"/>
              </a:tabLst>
            </a:pPr>
            <a:r>
              <a:rPr lang="en-US" dirty="0"/>
              <a:t>Help you use quick reference materials</a:t>
            </a:r>
          </a:p>
          <a:p>
            <a:endParaRPr lang="en-US" dirty="0"/>
          </a:p>
        </p:txBody>
      </p:sp>
      <p:pic>
        <p:nvPicPr>
          <p:cNvPr id="6" name="Picture 3" descr="C:\Users\cdickerson\Downloads\shutterstock_43156969_med.jpg"/>
          <p:cNvPicPr>
            <a:picLocks noChangeAspect="1" noChangeArrowheads="1"/>
          </p:cNvPicPr>
          <p:nvPr/>
        </p:nvPicPr>
        <p:blipFill>
          <a:blip r:embed="rId2" cstate="print"/>
          <a:srcRect/>
          <a:stretch>
            <a:fillRect/>
          </a:stretch>
        </p:blipFill>
        <p:spPr bwMode="auto">
          <a:xfrm>
            <a:off x="6629400" y="4572000"/>
            <a:ext cx="2460172" cy="2209800"/>
          </a:xfrm>
          <a:prstGeom prst="rect">
            <a:avLst/>
          </a:prstGeom>
          <a:noFill/>
        </p:spPr>
      </p:pic>
      <p:sp>
        <p:nvSpPr>
          <p:cNvPr id="7" name="Slide Number Placeholder 3"/>
          <p:cNvSpPr>
            <a:spLocks noGrp="1"/>
          </p:cNvSpPr>
          <p:nvPr>
            <p:ph type="sldNum" sz="quarter" idx="10"/>
          </p:nvPr>
        </p:nvSpPr>
        <p:spPr>
          <a:xfrm>
            <a:off x="304800" y="6229350"/>
            <a:ext cx="2286000" cy="476250"/>
          </a:xfrm>
        </p:spPr>
        <p:txBody>
          <a:bodyPr/>
          <a:lstStyle/>
          <a:p>
            <a:endParaRPr lang="en-US" sz="1400" dirty="0" smtClean="0"/>
          </a:p>
          <a:p>
            <a:fld id="{C0ABF30F-1156-4F41-8469-8F121BB9144A}" type="slidenum">
              <a:rPr lang="en-US" sz="1400" smtClean="0">
                <a:solidFill>
                  <a:schemeClr val="bg2"/>
                </a:solidFill>
              </a:rPr>
              <a:pPr/>
              <a:t>2</a:t>
            </a:fld>
            <a:endParaRPr lang="en-US" sz="1400" dirty="0">
              <a:solidFill>
                <a:schemeClr val="bg2"/>
              </a:solidFill>
            </a:endParaRPr>
          </a:p>
        </p:txBody>
      </p:sp>
    </p:spTree>
    <p:extLst>
      <p:ext uri="{BB962C8B-B14F-4D97-AF65-F5344CB8AC3E}">
        <p14:creationId xmlns:p14="http://schemas.microsoft.com/office/powerpoint/2010/main" val="7579168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Components</a:t>
            </a:r>
            <a:endParaRPr lang="en-US" dirty="0"/>
          </a:p>
        </p:txBody>
      </p:sp>
      <p:sp>
        <p:nvSpPr>
          <p:cNvPr id="3" name="Content Placeholder 2"/>
          <p:cNvSpPr>
            <a:spLocks noGrp="1"/>
          </p:cNvSpPr>
          <p:nvPr>
            <p:ph idx="1"/>
          </p:nvPr>
        </p:nvSpPr>
        <p:spPr/>
        <p:txBody>
          <a:bodyPr/>
          <a:lstStyle/>
          <a:p>
            <a:pPr marL="284163" indent="-285750" eaLnBrk="0" hangingPunct="0">
              <a:buFont typeface="Arial" pitchFamily="34" charset="0"/>
              <a:buChar char="•"/>
              <a:tabLst>
                <a:tab pos="228600" algn="l"/>
              </a:tabLst>
            </a:pPr>
            <a:r>
              <a:rPr lang="en-US" sz="1800" dirty="0">
                <a:latin typeface="Verdana"/>
              </a:rPr>
              <a:t>Participant Guide</a:t>
            </a:r>
          </a:p>
          <a:p>
            <a:pPr marL="568325" lvl="1" eaLnBrk="0" hangingPunct="0">
              <a:buClr>
                <a:srgbClr val="004B91"/>
              </a:buClr>
              <a:buFont typeface="Courier New" pitchFamily="49" charset="0"/>
              <a:buChar char="o"/>
              <a:tabLst>
                <a:tab pos="228600" algn="l"/>
              </a:tabLst>
            </a:pPr>
            <a:r>
              <a:rPr lang="en-US" sz="1800" dirty="0">
                <a:latin typeface="Verdana"/>
              </a:rPr>
              <a:t>Concepts</a:t>
            </a:r>
          </a:p>
          <a:p>
            <a:pPr marL="568325" lvl="1" eaLnBrk="0" hangingPunct="0">
              <a:buClr>
                <a:srgbClr val="004B91"/>
              </a:buClr>
              <a:buFont typeface="Courier New" pitchFamily="49" charset="0"/>
              <a:buChar char="o"/>
              <a:tabLst>
                <a:tab pos="228600" algn="l"/>
              </a:tabLst>
            </a:pPr>
            <a:r>
              <a:rPr lang="en-US" sz="1800" dirty="0">
                <a:latin typeface="Verdana"/>
              </a:rPr>
              <a:t>Check Your Understandings</a:t>
            </a:r>
          </a:p>
          <a:p>
            <a:pPr marL="284163" indent="-285750" eaLnBrk="0" hangingPunct="0">
              <a:buFont typeface="Arial" pitchFamily="34" charset="0"/>
              <a:buChar char="•"/>
              <a:tabLst>
                <a:tab pos="228600" algn="l"/>
              </a:tabLst>
            </a:pPr>
            <a:r>
              <a:rPr lang="en-US" sz="1800" dirty="0" smtClean="0">
                <a:latin typeface="Verdana"/>
              </a:rPr>
              <a:t>Activity </a:t>
            </a:r>
            <a:r>
              <a:rPr lang="en-US" sz="1800" dirty="0">
                <a:latin typeface="Verdana"/>
              </a:rPr>
              <a:t>Guide</a:t>
            </a:r>
          </a:p>
          <a:p>
            <a:pPr marL="568325" lvl="1" eaLnBrk="0" hangingPunct="0">
              <a:buClr>
                <a:srgbClr val="004B91"/>
              </a:buClr>
              <a:buFont typeface="Courier New" pitchFamily="49" charset="0"/>
              <a:buChar char="o"/>
              <a:tabLst>
                <a:tab pos="228600" algn="l"/>
              </a:tabLst>
            </a:pPr>
            <a:r>
              <a:rPr lang="en-US" sz="1800" dirty="0" smtClean="0">
                <a:latin typeface="Verdana"/>
              </a:rPr>
              <a:t>Exercises/Demonstrations</a:t>
            </a:r>
          </a:p>
          <a:p>
            <a:pPr marL="284163" indent="-285750" eaLnBrk="0" hangingPunct="0">
              <a:buFont typeface="Arial" pitchFamily="34" charset="0"/>
              <a:buChar char="•"/>
              <a:tabLst>
                <a:tab pos="228600" algn="l"/>
              </a:tabLst>
            </a:pPr>
            <a:r>
              <a:rPr lang="en-US" sz="1800" dirty="0" smtClean="0">
                <a:latin typeface="Verdana"/>
              </a:rPr>
              <a:t>Online Help</a:t>
            </a:r>
            <a:endParaRPr lang="en-US" sz="1800" dirty="0">
              <a:latin typeface="Verdana"/>
            </a:endParaRPr>
          </a:p>
          <a:p>
            <a:pPr marL="568325" lvl="1" eaLnBrk="0" hangingPunct="0">
              <a:buClr>
                <a:srgbClr val="004B91"/>
              </a:buClr>
              <a:buFont typeface="Courier New" pitchFamily="49" charset="0"/>
              <a:buChar char="o"/>
              <a:tabLst>
                <a:tab pos="228600" algn="l"/>
              </a:tabLst>
            </a:pPr>
            <a:r>
              <a:rPr lang="en-US" sz="1800" dirty="0" smtClean="0">
                <a:latin typeface="Verdana"/>
              </a:rPr>
              <a:t>Process and Procedure Documents</a:t>
            </a:r>
          </a:p>
          <a:p>
            <a:pPr marL="285750" indent="-285750" eaLnBrk="0" hangingPunct="0">
              <a:buFont typeface="Arial" pitchFamily="34" charset="0"/>
              <a:buChar char="•"/>
              <a:tabLst>
                <a:tab pos="231775" algn="l"/>
              </a:tabLst>
            </a:pPr>
            <a:r>
              <a:rPr lang="en-US" sz="1800" dirty="0" smtClean="0">
                <a:latin typeface="Verdana"/>
              </a:rPr>
              <a:t>Job Aids</a:t>
            </a:r>
            <a:endParaRPr lang="en-US" sz="1800" dirty="0">
              <a:latin typeface="Verdana"/>
            </a:endParaRPr>
          </a:p>
          <a:p>
            <a:pPr marL="284163" indent="-285750" eaLnBrk="0" hangingPunct="0">
              <a:buFont typeface="Arial" pitchFamily="34" charset="0"/>
              <a:buChar char="•"/>
              <a:tabLst>
                <a:tab pos="228600" algn="l"/>
              </a:tabLst>
            </a:pPr>
            <a:r>
              <a:rPr lang="en-US" sz="1800" dirty="0">
                <a:latin typeface="Verdana"/>
              </a:rPr>
              <a:t>Course Evaluation</a:t>
            </a:r>
          </a:p>
          <a:p>
            <a:endParaRPr lang="en-US" dirty="0"/>
          </a:p>
        </p:txBody>
      </p:sp>
      <p:pic>
        <p:nvPicPr>
          <p:cNvPr id="4" name="Picture 2" descr="C:\Users\namudaliar\Documents\Narayanan\Ball Corp\Images\shutterstock_59897182_small.jpg"/>
          <p:cNvPicPr>
            <a:picLocks noChangeAspect="1" noChangeArrowheads="1"/>
          </p:cNvPicPr>
          <p:nvPr/>
        </p:nvPicPr>
        <p:blipFill>
          <a:blip r:embed="rId2" cstate="print"/>
          <a:srcRect/>
          <a:stretch>
            <a:fillRect/>
          </a:stretch>
        </p:blipFill>
        <p:spPr bwMode="auto">
          <a:xfrm>
            <a:off x="5004623" y="3196713"/>
            <a:ext cx="3991897" cy="2993923"/>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sz="1400" dirty="0" smtClean="0"/>
          </a:p>
          <a:p>
            <a:fld id="{C0ABF30F-1156-4F41-8469-8F121BB9144A}" type="slidenum">
              <a:rPr lang="en-US" sz="1400" smtClean="0">
                <a:solidFill>
                  <a:schemeClr val="bg2"/>
                </a:solidFill>
              </a:rPr>
              <a:pPr/>
              <a:t>3</a:t>
            </a:fld>
            <a:endParaRPr lang="en-US" sz="1400" dirty="0">
              <a:solidFill>
                <a:schemeClr val="bg2"/>
              </a:solidFill>
            </a:endParaRPr>
          </a:p>
        </p:txBody>
      </p:sp>
    </p:spTree>
    <p:extLst>
      <p:ext uri="{BB962C8B-B14F-4D97-AF65-F5344CB8AC3E}">
        <p14:creationId xmlns:p14="http://schemas.microsoft.com/office/powerpoint/2010/main" val="242296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3"/>
          <p:cNvSpPr txBox="1">
            <a:spLocks noChangeArrowheads="1"/>
          </p:cNvSpPr>
          <p:nvPr/>
        </p:nvSpPr>
        <p:spPr bwMode="auto">
          <a:xfrm>
            <a:off x="5862638" y="1506835"/>
            <a:ext cx="3284537" cy="923330"/>
          </a:xfrm>
          <a:prstGeom prst="rect">
            <a:avLst/>
          </a:prstGeom>
          <a:noFill/>
          <a:ln w="9525" algn="ctr">
            <a:noFill/>
            <a:miter lim="800000"/>
            <a:headEnd/>
            <a:tailEnd/>
          </a:ln>
        </p:spPr>
        <p:txBody>
          <a:bodyPr anchor="ct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Help manage activities by starting and stopping on time</a:t>
            </a:r>
          </a:p>
        </p:txBody>
      </p:sp>
      <p:sp>
        <p:nvSpPr>
          <p:cNvPr id="6147" name="Text Box 6"/>
          <p:cNvSpPr txBox="1">
            <a:spLocks noChangeArrowheads="1"/>
          </p:cNvSpPr>
          <p:nvPr/>
        </p:nvSpPr>
        <p:spPr bwMode="auto">
          <a:xfrm>
            <a:off x="5853113" y="4677072"/>
            <a:ext cx="3284537" cy="923330"/>
          </a:xfrm>
          <a:prstGeom prst="rect">
            <a:avLst/>
          </a:prstGeom>
          <a:noFill/>
          <a:ln w="9525" algn="ctr">
            <a:noFill/>
            <a:miter lim="800000"/>
            <a:headEnd/>
            <a:tailEnd/>
          </a:ln>
        </p:spPr>
        <p:txBody>
          <a:bodyPr anchor="ct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Actively listen and participate in presentations</a:t>
            </a:r>
          </a:p>
        </p:txBody>
      </p:sp>
      <p:sp>
        <p:nvSpPr>
          <p:cNvPr id="6148" name="Text Box 9"/>
          <p:cNvSpPr txBox="1">
            <a:spLocks noChangeArrowheads="1"/>
          </p:cNvSpPr>
          <p:nvPr/>
        </p:nvSpPr>
        <p:spPr bwMode="auto">
          <a:xfrm>
            <a:off x="5862638" y="3041948"/>
            <a:ext cx="3284537" cy="923330"/>
          </a:xfrm>
          <a:prstGeom prst="rect">
            <a:avLst/>
          </a:prstGeom>
          <a:noFill/>
          <a:ln w="9525" algn="ctr">
            <a:noFill/>
            <a:miter lim="800000"/>
            <a:headEnd/>
            <a:tailEnd/>
          </a:ln>
        </p:spPr>
        <p:txBody>
          <a:bodyPr anchor="ct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A 15 minute break </a:t>
            </a:r>
            <a:br>
              <a:rPr lang="en-US" sz="1800" dirty="0">
                <a:solidFill>
                  <a:srgbClr val="022246"/>
                </a:solidFill>
                <a:latin typeface="Verdana" pitchFamily="34" charset="0"/>
                <a:ea typeface="Verdana" pitchFamily="34" charset="0"/>
                <a:cs typeface="Verdana" pitchFamily="34" charset="0"/>
              </a:rPr>
            </a:br>
            <a:r>
              <a:rPr lang="en-US" sz="1800" dirty="0">
                <a:solidFill>
                  <a:srgbClr val="022246"/>
                </a:solidFill>
                <a:latin typeface="Verdana" pitchFamily="34" charset="0"/>
                <a:ea typeface="Verdana" pitchFamily="34" charset="0"/>
                <a:cs typeface="Verdana" pitchFamily="34" charset="0"/>
              </a:rPr>
              <a:t>will be taken </a:t>
            </a:r>
            <a:br>
              <a:rPr lang="en-US" sz="1800" dirty="0">
                <a:solidFill>
                  <a:srgbClr val="022246"/>
                </a:solidFill>
                <a:latin typeface="Verdana" pitchFamily="34" charset="0"/>
                <a:ea typeface="Verdana" pitchFamily="34" charset="0"/>
                <a:cs typeface="Verdana" pitchFamily="34" charset="0"/>
              </a:rPr>
            </a:br>
            <a:r>
              <a:rPr lang="en-US" sz="1800" dirty="0">
                <a:solidFill>
                  <a:srgbClr val="022246"/>
                </a:solidFill>
                <a:latin typeface="Verdana" pitchFamily="34" charset="0"/>
                <a:ea typeface="Verdana" pitchFamily="34" charset="0"/>
                <a:cs typeface="Verdana" pitchFamily="34" charset="0"/>
              </a:rPr>
              <a:t>[approx] every 2 </a:t>
            </a:r>
            <a:r>
              <a:rPr lang="en-US" sz="1800" dirty="0" smtClean="0">
                <a:solidFill>
                  <a:srgbClr val="022246"/>
                </a:solidFill>
                <a:latin typeface="Verdana" pitchFamily="34" charset="0"/>
                <a:ea typeface="Verdana" pitchFamily="34" charset="0"/>
                <a:cs typeface="Verdana" pitchFamily="34" charset="0"/>
              </a:rPr>
              <a:t>hrs</a:t>
            </a:r>
            <a:endParaRPr lang="en-US" sz="1800" dirty="0">
              <a:solidFill>
                <a:srgbClr val="022246"/>
              </a:solidFill>
              <a:latin typeface="Verdana" pitchFamily="34" charset="0"/>
              <a:ea typeface="Verdana" pitchFamily="34" charset="0"/>
              <a:cs typeface="Verdana" pitchFamily="34" charset="0"/>
            </a:endParaRPr>
          </a:p>
        </p:txBody>
      </p:sp>
      <p:sp>
        <p:nvSpPr>
          <p:cNvPr id="6149" name="Text Box 11"/>
          <p:cNvSpPr txBox="1">
            <a:spLocks noChangeArrowheads="1"/>
          </p:cNvSpPr>
          <p:nvPr/>
        </p:nvSpPr>
        <p:spPr bwMode="auto">
          <a:xfrm>
            <a:off x="1573213" y="1511985"/>
            <a:ext cx="2466975" cy="646331"/>
          </a:xfrm>
          <a:prstGeom prst="rect">
            <a:avLst/>
          </a:prstGeom>
          <a:noFill/>
          <a:ln w="9525" algn="ctr">
            <a:noFill/>
            <a:miter lim="800000"/>
            <a:headEnd/>
            <a:tailEnd/>
          </a:ln>
        </p:spPr>
        <p:txBody>
          <a:bodyPr anchor="ct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Restroom and Exit locations</a:t>
            </a:r>
          </a:p>
        </p:txBody>
      </p:sp>
      <p:sp>
        <p:nvSpPr>
          <p:cNvPr id="6150" name="Text Box 12"/>
          <p:cNvSpPr txBox="1">
            <a:spLocks noChangeArrowheads="1"/>
          </p:cNvSpPr>
          <p:nvPr/>
        </p:nvSpPr>
        <p:spPr bwMode="auto">
          <a:xfrm>
            <a:off x="1597025" y="3026460"/>
            <a:ext cx="2466975" cy="646331"/>
          </a:xfrm>
          <a:prstGeom prst="rect">
            <a:avLst/>
          </a:prstGeom>
          <a:noFill/>
          <a:ln w="9525" algn="ctr">
            <a:noFill/>
            <a:miter lim="800000"/>
            <a:headEnd/>
            <a:tailEnd/>
          </a:ln>
        </p:spPr>
        <p:txBody>
          <a:bodyPr anchor="ct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Feel free to </a:t>
            </a:r>
            <a:br>
              <a:rPr lang="en-US" sz="1800" dirty="0">
                <a:solidFill>
                  <a:srgbClr val="022246"/>
                </a:solidFill>
                <a:latin typeface="Verdana" pitchFamily="34" charset="0"/>
                <a:ea typeface="Verdana" pitchFamily="34" charset="0"/>
                <a:cs typeface="Verdana" pitchFamily="34" charset="0"/>
              </a:rPr>
            </a:br>
            <a:r>
              <a:rPr lang="en-US" sz="1800" dirty="0">
                <a:solidFill>
                  <a:srgbClr val="022246"/>
                </a:solidFill>
                <a:latin typeface="Verdana" pitchFamily="34" charset="0"/>
                <a:ea typeface="Verdana" pitchFamily="34" charset="0"/>
                <a:cs typeface="Verdana" pitchFamily="34" charset="0"/>
              </a:rPr>
              <a:t>ask questions</a:t>
            </a:r>
          </a:p>
        </p:txBody>
      </p:sp>
      <p:sp>
        <p:nvSpPr>
          <p:cNvPr id="6151" name="Text Box 13"/>
          <p:cNvSpPr txBox="1">
            <a:spLocks noChangeArrowheads="1"/>
          </p:cNvSpPr>
          <p:nvPr/>
        </p:nvSpPr>
        <p:spPr bwMode="auto">
          <a:xfrm>
            <a:off x="1597025" y="4812784"/>
            <a:ext cx="2466975" cy="369332"/>
          </a:xfrm>
          <a:prstGeom prst="rect">
            <a:avLst/>
          </a:prstGeom>
          <a:noFill/>
          <a:ln w="9525" algn="ctr">
            <a:noFill/>
            <a:miter lim="800000"/>
            <a:headEnd/>
            <a:tailEnd/>
          </a:ln>
        </p:spPr>
        <p:txBody>
          <a:bodyPr anchor="ct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Training schedule</a:t>
            </a:r>
          </a:p>
        </p:txBody>
      </p:sp>
      <p:pic>
        <p:nvPicPr>
          <p:cNvPr id="6152" name="Picture 16" descr="restroom"/>
          <p:cNvPicPr>
            <a:picLocks noChangeAspect="1" noChangeArrowheads="1"/>
          </p:cNvPicPr>
          <p:nvPr>
            <p:custDataLst>
              <p:tags r:id="rId2"/>
            </p:custDataLst>
          </p:nvPr>
        </p:nvPicPr>
        <p:blipFill>
          <a:blip r:embed="rId10" cstate="print"/>
          <a:srcRect l="-3264" t="-9218" r="-3003" b="-7066"/>
          <a:stretch>
            <a:fillRect/>
          </a:stretch>
        </p:blipFill>
        <p:spPr bwMode="auto">
          <a:xfrm>
            <a:off x="401638" y="1243013"/>
            <a:ext cx="1249362" cy="1279525"/>
          </a:xfrm>
          <a:prstGeom prst="rect">
            <a:avLst/>
          </a:prstGeom>
          <a:noFill/>
          <a:ln w="9525">
            <a:noFill/>
            <a:miter lim="800000"/>
            <a:headEnd/>
            <a:tailEnd/>
          </a:ln>
        </p:spPr>
      </p:pic>
      <p:sp>
        <p:nvSpPr>
          <p:cNvPr id="6153" name="Rectangle 17"/>
          <p:cNvSpPr>
            <a:spLocks noGrp="1" noChangeArrowheads="1"/>
          </p:cNvSpPr>
          <p:nvPr>
            <p:ph type="title"/>
          </p:nvPr>
        </p:nvSpPr>
        <p:spPr/>
        <p:txBody>
          <a:bodyPr/>
          <a:lstStyle/>
          <a:p>
            <a:r>
              <a:rPr lang="en-US" dirty="0" smtClean="0"/>
              <a:t>Housekeeping</a:t>
            </a:r>
            <a:endParaRPr lang="en-US" sz="2600" dirty="0" smtClean="0"/>
          </a:p>
        </p:txBody>
      </p:sp>
      <p:pic>
        <p:nvPicPr>
          <p:cNvPr id="6154" name="Picture 2" descr="C:\Users\amittal\Desktop\Onebit-free-icon-set-2\coquette-part-3-icons-set\png\128x128\old_clock.png"/>
          <p:cNvPicPr>
            <a:picLocks noChangeAspect="1" noChangeArrowheads="1"/>
          </p:cNvPicPr>
          <p:nvPr>
            <p:custDataLst>
              <p:tags r:id="rId3"/>
            </p:custDataLst>
          </p:nvPr>
        </p:nvPicPr>
        <p:blipFill>
          <a:blip r:embed="rId11" cstate="print"/>
          <a:srcRect/>
          <a:stretch>
            <a:fillRect/>
          </a:stretch>
        </p:blipFill>
        <p:spPr bwMode="auto">
          <a:xfrm>
            <a:off x="4572000" y="1231900"/>
            <a:ext cx="1371600" cy="1371600"/>
          </a:xfrm>
          <a:prstGeom prst="rect">
            <a:avLst/>
          </a:prstGeom>
          <a:noFill/>
          <a:ln w="9525">
            <a:noFill/>
            <a:miter lim="800000"/>
            <a:headEnd/>
            <a:tailEnd/>
          </a:ln>
        </p:spPr>
      </p:pic>
      <p:pic>
        <p:nvPicPr>
          <p:cNvPr id="6155" name="PPTShape_0" descr="C:\Users\amittal\Desktop\png7\help (2).png"/>
          <p:cNvPicPr>
            <a:picLocks noChangeAspect="1" noChangeArrowheads="1"/>
          </p:cNvPicPr>
          <p:nvPr>
            <p:custDataLst>
              <p:tags r:id="rId4"/>
            </p:custDataLst>
          </p:nvPr>
        </p:nvPicPr>
        <p:blipFill>
          <a:blip r:embed="rId12" cstate="print"/>
          <a:srcRect/>
          <a:stretch>
            <a:fillRect/>
          </a:stretch>
        </p:blipFill>
        <p:spPr bwMode="auto">
          <a:xfrm>
            <a:off x="355600" y="2894013"/>
            <a:ext cx="1169988" cy="1169987"/>
          </a:xfrm>
          <a:prstGeom prst="rect">
            <a:avLst/>
          </a:prstGeom>
          <a:noFill/>
          <a:ln w="9525">
            <a:noFill/>
            <a:miter lim="800000"/>
            <a:headEnd/>
            <a:tailEnd/>
          </a:ln>
        </p:spPr>
      </p:pic>
      <p:pic>
        <p:nvPicPr>
          <p:cNvPr id="6156" name="Picture 3" descr="C:\Users\amittal\Desktop\png7\calendar_date (2).png"/>
          <p:cNvPicPr>
            <a:picLocks noChangeAspect="1" noChangeArrowheads="1"/>
          </p:cNvPicPr>
          <p:nvPr>
            <p:custDataLst>
              <p:tags r:id="rId5"/>
            </p:custDataLst>
          </p:nvPr>
        </p:nvPicPr>
        <p:blipFill>
          <a:blip r:embed="rId13" cstate="print"/>
          <a:srcRect/>
          <a:stretch>
            <a:fillRect/>
          </a:stretch>
        </p:blipFill>
        <p:spPr bwMode="auto">
          <a:xfrm>
            <a:off x="469900" y="4610100"/>
            <a:ext cx="1003300" cy="1003300"/>
          </a:xfrm>
          <a:prstGeom prst="rect">
            <a:avLst/>
          </a:prstGeom>
          <a:noFill/>
          <a:ln w="9525">
            <a:noFill/>
            <a:miter lim="800000"/>
            <a:headEnd/>
            <a:tailEnd/>
          </a:ln>
        </p:spPr>
      </p:pic>
      <p:pic>
        <p:nvPicPr>
          <p:cNvPr id="6157" name="Picture 4" descr="C:\Users\amittal\Desktop\png7\male_user_comment.png"/>
          <p:cNvPicPr>
            <a:picLocks noChangeAspect="1" noChangeArrowheads="1"/>
          </p:cNvPicPr>
          <p:nvPr>
            <p:custDataLst>
              <p:tags r:id="rId6"/>
            </p:custDataLst>
          </p:nvPr>
        </p:nvPicPr>
        <p:blipFill>
          <a:blip r:embed="rId14" cstate="print"/>
          <a:srcRect/>
          <a:stretch>
            <a:fillRect/>
          </a:stretch>
        </p:blipFill>
        <p:spPr bwMode="auto">
          <a:xfrm>
            <a:off x="4508500" y="4267200"/>
            <a:ext cx="1498600" cy="1498600"/>
          </a:xfrm>
          <a:prstGeom prst="rect">
            <a:avLst/>
          </a:prstGeom>
          <a:noFill/>
          <a:ln w="9525">
            <a:noFill/>
            <a:miter lim="800000"/>
            <a:headEnd/>
            <a:tailEnd/>
          </a:ln>
        </p:spPr>
      </p:pic>
      <p:pic>
        <p:nvPicPr>
          <p:cNvPr id="6158" name="Picture 5"/>
          <p:cNvPicPr>
            <a:picLocks noChangeAspect="1" noChangeArrowheads="1"/>
          </p:cNvPicPr>
          <p:nvPr>
            <p:custDataLst>
              <p:tags r:id="rId7"/>
            </p:custDataLst>
          </p:nvPr>
        </p:nvPicPr>
        <p:blipFill>
          <a:blip r:embed="rId15" cstate="print"/>
          <a:srcRect/>
          <a:stretch>
            <a:fillRect/>
          </a:stretch>
        </p:blipFill>
        <p:spPr bwMode="auto">
          <a:xfrm>
            <a:off x="4732338" y="2514600"/>
            <a:ext cx="1039812" cy="1546225"/>
          </a:xfrm>
          <a:prstGeom prst="rect">
            <a:avLst/>
          </a:prstGeom>
          <a:noFill/>
          <a:ln w="9525">
            <a:noFill/>
            <a:miter lim="800000"/>
            <a:headEnd/>
            <a:tailEnd/>
          </a:ln>
        </p:spPr>
      </p:pic>
      <p:sp>
        <p:nvSpPr>
          <p:cNvPr id="1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4</a:t>
            </a:fld>
            <a:endParaRPr lang="en-US" sz="1400" dirty="0">
              <a:solidFill>
                <a:schemeClr val="bg2"/>
              </a:solidFill>
            </a:endParaRPr>
          </a:p>
        </p:txBody>
      </p:sp>
    </p:spTree>
    <p:custDataLst>
      <p:tags r:id="rId1"/>
    </p:custDataLst>
    <p:extLst>
      <p:ext uri="{BB962C8B-B14F-4D97-AF65-F5344CB8AC3E}">
        <p14:creationId xmlns:p14="http://schemas.microsoft.com/office/powerpoint/2010/main" val="2433998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634046" y="1470406"/>
            <a:ext cx="2674937" cy="646331"/>
          </a:xfrm>
          <a:prstGeom prst="rect">
            <a:avLst/>
          </a:prstGeom>
          <a:noFill/>
          <a:ln w="9525" algn="ctr">
            <a:noFill/>
            <a:miter lim="800000"/>
            <a:headEnd/>
            <a:tailEnd/>
          </a:ln>
        </p:spPr>
        <p:txBody>
          <a:bodyP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Sign the attendance sheet</a:t>
            </a:r>
          </a:p>
        </p:txBody>
      </p:sp>
      <p:sp>
        <p:nvSpPr>
          <p:cNvPr id="7171" name="Text Box 4"/>
          <p:cNvSpPr txBox="1">
            <a:spLocks noChangeArrowheads="1"/>
          </p:cNvSpPr>
          <p:nvPr/>
        </p:nvSpPr>
        <p:spPr bwMode="auto">
          <a:xfrm>
            <a:off x="1632014" y="3029331"/>
            <a:ext cx="2679700" cy="646331"/>
          </a:xfrm>
          <a:prstGeom prst="rect">
            <a:avLst/>
          </a:prstGeom>
          <a:noFill/>
          <a:ln w="9525" algn="ctr">
            <a:noFill/>
            <a:miter lim="800000"/>
            <a:headEnd/>
            <a:tailEnd/>
          </a:ln>
        </p:spPr>
        <p:txBody>
          <a:bodyP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Silence cell phones and pagers</a:t>
            </a:r>
          </a:p>
        </p:txBody>
      </p:sp>
      <p:sp>
        <p:nvSpPr>
          <p:cNvPr id="7172" name="Text Box 6"/>
          <p:cNvSpPr txBox="1">
            <a:spLocks noChangeArrowheads="1"/>
          </p:cNvSpPr>
          <p:nvPr/>
        </p:nvSpPr>
        <p:spPr bwMode="auto">
          <a:xfrm>
            <a:off x="6277039" y="3042031"/>
            <a:ext cx="2713037" cy="646331"/>
          </a:xfrm>
          <a:prstGeom prst="rect">
            <a:avLst/>
          </a:prstGeom>
          <a:noFill/>
          <a:ln w="9525" algn="ctr">
            <a:noFill/>
            <a:miter lim="800000"/>
            <a:headEnd/>
            <a:tailEnd/>
          </a:ln>
        </p:spPr>
        <p:txBody>
          <a:bodyP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Check E-mail during breaks ONLY</a:t>
            </a:r>
          </a:p>
        </p:txBody>
      </p:sp>
      <p:sp>
        <p:nvSpPr>
          <p:cNvPr id="7173" name="Text Box 8"/>
          <p:cNvSpPr txBox="1">
            <a:spLocks noChangeArrowheads="1"/>
          </p:cNvSpPr>
          <p:nvPr/>
        </p:nvSpPr>
        <p:spPr bwMode="auto">
          <a:xfrm>
            <a:off x="1595438" y="4516819"/>
            <a:ext cx="3116262" cy="923330"/>
          </a:xfrm>
          <a:prstGeom prst="rect">
            <a:avLst/>
          </a:prstGeom>
          <a:noFill/>
          <a:ln w="9525" algn="ctr">
            <a:noFill/>
            <a:miter lim="800000"/>
            <a:headEnd/>
            <a:tailEnd/>
          </a:ln>
        </p:spPr>
        <p:txBody>
          <a:bodyP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Do not work on computers during instructor presentations</a:t>
            </a:r>
          </a:p>
        </p:txBody>
      </p:sp>
      <p:sp>
        <p:nvSpPr>
          <p:cNvPr id="7174" name="Text Box 12"/>
          <p:cNvSpPr txBox="1">
            <a:spLocks noChangeArrowheads="1"/>
          </p:cNvSpPr>
          <p:nvPr/>
        </p:nvSpPr>
        <p:spPr bwMode="auto">
          <a:xfrm>
            <a:off x="6310821" y="1473581"/>
            <a:ext cx="2706687" cy="646331"/>
          </a:xfrm>
          <a:prstGeom prst="rect">
            <a:avLst/>
          </a:prstGeom>
          <a:noFill/>
          <a:ln w="9525" algn="ctr">
            <a:noFill/>
            <a:miter lim="800000"/>
            <a:headEnd/>
            <a:tailEnd/>
          </a:ln>
        </p:spPr>
        <p:txBody>
          <a:bodyP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Minimize side conversations</a:t>
            </a:r>
          </a:p>
        </p:txBody>
      </p:sp>
      <p:sp>
        <p:nvSpPr>
          <p:cNvPr id="7175" name="Rectangle 33"/>
          <p:cNvSpPr>
            <a:spLocks noGrp="1" noChangeArrowheads="1"/>
          </p:cNvSpPr>
          <p:nvPr>
            <p:ph type="title"/>
          </p:nvPr>
        </p:nvSpPr>
        <p:spPr/>
        <p:txBody>
          <a:bodyPr/>
          <a:lstStyle/>
          <a:p>
            <a:r>
              <a:rPr lang="en-US" dirty="0" smtClean="0"/>
              <a:t>Ground Rules</a:t>
            </a:r>
          </a:p>
        </p:txBody>
      </p:sp>
      <p:pic>
        <p:nvPicPr>
          <p:cNvPr id="7176" name="Picture 2" descr="C:\Users\amittal\Desktop\png23\png23\128x128\users_comments.png"/>
          <p:cNvPicPr>
            <a:picLocks noChangeAspect="1" noChangeArrowheads="1"/>
          </p:cNvPicPr>
          <p:nvPr>
            <p:custDataLst>
              <p:tags r:id="rId2"/>
            </p:custDataLst>
          </p:nvPr>
        </p:nvPicPr>
        <p:blipFill>
          <a:blip r:embed="rId10" cstate="print"/>
          <a:srcRect/>
          <a:stretch>
            <a:fillRect/>
          </a:stretch>
        </p:blipFill>
        <p:spPr bwMode="auto">
          <a:xfrm>
            <a:off x="4876800" y="1270000"/>
            <a:ext cx="1295400" cy="1295400"/>
          </a:xfrm>
          <a:prstGeom prst="rect">
            <a:avLst/>
          </a:prstGeom>
          <a:noFill/>
          <a:ln w="9525">
            <a:noFill/>
            <a:miter lim="800000"/>
            <a:headEnd/>
            <a:tailEnd/>
          </a:ln>
        </p:spPr>
      </p:pic>
      <p:pic>
        <p:nvPicPr>
          <p:cNvPr id="7177" name="Picture 4" descr="C:\Users\amittal\Desktop\png7\yellow_mail.png"/>
          <p:cNvPicPr>
            <a:picLocks noChangeAspect="1" noChangeArrowheads="1"/>
          </p:cNvPicPr>
          <p:nvPr>
            <p:custDataLst>
              <p:tags r:id="rId3"/>
            </p:custDataLst>
          </p:nvPr>
        </p:nvPicPr>
        <p:blipFill>
          <a:blip r:embed="rId11" cstate="print"/>
          <a:srcRect/>
          <a:stretch>
            <a:fillRect/>
          </a:stretch>
        </p:blipFill>
        <p:spPr bwMode="auto">
          <a:xfrm>
            <a:off x="4876800" y="2654300"/>
            <a:ext cx="1300163" cy="1300163"/>
          </a:xfrm>
          <a:prstGeom prst="rect">
            <a:avLst/>
          </a:prstGeom>
          <a:noFill/>
          <a:ln w="9525">
            <a:noFill/>
            <a:miter lim="800000"/>
            <a:headEnd/>
            <a:tailEnd/>
          </a:ln>
        </p:spPr>
      </p:pic>
      <p:pic>
        <p:nvPicPr>
          <p:cNvPr id="7178" name="Picture 5" descr="C:\Users\amittal\Desktop\png7\computer_delete.png"/>
          <p:cNvPicPr>
            <a:picLocks noChangeAspect="1" noChangeArrowheads="1"/>
          </p:cNvPicPr>
          <p:nvPr>
            <p:custDataLst>
              <p:tags r:id="rId4"/>
            </p:custDataLst>
          </p:nvPr>
        </p:nvPicPr>
        <p:blipFill>
          <a:blip r:embed="rId12" cstate="print"/>
          <a:srcRect/>
          <a:stretch>
            <a:fillRect/>
          </a:stretch>
        </p:blipFill>
        <p:spPr bwMode="auto">
          <a:xfrm>
            <a:off x="342900" y="4521200"/>
            <a:ext cx="1057275" cy="1057275"/>
          </a:xfrm>
          <a:prstGeom prst="rect">
            <a:avLst/>
          </a:prstGeom>
          <a:noFill/>
          <a:ln w="9525">
            <a:noFill/>
            <a:miter lim="800000"/>
            <a:headEnd/>
            <a:tailEnd/>
          </a:ln>
        </p:spPr>
      </p:pic>
      <p:pic>
        <p:nvPicPr>
          <p:cNvPr id="7179" name="Picture 6" descr="C:\Users\amittal\Desktop\png7\note_edit.png"/>
          <p:cNvPicPr>
            <a:picLocks noChangeAspect="1" noChangeArrowheads="1"/>
          </p:cNvPicPr>
          <p:nvPr>
            <p:custDataLst>
              <p:tags r:id="rId5"/>
            </p:custDataLst>
          </p:nvPr>
        </p:nvPicPr>
        <p:blipFill>
          <a:blip r:embed="rId13" cstate="print"/>
          <a:srcRect/>
          <a:stretch>
            <a:fillRect/>
          </a:stretch>
        </p:blipFill>
        <p:spPr bwMode="auto">
          <a:xfrm>
            <a:off x="406400" y="1244600"/>
            <a:ext cx="1154113" cy="1154113"/>
          </a:xfrm>
          <a:prstGeom prst="rect">
            <a:avLst/>
          </a:prstGeom>
          <a:noFill/>
          <a:ln w="9525">
            <a:noFill/>
            <a:miter lim="800000"/>
            <a:headEnd/>
            <a:tailEnd/>
          </a:ln>
        </p:spPr>
      </p:pic>
      <p:pic>
        <p:nvPicPr>
          <p:cNvPr id="7180" name="Picture 7"/>
          <p:cNvPicPr>
            <a:picLocks noChangeAspect="1" noChangeArrowheads="1"/>
          </p:cNvPicPr>
          <p:nvPr>
            <p:custDataLst>
              <p:tags r:id="rId6"/>
            </p:custDataLst>
          </p:nvPr>
        </p:nvPicPr>
        <p:blipFill>
          <a:blip r:embed="rId14" cstate="print"/>
          <a:srcRect/>
          <a:stretch>
            <a:fillRect/>
          </a:stretch>
        </p:blipFill>
        <p:spPr bwMode="auto">
          <a:xfrm>
            <a:off x="279400" y="2724150"/>
            <a:ext cx="1379538" cy="1381125"/>
          </a:xfrm>
          <a:prstGeom prst="rect">
            <a:avLst/>
          </a:prstGeom>
          <a:noFill/>
          <a:ln w="9525">
            <a:noFill/>
            <a:miter lim="800000"/>
            <a:headEnd/>
            <a:tailEnd/>
          </a:ln>
        </p:spPr>
      </p:pic>
      <p:sp>
        <p:nvSpPr>
          <p:cNvPr id="7182" name="PPTShape_0"/>
          <p:cNvSpPr txBox="1">
            <a:spLocks noChangeArrowheads="1"/>
          </p:cNvSpPr>
          <p:nvPr/>
        </p:nvSpPr>
        <p:spPr bwMode="auto">
          <a:xfrm>
            <a:off x="6240463" y="4320667"/>
            <a:ext cx="2713037" cy="646331"/>
          </a:xfrm>
          <a:prstGeom prst="rect">
            <a:avLst/>
          </a:prstGeom>
          <a:noFill/>
          <a:ln w="9525" algn="ctr">
            <a:noFill/>
            <a:miter lim="800000"/>
            <a:headEnd/>
            <a:tailEnd/>
          </a:ln>
        </p:spPr>
        <p:txBody>
          <a:bodyPr>
            <a:spAutoFit/>
          </a:bodyPr>
          <a:lstStyle/>
          <a:p>
            <a:pPr algn="l">
              <a:spcBef>
                <a:spcPct val="50000"/>
              </a:spcBef>
            </a:pPr>
            <a:r>
              <a:rPr lang="en-US" sz="1800" dirty="0">
                <a:solidFill>
                  <a:srgbClr val="022246"/>
                </a:solidFill>
                <a:latin typeface="Verdana" pitchFamily="34" charset="0"/>
                <a:ea typeface="Verdana" pitchFamily="34" charset="0"/>
                <a:cs typeface="Verdana" pitchFamily="34" charset="0"/>
              </a:rPr>
              <a:t>Provide feedback to improve training</a:t>
            </a:r>
          </a:p>
        </p:txBody>
      </p:sp>
      <p:pic>
        <p:nvPicPr>
          <p:cNvPr id="7183" name="Picture 14" descr="C:\Users\amittal\Documents\Deloitte\Projects\Genzyme\ILT Template\Images\png7\edit_male_user.png"/>
          <p:cNvPicPr>
            <a:picLocks noChangeAspect="1" noChangeArrowheads="1"/>
          </p:cNvPicPr>
          <p:nvPr>
            <p:custDataLst>
              <p:tags r:id="rId7"/>
            </p:custDataLst>
          </p:nvPr>
        </p:nvPicPr>
        <p:blipFill>
          <a:blip r:embed="rId15" cstate="print"/>
          <a:srcRect/>
          <a:stretch>
            <a:fillRect/>
          </a:stretch>
        </p:blipFill>
        <p:spPr bwMode="auto">
          <a:xfrm>
            <a:off x="4864100" y="4140200"/>
            <a:ext cx="1381125" cy="1381125"/>
          </a:xfrm>
          <a:prstGeom prst="rect">
            <a:avLst/>
          </a:prstGeom>
          <a:noFill/>
          <a:ln w="9525">
            <a:noFill/>
            <a:miter lim="800000"/>
            <a:headEnd/>
            <a:tailEnd/>
          </a:ln>
        </p:spPr>
      </p:pic>
      <p:sp>
        <p:nvSpPr>
          <p:cNvPr id="1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a:t>
            </a:fld>
            <a:endParaRPr lang="en-US" sz="1400" dirty="0">
              <a:solidFill>
                <a:schemeClr val="bg2"/>
              </a:solidFill>
            </a:endParaRPr>
          </a:p>
        </p:txBody>
      </p:sp>
    </p:spTree>
    <p:custDataLst>
      <p:tags r:id="rId1"/>
    </p:custDataLst>
    <p:extLst>
      <p:ext uri="{BB962C8B-B14F-4D97-AF65-F5344CB8AC3E}">
        <p14:creationId xmlns:p14="http://schemas.microsoft.com/office/powerpoint/2010/main" val="1291821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mudaliar\Documents\Narayanan\Ball Corp\Images\shutterstock_50164627_Small.jpg"/>
          <p:cNvPicPr>
            <a:picLocks noChangeAspect="1" noChangeArrowheads="1"/>
          </p:cNvPicPr>
          <p:nvPr/>
        </p:nvPicPr>
        <p:blipFill>
          <a:blip r:embed="rId3" cstate="print"/>
          <a:srcRect/>
          <a:stretch>
            <a:fillRect/>
          </a:stretch>
        </p:blipFill>
        <p:spPr bwMode="auto">
          <a:xfrm>
            <a:off x="6477000" y="3804125"/>
            <a:ext cx="2600327" cy="2901475"/>
          </a:xfrm>
          <a:prstGeom prst="rect">
            <a:avLst/>
          </a:prstGeom>
          <a:noFill/>
        </p:spPr>
      </p:pic>
      <p:sp>
        <p:nvSpPr>
          <p:cNvPr id="2" name="Title 1"/>
          <p:cNvSpPr>
            <a:spLocks noGrp="1"/>
          </p:cNvSpPr>
          <p:nvPr>
            <p:ph type="title"/>
          </p:nvPr>
        </p:nvSpPr>
        <p:spPr/>
        <p:txBody>
          <a:bodyPr/>
          <a:lstStyle/>
          <a:p>
            <a:r>
              <a:rPr lang="en-US" dirty="0" smtClean="0"/>
              <a:t>Course Modules </a:t>
            </a:r>
            <a:endParaRPr lang="en-US" dirty="0"/>
          </a:p>
        </p:txBody>
      </p:sp>
      <p:sp>
        <p:nvSpPr>
          <p:cNvPr id="3" name="Content Placeholder 2"/>
          <p:cNvSpPr>
            <a:spLocks noGrp="1"/>
          </p:cNvSpPr>
          <p:nvPr>
            <p:ph idx="1"/>
          </p:nvPr>
        </p:nvSpPr>
        <p:spPr>
          <a:xfrm>
            <a:off x="301625" y="1143000"/>
            <a:ext cx="8537575" cy="5029200"/>
          </a:xfrm>
        </p:spPr>
        <p:txBody>
          <a:bodyPr/>
          <a:lstStyle/>
          <a:p>
            <a:pPr>
              <a:spcAft>
                <a:spcPct val="50000"/>
              </a:spcAft>
              <a:buClr>
                <a:srgbClr val="336699"/>
              </a:buClr>
              <a:buSzPct val="100000"/>
            </a:pPr>
            <a:r>
              <a:rPr lang="en-US" dirty="0"/>
              <a:t>This course is intended to </a:t>
            </a:r>
            <a:r>
              <a:rPr lang="en-US" dirty="0" smtClean="0"/>
              <a:t>introduce SAP to the Loudoun Water organization and how Loudoun Water business processes integrate with SAP. In this course participants learn </a:t>
            </a:r>
            <a:r>
              <a:rPr lang="en-US" dirty="0"/>
              <a:t>about </a:t>
            </a:r>
            <a:r>
              <a:rPr lang="en-US" dirty="0" smtClean="0"/>
              <a:t>managing measurement points, managing work orders, and generating reports.</a:t>
            </a:r>
            <a:endParaRPr lang="en-US" dirty="0"/>
          </a:p>
          <a:p>
            <a:pPr>
              <a:spcAft>
                <a:spcPct val="50000"/>
              </a:spcAft>
              <a:buClr>
                <a:srgbClr val="336699"/>
              </a:buClr>
              <a:buSzPct val="100000"/>
            </a:pPr>
            <a:r>
              <a:rPr lang="en-US" dirty="0"/>
              <a:t>The course is composed of the following modules:</a:t>
            </a:r>
          </a:p>
          <a:p>
            <a:pPr marL="341313" indent="-342900" eaLnBrk="0" hangingPunct="0">
              <a:buFont typeface="Arial" pitchFamily="34" charset="0"/>
              <a:buChar char="•"/>
              <a:tabLst>
                <a:tab pos="228600" algn="l"/>
              </a:tabLst>
            </a:pPr>
            <a:r>
              <a:rPr lang="en-US" dirty="0"/>
              <a:t>Module 1</a:t>
            </a:r>
            <a:r>
              <a:rPr lang="en-US" dirty="0" smtClean="0"/>
              <a:t>: SAP Overview</a:t>
            </a:r>
          </a:p>
          <a:p>
            <a:pPr marL="341313" indent="-342900" eaLnBrk="0" hangingPunct="0">
              <a:buFont typeface="Arial" pitchFamily="34" charset="0"/>
              <a:buChar char="•"/>
              <a:tabLst>
                <a:tab pos="228600" algn="l"/>
              </a:tabLst>
            </a:pPr>
            <a:r>
              <a:rPr lang="en-US" dirty="0" smtClean="0"/>
              <a:t>Module 2: Introduction and EAM Process Overview</a:t>
            </a:r>
            <a:endParaRPr lang="en-US" dirty="0"/>
          </a:p>
          <a:p>
            <a:pPr marL="341313" indent="-342900" eaLnBrk="0" hangingPunct="0">
              <a:buFont typeface="Arial" pitchFamily="34" charset="0"/>
              <a:buChar char="•"/>
              <a:tabLst>
                <a:tab pos="228600" algn="l"/>
              </a:tabLst>
            </a:pPr>
            <a:r>
              <a:rPr lang="en-US" dirty="0" smtClean="0"/>
              <a:t>Module 3: Manage Notifications </a:t>
            </a:r>
          </a:p>
          <a:p>
            <a:pPr marL="341313" indent="-342900" eaLnBrk="0" hangingPunct="0">
              <a:buFont typeface="Arial" pitchFamily="34" charset="0"/>
              <a:buChar char="•"/>
              <a:tabLst>
                <a:tab pos="228600" algn="l"/>
              </a:tabLst>
            </a:pPr>
            <a:r>
              <a:rPr lang="en-US" dirty="0" smtClean="0"/>
              <a:t>Module 4: Manage Work Orders</a:t>
            </a:r>
          </a:p>
          <a:p>
            <a:pPr marL="341313" indent="-342900" eaLnBrk="0" hangingPunct="0">
              <a:buFont typeface="Arial" pitchFamily="34" charset="0"/>
              <a:buChar char="•"/>
              <a:tabLst>
                <a:tab pos="228600" algn="l"/>
              </a:tabLst>
            </a:pPr>
            <a:r>
              <a:rPr lang="en-US" dirty="0" smtClean="0"/>
              <a:t>Module 5: Manage Planning Activities</a:t>
            </a:r>
          </a:p>
          <a:p>
            <a:pPr marL="341313" indent="-342900" eaLnBrk="0" hangingPunct="0">
              <a:buFont typeface="Arial" pitchFamily="34" charset="0"/>
              <a:buChar char="•"/>
              <a:tabLst>
                <a:tab pos="228600" algn="l"/>
              </a:tabLst>
            </a:pPr>
            <a:r>
              <a:rPr lang="en-US" dirty="0" smtClean="0"/>
              <a:t>Module </a:t>
            </a:r>
            <a:r>
              <a:rPr lang="en-US" dirty="0"/>
              <a:t>6</a:t>
            </a:r>
            <a:r>
              <a:rPr lang="en-US" dirty="0" smtClean="0"/>
              <a:t>: Analytics and Reports</a:t>
            </a:r>
            <a:endParaRPr lang="en-US" dirty="0"/>
          </a:p>
          <a:p>
            <a:endParaRPr lang="en-US" dirty="0"/>
          </a:p>
        </p:txBody>
      </p:sp>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6</a:t>
            </a:fld>
            <a:endParaRPr lang="en-US" sz="1400" dirty="0">
              <a:solidFill>
                <a:schemeClr val="bg2"/>
              </a:solidFill>
            </a:endParaRPr>
          </a:p>
        </p:txBody>
      </p:sp>
    </p:spTree>
    <p:extLst>
      <p:ext uri="{BB962C8B-B14F-4D97-AF65-F5344CB8AC3E}">
        <p14:creationId xmlns:p14="http://schemas.microsoft.com/office/powerpoint/2010/main" val="31203668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Objectives </a:t>
            </a:r>
            <a:endParaRPr lang="en-US" dirty="0"/>
          </a:p>
        </p:txBody>
      </p:sp>
      <p:sp>
        <p:nvSpPr>
          <p:cNvPr id="3" name="Content Placeholder 2"/>
          <p:cNvSpPr>
            <a:spLocks noGrp="1"/>
          </p:cNvSpPr>
          <p:nvPr>
            <p:ph idx="1"/>
          </p:nvPr>
        </p:nvSpPr>
        <p:spPr/>
        <p:txBody>
          <a:bodyPr/>
          <a:lstStyle/>
          <a:p>
            <a:r>
              <a:rPr lang="en-US" dirty="0" smtClean="0"/>
              <a:t>Upon completion of this course, you should be able to:</a:t>
            </a:r>
          </a:p>
          <a:p>
            <a:pPr marL="342900" indent="-342900">
              <a:buFont typeface="Arial" pitchFamily="34" charset="0"/>
              <a:buChar char="•"/>
            </a:pPr>
            <a:r>
              <a:rPr lang="en-US" dirty="0" smtClean="0"/>
              <a:t>Define key terms and definitions</a:t>
            </a:r>
          </a:p>
          <a:p>
            <a:pPr marL="342900" indent="-342900">
              <a:buFont typeface="Arial" pitchFamily="34" charset="0"/>
              <a:buChar char="•"/>
            </a:pPr>
            <a:r>
              <a:rPr lang="en-US" dirty="0" smtClean="0"/>
              <a:t>Explain the SAP log on process</a:t>
            </a:r>
          </a:p>
          <a:p>
            <a:pPr marL="342900" indent="-342900">
              <a:buFont typeface="Arial" pitchFamily="34" charset="0"/>
              <a:buChar char="•"/>
            </a:pPr>
            <a:r>
              <a:rPr lang="en-US" dirty="0" smtClean="0"/>
              <a:t>Explain the EAM process flow</a:t>
            </a:r>
          </a:p>
          <a:p>
            <a:pPr marL="342900" indent="-342900">
              <a:buFont typeface="Arial" pitchFamily="34" charset="0"/>
              <a:buChar char="•"/>
            </a:pPr>
            <a:r>
              <a:rPr lang="en-US" dirty="0" smtClean="0"/>
              <a:t>Create notifications in SAP</a:t>
            </a:r>
          </a:p>
          <a:p>
            <a:pPr marL="342900" indent="-342900">
              <a:buFont typeface="Arial" pitchFamily="34" charset="0"/>
              <a:buChar char="•"/>
            </a:pPr>
            <a:r>
              <a:rPr lang="en-US" dirty="0" smtClean="0"/>
              <a:t>View assigned work orders</a:t>
            </a:r>
          </a:p>
          <a:p>
            <a:pPr marL="342900" indent="-342900">
              <a:buFont typeface="Arial" pitchFamily="34" charset="0"/>
              <a:buChar char="•"/>
            </a:pPr>
            <a:r>
              <a:rPr lang="en-US" dirty="0" smtClean="0"/>
              <a:t>Manage work orders</a:t>
            </a:r>
          </a:p>
          <a:p>
            <a:pPr marL="342900" indent="-342900">
              <a:buFont typeface="Arial" pitchFamily="34" charset="0"/>
              <a:buChar char="•"/>
            </a:pPr>
            <a:r>
              <a:rPr lang="en-US" dirty="0" smtClean="0"/>
              <a:t>Create measurement points</a:t>
            </a:r>
          </a:p>
          <a:p>
            <a:pPr marL="342900" indent="-342900">
              <a:buFont typeface="Arial" pitchFamily="34" charset="0"/>
              <a:buChar char="•"/>
            </a:pPr>
            <a:r>
              <a:rPr lang="en-US" dirty="0" smtClean="0"/>
              <a:t>Manage bill of materials</a:t>
            </a:r>
          </a:p>
          <a:p>
            <a:pPr marL="342900" indent="-342900">
              <a:buFont typeface="Arial" pitchFamily="34" charset="0"/>
              <a:buChar char="•"/>
            </a:pPr>
            <a:r>
              <a:rPr lang="en-US" dirty="0" smtClean="0"/>
              <a:t>Commission/Decommission equipment</a:t>
            </a:r>
          </a:p>
          <a:p>
            <a:pPr marL="342900" indent="-342900">
              <a:buFont typeface="Arial" pitchFamily="34" charset="0"/>
              <a:buChar char="•"/>
            </a:pPr>
            <a:r>
              <a:rPr lang="en-US" dirty="0" smtClean="0"/>
              <a:t>Return material to stock</a:t>
            </a:r>
          </a:p>
          <a:p>
            <a:pPr marL="342900" indent="-342900">
              <a:buFont typeface="Arial" pitchFamily="34" charset="0"/>
              <a:buChar char="•"/>
            </a:pPr>
            <a:r>
              <a:rPr lang="en-US" dirty="0" smtClean="0"/>
              <a:t>Generate an ad hoc report</a:t>
            </a:r>
          </a:p>
          <a:p>
            <a:pPr marL="342900" indent="-342900">
              <a:buFont typeface="Arial" pitchFamily="34" charset="0"/>
              <a:buChar char="•"/>
            </a:pPr>
            <a:r>
              <a:rPr lang="en-US" dirty="0" smtClean="0"/>
              <a:t>Identify Help resources</a:t>
            </a:r>
          </a:p>
        </p:txBody>
      </p:sp>
      <p:pic>
        <p:nvPicPr>
          <p:cNvPr id="4" name="Picture 2" descr="C:\Users\namudaliar\Documents\Narayanan\Ball Corp\Images\shutterstock_54581515.jpg"/>
          <p:cNvPicPr>
            <a:picLocks noChangeAspect="1" noChangeArrowheads="1"/>
          </p:cNvPicPr>
          <p:nvPr/>
        </p:nvPicPr>
        <p:blipFill>
          <a:blip r:embed="rId2" cstate="print"/>
          <a:srcRect/>
          <a:stretch>
            <a:fillRect/>
          </a:stretch>
        </p:blipFill>
        <p:spPr bwMode="auto">
          <a:xfrm>
            <a:off x="6629400" y="3530600"/>
            <a:ext cx="2438400" cy="3251200"/>
          </a:xfrm>
          <a:prstGeom prst="rect">
            <a:avLst/>
          </a:prstGeom>
          <a:noFill/>
        </p:spPr>
      </p:pic>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7</a:t>
            </a:fld>
            <a:endParaRPr lang="en-US" sz="1400" dirty="0">
              <a:solidFill>
                <a:schemeClr val="bg2"/>
              </a:solidFill>
            </a:endParaRPr>
          </a:p>
        </p:txBody>
      </p:sp>
    </p:spTree>
    <p:extLst>
      <p:ext uri="{BB962C8B-B14F-4D97-AF65-F5344CB8AC3E}">
        <p14:creationId xmlns:p14="http://schemas.microsoft.com/office/powerpoint/2010/main" val="2731193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overview</a:t>
            </a:r>
            <a:endParaRPr lang="en-US" dirty="0"/>
          </a:p>
        </p:txBody>
      </p:sp>
      <p:sp>
        <p:nvSpPr>
          <p:cNvPr id="3" name="Text Placeholder 2"/>
          <p:cNvSpPr>
            <a:spLocks noGrp="1"/>
          </p:cNvSpPr>
          <p:nvPr>
            <p:ph type="body" idx="1"/>
          </p:nvPr>
        </p:nvSpPr>
        <p:spPr/>
        <p:txBody>
          <a:bodyPr/>
          <a:lstStyle/>
          <a:p>
            <a:r>
              <a:rPr lang="en-US" dirty="0" smtClean="0"/>
              <a:t>Module 1</a:t>
            </a:r>
            <a:endParaRPr lang="en-US" dirty="0"/>
          </a:p>
        </p:txBody>
      </p:sp>
    </p:spTree>
    <p:extLst>
      <p:ext uri="{BB962C8B-B14F-4D97-AF65-F5344CB8AC3E}">
        <p14:creationId xmlns:p14="http://schemas.microsoft.com/office/powerpoint/2010/main" val="27991637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pPr marL="342900" indent="-342900">
              <a:buFont typeface="Arial" pitchFamily="34" charset="0"/>
              <a:buChar char="•"/>
            </a:pPr>
            <a:r>
              <a:rPr lang="en-US" dirty="0" smtClean="0"/>
              <a:t>Log on to SAP ECC</a:t>
            </a:r>
          </a:p>
          <a:p>
            <a:pPr marL="342900" indent="-342900">
              <a:buFont typeface="Arial" pitchFamily="34" charset="0"/>
              <a:buChar char="•"/>
            </a:pPr>
            <a:r>
              <a:rPr lang="en-US" dirty="0" smtClean="0"/>
              <a:t>Recognize typical ECC screen features</a:t>
            </a:r>
          </a:p>
          <a:p>
            <a:pPr marL="342900" indent="-342900">
              <a:buFont typeface="Arial" pitchFamily="34" charset="0"/>
              <a:buChar char="•"/>
            </a:pPr>
            <a:r>
              <a:rPr lang="en-US" dirty="0" smtClean="0"/>
              <a:t>Recognize standard SAP buttons and icons</a:t>
            </a:r>
          </a:p>
          <a:p>
            <a:pPr marL="342900" indent="-342900">
              <a:buFont typeface="Arial" pitchFamily="34" charset="0"/>
              <a:buChar char="•"/>
            </a:pPr>
            <a:r>
              <a:rPr lang="en-US" dirty="0" smtClean="0"/>
              <a:t>Differentiate between the SAP content menus</a:t>
            </a:r>
          </a:p>
        </p:txBody>
      </p:sp>
      <p:pic>
        <p:nvPicPr>
          <p:cNvPr id="5" name="Picture 2" descr="C:\Users\namudaliar\Documents\Narayanan\Ball Corp\Images\shutterstock_54581515.jpg"/>
          <p:cNvPicPr>
            <a:picLocks noChangeAspect="1" noChangeArrowheads="1"/>
          </p:cNvPicPr>
          <p:nvPr/>
        </p:nvPicPr>
        <p:blipFill>
          <a:blip r:embed="rId3" cstate="print"/>
          <a:srcRect/>
          <a:stretch>
            <a:fillRect/>
          </a:stretch>
        </p:blipFill>
        <p:spPr bwMode="auto">
          <a:xfrm>
            <a:off x="6651519" y="3733800"/>
            <a:ext cx="2286000" cy="3048000"/>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9</a:t>
            </a:fld>
            <a:endParaRPr lang="en-US" sz="1400" dirty="0">
              <a:solidFill>
                <a:schemeClr val="bg2"/>
              </a:solidFill>
            </a:endParaRPr>
          </a:p>
        </p:txBody>
      </p:sp>
    </p:spTree>
    <p:extLst>
      <p:ext uri="{BB962C8B-B14F-4D97-AF65-F5344CB8AC3E}">
        <p14:creationId xmlns:p14="http://schemas.microsoft.com/office/powerpoint/2010/main" val="3259233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Log On to SAP</a:t>
            </a:r>
            <a:endParaRPr lang="en-US" dirty="0"/>
          </a:p>
        </p:txBody>
      </p:sp>
      <p:sp>
        <p:nvSpPr>
          <p:cNvPr id="7" name="Content Placeholder 6"/>
          <p:cNvSpPr>
            <a:spLocks noGrp="1"/>
          </p:cNvSpPr>
          <p:nvPr>
            <p:ph idx="1"/>
          </p:nvPr>
        </p:nvSpPr>
        <p:spPr/>
        <p:txBody>
          <a:bodyPr/>
          <a:lstStyle/>
          <a:p>
            <a:r>
              <a:rPr lang="en-US" dirty="0" smtClean="0"/>
              <a:t>An SAP environment is a completely self-contained version of the SAP database, designated for a specific purpose.</a:t>
            </a:r>
            <a:endParaRPr 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Curved Right Arrow 8"/>
          <p:cNvSpPr/>
          <p:nvPr/>
        </p:nvSpPr>
        <p:spPr bwMode="auto">
          <a:xfrm rot="18988758">
            <a:off x="1267217" y="2500040"/>
            <a:ext cx="797346" cy="2112344"/>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8" name="Picture 7"/>
          <p:cNvPicPr/>
          <p:nvPr/>
        </p:nvPicPr>
        <p:blipFill rotWithShape="1">
          <a:blip r:embed="rId3" cstate="print">
            <a:extLst>
              <a:ext uri="{28A0092B-C50C-407E-A947-70E740481C1C}">
                <a14:useLocalDpi xmlns:a14="http://schemas.microsoft.com/office/drawing/2010/main" val="0"/>
              </a:ext>
            </a:extLst>
          </a:blip>
          <a:srcRect l="66822" t="44442" r="8894" b="8839"/>
          <a:stretch/>
        </p:blipFill>
        <p:spPr bwMode="auto">
          <a:xfrm>
            <a:off x="467712" y="2109950"/>
            <a:ext cx="1198179" cy="1166650"/>
          </a:xfrm>
          <a:prstGeom prst="rect">
            <a:avLst/>
          </a:prstGeom>
          <a:noFill/>
          <a:ln>
            <a:noFill/>
          </a:ln>
          <a:effectLst/>
          <a:extLst/>
        </p:spPr>
      </p:pic>
      <p:sp>
        <p:nvSpPr>
          <p:cNvPr id="10" name="Rectangle 9"/>
          <p:cNvSpPr/>
          <p:nvPr/>
        </p:nvSpPr>
        <p:spPr bwMode="auto">
          <a:xfrm>
            <a:off x="457199" y="5486400"/>
            <a:ext cx="8367997" cy="990600"/>
          </a:xfrm>
          <a:prstGeom prst="rect">
            <a:avLst/>
          </a:prstGeom>
          <a:solidFill>
            <a:srgbClr val="002E62"/>
          </a:solidFill>
          <a:ln w="1905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ctr"/>
            <a:r>
              <a:rPr lang="en-US" b="1" dirty="0">
                <a:latin typeface="Verdana" pitchFamily="34" charset="0"/>
                <a:ea typeface="Verdana" pitchFamily="34" charset="0"/>
                <a:cs typeface="Verdana" pitchFamily="34" charset="0"/>
              </a:rPr>
              <a:t>SAP ECC is a client system. Each user session only accesses data on the client that you selected when you logged on</a:t>
            </a:r>
            <a:r>
              <a:rPr lang="en-US" dirty="0"/>
              <a:t>.</a:t>
            </a:r>
          </a:p>
        </p:txBody>
      </p:sp>
      <p:sp>
        <p:nvSpPr>
          <p:cNvPr id="12"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a:t>
            </a:fld>
            <a:endParaRPr lang="en-US" sz="1400" dirty="0">
              <a:solidFill>
                <a:schemeClr val="bg2"/>
              </a:solidFill>
            </a:endParaRPr>
          </a:p>
        </p:txBody>
      </p:sp>
      <p:pic>
        <p:nvPicPr>
          <p:cNvPr id="13"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743200" y="1828800"/>
            <a:ext cx="5109923" cy="357515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84766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Screen Features</a:t>
            </a:r>
            <a:endParaRPr lang="en-US" dirty="0"/>
          </a:p>
        </p:txBody>
      </p:sp>
      <p:sp>
        <p:nvSpPr>
          <p:cNvPr id="5" name="Content Placeholder 4"/>
          <p:cNvSpPr>
            <a:spLocks noGrp="1"/>
          </p:cNvSpPr>
          <p:nvPr>
            <p:ph idx="1"/>
          </p:nvPr>
        </p:nvSpPr>
        <p:spPr/>
        <p:txBody>
          <a:bodyPr/>
          <a:lstStyle/>
          <a:p>
            <a:r>
              <a:rPr lang="en-US" dirty="0" smtClean="0"/>
              <a:t>A typical SAP screen has seven main areas:</a:t>
            </a:r>
            <a:endParaRPr lang="en-US" dirty="0"/>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967277" y="1616800"/>
            <a:ext cx="5948123" cy="4707800"/>
          </a:xfrm>
          <a:prstGeom prst="rect">
            <a:avLst/>
          </a:prstGeom>
          <a:ln>
            <a:noFill/>
          </a:ln>
          <a:effectLst>
            <a:outerShdw blurRad="292100" dist="139700" dir="2700000" algn="tl" rotWithShape="0">
              <a:srgbClr val="333333">
                <a:alpha val="65000"/>
              </a:srgbClr>
            </a:outerShdw>
          </a:effectLst>
        </p:spPr>
      </p:pic>
      <p:sp>
        <p:nvSpPr>
          <p:cNvPr id="7" name="TextBox 6"/>
          <p:cNvSpPr txBox="1"/>
          <p:nvPr/>
        </p:nvSpPr>
        <p:spPr>
          <a:xfrm>
            <a:off x="152400" y="1459468"/>
            <a:ext cx="2156026"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Screen Header</a:t>
            </a:r>
            <a:endParaRPr lang="en-US" sz="1700" b="1" dirty="0">
              <a:solidFill>
                <a:srgbClr val="000000"/>
              </a:solidFill>
              <a:latin typeface="Verdana" pitchFamily="34" charset="0"/>
              <a:ea typeface="Verdana" pitchFamily="34" charset="0"/>
              <a:cs typeface="Verdana" pitchFamily="34" charset="0"/>
            </a:endParaRPr>
          </a:p>
        </p:txBody>
      </p:sp>
      <p:sp>
        <p:nvSpPr>
          <p:cNvPr id="8" name="TextBox 7"/>
          <p:cNvSpPr txBox="1"/>
          <p:nvPr/>
        </p:nvSpPr>
        <p:spPr>
          <a:xfrm>
            <a:off x="152400" y="1676400"/>
            <a:ext cx="2156026"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Menu Bar</a:t>
            </a:r>
            <a:endParaRPr lang="en-US" sz="1700" b="1" dirty="0">
              <a:solidFill>
                <a:srgbClr val="000000"/>
              </a:solidFill>
              <a:latin typeface="Verdana" pitchFamily="34" charset="0"/>
              <a:ea typeface="Verdana" pitchFamily="34" charset="0"/>
              <a:cs typeface="Verdana" pitchFamily="34" charset="0"/>
            </a:endParaRPr>
          </a:p>
        </p:txBody>
      </p:sp>
      <p:sp>
        <p:nvSpPr>
          <p:cNvPr id="9" name="TextBox 8"/>
          <p:cNvSpPr txBox="1"/>
          <p:nvPr/>
        </p:nvSpPr>
        <p:spPr>
          <a:xfrm>
            <a:off x="152400" y="1905000"/>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Standard Toolbar</a:t>
            </a:r>
            <a:endParaRPr lang="en-US" sz="1700" b="1" dirty="0">
              <a:solidFill>
                <a:srgbClr val="000000"/>
              </a:solidFill>
              <a:latin typeface="Verdana" pitchFamily="34" charset="0"/>
              <a:ea typeface="Verdana" pitchFamily="34" charset="0"/>
              <a:cs typeface="Verdana" pitchFamily="34" charset="0"/>
            </a:endParaRPr>
          </a:p>
        </p:txBody>
      </p:sp>
      <p:sp>
        <p:nvSpPr>
          <p:cNvPr id="10" name="TextBox 9"/>
          <p:cNvSpPr txBox="1"/>
          <p:nvPr/>
        </p:nvSpPr>
        <p:spPr>
          <a:xfrm>
            <a:off x="152400" y="2145268"/>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Title Bar</a:t>
            </a:r>
            <a:endParaRPr lang="en-US" sz="1700" b="1" dirty="0">
              <a:solidFill>
                <a:srgbClr val="000000"/>
              </a:solidFill>
              <a:latin typeface="Verdana" pitchFamily="34" charset="0"/>
              <a:ea typeface="Verdana" pitchFamily="34" charset="0"/>
              <a:cs typeface="Verdana" pitchFamily="34" charset="0"/>
            </a:endParaRPr>
          </a:p>
        </p:txBody>
      </p:sp>
      <p:sp>
        <p:nvSpPr>
          <p:cNvPr id="11" name="TextBox 10"/>
          <p:cNvSpPr txBox="1"/>
          <p:nvPr/>
        </p:nvSpPr>
        <p:spPr>
          <a:xfrm>
            <a:off x="152400" y="2450068"/>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Navigation Toolbar</a:t>
            </a:r>
            <a:endParaRPr lang="en-US" sz="1700" b="1" dirty="0">
              <a:solidFill>
                <a:srgbClr val="000000"/>
              </a:solidFill>
              <a:latin typeface="Verdana" pitchFamily="34" charset="0"/>
              <a:ea typeface="Verdana" pitchFamily="34" charset="0"/>
              <a:cs typeface="Verdana" pitchFamily="34" charset="0"/>
            </a:endParaRPr>
          </a:p>
        </p:txBody>
      </p:sp>
      <p:cxnSp>
        <p:nvCxnSpPr>
          <p:cNvPr id="13" name="Straight Arrow Connector 12"/>
          <p:cNvCxnSpPr/>
          <p:nvPr/>
        </p:nvCxnSpPr>
        <p:spPr bwMode="auto">
          <a:xfrm>
            <a:off x="1600200" y="2329934"/>
            <a:ext cx="12192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14" name="Straight Arrow Connector 13"/>
          <p:cNvCxnSpPr/>
          <p:nvPr/>
        </p:nvCxnSpPr>
        <p:spPr bwMode="auto">
          <a:xfrm>
            <a:off x="2590800" y="2098344"/>
            <a:ext cx="2286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17" name="Straight Arrow Connector 16"/>
          <p:cNvCxnSpPr/>
          <p:nvPr/>
        </p:nvCxnSpPr>
        <p:spPr bwMode="auto">
          <a:xfrm>
            <a:off x="1600200" y="1864056"/>
            <a:ext cx="12192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18" name="Straight Arrow Connector 17"/>
          <p:cNvCxnSpPr/>
          <p:nvPr/>
        </p:nvCxnSpPr>
        <p:spPr bwMode="auto">
          <a:xfrm>
            <a:off x="2209800" y="1676400"/>
            <a:ext cx="6096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cxnSp>
        <p:nvCxnSpPr>
          <p:cNvPr id="20" name="Straight Arrow Connector 19"/>
          <p:cNvCxnSpPr/>
          <p:nvPr/>
        </p:nvCxnSpPr>
        <p:spPr bwMode="auto">
          <a:xfrm>
            <a:off x="2590800" y="2667000"/>
            <a:ext cx="2286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sp>
        <p:nvSpPr>
          <p:cNvPr id="21" name="TextBox 20"/>
          <p:cNvSpPr txBox="1"/>
          <p:nvPr/>
        </p:nvSpPr>
        <p:spPr>
          <a:xfrm>
            <a:off x="152400" y="4177352"/>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Screen Body</a:t>
            </a:r>
            <a:endParaRPr lang="en-US" sz="1700" b="1" dirty="0">
              <a:solidFill>
                <a:srgbClr val="000000"/>
              </a:solidFill>
              <a:latin typeface="Verdana" pitchFamily="34" charset="0"/>
              <a:ea typeface="Verdana" pitchFamily="34" charset="0"/>
              <a:cs typeface="Verdana" pitchFamily="34" charset="0"/>
            </a:endParaRPr>
          </a:p>
        </p:txBody>
      </p:sp>
      <p:sp>
        <p:nvSpPr>
          <p:cNvPr id="22" name="TextBox 21"/>
          <p:cNvSpPr txBox="1"/>
          <p:nvPr/>
        </p:nvSpPr>
        <p:spPr>
          <a:xfrm>
            <a:off x="152400" y="5970657"/>
            <a:ext cx="2743200" cy="353943"/>
          </a:xfrm>
          <a:prstGeom prst="rect">
            <a:avLst/>
          </a:prstGeom>
          <a:noFill/>
        </p:spPr>
        <p:txBody>
          <a:bodyPr wrap="square" rtlCol="0">
            <a:spAutoFit/>
          </a:bodyPr>
          <a:lstStyle/>
          <a:p>
            <a:r>
              <a:rPr lang="en-US" sz="1700" b="1" dirty="0" smtClean="0">
                <a:solidFill>
                  <a:srgbClr val="000000"/>
                </a:solidFill>
                <a:latin typeface="Verdana" pitchFamily="34" charset="0"/>
                <a:ea typeface="Verdana" pitchFamily="34" charset="0"/>
                <a:cs typeface="Verdana" pitchFamily="34" charset="0"/>
              </a:rPr>
              <a:t>Status Bar</a:t>
            </a:r>
            <a:endParaRPr lang="en-US" sz="1700" b="1" dirty="0">
              <a:solidFill>
                <a:srgbClr val="000000"/>
              </a:solidFill>
              <a:latin typeface="Verdana" pitchFamily="34" charset="0"/>
              <a:ea typeface="Verdana" pitchFamily="34" charset="0"/>
              <a:cs typeface="Verdana" pitchFamily="34" charset="0"/>
            </a:endParaRPr>
          </a:p>
        </p:txBody>
      </p:sp>
      <p:cxnSp>
        <p:nvCxnSpPr>
          <p:cNvPr id="23" name="Straight Arrow Connector 22"/>
          <p:cNvCxnSpPr/>
          <p:nvPr/>
        </p:nvCxnSpPr>
        <p:spPr bwMode="auto">
          <a:xfrm>
            <a:off x="1600200" y="6172200"/>
            <a:ext cx="1219200" cy="0"/>
          </a:xfrm>
          <a:prstGeom prst="straightConnector1">
            <a:avLst/>
          </a:prstGeom>
          <a:solidFill>
            <a:schemeClr val="accent1"/>
          </a:solidFill>
          <a:ln w="28575" cap="flat" cmpd="sng" algn="ctr">
            <a:solidFill>
              <a:srgbClr val="000000"/>
            </a:solidFill>
            <a:prstDash val="solid"/>
            <a:round/>
            <a:headEnd type="none" w="med" len="med"/>
            <a:tailEnd type="arrow"/>
          </a:ln>
          <a:effectLst/>
        </p:spPr>
      </p:cxnSp>
      <p:sp>
        <p:nvSpPr>
          <p:cNvPr id="24" name="Left Brace 23"/>
          <p:cNvSpPr/>
          <p:nvPr/>
        </p:nvSpPr>
        <p:spPr bwMode="auto">
          <a:xfrm>
            <a:off x="1981200" y="2895599"/>
            <a:ext cx="914400" cy="2971801"/>
          </a:xfrm>
          <a:prstGeom prst="leftBrace">
            <a:avLst>
              <a:gd name="adj1" fmla="val 8333"/>
              <a:gd name="adj2" fmla="val 49541"/>
            </a:avLst>
          </a:prstGeom>
          <a:no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9"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11</a:t>
            </a:fld>
            <a:endParaRPr lang="en-US" sz="1400" dirty="0">
              <a:solidFill>
                <a:schemeClr val="bg2"/>
              </a:solidFill>
            </a:endParaRPr>
          </a:p>
        </p:txBody>
      </p:sp>
    </p:spTree>
    <p:extLst>
      <p:ext uri="{BB962C8B-B14F-4D97-AF65-F5344CB8AC3E}">
        <p14:creationId xmlns:p14="http://schemas.microsoft.com/office/powerpoint/2010/main" val="33414952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Codes</a:t>
            </a:r>
            <a:endParaRPr lang="en-US" dirty="0"/>
          </a:p>
        </p:txBody>
      </p:sp>
      <p:sp>
        <p:nvSpPr>
          <p:cNvPr id="3" name="Content Placeholder 2"/>
          <p:cNvSpPr>
            <a:spLocks noGrp="1"/>
          </p:cNvSpPr>
          <p:nvPr>
            <p:ph idx="1"/>
          </p:nvPr>
        </p:nvSpPr>
        <p:spPr/>
        <p:txBody>
          <a:bodyPr/>
          <a:lstStyle/>
          <a:p>
            <a:r>
              <a:rPr lang="en-US" dirty="0"/>
              <a:t>Each function in SAP ECC has a transaction code associated with it. Transaction codes are not displayed in the default view on the SAP Easy Access Menu, but you can enable this functionality.</a:t>
            </a:r>
          </a:p>
        </p:txBody>
      </p:sp>
      <p:pic>
        <p:nvPicPr>
          <p:cNvPr id="5" name="Picture 4" descr="snap"/>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75101" b="43224"/>
          <a:stretch/>
        </p:blipFill>
        <p:spPr bwMode="auto">
          <a:xfrm>
            <a:off x="5181600" y="2113003"/>
            <a:ext cx="2743200" cy="4592597"/>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12700">
                <a:solidFill>
                  <a:srgbClr val="000000"/>
                </a:solidFill>
                <a:miter lim="800000"/>
                <a:headEnd/>
                <a:tailEnd/>
              </a14:hiddenLine>
            </a:ext>
          </a:extLst>
        </p:spPr>
      </p:pic>
      <p:sp>
        <p:nvSpPr>
          <p:cNvPr id="6" name="Rectangular Callout 5"/>
          <p:cNvSpPr/>
          <p:nvPr/>
        </p:nvSpPr>
        <p:spPr bwMode="auto">
          <a:xfrm>
            <a:off x="457200" y="4648200"/>
            <a:ext cx="4419600" cy="1828800"/>
          </a:xfrm>
          <a:prstGeom prst="wedgeRectCallout">
            <a:avLst>
              <a:gd name="adj1" fmla="val 77973"/>
              <a:gd name="adj2" fmla="val 23309"/>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marL="285750" indent="-285750" defTabSz="954088">
              <a:spcAft>
                <a:spcPts val="600"/>
              </a:spcAft>
              <a:buClr>
                <a:srgbClr val="004B91"/>
              </a:buClr>
              <a:buFont typeface="Arial" pitchFamily="34" charset="0"/>
              <a:buChar char="•"/>
            </a:pPr>
            <a:r>
              <a:rPr lang="en-US" dirty="0">
                <a:solidFill>
                  <a:srgbClr val="000000"/>
                </a:solidFill>
                <a:latin typeface="Arial" pitchFamily="34" charset="0"/>
                <a:ea typeface="Verdana" pitchFamily="34" charset="0"/>
                <a:cs typeface="Arial" pitchFamily="34" charset="0"/>
              </a:rPr>
              <a:t>The Navigation Area is made up of folders and sub-folders.</a:t>
            </a:r>
          </a:p>
          <a:p>
            <a:pPr marL="285750" indent="-285750" defTabSz="954088">
              <a:spcAft>
                <a:spcPts val="600"/>
              </a:spcAft>
              <a:buClr>
                <a:srgbClr val="004B91"/>
              </a:buClr>
              <a:buFont typeface="Arial" pitchFamily="34" charset="0"/>
              <a:buChar char="•"/>
            </a:pPr>
            <a:r>
              <a:rPr lang="en-US" dirty="0">
                <a:solidFill>
                  <a:srgbClr val="000000"/>
                </a:solidFill>
                <a:latin typeface="Arial" pitchFamily="34" charset="0"/>
                <a:ea typeface="Verdana" pitchFamily="34" charset="0"/>
                <a:cs typeface="Arial" pitchFamily="34" charset="0"/>
              </a:rPr>
              <a:t>Click triangles to expand and collapse the menu tree to find the desired transaction.</a:t>
            </a:r>
          </a:p>
        </p:txBody>
      </p:sp>
      <p:sp>
        <p:nvSpPr>
          <p:cNvPr id="7" name="Rectangle 6"/>
          <p:cNvSpPr/>
          <p:nvPr/>
        </p:nvSpPr>
        <p:spPr bwMode="auto">
          <a:xfrm>
            <a:off x="6172200" y="5562600"/>
            <a:ext cx="1752600" cy="9144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8" name="Slide Number Placeholder 3"/>
          <p:cNvSpPr>
            <a:spLocks noGrp="1"/>
          </p:cNvSpPr>
          <p:nvPr>
            <p:ph type="sldNum" sz="quarter" idx="10"/>
          </p:nvPr>
        </p:nvSpPr>
        <p:spPr>
          <a:xfrm>
            <a:off x="304800" y="6305550"/>
            <a:ext cx="2286000" cy="476250"/>
          </a:xfrm>
        </p:spPr>
        <p:txBody>
          <a:bodyPr/>
          <a:lstStyle/>
          <a:p>
            <a:endParaRPr lang="en-US" dirty="0" smtClean="0"/>
          </a:p>
          <a:p>
            <a:fld id="{C0ABF30F-1156-4F41-8469-8F121BB9144A}" type="slidenum">
              <a:rPr lang="en-US" sz="1400" smtClean="0">
                <a:solidFill>
                  <a:schemeClr val="bg2"/>
                </a:solidFill>
              </a:rPr>
              <a:pPr/>
              <a:t>12</a:t>
            </a:fld>
            <a:endParaRPr lang="en-US" sz="1400" dirty="0">
              <a:solidFill>
                <a:schemeClr val="bg2"/>
              </a:solidFill>
            </a:endParaRPr>
          </a:p>
        </p:txBody>
      </p:sp>
    </p:spTree>
    <p:extLst>
      <p:ext uri="{BB962C8B-B14F-4D97-AF65-F5344CB8AC3E}">
        <p14:creationId xmlns:p14="http://schemas.microsoft.com/office/powerpoint/2010/main" val="1920861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t>Scenario:</a:t>
            </a:r>
          </a:p>
          <a:p>
            <a:r>
              <a:rPr lang="en-US" dirty="0" smtClean="0"/>
              <a:t>Navigate between the SAP User Menu and the SAP Standard Menu, open and close menu folders, display transaction codes.</a:t>
            </a:r>
            <a:endParaRPr lang="en-US" dirty="0">
              <a:solidFill>
                <a:srgbClr val="FF0000"/>
              </a:solidFill>
            </a:endParaRP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smtClean="0"/>
              <a:t>Exercise: 1.1 Log on to SAP and Navigate the </a:t>
            </a:r>
          </a:p>
          <a:p>
            <a:pPr defTabSz="1023938"/>
            <a:r>
              <a:rPr lang="en-US" b="1" dirty="0"/>
              <a:t>	 </a:t>
            </a:r>
            <a:r>
              <a:rPr lang="en-US" b="1" dirty="0" smtClean="0"/>
              <a:t>         SAP Easy Access Menu</a:t>
            </a:r>
            <a:endParaRPr lang="en-US" b="1" dirty="0"/>
          </a:p>
        </p:txBody>
      </p:sp>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13</a:t>
            </a:fld>
            <a:endParaRPr lang="en-US" sz="1400" dirty="0">
              <a:solidFill>
                <a:schemeClr val="bg2"/>
              </a:solidFill>
            </a:endParaRPr>
          </a:p>
        </p:txBody>
      </p:sp>
    </p:spTree>
    <p:extLst>
      <p:ext uri="{BB962C8B-B14F-4D97-AF65-F5344CB8AC3E}">
        <p14:creationId xmlns:p14="http://schemas.microsoft.com/office/powerpoint/2010/main" val="35376132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Tx/>
              <a:buFont typeface="+mj-lt"/>
              <a:buAutoNum type="arabicPeriod"/>
            </a:pPr>
            <a:r>
              <a:rPr lang="en-US" dirty="0" smtClean="0"/>
              <a:t>Name the two menus that will always display on the Menu Toolbar, regardless of the transaction you are in.</a:t>
            </a:r>
            <a:br>
              <a:rPr lang="en-US" dirty="0" smtClean="0"/>
            </a:br>
            <a:endParaRPr lang="en-US" dirty="0" smtClean="0"/>
          </a:p>
          <a:p>
            <a:pPr marL="457200" indent="-457200">
              <a:buClrTx/>
              <a:buFont typeface="+mj-lt"/>
              <a:buAutoNum type="arabicPeriod"/>
            </a:pPr>
            <a:r>
              <a:rPr lang="en-US" dirty="0" smtClean="0"/>
              <a:t>Explain the difference between the SAP Standard Menu and the SAP User Menu.</a:t>
            </a:r>
            <a:br>
              <a:rPr lang="en-US" dirty="0" smtClean="0"/>
            </a:br>
            <a:endParaRPr lang="en-US" dirty="0"/>
          </a:p>
          <a:p>
            <a:endParaRPr lang="en-US" dirty="0"/>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708605"/>
            <a:ext cx="3167650" cy="2768395"/>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14</a:t>
            </a:fld>
            <a:endParaRPr lang="en-US" sz="1400" dirty="0">
              <a:solidFill>
                <a:schemeClr val="bg2"/>
              </a:solidFill>
            </a:endParaRPr>
          </a:p>
        </p:txBody>
      </p:sp>
    </p:spTree>
    <p:extLst>
      <p:ext uri="{BB962C8B-B14F-4D97-AF65-F5344CB8AC3E}">
        <p14:creationId xmlns:p14="http://schemas.microsoft.com/office/powerpoint/2010/main" val="3452986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and EAM Process overview</a:t>
            </a:r>
            <a:endParaRPr lang="en-US" dirty="0"/>
          </a:p>
        </p:txBody>
      </p:sp>
      <p:sp>
        <p:nvSpPr>
          <p:cNvPr id="3" name="Text Placeholder 2"/>
          <p:cNvSpPr>
            <a:spLocks noGrp="1"/>
          </p:cNvSpPr>
          <p:nvPr>
            <p:ph type="body" idx="1"/>
          </p:nvPr>
        </p:nvSpPr>
        <p:spPr/>
        <p:txBody>
          <a:bodyPr/>
          <a:lstStyle/>
          <a:p>
            <a:r>
              <a:rPr lang="en-US" dirty="0" smtClean="0"/>
              <a:t>Module 2</a:t>
            </a:r>
            <a:endParaRPr lang="en-US" dirty="0"/>
          </a:p>
        </p:txBody>
      </p:sp>
      <p:sp>
        <p:nvSpPr>
          <p:cNvPr id="4" name="Slide Number Placeholder 3"/>
          <p:cNvSpPr>
            <a:spLocks noGrp="1"/>
          </p:cNvSpPr>
          <p:nvPr>
            <p:ph type="sldNum" sz="quarter" idx="4294967295"/>
          </p:nvPr>
        </p:nvSpPr>
        <p:spPr>
          <a:xfrm>
            <a:off x="0" y="6248400"/>
            <a:ext cx="2286000" cy="476250"/>
          </a:xfrm>
        </p:spPr>
        <p:txBody>
          <a:bodyPr/>
          <a:lstStyle/>
          <a:p>
            <a:fld id="{0AE39237-E31F-4BB3-A699-E1DE56857160}" type="slidenum">
              <a:rPr lang="en-US"/>
              <a:pPr/>
              <a:t>15</a:t>
            </a:fld>
            <a:endParaRPr lang="en-US" dirty="0"/>
          </a:p>
        </p:txBody>
      </p:sp>
    </p:spTree>
    <p:extLst>
      <p:ext uri="{BB962C8B-B14F-4D97-AF65-F5344CB8AC3E}">
        <p14:creationId xmlns:p14="http://schemas.microsoft.com/office/powerpoint/2010/main" val="11344525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3" name="Content Placeholder 2"/>
          <p:cNvSpPr>
            <a:spLocks noGrp="1"/>
          </p:cNvSpPr>
          <p:nvPr>
            <p:ph idx="1"/>
          </p:nvPr>
        </p:nvSpPr>
        <p:spPr/>
        <p:txBody>
          <a:bodyPr/>
          <a:lstStyle/>
          <a:p>
            <a:r>
              <a:rPr lang="en-US" dirty="0" smtClean="0"/>
              <a:t>Upon completion of this module, you should be able to:</a:t>
            </a:r>
          </a:p>
          <a:p>
            <a:endParaRPr lang="en-US" dirty="0" smtClean="0"/>
          </a:p>
          <a:p>
            <a:pPr marL="342900" indent="-342900">
              <a:buFont typeface="Arial" pitchFamily="34" charset="0"/>
              <a:buChar char="•"/>
            </a:pPr>
            <a:r>
              <a:rPr lang="en-US" smtClean="0"/>
              <a:t>Provide an overview of the EAM process in SAP</a:t>
            </a:r>
          </a:p>
          <a:p>
            <a:pPr marL="342900" indent="-342900">
              <a:buFont typeface="Arial" pitchFamily="34" charset="0"/>
              <a:buChar char="•"/>
            </a:pPr>
            <a:r>
              <a:rPr lang="en-US" smtClean="0"/>
              <a:t>Provide an overview of the work order process flow in SAP</a:t>
            </a:r>
            <a:endParaRPr lang="en-US" dirty="0" smtClean="0"/>
          </a:p>
        </p:txBody>
      </p:sp>
      <p:pic>
        <p:nvPicPr>
          <p:cNvPr id="4" name="Picture 2" descr="C:\Users\namudaliar\Documents\Narayanan\Ball Corp\Images\shutterstock_54581515.jpg"/>
          <p:cNvPicPr>
            <a:picLocks noChangeAspect="1" noChangeArrowheads="1"/>
          </p:cNvPicPr>
          <p:nvPr/>
        </p:nvPicPr>
        <p:blipFill>
          <a:blip r:embed="rId2" cstate="print"/>
          <a:srcRect/>
          <a:stretch>
            <a:fillRect/>
          </a:stretch>
        </p:blipFill>
        <p:spPr bwMode="auto">
          <a:xfrm>
            <a:off x="6629400" y="3530600"/>
            <a:ext cx="2438400" cy="3251200"/>
          </a:xfrm>
          <a:prstGeom prst="rect">
            <a:avLst/>
          </a:prstGeom>
          <a:noFill/>
        </p:spPr>
      </p:pic>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16</a:t>
            </a:fld>
            <a:endParaRPr lang="en-US" sz="1400" dirty="0">
              <a:solidFill>
                <a:schemeClr val="bg2"/>
              </a:solidFill>
            </a:endParaRPr>
          </a:p>
        </p:txBody>
      </p:sp>
    </p:spTree>
    <p:extLst>
      <p:ext uri="{BB962C8B-B14F-4D97-AF65-F5344CB8AC3E}">
        <p14:creationId xmlns:p14="http://schemas.microsoft.com/office/powerpoint/2010/main" val="4023841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EAM Process Flow</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24717759"/>
              </p:ext>
            </p:extLst>
          </p:nvPr>
        </p:nvGraphicFramePr>
        <p:xfrm>
          <a:off x="1901825" y="2667001"/>
          <a:ext cx="6403975" cy="1828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3" name="Straight Arrow Connector 12"/>
          <p:cNvCxnSpPr>
            <a:stCxn id="19" idx="0"/>
          </p:cNvCxnSpPr>
          <p:nvPr/>
        </p:nvCxnSpPr>
        <p:spPr bwMode="auto">
          <a:xfrm flipV="1">
            <a:off x="2743200" y="3962400"/>
            <a:ext cx="914400" cy="6858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19" name="TextBox 18"/>
          <p:cNvSpPr txBox="1"/>
          <p:nvPr/>
        </p:nvSpPr>
        <p:spPr>
          <a:xfrm>
            <a:off x="2286000" y="4648200"/>
            <a:ext cx="914400" cy="369332"/>
          </a:xfrm>
          <a:prstGeom prst="rect">
            <a:avLst/>
          </a:prstGeom>
          <a:noFill/>
          <a:ln>
            <a:solidFill>
              <a:srgbClr val="000000"/>
            </a:solidFill>
          </a:ln>
        </p:spPr>
        <p:txBody>
          <a:bodyPr wrap="square" rtlCol="0">
            <a:spAutoFit/>
          </a:bodyPr>
          <a:lstStyle/>
          <a:p>
            <a:r>
              <a:rPr lang="en-US" dirty="0" smtClean="0">
                <a:solidFill>
                  <a:srgbClr val="000000"/>
                </a:solidFill>
              </a:rPr>
              <a:t>Labor</a:t>
            </a:r>
            <a:endParaRPr lang="en-US" dirty="0">
              <a:solidFill>
                <a:srgbClr val="000000"/>
              </a:solidFill>
            </a:endParaRPr>
          </a:p>
        </p:txBody>
      </p:sp>
      <p:sp>
        <p:nvSpPr>
          <p:cNvPr id="20" name="TextBox 19"/>
          <p:cNvSpPr txBox="1"/>
          <p:nvPr/>
        </p:nvSpPr>
        <p:spPr>
          <a:xfrm>
            <a:off x="3429000" y="4659868"/>
            <a:ext cx="1524000" cy="923330"/>
          </a:xfrm>
          <a:prstGeom prst="rect">
            <a:avLst/>
          </a:prstGeom>
          <a:noFill/>
          <a:ln>
            <a:solidFill>
              <a:srgbClr val="000000"/>
            </a:solidFill>
          </a:ln>
        </p:spPr>
        <p:txBody>
          <a:bodyPr wrap="square" rtlCol="0">
            <a:spAutoFit/>
          </a:bodyPr>
          <a:lstStyle/>
          <a:p>
            <a:r>
              <a:rPr lang="en-US" dirty="0" smtClean="0">
                <a:solidFill>
                  <a:srgbClr val="000000"/>
                </a:solidFill>
              </a:rPr>
              <a:t>Preventive Maintenance Work Order</a:t>
            </a:r>
            <a:endParaRPr lang="en-US" dirty="0">
              <a:solidFill>
                <a:srgbClr val="000000"/>
              </a:solidFill>
            </a:endParaRPr>
          </a:p>
        </p:txBody>
      </p:sp>
      <p:cxnSp>
        <p:nvCxnSpPr>
          <p:cNvPr id="21" name="Straight Arrow Connector 20"/>
          <p:cNvCxnSpPr>
            <a:stCxn id="20" idx="0"/>
          </p:cNvCxnSpPr>
          <p:nvPr/>
        </p:nvCxnSpPr>
        <p:spPr bwMode="auto">
          <a:xfrm flipV="1">
            <a:off x="41910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24" name="Straight Arrow Connector 23"/>
          <p:cNvCxnSpPr>
            <a:stCxn id="28" idx="2"/>
          </p:cNvCxnSpPr>
          <p:nvPr/>
        </p:nvCxnSpPr>
        <p:spPr bwMode="auto">
          <a:xfrm>
            <a:off x="2552700" y="2590800"/>
            <a:ext cx="1104900" cy="6096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28" name="TextBox 27"/>
          <p:cNvSpPr txBox="1"/>
          <p:nvPr/>
        </p:nvSpPr>
        <p:spPr>
          <a:xfrm>
            <a:off x="1828800" y="1944469"/>
            <a:ext cx="1447800" cy="646331"/>
          </a:xfrm>
          <a:prstGeom prst="rect">
            <a:avLst/>
          </a:prstGeom>
          <a:noFill/>
          <a:ln>
            <a:solidFill>
              <a:srgbClr val="000000"/>
            </a:solidFill>
          </a:ln>
        </p:spPr>
        <p:txBody>
          <a:bodyPr wrap="square" rtlCol="0">
            <a:spAutoFit/>
          </a:bodyPr>
          <a:lstStyle/>
          <a:p>
            <a:r>
              <a:rPr lang="en-US" dirty="0" smtClean="0">
                <a:solidFill>
                  <a:srgbClr val="000000"/>
                </a:solidFill>
              </a:rPr>
              <a:t>Pre-Defined Work Steps</a:t>
            </a:r>
            <a:endParaRPr lang="en-US" dirty="0">
              <a:solidFill>
                <a:srgbClr val="000000"/>
              </a:solidFill>
            </a:endParaRPr>
          </a:p>
        </p:txBody>
      </p:sp>
      <p:sp>
        <p:nvSpPr>
          <p:cNvPr id="30" name="TextBox 29"/>
          <p:cNvSpPr txBox="1"/>
          <p:nvPr/>
        </p:nvSpPr>
        <p:spPr>
          <a:xfrm>
            <a:off x="3657600" y="1676400"/>
            <a:ext cx="1143000" cy="646331"/>
          </a:xfrm>
          <a:prstGeom prst="rect">
            <a:avLst/>
          </a:prstGeom>
          <a:noFill/>
          <a:ln>
            <a:solidFill>
              <a:srgbClr val="000000"/>
            </a:solidFill>
          </a:ln>
        </p:spPr>
        <p:txBody>
          <a:bodyPr wrap="square" rtlCol="0">
            <a:spAutoFit/>
          </a:bodyPr>
          <a:lstStyle/>
          <a:p>
            <a:r>
              <a:rPr lang="en-US" dirty="0" smtClean="0">
                <a:solidFill>
                  <a:srgbClr val="000000"/>
                </a:solidFill>
              </a:rPr>
              <a:t>Parts/ Supplies</a:t>
            </a:r>
            <a:endParaRPr lang="en-US" dirty="0">
              <a:solidFill>
                <a:srgbClr val="000000"/>
              </a:solidFill>
            </a:endParaRPr>
          </a:p>
        </p:txBody>
      </p:sp>
      <p:cxnSp>
        <p:nvCxnSpPr>
          <p:cNvPr id="31" name="Straight Arrow Connector 30"/>
          <p:cNvCxnSpPr/>
          <p:nvPr/>
        </p:nvCxnSpPr>
        <p:spPr bwMode="auto">
          <a:xfrm>
            <a:off x="4191000" y="2324100"/>
            <a:ext cx="0" cy="8763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33" name="Straight Arrow Connector 32"/>
          <p:cNvCxnSpPr>
            <a:stCxn id="37" idx="2"/>
          </p:cNvCxnSpPr>
          <p:nvPr/>
        </p:nvCxnSpPr>
        <p:spPr bwMode="auto">
          <a:xfrm flipH="1">
            <a:off x="4724400" y="2475131"/>
            <a:ext cx="1009650" cy="725269"/>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37" name="TextBox 36"/>
          <p:cNvSpPr txBox="1"/>
          <p:nvPr/>
        </p:nvSpPr>
        <p:spPr>
          <a:xfrm>
            <a:off x="5067300" y="1828800"/>
            <a:ext cx="1333500" cy="646331"/>
          </a:xfrm>
          <a:prstGeom prst="rect">
            <a:avLst/>
          </a:prstGeom>
          <a:noFill/>
          <a:ln>
            <a:solidFill>
              <a:srgbClr val="000000"/>
            </a:solidFill>
          </a:ln>
        </p:spPr>
        <p:txBody>
          <a:bodyPr wrap="square" rtlCol="0">
            <a:spAutoFit/>
          </a:bodyPr>
          <a:lstStyle/>
          <a:p>
            <a:r>
              <a:rPr lang="en-US" dirty="0" smtClean="0">
                <a:solidFill>
                  <a:srgbClr val="000000"/>
                </a:solidFill>
              </a:rPr>
              <a:t>External Services</a:t>
            </a:r>
            <a:endParaRPr lang="en-US" dirty="0">
              <a:solidFill>
                <a:srgbClr val="000000"/>
              </a:solidFill>
            </a:endParaRPr>
          </a:p>
        </p:txBody>
      </p:sp>
      <p:sp>
        <p:nvSpPr>
          <p:cNvPr id="38" name="TextBox 37"/>
          <p:cNvSpPr txBox="1"/>
          <p:nvPr/>
        </p:nvSpPr>
        <p:spPr>
          <a:xfrm>
            <a:off x="5067300" y="4659868"/>
            <a:ext cx="1562100" cy="646331"/>
          </a:xfrm>
          <a:prstGeom prst="rect">
            <a:avLst/>
          </a:prstGeom>
          <a:noFill/>
          <a:ln>
            <a:solidFill>
              <a:srgbClr val="000000"/>
            </a:solidFill>
          </a:ln>
        </p:spPr>
        <p:txBody>
          <a:bodyPr wrap="square" rtlCol="0">
            <a:spAutoFit/>
          </a:bodyPr>
          <a:lstStyle/>
          <a:p>
            <a:r>
              <a:rPr lang="en-US" dirty="0" smtClean="0">
                <a:solidFill>
                  <a:srgbClr val="000000"/>
                </a:solidFill>
              </a:rPr>
              <a:t>Material Requisitions</a:t>
            </a:r>
            <a:endParaRPr lang="en-US" dirty="0">
              <a:solidFill>
                <a:srgbClr val="000000"/>
              </a:solidFill>
            </a:endParaRPr>
          </a:p>
        </p:txBody>
      </p:sp>
      <p:cxnSp>
        <p:nvCxnSpPr>
          <p:cNvPr id="39" name="Straight Arrow Connector 38"/>
          <p:cNvCxnSpPr>
            <a:stCxn id="38" idx="0"/>
          </p:cNvCxnSpPr>
          <p:nvPr/>
        </p:nvCxnSpPr>
        <p:spPr bwMode="auto">
          <a:xfrm flipH="1" flipV="1">
            <a:off x="4724400" y="3962400"/>
            <a:ext cx="112395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41" name="Straight Arrow Connector 40"/>
          <p:cNvCxnSpPr/>
          <p:nvPr/>
        </p:nvCxnSpPr>
        <p:spPr bwMode="auto">
          <a:xfrm flipV="1">
            <a:off x="74676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42" name="TextBox 41"/>
          <p:cNvSpPr txBox="1"/>
          <p:nvPr/>
        </p:nvSpPr>
        <p:spPr>
          <a:xfrm>
            <a:off x="6858000" y="4648200"/>
            <a:ext cx="1295400" cy="369332"/>
          </a:xfrm>
          <a:prstGeom prst="rect">
            <a:avLst/>
          </a:prstGeom>
          <a:noFill/>
          <a:ln>
            <a:solidFill>
              <a:srgbClr val="000000"/>
            </a:solidFill>
          </a:ln>
        </p:spPr>
        <p:txBody>
          <a:bodyPr wrap="square" rtlCol="0">
            <a:spAutoFit/>
          </a:bodyPr>
          <a:lstStyle/>
          <a:p>
            <a:r>
              <a:rPr lang="en-US" dirty="0" smtClean="0">
                <a:solidFill>
                  <a:srgbClr val="000000"/>
                </a:solidFill>
              </a:rPr>
              <a:t>Reporting</a:t>
            </a:r>
            <a:endParaRPr lang="en-US" dirty="0">
              <a:solidFill>
                <a:srgbClr val="000000"/>
              </a:solidFill>
            </a:endParaRPr>
          </a:p>
        </p:txBody>
      </p:sp>
      <p:sp>
        <p:nvSpPr>
          <p:cNvPr id="23"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17</a:t>
            </a:fld>
            <a:endParaRPr lang="en-US" sz="1400" dirty="0">
              <a:solidFill>
                <a:schemeClr val="bg2"/>
              </a:solidFill>
            </a:endParaRPr>
          </a:p>
        </p:txBody>
      </p:sp>
      <p:graphicFrame>
        <p:nvGraphicFramePr>
          <p:cNvPr id="27" name="Diagram 26"/>
          <p:cNvGraphicFramePr/>
          <p:nvPr>
            <p:extLst>
              <p:ext uri="{D42A27DB-BD31-4B8C-83A1-F6EECF244321}">
                <p14:modId xmlns:p14="http://schemas.microsoft.com/office/powerpoint/2010/main" val="525015170"/>
              </p:ext>
            </p:extLst>
          </p:nvPr>
        </p:nvGraphicFramePr>
        <p:xfrm>
          <a:off x="152400" y="1651000"/>
          <a:ext cx="9906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Right Brace 2"/>
          <p:cNvSpPr/>
          <p:nvPr/>
        </p:nvSpPr>
        <p:spPr bwMode="auto">
          <a:xfrm>
            <a:off x="1143000" y="1655802"/>
            <a:ext cx="685800" cy="4059198"/>
          </a:xfrm>
          <a:prstGeom prst="rightBrace">
            <a:avLst>
              <a:gd name="adj1" fmla="val 8333"/>
              <a:gd name="adj2" fmla="val 50404"/>
            </a:avLst>
          </a:prstGeom>
          <a:noFill/>
          <a:ln w="444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3554423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Work Order Process Flow</a:t>
            </a:r>
            <a:endParaRPr lang="en-US" dirty="0"/>
          </a:p>
        </p:txBody>
      </p:sp>
      <p:sp>
        <p:nvSpPr>
          <p:cNvPr id="3" name="Content Placeholder 2"/>
          <p:cNvSpPr>
            <a:spLocks noGrp="1"/>
          </p:cNvSpPr>
          <p:nvPr>
            <p:ph idx="1"/>
          </p:nvPr>
        </p:nvSpPr>
        <p:spPr>
          <a:xfrm>
            <a:off x="301625" y="1143000"/>
            <a:ext cx="8689975" cy="4983163"/>
          </a:xfrm>
          <a:ln>
            <a:noFill/>
          </a:ln>
        </p:spPr>
        <p:txBody>
          <a:bodyPr numCol="1"/>
          <a:lstStyle/>
          <a:p>
            <a:r>
              <a:rPr lang="en-US" dirty="0" smtClean="0"/>
              <a:t>Event              Processed Thru            Output             Completed</a:t>
            </a:r>
            <a:endParaRPr lang="en-US" dirty="0"/>
          </a:p>
          <a:p>
            <a:r>
              <a:rPr lang="en-US" dirty="0" smtClean="0"/>
              <a:t>								  																	         																													</a:t>
            </a:r>
            <a:r>
              <a:rPr lang="en-US" dirty="0"/>
              <a:t>	</a:t>
            </a:r>
            <a:r>
              <a:rPr lang="en-US" dirty="0" smtClean="0"/>
              <a:t>                Planner																	          OR																													</a:t>
            </a:r>
            <a:r>
              <a:rPr lang="en-US" dirty="0"/>
              <a:t> </a:t>
            </a:r>
            <a:r>
              <a:rPr lang="en-US" dirty="0" smtClean="0"/>
              <a:t>     Work              </a:t>
            </a:r>
            <a:r>
              <a:rPr lang="en-US" dirty="0" err="1" smtClean="0"/>
              <a:t>Work</a:t>
            </a:r>
            <a:r>
              <a:rPr lang="en-US" dirty="0" smtClean="0"/>
              <a:t> Order					      Order                  Closed</a:t>
            </a:r>
            <a:endParaRPr lang="en-US" dirty="0"/>
          </a:p>
        </p:txBody>
      </p:sp>
      <p:graphicFrame>
        <p:nvGraphicFramePr>
          <p:cNvPr id="5" name="Diagram 4"/>
          <p:cNvGraphicFramePr/>
          <p:nvPr>
            <p:extLst>
              <p:ext uri="{D42A27DB-BD31-4B8C-83A1-F6EECF244321}">
                <p14:modId xmlns:p14="http://schemas.microsoft.com/office/powerpoint/2010/main" val="2697163615"/>
              </p:ext>
            </p:extLst>
          </p:nvPr>
        </p:nvGraphicFramePr>
        <p:xfrm>
          <a:off x="76200" y="1651000"/>
          <a:ext cx="9906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Content Placeholder 5"/>
          <p:cNvPicPr>
            <a:picLocks noGrp="1"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28800" y="1600200"/>
            <a:ext cx="2865094" cy="2045988"/>
          </a:xfrm>
          <a:prstGeom prst="rect">
            <a:avLst/>
          </a:prstGeom>
        </p:spPr>
      </p:pic>
      <p:sp>
        <p:nvSpPr>
          <p:cNvPr id="10" name="AutoShape 86"/>
          <p:cNvSpPr>
            <a:spLocks noChangeArrowheads="1"/>
          </p:cNvSpPr>
          <p:nvPr/>
        </p:nvSpPr>
        <p:spPr bwMode="auto">
          <a:xfrm>
            <a:off x="2514600" y="4491038"/>
            <a:ext cx="1397000" cy="1604962"/>
          </a:xfrm>
          <a:prstGeom prst="can">
            <a:avLst>
              <a:gd name="adj" fmla="val 28722"/>
            </a:avLst>
          </a:prstGeom>
          <a:gradFill rotWithShape="0">
            <a:gsLst>
              <a:gs pos="0">
                <a:srgbClr val="FFFFCC">
                  <a:gamma/>
                  <a:shade val="66275"/>
                  <a:invGamma/>
                </a:srgbClr>
              </a:gs>
              <a:gs pos="100000">
                <a:srgbClr val="FFFFCC"/>
              </a:gs>
            </a:gsLst>
            <a:lin ang="18900000" scaled="1"/>
          </a:gradFill>
          <a:ln w="28575">
            <a:solidFill>
              <a:schemeClr val="accent5">
                <a:lumMod val="50000"/>
              </a:schemeClr>
            </a:solidFill>
            <a:round/>
            <a:headEnd/>
            <a:tailEnd/>
          </a:ln>
          <a:effectLst>
            <a:outerShdw dist="35921" dir="2700000" algn="ctr" rotWithShape="0">
              <a:schemeClr val="bg2"/>
            </a:outerShdw>
          </a:effectLst>
        </p:spPr>
        <p:txBody>
          <a:bodyPr wrap="square" anchor="ctr"/>
          <a:lstStyle/>
          <a:p>
            <a:pPr algn="ctr"/>
            <a:r>
              <a:rPr lang="en-US" sz="1600" b="1" dirty="0" smtClean="0">
                <a:solidFill>
                  <a:schemeClr val="accent4">
                    <a:lumMod val="10000"/>
                  </a:schemeClr>
                </a:solidFill>
                <a:cs typeface="Arial" charset="0"/>
              </a:rPr>
              <a:t>SAP Automatic           Work Order creation </a:t>
            </a:r>
          </a:p>
        </p:txBody>
      </p:sp>
      <p:sp>
        <p:nvSpPr>
          <p:cNvPr id="11" name="Notched Right Arrow 10"/>
          <p:cNvSpPr/>
          <p:nvPr/>
        </p:nvSpPr>
        <p:spPr bwMode="auto">
          <a:xfrm>
            <a:off x="1066800" y="2895600"/>
            <a:ext cx="1676400" cy="1595438"/>
          </a:xfrm>
          <a:prstGeom prst="notch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 </a:t>
            </a:r>
            <a:endParaRPr kumimoji="0" lang="en-US" sz="1400" b="0" i="0" u="none" strike="noStrike" cap="none" normalizeH="0" baseline="0" dirty="0" smtClean="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effectLst/>
                <a:latin typeface="Arial" charset="0"/>
              </a:rPr>
              <a:t>Notification</a:t>
            </a:r>
          </a:p>
        </p:txBody>
      </p:sp>
      <p:sp>
        <p:nvSpPr>
          <p:cNvPr id="12" name="Notched Right Arrow 11"/>
          <p:cNvSpPr/>
          <p:nvPr/>
        </p:nvSpPr>
        <p:spPr bwMode="auto">
          <a:xfrm>
            <a:off x="3657600" y="2971800"/>
            <a:ext cx="1676400" cy="1519238"/>
          </a:xfrm>
          <a:prstGeom prst="notch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 </a:t>
            </a:r>
          </a:p>
          <a:p>
            <a:pPr marL="0" marR="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effectLst/>
                <a:latin typeface="Arial" charset="0"/>
              </a:rPr>
              <a:t>Processed</a:t>
            </a:r>
          </a:p>
        </p:txBody>
      </p:sp>
      <p:pic>
        <p:nvPicPr>
          <p:cNvPr id="1027" name="Picture 3" descr="C:\Users\eugene deloatch\AppData\Local\Microsoft\Windows\Temporary Internet Files\Content.IE5\73GTI6CI\MC900323091[1].wmf"/>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29200" y="2971800"/>
            <a:ext cx="1219199" cy="1735247"/>
          </a:xfrm>
          <a:prstGeom prst="rect">
            <a:avLst/>
          </a:prstGeom>
          <a:noFill/>
          <a:extLst>
            <a:ext uri="{909E8E84-426E-40DD-AFC4-6F175D3DCCD1}">
              <a14:hiddenFill xmlns:a14="http://schemas.microsoft.com/office/drawing/2010/main">
                <a:solidFill>
                  <a:srgbClr val="FFFFFF"/>
                </a:solidFill>
              </a14:hiddenFill>
            </a:ext>
          </a:extLst>
        </p:spPr>
      </p:pic>
      <p:sp>
        <p:nvSpPr>
          <p:cNvPr id="13" name="Notched Right Arrow 12"/>
          <p:cNvSpPr/>
          <p:nvPr/>
        </p:nvSpPr>
        <p:spPr bwMode="auto">
          <a:xfrm>
            <a:off x="6172200" y="2971800"/>
            <a:ext cx="1676399" cy="1519238"/>
          </a:xfrm>
          <a:prstGeom prst="notch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 </a:t>
            </a:r>
          </a:p>
          <a:p>
            <a:pPr marL="0" marR="0" indent="0" algn="l" defTabSz="914400" rtl="0" eaLnBrk="0" fontAlgn="base" latinLnBrk="0" hangingPunct="0">
              <a:lnSpc>
                <a:spcPct val="100000"/>
              </a:lnSpc>
              <a:spcBef>
                <a:spcPct val="0"/>
              </a:spcBef>
              <a:spcAft>
                <a:spcPct val="0"/>
              </a:spcAft>
              <a:buClrTx/>
              <a:buSzTx/>
              <a:buFontTx/>
              <a:buNone/>
              <a:tabLst/>
            </a:pPr>
            <a:r>
              <a:rPr kumimoji="0" lang="en-US" sz="1050" b="0" i="0" u="none" strike="noStrike" cap="none" normalizeH="0" baseline="0" dirty="0" smtClean="0">
                <a:ln>
                  <a:noFill/>
                </a:ln>
                <a:solidFill>
                  <a:schemeClr val="tx1"/>
                </a:solidFill>
                <a:effectLst/>
                <a:latin typeface="Arial" charset="0"/>
              </a:rPr>
              <a:t>Processed</a:t>
            </a:r>
          </a:p>
        </p:txBody>
      </p:sp>
      <p:pic>
        <p:nvPicPr>
          <p:cNvPr id="14" name="Content Placeholder 5"/>
          <p:cNvPicPr>
            <a:picLocks noGrp="1"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81800" y="2971800"/>
            <a:ext cx="2667000" cy="2045988"/>
          </a:xfrm>
          <a:prstGeom prst="rect">
            <a:avLst/>
          </a:prstGeom>
        </p:spPr>
      </p:pic>
      <p:sp>
        <p:nvSpPr>
          <p:cNvPr id="1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18</a:t>
            </a:fld>
            <a:endParaRPr lang="en-US" sz="1400" dirty="0">
              <a:solidFill>
                <a:schemeClr val="bg2"/>
              </a:solidFill>
            </a:endParaRPr>
          </a:p>
        </p:txBody>
      </p:sp>
    </p:spTree>
    <p:extLst>
      <p:ext uri="{BB962C8B-B14F-4D97-AF65-F5344CB8AC3E}">
        <p14:creationId xmlns:p14="http://schemas.microsoft.com/office/powerpoint/2010/main" val="10003251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an Electronic Process</a:t>
            </a:r>
            <a:endParaRPr lang="en-US" dirty="0"/>
          </a:p>
        </p:txBody>
      </p:sp>
      <p:sp>
        <p:nvSpPr>
          <p:cNvPr id="3" name="Content Placeholder 2"/>
          <p:cNvSpPr>
            <a:spLocks noGrp="1"/>
          </p:cNvSpPr>
          <p:nvPr>
            <p:ph idx="1"/>
          </p:nvPr>
        </p:nvSpPr>
        <p:spPr>
          <a:xfrm>
            <a:off x="301625" y="960437"/>
            <a:ext cx="8537575" cy="4983163"/>
          </a:xfrm>
        </p:spPr>
        <p:txBody>
          <a:bodyPr/>
          <a:lstStyle/>
          <a:p>
            <a:r>
              <a:rPr lang="en-US" dirty="0" smtClean="0"/>
              <a:t>The graphic displays the difference between manual processing and processing using SAP.</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828800"/>
            <a:ext cx="8458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19</a:t>
            </a:fld>
            <a:endParaRPr lang="en-US" sz="1400" dirty="0">
              <a:solidFill>
                <a:schemeClr val="bg2"/>
              </a:solidFill>
            </a:endParaRPr>
          </a:p>
        </p:txBody>
      </p:sp>
    </p:spTree>
    <p:extLst>
      <p:ext uri="{BB962C8B-B14F-4D97-AF65-F5344CB8AC3E}">
        <p14:creationId xmlns:p14="http://schemas.microsoft.com/office/powerpoint/2010/main" val="5374866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What </a:t>
            </a:r>
            <a:r>
              <a:rPr lang="en-US" dirty="0"/>
              <a:t>are the </a:t>
            </a:r>
            <a:r>
              <a:rPr lang="en-US" dirty="0" smtClean="0"/>
              <a:t>five steps that make up the EAM process flow? </a:t>
            </a:r>
            <a:br>
              <a:rPr lang="en-US" dirty="0" smtClean="0"/>
            </a:br>
            <a:endParaRPr lang="en-US" dirty="0"/>
          </a:p>
          <a:p>
            <a:endParaRPr lang="en-US" dirty="0"/>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20</a:t>
            </a:fld>
            <a:endParaRPr lang="en-US" sz="1400" dirty="0">
              <a:solidFill>
                <a:schemeClr val="bg2"/>
              </a:solidFill>
            </a:endParaRPr>
          </a:p>
        </p:txBody>
      </p:sp>
    </p:spTree>
    <p:extLst>
      <p:ext uri="{BB962C8B-B14F-4D97-AF65-F5344CB8AC3E}">
        <p14:creationId xmlns:p14="http://schemas.microsoft.com/office/powerpoint/2010/main" val="20624416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smtClean="0"/>
              <a:t>Having completed this </a:t>
            </a:r>
            <a:r>
              <a:rPr lang="en-US" dirty="0"/>
              <a:t>module, you should be able to:</a:t>
            </a:r>
          </a:p>
          <a:p>
            <a:pPr marL="342900" indent="-342900">
              <a:buFont typeface="Arial" pitchFamily="34" charset="0"/>
              <a:buChar char="•"/>
            </a:pPr>
            <a:endParaRPr lang="en-US" dirty="0" smtClean="0"/>
          </a:p>
          <a:p>
            <a:pPr marL="342900" indent="-342900">
              <a:buFont typeface="Arial" pitchFamily="34" charset="0"/>
              <a:buChar char="•"/>
            </a:pPr>
            <a:r>
              <a:rPr lang="en-US" dirty="0"/>
              <a:t>Provide an overview of the EAM process in SAP</a:t>
            </a:r>
          </a:p>
          <a:p>
            <a:pPr marL="342900" indent="-342900">
              <a:buFont typeface="Arial" pitchFamily="34" charset="0"/>
              <a:buChar char="•"/>
            </a:pPr>
            <a:r>
              <a:rPr lang="en-US" dirty="0"/>
              <a:t>Provide an overview of the work order process flow in SAP</a:t>
            </a:r>
          </a:p>
          <a:p>
            <a:endParaRPr lang="en-US" dirty="0" smtClean="0"/>
          </a:p>
          <a:p>
            <a:endParaRPr lang="en-US" dirty="0"/>
          </a:p>
          <a:p>
            <a:endParaRPr lang="en-US" dirty="0"/>
          </a:p>
        </p:txBody>
      </p:sp>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715000" y="3794083"/>
            <a:ext cx="3342448" cy="2506836"/>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21</a:t>
            </a:fld>
            <a:endParaRPr lang="en-US" sz="1400" dirty="0">
              <a:solidFill>
                <a:schemeClr val="bg2"/>
              </a:solidFill>
            </a:endParaRPr>
          </a:p>
        </p:txBody>
      </p:sp>
    </p:spTree>
    <p:extLst>
      <p:ext uri="{BB962C8B-B14F-4D97-AF65-F5344CB8AC3E}">
        <p14:creationId xmlns:p14="http://schemas.microsoft.com/office/powerpoint/2010/main" val="15182840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 Notifications</a:t>
            </a:r>
            <a:endParaRPr lang="en-US" dirty="0"/>
          </a:p>
        </p:txBody>
      </p:sp>
      <p:sp>
        <p:nvSpPr>
          <p:cNvPr id="3" name="Text Placeholder 2"/>
          <p:cNvSpPr>
            <a:spLocks noGrp="1"/>
          </p:cNvSpPr>
          <p:nvPr>
            <p:ph type="body" idx="1"/>
          </p:nvPr>
        </p:nvSpPr>
        <p:spPr/>
        <p:txBody>
          <a:bodyPr/>
          <a:lstStyle/>
          <a:p>
            <a:r>
              <a:rPr lang="en-US" dirty="0" smtClean="0"/>
              <a:t>Module 3</a:t>
            </a:r>
            <a:endParaRPr lang="en-US" dirty="0"/>
          </a:p>
        </p:txBody>
      </p:sp>
    </p:spTree>
    <p:extLst>
      <p:ext uri="{BB962C8B-B14F-4D97-AF65-F5344CB8AC3E}">
        <p14:creationId xmlns:p14="http://schemas.microsoft.com/office/powerpoint/2010/main" val="23671284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endParaRPr lang="en-US" dirty="0" smtClean="0"/>
          </a:p>
          <a:p>
            <a:pPr marL="342900" indent="-342900">
              <a:buFont typeface="Arial" pitchFamily="34" charset="0"/>
              <a:buChar char="•"/>
            </a:pPr>
            <a:r>
              <a:rPr lang="en-US" dirty="0"/>
              <a:t>Define key terms and concepts</a:t>
            </a:r>
          </a:p>
          <a:p>
            <a:pPr marL="342900" indent="-342900">
              <a:buFont typeface="Arial" pitchFamily="34" charset="0"/>
              <a:buChar char="•"/>
            </a:pPr>
            <a:r>
              <a:rPr lang="en-US" dirty="0" smtClean="0"/>
              <a:t>Define a notification</a:t>
            </a:r>
          </a:p>
          <a:p>
            <a:pPr marL="342900" indent="-342900">
              <a:buFont typeface="Arial" pitchFamily="34" charset="0"/>
              <a:buChar char="•"/>
            </a:pPr>
            <a:r>
              <a:rPr lang="en-US" dirty="0" smtClean="0"/>
              <a:t>Create a notification</a:t>
            </a:r>
          </a:p>
          <a:p>
            <a:pPr marL="342900" indent="-342900">
              <a:buFont typeface="Arial" pitchFamily="34" charset="0"/>
              <a:buChar char="•"/>
            </a:pPr>
            <a:r>
              <a:rPr lang="en-US" dirty="0" smtClean="0"/>
              <a:t>Change a notification</a:t>
            </a:r>
          </a:p>
        </p:txBody>
      </p:sp>
      <p:pic>
        <p:nvPicPr>
          <p:cNvPr id="5" name="Picture 2" descr="C:\Users\namudaliar\Documents\Narayanan\Ball Corp\Images\shutterstock_54581515.jpg"/>
          <p:cNvPicPr>
            <a:picLocks noChangeAspect="1" noChangeArrowheads="1"/>
          </p:cNvPicPr>
          <p:nvPr/>
        </p:nvPicPr>
        <p:blipFill>
          <a:blip r:embed="rId3" cstate="print"/>
          <a:srcRect/>
          <a:stretch>
            <a:fillRect/>
          </a:stretch>
        </p:blipFill>
        <p:spPr bwMode="auto">
          <a:xfrm>
            <a:off x="6629400" y="3530600"/>
            <a:ext cx="2438400" cy="3251200"/>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23</a:t>
            </a:fld>
            <a:endParaRPr lang="en-US" sz="1400" dirty="0">
              <a:solidFill>
                <a:schemeClr val="bg2"/>
              </a:solidFill>
            </a:endParaRPr>
          </a:p>
        </p:txBody>
      </p:sp>
    </p:spTree>
    <p:extLst>
      <p:ext uri="{BB962C8B-B14F-4D97-AF65-F5344CB8AC3E}">
        <p14:creationId xmlns:p14="http://schemas.microsoft.com/office/powerpoint/2010/main" val="20486862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Key Terms and Definitions </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93100674"/>
              </p:ext>
            </p:extLst>
          </p:nvPr>
        </p:nvGraphicFramePr>
        <p:xfrm>
          <a:off x="301625" y="1143000"/>
          <a:ext cx="8537576" cy="4754880"/>
        </p:xfrm>
        <a:graphic>
          <a:graphicData uri="http://schemas.openxmlformats.org/drawingml/2006/table">
            <a:tbl>
              <a:tblPr firstRow="1" bandRow="1">
                <a:tableStyleId>{5C22544A-7EE6-4342-B048-85BDC9FD1C3A}</a:tableStyleId>
              </a:tblPr>
              <a:tblGrid>
                <a:gridCol w="2365375"/>
                <a:gridCol w="6172201"/>
              </a:tblGrid>
              <a:tr h="370840">
                <a:tc>
                  <a:txBody>
                    <a:bodyPr/>
                    <a:lstStyle/>
                    <a:p>
                      <a:r>
                        <a:rPr lang="en-US" sz="2000" dirty="0" smtClean="0"/>
                        <a:t>Key Term</a:t>
                      </a:r>
                      <a:endParaRPr lang="en-US" sz="2000" dirty="0">
                        <a:latin typeface="Verdana" pitchFamily="34" charset="0"/>
                        <a:ea typeface="Verdana" pitchFamily="34" charset="0"/>
                        <a:cs typeface="Verdana" pitchFamily="34" charset="0"/>
                      </a:endParaRPr>
                    </a:p>
                  </a:txBody>
                  <a:tcPr/>
                </a:tc>
                <a:tc>
                  <a:txBody>
                    <a:bodyPr/>
                    <a:lstStyle/>
                    <a:p>
                      <a:r>
                        <a:rPr lang="en-US" sz="2000" dirty="0" smtClean="0"/>
                        <a:t>Definition</a:t>
                      </a:r>
                      <a:endParaRPr lang="en-US" sz="2000" dirty="0">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Maintenance</a:t>
                      </a:r>
                      <a:r>
                        <a:rPr lang="en-US" b="1" baseline="0" dirty="0" smtClean="0">
                          <a:solidFill>
                            <a:schemeClr val="accent4">
                              <a:lumMod val="10000"/>
                            </a:schemeClr>
                          </a:solidFill>
                          <a:latin typeface="Verdana" pitchFamily="34" charset="0"/>
                          <a:ea typeface="Verdana" pitchFamily="34" charset="0"/>
                          <a:cs typeface="Verdana" pitchFamily="34" charset="0"/>
                        </a:rPr>
                        <a:t> Notification</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sz="1600" dirty="0" smtClean="0">
                          <a:solidFill>
                            <a:schemeClr val="accent4">
                              <a:lumMod val="10000"/>
                            </a:schemeClr>
                          </a:solidFill>
                          <a:latin typeface="Verdana" pitchFamily="34" charset="0"/>
                          <a:ea typeface="Verdana" pitchFamily="34" charset="0"/>
                          <a:cs typeface="Verdana" pitchFamily="34" charset="0"/>
                        </a:rPr>
                        <a:t>Means with which company notifications are created and managed in the area of Plant Maintenance</a:t>
                      </a:r>
                      <a:r>
                        <a:rPr lang="en-US" sz="1600" baseline="0" dirty="0" smtClean="0">
                          <a:solidFill>
                            <a:schemeClr val="accent4">
                              <a:lumMod val="10000"/>
                            </a:schemeClr>
                          </a:solidFill>
                          <a:latin typeface="Verdana" pitchFamily="34" charset="0"/>
                          <a:ea typeface="Verdana" pitchFamily="34" charset="0"/>
                          <a:cs typeface="Verdana" pitchFamily="34" charset="0"/>
                        </a:rPr>
                        <a:t> or operations and management.</a:t>
                      </a:r>
                      <a:endParaRPr lang="en-US" sz="1600" dirty="0">
                        <a:solidFill>
                          <a:schemeClr val="accent4">
                            <a:lumMod val="10000"/>
                          </a:schemeClr>
                        </a:solidFill>
                        <a:latin typeface="Verdana" pitchFamily="34" charset="0"/>
                        <a:ea typeface="Verdana" pitchFamily="34" charset="0"/>
                        <a:cs typeface="Verdana" pitchFamily="34" charset="0"/>
                      </a:endParaRPr>
                    </a:p>
                  </a:txBody>
                  <a:tcPr/>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Maintenance Notification</a:t>
                      </a:r>
                      <a:r>
                        <a:rPr lang="en-US" b="1" baseline="0" dirty="0" smtClean="0">
                          <a:solidFill>
                            <a:schemeClr val="accent4">
                              <a:lumMod val="10000"/>
                            </a:schemeClr>
                          </a:solidFill>
                          <a:latin typeface="Verdana" pitchFamily="34" charset="0"/>
                          <a:ea typeface="Verdana" pitchFamily="34" charset="0"/>
                          <a:cs typeface="Verdana" pitchFamily="34" charset="0"/>
                        </a:rPr>
                        <a:t> in Process</a:t>
                      </a:r>
                      <a:endParaRPr lang="en-US" b="1" dirty="0">
                        <a:solidFill>
                          <a:schemeClr val="accent4">
                            <a:lumMod val="10000"/>
                          </a:schemeClr>
                        </a:solidFill>
                        <a:latin typeface="Verdana" pitchFamily="34" charset="0"/>
                        <a:ea typeface="Verdana" pitchFamily="34" charset="0"/>
                        <a:cs typeface="Verdana" pitchFamily="34" charset="0"/>
                      </a:endParaRPr>
                    </a:p>
                  </a:txBody>
                  <a:tcPr/>
                </a:tc>
                <a:tc>
                  <a:txBody>
                    <a:bodyPr/>
                    <a:lstStyle/>
                    <a:p>
                      <a:r>
                        <a:rPr lang="en-US" sz="1600" dirty="0" smtClean="0">
                          <a:solidFill>
                            <a:schemeClr val="accent4">
                              <a:lumMod val="10000"/>
                            </a:schemeClr>
                          </a:solidFill>
                          <a:latin typeface="Verdana" pitchFamily="34" charset="0"/>
                          <a:ea typeface="Verdana" pitchFamily="34" charset="0"/>
                          <a:cs typeface="Verdana" pitchFamily="34" charset="0"/>
                        </a:rPr>
                        <a:t>The processing status of a maintenance notification.</a:t>
                      </a:r>
                    </a:p>
                    <a:p>
                      <a:endParaRPr lang="en-US" sz="1600" dirty="0" smtClean="0">
                        <a:solidFill>
                          <a:schemeClr val="accent4">
                            <a:lumMod val="10000"/>
                          </a:schemeClr>
                        </a:solidFill>
                        <a:latin typeface="Verdana" pitchFamily="34" charset="0"/>
                        <a:ea typeface="Verdana" pitchFamily="34" charset="0"/>
                        <a:cs typeface="Verdana" pitchFamily="34" charset="0"/>
                      </a:endParaRPr>
                    </a:p>
                    <a:p>
                      <a:r>
                        <a:rPr lang="en-US" sz="1600" dirty="0" smtClean="0">
                          <a:solidFill>
                            <a:schemeClr val="accent4">
                              <a:lumMod val="10000"/>
                            </a:schemeClr>
                          </a:solidFill>
                          <a:latin typeface="Verdana" pitchFamily="34" charset="0"/>
                          <a:ea typeface="Verdana" pitchFamily="34" charset="0"/>
                          <a:cs typeface="Verdana" pitchFamily="34" charset="0"/>
                        </a:rPr>
                        <a:t>If order processing is not active in the system, "put in process" means that the planning phase is over and that the maintenance task can be performed.</a:t>
                      </a:r>
                    </a:p>
                    <a:p>
                      <a:endParaRPr lang="en-US" sz="1600" dirty="0" smtClean="0">
                        <a:solidFill>
                          <a:schemeClr val="accent4">
                            <a:lumMod val="10000"/>
                          </a:schemeClr>
                        </a:solidFill>
                        <a:latin typeface="Verdana" pitchFamily="34" charset="0"/>
                        <a:ea typeface="Verdana" pitchFamily="34" charset="0"/>
                        <a:cs typeface="Verdana" pitchFamily="34" charset="0"/>
                      </a:endParaRPr>
                    </a:p>
                    <a:p>
                      <a:r>
                        <a:rPr lang="en-US" sz="1600" dirty="0" smtClean="0">
                          <a:solidFill>
                            <a:schemeClr val="accent4">
                              <a:lumMod val="10000"/>
                            </a:schemeClr>
                          </a:solidFill>
                          <a:latin typeface="Verdana" pitchFamily="34" charset="0"/>
                          <a:ea typeface="Verdana" pitchFamily="34" charset="0"/>
                          <a:cs typeface="Verdana" pitchFamily="34" charset="0"/>
                        </a:rPr>
                        <a:t>If order processing is active in the system, "put in process" means that the maintenance notification has been processed by a maintenance planner. If order processing is active, this status does not have to be set. A maintenance notification can be created and assigned to an order. In this case the maintenance tasks are planned in the order.</a:t>
                      </a:r>
                    </a:p>
                    <a:p>
                      <a:endParaRPr lang="en-US" dirty="0">
                        <a:solidFill>
                          <a:schemeClr val="accent4">
                            <a:lumMod val="10000"/>
                          </a:schemeClr>
                        </a:solidFill>
                        <a:latin typeface="Verdana" pitchFamily="34" charset="0"/>
                        <a:ea typeface="Verdana" pitchFamily="34" charset="0"/>
                        <a:cs typeface="Verdana" pitchFamily="34" charset="0"/>
                      </a:endParaRPr>
                    </a:p>
                  </a:txBody>
                  <a:tcPr/>
                </a:tc>
              </a:tr>
            </a:tbl>
          </a:graphicData>
        </a:graphic>
      </p:graphicFrame>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24</a:t>
            </a:fld>
            <a:endParaRPr lang="en-US" sz="1400" dirty="0">
              <a:solidFill>
                <a:schemeClr val="bg2"/>
              </a:solidFill>
            </a:endParaRPr>
          </a:p>
        </p:txBody>
      </p:sp>
    </p:spTree>
    <p:extLst>
      <p:ext uri="{BB962C8B-B14F-4D97-AF65-F5344CB8AC3E}">
        <p14:creationId xmlns:p14="http://schemas.microsoft.com/office/powerpoint/2010/main" val="14842373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EAM Process Flow</a:t>
            </a:r>
            <a:endParaRPr lang="en-US" dirty="0"/>
          </a:p>
        </p:txBody>
      </p:sp>
      <p:graphicFrame>
        <p:nvGraphicFramePr>
          <p:cNvPr id="5" name="Content Placeholder 4"/>
          <p:cNvGraphicFramePr>
            <a:graphicFrameLocks noGrp="1"/>
          </p:cNvGraphicFramePr>
          <p:nvPr>
            <p:ph idx="1"/>
            <p:extLst/>
          </p:nvPr>
        </p:nvGraphicFramePr>
        <p:xfrm>
          <a:off x="1901825" y="2667001"/>
          <a:ext cx="6403975" cy="1828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3" name="Straight Arrow Connector 12"/>
          <p:cNvCxnSpPr>
            <a:stCxn id="19" idx="0"/>
          </p:cNvCxnSpPr>
          <p:nvPr/>
        </p:nvCxnSpPr>
        <p:spPr bwMode="auto">
          <a:xfrm flipV="1">
            <a:off x="2743200" y="3962400"/>
            <a:ext cx="914400" cy="6858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19" name="TextBox 18"/>
          <p:cNvSpPr txBox="1"/>
          <p:nvPr/>
        </p:nvSpPr>
        <p:spPr>
          <a:xfrm>
            <a:off x="2286000" y="4648200"/>
            <a:ext cx="914400" cy="369332"/>
          </a:xfrm>
          <a:prstGeom prst="rect">
            <a:avLst/>
          </a:prstGeom>
          <a:noFill/>
          <a:ln>
            <a:solidFill>
              <a:srgbClr val="000000"/>
            </a:solidFill>
          </a:ln>
        </p:spPr>
        <p:txBody>
          <a:bodyPr wrap="square" rtlCol="0">
            <a:spAutoFit/>
          </a:bodyPr>
          <a:lstStyle/>
          <a:p>
            <a:r>
              <a:rPr lang="en-US" dirty="0" smtClean="0">
                <a:solidFill>
                  <a:srgbClr val="000000"/>
                </a:solidFill>
              </a:rPr>
              <a:t>Labor</a:t>
            </a:r>
            <a:endParaRPr lang="en-US" dirty="0">
              <a:solidFill>
                <a:srgbClr val="000000"/>
              </a:solidFill>
            </a:endParaRPr>
          </a:p>
        </p:txBody>
      </p:sp>
      <p:sp>
        <p:nvSpPr>
          <p:cNvPr id="20" name="TextBox 19"/>
          <p:cNvSpPr txBox="1"/>
          <p:nvPr/>
        </p:nvSpPr>
        <p:spPr>
          <a:xfrm>
            <a:off x="3429000" y="4659868"/>
            <a:ext cx="1524000" cy="923330"/>
          </a:xfrm>
          <a:prstGeom prst="rect">
            <a:avLst/>
          </a:prstGeom>
          <a:noFill/>
          <a:ln>
            <a:solidFill>
              <a:srgbClr val="000000"/>
            </a:solidFill>
          </a:ln>
        </p:spPr>
        <p:txBody>
          <a:bodyPr wrap="square" rtlCol="0">
            <a:spAutoFit/>
          </a:bodyPr>
          <a:lstStyle/>
          <a:p>
            <a:r>
              <a:rPr lang="en-US" dirty="0" smtClean="0">
                <a:solidFill>
                  <a:srgbClr val="000000"/>
                </a:solidFill>
              </a:rPr>
              <a:t>Preventive Maintenance Work Order</a:t>
            </a:r>
            <a:endParaRPr lang="en-US" dirty="0">
              <a:solidFill>
                <a:srgbClr val="000000"/>
              </a:solidFill>
            </a:endParaRPr>
          </a:p>
        </p:txBody>
      </p:sp>
      <p:cxnSp>
        <p:nvCxnSpPr>
          <p:cNvPr id="21" name="Straight Arrow Connector 20"/>
          <p:cNvCxnSpPr>
            <a:stCxn id="20" idx="0"/>
          </p:cNvCxnSpPr>
          <p:nvPr/>
        </p:nvCxnSpPr>
        <p:spPr bwMode="auto">
          <a:xfrm flipV="1">
            <a:off x="41910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24" name="Straight Arrow Connector 23"/>
          <p:cNvCxnSpPr>
            <a:stCxn id="28" idx="2"/>
          </p:cNvCxnSpPr>
          <p:nvPr/>
        </p:nvCxnSpPr>
        <p:spPr bwMode="auto">
          <a:xfrm>
            <a:off x="2552700" y="2590800"/>
            <a:ext cx="1104900" cy="6096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28" name="TextBox 27"/>
          <p:cNvSpPr txBox="1"/>
          <p:nvPr/>
        </p:nvSpPr>
        <p:spPr>
          <a:xfrm>
            <a:off x="1828800" y="1944469"/>
            <a:ext cx="1447800" cy="646331"/>
          </a:xfrm>
          <a:prstGeom prst="rect">
            <a:avLst/>
          </a:prstGeom>
          <a:noFill/>
          <a:ln>
            <a:solidFill>
              <a:srgbClr val="000000"/>
            </a:solidFill>
          </a:ln>
        </p:spPr>
        <p:txBody>
          <a:bodyPr wrap="square" rtlCol="0">
            <a:spAutoFit/>
          </a:bodyPr>
          <a:lstStyle/>
          <a:p>
            <a:r>
              <a:rPr lang="en-US" dirty="0" smtClean="0">
                <a:solidFill>
                  <a:srgbClr val="000000"/>
                </a:solidFill>
              </a:rPr>
              <a:t>Pre-Defined Work Steps</a:t>
            </a:r>
            <a:endParaRPr lang="en-US" dirty="0">
              <a:solidFill>
                <a:srgbClr val="000000"/>
              </a:solidFill>
            </a:endParaRPr>
          </a:p>
        </p:txBody>
      </p:sp>
      <p:sp>
        <p:nvSpPr>
          <p:cNvPr id="30" name="TextBox 29"/>
          <p:cNvSpPr txBox="1"/>
          <p:nvPr/>
        </p:nvSpPr>
        <p:spPr>
          <a:xfrm>
            <a:off x="3657600" y="1676400"/>
            <a:ext cx="1143000" cy="646331"/>
          </a:xfrm>
          <a:prstGeom prst="rect">
            <a:avLst/>
          </a:prstGeom>
          <a:noFill/>
          <a:ln>
            <a:solidFill>
              <a:srgbClr val="000000"/>
            </a:solidFill>
          </a:ln>
        </p:spPr>
        <p:txBody>
          <a:bodyPr wrap="square" rtlCol="0">
            <a:spAutoFit/>
          </a:bodyPr>
          <a:lstStyle/>
          <a:p>
            <a:r>
              <a:rPr lang="en-US" dirty="0" smtClean="0">
                <a:solidFill>
                  <a:srgbClr val="000000"/>
                </a:solidFill>
              </a:rPr>
              <a:t>Parts/ Supplies</a:t>
            </a:r>
            <a:endParaRPr lang="en-US" dirty="0">
              <a:solidFill>
                <a:srgbClr val="000000"/>
              </a:solidFill>
            </a:endParaRPr>
          </a:p>
        </p:txBody>
      </p:sp>
      <p:cxnSp>
        <p:nvCxnSpPr>
          <p:cNvPr id="31" name="Straight Arrow Connector 30"/>
          <p:cNvCxnSpPr/>
          <p:nvPr/>
        </p:nvCxnSpPr>
        <p:spPr bwMode="auto">
          <a:xfrm>
            <a:off x="4191000" y="2324100"/>
            <a:ext cx="0" cy="8763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33" name="Straight Arrow Connector 32"/>
          <p:cNvCxnSpPr>
            <a:stCxn id="37" idx="2"/>
          </p:cNvCxnSpPr>
          <p:nvPr/>
        </p:nvCxnSpPr>
        <p:spPr bwMode="auto">
          <a:xfrm flipH="1">
            <a:off x="4724400" y="2475131"/>
            <a:ext cx="1009650" cy="725269"/>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37" name="TextBox 36"/>
          <p:cNvSpPr txBox="1"/>
          <p:nvPr/>
        </p:nvSpPr>
        <p:spPr>
          <a:xfrm>
            <a:off x="5067300" y="1828800"/>
            <a:ext cx="1333500" cy="646331"/>
          </a:xfrm>
          <a:prstGeom prst="rect">
            <a:avLst/>
          </a:prstGeom>
          <a:noFill/>
          <a:ln>
            <a:solidFill>
              <a:srgbClr val="000000"/>
            </a:solidFill>
          </a:ln>
        </p:spPr>
        <p:txBody>
          <a:bodyPr wrap="square" rtlCol="0">
            <a:spAutoFit/>
          </a:bodyPr>
          <a:lstStyle/>
          <a:p>
            <a:r>
              <a:rPr lang="en-US" dirty="0" smtClean="0">
                <a:solidFill>
                  <a:srgbClr val="000000"/>
                </a:solidFill>
              </a:rPr>
              <a:t>External Services</a:t>
            </a:r>
            <a:endParaRPr lang="en-US" dirty="0">
              <a:solidFill>
                <a:srgbClr val="000000"/>
              </a:solidFill>
            </a:endParaRPr>
          </a:p>
        </p:txBody>
      </p:sp>
      <p:sp>
        <p:nvSpPr>
          <p:cNvPr id="38" name="TextBox 37"/>
          <p:cNvSpPr txBox="1"/>
          <p:nvPr/>
        </p:nvSpPr>
        <p:spPr>
          <a:xfrm>
            <a:off x="5067300" y="4659868"/>
            <a:ext cx="1562100" cy="646331"/>
          </a:xfrm>
          <a:prstGeom prst="rect">
            <a:avLst/>
          </a:prstGeom>
          <a:noFill/>
          <a:ln>
            <a:solidFill>
              <a:srgbClr val="000000"/>
            </a:solidFill>
          </a:ln>
        </p:spPr>
        <p:txBody>
          <a:bodyPr wrap="square" rtlCol="0">
            <a:spAutoFit/>
          </a:bodyPr>
          <a:lstStyle/>
          <a:p>
            <a:r>
              <a:rPr lang="en-US" dirty="0" smtClean="0">
                <a:solidFill>
                  <a:srgbClr val="000000"/>
                </a:solidFill>
              </a:rPr>
              <a:t>Material Requisitions</a:t>
            </a:r>
            <a:endParaRPr lang="en-US" dirty="0">
              <a:solidFill>
                <a:srgbClr val="000000"/>
              </a:solidFill>
            </a:endParaRPr>
          </a:p>
        </p:txBody>
      </p:sp>
      <p:cxnSp>
        <p:nvCxnSpPr>
          <p:cNvPr id="39" name="Straight Arrow Connector 38"/>
          <p:cNvCxnSpPr>
            <a:stCxn id="38" idx="0"/>
          </p:cNvCxnSpPr>
          <p:nvPr/>
        </p:nvCxnSpPr>
        <p:spPr bwMode="auto">
          <a:xfrm flipH="1" flipV="1">
            <a:off x="4724400" y="3962400"/>
            <a:ext cx="112395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41" name="Straight Arrow Connector 40"/>
          <p:cNvCxnSpPr/>
          <p:nvPr/>
        </p:nvCxnSpPr>
        <p:spPr bwMode="auto">
          <a:xfrm flipV="1">
            <a:off x="74676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42" name="TextBox 41"/>
          <p:cNvSpPr txBox="1"/>
          <p:nvPr/>
        </p:nvSpPr>
        <p:spPr>
          <a:xfrm>
            <a:off x="6858000" y="4648200"/>
            <a:ext cx="1295400" cy="369332"/>
          </a:xfrm>
          <a:prstGeom prst="rect">
            <a:avLst/>
          </a:prstGeom>
          <a:noFill/>
          <a:ln>
            <a:solidFill>
              <a:srgbClr val="000000"/>
            </a:solidFill>
          </a:ln>
        </p:spPr>
        <p:txBody>
          <a:bodyPr wrap="square" rtlCol="0">
            <a:spAutoFit/>
          </a:bodyPr>
          <a:lstStyle/>
          <a:p>
            <a:r>
              <a:rPr lang="en-US" dirty="0" smtClean="0">
                <a:solidFill>
                  <a:srgbClr val="000000"/>
                </a:solidFill>
              </a:rPr>
              <a:t>Reporting</a:t>
            </a:r>
            <a:endParaRPr lang="en-US" dirty="0">
              <a:solidFill>
                <a:srgbClr val="000000"/>
              </a:solidFill>
            </a:endParaRPr>
          </a:p>
        </p:txBody>
      </p:sp>
      <p:sp>
        <p:nvSpPr>
          <p:cNvPr id="23"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25</a:t>
            </a:fld>
            <a:endParaRPr lang="en-US" sz="1400" dirty="0">
              <a:solidFill>
                <a:schemeClr val="bg2"/>
              </a:solidFill>
            </a:endParaRPr>
          </a:p>
        </p:txBody>
      </p:sp>
      <p:graphicFrame>
        <p:nvGraphicFramePr>
          <p:cNvPr id="22" name="Diagram 21"/>
          <p:cNvGraphicFramePr/>
          <p:nvPr>
            <p:extLst/>
          </p:nvPr>
        </p:nvGraphicFramePr>
        <p:xfrm>
          <a:off x="152400" y="1651000"/>
          <a:ext cx="9906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5" name="Right Brace 24"/>
          <p:cNvSpPr/>
          <p:nvPr/>
        </p:nvSpPr>
        <p:spPr bwMode="auto">
          <a:xfrm>
            <a:off x="1143000" y="1655802"/>
            <a:ext cx="685800" cy="4059198"/>
          </a:xfrm>
          <a:prstGeom prst="rightBrace">
            <a:avLst>
              <a:gd name="adj1" fmla="val 8333"/>
              <a:gd name="adj2" fmla="val 50404"/>
            </a:avLst>
          </a:prstGeom>
          <a:noFill/>
          <a:ln w="444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16873130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Notification?</a:t>
            </a:r>
            <a:endParaRPr lang="en-US" dirty="0"/>
          </a:p>
        </p:txBody>
      </p:sp>
      <p:sp>
        <p:nvSpPr>
          <p:cNvPr id="3" name="Content Placeholder 2"/>
          <p:cNvSpPr>
            <a:spLocks noGrp="1"/>
          </p:cNvSpPr>
          <p:nvPr>
            <p:ph idx="1"/>
          </p:nvPr>
        </p:nvSpPr>
        <p:spPr>
          <a:xfrm>
            <a:off x="377825" y="1646237"/>
            <a:ext cx="5413375" cy="4983163"/>
          </a:xfrm>
        </p:spPr>
        <p:txBody>
          <a:bodyPr/>
          <a:lstStyle/>
          <a:p>
            <a:pPr marL="342900" indent="-342900">
              <a:buFont typeface="Arial" pitchFamily="34" charset="0"/>
              <a:buChar char="•"/>
            </a:pPr>
            <a:r>
              <a:rPr lang="en-US" dirty="0"/>
              <a:t>A notification is used to capture technical information and assign tasks that do not involve the tracking of costs. The user can create a maintenance order from the PM </a:t>
            </a:r>
            <a:r>
              <a:rPr lang="en-US" dirty="0" smtClean="0"/>
              <a:t>notification</a:t>
            </a:r>
          </a:p>
          <a:p>
            <a:pPr marL="342900" indent="-342900">
              <a:buFont typeface="Arial" pitchFamily="34" charset="0"/>
              <a:buChar char="•"/>
            </a:pPr>
            <a:endParaRPr lang="en-US" dirty="0"/>
          </a:p>
          <a:p>
            <a:pPr marL="342900" indent="-342900">
              <a:buFont typeface="Arial" pitchFamily="34" charset="0"/>
              <a:buChar char="•"/>
            </a:pPr>
            <a:r>
              <a:rPr lang="en-US" dirty="0"/>
              <a:t>An existing notification can be copied to reduce data entry </a:t>
            </a:r>
            <a:r>
              <a:rPr lang="en-US" dirty="0" smtClean="0"/>
              <a:t>time</a:t>
            </a:r>
            <a:endParaRPr lang="en-US" dirty="0"/>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163097"/>
            <a:ext cx="3429001" cy="4618703"/>
          </a:xfrm>
          <a:prstGeom prst="rect">
            <a:avLst/>
          </a:prstGeom>
        </p:spPr>
      </p:pic>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26</a:t>
            </a:fld>
            <a:endParaRPr lang="en-US" sz="1400" dirty="0">
              <a:solidFill>
                <a:schemeClr val="bg2"/>
              </a:solidFill>
            </a:endParaRPr>
          </a:p>
        </p:txBody>
      </p:sp>
    </p:spTree>
    <p:extLst>
      <p:ext uri="{BB962C8B-B14F-4D97-AF65-F5344CB8AC3E}">
        <p14:creationId xmlns:p14="http://schemas.microsoft.com/office/powerpoint/2010/main" val="11396558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Notification Types</a:t>
            </a:r>
            <a:endParaRPr lang="en-US" dirty="0"/>
          </a:p>
        </p:txBody>
      </p:sp>
      <p:sp>
        <p:nvSpPr>
          <p:cNvPr id="3" name="Content Placeholder 2"/>
          <p:cNvSpPr>
            <a:spLocks noGrp="1"/>
          </p:cNvSpPr>
          <p:nvPr>
            <p:ph idx="1"/>
          </p:nvPr>
        </p:nvSpPr>
        <p:spPr>
          <a:xfrm>
            <a:off x="301625" y="1066800"/>
            <a:ext cx="7623175" cy="4983163"/>
          </a:xfrm>
        </p:spPr>
        <p:txBody>
          <a:bodyPr/>
          <a:lstStyle/>
          <a:p>
            <a:r>
              <a:rPr lang="en-US" dirty="0"/>
              <a:t>The Planner </a:t>
            </a:r>
            <a:r>
              <a:rPr lang="en-US" dirty="0" smtClean="0"/>
              <a:t>creates </a:t>
            </a:r>
            <a:r>
              <a:rPr lang="en-US" dirty="0"/>
              <a:t>a </a:t>
            </a:r>
            <a:r>
              <a:rPr lang="en-US" dirty="0" smtClean="0"/>
              <a:t>work </a:t>
            </a:r>
            <a:r>
              <a:rPr lang="en-US" dirty="0"/>
              <a:t>order from the PM </a:t>
            </a:r>
            <a:r>
              <a:rPr lang="en-US" dirty="0" smtClean="0"/>
              <a:t>notification. The </a:t>
            </a:r>
            <a:r>
              <a:rPr lang="en-US" dirty="0"/>
              <a:t>notification types to be used at Loudoun Water are as follows</a:t>
            </a:r>
            <a:r>
              <a:rPr lang="en-US" dirty="0" smtClean="0"/>
              <a:t>:</a:t>
            </a:r>
          </a:p>
          <a:p>
            <a:endParaRPr lang="en-US" dirty="0"/>
          </a:p>
          <a:p>
            <a:pPr marL="342900" indent="-342900">
              <a:buFont typeface="Arial" pitchFamily="34" charset="0"/>
              <a:buChar char="•"/>
            </a:pPr>
            <a:r>
              <a:rPr lang="en-US" b="1" dirty="0" smtClean="0"/>
              <a:t>M1</a:t>
            </a:r>
            <a:r>
              <a:rPr lang="en-US" sz="1900" dirty="0" smtClean="0"/>
              <a:t>: Corrective - Used </a:t>
            </a:r>
            <a:r>
              <a:rPr lang="en-US" sz="1900" dirty="0"/>
              <a:t>for normal or routine repairs or malfunctions that do not severely affect the output of the </a:t>
            </a:r>
            <a:r>
              <a:rPr lang="en-US" sz="1900" dirty="0" smtClean="0"/>
              <a:t>equipment</a:t>
            </a:r>
          </a:p>
          <a:p>
            <a:pPr marL="342900" indent="-342900">
              <a:buFont typeface="Arial" pitchFamily="34" charset="0"/>
              <a:buChar char="•"/>
            </a:pPr>
            <a:endParaRPr lang="en-US" sz="1900" dirty="0"/>
          </a:p>
          <a:p>
            <a:pPr marL="342900" indent="-342900">
              <a:buFont typeface="Arial" pitchFamily="34" charset="0"/>
              <a:buChar char="•"/>
            </a:pPr>
            <a:r>
              <a:rPr lang="en-US" sz="1900" b="1" dirty="0"/>
              <a:t>M2</a:t>
            </a:r>
            <a:r>
              <a:rPr lang="en-US" sz="1900" dirty="0"/>
              <a:t>: Malfunction </a:t>
            </a:r>
            <a:r>
              <a:rPr lang="en-US" sz="1900" dirty="0" smtClean="0"/>
              <a:t>Report - Used when </a:t>
            </a:r>
            <a:r>
              <a:rPr lang="en-US" sz="1900" dirty="0"/>
              <a:t>equipment has failed </a:t>
            </a:r>
            <a:r>
              <a:rPr lang="en-US" sz="1900" dirty="0" smtClean="0"/>
              <a:t>and </a:t>
            </a:r>
            <a:r>
              <a:rPr lang="en-US" sz="1900" dirty="0"/>
              <a:t>to track Mean Time To Repair (MTTR) and Mean Time Between Repairs (MTBR) statistics </a:t>
            </a:r>
            <a:r>
              <a:rPr lang="en-US" sz="1900" dirty="0" smtClean="0"/>
              <a:t>each month</a:t>
            </a:r>
          </a:p>
          <a:p>
            <a:pPr marL="342900" indent="-342900">
              <a:buFont typeface="Arial" pitchFamily="34" charset="0"/>
              <a:buChar char="•"/>
            </a:pPr>
            <a:endParaRPr lang="en-US" sz="1900" dirty="0" smtClean="0"/>
          </a:p>
          <a:p>
            <a:pPr marL="342900" indent="-342900">
              <a:buFont typeface="Arial" pitchFamily="34" charset="0"/>
              <a:buChar char="•"/>
            </a:pPr>
            <a:r>
              <a:rPr lang="en-US" sz="1900" b="1" dirty="0" smtClean="0"/>
              <a:t>M3</a:t>
            </a:r>
            <a:r>
              <a:rPr lang="en-US" sz="1900" dirty="0" smtClean="0"/>
              <a:t>: </a:t>
            </a:r>
            <a:r>
              <a:rPr lang="en-US" sz="1900" dirty="0"/>
              <a:t>Activity </a:t>
            </a:r>
            <a:r>
              <a:rPr lang="en-US" sz="1900" dirty="0" smtClean="0"/>
              <a:t>Report - Used </a:t>
            </a:r>
            <a:r>
              <a:rPr lang="en-US" sz="1900" dirty="0"/>
              <a:t>to record activities (work) that are minor in nature and no work order has to be created for them but a history of the event needs to be recorded. Example; fire extinguisher checks were completed this month</a:t>
            </a:r>
          </a:p>
          <a:p>
            <a:pPr marL="342900" indent="-342900">
              <a:buFont typeface="Arial" pitchFamily="34" charset="0"/>
              <a:buChar char="•"/>
            </a:pPr>
            <a:endParaRPr lang="en-US" dirty="0"/>
          </a:p>
        </p:txBody>
      </p:sp>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27</a:t>
            </a:fld>
            <a:endParaRPr lang="en-US" sz="1400" dirty="0">
              <a:solidFill>
                <a:schemeClr val="bg2"/>
              </a:solidFill>
            </a:endParaRPr>
          </a:p>
        </p:txBody>
      </p:sp>
    </p:spTree>
    <p:extLst>
      <p:ext uri="{BB962C8B-B14F-4D97-AF65-F5344CB8AC3E}">
        <p14:creationId xmlns:p14="http://schemas.microsoft.com/office/powerpoint/2010/main" val="42155817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895475"/>
            <a:ext cx="5257800" cy="252412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AutoShape 18"/>
          <p:cNvSpPr>
            <a:spLocks noChangeArrowheads="1"/>
          </p:cNvSpPr>
          <p:nvPr/>
        </p:nvSpPr>
        <p:spPr bwMode="auto">
          <a:xfrm>
            <a:off x="1600200" y="4038600"/>
            <a:ext cx="3657600" cy="2286000"/>
          </a:xfrm>
          <a:prstGeom prst="wedgeRectCallout">
            <a:avLst>
              <a:gd name="adj1" fmla="val -25347"/>
              <a:gd name="adj2" fmla="val -81111"/>
            </a:avLst>
          </a:prstGeom>
          <a:solidFill>
            <a:srgbClr val="FFE04F">
              <a:alpha val="50999"/>
            </a:srgbClr>
          </a:solidFill>
          <a:ln w="9525">
            <a:solidFill>
              <a:schemeClr val="folHlink"/>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7" name="Rectangle 19"/>
          <p:cNvSpPr>
            <a:spLocks noChangeArrowheads="1"/>
          </p:cNvSpPr>
          <p:nvPr/>
        </p:nvSpPr>
        <p:spPr bwMode="auto">
          <a:xfrm>
            <a:off x="2133600" y="2963863"/>
            <a:ext cx="609600" cy="312737"/>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8" name="Text Box 20"/>
          <p:cNvSpPr txBox="1">
            <a:spLocks noChangeArrowheads="1"/>
          </p:cNvSpPr>
          <p:nvPr/>
        </p:nvSpPr>
        <p:spPr bwMode="auto">
          <a:xfrm>
            <a:off x="6019800" y="2965609"/>
            <a:ext cx="2819400" cy="221599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  the </a:t>
            </a:r>
            <a:r>
              <a:rPr lang="en-US" dirty="0" err="1" smtClean="0"/>
              <a:t>Matchcode</a:t>
            </a:r>
            <a:r>
              <a:rPr lang="en-US" dirty="0" smtClean="0"/>
              <a:t> icon to display a list of Notification Types.</a:t>
            </a:r>
          </a:p>
          <a:p>
            <a:endParaRPr lang="en-US" dirty="0"/>
          </a:p>
          <a:p>
            <a:r>
              <a:rPr lang="en-US" dirty="0" smtClean="0"/>
              <a:t>Select the notification needed and continue.</a:t>
            </a:r>
            <a:endParaRPr lang="en-US" dirty="0"/>
          </a:p>
        </p:txBody>
      </p:sp>
      <p:grpSp>
        <p:nvGrpSpPr>
          <p:cNvPr id="9" name="Group 8"/>
          <p:cNvGrpSpPr>
            <a:grpSpLocks/>
          </p:cNvGrpSpPr>
          <p:nvPr/>
        </p:nvGrpSpPr>
        <p:grpSpPr bwMode="auto">
          <a:xfrm>
            <a:off x="2578100" y="2532062"/>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626100" y="3141662"/>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181475"/>
            <a:ext cx="335280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 name="Group 24"/>
          <p:cNvGrpSpPr>
            <a:grpSpLocks/>
          </p:cNvGrpSpPr>
          <p:nvPr/>
        </p:nvGrpSpPr>
        <p:grpSpPr bwMode="auto">
          <a:xfrm>
            <a:off x="1295400" y="4513262"/>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20" name="Group 24"/>
          <p:cNvGrpSpPr>
            <a:grpSpLocks/>
          </p:cNvGrpSpPr>
          <p:nvPr/>
        </p:nvGrpSpPr>
        <p:grpSpPr bwMode="auto">
          <a:xfrm>
            <a:off x="5638800" y="4208462"/>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23" name="Group 26"/>
          <p:cNvGrpSpPr>
            <a:grpSpLocks/>
          </p:cNvGrpSpPr>
          <p:nvPr/>
        </p:nvGrpSpPr>
        <p:grpSpPr bwMode="auto">
          <a:xfrm>
            <a:off x="6629400" y="3200400"/>
            <a:ext cx="304800" cy="342900"/>
            <a:chOff x="3712" y="1000"/>
            <a:chExt cx="192" cy="216"/>
          </a:xfrm>
        </p:grpSpPr>
        <p:pic>
          <p:nvPicPr>
            <p:cNvPr id="24" name="Picture 20"/>
            <p:cNvPicPr>
              <a:picLocks noChangeAspect="1" noChangeArrowheads="1"/>
            </p:cNvPicPr>
            <p:nvPr/>
          </p:nvPicPr>
          <p:blipFill>
            <a:blip r:embed="rId4">
              <a:extLst>
                <a:ext uri="{28A0092B-C50C-407E-A947-70E740481C1C}">
                  <a14:useLocalDpi xmlns:a14="http://schemas.microsoft.com/office/drawing/2010/main" val="0"/>
                </a:ext>
              </a:extLst>
            </a:blip>
            <a:srcRect l="43410" t="34282" r="54950" b="63998"/>
            <a:stretch>
              <a:fillRect/>
            </a:stretch>
          </p:blipFill>
          <p:spPr bwMode="auto">
            <a:xfrm>
              <a:off x="3722" y="1008"/>
              <a:ext cx="18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Rectangle 25"/>
            <p:cNvSpPr>
              <a:spLocks noChangeArrowheads="1"/>
            </p:cNvSpPr>
            <p:nvPr/>
          </p:nvSpPr>
          <p:spPr bwMode="auto">
            <a:xfrm>
              <a:off x="3712" y="1000"/>
              <a:ext cx="176" cy="216"/>
            </a:xfrm>
            <a:prstGeom prst="rect">
              <a:avLst/>
            </a:prstGeom>
            <a:noFill/>
            <a:ln w="9525" algn="ctr">
              <a:solidFill>
                <a:srgbClr val="B2C5E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Title 1"/>
          <p:cNvSpPr>
            <a:spLocks noGrp="1"/>
          </p:cNvSpPr>
          <p:nvPr>
            <p:ph type="title"/>
          </p:nvPr>
        </p:nvSpPr>
        <p:spPr/>
        <p:txBody>
          <a:bodyPr/>
          <a:lstStyle/>
          <a:p>
            <a:r>
              <a:rPr lang="en-US" dirty="0" smtClean="0"/>
              <a:t>Notification Types</a:t>
            </a:r>
            <a:endParaRPr lang="en-US" dirty="0"/>
          </a:p>
        </p:txBody>
      </p:sp>
      <p:sp>
        <p:nvSpPr>
          <p:cNvPr id="3" name="Content Placeholder 2"/>
          <p:cNvSpPr>
            <a:spLocks noGrp="1"/>
          </p:cNvSpPr>
          <p:nvPr>
            <p:ph idx="1"/>
          </p:nvPr>
        </p:nvSpPr>
        <p:spPr>
          <a:xfrm>
            <a:off x="301625" y="1143001"/>
            <a:ext cx="8537575" cy="487362"/>
          </a:xfrm>
        </p:spPr>
        <p:txBody>
          <a:bodyPr/>
          <a:lstStyle/>
          <a:p>
            <a:r>
              <a:rPr lang="en-US" dirty="0" smtClean="0"/>
              <a:t>Select the notification type needed using transaction IW21.</a:t>
            </a:r>
            <a:endParaRPr lang="en-US" dirty="0"/>
          </a:p>
        </p:txBody>
      </p:sp>
      <p:sp>
        <p:nvSpPr>
          <p:cNvPr id="27"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28</a:t>
            </a:fld>
            <a:endParaRPr lang="en-US" sz="1400" dirty="0">
              <a:solidFill>
                <a:schemeClr val="bg2"/>
              </a:solidFill>
            </a:endParaRPr>
          </a:p>
        </p:txBody>
      </p:sp>
    </p:spTree>
    <p:extLst>
      <p:ext uri="{BB962C8B-B14F-4D97-AF65-F5344CB8AC3E}">
        <p14:creationId xmlns:p14="http://schemas.microsoft.com/office/powerpoint/2010/main" val="5559929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Notification</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Create PM Notification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IW21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a:t>
            </a:r>
            <a:r>
              <a:rPr lang="en-US" dirty="0"/>
              <a:t>Processing &gt; Notification </a:t>
            </a:r>
            <a:r>
              <a:rPr lang="en-US" dirty="0" smtClean="0"/>
              <a:t>&gt;                           Create (General)</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29</a:t>
            </a:fld>
            <a:endParaRPr lang="en-US" sz="1400" dirty="0">
              <a:solidFill>
                <a:srgbClr val="4D4D4D"/>
              </a:solidFill>
            </a:endParaRPr>
          </a:p>
        </p:txBody>
      </p:sp>
    </p:spTree>
    <p:extLst>
      <p:ext uri="{BB962C8B-B14F-4D97-AF65-F5344CB8AC3E}">
        <p14:creationId xmlns:p14="http://schemas.microsoft.com/office/powerpoint/2010/main" val="63449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solidFill>
                  <a:schemeClr val="accent4">
                    <a:lumMod val="10000"/>
                  </a:schemeClr>
                </a:solidFill>
              </a:rPr>
              <a:t>Scenario: You are tasked with creating a maintenance request notification to repair a malfunctioning pump.</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r>
              <a:rPr lang="en-US" sz="2000" b="1" dirty="0">
                <a:solidFill>
                  <a:srgbClr val="DADADA">
                    <a:lumMod val="10000"/>
                  </a:srgbClr>
                </a:solidFill>
                <a:latin typeface="Verdana" pitchFamily="34" charset="0"/>
                <a:ea typeface="Verdana" pitchFamily="34" charset="0"/>
                <a:cs typeface="Verdana" pitchFamily="34" charset="0"/>
              </a:rPr>
              <a:t>Exercise: 3</a:t>
            </a:r>
            <a:r>
              <a:rPr lang="en-US" sz="2000" b="1" dirty="0" smtClean="0">
                <a:solidFill>
                  <a:srgbClr val="DADADA">
                    <a:lumMod val="10000"/>
                  </a:srgbClr>
                </a:solidFill>
                <a:latin typeface="Verdana" pitchFamily="34" charset="0"/>
                <a:ea typeface="Verdana" pitchFamily="34" charset="0"/>
                <a:cs typeface="Verdana" pitchFamily="34" charset="0"/>
              </a:rPr>
              <a:t>.1 Create a Notification</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30</a:t>
            </a:fld>
            <a:endParaRPr lang="en-US" sz="1400" dirty="0">
              <a:solidFill>
                <a:schemeClr val="bg2"/>
              </a:solidFill>
            </a:endParaRPr>
          </a:p>
        </p:txBody>
      </p:sp>
    </p:spTree>
    <p:extLst>
      <p:ext uri="{BB962C8B-B14F-4D97-AF65-F5344CB8AC3E}">
        <p14:creationId xmlns:p14="http://schemas.microsoft.com/office/powerpoint/2010/main" val="32335059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495801" y="4183442"/>
            <a:ext cx="4495800" cy="2621967"/>
          </a:xfrm>
          <a:prstGeom prst="rect">
            <a:avLst/>
          </a:prstGeom>
        </p:spPr>
      </p:pic>
      <p:pic>
        <p:nvPicPr>
          <p:cNvPr id="3" name="Picture 2"/>
          <p:cNvPicPr>
            <a:picLocks noChangeAspect="1"/>
          </p:cNvPicPr>
          <p:nvPr/>
        </p:nvPicPr>
        <p:blipFill>
          <a:blip r:embed="rId3"/>
          <a:stretch>
            <a:fillRect/>
          </a:stretch>
        </p:blipFill>
        <p:spPr>
          <a:xfrm>
            <a:off x="381000" y="2302523"/>
            <a:ext cx="3467100" cy="265047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8" name="Text Box 20"/>
          <p:cNvSpPr txBox="1">
            <a:spLocks noChangeArrowheads="1"/>
          </p:cNvSpPr>
          <p:nvPr/>
        </p:nvSpPr>
        <p:spPr bwMode="auto">
          <a:xfrm>
            <a:off x="5810330" y="1905000"/>
            <a:ext cx="3028870" cy="2209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sz="1400" dirty="0"/>
              <a:t>Enter the </a:t>
            </a:r>
            <a:r>
              <a:rPr lang="en-US" sz="1400" dirty="0" smtClean="0"/>
              <a:t>Notification number </a:t>
            </a:r>
            <a:r>
              <a:rPr lang="en-US" sz="1400" dirty="0"/>
              <a:t>and </a:t>
            </a:r>
            <a:r>
              <a:rPr lang="en-US" sz="1400" dirty="0" smtClean="0"/>
              <a:t>click          the </a:t>
            </a:r>
            <a:r>
              <a:rPr lang="en-US" sz="1400" dirty="0"/>
              <a:t>Enter button to continue. </a:t>
            </a:r>
          </a:p>
          <a:p>
            <a:endParaRPr lang="en-US" sz="1400" dirty="0"/>
          </a:p>
          <a:p>
            <a:r>
              <a:rPr lang="en-US" sz="1400" dirty="0" smtClean="0"/>
              <a:t>Enter any necessary changes and click       the Save button to save your changes.</a:t>
            </a:r>
            <a:endParaRPr lang="en-US" dirty="0"/>
          </a:p>
        </p:txBody>
      </p:sp>
      <p:grpSp>
        <p:nvGrpSpPr>
          <p:cNvPr id="9" name="Group 8"/>
          <p:cNvGrpSpPr>
            <a:grpSpLocks/>
          </p:cNvGrpSpPr>
          <p:nvPr/>
        </p:nvGrpSpPr>
        <p:grpSpPr bwMode="auto">
          <a:xfrm>
            <a:off x="749300" y="2303462"/>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410200" y="2074862"/>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0" name="Group 24"/>
          <p:cNvGrpSpPr>
            <a:grpSpLocks/>
          </p:cNvGrpSpPr>
          <p:nvPr/>
        </p:nvGrpSpPr>
        <p:grpSpPr bwMode="auto">
          <a:xfrm>
            <a:off x="5410200" y="2989262"/>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Change a Notification</a:t>
            </a:r>
            <a:endParaRPr lang="en-US" dirty="0"/>
          </a:p>
        </p:txBody>
      </p:sp>
      <p:sp>
        <p:nvSpPr>
          <p:cNvPr id="27" name="Content Placeholder 2"/>
          <p:cNvSpPr txBox="1">
            <a:spLocks/>
          </p:cNvSpPr>
          <p:nvPr/>
        </p:nvSpPr>
        <p:spPr>
          <a:xfrm>
            <a:off x="301625" y="914400"/>
            <a:ext cx="8537575" cy="1031672"/>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dirty="0" smtClean="0"/>
              <a:t>Use transaction IW22 to make changes to a notification that has been previously created. Changes can include adding equipment, work description changes, or adding personnel.</a:t>
            </a:r>
          </a:p>
          <a:p>
            <a:endParaRPr lang="en-US" dirty="0"/>
          </a:p>
        </p:txBody>
      </p:sp>
      <p:sp>
        <p:nvSpPr>
          <p:cNvPr id="28" name="Curved Right Arrow 27"/>
          <p:cNvSpPr/>
          <p:nvPr/>
        </p:nvSpPr>
        <p:spPr bwMode="auto">
          <a:xfrm rot="17720705">
            <a:off x="2688592" y="4675258"/>
            <a:ext cx="882213" cy="2605326"/>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9" name="Rectangle 19"/>
          <p:cNvSpPr>
            <a:spLocks noChangeArrowheads="1"/>
          </p:cNvSpPr>
          <p:nvPr/>
        </p:nvSpPr>
        <p:spPr bwMode="auto">
          <a:xfrm>
            <a:off x="6324600" y="4132344"/>
            <a:ext cx="381000" cy="413931"/>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grpSp>
        <p:nvGrpSpPr>
          <p:cNvPr id="17" name="Group 24"/>
          <p:cNvGrpSpPr>
            <a:grpSpLocks/>
          </p:cNvGrpSpPr>
          <p:nvPr/>
        </p:nvGrpSpPr>
        <p:grpSpPr bwMode="auto">
          <a:xfrm>
            <a:off x="6934200" y="4208462"/>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31</a:t>
            </a:fld>
            <a:endParaRPr lang="en-US" sz="1400" dirty="0">
              <a:solidFill>
                <a:schemeClr val="bg2"/>
              </a:solidFill>
            </a:endParaRPr>
          </a:p>
        </p:txBody>
      </p:sp>
      <p:pic>
        <p:nvPicPr>
          <p:cNvPr id="2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2362200"/>
            <a:ext cx="344261" cy="328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3365297"/>
            <a:ext cx="292304" cy="292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Rectangle 19"/>
          <p:cNvSpPr>
            <a:spLocks noChangeArrowheads="1"/>
          </p:cNvSpPr>
          <p:nvPr/>
        </p:nvSpPr>
        <p:spPr bwMode="auto">
          <a:xfrm>
            <a:off x="381000" y="2286000"/>
            <a:ext cx="381000" cy="413931"/>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Tree>
    <p:extLst>
      <p:ext uri="{BB962C8B-B14F-4D97-AF65-F5344CB8AC3E}">
        <p14:creationId xmlns:p14="http://schemas.microsoft.com/office/powerpoint/2010/main" val="3452373019"/>
      </p:ext>
    </p:extLst>
  </p:cSld>
  <p:clrMapOvr>
    <a:masterClrMapping/>
  </p:clrMapOvr>
  <p:transition>
    <p:fade thruBlk="1"/>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Change a Notification</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PM Notification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IW22</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a:t>
            </a:r>
            <a:r>
              <a:rPr lang="en-US" dirty="0"/>
              <a:t>Processing &gt; Notification </a:t>
            </a:r>
            <a:r>
              <a:rPr lang="en-US" dirty="0" smtClean="0"/>
              <a:t>&gt;                                  Change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32</a:t>
            </a:fld>
            <a:endParaRPr lang="en-US" sz="1400" dirty="0">
              <a:solidFill>
                <a:srgbClr val="4D4D4D"/>
              </a:solidFill>
            </a:endParaRPr>
          </a:p>
        </p:txBody>
      </p:sp>
    </p:spTree>
    <p:extLst>
      <p:ext uri="{BB962C8B-B14F-4D97-AF65-F5344CB8AC3E}">
        <p14:creationId xmlns:p14="http://schemas.microsoft.com/office/powerpoint/2010/main" val="2908602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p:txBody>
          <a:bodyPr/>
          <a:lstStyle/>
          <a:p>
            <a:r>
              <a:rPr lang="en-US" b="1" dirty="0" smtClean="0">
                <a:solidFill>
                  <a:schemeClr val="accent4">
                    <a:lumMod val="10000"/>
                  </a:schemeClr>
                </a:solidFill>
              </a:rPr>
              <a:t>Scenario: The equipment number for an existing notification needs to be updated with a different number.</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3.2 Change a Notification </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33</a:t>
            </a:fld>
            <a:endParaRPr lang="en-US" sz="1400" dirty="0">
              <a:solidFill>
                <a:schemeClr val="bg2"/>
              </a:solidFill>
            </a:endParaRPr>
          </a:p>
        </p:txBody>
      </p:sp>
    </p:spTree>
    <p:extLst>
      <p:ext uri="{BB962C8B-B14F-4D97-AF65-F5344CB8AC3E}">
        <p14:creationId xmlns:p14="http://schemas.microsoft.com/office/powerpoint/2010/main" val="4872320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What is a notification used for?</a:t>
            </a:r>
          </a:p>
          <a:p>
            <a:pPr marL="457200" indent="-457200">
              <a:buFont typeface="+mj-lt"/>
              <a:buAutoNum type="arabicPeriod"/>
            </a:pPr>
            <a:r>
              <a:rPr lang="en-US" dirty="0" smtClean="0"/>
              <a:t>What are the four events that trigger the need to create a notification?</a:t>
            </a:r>
          </a:p>
          <a:p>
            <a:pPr marL="457200" indent="-457200">
              <a:buFont typeface="+mj-lt"/>
              <a:buAutoNum type="arabicPeriod"/>
            </a:pPr>
            <a:r>
              <a:rPr lang="en-US" dirty="0" smtClean="0"/>
              <a:t>What </a:t>
            </a:r>
            <a:r>
              <a:rPr lang="en-US" dirty="0"/>
              <a:t>are the notification types mostly used at Loudoun </a:t>
            </a:r>
            <a:r>
              <a:rPr lang="en-US" dirty="0" smtClean="0"/>
              <a:t>Water? </a:t>
            </a:r>
            <a:br>
              <a:rPr lang="en-US" dirty="0" smtClean="0"/>
            </a:br>
            <a:endParaRPr lang="en-US" dirty="0"/>
          </a:p>
          <a:p>
            <a:endParaRPr lang="en-US" dirty="0"/>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34</a:t>
            </a:fld>
            <a:endParaRPr lang="en-US" sz="1400" dirty="0">
              <a:solidFill>
                <a:schemeClr val="bg2"/>
              </a:solidFill>
            </a:endParaRPr>
          </a:p>
        </p:txBody>
      </p:sp>
    </p:spTree>
    <p:extLst>
      <p:ext uri="{BB962C8B-B14F-4D97-AF65-F5344CB8AC3E}">
        <p14:creationId xmlns:p14="http://schemas.microsoft.com/office/powerpoint/2010/main" val="25212513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smtClean="0"/>
              <a:t>Having completed this </a:t>
            </a:r>
            <a:r>
              <a:rPr lang="en-US" dirty="0"/>
              <a:t>module, you should be able to</a:t>
            </a:r>
            <a:r>
              <a:rPr lang="en-US" dirty="0" smtClean="0"/>
              <a:t>:</a:t>
            </a:r>
          </a:p>
          <a:p>
            <a:endParaRPr lang="en-US" dirty="0"/>
          </a:p>
          <a:p>
            <a:pPr marL="342900" indent="-342900">
              <a:buFont typeface="Arial" pitchFamily="34" charset="0"/>
              <a:buChar char="•"/>
            </a:pPr>
            <a:r>
              <a:rPr lang="en-US" dirty="0"/>
              <a:t>Define key terms and concepts</a:t>
            </a:r>
          </a:p>
          <a:p>
            <a:pPr marL="342900" indent="-342900">
              <a:buFont typeface="Arial" pitchFamily="34" charset="0"/>
              <a:buChar char="•"/>
            </a:pPr>
            <a:r>
              <a:rPr lang="en-US" dirty="0" smtClean="0"/>
              <a:t>Define a notification</a:t>
            </a:r>
            <a:endParaRPr lang="en-US" dirty="0"/>
          </a:p>
          <a:p>
            <a:pPr marL="342900" indent="-342900">
              <a:buFont typeface="Arial" pitchFamily="34" charset="0"/>
              <a:buChar char="•"/>
            </a:pPr>
            <a:r>
              <a:rPr lang="en-US" dirty="0" smtClean="0"/>
              <a:t>Create </a:t>
            </a:r>
            <a:r>
              <a:rPr lang="en-US" dirty="0"/>
              <a:t>a notification</a:t>
            </a:r>
          </a:p>
          <a:p>
            <a:pPr marL="342900" indent="-342900">
              <a:buFont typeface="Arial" pitchFamily="34" charset="0"/>
              <a:buChar char="•"/>
            </a:pPr>
            <a:r>
              <a:rPr lang="en-US" dirty="0"/>
              <a:t>Change a notification</a:t>
            </a:r>
          </a:p>
          <a:p>
            <a:endParaRPr lang="en-US" dirty="0" smtClean="0"/>
          </a:p>
          <a:p>
            <a:endParaRPr lang="en-US" dirty="0"/>
          </a:p>
          <a:p>
            <a:endParaRPr lang="en-US" dirty="0"/>
          </a:p>
        </p:txBody>
      </p:sp>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715000" y="3794083"/>
            <a:ext cx="3342448" cy="2506836"/>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35</a:t>
            </a:fld>
            <a:endParaRPr lang="en-US" sz="1400" dirty="0">
              <a:solidFill>
                <a:schemeClr val="bg2"/>
              </a:solidFill>
            </a:endParaRPr>
          </a:p>
        </p:txBody>
      </p:sp>
    </p:spTree>
    <p:extLst>
      <p:ext uri="{BB962C8B-B14F-4D97-AF65-F5344CB8AC3E}">
        <p14:creationId xmlns:p14="http://schemas.microsoft.com/office/powerpoint/2010/main" val="2172854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 Work orders</a:t>
            </a:r>
            <a:endParaRPr lang="en-US" dirty="0"/>
          </a:p>
        </p:txBody>
      </p:sp>
      <p:sp>
        <p:nvSpPr>
          <p:cNvPr id="3" name="Text Placeholder 2"/>
          <p:cNvSpPr>
            <a:spLocks noGrp="1"/>
          </p:cNvSpPr>
          <p:nvPr>
            <p:ph type="body" idx="1"/>
          </p:nvPr>
        </p:nvSpPr>
        <p:spPr/>
        <p:txBody>
          <a:bodyPr/>
          <a:lstStyle/>
          <a:p>
            <a:r>
              <a:rPr lang="en-US" dirty="0" smtClean="0"/>
              <a:t>Module 4</a:t>
            </a:r>
            <a:endParaRPr lang="en-US" dirty="0"/>
          </a:p>
        </p:txBody>
      </p:sp>
    </p:spTree>
    <p:extLst>
      <p:ext uri="{BB962C8B-B14F-4D97-AF65-F5344CB8AC3E}">
        <p14:creationId xmlns:p14="http://schemas.microsoft.com/office/powerpoint/2010/main" val="28914116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a:xfrm>
            <a:off x="301625" y="1143000"/>
            <a:ext cx="7807126" cy="4983163"/>
          </a:xfrm>
        </p:spPr>
        <p:txBody>
          <a:bodyPr/>
          <a:lstStyle/>
          <a:p>
            <a:r>
              <a:rPr lang="en-US" dirty="0" smtClean="0"/>
              <a:t>Upon completion of this module, you should be able to:</a:t>
            </a:r>
          </a:p>
          <a:p>
            <a:endParaRPr lang="en-US" dirty="0" smtClean="0"/>
          </a:p>
          <a:p>
            <a:pPr marL="342900" indent="-342900">
              <a:buFont typeface="Arial" pitchFamily="34" charset="0"/>
              <a:buChar char="•"/>
            </a:pPr>
            <a:r>
              <a:rPr lang="en-US" dirty="0"/>
              <a:t>Define key terms and concepts</a:t>
            </a:r>
          </a:p>
          <a:p>
            <a:pPr marL="342900" indent="-342900">
              <a:buFont typeface="Arial" pitchFamily="34" charset="0"/>
              <a:buChar char="•"/>
            </a:pPr>
            <a:r>
              <a:rPr lang="en-US" dirty="0"/>
              <a:t>Create a work order</a:t>
            </a:r>
          </a:p>
          <a:p>
            <a:pPr marL="342900" indent="-342900">
              <a:buFont typeface="Arial" pitchFamily="34" charset="0"/>
              <a:buChar char="•"/>
            </a:pPr>
            <a:r>
              <a:rPr lang="en-US" dirty="0"/>
              <a:t>Create a work order from a notification</a:t>
            </a:r>
          </a:p>
          <a:p>
            <a:pPr marL="342900" indent="-342900">
              <a:buFont typeface="Arial" pitchFamily="34" charset="0"/>
              <a:buChar char="•"/>
            </a:pPr>
            <a:r>
              <a:rPr lang="en-US" dirty="0"/>
              <a:t>View an assigned work </a:t>
            </a:r>
            <a:r>
              <a:rPr lang="en-US" dirty="0" smtClean="0"/>
              <a:t>order</a:t>
            </a:r>
            <a:endParaRPr lang="en-US" dirty="0"/>
          </a:p>
          <a:p>
            <a:pPr marL="342900" indent="-342900">
              <a:buFont typeface="Arial" pitchFamily="34" charset="0"/>
              <a:buChar char="•"/>
            </a:pPr>
            <a:r>
              <a:rPr lang="en-US" dirty="0"/>
              <a:t>Release a work </a:t>
            </a:r>
            <a:r>
              <a:rPr lang="en-US" dirty="0" smtClean="0"/>
              <a:t>order</a:t>
            </a:r>
          </a:p>
          <a:p>
            <a:pPr marL="342900" indent="-342900">
              <a:buFont typeface="Arial" pitchFamily="34" charset="0"/>
              <a:buChar char="•"/>
            </a:pPr>
            <a:r>
              <a:rPr lang="en-US" dirty="0" smtClean="0"/>
              <a:t>Return </a:t>
            </a:r>
            <a:r>
              <a:rPr lang="en-US" dirty="0"/>
              <a:t>materials to </a:t>
            </a:r>
            <a:r>
              <a:rPr lang="en-US" dirty="0" smtClean="0"/>
              <a:t>stock</a:t>
            </a:r>
          </a:p>
          <a:p>
            <a:pPr marL="342900" indent="-342900">
              <a:buFont typeface="Arial" pitchFamily="34" charset="0"/>
              <a:buChar char="•"/>
            </a:pPr>
            <a:r>
              <a:rPr lang="en-US" dirty="0" smtClean="0"/>
              <a:t>Close </a:t>
            </a:r>
            <a:r>
              <a:rPr lang="en-US" dirty="0"/>
              <a:t>a work order</a:t>
            </a:r>
          </a:p>
          <a:p>
            <a:pPr marL="342900" indent="-342900">
              <a:buFont typeface="Arial" pitchFamily="34" charset="0"/>
              <a:buChar char="•"/>
            </a:pPr>
            <a:r>
              <a:rPr lang="en-US" dirty="0" smtClean="0"/>
              <a:t>Define the process for scheduling </a:t>
            </a:r>
            <a:r>
              <a:rPr lang="en-US" dirty="0"/>
              <a:t>emergency </a:t>
            </a:r>
            <a:r>
              <a:rPr lang="en-US" dirty="0" smtClean="0"/>
              <a:t>           work</a:t>
            </a:r>
            <a:endParaRPr lang="en-US" dirty="0"/>
          </a:p>
          <a:p>
            <a:endParaRPr lang="en-US" dirty="0"/>
          </a:p>
        </p:txBody>
      </p:sp>
      <p:pic>
        <p:nvPicPr>
          <p:cNvPr id="5" name="Picture 2" descr="C:\Users\namudaliar\Documents\Narayanan\Ball Corp\Images\shutterstock_54581515.jpg"/>
          <p:cNvPicPr>
            <a:picLocks noChangeAspect="1" noChangeArrowheads="1"/>
          </p:cNvPicPr>
          <p:nvPr/>
        </p:nvPicPr>
        <p:blipFill>
          <a:blip r:embed="rId2" cstate="print"/>
          <a:srcRect/>
          <a:stretch>
            <a:fillRect/>
          </a:stretch>
        </p:blipFill>
        <p:spPr bwMode="auto">
          <a:xfrm>
            <a:off x="6934200" y="3733800"/>
            <a:ext cx="2196703" cy="3124200"/>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37</a:t>
            </a:fld>
            <a:endParaRPr lang="en-US" sz="1400" dirty="0">
              <a:solidFill>
                <a:schemeClr val="bg2"/>
              </a:solidFill>
            </a:endParaRPr>
          </a:p>
        </p:txBody>
      </p:sp>
    </p:spTree>
    <p:extLst>
      <p:ext uri="{BB962C8B-B14F-4D97-AF65-F5344CB8AC3E}">
        <p14:creationId xmlns:p14="http://schemas.microsoft.com/office/powerpoint/2010/main" val="31014454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Key Terms and Definitions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941075889"/>
              </p:ext>
            </p:extLst>
          </p:nvPr>
        </p:nvGraphicFramePr>
        <p:xfrm>
          <a:off x="301625" y="1143000"/>
          <a:ext cx="8537575" cy="4968240"/>
        </p:xfrm>
        <a:graphic>
          <a:graphicData uri="http://schemas.openxmlformats.org/drawingml/2006/table">
            <a:tbl>
              <a:tblPr firstRow="1" bandRow="1">
                <a:tableStyleId>{5C22544A-7EE6-4342-B048-85BDC9FD1C3A}</a:tableStyleId>
              </a:tblPr>
              <a:tblGrid>
                <a:gridCol w="2365374"/>
                <a:gridCol w="6172201"/>
              </a:tblGrid>
              <a:tr h="370840">
                <a:tc>
                  <a:txBody>
                    <a:bodyPr/>
                    <a:lstStyle/>
                    <a:p>
                      <a:r>
                        <a:rPr lang="en-US" sz="2000" dirty="0" smtClean="0"/>
                        <a:t>Key Term</a:t>
                      </a:r>
                      <a:endParaRPr lang="en-US" sz="2000" dirty="0">
                        <a:latin typeface="Verdana" pitchFamily="34" charset="0"/>
                        <a:ea typeface="Verdana" pitchFamily="34" charset="0"/>
                        <a:cs typeface="Verdana" pitchFamily="34" charset="0"/>
                      </a:endParaRPr>
                    </a:p>
                  </a:txBody>
                  <a:tcPr marL="101395" marR="101395"/>
                </a:tc>
                <a:tc>
                  <a:txBody>
                    <a:bodyPr/>
                    <a:lstStyle/>
                    <a:p>
                      <a:r>
                        <a:rPr lang="en-US" sz="2000" dirty="0" smtClean="0"/>
                        <a:t>Definition</a:t>
                      </a:r>
                      <a:endParaRPr lang="en-US" sz="2000" dirty="0">
                        <a:latin typeface="Verdana" pitchFamily="34" charset="0"/>
                        <a:ea typeface="Verdana" pitchFamily="34" charset="0"/>
                        <a:cs typeface="Verdana" pitchFamily="34" charset="0"/>
                      </a:endParaRPr>
                    </a:p>
                  </a:txBody>
                  <a:tcPr marL="101395" marR="101395"/>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Maintenance Location </a:t>
                      </a:r>
                      <a:endParaRPr lang="en-US" b="1" dirty="0">
                        <a:solidFill>
                          <a:schemeClr val="accent4">
                            <a:lumMod val="10000"/>
                          </a:schemeClr>
                        </a:solidFill>
                        <a:latin typeface="Verdana" pitchFamily="34" charset="0"/>
                        <a:ea typeface="Verdana" pitchFamily="34" charset="0"/>
                        <a:cs typeface="Verdana" pitchFamily="34" charset="0"/>
                      </a:endParaRPr>
                    </a:p>
                  </a:txBody>
                  <a:tcPr marL="101395" marR="101395"/>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A combination of main work center and plant of the main work center.</a:t>
                      </a:r>
                      <a:endParaRPr lang="en-US" dirty="0">
                        <a:solidFill>
                          <a:schemeClr val="accent4">
                            <a:lumMod val="10000"/>
                          </a:schemeClr>
                        </a:solidFill>
                        <a:latin typeface="Verdana" pitchFamily="34" charset="0"/>
                        <a:ea typeface="Verdana" pitchFamily="34" charset="0"/>
                        <a:cs typeface="Verdana" pitchFamily="34" charset="0"/>
                      </a:endParaRPr>
                    </a:p>
                  </a:txBody>
                  <a:tcPr marL="101395" marR="101395"/>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Maintenance Order </a:t>
                      </a:r>
                      <a:endParaRPr lang="en-US" b="1" dirty="0">
                        <a:solidFill>
                          <a:schemeClr val="accent4">
                            <a:lumMod val="10000"/>
                          </a:schemeClr>
                        </a:solidFill>
                        <a:latin typeface="Verdana" pitchFamily="34" charset="0"/>
                        <a:ea typeface="Verdana" pitchFamily="34" charset="0"/>
                        <a:cs typeface="Verdana" pitchFamily="34" charset="0"/>
                      </a:endParaRPr>
                    </a:p>
                  </a:txBody>
                  <a:tcPr marL="101395" marR="101395"/>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A detailed planning aid for maintenance tasks to be performed. Particular order types are the investment order, the calibration order, and the refurbishment order.</a:t>
                      </a:r>
                    </a:p>
                    <a:p>
                      <a:endParaRPr lang="en-US" dirty="0" smtClean="0">
                        <a:solidFill>
                          <a:schemeClr val="accent4">
                            <a:lumMod val="10000"/>
                          </a:schemeClr>
                        </a:solidFill>
                        <a:latin typeface="Verdana" pitchFamily="34" charset="0"/>
                        <a:ea typeface="Verdana" pitchFamily="34" charset="0"/>
                        <a:cs typeface="Verdana" pitchFamily="34" charset="0"/>
                      </a:endParaRPr>
                    </a:p>
                    <a:p>
                      <a:r>
                        <a:rPr lang="en-US" dirty="0" smtClean="0">
                          <a:solidFill>
                            <a:schemeClr val="accent4">
                              <a:lumMod val="10000"/>
                            </a:schemeClr>
                          </a:solidFill>
                          <a:latin typeface="Verdana" pitchFamily="34" charset="0"/>
                          <a:ea typeface="Verdana" pitchFamily="34" charset="0"/>
                          <a:cs typeface="Verdana" pitchFamily="34" charset="0"/>
                        </a:rPr>
                        <a:t>You can use an order to:</a:t>
                      </a:r>
                    </a:p>
                    <a:p>
                      <a:endParaRPr lang="en-US" dirty="0" smtClean="0">
                        <a:solidFill>
                          <a:schemeClr val="accent4">
                            <a:lumMod val="10000"/>
                          </a:schemeClr>
                        </a:solidFill>
                        <a:latin typeface="Verdana" pitchFamily="34" charset="0"/>
                        <a:ea typeface="Verdana" pitchFamily="34" charset="0"/>
                        <a:cs typeface="Verdana" pitchFamily="34" charset="0"/>
                      </a:endParaRPr>
                    </a:p>
                    <a:p>
                      <a:r>
                        <a:rPr lang="en-US" dirty="0" smtClean="0">
                          <a:solidFill>
                            <a:schemeClr val="accent4">
                              <a:lumMod val="10000"/>
                            </a:schemeClr>
                          </a:solidFill>
                          <a:latin typeface="Verdana" pitchFamily="34" charset="0"/>
                          <a:ea typeface="Verdana" pitchFamily="34" charset="0"/>
                          <a:cs typeface="Verdana" pitchFamily="34" charset="0"/>
                        </a:rPr>
                        <a:t>■Plan tasks with specific reference to type, scope, deadlines, and resources</a:t>
                      </a:r>
                    </a:p>
                    <a:p>
                      <a:r>
                        <a:rPr lang="en-US" dirty="0" smtClean="0">
                          <a:solidFill>
                            <a:schemeClr val="accent4">
                              <a:lumMod val="10000"/>
                            </a:schemeClr>
                          </a:solidFill>
                          <a:latin typeface="Verdana" pitchFamily="34" charset="0"/>
                          <a:ea typeface="Verdana" pitchFamily="34" charset="0"/>
                          <a:cs typeface="Verdana" pitchFamily="34" charset="0"/>
                        </a:rPr>
                        <a:t>■Monitor the performance of tasks</a:t>
                      </a:r>
                    </a:p>
                    <a:p>
                      <a:r>
                        <a:rPr lang="en-US" dirty="0" smtClean="0">
                          <a:solidFill>
                            <a:schemeClr val="accent4">
                              <a:lumMod val="10000"/>
                            </a:schemeClr>
                          </a:solidFill>
                          <a:latin typeface="Verdana" pitchFamily="34" charset="0"/>
                          <a:ea typeface="Verdana" pitchFamily="34" charset="0"/>
                          <a:cs typeface="Verdana" pitchFamily="34" charset="0"/>
                        </a:rPr>
                        <a:t>■Define rules for account assignment and settlement, as well as for the budget</a:t>
                      </a:r>
                    </a:p>
                    <a:p>
                      <a:r>
                        <a:rPr lang="en-US" dirty="0" smtClean="0">
                          <a:solidFill>
                            <a:schemeClr val="accent4">
                              <a:lumMod val="10000"/>
                            </a:schemeClr>
                          </a:solidFill>
                          <a:latin typeface="Verdana" pitchFamily="34" charset="0"/>
                          <a:ea typeface="Verdana" pitchFamily="34" charset="0"/>
                          <a:cs typeface="Verdana" pitchFamily="34" charset="0"/>
                        </a:rPr>
                        <a:t>■To record, display, and settle the costs generated by the tasks</a:t>
                      </a:r>
                      <a:endParaRPr lang="en-US" dirty="0">
                        <a:solidFill>
                          <a:schemeClr val="accent4">
                            <a:lumMod val="10000"/>
                          </a:schemeClr>
                        </a:solidFill>
                        <a:latin typeface="Verdana" pitchFamily="34" charset="0"/>
                        <a:ea typeface="Verdana" pitchFamily="34" charset="0"/>
                        <a:cs typeface="Verdana" pitchFamily="34" charset="0"/>
                      </a:endParaRPr>
                    </a:p>
                  </a:txBody>
                  <a:tcPr marL="101395" marR="101395"/>
                </a:tc>
              </a:tr>
            </a:tbl>
          </a:graphicData>
        </a:graphic>
      </p:graphicFrame>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38</a:t>
            </a:fld>
            <a:endParaRPr lang="en-US" sz="1400" dirty="0">
              <a:solidFill>
                <a:schemeClr val="bg2"/>
              </a:solidFill>
            </a:endParaRPr>
          </a:p>
        </p:txBody>
      </p:sp>
    </p:spTree>
    <p:extLst>
      <p:ext uri="{BB962C8B-B14F-4D97-AF65-F5344CB8AC3E}">
        <p14:creationId xmlns:p14="http://schemas.microsoft.com/office/powerpoint/2010/main" val="14842373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EAM Process Flow</a:t>
            </a:r>
            <a:endParaRPr lang="en-US" dirty="0"/>
          </a:p>
        </p:txBody>
      </p:sp>
      <p:graphicFrame>
        <p:nvGraphicFramePr>
          <p:cNvPr id="5" name="Content Placeholder 4"/>
          <p:cNvGraphicFramePr>
            <a:graphicFrameLocks noGrp="1"/>
          </p:cNvGraphicFramePr>
          <p:nvPr>
            <p:ph idx="1"/>
            <p:extLst/>
          </p:nvPr>
        </p:nvGraphicFramePr>
        <p:xfrm>
          <a:off x="1901825" y="2667001"/>
          <a:ext cx="6403975" cy="1828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3" name="Straight Arrow Connector 12"/>
          <p:cNvCxnSpPr>
            <a:stCxn id="19" idx="0"/>
          </p:cNvCxnSpPr>
          <p:nvPr/>
        </p:nvCxnSpPr>
        <p:spPr bwMode="auto">
          <a:xfrm flipV="1">
            <a:off x="2743200" y="3962400"/>
            <a:ext cx="914400" cy="6858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19" name="TextBox 18"/>
          <p:cNvSpPr txBox="1"/>
          <p:nvPr/>
        </p:nvSpPr>
        <p:spPr>
          <a:xfrm>
            <a:off x="2286000" y="4648200"/>
            <a:ext cx="914400" cy="369332"/>
          </a:xfrm>
          <a:prstGeom prst="rect">
            <a:avLst/>
          </a:prstGeom>
          <a:noFill/>
          <a:ln>
            <a:solidFill>
              <a:srgbClr val="000000"/>
            </a:solidFill>
          </a:ln>
        </p:spPr>
        <p:txBody>
          <a:bodyPr wrap="square" rtlCol="0">
            <a:spAutoFit/>
          </a:bodyPr>
          <a:lstStyle/>
          <a:p>
            <a:r>
              <a:rPr lang="en-US" dirty="0" smtClean="0">
                <a:solidFill>
                  <a:srgbClr val="000000"/>
                </a:solidFill>
              </a:rPr>
              <a:t>Labor</a:t>
            </a:r>
            <a:endParaRPr lang="en-US" dirty="0">
              <a:solidFill>
                <a:srgbClr val="000000"/>
              </a:solidFill>
            </a:endParaRPr>
          </a:p>
        </p:txBody>
      </p:sp>
      <p:sp>
        <p:nvSpPr>
          <p:cNvPr id="20" name="TextBox 19"/>
          <p:cNvSpPr txBox="1"/>
          <p:nvPr/>
        </p:nvSpPr>
        <p:spPr>
          <a:xfrm>
            <a:off x="3429000" y="4659868"/>
            <a:ext cx="1524000" cy="923330"/>
          </a:xfrm>
          <a:prstGeom prst="rect">
            <a:avLst/>
          </a:prstGeom>
          <a:noFill/>
          <a:ln>
            <a:solidFill>
              <a:srgbClr val="000000"/>
            </a:solidFill>
          </a:ln>
        </p:spPr>
        <p:txBody>
          <a:bodyPr wrap="square" rtlCol="0">
            <a:spAutoFit/>
          </a:bodyPr>
          <a:lstStyle/>
          <a:p>
            <a:r>
              <a:rPr lang="en-US" dirty="0" smtClean="0">
                <a:solidFill>
                  <a:srgbClr val="000000"/>
                </a:solidFill>
              </a:rPr>
              <a:t>Preventive Maintenance Work Order</a:t>
            </a:r>
            <a:endParaRPr lang="en-US" dirty="0">
              <a:solidFill>
                <a:srgbClr val="000000"/>
              </a:solidFill>
            </a:endParaRPr>
          </a:p>
        </p:txBody>
      </p:sp>
      <p:cxnSp>
        <p:nvCxnSpPr>
          <p:cNvPr id="21" name="Straight Arrow Connector 20"/>
          <p:cNvCxnSpPr>
            <a:stCxn id="20" idx="0"/>
          </p:cNvCxnSpPr>
          <p:nvPr/>
        </p:nvCxnSpPr>
        <p:spPr bwMode="auto">
          <a:xfrm flipV="1">
            <a:off x="41910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24" name="Straight Arrow Connector 23"/>
          <p:cNvCxnSpPr>
            <a:stCxn id="28" idx="2"/>
          </p:cNvCxnSpPr>
          <p:nvPr/>
        </p:nvCxnSpPr>
        <p:spPr bwMode="auto">
          <a:xfrm>
            <a:off x="2552700" y="2590800"/>
            <a:ext cx="1104900" cy="6096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28" name="TextBox 27"/>
          <p:cNvSpPr txBox="1"/>
          <p:nvPr/>
        </p:nvSpPr>
        <p:spPr>
          <a:xfrm>
            <a:off x="1828800" y="1944469"/>
            <a:ext cx="1447800" cy="646331"/>
          </a:xfrm>
          <a:prstGeom prst="rect">
            <a:avLst/>
          </a:prstGeom>
          <a:noFill/>
          <a:ln>
            <a:solidFill>
              <a:srgbClr val="000000"/>
            </a:solidFill>
          </a:ln>
        </p:spPr>
        <p:txBody>
          <a:bodyPr wrap="square" rtlCol="0">
            <a:spAutoFit/>
          </a:bodyPr>
          <a:lstStyle/>
          <a:p>
            <a:r>
              <a:rPr lang="en-US" dirty="0" smtClean="0">
                <a:solidFill>
                  <a:srgbClr val="000000"/>
                </a:solidFill>
              </a:rPr>
              <a:t>Pre-Defined Work Steps</a:t>
            </a:r>
            <a:endParaRPr lang="en-US" dirty="0">
              <a:solidFill>
                <a:srgbClr val="000000"/>
              </a:solidFill>
            </a:endParaRPr>
          </a:p>
        </p:txBody>
      </p:sp>
      <p:sp>
        <p:nvSpPr>
          <p:cNvPr id="30" name="TextBox 29"/>
          <p:cNvSpPr txBox="1"/>
          <p:nvPr/>
        </p:nvSpPr>
        <p:spPr>
          <a:xfrm>
            <a:off x="3657600" y="1676400"/>
            <a:ext cx="1143000" cy="646331"/>
          </a:xfrm>
          <a:prstGeom prst="rect">
            <a:avLst/>
          </a:prstGeom>
          <a:noFill/>
          <a:ln>
            <a:solidFill>
              <a:srgbClr val="000000"/>
            </a:solidFill>
          </a:ln>
        </p:spPr>
        <p:txBody>
          <a:bodyPr wrap="square" rtlCol="0">
            <a:spAutoFit/>
          </a:bodyPr>
          <a:lstStyle/>
          <a:p>
            <a:r>
              <a:rPr lang="en-US" dirty="0" smtClean="0">
                <a:solidFill>
                  <a:srgbClr val="000000"/>
                </a:solidFill>
              </a:rPr>
              <a:t>Parts/ Supplies</a:t>
            </a:r>
            <a:endParaRPr lang="en-US" dirty="0">
              <a:solidFill>
                <a:srgbClr val="000000"/>
              </a:solidFill>
            </a:endParaRPr>
          </a:p>
        </p:txBody>
      </p:sp>
      <p:cxnSp>
        <p:nvCxnSpPr>
          <p:cNvPr id="31" name="Straight Arrow Connector 30"/>
          <p:cNvCxnSpPr/>
          <p:nvPr/>
        </p:nvCxnSpPr>
        <p:spPr bwMode="auto">
          <a:xfrm>
            <a:off x="4191000" y="2324100"/>
            <a:ext cx="0" cy="8763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33" name="Straight Arrow Connector 32"/>
          <p:cNvCxnSpPr>
            <a:stCxn id="37" idx="2"/>
          </p:cNvCxnSpPr>
          <p:nvPr/>
        </p:nvCxnSpPr>
        <p:spPr bwMode="auto">
          <a:xfrm flipH="1">
            <a:off x="4724400" y="2475131"/>
            <a:ext cx="1009650" cy="725269"/>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37" name="TextBox 36"/>
          <p:cNvSpPr txBox="1"/>
          <p:nvPr/>
        </p:nvSpPr>
        <p:spPr>
          <a:xfrm>
            <a:off x="5067300" y="1828800"/>
            <a:ext cx="1333500" cy="646331"/>
          </a:xfrm>
          <a:prstGeom prst="rect">
            <a:avLst/>
          </a:prstGeom>
          <a:noFill/>
          <a:ln>
            <a:solidFill>
              <a:srgbClr val="000000"/>
            </a:solidFill>
          </a:ln>
        </p:spPr>
        <p:txBody>
          <a:bodyPr wrap="square" rtlCol="0">
            <a:spAutoFit/>
          </a:bodyPr>
          <a:lstStyle/>
          <a:p>
            <a:r>
              <a:rPr lang="en-US" dirty="0" smtClean="0">
                <a:solidFill>
                  <a:srgbClr val="000000"/>
                </a:solidFill>
              </a:rPr>
              <a:t>External Services</a:t>
            </a:r>
            <a:endParaRPr lang="en-US" dirty="0">
              <a:solidFill>
                <a:srgbClr val="000000"/>
              </a:solidFill>
            </a:endParaRPr>
          </a:p>
        </p:txBody>
      </p:sp>
      <p:sp>
        <p:nvSpPr>
          <p:cNvPr id="38" name="TextBox 37"/>
          <p:cNvSpPr txBox="1"/>
          <p:nvPr/>
        </p:nvSpPr>
        <p:spPr>
          <a:xfrm>
            <a:off x="5067300" y="4659868"/>
            <a:ext cx="1562100" cy="646331"/>
          </a:xfrm>
          <a:prstGeom prst="rect">
            <a:avLst/>
          </a:prstGeom>
          <a:noFill/>
          <a:ln>
            <a:solidFill>
              <a:srgbClr val="000000"/>
            </a:solidFill>
          </a:ln>
        </p:spPr>
        <p:txBody>
          <a:bodyPr wrap="square" rtlCol="0">
            <a:spAutoFit/>
          </a:bodyPr>
          <a:lstStyle/>
          <a:p>
            <a:r>
              <a:rPr lang="en-US" dirty="0" smtClean="0">
                <a:solidFill>
                  <a:srgbClr val="000000"/>
                </a:solidFill>
              </a:rPr>
              <a:t>Material Requisitions</a:t>
            </a:r>
            <a:endParaRPr lang="en-US" dirty="0">
              <a:solidFill>
                <a:srgbClr val="000000"/>
              </a:solidFill>
            </a:endParaRPr>
          </a:p>
        </p:txBody>
      </p:sp>
      <p:cxnSp>
        <p:nvCxnSpPr>
          <p:cNvPr id="39" name="Straight Arrow Connector 38"/>
          <p:cNvCxnSpPr>
            <a:stCxn id="38" idx="0"/>
          </p:cNvCxnSpPr>
          <p:nvPr/>
        </p:nvCxnSpPr>
        <p:spPr bwMode="auto">
          <a:xfrm flipH="1" flipV="1">
            <a:off x="4724400" y="3962400"/>
            <a:ext cx="112395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41" name="Straight Arrow Connector 40"/>
          <p:cNvCxnSpPr/>
          <p:nvPr/>
        </p:nvCxnSpPr>
        <p:spPr bwMode="auto">
          <a:xfrm flipV="1">
            <a:off x="74676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42" name="TextBox 41"/>
          <p:cNvSpPr txBox="1"/>
          <p:nvPr/>
        </p:nvSpPr>
        <p:spPr>
          <a:xfrm>
            <a:off x="6858000" y="4648200"/>
            <a:ext cx="1295400" cy="369332"/>
          </a:xfrm>
          <a:prstGeom prst="rect">
            <a:avLst/>
          </a:prstGeom>
          <a:noFill/>
          <a:ln>
            <a:solidFill>
              <a:srgbClr val="000000"/>
            </a:solidFill>
          </a:ln>
        </p:spPr>
        <p:txBody>
          <a:bodyPr wrap="square" rtlCol="0">
            <a:spAutoFit/>
          </a:bodyPr>
          <a:lstStyle/>
          <a:p>
            <a:r>
              <a:rPr lang="en-US" dirty="0" smtClean="0">
                <a:solidFill>
                  <a:srgbClr val="000000"/>
                </a:solidFill>
              </a:rPr>
              <a:t>Reporting</a:t>
            </a:r>
            <a:endParaRPr lang="en-US" dirty="0">
              <a:solidFill>
                <a:srgbClr val="000000"/>
              </a:solidFill>
            </a:endParaRPr>
          </a:p>
        </p:txBody>
      </p:sp>
      <p:sp>
        <p:nvSpPr>
          <p:cNvPr id="23"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39</a:t>
            </a:fld>
            <a:endParaRPr lang="en-US" sz="1400" dirty="0">
              <a:solidFill>
                <a:schemeClr val="bg2"/>
              </a:solidFill>
            </a:endParaRPr>
          </a:p>
        </p:txBody>
      </p:sp>
      <p:sp>
        <p:nvSpPr>
          <p:cNvPr id="22" name="Right Brace 21"/>
          <p:cNvSpPr/>
          <p:nvPr/>
        </p:nvSpPr>
        <p:spPr bwMode="auto">
          <a:xfrm>
            <a:off x="1143000" y="1655802"/>
            <a:ext cx="685800" cy="4059198"/>
          </a:xfrm>
          <a:prstGeom prst="rightBrace">
            <a:avLst>
              <a:gd name="adj1" fmla="val 8333"/>
              <a:gd name="adj2" fmla="val 50404"/>
            </a:avLst>
          </a:prstGeom>
          <a:noFill/>
          <a:ln w="444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aphicFrame>
        <p:nvGraphicFramePr>
          <p:cNvPr id="25" name="Diagram 24"/>
          <p:cNvGraphicFramePr/>
          <p:nvPr>
            <p:extLst/>
          </p:nvPr>
        </p:nvGraphicFramePr>
        <p:xfrm>
          <a:off x="152400" y="1651000"/>
          <a:ext cx="9906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6309446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Work Orders</a:t>
            </a:r>
            <a:endParaRPr lang="en-US" dirty="0"/>
          </a:p>
        </p:txBody>
      </p:sp>
      <p:sp>
        <p:nvSpPr>
          <p:cNvPr id="3" name="Content Placeholder 2"/>
          <p:cNvSpPr>
            <a:spLocks noGrp="1"/>
          </p:cNvSpPr>
          <p:nvPr>
            <p:ph idx="1"/>
          </p:nvPr>
        </p:nvSpPr>
        <p:spPr>
          <a:xfrm>
            <a:off x="301625" y="1493837"/>
            <a:ext cx="8537575" cy="4983163"/>
          </a:xfrm>
        </p:spPr>
        <p:txBody>
          <a:bodyPr/>
          <a:lstStyle/>
          <a:p>
            <a:pPr marL="342900" indent="-342900">
              <a:buFont typeface="Arial" pitchFamily="34" charset="0"/>
              <a:buChar char="•"/>
            </a:pPr>
            <a:r>
              <a:rPr lang="en-US" dirty="0" smtClean="0"/>
              <a:t>A work order is a </a:t>
            </a:r>
            <a:r>
              <a:rPr lang="en-US" dirty="0"/>
              <a:t>detailed work planning document </a:t>
            </a:r>
            <a:r>
              <a:rPr lang="en-US" dirty="0" smtClean="0"/>
              <a:t>used for tracking resources</a:t>
            </a:r>
            <a:r>
              <a:rPr lang="en-US" dirty="0"/>
              <a:t>, components, costs, and labor required to complete specific maintenance </a:t>
            </a:r>
            <a:r>
              <a:rPr lang="en-US" dirty="0" smtClean="0"/>
              <a:t>work </a:t>
            </a:r>
          </a:p>
          <a:p>
            <a:pPr marL="342900" indent="-342900">
              <a:buFont typeface="Arial" pitchFamily="34" charset="0"/>
              <a:buChar char="•"/>
            </a:pPr>
            <a:endParaRPr lang="en-US" dirty="0"/>
          </a:p>
          <a:p>
            <a:pPr marL="342900" indent="-342900">
              <a:buFont typeface="Arial" pitchFamily="34" charset="0"/>
              <a:buChar char="•"/>
            </a:pPr>
            <a:r>
              <a:rPr lang="en-US" dirty="0" smtClean="0"/>
              <a:t>Work orders can </a:t>
            </a:r>
            <a:r>
              <a:rPr lang="en-US" dirty="0"/>
              <a:t>be created with or without a </a:t>
            </a:r>
            <a:r>
              <a:rPr lang="en-US" dirty="0" smtClean="0"/>
              <a:t>notification</a:t>
            </a:r>
          </a:p>
          <a:p>
            <a:pPr marL="342900" indent="-342900">
              <a:buFont typeface="Arial" pitchFamily="34" charset="0"/>
              <a:buChar char="•"/>
            </a:pPr>
            <a:endParaRPr lang="en-US" dirty="0"/>
          </a:p>
          <a:p>
            <a:pPr marL="342900" indent="-342900">
              <a:buFont typeface="Arial" pitchFamily="34" charset="0"/>
              <a:buChar char="•"/>
            </a:pPr>
            <a:r>
              <a:rPr lang="en-US" dirty="0"/>
              <a:t>An existing </a:t>
            </a:r>
            <a:r>
              <a:rPr lang="en-US" dirty="0" smtClean="0"/>
              <a:t>order </a:t>
            </a:r>
            <a:r>
              <a:rPr lang="en-US" dirty="0"/>
              <a:t>can be copied to reduce data entry </a:t>
            </a:r>
            <a:r>
              <a:rPr lang="en-US" dirty="0" smtClean="0"/>
              <a:t>time</a:t>
            </a:r>
          </a:p>
          <a:p>
            <a:pPr marL="342900" indent="-342900">
              <a:buFont typeface="Arial" pitchFamily="34" charset="0"/>
              <a:buChar char="•"/>
            </a:pPr>
            <a:endParaRPr lang="en-US" dirty="0"/>
          </a:p>
          <a:p>
            <a:pPr marL="342900" indent="-342900">
              <a:buFont typeface="Arial" pitchFamily="34" charset="0"/>
              <a:buChar char="•"/>
            </a:pPr>
            <a:r>
              <a:rPr lang="en-US" dirty="0" smtClean="0"/>
              <a:t>Use transaction IW38 to close a work order once work is complete</a:t>
            </a:r>
          </a:p>
          <a:p>
            <a:endParaRPr lang="en-US" dirty="0"/>
          </a:p>
        </p:txBody>
      </p:sp>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40</a:t>
            </a:fld>
            <a:endParaRPr lang="en-US" sz="1400" dirty="0">
              <a:solidFill>
                <a:schemeClr val="bg2"/>
              </a:solidFill>
            </a:endParaRPr>
          </a:p>
        </p:txBody>
      </p:sp>
    </p:spTree>
    <p:extLst>
      <p:ext uri="{BB962C8B-B14F-4D97-AF65-F5344CB8AC3E}">
        <p14:creationId xmlns:p14="http://schemas.microsoft.com/office/powerpoint/2010/main" val="402104418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p:txBody>
          <a:bodyPr>
            <a:normAutofit/>
          </a:bodyPr>
          <a:lstStyle/>
          <a:p>
            <a:r>
              <a:rPr lang="en-US" dirty="0" smtClean="0"/>
              <a:t>Work Order Types vs. Maintenance Types</a:t>
            </a:r>
            <a:endParaRPr lang="en-US" dirty="0"/>
          </a:p>
        </p:txBody>
      </p:sp>
      <p:pic>
        <p:nvPicPr>
          <p:cNvPr id="7" name="Content Placeholder 6"/>
          <p:cNvPicPr>
            <a:picLocks noGrp="1" noChangeAspect="1"/>
          </p:cNvPicPr>
          <p:nvPr>
            <p:ph idx="1"/>
          </p:nvPr>
        </p:nvPicPr>
        <p:blipFill>
          <a:blip r:embed="rId2"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838090" y="1219200"/>
            <a:ext cx="2286110" cy="1633530"/>
          </a:xfrm>
        </p:spPr>
      </p:pic>
      <p:sp>
        <p:nvSpPr>
          <p:cNvPr id="8" name="Content Placeholder 7"/>
          <p:cNvSpPr>
            <a:spLocks noGrp="1"/>
          </p:cNvSpPr>
          <p:nvPr>
            <p:ph sz="half" idx="4294967295"/>
          </p:nvPr>
        </p:nvSpPr>
        <p:spPr>
          <a:xfrm>
            <a:off x="3505200" y="1143000"/>
            <a:ext cx="5410200" cy="2144713"/>
          </a:xfrm>
        </p:spPr>
        <p:txBody>
          <a:bodyPr>
            <a:normAutofit/>
          </a:bodyPr>
          <a:lstStyle/>
          <a:p>
            <a:r>
              <a:rPr lang="en-US" sz="1800" dirty="0" smtClean="0"/>
              <a:t>Work Order Types</a:t>
            </a:r>
          </a:p>
          <a:p>
            <a:pPr lvl="2"/>
            <a:r>
              <a:rPr lang="en-US" sz="1800" dirty="0" smtClean="0">
                <a:latin typeface="Verdana" pitchFamily="34" charset="0"/>
                <a:ea typeface="Verdana" pitchFamily="34" charset="0"/>
                <a:cs typeface="Verdana" pitchFamily="34" charset="0"/>
              </a:rPr>
              <a:t>A classification for orders</a:t>
            </a:r>
          </a:p>
          <a:p>
            <a:pPr lvl="2"/>
            <a:r>
              <a:rPr lang="en-US" sz="1800" dirty="0" smtClean="0">
                <a:latin typeface="Verdana" pitchFamily="34" charset="0"/>
                <a:ea typeface="Verdana" pitchFamily="34" charset="0"/>
                <a:cs typeface="Verdana" pitchFamily="34" charset="0"/>
              </a:rPr>
              <a:t>Used to group orders based on certain components</a:t>
            </a:r>
          </a:p>
          <a:p>
            <a:pPr lvl="2"/>
            <a:r>
              <a:rPr lang="en-US" sz="1800" dirty="0" smtClean="0">
                <a:latin typeface="Verdana" pitchFamily="34" charset="0"/>
                <a:ea typeface="Verdana" pitchFamily="34" charset="0"/>
                <a:cs typeface="Verdana" pitchFamily="34" charset="0"/>
              </a:rPr>
              <a:t>Ex: PM01 (PM) for maintenance orders</a:t>
            </a:r>
            <a:endParaRPr lang="en-US" sz="1800" dirty="0">
              <a:latin typeface="Verdana" pitchFamily="34" charset="0"/>
              <a:ea typeface="Verdana" pitchFamily="34" charset="0"/>
              <a:cs typeface="Verdana" pitchFamily="34" charset="0"/>
            </a:endParaRPr>
          </a:p>
        </p:txBody>
      </p:sp>
      <p:pic>
        <p:nvPicPr>
          <p:cNvPr id="9" name="Content Placeholder 8"/>
          <p:cNvPicPr>
            <a:picLocks noGrp="1" noChangeAspect="1"/>
          </p:cNvPicPr>
          <p:nvPr>
            <p:ph sz="half" idx="4294967295"/>
          </p:nvPr>
        </p:nvPicPr>
        <p:blipFill>
          <a:blip r:embed="rId3" cstate="print">
            <a:grayscl/>
            <a:extLst>
              <a:ext uri="{28A0092B-C50C-407E-A947-70E740481C1C}">
                <a14:useLocalDpi xmlns:a14="http://schemas.microsoft.com/office/drawing/2010/main" val="0"/>
              </a:ext>
            </a:extLst>
          </a:blip>
          <a:stretch>
            <a:fillRect/>
          </a:stretch>
        </p:blipFill>
        <p:spPr>
          <a:xfrm>
            <a:off x="762000" y="3432128"/>
            <a:ext cx="2438400" cy="2054271"/>
          </a:xfrm>
        </p:spPr>
      </p:pic>
      <p:sp>
        <p:nvSpPr>
          <p:cNvPr id="11" name="Content Placeholder 10"/>
          <p:cNvSpPr>
            <a:spLocks noGrp="1"/>
          </p:cNvSpPr>
          <p:nvPr>
            <p:ph sz="half" idx="4294967295"/>
          </p:nvPr>
        </p:nvSpPr>
        <p:spPr>
          <a:xfrm>
            <a:off x="3505200" y="3392488"/>
            <a:ext cx="5410200" cy="2212975"/>
          </a:xfrm>
        </p:spPr>
        <p:txBody>
          <a:bodyPr>
            <a:normAutofit/>
          </a:bodyPr>
          <a:lstStyle/>
          <a:p>
            <a:r>
              <a:rPr lang="en-US" sz="1800" dirty="0" smtClean="0"/>
              <a:t>Maintenance Types</a:t>
            </a:r>
          </a:p>
          <a:p>
            <a:pPr lvl="2"/>
            <a:r>
              <a:rPr lang="en-US" sz="1800" dirty="0" smtClean="0">
                <a:latin typeface="Verdana" pitchFamily="34" charset="0"/>
                <a:ea typeface="Verdana" pitchFamily="34" charset="0"/>
                <a:cs typeface="Verdana" pitchFamily="34" charset="0"/>
              </a:rPr>
              <a:t>Type of maintenance activity</a:t>
            </a:r>
          </a:p>
          <a:p>
            <a:pPr lvl="2"/>
            <a:r>
              <a:rPr lang="en-US" sz="1800" dirty="0" smtClean="0">
                <a:latin typeface="Verdana" pitchFamily="34" charset="0"/>
                <a:ea typeface="Verdana" pitchFamily="34" charset="0"/>
                <a:cs typeface="Verdana" pitchFamily="34" charset="0"/>
              </a:rPr>
              <a:t>Activities can be divided into repairs, shutdowns,  inspections, etc.</a:t>
            </a:r>
          </a:p>
          <a:p>
            <a:pPr lvl="2"/>
            <a:r>
              <a:rPr lang="en-US" sz="1800" dirty="0" smtClean="0">
                <a:latin typeface="Verdana" pitchFamily="34" charset="0"/>
                <a:ea typeface="Verdana" pitchFamily="34" charset="0"/>
                <a:cs typeface="Verdana" pitchFamily="34" charset="0"/>
              </a:rPr>
              <a:t>Ex: Preventive Maintenance</a:t>
            </a:r>
            <a:endParaRPr lang="en-US" sz="1800" dirty="0">
              <a:latin typeface="Verdana" pitchFamily="34" charset="0"/>
              <a:ea typeface="Verdana" pitchFamily="34" charset="0"/>
              <a:cs typeface="Verdana" pitchFamily="34" charset="0"/>
            </a:endParaRPr>
          </a:p>
        </p:txBody>
      </p:sp>
      <p:sp>
        <p:nvSpPr>
          <p:cNvPr id="10"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38</a:t>
            </a:r>
            <a:endParaRPr lang="en-US" sz="1400" dirty="0">
              <a:solidFill>
                <a:schemeClr val="bg2"/>
              </a:solidFill>
            </a:endParaRPr>
          </a:p>
        </p:txBody>
      </p:sp>
    </p:spTree>
    <p:extLst>
      <p:ext uri="{BB962C8B-B14F-4D97-AF65-F5344CB8AC3E}">
        <p14:creationId xmlns:p14="http://schemas.microsoft.com/office/powerpoint/2010/main" val="19535903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Order Types</a:t>
            </a:r>
            <a:endParaRPr lang="en-US" dirty="0"/>
          </a:p>
        </p:txBody>
      </p:sp>
      <p:sp>
        <p:nvSpPr>
          <p:cNvPr id="3" name="Content Placeholder 2"/>
          <p:cNvSpPr>
            <a:spLocks noGrp="1"/>
          </p:cNvSpPr>
          <p:nvPr>
            <p:ph idx="1"/>
          </p:nvPr>
        </p:nvSpPr>
        <p:spPr>
          <a:xfrm>
            <a:off x="304800" y="1265237"/>
            <a:ext cx="8991600" cy="4983163"/>
          </a:xfrm>
        </p:spPr>
        <p:txBody>
          <a:bodyPr/>
          <a:lstStyle/>
          <a:p>
            <a:r>
              <a:rPr lang="en-US" dirty="0"/>
              <a:t>The standard work order types for maintenance are: </a:t>
            </a:r>
          </a:p>
          <a:p>
            <a:endParaRPr lang="en-US" dirty="0">
              <a:latin typeface="Arial" pitchFamily="34" charset="0"/>
              <a:cs typeface="Arial" pitchFamily="34" charset="0"/>
            </a:endParaRPr>
          </a:p>
          <a:p>
            <a:pPr marL="342900" indent="-342900">
              <a:buFont typeface="Arial" pitchFamily="34" charset="0"/>
              <a:buChar char="•"/>
            </a:pPr>
            <a:r>
              <a:rPr lang="en-US" b="1" dirty="0"/>
              <a:t>CM</a:t>
            </a:r>
            <a:r>
              <a:rPr lang="en-US" dirty="0"/>
              <a:t> Corrective maintenance (planned and scheduled)</a:t>
            </a:r>
            <a:r>
              <a:rPr lang="en-US" dirty="0">
                <a:latin typeface="Arial" pitchFamily="34" charset="0"/>
                <a:cs typeface="Arial" pitchFamily="34" charset="0"/>
              </a:rPr>
              <a:t> </a:t>
            </a:r>
            <a:endParaRPr lang="en-US" dirty="0" smtClean="0">
              <a:latin typeface="Arial" pitchFamily="34" charset="0"/>
              <a:cs typeface="Arial" pitchFamily="34" charset="0"/>
            </a:endParaRPr>
          </a:p>
          <a:p>
            <a:pPr marL="342900" indent="-342900">
              <a:buFont typeface="Arial" pitchFamily="34" charset="0"/>
              <a:buChar char="•"/>
            </a:pPr>
            <a:endParaRPr lang="en-US" dirty="0" smtClean="0">
              <a:latin typeface="Arial" pitchFamily="34" charset="0"/>
              <a:cs typeface="Arial" pitchFamily="34" charset="0"/>
            </a:endParaRPr>
          </a:p>
          <a:p>
            <a:pPr marL="342900" indent="-342900">
              <a:buFont typeface="Arial" pitchFamily="34" charset="0"/>
              <a:buChar char="•"/>
            </a:pPr>
            <a:r>
              <a:rPr lang="en-US" b="1" dirty="0"/>
              <a:t>EM </a:t>
            </a:r>
            <a:r>
              <a:rPr lang="en-US" dirty="0"/>
              <a:t>Emergency Work (unplanned/unscheduled</a:t>
            </a:r>
            <a:r>
              <a:rPr lang="en-US" dirty="0" smtClean="0"/>
              <a:t>)</a:t>
            </a:r>
          </a:p>
          <a:p>
            <a:pPr marL="342900" indent="-342900">
              <a:buFont typeface="Arial" pitchFamily="34" charset="0"/>
              <a:buChar char="•"/>
            </a:pPr>
            <a:endParaRPr lang="en-US" dirty="0" smtClean="0"/>
          </a:p>
          <a:p>
            <a:pPr marL="342900" indent="-342900">
              <a:buFont typeface="Arial" pitchFamily="34" charset="0"/>
              <a:buChar char="•"/>
            </a:pPr>
            <a:r>
              <a:rPr lang="en-US" b="1" dirty="0"/>
              <a:t>UCM </a:t>
            </a:r>
            <a:r>
              <a:rPr lang="en-US" dirty="0"/>
              <a:t>Unplanned corrective work</a:t>
            </a:r>
            <a:r>
              <a:rPr lang="en-US" b="1" dirty="0"/>
              <a:t> </a:t>
            </a:r>
            <a:r>
              <a:rPr lang="en-US" dirty="0"/>
              <a:t>(unplanned &amp; scheduled</a:t>
            </a:r>
            <a:r>
              <a:rPr lang="en-US" dirty="0" smtClean="0"/>
              <a:t>)</a:t>
            </a:r>
          </a:p>
          <a:p>
            <a:pPr marL="342900" indent="-342900">
              <a:buFont typeface="Arial" pitchFamily="34" charset="0"/>
              <a:buChar char="•"/>
            </a:pPr>
            <a:endParaRPr lang="en-US" dirty="0" smtClean="0"/>
          </a:p>
          <a:p>
            <a:pPr marL="342900" indent="-342900">
              <a:buFont typeface="Arial" pitchFamily="34" charset="0"/>
              <a:buChar char="•"/>
            </a:pPr>
            <a:r>
              <a:rPr lang="en-US" b="1" dirty="0"/>
              <a:t>PM </a:t>
            </a:r>
            <a:r>
              <a:rPr lang="en-US" dirty="0"/>
              <a:t> Preventive/predictive Maintenance </a:t>
            </a:r>
            <a:endParaRPr lang="en-US" dirty="0" smtClean="0"/>
          </a:p>
          <a:p>
            <a:pPr marL="914400"/>
            <a:r>
              <a:rPr lang="en-US" dirty="0" smtClean="0"/>
              <a:t>(</a:t>
            </a:r>
            <a:r>
              <a:rPr lang="en-US" dirty="0"/>
              <a:t>planned/scheduled by SAP</a:t>
            </a:r>
            <a:r>
              <a:rPr lang="en-US" dirty="0" smtClean="0"/>
              <a:t>)</a:t>
            </a:r>
            <a:endParaRPr lang="en-US" dirty="0"/>
          </a:p>
          <a:p>
            <a:pPr marL="342900" indent="-342900">
              <a:buFont typeface="Arial" pitchFamily="34" charset="0"/>
              <a:buChar char="•"/>
            </a:pPr>
            <a:endParaRPr lang="en-US" dirty="0"/>
          </a:p>
          <a:p>
            <a:pPr marL="342900" indent="-342900">
              <a:buFont typeface="Arial" pitchFamily="34" charset="0"/>
              <a:buChar char="•"/>
            </a:pPr>
            <a:endParaRPr lang="en-US" dirty="0">
              <a:latin typeface="Arial" pitchFamily="34" charset="0"/>
              <a:cs typeface="Arial" pitchFamily="34" charset="0"/>
            </a:endParaRPr>
          </a:p>
          <a:p>
            <a:pPr marL="342900" indent="-342900">
              <a:buFont typeface="Arial" pitchFamily="34" charset="0"/>
              <a:buChar char="•"/>
            </a:pPr>
            <a:endParaRPr lang="en-US" dirty="0"/>
          </a:p>
        </p:txBody>
      </p:sp>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42</a:t>
            </a:fld>
            <a:endParaRPr lang="en-US" sz="1400" dirty="0">
              <a:solidFill>
                <a:schemeClr val="bg2"/>
              </a:solidFill>
            </a:endParaRPr>
          </a:p>
        </p:txBody>
      </p:sp>
    </p:spTree>
    <p:extLst>
      <p:ext uri="{BB962C8B-B14F-4D97-AF65-F5344CB8AC3E}">
        <p14:creationId xmlns:p14="http://schemas.microsoft.com/office/powerpoint/2010/main" val="4803354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5467350" cy="3224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301625" y="990600"/>
            <a:ext cx="8537575" cy="1524000"/>
          </a:xfrm>
        </p:spPr>
        <p:txBody>
          <a:bodyPr/>
          <a:lstStyle/>
          <a:p>
            <a:r>
              <a:rPr lang="en-US" dirty="0" smtClean="0"/>
              <a:t>SAP gives you the option of creating an order directly from a notification using transaction IW28.</a:t>
            </a:r>
            <a:endParaRPr lang="en-US" dirty="0"/>
          </a:p>
        </p:txBody>
      </p:sp>
      <p:sp>
        <p:nvSpPr>
          <p:cNvPr id="6" name="AutoShape 18"/>
          <p:cNvSpPr>
            <a:spLocks noChangeArrowheads="1"/>
          </p:cNvSpPr>
          <p:nvPr/>
        </p:nvSpPr>
        <p:spPr bwMode="auto">
          <a:xfrm>
            <a:off x="1492250" y="4022725"/>
            <a:ext cx="4133850" cy="2682875"/>
          </a:xfrm>
          <a:prstGeom prst="wedgeRectCallout">
            <a:avLst>
              <a:gd name="adj1" fmla="val 21205"/>
              <a:gd name="adj2" fmla="val -114748"/>
            </a:avLst>
          </a:prstGeom>
          <a:solidFill>
            <a:srgbClr val="FFE04F">
              <a:alpha val="50999"/>
            </a:srgbClr>
          </a:solidFill>
          <a:ln w="9525">
            <a:solidFill>
              <a:schemeClr val="folHlink"/>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7" name="Rectangle 19"/>
          <p:cNvSpPr>
            <a:spLocks noChangeArrowheads="1"/>
          </p:cNvSpPr>
          <p:nvPr/>
        </p:nvSpPr>
        <p:spPr bwMode="auto">
          <a:xfrm>
            <a:off x="3886200" y="2133600"/>
            <a:ext cx="838200" cy="228600"/>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8" name="Text Box 20"/>
          <p:cNvSpPr txBox="1">
            <a:spLocks noChangeArrowheads="1"/>
          </p:cNvSpPr>
          <p:nvPr/>
        </p:nvSpPr>
        <p:spPr bwMode="auto">
          <a:xfrm>
            <a:off x="6019800" y="3124200"/>
            <a:ext cx="2819400" cy="318127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           the Create </a:t>
            </a:r>
            <a:r>
              <a:rPr lang="en-US" dirty="0"/>
              <a:t>O</a:t>
            </a:r>
            <a:r>
              <a:rPr lang="en-US" dirty="0" smtClean="0"/>
              <a:t>rder icon to create an order from a notification.</a:t>
            </a:r>
          </a:p>
          <a:p>
            <a:endParaRPr lang="en-US" dirty="0"/>
          </a:p>
          <a:p>
            <a:r>
              <a:rPr lang="en-US" dirty="0" smtClean="0"/>
              <a:t>Enter any necessary object information, then click        the Enter icon to go to the </a:t>
            </a:r>
            <a:r>
              <a:rPr lang="en-US" i="1" dirty="0" smtClean="0"/>
              <a:t>Create Corrective/Routine Work Order: Central Header </a:t>
            </a:r>
            <a:r>
              <a:rPr lang="en-US" dirty="0" smtClean="0"/>
              <a:t>screen.</a:t>
            </a:r>
            <a:endParaRPr lang="en-US" dirty="0"/>
          </a:p>
        </p:txBody>
      </p:sp>
      <p:grpSp>
        <p:nvGrpSpPr>
          <p:cNvPr id="9" name="Group 8"/>
          <p:cNvGrpSpPr>
            <a:grpSpLocks/>
          </p:cNvGrpSpPr>
          <p:nvPr/>
        </p:nvGrpSpPr>
        <p:grpSpPr bwMode="auto">
          <a:xfrm>
            <a:off x="4559300" y="2379662"/>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626100" y="3446462"/>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7" name="Group 24"/>
          <p:cNvGrpSpPr>
            <a:grpSpLocks/>
          </p:cNvGrpSpPr>
          <p:nvPr/>
        </p:nvGrpSpPr>
        <p:grpSpPr bwMode="auto">
          <a:xfrm>
            <a:off x="1066800" y="4665662"/>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20" name="Group 24"/>
          <p:cNvGrpSpPr>
            <a:grpSpLocks/>
          </p:cNvGrpSpPr>
          <p:nvPr/>
        </p:nvGrpSpPr>
        <p:grpSpPr bwMode="auto">
          <a:xfrm>
            <a:off x="5638800" y="4665662"/>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Create an Order From a Notification</a:t>
            </a:r>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3429000"/>
            <a:ext cx="56197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114800"/>
            <a:ext cx="3860800" cy="2432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2450" y="4805362"/>
            <a:ext cx="205309" cy="215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43</a:t>
            </a:fld>
            <a:endParaRPr lang="en-US" sz="1400" dirty="0">
              <a:solidFill>
                <a:schemeClr val="bg2"/>
              </a:solidFill>
            </a:endParaRPr>
          </a:p>
        </p:txBody>
      </p:sp>
    </p:spTree>
    <p:extLst>
      <p:ext uri="{BB962C8B-B14F-4D97-AF65-F5344CB8AC3E}">
        <p14:creationId xmlns:p14="http://schemas.microsoft.com/office/powerpoint/2010/main" val="2526317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Work Order From a Notification</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Notifications: Selection of Notifications</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IW28</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a:t>
            </a:r>
            <a:r>
              <a:rPr lang="en-US" dirty="0"/>
              <a:t>Processing &gt; Notification </a:t>
            </a:r>
            <a:r>
              <a:rPr lang="en-US" dirty="0" smtClean="0"/>
              <a:t>&gt;                                    List Editing &gt; Change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44</a:t>
            </a:fld>
            <a:endParaRPr lang="en-US" sz="1400" dirty="0">
              <a:solidFill>
                <a:srgbClr val="4D4D4D"/>
              </a:solidFill>
            </a:endParaRPr>
          </a:p>
        </p:txBody>
      </p:sp>
    </p:spTree>
    <p:extLst>
      <p:ext uri="{BB962C8B-B14F-4D97-AF65-F5344CB8AC3E}">
        <p14:creationId xmlns:p14="http://schemas.microsoft.com/office/powerpoint/2010/main" val="2908602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You have received a PM notification and need to create a work order.</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414252"/>
            <a:ext cx="2297061" cy="3062748"/>
          </a:xfrm>
          <a:prstGeom prst="rect">
            <a:avLst/>
          </a:prstGeom>
          <a:noFill/>
        </p:spPr>
      </p:pic>
      <p:sp>
        <p:nvSpPr>
          <p:cNvPr id="5" name="TextBox 4"/>
          <p:cNvSpPr txBox="1"/>
          <p:nvPr/>
        </p:nvSpPr>
        <p:spPr>
          <a:xfrm>
            <a:off x="228600" y="5848290"/>
            <a:ext cx="6781800" cy="707886"/>
          </a:xfrm>
          <a:prstGeom prst="rect">
            <a:avLst/>
          </a:prstGeom>
          <a:noFill/>
        </p:spPr>
        <p:txBody>
          <a:bodyPr wrap="square" rtlCol="0">
            <a:spAutoFit/>
          </a:bodyPr>
          <a:lstStyle/>
          <a:p>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4.1 Create a Work Order from a    			 Notification</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45</a:t>
            </a:fld>
            <a:endParaRPr lang="en-US" sz="1400" dirty="0">
              <a:solidFill>
                <a:schemeClr val="bg2"/>
              </a:solidFill>
            </a:endParaRPr>
          </a:p>
        </p:txBody>
      </p:sp>
    </p:spTree>
    <p:extLst>
      <p:ext uri="{BB962C8B-B14F-4D97-AF65-F5344CB8AC3E}">
        <p14:creationId xmlns:p14="http://schemas.microsoft.com/office/powerpoint/2010/main" val="17974485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Emergency Work in SAP</a:t>
            </a:r>
            <a:endParaRPr lang="en-US" dirty="0"/>
          </a:p>
        </p:txBody>
      </p:sp>
      <p:sp>
        <p:nvSpPr>
          <p:cNvPr id="3" name="Content Placeholder 2"/>
          <p:cNvSpPr>
            <a:spLocks noGrp="1"/>
          </p:cNvSpPr>
          <p:nvPr>
            <p:ph idx="1"/>
          </p:nvPr>
        </p:nvSpPr>
        <p:spPr/>
        <p:txBody>
          <a:bodyPr/>
          <a:lstStyle/>
          <a:p>
            <a:r>
              <a:rPr lang="en-US" dirty="0" smtClean="0"/>
              <a:t>Emergency work is considered to be a life or death scenario, or imminent danger to public safety. When confronting a situation as such:</a:t>
            </a:r>
          </a:p>
          <a:p>
            <a:pPr marL="342900" indent="-342900">
              <a:buFont typeface="Arial" pitchFamily="34" charset="0"/>
              <a:buChar char="•"/>
            </a:pPr>
            <a:endParaRPr lang="en-US" dirty="0" smtClean="0"/>
          </a:p>
          <a:p>
            <a:pPr marL="342900" indent="-342900">
              <a:buFont typeface="Arial" pitchFamily="34" charset="0"/>
              <a:buChar char="•"/>
            </a:pPr>
            <a:r>
              <a:rPr lang="en-US" dirty="0" smtClean="0"/>
              <a:t>Work is done immediately with a work order being created and closed after the work has been completed</a:t>
            </a:r>
          </a:p>
          <a:p>
            <a:pPr marL="342900" indent="-342900">
              <a:buFont typeface="Arial" pitchFamily="34" charset="0"/>
              <a:buChar char="•"/>
            </a:pPr>
            <a:endParaRPr lang="en-US" dirty="0"/>
          </a:p>
          <a:p>
            <a:pPr marL="342900" indent="-342900">
              <a:buFont typeface="Arial" pitchFamily="34" charset="0"/>
              <a:buChar char="•"/>
            </a:pPr>
            <a:r>
              <a:rPr lang="en-US" dirty="0" smtClean="0"/>
              <a:t>Work orders can remain open in the event a part that is needed, is not immediately available. Once the part is available and the work is completed, the work order can be closed</a:t>
            </a:r>
            <a:endParaRPr lang="en-US" dirty="0"/>
          </a:p>
        </p:txBody>
      </p:sp>
      <p:sp>
        <p:nvSpPr>
          <p:cNvPr id="5"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46</a:t>
            </a:fld>
            <a:endParaRPr lang="en-US" sz="1400" dirty="0">
              <a:solidFill>
                <a:schemeClr val="bg2"/>
              </a:solidFill>
            </a:endParaRPr>
          </a:p>
        </p:txBody>
      </p:sp>
    </p:spTree>
    <p:extLst>
      <p:ext uri="{BB962C8B-B14F-4D97-AF65-F5344CB8AC3E}">
        <p14:creationId xmlns:p14="http://schemas.microsoft.com/office/powerpoint/2010/main" val="9876513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In an emergency situation, a work order is created manually as there is not a notification available to initiate it. Use transaction IW31 to create the work order.</a:t>
            </a:r>
            <a:r>
              <a:rPr lang="en-US" dirty="0" smtClean="0"/>
              <a:t> </a:t>
            </a:r>
            <a:endParaRPr lang="en-US" dirty="0"/>
          </a:p>
        </p:txBody>
      </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Create a </a:t>
            </a:r>
            <a:r>
              <a:rPr lang="en-US" dirty="0" smtClean="0"/>
              <a:t>Manual Work </a:t>
            </a:r>
            <a:r>
              <a:rPr lang="en-US" dirty="0" smtClean="0"/>
              <a:t>Order</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08853"/>
            <a:ext cx="6553199" cy="3610947"/>
          </a:xfrm>
          <a:prstGeom prst="rect">
            <a:avLst/>
          </a:prstGeom>
          <a:no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47</a:t>
            </a:fld>
            <a:endParaRPr lang="en-US" sz="1400" dirty="0">
              <a:solidFill>
                <a:schemeClr val="bg2"/>
              </a:solidFill>
            </a:endParaRPr>
          </a:p>
        </p:txBody>
      </p:sp>
    </p:spTree>
    <p:extLst>
      <p:ext uri="{BB962C8B-B14F-4D97-AF65-F5344CB8AC3E}">
        <p14:creationId xmlns:p14="http://schemas.microsoft.com/office/powerpoint/2010/main" val="10763280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Manual Work Order</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Create Order</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IW31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a:t>
            </a:r>
            <a:r>
              <a:rPr lang="en-US" dirty="0"/>
              <a:t>Processing &gt; </a:t>
            </a:r>
            <a:r>
              <a:rPr lang="en-US" dirty="0" smtClean="0"/>
              <a:t>Order &gt;                                        Create (General) </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48</a:t>
            </a:fld>
            <a:endParaRPr lang="en-US" sz="1400" dirty="0">
              <a:solidFill>
                <a:srgbClr val="4D4D4D"/>
              </a:solidFill>
            </a:endParaRPr>
          </a:p>
        </p:txBody>
      </p:sp>
    </p:spTree>
    <p:extLst>
      <p:ext uri="{BB962C8B-B14F-4D97-AF65-F5344CB8AC3E}">
        <p14:creationId xmlns:p14="http://schemas.microsoft.com/office/powerpoint/2010/main" val="2905268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 work order is required to complete corrective maintenance to replace a faulty meter.</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655209" y="31242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r>
              <a:rPr lang="en-US" sz="2000" b="1" dirty="0">
                <a:solidFill>
                  <a:srgbClr val="DADADA">
                    <a:lumMod val="10000"/>
                  </a:srgbClr>
                </a:solidFill>
                <a:latin typeface="Verdana" pitchFamily="34" charset="0"/>
                <a:ea typeface="Verdana" pitchFamily="34" charset="0"/>
                <a:cs typeface="Verdana" pitchFamily="34" charset="0"/>
              </a:rPr>
              <a:t>Exercise: 4</a:t>
            </a:r>
            <a:r>
              <a:rPr lang="en-US" sz="2000" b="1" dirty="0" smtClean="0">
                <a:solidFill>
                  <a:srgbClr val="DADADA">
                    <a:lumMod val="10000"/>
                  </a:srgbClr>
                </a:solidFill>
                <a:latin typeface="Verdana" pitchFamily="34" charset="0"/>
                <a:ea typeface="Verdana" pitchFamily="34" charset="0"/>
                <a:cs typeface="Verdana" pitchFamily="34" charset="0"/>
              </a:rPr>
              <a:t>.2 Create a Manual Work Order</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49</a:t>
            </a:fld>
            <a:endParaRPr lang="en-US" sz="1400" dirty="0">
              <a:solidFill>
                <a:schemeClr val="bg2"/>
              </a:solidFill>
            </a:endParaRPr>
          </a:p>
        </p:txBody>
      </p:sp>
    </p:spTree>
    <p:extLst>
      <p:ext uri="{BB962C8B-B14F-4D97-AF65-F5344CB8AC3E}">
        <p14:creationId xmlns:p14="http://schemas.microsoft.com/office/powerpoint/2010/main" val="174704573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Use transaction IW37N to display general work order information, which includes the personnel number in the </a:t>
            </a:r>
            <a:r>
              <a:rPr lang="en-US" b="1" dirty="0" err="1" smtClean="0"/>
              <a:t>Pers.No</a:t>
            </a:r>
            <a:r>
              <a:rPr lang="en-US" dirty="0" smtClean="0"/>
              <a:t> field.</a:t>
            </a:r>
            <a:endParaRPr lang="en-US" dirty="0"/>
          </a:p>
        </p:txBody>
      </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View an Assigned Work order</a:t>
            </a:r>
            <a:endParaRPr 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62200"/>
            <a:ext cx="7848599" cy="3424237"/>
          </a:xfrm>
          <a:prstGeom prst="rect">
            <a:avLst/>
          </a:prstGeom>
          <a:noFill/>
          <a:ln>
            <a:noFill/>
          </a:ln>
          <a:effectLst>
            <a:outerShdw blurRad="50800" dist="38100" dir="16200000"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19"/>
          <p:cNvSpPr>
            <a:spLocks noChangeArrowheads="1"/>
          </p:cNvSpPr>
          <p:nvPr/>
        </p:nvSpPr>
        <p:spPr bwMode="auto">
          <a:xfrm>
            <a:off x="7924800" y="3048000"/>
            <a:ext cx="685800" cy="2286000"/>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50</a:t>
            </a:fld>
            <a:endParaRPr lang="en-US" sz="1400" dirty="0">
              <a:solidFill>
                <a:schemeClr val="bg2"/>
              </a:solidFill>
            </a:endParaRPr>
          </a:p>
        </p:txBody>
      </p:sp>
    </p:spTree>
    <p:extLst>
      <p:ext uri="{BB962C8B-B14F-4D97-AF65-F5344CB8AC3E}">
        <p14:creationId xmlns:p14="http://schemas.microsoft.com/office/powerpoint/2010/main" val="19060501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Materials, Time, and Resources</a:t>
            </a:r>
            <a:endParaRPr lang="en-US" dirty="0"/>
          </a:p>
        </p:txBody>
      </p:sp>
      <p:sp>
        <p:nvSpPr>
          <p:cNvPr id="3" name="Content Placeholder 2"/>
          <p:cNvSpPr>
            <a:spLocks noGrp="1"/>
          </p:cNvSpPr>
          <p:nvPr>
            <p:ph idx="1"/>
          </p:nvPr>
        </p:nvSpPr>
        <p:spPr>
          <a:xfrm>
            <a:off x="76200" y="1143000"/>
            <a:ext cx="8537575" cy="4983163"/>
          </a:xfrm>
        </p:spPr>
        <p:txBody>
          <a:bodyPr/>
          <a:lstStyle/>
          <a:p>
            <a:r>
              <a:rPr lang="en-US" dirty="0" smtClean="0"/>
              <a:t>Work orders contain important information needed for the job to be assigned and completed:</a:t>
            </a:r>
          </a:p>
          <a:p>
            <a:pPr marL="342900" indent="-342900">
              <a:buFont typeface="Arial" pitchFamily="34" charset="0"/>
              <a:buChar char="•"/>
            </a:pPr>
            <a:endParaRPr lang="en-US" dirty="0" smtClean="0"/>
          </a:p>
          <a:p>
            <a:pPr marL="342900" indent="-342900">
              <a:buFont typeface="Arial" pitchFamily="34" charset="0"/>
              <a:buChar char="•"/>
            </a:pPr>
            <a:r>
              <a:rPr lang="en-US" dirty="0" smtClean="0"/>
              <a:t>Materials necessary for the work to be completed are added to the order</a:t>
            </a:r>
          </a:p>
          <a:p>
            <a:pPr marL="342900" indent="-342900">
              <a:buFont typeface="Arial" pitchFamily="34" charset="0"/>
              <a:buChar char="•"/>
            </a:pPr>
            <a:endParaRPr lang="en-US" dirty="0"/>
          </a:p>
          <a:p>
            <a:pPr marL="342900" indent="-342900">
              <a:buFont typeface="Arial" pitchFamily="34" charset="0"/>
              <a:buChar char="•"/>
            </a:pPr>
            <a:r>
              <a:rPr lang="en-US" dirty="0" smtClean="0"/>
              <a:t>Job start and finish times are added to the order</a:t>
            </a:r>
          </a:p>
          <a:p>
            <a:pPr marL="342900" indent="-342900">
              <a:buFont typeface="Arial" pitchFamily="34" charset="0"/>
              <a:buChar char="•"/>
            </a:pPr>
            <a:endParaRPr lang="en-US" dirty="0"/>
          </a:p>
          <a:p>
            <a:pPr marL="342900" indent="-342900">
              <a:buFont typeface="Arial" pitchFamily="34" charset="0"/>
              <a:buChar char="•"/>
            </a:pPr>
            <a:r>
              <a:rPr lang="en-US" dirty="0" smtClean="0"/>
              <a:t>Each order is assigned to a technician to be completed.</a:t>
            </a:r>
            <a:endParaRPr lang="en-US" dirty="0"/>
          </a:p>
        </p:txBody>
      </p:sp>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51</a:t>
            </a:fld>
            <a:endParaRPr lang="en-US" sz="1400" dirty="0">
              <a:solidFill>
                <a:schemeClr val="bg2"/>
              </a:solidFill>
            </a:endParaRPr>
          </a:p>
        </p:txBody>
      </p:sp>
    </p:spTree>
    <p:extLst>
      <p:ext uri="{BB962C8B-B14F-4D97-AF65-F5344CB8AC3E}">
        <p14:creationId xmlns:p14="http://schemas.microsoft.com/office/powerpoint/2010/main" val="335462203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Materials to an Order </a:t>
            </a:r>
            <a:endParaRPr lang="en-US" dirty="0"/>
          </a:p>
        </p:txBody>
      </p:sp>
      <p:sp>
        <p:nvSpPr>
          <p:cNvPr id="3" name="Content Placeholder 2"/>
          <p:cNvSpPr>
            <a:spLocks noGrp="1"/>
          </p:cNvSpPr>
          <p:nvPr>
            <p:ph idx="1"/>
          </p:nvPr>
        </p:nvSpPr>
        <p:spPr>
          <a:xfrm>
            <a:off x="301625" y="1143001"/>
            <a:ext cx="8537575" cy="685799"/>
          </a:xfrm>
        </p:spPr>
        <p:txBody>
          <a:bodyPr/>
          <a:lstStyle/>
          <a:p>
            <a:r>
              <a:rPr lang="en-US" dirty="0" smtClean="0"/>
              <a:t>Use the Components tab to add materials needed to complete the order.</a:t>
            </a:r>
            <a:endParaRPr lang="en-US"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828800"/>
            <a:ext cx="8686800" cy="4572000"/>
          </a:xfrm>
          <a:prstGeom prst="rect">
            <a:avLst/>
          </a:pr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52</a:t>
            </a:fld>
            <a:endParaRPr lang="en-US" sz="1400" dirty="0">
              <a:solidFill>
                <a:schemeClr val="bg2"/>
              </a:solidFill>
            </a:endParaRPr>
          </a:p>
        </p:txBody>
      </p:sp>
    </p:spTree>
    <p:extLst>
      <p:ext uri="{BB962C8B-B14F-4D97-AF65-F5344CB8AC3E}">
        <p14:creationId xmlns:p14="http://schemas.microsoft.com/office/powerpoint/2010/main" val="3409938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Time to an Order</a:t>
            </a:r>
            <a:endParaRPr lang="en-US" dirty="0"/>
          </a:p>
        </p:txBody>
      </p:sp>
      <p:sp>
        <p:nvSpPr>
          <p:cNvPr id="3" name="Content Placeholder 2"/>
          <p:cNvSpPr>
            <a:spLocks noGrp="1"/>
          </p:cNvSpPr>
          <p:nvPr>
            <p:ph idx="1"/>
          </p:nvPr>
        </p:nvSpPr>
        <p:spPr>
          <a:xfrm>
            <a:off x="301625" y="1143001"/>
            <a:ext cx="8537575" cy="685799"/>
          </a:xfrm>
        </p:spPr>
        <p:txBody>
          <a:bodyPr/>
          <a:lstStyle/>
          <a:p>
            <a:r>
              <a:rPr lang="en-US" dirty="0" smtClean="0"/>
              <a:t>By entering the number of resources needed in the </a:t>
            </a:r>
            <a:r>
              <a:rPr lang="en-US" b="1" dirty="0" smtClean="0"/>
              <a:t>Number</a:t>
            </a:r>
            <a:r>
              <a:rPr lang="en-US" dirty="0" smtClean="0"/>
              <a:t> field, the work duration automatically calculates and populates the </a:t>
            </a:r>
            <a:r>
              <a:rPr lang="en-US" b="1" dirty="0" smtClean="0"/>
              <a:t>Work</a:t>
            </a:r>
            <a:r>
              <a:rPr lang="en-US" dirty="0" smtClean="0"/>
              <a:t> field.</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 y="2390775"/>
            <a:ext cx="8583613" cy="3781425"/>
          </a:xfrm>
          <a:prstGeom prst="rect">
            <a:avLst/>
          </a:prstGeom>
          <a:noFill/>
          <a:ln>
            <a:noFill/>
          </a:ln>
          <a:effectLst>
            <a:glow rad="228600">
              <a:schemeClr val="accent1">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19"/>
          <p:cNvSpPr>
            <a:spLocks noChangeArrowheads="1"/>
          </p:cNvSpPr>
          <p:nvPr/>
        </p:nvSpPr>
        <p:spPr bwMode="auto">
          <a:xfrm>
            <a:off x="6019800" y="4495800"/>
            <a:ext cx="2057400" cy="1676400"/>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53</a:t>
            </a:fld>
            <a:endParaRPr lang="en-US" sz="1400" dirty="0">
              <a:solidFill>
                <a:schemeClr val="bg2"/>
              </a:solidFill>
            </a:endParaRPr>
          </a:p>
        </p:txBody>
      </p:sp>
    </p:spTree>
    <p:extLst>
      <p:ext uri="{BB962C8B-B14F-4D97-AF65-F5344CB8AC3E}">
        <p14:creationId xmlns:p14="http://schemas.microsoft.com/office/powerpoint/2010/main" val="20406549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4838700" cy="50134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301625" y="990600"/>
            <a:ext cx="8537575" cy="1524000"/>
          </a:xfrm>
        </p:spPr>
        <p:txBody>
          <a:bodyPr/>
          <a:lstStyle/>
          <a:p>
            <a:r>
              <a:rPr lang="en-US" dirty="0" smtClean="0"/>
              <a:t>Adding a resource to an order is a two step process.</a:t>
            </a:r>
            <a:endParaRPr lang="en-US" dirty="0"/>
          </a:p>
        </p:txBody>
      </p:sp>
      <p:sp>
        <p:nvSpPr>
          <p:cNvPr id="6" name="AutoShape 18"/>
          <p:cNvSpPr>
            <a:spLocks noChangeArrowheads="1"/>
          </p:cNvSpPr>
          <p:nvPr/>
        </p:nvSpPr>
        <p:spPr bwMode="auto">
          <a:xfrm>
            <a:off x="3028950" y="4085431"/>
            <a:ext cx="3905250" cy="2620169"/>
          </a:xfrm>
          <a:prstGeom prst="wedgeRectCallout">
            <a:avLst>
              <a:gd name="adj1" fmla="val -74139"/>
              <a:gd name="adj2" fmla="val 29223"/>
            </a:avLst>
          </a:prstGeom>
          <a:solidFill>
            <a:srgbClr val="FFE04F">
              <a:alpha val="50999"/>
            </a:srgbClr>
          </a:solidFill>
          <a:ln w="9525">
            <a:solidFill>
              <a:schemeClr val="folHlink"/>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7" name="Rectangle 19"/>
          <p:cNvSpPr>
            <a:spLocks noChangeArrowheads="1"/>
          </p:cNvSpPr>
          <p:nvPr/>
        </p:nvSpPr>
        <p:spPr bwMode="auto">
          <a:xfrm>
            <a:off x="1219200" y="6172200"/>
            <a:ext cx="838200" cy="289034"/>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8" name="Text Box 20"/>
          <p:cNvSpPr txBox="1">
            <a:spLocks noChangeArrowheads="1"/>
          </p:cNvSpPr>
          <p:nvPr/>
        </p:nvSpPr>
        <p:spPr bwMode="auto">
          <a:xfrm>
            <a:off x="6172200" y="1447800"/>
            <a:ext cx="2819400" cy="24384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Highlight an operation and click              the Internal button to continue.</a:t>
            </a:r>
          </a:p>
          <a:p>
            <a:endParaRPr lang="en-US" dirty="0"/>
          </a:p>
          <a:p>
            <a:r>
              <a:rPr lang="en-US" dirty="0" smtClean="0"/>
              <a:t>Enter the personnel number in the </a:t>
            </a:r>
            <a:r>
              <a:rPr lang="en-US" b="1" dirty="0" smtClean="0"/>
              <a:t>Person. </a:t>
            </a:r>
            <a:r>
              <a:rPr lang="en-US" b="1" dirty="0"/>
              <a:t>n</a:t>
            </a:r>
            <a:r>
              <a:rPr lang="en-US" b="1" dirty="0" smtClean="0"/>
              <a:t>o </a:t>
            </a:r>
            <a:r>
              <a:rPr lang="en-US" dirty="0" smtClean="0"/>
              <a:t>field.</a:t>
            </a:r>
            <a:endParaRPr lang="en-US" dirty="0"/>
          </a:p>
        </p:txBody>
      </p:sp>
      <p:grpSp>
        <p:nvGrpSpPr>
          <p:cNvPr id="9" name="Group 8"/>
          <p:cNvGrpSpPr>
            <a:grpSpLocks/>
          </p:cNvGrpSpPr>
          <p:nvPr/>
        </p:nvGrpSpPr>
        <p:grpSpPr bwMode="auto">
          <a:xfrm>
            <a:off x="1358900" y="5715000"/>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778500" y="1676400"/>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7" name="Group 24"/>
          <p:cNvGrpSpPr>
            <a:grpSpLocks/>
          </p:cNvGrpSpPr>
          <p:nvPr/>
        </p:nvGrpSpPr>
        <p:grpSpPr bwMode="auto">
          <a:xfrm>
            <a:off x="2654300" y="3903662"/>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20" name="Group 24"/>
          <p:cNvGrpSpPr>
            <a:grpSpLocks/>
          </p:cNvGrpSpPr>
          <p:nvPr/>
        </p:nvGrpSpPr>
        <p:grpSpPr bwMode="auto">
          <a:xfrm>
            <a:off x="5778500" y="2819400"/>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Adding Resources to an Order</a:t>
            </a:r>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143125"/>
            <a:ext cx="7239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75" y="4258937"/>
            <a:ext cx="3514725" cy="2370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54</a:t>
            </a:fld>
            <a:endParaRPr lang="en-US" sz="1400" dirty="0">
              <a:solidFill>
                <a:schemeClr val="bg2"/>
              </a:solidFill>
            </a:endParaRPr>
          </a:p>
        </p:txBody>
      </p:sp>
    </p:spTree>
    <p:extLst>
      <p:ext uri="{BB962C8B-B14F-4D97-AF65-F5344CB8AC3E}">
        <p14:creationId xmlns:p14="http://schemas.microsoft.com/office/powerpoint/2010/main" val="1108749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Add Materials, Resources, and Time to a Work Order</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Order</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IW32</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a:t>
            </a:r>
            <a:r>
              <a:rPr lang="en-US" dirty="0"/>
              <a:t>Processing &gt; </a:t>
            </a:r>
            <a:r>
              <a:rPr lang="en-US" dirty="0" smtClean="0"/>
              <a:t>Order &gt;                                        Change </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55</a:t>
            </a:fld>
            <a:endParaRPr lang="en-US" sz="1400" dirty="0">
              <a:solidFill>
                <a:srgbClr val="4D4D4D"/>
              </a:solidFill>
            </a:endParaRPr>
          </a:p>
        </p:txBody>
      </p:sp>
    </p:spTree>
    <p:extLst>
      <p:ext uri="{BB962C8B-B14F-4D97-AF65-F5344CB8AC3E}">
        <p14:creationId xmlns:p14="http://schemas.microsoft.com/office/powerpoint/2010/main" val="32120447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You need to add information to a work order that has been recently created.</a:t>
            </a:r>
          </a:p>
          <a:p>
            <a:endParaRPr lang="en-US" b="1" dirty="0">
              <a:solidFill>
                <a:schemeClr val="accent4">
                  <a:lumMod val="10000"/>
                </a:schemeClr>
              </a:solidFill>
            </a:endParaRPr>
          </a:p>
          <a:p>
            <a:pPr marL="342900" indent="-342900">
              <a:buFont typeface="Arial" panose="020B0604020202020204" pitchFamily="34" charset="0"/>
              <a:buChar char="•"/>
            </a:pPr>
            <a:r>
              <a:rPr lang="en-US" b="1" dirty="0" smtClean="0">
                <a:solidFill>
                  <a:schemeClr val="accent4">
                    <a:lumMod val="10000"/>
                  </a:schemeClr>
                </a:solidFill>
              </a:rPr>
              <a:t>Add a 3 ¼” hose to the order</a:t>
            </a:r>
          </a:p>
          <a:p>
            <a:pPr marL="342900" indent="-342900">
              <a:buFont typeface="Arial" panose="020B0604020202020204" pitchFamily="34" charset="0"/>
              <a:buChar char="•"/>
            </a:pPr>
            <a:endParaRPr lang="en-US" b="1" dirty="0">
              <a:solidFill>
                <a:schemeClr val="accent4">
                  <a:lumMod val="10000"/>
                </a:schemeClr>
              </a:solidFill>
            </a:endParaRPr>
          </a:p>
          <a:p>
            <a:pPr marL="342900" indent="-342900">
              <a:buFont typeface="Arial" panose="020B0604020202020204" pitchFamily="34" charset="0"/>
              <a:buChar char="•"/>
            </a:pPr>
            <a:r>
              <a:rPr lang="en-US" b="1" dirty="0" smtClean="0">
                <a:solidFill>
                  <a:schemeClr val="accent4">
                    <a:lumMod val="10000"/>
                  </a:schemeClr>
                </a:solidFill>
              </a:rPr>
              <a:t>Enter a 2 in the Number field to calculate duration</a:t>
            </a:r>
          </a:p>
          <a:p>
            <a:pPr marL="342900" indent="-342900">
              <a:buFont typeface="Arial" panose="020B0604020202020204" pitchFamily="34" charset="0"/>
              <a:buChar char="•"/>
            </a:pPr>
            <a:endParaRPr lang="en-US" b="1" dirty="0">
              <a:solidFill>
                <a:schemeClr val="accent4">
                  <a:lumMod val="10000"/>
                </a:schemeClr>
              </a:solidFill>
            </a:endParaRPr>
          </a:p>
          <a:p>
            <a:pPr marL="342900" indent="-342900">
              <a:buFont typeface="Arial" panose="020B0604020202020204" pitchFamily="34" charset="0"/>
              <a:buChar char="•"/>
            </a:pPr>
            <a:r>
              <a:rPr lang="en-US" b="1" dirty="0" smtClean="0">
                <a:solidFill>
                  <a:schemeClr val="accent4">
                    <a:lumMod val="10000"/>
                  </a:schemeClr>
                </a:solidFill>
              </a:rPr>
              <a:t>Add a resource to the order</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7086600" y="4038600"/>
            <a:ext cx="2057400" cy="2743200"/>
          </a:xfrm>
          <a:prstGeom prst="rect">
            <a:avLst/>
          </a:prstGeom>
          <a:noFill/>
        </p:spPr>
      </p:pic>
      <p:sp>
        <p:nvSpPr>
          <p:cNvPr id="5" name="TextBox 4"/>
          <p:cNvSpPr txBox="1"/>
          <p:nvPr/>
        </p:nvSpPr>
        <p:spPr>
          <a:xfrm>
            <a:off x="228600" y="5848290"/>
            <a:ext cx="6781800" cy="707886"/>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4</a:t>
            </a:r>
            <a:r>
              <a:rPr lang="en-US" sz="2000" b="1" dirty="0" smtClean="0">
                <a:solidFill>
                  <a:srgbClr val="DADADA">
                    <a:lumMod val="10000"/>
                  </a:srgbClr>
                </a:solidFill>
                <a:latin typeface="Verdana" pitchFamily="34" charset="0"/>
                <a:ea typeface="Verdana" pitchFamily="34" charset="0"/>
                <a:cs typeface="Verdana" pitchFamily="34" charset="0"/>
              </a:rPr>
              <a:t>.3 Add Materials, Time, and Resources to a Work order</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56</a:t>
            </a:fld>
            <a:endParaRPr lang="en-US" sz="1400" dirty="0">
              <a:solidFill>
                <a:schemeClr val="bg2"/>
              </a:solidFill>
            </a:endParaRPr>
          </a:p>
        </p:txBody>
      </p:sp>
    </p:spTree>
    <p:extLst>
      <p:ext uri="{BB962C8B-B14F-4D97-AF65-F5344CB8AC3E}">
        <p14:creationId xmlns:p14="http://schemas.microsoft.com/office/powerpoint/2010/main" val="79634339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057775" y="4094580"/>
            <a:ext cx="3552825" cy="249789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3" name="Picture 2"/>
          <p:cNvPicPr>
            <a:picLocks noChangeAspect="1"/>
          </p:cNvPicPr>
          <p:nvPr/>
        </p:nvPicPr>
        <p:blipFill>
          <a:blip r:embed="rId3"/>
          <a:stretch>
            <a:fillRect/>
          </a:stretch>
        </p:blipFill>
        <p:spPr>
          <a:xfrm>
            <a:off x="301625" y="2266950"/>
            <a:ext cx="3825875" cy="260985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Rectangle 19"/>
          <p:cNvSpPr>
            <a:spLocks noChangeArrowheads="1"/>
          </p:cNvSpPr>
          <p:nvPr/>
        </p:nvSpPr>
        <p:spPr bwMode="auto">
          <a:xfrm>
            <a:off x="304800" y="2438400"/>
            <a:ext cx="457200" cy="515857"/>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grpSp>
        <p:nvGrpSpPr>
          <p:cNvPr id="9" name="Group 8"/>
          <p:cNvGrpSpPr>
            <a:grpSpLocks/>
          </p:cNvGrpSpPr>
          <p:nvPr/>
        </p:nvGrpSpPr>
        <p:grpSpPr bwMode="auto">
          <a:xfrm>
            <a:off x="4114800" y="2133600"/>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Release a Work Order</a:t>
            </a:r>
            <a:endParaRPr lang="en-US" dirty="0"/>
          </a:p>
        </p:txBody>
      </p:sp>
      <p:sp>
        <p:nvSpPr>
          <p:cNvPr id="27" name="Content Placeholder 2"/>
          <p:cNvSpPr txBox="1">
            <a:spLocks/>
          </p:cNvSpPr>
          <p:nvPr/>
        </p:nvSpPr>
        <p:spPr>
          <a:xfrm>
            <a:off x="152400" y="1066800"/>
            <a:ext cx="8689975" cy="4983163"/>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dirty="0"/>
              <a:t>In order for the work order to be available for review, it </a:t>
            </a:r>
            <a:r>
              <a:rPr lang="en-US" dirty="0" smtClean="0"/>
              <a:t>must first </a:t>
            </a:r>
            <a:r>
              <a:rPr lang="en-US" dirty="0"/>
              <a:t>be released. To release the work order, click the Release icon </a:t>
            </a:r>
            <a:r>
              <a:rPr lang="en-US" dirty="0" smtClean="0"/>
              <a:t>     or follow the menu path: </a:t>
            </a:r>
            <a:r>
              <a:rPr lang="en-US" b="1" dirty="0" smtClean="0"/>
              <a:t>Order</a:t>
            </a:r>
            <a:r>
              <a:rPr lang="en-US" dirty="0" smtClean="0"/>
              <a:t>      </a:t>
            </a:r>
            <a:r>
              <a:rPr lang="en-US" b="1" dirty="0" smtClean="0"/>
              <a:t>Functions</a:t>
            </a:r>
            <a:r>
              <a:rPr lang="en-US" dirty="0" smtClean="0"/>
              <a:t>       </a:t>
            </a:r>
            <a:r>
              <a:rPr lang="en-US" b="1" dirty="0" smtClean="0"/>
              <a:t>Release</a:t>
            </a:r>
            <a:endParaRPr lang="en-US" b="1" dirty="0"/>
          </a:p>
          <a:p>
            <a:endParaRPr lang="en-US" dirty="0"/>
          </a:p>
        </p:txBody>
      </p:sp>
      <p:sp>
        <p:nvSpPr>
          <p:cNvPr id="28" name="Curved Right Arrow 27"/>
          <p:cNvSpPr/>
          <p:nvPr/>
        </p:nvSpPr>
        <p:spPr bwMode="auto">
          <a:xfrm rot="17778536">
            <a:off x="3219757" y="4539434"/>
            <a:ext cx="882213" cy="2605326"/>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9" name="Rectangle 19"/>
          <p:cNvSpPr>
            <a:spLocks noChangeArrowheads="1"/>
          </p:cNvSpPr>
          <p:nvPr/>
        </p:nvSpPr>
        <p:spPr bwMode="auto">
          <a:xfrm>
            <a:off x="5410200" y="4191000"/>
            <a:ext cx="609600" cy="515857"/>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grpSp>
        <p:nvGrpSpPr>
          <p:cNvPr id="17" name="Group 24"/>
          <p:cNvGrpSpPr>
            <a:grpSpLocks/>
          </p:cNvGrpSpPr>
          <p:nvPr/>
        </p:nvGrpSpPr>
        <p:grpSpPr bwMode="auto">
          <a:xfrm>
            <a:off x="4724400" y="3733800"/>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57</a:t>
            </a:fld>
            <a:endParaRPr lang="en-US" sz="1400" dirty="0">
              <a:solidFill>
                <a:schemeClr val="bg2"/>
              </a:solidFill>
            </a:endParaRPr>
          </a:p>
        </p:txBody>
      </p:sp>
      <p:pic>
        <p:nvPicPr>
          <p:cNvPr id="2" name="Picture 1"/>
          <p:cNvPicPr>
            <a:picLocks noChangeAspect="1"/>
          </p:cNvPicPr>
          <p:nvPr/>
        </p:nvPicPr>
        <p:blipFill>
          <a:blip r:embed="rId4"/>
          <a:stretch>
            <a:fillRect/>
          </a:stretch>
        </p:blipFill>
        <p:spPr>
          <a:xfrm>
            <a:off x="8124825" y="1407695"/>
            <a:ext cx="333375" cy="421105"/>
          </a:xfrm>
          <a:prstGeom prst="rect">
            <a:avLst/>
          </a:prstGeom>
        </p:spPr>
      </p:pic>
      <p:sp>
        <p:nvSpPr>
          <p:cNvPr id="25" name="Right Arrow 24"/>
          <p:cNvSpPr/>
          <p:nvPr/>
        </p:nvSpPr>
        <p:spPr bwMode="auto">
          <a:xfrm>
            <a:off x="4343400" y="1752600"/>
            <a:ext cx="453740" cy="218137"/>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31" name="Right Arrow 30"/>
          <p:cNvSpPr/>
          <p:nvPr/>
        </p:nvSpPr>
        <p:spPr bwMode="auto">
          <a:xfrm>
            <a:off x="6328060" y="1752600"/>
            <a:ext cx="453740" cy="218137"/>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0</a:t>
            </a:r>
          </a:p>
        </p:txBody>
      </p:sp>
    </p:spTree>
    <p:extLst>
      <p:ext uri="{BB962C8B-B14F-4D97-AF65-F5344CB8AC3E}">
        <p14:creationId xmlns:p14="http://schemas.microsoft.com/office/powerpoint/2010/main" val="3153677960"/>
      </p:ext>
    </p:extLst>
  </p:cSld>
  <p:clrMapOvr>
    <a:masterClrMapping/>
  </p:clrMapOvr>
  <p:transition>
    <p:fade thruBlk="1"/>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5579821" cy="3008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301625" y="990600"/>
            <a:ext cx="8537575" cy="1524000"/>
          </a:xfrm>
        </p:spPr>
        <p:txBody>
          <a:bodyPr/>
          <a:lstStyle/>
          <a:p>
            <a:r>
              <a:rPr lang="en-US" dirty="0" smtClean="0"/>
              <a:t>When necessary, unused materials from an order can be returned to warehouse stock using transaction IW41.</a:t>
            </a:r>
            <a:endParaRPr lang="en-US" dirty="0"/>
          </a:p>
        </p:txBody>
      </p:sp>
      <p:sp>
        <p:nvSpPr>
          <p:cNvPr id="6" name="AutoShape 18"/>
          <p:cNvSpPr>
            <a:spLocks noChangeArrowheads="1"/>
          </p:cNvSpPr>
          <p:nvPr/>
        </p:nvSpPr>
        <p:spPr bwMode="auto">
          <a:xfrm>
            <a:off x="762000" y="3977947"/>
            <a:ext cx="5357718" cy="2682875"/>
          </a:xfrm>
          <a:prstGeom prst="wedgeRectCallout">
            <a:avLst>
              <a:gd name="adj1" fmla="val -39815"/>
              <a:gd name="adj2" fmla="val -105346"/>
            </a:avLst>
          </a:prstGeom>
          <a:solidFill>
            <a:srgbClr val="FFE04F">
              <a:alpha val="50999"/>
            </a:srgbClr>
          </a:solidFill>
          <a:ln w="9525">
            <a:solidFill>
              <a:schemeClr val="folHlink"/>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smtClean="0">
              <a:solidFill>
                <a:srgbClr val="002E62"/>
              </a:solidFill>
              <a:cs typeface="Arial" charset="0"/>
            </a:endParaRPr>
          </a:p>
        </p:txBody>
      </p:sp>
      <p:sp>
        <p:nvSpPr>
          <p:cNvPr id="7" name="Rectangle 19"/>
          <p:cNvSpPr>
            <a:spLocks noChangeArrowheads="1"/>
          </p:cNvSpPr>
          <p:nvPr/>
        </p:nvSpPr>
        <p:spPr bwMode="auto">
          <a:xfrm>
            <a:off x="301625" y="2209799"/>
            <a:ext cx="1527175" cy="351631"/>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8" name="Text Box 20"/>
          <p:cNvSpPr txBox="1">
            <a:spLocks noChangeArrowheads="1"/>
          </p:cNvSpPr>
          <p:nvPr/>
        </p:nvSpPr>
        <p:spPr bwMode="auto">
          <a:xfrm>
            <a:off x="6096000" y="1676400"/>
            <a:ext cx="2819400" cy="318127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Click                       the Goods Movements icon to access the Goods Movements screen. </a:t>
            </a:r>
          </a:p>
          <a:p>
            <a:endParaRPr lang="en-US" dirty="0"/>
          </a:p>
          <a:p>
            <a:r>
              <a:rPr lang="en-US" dirty="0" smtClean="0"/>
              <a:t>In the Movement Type field, change </a:t>
            </a:r>
            <a:r>
              <a:rPr lang="en-US" b="1" dirty="0" smtClean="0"/>
              <a:t>261</a:t>
            </a:r>
            <a:r>
              <a:rPr lang="en-US" dirty="0" smtClean="0"/>
              <a:t> to </a:t>
            </a:r>
            <a:r>
              <a:rPr lang="en-US" b="1" dirty="0" smtClean="0"/>
              <a:t>262</a:t>
            </a:r>
            <a:r>
              <a:rPr lang="en-US" dirty="0" smtClean="0"/>
              <a:t> (Consumption for order from </a:t>
            </a:r>
            <a:r>
              <a:rPr lang="en-US" dirty="0"/>
              <a:t>w</a:t>
            </a:r>
            <a:r>
              <a:rPr lang="en-US" dirty="0" smtClean="0"/>
              <a:t>arehouse –reversal).</a:t>
            </a:r>
            <a:endParaRPr lang="en-US" dirty="0"/>
          </a:p>
        </p:txBody>
      </p:sp>
      <p:grpSp>
        <p:nvGrpSpPr>
          <p:cNvPr id="9" name="Group 8"/>
          <p:cNvGrpSpPr>
            <a:grpSpLocks/>
          </p:cNvGrpSpPr>
          <p:nvPr/>
        </p:nvGrpSpPr>
        <p:grpSpPr bwMode="auto">
          <a:xfrm>
            <a:off x="1905000" y="1981200"/>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778500" y="1922462"/>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7" name="Group 24"/>
          <p:cNvGrpSpPr>
            <a:grpSpLocks/>
          </p:cNvGrpSpPr>
          <p:nvPr/>
        </p:nvGrpSpPr>
        <p:grpSpPr bwMode="auto">
          <a:xfrm>
            <a:off x="444500" y="4818062"/>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20" name="Group 24"/>
          <p:cNvGrpSpPr>
            <a:grpSpLocks/>
          </p:cNvGrpSpPr>
          <p:nvPr/>
        </p:nvGrpSpPr>
        <p:grpSpPr bwMode="auto">
          <a:xfrm>
            <a:off x="5778500" y="3294062"/>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Return Materials to Stock</a:t>
            </a:r>
            <a:endParaRPr lang="en-US" dirty="0"/>
          </a:p>
        </p:txBody>
      </p:sp>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7025" y="2066925"/>
            <a:ext cx="1171575" cy="29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248" y="4191000"/>
            <a:ext cx="5254752"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58</a:t>
            </a:fld>
            <a:endParaRPr lang="en-US" sz="1400" dirty="0">
              <a:solidFill>
                <a:schemeClr val="bg2"/>
              </a:solidFill>
            </a:endParaRPr>
          </a:p>
        </p:txBody>
      </p:sp>
    </p:spTree>
    <p:extLst>
      <p:ext uri="{BB962C8B-B14F-4D97-AF65-F5344CB8AC3E}">
        <p14:creationId xmlns:p14="http://schemas.microsoft.com/office/powerpoint/2010/main" val="14195607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 a Work Order</a:t>
            </a:r>
            <a:endParaRPr lang="en-US" dirty="0"/>
          </a:p>
        </p:txBody>
      </p:sp>
      <p:sp>
        <p:nvSpPr>
          <p:cNvPr id="3" name="Content Placeholder 2"/>
          <p:cNvSpPr>
            <a:spLocks noGrp="1"/>
          </p:cNvSpPr>
          <p:nvPr>
            <p:ph idx="1"/>
          </p:nvPr>
        </p:nvSpPr>
        <p:spPr/>
        <p:txBody>
          <a:bodyPr/>
          <a:lstStyle/>
          <a:p>
            <a:r>
              <a:rPr lang="en-US" dirty="0" smtClean="0"/>
              <a:t>Closing a Work Order is a three step process:</a:t>
            </a:r>
          </a:p>
          <a:p>
            <a:endParaRPr lang="en-US" dirty="0"/>
          </a:p>
          <a:p>
            <a:pPr marL="342900" indent="-342900">
              <a:buFont typeface="Arial" pitchFamily="34" charset="0"/>
              <a:buChar char="•"/>
            </a:pPr>
            <a:r>
              <a:rPr lang="en-US" dirty="0" smtClean="0"/>
              <a:t>When an order is complete, access IW38 or IW72 to display the work order and click the </a:t>
            </a:r>
            <a:r>
              <a:rPr lang="en-US" b="1" dirty="0" smtClean="0"/>
              <a:t>Complete (Technically) </a:t>
            </a:r>
            <a:r>
              <a:rPr lang="en-US" dirty="0" smtClean="0"/>
              <a:t>icon</a:t>
            </a:r>
          </a:p>
          <a:p>
            <a:pPr marL="342900" indent="-342900">
              <a:buFont typeface="Arial" pitchFamily="34" charset="0"/>
              <a:buChar char="•"/>
            </a:pPr>
            <a:endParaRPr lang="en-US" dirty="0"/>
          </a:p>
          <a:p>
            <a:pPr marL="342900" indent="-342900">
              <a:buFont typeface="Arial" pitchFamily="34" charset="0"/>
              <a:buChar char="•"/>
            </a:pPr>
            <a:r>
              <a:rPr lang="en-US" dirty="0" smtClean="0"/>
              <a:t>Once it has been marked technically complete, a batch settlement can be generated to close the financials of the order</a:t>
            </a:r>
          </a:p>
          <a:p>
            <a:pPr marL="342900" indent="-342900">
              <a:buFont typeface="Arial" pitchFamily="34" charset="0"/>
              <a:buChar char="•"/>
            </a:pPr>
            <a:endParaRPr lang="en-US" dirty="0"/>
          </a:p>
          <a:p>
            <a:pPr marL="342900" indent="-342900">
              <a:buFont typeface="Arial" pitchFamily="34" charset="0"/>
              <a:buChar char="•"/>
            </a:pPr>
            <a:r>
              <a:rPr lang="en-US" dirty="0" smtClean="0"/>
              <a:t>Access the order once again and follow the menu path:    </a:t>
            </a:r>
            <a:r>
              <a:rPr lang="en-US" b="1" dirty="0" smtClean="0"/>
              <a:t>Order    </a:t>
            </a:r>
            <a:r>
              <a:rPr lang="en-US" dirty="0" smtClean="0"/>
              <a:t>        </a:t>
            </a:r>
            <a:r>
              <a:rPr lang="en-US" b="1" dirty="0" smtClean="0"/>
              <a:t>Functions   </a:t>
            </a:r>
            <a:r>
              <a:rPr lang="en-US" dirty="0" smtClean="0"/>
              <a:t>         </a:t>
            </a:r>
            <a:r>
              <a:rPr lang="en-US" b="1" dirty="0" smtClean="0"/>
              <a:t>Complete        </a:t>
            </a:r>
            <a:r>
              <a:rPr lang="en-US" dirty="0" smtClean="0"/>
              <a:t>    </a:t>
            </a:r>
            <a:r>
              <a:rPr lang="en-US" b="1" dirty="0" err="1" smtClean="0"/>
              <a:t>Complete</a:t>
            </a:r>
            <a:r>
              <a:rPr lang="en-US" b="1" dirty="0" smtClean="0"/>
              <a:t> (business)</a:t>
            </a:r>
            <a:r>
              <a:rPr lang="en-US" dirty="0" smtClean="0"/>
              <a:t> to officially close the work order </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0" y="2243552"/>
            <a:ext cx="360715" cy="423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ight Arrow 14"/>
          <p:cNvSpPr/>
          <p:nvPr/>
        </p:nvSpPr>
        <p:spPr bwMode="auto">
          <a:xfrm>
            <a:off x="1616868" y="4648200"/>
            <a:ext cx="897732"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8" name="Right Arrow 17"/>
          <p:cNvSpPr/>
          <p:nvPr/>
        </p:nvSpPr>
        <p:spPr bwMode="auto">
          <a:xfrm>
            <a:off x="4055268" y="4648200"/>
            <a:ext cx="897732"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9" name="Right Arrow 18"/>
          <p:cNvSpPr/>
          <p:nvPr/>
        </p:nvSpPr>
        <p:spPr bwMode="auto">
          <a:xfrm>
            <a:off x="6493668" y="4648200"/>
            <a:ext cx="897732"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9"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59</a:t>
            </a:fld>
            <a:endParaRPr lang="en-US" sz="1400" dirty="0">
              <a:solidFill>
                <a:schemeClr val="bg2"/>
              </a:solidFill>
            </a:endParaRPr>
          </a:p>
        </p:txBody>
      </p:sp>
    </p:spTree>
    <p:extLst>
      <p:ext uri="{BB962C8B-B14F-4D97-AF65-F5344CB8AC3E}">
        <p14:creationId xmlns:p14="http://schemas.microsoft.com/office/powerpoint/2010/main" val="122064588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057400"/>
            <a:ext cx="4840369" cy="2743200"/>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19"/>
          <p:cNvSpPr>
            <a:spLocks noChangeArrowheads="1"/>
          </p:cNvSpPr>
          <p:nvPr/>
        </p:nvSpPr>
        <p:spPr bwMode="auto">
          <a:xfrm>
            <a:off x="4724400" y="2497138"/>
            <a:ext cx="457200" cy="515857"/>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
        <p:nvSpPr>
          <p:cNvPr id="8" name="Text Box 20"/>
          <p:cNvSpPr txBox="1">
            <a:spLocks noChangeArrowheads="1"/>
          </p:cNvSpPr>
          <p:nvPr/>
        </p:nvSpPr>
        <p:spPr bwMode="auto">
          <a:xfrm>
            <a:off x="6019800" y="1752600"/>
            <a:ext cx="2819400" cy="236839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sz="1400" dirty="0"/>
              <a:t>Click      </a:t>
            </a:r>
            <a:r>
              <a:rPr lang="en-US" sz="1400" dirty="0" smtClean="0"/>
              <a:t>    the Complete (Technically) icon to technically close the work order.</a:t>
            </a:r>
          </a:p>
          <a:p>
            <a:endParaRPr lang="en-US" sz="1400" dirty="0"/>
          </a:p>
          <a:p>
            <a:r>
              <a:rPr lang="en-US" sz="1400" dirty="0" smtClean="0"/>
              <a:t>After batch settlement has been generated, follow the menu path </a:t>
            </a:r>
            <a:r>
              <a:rPr lang="en-US" sz="1400" b="1" dirty="0" smtClean="0"/>
              <a:t>Order</a:t>
            </a:r>
            <a:r>
              <a:rPr lang="en-US" sz="1400" dirty="0" smtClean="0"/>
              <a:t> – </a:t>
            </a:r>
            <a:r>
              <a:rPr lang="en-US" sz="1400" b="1" dirty="0" smtClean="0"/>
              <a:t>Functions</a:t>
            </a:r>
            <a:r>
              <a:rPr lang="en-US" sz="1400" dirty="0" smtClean="0"/>
              <a:t> – </a:t>
            </a:r>
            <a:r>
              <a:rPr lang="en-US" sz="1400" b="1" dirty="0" smtClean="0"/>
              <a:t>Complete</a:t>
            </a:r>
            <a:r>
              <a:rPr lang="en-US" sz="1400" dirty="0" smtClean="0"/>
              <a:t> – </a:t>
            </a:r>
            <a:r>
              <a:rPr lang="en-US" sz="1400" b="1" dirty="0" smtClean="0"/>
              <a:t>Complete (business)</a:t>
            </a:r>
            <a:r>
              <a:rPr lang="en-US" sz="1400" dirty="0" smtClean="0"/>
              <a:t> to officially close the order</a:t>
            </a:r>
            <a:r>
              <a:rPr lang="en-US" dirty="0" smtClean="0"/>
              <a:t>.</a:t>
            </a:r>
            <a:endParaRPr lang="en-US" dirty="0"/>
          </a:p>
        </p:txBody>
      </p:sp>
      <p:grpSp>
        <p:nvGrpSpPr>
          <p:cNvPr id="9" name="Group 8"/>
          <p:cNvGrpSpPr>
            <a:grpSpLocks/>
          </p:cNvGrpSpPr>
          <p:nvPr/>
        </p:nvGrpSpPr>
        <p:grpSpPr bwMode="auto">
          <a:xfrm>
            <a:off x="4330700" y="2133600"/>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626100" y="2133600"/>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0" name="Group 24"/>
          <p:cNvGrpSpPr>
            <a:grpSpLocks/>
          </p:cNvGrpSpPr>
          <p:nvPr/>
        </p:nvGrpSpPr>
        <p:grpSpPr bwMode="auto">
          <a:xfrm>
            <a:off x="5638800" y="3200400"/>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Close a Work Order</a:t>
            </a:r>
            <a:endParaRPr lang="en-US" dirty="0"/>
          </a:p>
        </p:txBody>
      </p:sp>
      <p:sp>
        <p:nvSpPr>
          <p:cNvPr id="27" name="Content Placeholder 2"/>
          <p:cNvSpPr txBox="1">
            <a:spLocks/>
          </p:cNvSpPr>
          <p:nvPr/>
        </p:nvSpPr>
        <p:spPr>
          <a:xfrm>
            <a:off x="301625" y="1066800"/>
            <a:ext cx="8537575" cy="4983163"/>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dirty="0" smtClean="0"/>
              <a:t>Before closing a work order, you must first mark the order as technically complete. After batch settlement, it can then be marked as business complete.</a:t>
            </a:r>
          </a:p>
          <a:p>
            <a:endParaRPr lang="en-US" dirty="0"/>
          </a:p>
        </p:txBody>
      </p:sp>
      <p:sp>
        <p:nvSpPr>
          <p:cNvPr id="28" name="Curved Right Arrow 27"/>
          <p:cNvSpPr/>
          <p:nvPr/>
        </p:nvSpPr>
        <p:spPr bwMode="auto">
          <a:xfrm rot="16906157">
            <a:off x="2524343" y="4171998"/>
            <a:ext cx="882213" cy="2605326"/>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160" y="4248150"/>
            <a:ext cx="3238340" cy="2457450"/>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Rectangle 19"/>
          <p:cNvSpPr>
            <a:spLocks noChangeArrowheads="1"/>
          </p:cNvSpPr>
          <p:nvPr/>
        </p:nvSpPr>
        <p:spPr bwMode="auto">
          <a:xfrm>
            <a:off x="4572000" y="4267200"/>
            <a:ext cx="609600" cy="515857"/>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pic>
        <p:nvPicPr>
          <p:cNvPr id="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9358" y="1752600"/>
            <a:ext cx="32455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 name="Group 24"/>
          <p:cNvGrpSpPr>
            <a:grpSpLocks/>
          </p:cNvGrpSpPr>
          <p:nvPr/>
        </p:nvGrpSpPr>
        <p:grpSpPr bwMode="auto">
          <a:xfrm>
            <a:off x="5245100" y="4191000"/>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60</a:t>
            </a:fld>
            <a:endParaRPr lang="en-US" sz="1400" dirty="0">
              <a:solidFill>
                <a:schemeClr val="bg2"/>
              </a:solidFill>
            </a:endParaRPr>
          </a:p>
        </p:txBody>
      </p:sp>
    </p:spTree>
    <p:extLst>
      <p:ext uri="{BB962C8B-B14F-4D97-AF65-F5344CB8AC3E}">
        <p14:creationId xmlns:p14="http://schemas.microsoft.com/office/powerpoint/2010/main" val="3205402116"/>
      </p:ext>
    </p:extLst>
  </p:cSld>
  <p:clrMapOvr>
    <a:masterClrMapping/>
  </p:clrMapOvr>
  <p:transition>
    <p:fade thruBlk="1"/>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Close a Work Order</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PM Order: Selection of Orders</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IW38</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a:t>
            </a:r>
            <a:r>
              <a:rPr lang="en-US" dirty="0"/>
              <a:t>Processing &gt; </a:t>
            </a:r>
            <a:r>
              <a:rPr lang="en-US" dirty="0" smtClean="0"/>
              <a:t>Order &gt;                                        Order List &gt; Change </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61</a:t>
            </a:fld>
            <a:endParaRPr lang="en-US" sz="1400" dirty="0">
              <a:solidFill>
                <a:srgbClr val="4D4D4D"/>
              </a:solidFill>
            </a:endParaRPr>
          </a:p>
        </p:txBody>
      </p:sp>
    </p:spTree>
    <p:extLst>
      <p:ext uri="{BB962C8B-B14F-4D97-AF65-F5344CB8AC3E}">
        <p14:creationId xmlns:p14="http://schemas.microsoft.com/office/powerpoint/2010/main" val="32120447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Corrective maintenance for an order has been completed. This exercise requires a two step process.</a:t>
            </a:r>
          </a:p>
          <a:p>
            <a:endParaRPr lang="en-US" b="1" dirty="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First, you must mark the order technically complete</a:t>
            </a:r>
          </a:p>
          <a:p>
            <a:pPr marL="342900" indent="-342900">
              <a:buFont typeface="Arial" pitchFamily="34" charset="0"/>
              <a:buChar char="•"/>
            </a:pPr>
            <a:endParaRPr lang="en-US" b="1" dirty="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Second, assuming the batch settlement has completed the financial closing, you must then officially close the work order</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952020" y="3733800"/>
            <a:ext cx="2000250" cy="2667000"/>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r>
              <a:rPr lang="en-US" sz="2000" b="1" dirty="0">
                <a:solidFill>
                  <a:srgbClr val="DADADA">
                    <a:lumMod val="10000"/>
                  </a:srgbClr>
                </a:solidFill>
                <a:latin typeface="Verdana" pitchFamily="34" charset="0"/>
                <a:ea typeface="Verdana" pitchFamily="34" charset="0"/>
                <a:cs typeface="Verdana" pitchFamily="34" charset="0"/>
              </a:rPr>
              <a:t>Exercise: 4</a:t>
            </a:r>
            <a:r>
              <a:rPr lang="en-US" sz="2000" b="1" dirty="0" smtClean="0">
                <a:solidFill>
                  <a:srgbClr val="DADADA">
                    <a:lumMod val="10000"/>
                  </a:srgbClr>
                </a:solidFill>
                <a:latin typeface="Verdana" pitchFamily="34" charset="0"/>
                <a:ea typeface="Verdana" pitchFamily="34" charset="0"/>
                <a:cs typeface="Verdana" pitchFamily="34" charset="0"/>
              </a:rPr>
              <a:t>.4 Close a Work Order</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62</a:t>
            </a:fld>
            <a:endParaRPr lang="en-US" sz="1400" dirty="0">
              <a:solidFill>
                <a:schemeClr val="bg2"/>
              </a:solidFill>
            </a:endParaRPr>
          </a:p>
        </p:txBody>
      </p:sp>
    </p:spTree>
    <p:extLst>
      <p:ext uri="{BB962C8B-B14F-4D97-AF65-F5344CB8AC3E}">
        <p14:creationId xmlns:p14="http://schemas.microsoft.com/office/powerpoint/2010/main" val="155673548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
                <a:schemeClr val="accent4">
                  <a:lumMod val="10000"/>
                </a:schemeClr>
              </a:buClr>
              <a:buFont typeface="+mj-lt"/>
              <a:buAutoNum type="arabicPeriod"/>
            </a:pPr>
            <a:r>
              <a:rPr lang="en-US" b="1" dirty="0" smtClean="0">
                <a:solidFill>
                  <a:schemeClr val="accent4">
                    <a:lumMod val="10000"/>
                  </a:schemeClr>
                </a:solidFill>
              </a:rPr>
              <a:t>True or False: </a:t>
            </a:r>
            <a:r>
              <a:rPr lang="en-US" dirty="0" smtClean="0">
                <a:solidFill>
                  <a:schemeClr val="accent4">
                    <a:lumMod val="10000"/>
                  </a:schemeClr>
                </a:solidFill>
              </a:rPr>
              <a:t>A work order cannot be created without a notification.</a:t>
            </a:r>
          </a:p>
          <a:p>
            <a:pPr marL="457200" indent="-457200">
              <a:buClr>
                <a:schemeClr val="accent4">
                  <a:lumMod val="10000"/>
                </a:schemeClr>
              </a:buClr>
              <a:buFont typeface="+mj-lt"/>
              <a:buAutoNum type="arabicPeriod"/>
            </a:pPr>
            <a:r>
              <a:rPr lang="en-US" dirty="0" smtClean="0">
                <a:solidFill>
                  <a:schemeClr val="accent4">
                    <a:lumMod val="10000"/>
                  </a:schemeClr>
                </a:solidFill>
              </a:rPr>
              <a:t>Before a work order can officially be closed, what must first be generated?</a:t>
            </a:r>
          </a:p>
          <a:p>
            <a:pPr marL="457200" indent="-457200">
              <a:buClr>
                <a:schemeClr val="accent4">
                  <a:lumMod val="10000"/>
                </a:schemeClr>
              </a:buClr>
              <a:buFont typeface="+mj-lt"/>
              <a:buAutoNum type="arabicPeriod"/>
            </a:pPr>
            <a:endParaRPr lang="en-US" dirty="0" smtClean="0">
              <a:solidFill>
                <a:schemeClr val="accent4">
                  <a:lumMod val="10000"/>
                </a:schemeClr>
              </a:solidFill>
            </a:endParaRPr>
          </a:p>
          <a:p>
            <a:endParaRPr lang="en-US" dirty="0"/>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63</a:t>
            </a:fld>
            <a:endParaRPr lang="en-US" sz="1400" dirty="0">
              <a:solidFill>
                <a:schemeClr val="bg2"/>
              </a:solidFill>
            </a:endParaRPr>
          </a:p>
        </p:txBody>
      </p:sp>
    </p:spTree>
    <p:extLst>
      <p:ext uri="{BB962C8B-B14F-4D97-AF65-F5344CB8AC3E}">
        <p14:creationId xmlns:p14="http://schemas.microsoft.com/office/powerpoint/2010/main" val="327298628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a:t>Having completed this module, you should be able to:</a:t>
            </a:r>
          </a:p>
          <a:p>
            <a:endParaRPr lang="en-US" dirty="0"/>
          </a:p>
          <a:p>
            <a:pPr marL="342900" indent="-342900">
              <a:buFont typeface="Arial" pitchFamily="34" charset="0"/>
              <a:buChar char="•"/>
            </a:pPr>
            <a:r>
              <a:rPr lang="en-US" dirty="0"/>
              <a:t>Define key terms and concepts</a:t>
            </a:r>
          </a:p>
          <a:p>
            <a:pPr marL="342900" indent="-342900">
              <a:buFont typeface="Arial" pitchFamily="34" charset="0"/>
              <a:buChar char="•"/>
            </a:pPr>
            <a:r>
              <a:rPr lang="en-US" dirty="0"/>
              <a:t>Create a work order</a:t>
            </a:r>
          </a:p>
          <a:p>
            <a:pPr marL="342900" indent="-342900">
              <a:buFont typeface="Arial" pitchFamily="34" charset="0"/>
              <a:buChar char="•"/>
            </a:pPr>
            <a:r>
              <a:rPr lang="en-US" dirty="0"/>
              <a:t>Create a work order from a notification</a:t>
            </a:r>
          </a:p>
          <a:p>
            <a:pPr marL="342900" indent="-342900">
              <a:buFont typeface="Arial" pitchFamily="34" charset="0"/>
              <a:buChar char="•"/>
            </a:pPr>
            <a:r>
              <a:rPr lang="en-US" dirty="0"/>
              <a:t>View an assigned work order</a:t>
            </a:r>
          </a:p>
          <a:p>
            <a:pPr marL="342900" indent="-342900">
              <a:buFont typeface="Arial" pitchFamily="34" charset="0"/>
              <a:buChar char="•"/>
            </a:pPr>
            <a:r>
              <a:rPr lang="en-US" dirty="0"/>
              <a:t>Release a work order</a:t>
            </a:r>
          </a:p>
          <a:p>
            <a:pPr marL="342900" indent="-342900">
              <a:buFont typeface="Arial" pitchFamily="34" charset="0"/>
              <a:buChar char="•"/>
            </a:pPr>
            <a:r>
              <a:rPr lang="en-US" dirty="0"/>
              <a:t>Return materials to stock</a:t>
            </a:r>
          </a:p>
          <a:p>
            <a:pPr marL="342900" indent="-342900">
              <a:buFont typeface="Arial" pitchFamily="34" charset="0"/>
              <a:buChar char="•"/>
            </a:pPr>
            <a:r>
              <a:rPr lang="en-US" dirty="0"/>
              <a:t>Close a work order</a:t>
            </a:r>
          </a:p>
          <a:p>
            <a:pPr marL="342900" indent="-342900">
              <a:buFont typeface="Arial" pitchFamily="34" charset="0"/>
              <a:buChar char="•"/>
            </a:pPr>
            <a:r>
              <a:rPr lang="en-US" dirty="0"/>
              <a:t>Define the process for scheduling </a:t>
            </a:r>
            <a:r>
              <a:rPr lang="en-US" dirty="0" smtClean="0"/>
              <a:t>emergency                   </a:t>
            </a:r>
            <a:r>
              <a:rPr lang="en-US" dirty="0"/>
              <a:t>work</a:t>
            </a:r>
          </a:p>
          <a:p>
            <a:endParaRPr lang="en-US" dirty="0"/>
          </a:p>
        </p:txBody>
      </p:sp>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6781800" y="4114800"/>
            <a:ext cx="2362200" cy="2530577"/>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64</a:t>
            </a:fld>
            <a:endParaRPr lang="en-US" sz="1400" dirty="0">
              <a:solidFill>
                <a:schemeClr val="bg2"/>
              </a:solidFill>
            </a:endParaRPr>
          </a:p>
        </p:txBody>
      </p:sp>
    </p:spTree>
    <p:extLst>
      <p:ext uri="{BB962C8B-B14F-4D97-AF65-F5344CB8AC3E}">
        <p14:creationId xmlns:p14="http://schemas.microsoft.com/office/powerpoint/2010/main" val="68555243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 Planning Activities</a:t>
            </a:r>
            <a:endParaRPr lang="en-US" dirty="0"/>
          </a:p>
        </p:txBody>
      </p:sp>
      <p:sp>
        <p:nvSpPr>
          <p:cNvPr id="3" name="Text Placeholder 2"/>
          <p:cNvSpPr>
            <a:spLocks noGrp="1"/>
          </p:cNvSpPr>
          <p:nvPr>
            <p:ph type="body" idx="1"/>
          </p:nvPr>
        </p:nvSpPr>
        <p:spPr/>
        <p:txBody>
          <a:bodyPr/>
          <a:lstStyle/>
          <a:p>
            <a:r>
              <a:rPr lang="en-US" dirty="0" smtClean="0"/>
              <a:t>Module 5</a:t>
            </a:r>
            <a:endParaRPr lang="en-US" dirty="0"/>
          </a:p>
        </p:txBody>
      </p:sp>
    </p:spTree>
    <p:extLst>
      <p:ext uri="{BB962C8B-B14F-4D97-AF65-F5344CB8AC3E}">
        <p14:creationId xmlns:p14="http://schemas.microsoft.com/office/powerpoint/2010/main" val="37311201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endParaRPr lang="en-US" dirty="0" smtClean="0"/>
          </a:p>
          <a:p>
            <a:pPr marL="342900" indent="-342900">
              <a:buFont typeface="Arial" pitchFamily="34" charset="0"/>
              <a:buChar char="•"/>
            </a:pPr>
            <a:r>
              <a:rPr lang="en-US" dirty="0" smtClean="0"/>
              <a:t>Define key terms and concepts</a:t>
            </a:r>
          </a:p>
          <a:p>
            <a:pPr marL="342900" indent="-342900">
              <a:buFont typeface="Arial" pitchFamily="34" charset="0"/>
              <a:buChar char="•"/>
            </a:pPr>
            <a:r>
              <a:rPr lang="en-US" dirty="0" smtClean="0"/>
              <a:t>Create/Change a material</a:t>
            </a:r>
          </a:p>
          <a:p>
            <a:pPr marL="342900" indent="-342900">
              <a:buFont typeface="Arial" pitchFamily="34" charset="0"/>
              <a:buChar char="•"/>
            </a:pPr>
            <a:r>
              <a:rPr lang="en-US" dirty="0" smtClean="0"/>
              <a:t>Create a material BOM</a:t>
            </a:r>
          </a:p>
          <a:p>
            <a:pPr marL="342900" indent="-342900">
              <a:buFont typeface="Arial" pitchFamily="34" charset="0"/>
              <a:buChar char="•"/>
            </a:pPr>
            <a:r>
              <a:rPr lang="en-US" dirty="0" smtClean="0"/>
              <a:t>Create an equipment BOM</a:t>
            </a:r>
          </a:p>
          <a:p>
            <a:pPr marL="342900" indent="-342900">
              <a:buFont typeface="Arial" pitchFamily="34" charset="0"/>
              <a:buChar char="•"/>
            </a:pPr>
            <a:r>
              <a:rPr lang="en-US" dirty="0" smtClean="0"/>
              <a:t>Commission/Decommission equipment</a:t>
            </a:r>
          </a:p>
          <a:p>
            <a:pPr marL="342900" indent="-342900">
              <a:buFont typeface="Arial" pitchFamily="34" charset="0"/>
              <a:buChar char="•"/>
            </a:pPr>
            <a:r>
              <a:rPr lang="en-US" dirty="0"/>
              <a:t>Manage measurement </a:t>
            </a:r>
            <a:r>
              <a:rPr lang="en-US" dirty="0" smtClean="0"/>
              <a:t>points</a:t>
            </a:r>
          </a:p>
          <a:p>
            <a:pPr marL="342900" indent="-342900">
              <a:buFont typeface="Arial" pitchFamily="34" charset="0"/>
              <a:buChar char="•"/>
            </a:pPr>
            <a:r>
              <a:rPr lang="en-US" dirty="0" smtClean="0"/>
              <a:t>Review stock</a:t>
            </a:r>
          </a:p>
        </p:txBody>
      </p:sp>
      <p:sp>
        <p:nvSpPr>
          <p:cNvPr id="6"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66</a:t>
            </a:fld>
            <a:endParaRPr lang="en-US" sz="1400" dirty="0">
              <a:solidFill>
                <a:schemeClr val="bg2"/>
              </a:solidFill>
            </a:endParaRPr>
          </a:p>
        </p:txBody>
      </p:sp>
      <p:pic>
        <p:nvPicPr>
          <p:cNvPr id="5" name="Picture 2" descr="C:\Users\namudaliar\Documents\Narayanan\Ball Corp\Images\shutterstock_54581515.jpg"/>
          <p:cNvPicPr>
            <a:picLocks noChangeAspect="1" noChangeArrowheads="1"/>
          </p:cNvPicPr>
          <p:nvPr/>
        </p:nvPicPr>
        <p:blipFill>
          <a:blip r:embed="rId2" cstate="print"/>
          <a:srcRect/>
          <a:stretch>
            <a:fillRect/>
          </a:stretch>
        </p:blipFill>
        <p:spPr bwMode="auto">
          <a:xfrm>
            <a:off x="6629400" y="3530600"/>
            <a:ext cx="2438400" cy="3251200"/>
          </a:xfrm>
          <a:prstGeom prst="rect">
            <a:avLst/>
          </a:prstGeom>
          <a:noFill/>
        </p:spPr>
      </p:pic>
    </p:spTree>
    <p:extLst>
      <p:ext uri="{BB962C8B-B14F-4D97-AF65-F5344CB8AC3E}">
        <p14:creationId xmlns:p14="http://schemas.microsoft.com/office/powerpoint/2010/main" val="176333760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Key Terms and Definitions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28037439"/>
              </p:ext>
            </p:extLst>
          </p:nvPr>
        </p:nvGraphicFramePr>
        <p:xfrm>
          <a:off x="301625" y="1143000"/>
          <a:ext cx="8537575" cy="4328160"/>
        </p:xfrm>
        <a:graphic>
          <a:graphicData uri="http://schemas.openxmlformats.org/drawingml/2006/table">
            <a:tbl>
              <a:tblPr firstRow="1" bandRow="1">
                <a:tableStyleId>{5C22544A-7EE6-4342-B048-85BDC9FD1C3A}</a:tableStyleId>
              </a:tblPr>
              <a:tblGrid>
                <a:gridCol w="2365374"/>
                <a:gridCol w="6172201"/>
              </a:tblGrid>
              <a:tr h="370840">
                <a:tc>
                  <a:txBody>
                    <a:bodyPr/>
                    <a:lstStyle/>
                    <a:p>
                      <a:r>
                        <a:rPr lang="en-US" sz="2000" dirty="0" smtClean="0"/>
                        <a:t>Key Term</a:t>
                      </a:r>
                      <a:endParaRPr lang="en-US" sz="2000" dirty="0">
                        <a:latin typeface="Verdana" pitchFamily="34" charset="0"/>
                        <a:ea typeface="Verdana" pitchFamily="34" charset="0"/>
                        <a:cs typeface="Verdana" pitchFamily="34" charset="0"/>
                      </a:endParaRPr>
                    </a:p>
                  </a:txBody>
                  <a:tcPr marL="101395" marR="101395"/>
                </a:tc>
                <a:tc>
                  <a:txBody>
                    <a:bodyPr/>
                    <a:lstStyle/>
                    <a:p>
                      <a:r>
                        <a:rPr lang="en-US" sz="2000" dirty="0" smtClean="0"/>
                        <a:t>Definition</a:t>
                      </a:r>
                      <a:endParaRPr lang="en-US" sz="2000" dirty="0">
                        <a:latin typeface="Verdana" pitchFamily="34" charset="0"/>
                        <a:ea typeface="Verdana" pitchFamily="34" charset="0"/>
                        <a:cs typeface="Verdana" pitchFamily="34" charset="0"/>
                      </a:endParaRPr>
                    </a:p>
                  </a:txBody>
                  <a:tcPr marL="101395" marR="101395"/>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Maintenance Bill</a:t>
                      </a:r>
                      <a:r>
                        <a:rPr lang="en-US" b="1" baseline="0" dirty="0" smtClean="0">
                          <a:solidFill>
                            <a:schemeClr val="accent4">
                              <a:lumMod val="10000"/>
                            </a:schemeClr>
                          </a:solidFill>
                          <a:latin typeface="Verdana" pitchFamily="34" charset="0"/>
                          <a:ea typeface="Verdana" pitchFamily="34" charset="0"/>
                          <a:cs typeface="Verdana" pitchFamily="34" charset="0"/>
                        </a:rPr>
                        <a:t> of Material</a:t>
                      </a:r>
                      <a:endParaRPr lang="en-US" b="1" dirty="0">
                        <a:solidFill>
                          <a:schemeClr val="accent4">
                            <a:lumMod val="10000"/>
                          </a:schemeClr>
                        </a:solidFill>
                        <a:latin typeface="Verdana" pitchFamily="34" charset="0"/>
                        <a:ea typeface="Verdana" pitchFamily="34" charset="0"/>
                        <a:cs typeface="Verdana" pitchFamily="34" charset="0"/>
                      </a:endParaRPr>
                    </a:p>
                  </a:txBody>
                  <a:tcPr marL="101395" marR="101395"/>
                </a:tc>
                <a:tc>
                  <a:txBody>
                    <a:bodyPr/>
                    <a:lstStyle/>
                    <a:p>
                      <a:r>
                        <a:rPr lang="en-US" sz="1400" dirty="0" smtClean="0">
                          <a:solidFill>
                            <a:schemeClr val="accent4">
                              <a:lumMod val="10000"/>
                            </a:schemeClr>
                          </a:solidFill>
                          <a:latin typeface="Verdana" pitchFamily="34" charset="0"/>
                          <a:ea typeface="Verdana" pitchFamily="34" charset="0"/>
                          <a:cs typeface="Verdana" pitchFamily="34" charset="0"/>
                        </a:rPr>
                        <a:t>A list used to describe the structure of a technical object and to assign spare parts to the object for maintenance.</a:t>
                      </a:r>
                      <a:endParaRPr lang="en-US" sz="1400" dirty="0">
                        <a:solidFill>
                          <a:schemeClr val="accent4">
                            <a:lumMod val="10000"/>
                          </a:schemeClr>
                        </a:solidFill>
                        <a:latin typeface="Verdana" pitchFamily="34" charset="0"/>
                        <a:ea typeface="Verdana" pitchFamily="34" charset="0"/>
                        <a:cs typeface="Verdana" pitchFamily="34" charset="0"/>
                      </a:endParaRPr>
                    </a:p>
                  </a:txBody>
                  <a:tcPr marL="101395" marR="101395"/>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Bill of Material</a:t>
                      </a:r>
                      <a:endParaRPr lang="en-US" b="1" dirty="0">
                        <a:solidFill>
                          <a:schemeClr val="accent4">
                            <a:lumMod val="10000"/>
                          </a:schemeClr>
                        </a:solidFill>
                        <a:latin typeface="Verdana" pitchFamily="34" charset="0"/>
                        <a:ea typeface="Verdana" pitchFamily="34" charset="0"/>
                        <a:cs typeface="Verdana" pitchFamily="34" charset="0"/>
                      </a:endParaRPr>
                    </a:p>
                  </a:txBody>
                  <a:tcPr marL="101395" marR="101395"/>
                </a:tc>
                <a:tc>
                  <a:txBody>
                    <a:bodyPr/>
                    <a:lstStyle/>
                    <a:p>
                      <a:r>
                        <a:rPr lang="en-US" sz="1400" dirty="0" smtClean="0">
                          <a:solidFill>
                            <a:schemeClr val="accent4">
                              <a:lumMod val="10000"/>
                            </a:schemeClr>
                          </a:solidFill>
                          <a:latin typeface="Verdana" pitchFamily="34" charset="0"/>
                          <a:ea typeface="Verdana" pitchFamily="34" charset="0"/>
                          <a:cs typeface="Verdana" pitchFamily="34" charset="0"/>
                        </a:rPr>
                        <a:t>A complete, structured list of the components that make up an object. The list contains the description, the quantity, and unit of measure. The components are known as BOM items.</a:t>
                      </a:r>
                    </a:p>
                    <a:p>
                      <a:endParaRPr lang="en-US" sz="1400" dirty="0" smtClean="0">
                        <a:solidFill>
                          <a:schemeClr val="accent4">
                            <a:lumMod val="10000"/>
                          </a:schemeClr>
                        </a:solidFill>
                        <a:latin typeface="Verdana" pitchFamily="34" charset="0"/>
                        <a:ea typeface="Verdana" pitchFamily="34" charset="0"/>
                        <a:cs typeface="Verdana" pitchFamily="34" charset="0"/>
                      </a:endParaRPr>
                    </a:p>
                    <a:p>
                      <a:r>
                        <a:rPr lang="en-US" sz="1400" dirty="0" smtClean="0">
                          <a:solidFill>
                            <a:schemeClr val="accent4">
                              <a:lumMod val="10000"/>
                            </a:schemeClr>
                          </a:solidFill>
                          <a:latin typeface="Verdana" pitchFamily="34" charset="0"/>
                          <a:ea typeface="Verdana" pitchFamily="34" charset="0"/>
                          <a:cs typeface="Verdana" pitchFamily="34" charset="0"/>
                        </a:rPr>
                        <a:t>■BOM categories</a:t>
                      </a:r>
                    </a:p>
                    <a:p>
                      <a:endParaRPr lang="en-US" sz="1400" dirty="0" smtClean="0">
                        <a:solidFill>
                          <a:schemeClr val="accent4">
                            <a:lumMod val="10000"/>
                          </a:schemeClr>
                        </a:solidFill>
                        <a:latin typeface="Verdana" pitchFamily="34" charset="0"/>
                        <a:ea typeface="Verdana" pitchFamily="34" charset="0"/>
                        <a:cs typeface="Verdana" pitchFamily="34" charset="0"/>
                      </a:endParaRPr>
                    </a:p>
                    <a:p>
                      <a:r>
                        <a:rPr lang="en-US" sz="1400" dirty="0" smtClean="0">
                          <a:solidFill>
                            <a:schemeClr val="accent4">
                              <a:lumMod val="10000"/>
                            </a:schemeClr>
                          </a:solidFill>
                          <a:latin typeface="Verdana" pitchFamily="34" charset="0"/>
                          <a:ea typeface="Verdana" pitchFamily="34" charset="0"/>
                          <a:cs typeface="Verdana" pitchFamily="34" charset="0"/>
                        </a:rPr>
                        <a:t>In the SAP System, BOMs can form different objects and manage object- related data. You can maintain the following BOM categories, for example:</a:t>
                      </a:r>
                    </a:p>
                    <a:p>
                      <a:endParaRPr lang="en-US" sz="1400" dirty="0" smtClean="0">
                        <a:solidFill>
                          <a:schemeClr val="accent4">
                            <a:lumMod val="10000"/>
                          </a:schemeClr>
                        </a:solidFill>
                        <a:latin typeface="Verdana" pitchFamily="34" charset="0"/>
                        <a:ea typeface="Verdana" pitchFamily="34" charset="0"/>
                        <a:cs typeface="Verdana" pitchFamily="34" charset="0"/>
                      </a:endParaRPr>
                    </a:p>
                    <a:p>
                      <a:r>
                        <a:rPr lang="en-US" sz="1400" dirty="0" smtClean="0">
                          <a:solidFill>
                            <a:schemeClr val="accent4">
                              <a:lumMod val="10000"/>
                            </a:schemeClr>
                          </a:solidFill>
                          <a:latin typeface="Verdana" pitchFamily="34" charset="0"/>
                          <a:ea typeface="Verdana" pitchFamily="34" charset="0"/>
                          <a:cs typeface="Verdana" pitchFamily="34" charset="0"/>
                        </a:rPr>
                        <a:t>■Material BOM</a:t>
                      </a:r>
                    </a:p>
                    <a:p>
                      <a:r>
                        <a:rPr lang="en-US" sz="1400" dirty="0" smtClean="0">
                          <a:solidFill>
                            <a:schemeClr val="accent4">
                              <a:lumMod val="10000"/>
                            </a:schemeClr>
                          </a:solidFill>
                          <a:latin typeface="Verdana" pitchFamily="34" charset="0"/>
                          <a:ea typeface="Verdana" pitchFamily="34" charset="0"/>
                          <a:cs typeface="Verdana" pitchFamily="34" charset="0"/>
                        </a:rPr>
                        <a:t>■Document structure</a:t>
                      </a:r>
                    </a:p>
                    <a:p>
                      <a:r>
                        <a:rPr lang="en-US" sz="1400" dirty="0" smtClean="0">
                          <a:solidFill>
                            <a:schemeClr val="accent4">
                              <a:lumMod val="10000"/>
                            </a:schemeClr>
                          </a:solidFill>
                          <a:latin typeface="Verdana" pitchFamily="34" charset="0"/>
                          <a:ea typeface="Verdana" pitchFamily="34" charset="0"/>
                          <a:cs typeface="Verdana" pitchFamily="34" charset="0"/>
                        </a:rPr>
                        <a:t>■Equipment BOM</a:t>
                      </a:r>
                    </a:p>
                    <a:p>
                      <a:r>
                        <a:rPr lang="en-US" sz="1400" dirty="0" smtClean="0">
                          <a:solidFill>
                            <a:schemeClr val="accent4">
                              <a:lumMod val="10000"/>
                            </a:schemeClr>
                          </a:solidFill>
                          <a:latin typeface="Verdana" pitchFamily="34" charset="0"/>
                          <a:ea typeface="Verdana" pitchFamily="34" charset="0"/>
                          <a:cs typeface="Verdana" pitchFamily="34" charset="0"/>
                        </a:rPr>
                        <a:t>■Functional location BOM</a:t>
                      </a:r>
                    </a:p>
                    <a:p>
                      <a:r>
                        <a:rPr lang="en-US" sz="1400" dirty="0" smtClean="0">
                          <a:solidFill>
                            <a:schemeClr val="accent4">
                              <a:lumMod val="10000"/>
                            </a:schemeClr>
                          </a:solidFill>
                          <a:latin typeface="Verdana" pitchFamily="34" charset="0"/>
                          <a:ea typeface="Verdana" pitchFamily="34" charset="0"/>
                          <a:cs typeface="Verdana" pitchFamily="34" charset="0"/>
                        </a:rPr>
                        <a:t>■Sales order BOM</a:t>
                      </a:r>
                      <a:endParaRPr lang="en-US" sz="1400" dirty="0">
                        <a:solidFill>
                          <a:schemeClr val="accent4">
                            <a:lumMod val="10000"/>
                          </a:schemeClr>
                        </a:solidFill>
                        <a:latin typeface="Verdana" pitchFamily="34" charset="0"/>
                        <a:ea typeface="Verdana" pitchFamily="34" charset="0"/>
                        <a:cs typeface="Verdana" pitchFamily="34" charset="0"/>
                      </a:endParaRPr>
                    </a:p>
                  </a:txBody>
                  <a:tcPr marL="101395" marR="101395"/>
                </a:tc>
              </a:tr>
            </a:tbl>
          </a:graphicData>
        </a:graphic>
      </p:graphicFrame>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67</a:t>
            </a:fld>
            <a:endParaRPr lang="en-US" sz="1400" dirty="0">
              <a:solidFill>
                <a:schemeClr val="bg2"/>
              </a:solidFill>
            </a:endParaRPr>
          </a:p>
        </p:txBody>
      </p:sp>
    </p:spTree>
    <p:extLst>
      <p:ext uri="{BB962C8B-B14F-4D97-AF65-F5344CB8AC3E}">
        <p14:creationId xmlns:p14="http://schemas.microsoft.com/office/powerpoint/2010/main" val="199144051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1">
            <a:alpha val="57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EAM Process Flow</a:t>
            </a:r>
            <a:endParaRPr lang="en-US" dirty="0"/>
          </a:p>
        </p:txBody>
      </p:sp>
      <p:graphicFrame>
        <p:nvGraphicFramePr>
          <p:cNvPr id="5" name="Content Placeholder 4"/>
          <p:cNvGraphicFramePr>
            <a:graphicFrameLocks noGrp="1"/>
          </p:cNvGraphicFramePr>
          <p:nvPr>
            <p:ph idx="1"/>
            <p:extLst/>
          </p:nvPr>
        </p:nvGraphicFramePr>
        <p:xfrm>
          <a:off x="1901825" y="2667001"/>
          <a:ext cx="6403975" cy="1828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3" name="Straight Arrow Connector 12"/>
          <p:cNvCxnSpPr>
            <a:stCxn id="19" idx="0"/>
          </p:cNvCxnSpPr>
          <p:nvPr/>
        </p:nvCxnSpPr>
        <p:spPr bwMode="auto">
          <a:xfrm flipV="1">
            <a:off x="2743200" y="3962400"/>
            <a:ext cx="914400" cy="6858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19" name="TextBox 18"/>
          <p:cNvSpPr txBox="1"/>
          <p:nvPr/>
        </p:nvSpPr>
        <p:spPr>
          <a:xfrm>
            <a:off x="2286000" y="4648200"/>
            <a:ext cx="914400" cy="369332"/>
          </a:xfrm>
          <a:prstGeom prst="rect">
            <a:avLst/>
          </a:prstGeom>
          <a:noFill/>
          <a:ln w="63500">
            <a:solidFill>
              <a:srgbClr val="FF0000"/>
            </a:solidFill>
          </a:ln>
        </p:spPr>
        <p:txBody>
          <a:bodyPr wrap="square" rtlCol="0">
            <a:spAutoFit/>
          </a:bodyPr>
          <a:lstStyle/>
          <a:p>
            <a:r>
              <a:rPr lang="en-US" dirty="0" smtClean="0">
                <a:solidFill>
                  <a:srgbClr val="000000"/>
                </a:solidFill>
              </a:rPr>
              <a:t>Labor</a:t>
            </a:r>
            <a:endParaRPr lang="en-US" dirty="0">
              <a:solidFill>
                <a:srgbClr val="000000"/>
              </a:solidFill>
            </a:endParaRPr>
          </a:p>
        </p:txBody>
      </p:sp>
      <p:sp>
        <p:nvSpPr>
          <p:cNvPr id="20" name="TextBox 19"/>
          <p:cNvSpPr txBox="1"/>
          <p:nvPr/>
        </p:nvSpPr>
        <p:spPr>
          <a:xfrm>
            <a:off x="3429000" y="4659868"/>
            <a:ext cx="1524000" cy="923330"/>
          </a:xfrm>
          <a:prstGeom prst="rect">
            <a:avLst/>
          </a:prstGeom>
          <a:noFill/>
          <a:ln>
            <a:solidFill>
              <a:srgbClr val="000000"/>
            </a:solidFill>
          </a:ln>
        </p:spPr>
        <p:txBody>
          <a:bodyPr wrap="square" rtlCol="0">
            <a:spAutoFit/>
          </a:bodyPr>
          <a:lstStyle/>
          <a:p>
            <a:r>
              <a:rPr lang="en-US" dirty="0" smtClean="0">
                <a:solidFill>
                  <a:srgbClr val="000000"/>
                </a:solidFill>
              </a:rPr>
              <a:t>Preventive Maintenance Work Order</a:t>
            </a:r>
            <a:endParaRPr lang="en-US" dirty="0">
              <a:solidFill>
                <a:srgbClr val="000000"/>
              </a:solidFill>
            </a:endParaRPr>
          </a:p>
        </p:txBody>
      </p:sp>
      <p:cxnSp>
        <p:nvCxnSpPr>
          <p:cNvPr id="21" name="Straight Arrow Connector 20"/>
          <p:cNvCxnSpPr>
            <a:stCxn id="20" idx="0"/>
          </p:cNvCxnSpPr>
          <p:nvPr/>
        </p:nvCxnSpPr>
        <p:spPr bwMode="auto">
          <a:xfrm flipV="1">
            <a:off x="41910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24" name="Straight Arrow Connector 23"/>
          <p:cNvCxnSpPr>
            <a:stCxn id="28" idx="2"/>
          </p:cNvCxnSpPr>
          <p:nvPr/>
        </p:nvCxnSpPr>
        <p:spPr bwMode="auto">
          <a:xfrm>
            <a:off x="2552700" y="2590800"/>
            <a:ext cx="1104900" cy="6096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28" name="TextBox 27"/>
          <p:cNvSpPr txBox="1"/>
          <p:nvPr/>
        </p:nvSpPr>
        <p:spPr>
          <a:xfrm>
            <a:off x="1828800" y="1944469"/>
            <a:ext cx="1447800" cy="646331"/>
          </a:xfrm>
          <a:prstGeom prst="rect">
            <a:avLst/>
          </a:prstGeom>
          <a:noFill/>
          <a:ln>
            <a:solidFill>
              <a:srgbClr val="000000"/>
            </a:solidFill>
          </a:ln>
        </p:spPr>
        <p:txBody>
          <a:bodyPr wrap="square" rtlCol="0">
            <a:spAutoFit/>
          </a:bodyPr>
          <a:lstStyle/>
          <a:p>
            <a:r>
              <a:rPr lang="en-US" dirty="0" smtClean="0">
                <a:solidFill>
                  <a:srgbClr val="000000"/>
                </a:solidFill>
              </a:rPr>
              <a:t>Pre-Defined Work Steps</a:t>
            </a:r>
            <a:endParaRPr lang="en-US" dirty="0">
              <a:solidFill>
                <a:srgbClr val="000000"/>
              </a:solidFill>
            </a:endParaRPr>
          </a:p>
        </p:txBody>
      </p:sp>
      <p:sp>
        <p:nvSpPr>
          <p:cNvPr id="30" name="TextBox 29"/>
          <p:cNvSpPr txBox="1"/>
          <p:nvPr/>
        </p:nvSpPr>
        <p:spPr>
          <a:xfrm>
            <a:off x="3657600" y="1676400"/>
            <a:ext cx="1143000" cy="646331"/>
          </a:xfrm>
          <a:prstGeom prst="rect">
            <a:avLst/>
          </a:prstGeom>
          <a:noFill/>
          <a:ln w="63500">
            <a:solidFill>
              <a:srgbClr val="FF0000"/>
            </a:solidFill>
          </a:ln>
        </p:spPr>
        <p:txBody>
          <a:bodyPr wrap="square" rtlCol="0">
            <a:spAutoFit/>
          </a:bodyPr>
          <a:lstStyle/>
          <a:p>
            <a:r>
              <a:rPr lang="en-US" dirty="0" smtClean="0">
                <a:solidFill>
                  <a:srgbClr val="000000"/>
                </a:solidFill>
              </a:rPr>
              <a:t>Parts/ Supplies</a:t>
            </a:r>
            <a:endParaRPr lang="en-US" dirty="0">
              <a:solidFill>
                <a:srgbClr val="000000"/>
              </a:solidFill>
            </a:endParaRPr>
          </a:p>
        </p:txBody>
      </p:sp>
      <p:cxnSp>
        <p:nvCxnSpPr>
          <p:cNvPr id="31" name="Straight Arrow Connector 30"/>
          <p:cNvCxnSpPr/>
          <p:nvPr/>
        </p:nvCxnSpPr>
        <p:spPr bwMode="auto">
          <a:xfrm>
            <a:off x="4191000" y="2324100"/>
            <a:ext cx="0" cy="8763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33" name="Straight Arrow Connector 32"/>
          <p:cNvCxnSpPr>
            <a:stCxn id="37" idx="2"/>
          </p:cNvCxnSpPr>
          <p:nvPr/>
        </p:nvCxnSpPr>
        <p:spPr bwMode="auto">
          <a:xfrm flipH="1">
            <a:off x="4724400" y="2475131"/>
            <a:ext cx="1009650" cy="725269"/>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37" name="TextBox 36"/>
          <p:cNvSpPr txBox="1"/>
          <p:nvPr/>
        </p:nvSpPr>
        <p:spPr>
          <a:xfrm>
            <a:off x="5067300" y="1828800"/>
            <a:ext cx="1333500" cy="646331"/>
          </a:xfrm>
          <a:prstGeom prst="rect">
            <a:avLst/>
          </a:prstGeom>
          <a:noFill/>
          <a:ln w="63500">
            <a:solidFill>
              <a:srgbClr val="FF0000"/>
            </a:solidFill>
          </a:ln>
        </p:spPr>
        <p:txBody>
          <a:bodyPr wrap="square" rtlCol="0">
            <a:spAutoFit/>
          </a:bodyPr>
          <a:lstStyle/>
          <a:p>
            <a:r>
              <a:rPr lang="en-US" dirty="0" smtClean="0">
                <a:solidFill>
                  <a:srgbClr val="000000"/>
                </a:solidFill>
              </a:rPr>
              <a:t>External Services</a:t>
            </a:r>
            <a:endParaRPr lang="en-US" dirty="0">
              <a:solidFill>
                <a:srgbClr val="000000"/>
              </a:solidFill>
            </a:endParaRPr>
          </a:p>
        </p:txBody>
      </p:sp>
      <p:sp>
        <p:nvSpPr>
          <p:cNvPr id="38" name="TextBox 37"/>
          <p:cNvSpPr txBox="1"/>
          <p:nvPr/>
        </p:nvSpPr>
        <p:spPr>
          <a:xfrm>
            <a:off x="5067300" y="4659868"/>
            <a:ext cx="1562100" cy="646331"/>
          </a:xfrm>
          <a:prstGeom prst="rect">
            <a:avLst/>
          </a:prstGeom>
          <a:noFill/>
          <a:ln w="63500">
            <a:solidFill>
              <a:srgbClr val="FF0000"/>
            </a:solidFill>
          </a:ln>
        </p:spPr>
        <p:txBody>
          <a:bodyPr wrap="square" rtlCol="0">
            <a:spAutoFit/>
          </a:bodyPr>
          <a:lstStyle/>
          <a:p>
            <a:r>
              <a:rPr lang="en-US" dirty="0" smtClean="0">
                <a:solidFill>
                  <a:srgbClr val="000000"/>
                </a:solidFill>
              </a:rPr>
              <a:t>Material Requisitions</a:t>
            </a:r>
            <a:endParaRPr lang="en-US" dirty="0">
              <a:solidFill>
                <a:srgbClr val="000000"/>
              </a:solidFill>
            </a:endParaRPr>
          </a:p>
        </p:txBody>
      </p:sp>
      <p:cxnSp>
        <p:nvCxnSpPr>
          <p:cNvPr id="39" name="Straight Arrow Connector 38"/>
          <p:cNvCxnSpPr>
            <a:stCxn id="38" idx="0"/>
          </p:cNvCxnSpPr>
          <p:nvPr/>
        </p:nvCxnSpPr>
        <p:spPr bwMode="auto">
          <a:xfrm flipH="1" flipV="1">
            <a:off x="4724400" y="3962400"/>
            <a:ext cx="112395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41" name="Straight Arrow Connector 40"/>
          <p:cNvCxnSpPr/>
          <p:nvPr/>
        </p:nvCxnSpPr>
        <p:spPr bwMode="auto">
          <a:xfrm flipV="1">
            <a:off x="74676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42" name="TextBox 41"/>
          <p:cNvSpPr txBox="1"/>
          <p:nvPr/>
        </p:nvSpPr>
        <p:spPr>
          <a:xfrm>
            <a:off x="6858000" y="4648200"/>
            <a:ext cx="1371600" cy="369332"/>
          </a:xfrm>
          <a:prstGeom prst="rect">
            <a:avLst/>
          </a:prstGeom>
          <a:noFill/>
          <a:ln w="0">
            <a:solidFill>
              <a:srgbClr val="000000"/>
            </a:solidFill>
          </a:ln>
        </p:spPr>
        <p:txBody>
          <a:bodyPr wrap="square" rtlCol="0">
            <a:spAutoFit/>
          </a:bodyPr>
          <a:lstStyle/>
          <a:p>
            <a:r>
              <a:rPr lang="en-US" dirty="0" smtClean="0">
                <a:solidFill>
                  <a:srgbClr val="000000"/>
                </a:solidFill>
              </a:rPr>
              <a:t>Reporting</a:t>
            </a:r>
            <a:endParaRPr lang="en-US" dirty="0">
              <a:solidFill>
                <a:srgbClr val="000000"/>
              </a:solidFill>
            </a:endParaRPr>
          </a:p>
        </p:txBody>
      </p:sp>
      <p:sp>
        <p:nvSpPr>
          <p:cNvPr id="23"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68</a:t>
            </a:fld>
            <a:endParaRPr lang="en-US" sz="1400" dirty="0">
              <a:solidFill>
                <a:schemeClr val="bg2"/>
              </a:solidFill>
            </a:endParaRPr>
          </a:p>
        </p:txBody>
      </p:sp>
      <p:graphicFrame>
        <p:nvGraphicFramePr>
          <p:cNvPr id="22" name="Diagram 21"/>
          <p:cNvGraphicFramePr/>
          <p:nvPr>
            <p:extLst>
              <p:ext uri="{D42A27DB-BD31-4B8C-83A1-F6EECF244321}">
                <p14:modId xmlns:p14="http://schemas.microsoft.com/office/powerpoint/2010/main" val="20262236"/>
              </p:ext>
            </p:extLst>
          </p:nvPr>
        </p:nvGraphicFramePr>
        <p:xfrm>
          <a:off x="152400" y="1651000"/>
          <a:ext cx="9906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5" name="Right Brace 24"/>
          <p:cNvSpPr/>
          <p:nvPr/>
        </p:nvSpPr>
        <p:spPr bwMode="auto">
          <a:xfrm>
            <a:off x="1143000" y="1655802"/>
            <a:ext cx="685800" cy="4059198"/>
          </a:xfrm>
          <a:prstGeom prst="rightBrace">
            <a:avLst>
              <a:gd name="adj1" fmla="val 8333"/>
              <a:gd name="adj2" fmla="val 50404"/>
            </a:avLst>
          </a:prstGeom>
          <a:noFill/>
          <a:ln w="444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207212690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Materials in SAP</a:t>
            </a:r>
            <a:endParaRPr lang="en-US" dirty="0"/>
          </a:p>
        </p:txBody>
      </p:sp>
      <p:sp>
        <p:nvSpPr>
          <p:cNvPr id="3" name="Content Placeholder 2"/>
          <p:cNvSpPr>
            <a:spLocks noGrp="1"/>
          </p:cNvSpPr>
          <p:nvPr>
            <p:ph idx="1"/>
          </p:nvPr>
        </p:nvSpPr>
        <p:spPr>
          <a:xfrm>
            <a:off x="152400" y="990600"/>
            <a:ext cx="4575175" cy="5314950"/>
          </a:xfrm>
        </p:spPr>
        <p:txBody>
          <a:bodyPr/>
          <a:lstStyle/>
          <a:p>
            <a:pPr marL="342900" indent="-342900">
              <a:buFont typeface="Arial" pitchFamily="34" charset="0"/>
              <a:buChar char="•"/>
            </a:pPr>
            <a:r>
              <a:rPr lang="en-US" sz="1900" dirty="0"/>
              <a:t>Material masters are created when a material required is not defined in the material </a:t>
            </a:r>
            <a:r>
              <a:rPr lang="en-US" sz="1900" dirty="0" smtClean="0"/>
              <a:t>master</a:t>
            </a:r>
          </a:p>
          <a:p>
            <a:pPr marL="342900" indent="-342900">
              <a:buFont typeface="Arial" pitchFamily="34" charset="0"/>
              <a:buChar char="•"/>
            </a:pPr>
            <a:r>
              <a:rPr lang="en-US" sz="1900" dirty="0" smtClean="0"/>
              <a:t>Before a material can be used in the system, it must be </a:t>
            </a:r>
            <a:r>
              <a:rPr lang="en-US" sz="1900" dirty="0"/>
              <a:t>created for each plant. </a:t>
            </a:r>
            <a:r>
              <a:rPr lang="en-US" sz="1900" dirty="0" smtClean="0"/>
              <a:t>At </a:t>
            </a:r>
            <a:r>
              <a:rPr lang="en-US" sz="1900" dirty="0"/>
              <a:t>a minimum, the material </a:t>
            </a:r>
            <a:r>
              <a:rPr lang="en-US" sz="1900" dirty="0" smtClean="0"/>
              <a:t>must have </a:t>
            </a:r>
            <a:r>
              <a:rPr lang="en-US" sz="1900" dirty="0"/>
              <a:t>a description and a base unit of measure assigned on the basic data </a:t>
            </a:r>
            <a:r>
              <a:rPr lang="en-US" sz="1900" dirty="0" smtClean="0"/>
              <a:t>view</a:t>
            </a:r>
          </a:p>
          <a:p>
            <a:pPr marL="342900" indent="-342900">
              <a:buFont typeface="Arial" pitchFamily="34" charset="0"/>
              <a:buChar char="•"/>
            </a:pPr>
            <a:r>
              <a:rPr lang="en-US" sz="1900" dirty="0"/>
              <a:t>Additional department views (i.e. </a:t>
            </a:r>
            <a:r>
              <a:rPr lang="en-US" sz="1900" dirty="0" smtClean="0"/>
              <a:t>Sales</a:t>
            </a:r>
            <a:r>
              <a:rPr lang="en-US" sz="1900" dirty="0"/>
              <a:t>, Purchasing, MRP, and Warehouse) can be added at a later time by extending the material. As additional plants are added, a </a:t>
            </a:r>
            <a:r>
              <a:rPr lang="en-US" sz="1900" dirty="0" smtClean="0"/>
              <a:t>material needs </a:t>
            </a:r>
            <a:r>
              <a:rPr lang="en-US" sz="1900" dirty="0"/>
              <a:t>to be extended to the plants before it can be used there</a:t>
            </a:r>
          </a:p>
        </p:txBody>
      </p:sp>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65</a:t>
            </a:r>
            <a:endParaRPr lang="en-US" sz="1400" dirty="0">
              <a:solidFill>
                <a:schemeClr val="bg2"/>
              </a:solidFill>
            </a:endParaRPr>
          </a:p>
        </p:txBody>
      </p:sp>
      <p:pic>
        <p:nvPicPr>
          <p:cNvPr id="4" name="Picture 3"/>
          <p:cNvPicPr>
            <a:picLocks noChangeAspect="1"/>
          </p:cNvPicPr>
          <p:nvPr/>
        </p:nvPicPr>
        <p:blipFill>
          <a:blip r:embed="rId2"/>
          <a:stretch>
            <a:fillRect/>
          </a:stretch>
        </p:blipFill>
        <p:spPr>
          <a:xfrm>
            <a:off x="4994525" y="1219200"/>
            <a:ext cx="3635885" cy="2989010"/>
          </a:xfrm>
          <a:prstGeom prst="rect">
            <a:avLst/>
          </a:prstGeom>
          <a:ln>
            <a:noFill/>
          </a:ln>
          <a:effectLst>
            <a:outerShdw blurRad="107950" dist="12700" dir="5400000" algn="ctr">
              <a:srgbClr val="000000"/>
            </a:outerShdw>
            <a:reflection blurRad="6350" stA="50000" endA="295" endPos="92000" dist="101600" dir="5400000" sy="-100000" algn="bl" rotWithShape="0"/>
          </a:effectLst>
        </p:spPr>
      </p:pic>
    </p:spTree>
    <p:extLst>
      <p:ext uri="{BB962C8B-B14F-4D97-AF65-F5344CB8AC3E}">
        <p14:creationId xmlns:p14="http://schemas.microsoft.com/office/powerpoint/2010/main" val="11071965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495800" y="3981450"/>
            <a:ext cx="3810000" cy="264795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p:cNvPicPr>
            <a:picLocks noChangeAspect="1"/>
          </p:cNvPicPr>
          <p:nvPr/>
        </p:nvPicPr>
        <p:blipFill>
          <a:blip r:embed="rId3"/>
          <a:stretch>
            <a:fillRect/>
          </a:stretch>
        </p:blipFill>
        <p:spPr>
          <a:xfrm>
            <a:off x="104774" y="2097088"/>
            <a:ext cx="3781426" cy="239871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27" name="Content Placeholder 2"/>
          <p:cNvSpPr txBox="1">
            <a:spLocks/>
          </p:cNvSpPr>
          <p:nvPr/>
        </p:nvSpPr>
        <p:spPr>
          <a:xfrm>
            <a:off x="152400" y="943936"/>
            <a:ext cx="8537575" cy="550528"/>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dirty="0" smtClean="0"/>
              <a:t>Once a need </a:t>
            </a:r>
            <a:r>
              <a:rPr lang="en-US" dirty="0"/>
              <a:t>to define a Production Resource/Tool as a </a:t>
            </a:r>
            <a:r>
              <a:rPr lang="en-US" dirty="0" smtClean="0"/>
              <a:t>material has been identified, the Planner must access transaction MM01 to create the material.</a:t>
            </a:r>
          </a:p>
          <a:p>
            <a:endParaRPr lang="en-US" dirty="0"/>
          </a:p>
        </p:txBody>
      </p:sp>
      <p:sp>
        <p:nvSpPr>
          <p:cNvPr id="8" name="Text Box 20"/>
          <p:cNvSpPr txBox="1">
            <a:spLocks noChangeArrowheads="1"/>
          </p:cNvSpPr>
          <p:nvPr/>
        </p:nvSpPr>
        <p:spPr bwMode="auto">
          <a:xfrm>
            <a:off x="4539996" y="1675440"/>
            <a:ext cx="4299204" cy="205836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sz="1400" dirty="0"/>
              <a:t>Enter the </a:t>
            </a:r>
            <a:r>
              <a:rPr lang="en-US" sz="1400" dirty="0" smtClean="0"/>
              <a:t>Industry sector and the Material Type. and click        the </a:t>
            </a:r>
            <a:r>
              <a:rPr lang="en-US" sz="1400" dirty="0"/>
              <a:t>Enter button to continue. </a:t>
            </a:r>
            <a:r>
              <a:rPr lang="en-US" sz="1400" dirty="0" smtClean="0"/>
              <a:t>SAP automatically populates the material field.</a:t>
            </a:r>
            <a:endParaRPr lang="en-US" sz="1400" dirty="0"/>
          </a:p>
          <a:p>
            <a:endParaRPr lang="en-US" sz="1400" dirty="0"/>
          </a:p>
          <a:p>
            <a:r>
              <a:rPr lang="en-US" sz="1400" dirty="0" smtClean="0"/>
              <a:t>After selecting the views that are needed to enter material information click      the Enter button to go to the Create Material XXXX (XXXX) screen. Enter the material information as necessary.</a:t>
            </a:r>
            <a:endParaRPr lang="en-US" dirty="0"/>
          </a:p>
        </p:txBody>
      </p:sp>
      <p:grpSp>
        <p:nvGrpSpPr>
          <p:cNvPr id="9" name="Group 8"/>
          <p:cNvGrpSpPr>
            <a:grpSpLocks/>
          </p:cNvGrpSpPr>
          <p:nvPr/>
        </p:nvGrpSpPr>
        <p:grpSpPr bwMode="auto">
          <a:xfrm>
            <a:off x="3048000" y="1905000"/>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4114800" y="1676400"/>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0" name="Group 24"/>
          <p:cNvGrpSpPr>
            <a:grpSpLocks/>
          </p:cNvGrpSpPr>
          <p:nvPr/>
        </p:nvGrpSpPr>
        <p:grpSpPr bwMode="auto">
          <a:xfrm>
            <a:off x="4114800" y="2895600"/>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Creating a Material in SAP</a:t>
            </a:r>
            <a:endParaRPr lang="en-US" dirty="0"/>
          </a:p>
        </p:txBody>
      </p:sp>
      <p:sp>
        <p:nvSpPr>
          <p:cNvPr id="28" name="Curved Right Arrow 27"/>
          <p:cNvSpPr/>
          <p:nvPr/>
        </p:nvSpPr>
        <p:spPr bwMode="auto">
          <a:xfrm rot="18413880">
            <a:off x="2770478" y="4404202"/>
            <a:ext cx="882213" cy="2605326"/>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nvGrpSpPr>
          <p:cNvPr id="17" name="Group 24"/>
          <p:cNvGrpSpPr>
            <a:grpSpLocks/>
          </p:cNvGrpSpPr>
          <p:nvPr/>
        </p:nvGrpSpPr>
        <p:grpSpPr bwMode="auto">
          <a:xfrm>
            <a:off x="4178300" y="3962400"/>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70</a:t>
            </a:fld>
            <a:endParaRPr lang="en-US" sz="1400" dirty="0">
              <a:solidFill>
                <a:schemeClr val="bg2"/>
              </a:solidFill>
            </a:endParaRPr>
          </a:p>
        </p:txBody>
      </p:sp>
      <p:pic>
        <p:nvPicPr>
          <p:cNvPr id="2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981200"/>
            <a:ext cx="304800" cy="2909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5"/>
          <a:stretch>
            <a:fillRect/>
          </a:stretch>
        </p:blipFill>
        <p:spPr>
          <a:xfrm>
            <a:off x="6629400" y="3000375"/>
            <a:ext cx="190500" cy="200025"/>
          </a:xfrm>
          <a:prstGeom prst="rect">
            <a:avLst/>
          </a:prstGeom>
        </p:spPr>
      </p:pic>
    </p:spTree>
    <p:extLst>
      <p:ext uri="{BB962C8B-B14F-4D97-AF65-F5344CB8AC3E}">
        <p14:creationId xmlns:p14="http://schemas.microsoft.com/office/powerpoint/2010/main" val="1708433200"/>
      </p:ext>
    </p:extLst>
  </p:cSld>
  <p:clrMapOvr>
    <a:masterClrMapping/>
  </p:clrMapOvr>
  <p:transition>
    <p:fade thruBlk="1"/>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Material</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Create Material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MM01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Materials Management &gt;</a:t>
            </a:r>
            <a:br>
              <a:rPr lang="en-US" dirty="0" smtClean="0"/>
            </a:br>
            <a:r>
              <a:rPr lang="en-US" dirty="0" smtClean="0"/>
              <a:t>Material Master &gt; Material &gt;                                               Create (General)&gt; Immediately</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096000" y="426720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71</a:t>
            </a:fld>
            <a:endParaRPr lang="en-US" sz="1400" dirty="0">
              <a:solidFill>
                <a:srgbClr val="4D4D4D"/>
              </a:solidFill>
            </a:endParaRPr>
          </a:p>
        </p:txBody>
      </p:sp>
    </p:spTree>
    <p:extLst>
      <p:ext uri="{BB962C8B-B14F-4D97-AF65-F5344CB8AC3E}">
        <p14:creationId xmlns:p14="http://schemas.microsoft.com/office/powerpoint/2010/main" val="23246190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 new 3 ¼” pipe must be added to SAP as a stock material for tracking purposes.</a:t>
            </a:r>
          </a:p>
          <a:p>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5.1 Create a Material</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72</a:t>
            </a:fld>
            <a:endParaRPr lang="en-US" sz="1400" dirty="0">
              <a:solidFill>
                <a:schemeClr val="bg2"/>
              </a:solidFill>
            </a:endParaRPr>
          </a:p>
        </p:txBody>
      </p:sp>
    </p:spTree>
    <p:extLst>
      <p:ext uri="{BB962C8B-B14F-4D97-AF65-F5344CB8AC3E}">
        <p14:creationId xmlns:p14="http://schemas.microsoft.com/office/powerpoint/2010/main" val="186092575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a Material</a:t>
            </a:r>
            <a:endParaRPr lang="en-US" dirty="0"/>
          </a:p>
        </p:txBody>
      </p:sp>
      <p:sp>
        <p:nvSpPr>
          <p:cNvPr id="3" name="Content Placeholder 2"/>
          <p:cNvSpPr>
            <a:spLocks noGrp="1"/>
          </p:cNvSpPr>
          <p:nvPr>
            <p:ph idx="1"/>
          </p:nvPr>
        </p:nvSpPr>
        <p:spPr>
          <a:xfrm>
            <a:off x="301625" y="1143001"/>
            <a:ext cx="8537575" cy="2590799"/>
          </a:xfrm>
        </p:spPr>
        <p:txBody>
          <a:bodyPr/>
          <a:lstStyle/>
          <a:p>
            <a:pPr marL="342900" indent="-342900">
              <a:buFont typeface="Arial" pitchFamily="34" charset="0"/>
              <a:buChar char="•"/>
            </a:pPr>
            <a:r>
              <a:rPr lang="en-US" dirty="0" smtClean="0"/>
              <a:t>Enter the material and select the views that changes need to be applied to</a:t>
            </a:r>
          </a:p>
          <a:p>
            <a:pPr marL="342900" indent="-342900">
              <a:buFont typeface="Arial" pitchFamily="34" charset="0"/>
              <a:buChar char="•"/>
            </a:pPr>
            <a:r>
              <a:rPr lang="en-US" dirty="0" smtClean="0"/>
              <a:t>Changes can include extending materials to another plant or adding additional views that may not have been selected previously</a:t>
            </a:r>
          </a:p>
          <a:p>
            <a:pPr marL="342900" indent="-342900">
              <a:buFont typeface="Arial" pitchFamily="34" charset="0"/>
              <a:buChar char="•"/>
            </a:pPr>
            <a:r>
              <a:rPr lang="en-US" dirty="0" smtClean="0"/>
              <a:t>Use transaction code MM02 to implement all changes necessary</a:t>
            </a:r>
            <a:endParaRPr lang="en-US" dirty="0"/>
          </a:p>
        </p:txBody>
      </p:sp>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69</a:t>
            </a:r>
            <a:endParaRPr lang="en-US" sz="1400" dirty="0">
              <a:solidFill>
                <a:schemeClr val="bg2"/>
              </a:solidFill>
            </a:endParaRPr>
          </a:p>
        </p:txBody>
      </p:sp>
      <p:pic>
        <p:nvPicPr>
          <p:cNvPr id="4" name="Picture 3"/>
          <p:cNvPicPr>
            <a:picLocks noChangeAspect="1"/>
          </p:cNvPicPr>
          <p:nvPr/>
        </p:nvPicPr>
        <p:blipFill>
          <a:blip r:embed="rId2"/>
          <a:stretch>
            <a:fillRect/>
          </a:stretch>
        </p:blipFill>
        <p:spPr>
          <a:xfrm>
            <a:off x="1676400" y="3614184"/>
            <a:ext cx="6324600" cy="301521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1460328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Change a Material</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Material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MM02</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Materials Management &gt;</a:t>
            </a:r>
            <a:br>
              <a:rPr lang="en-US" dirty="0" smtClean="0"/>
            </a:br>
            <a:r>
              <a:rPr lang="en-US" dirty="0" smtClean="0"/>
              <a:t>Material Master &gt; Material &gt;                                               Change &gt; Immediately</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096000" y="426720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74</a:t>
            </a:fld>
            <a:endParaRPr lang="en-US" sz="1400" dirty="0">
              <a:solidFill>
                <a:srgbClr val="4D4D4D"/>
              </a:solidFill>
            </a:endParaRPr>
          </a:p>
        </p:txBody>
      </p:sp>
    </p:spTree>
    <p:extLst>
      <p:ext uri="{BB962C8B-B14F-4D97-AF65-F5344CB8AC3E}">
        <p14:creationId xmlns:p14="http://schemas.microsoft.com/office/powerpoint/2010/main" val="24415515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 change needs to be made to the new 3 ¼” pipe that has recently been added to SAP. </a:t>
            </a:r>
          </a:p>
          <a:p>
            <a:endParaRPr lang="en-US" b="1" dirty="0">
              <a:solidFill>
                <a:schemeClr val="accent4">
                  <a:lumMod val="10000"/>
                </a:schemeClr>
              </a:solidFill>
            </a:endParaRPr>
          </a:p>
          <a:p>
            <a:pPr marL="342900" indent="-342900">
              <a:buFont typeface="Arial" panose="020B0604020202020204" pitchFamily="34" charset="0"/>
              <a:buChar char="•"/>
            </a:pPr>
            <a:r>
              <a:rPr lang="en-US" b="1" dirty="0" smtClean="0">
                <a:solidFill>
                  <a:schemeClr val="accent4">
                    <a:lumMod val="10000"/>
                  </a:schemeClr>
                </a:solidFill>
              </a:rPr>
              <a:t>Add the Purchasing Group and MRP Group to the MRP1 view</a:t>
            </a:r>
          </a:p>
          <a:p>
            <a:pPr marL="342900" indent="-342900">
              <a:buFont typeface="Arial" panose="020B0604020202020204" pitchFamily="34" charset="0"/>
              <a:buChar char="•"/>
            </a:pPr>
            <a:endParaRPr lang="en-US" b="1" dirty="0">
              <a:solidFill>
                <a:schemeClr val="accent4">
                  <a:lumMod val="10000"/>
                </a:schemeClr>
              </a:solidFill>
            </a:endParaRPr>
          </a:p>
          <a:p>
            <a:pPr marL="342900" indent="-342900">
              <a:buFont typeface="Arial" panose="020B0604020202020204" pitchFamily="34" charset="0"/>
              <a:buChar char="•"/>
            </a:pPr>
            <a:r>
              <a:rPr lang="en-US" b="1" dirty="0" smtClean="0">
                <a:solidFill>
                  <a:schemeClr val="accent4">
                    <a:lumMod val="10000"/>
                  </a:schemeClr>
                </a:solidFill>
              </a:rPr>
              <a:t>Add the Valuation Category to the Accounting 1 view</a:t>
            </a:r>
          </a:p>
          <a:p>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5.2 Change a Material</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75</a:t>
            </a:fld>
            <a:endParaRPr lang="en-US" sz="1400" dirty="0">
              <a:solidFill>
                <a:schemeClr val="bg2"/>
              </a:solidFill>
            </a:endParaRPr>
          </a:p>
        </p:txBody>
      </p:sp>
    </p:spTree>
    <p:extLst>
      <p:ext uri="{BB962C8B-B14F-4D97-AF65-F5344CB8AC3E}">
        <p14:creationId xmlns:p14="http://schemas.microsoft.com/office/powerpoint/2010/main" val="261481909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BOM?</a:t>
            </a:r>
            <a:endParaRPr lang="en-US" dirty="0"/>
          </a:p>
        </p:txBody>
      </p:sp>
      <p:sp>
        <p:nvSpPr>
          <p:cNvPr id="3" name="Content Placeholder 2"/>
          <p:cNvSpPr>
            <a:spLocks noGrp="1"/>
          </p:cNvSpPr>
          <p:nvPr>
            <p:ph idx="1"/>
          </p:nvPr>
        </p:nvSpPr>
        <p:spPr>
          <a:xfrm>
            <a:off x="4724400" y="1143001"/>
            <a:ext cx="4114800" cy="4648200"/>
          </a:xfrm>
        </p:spPr>
        <p:txBody>
          <a:bodyPr/>
          <a:lstStyle/>
          <a:p>
            <a:pPr marL="342900" indent="-342900">
              <a:buFont typeface="Arial" pitchFamily="34" charset="0"/>
              <a:buChar char="•"/>
            </a:pPr>
            <a:r>
              <a:rPr lang="en-US" dirty="0" smtClean="0"/>
              <a:t>Bill </a:t>
            </a:r>
            <a:r>
              <a:rPr lang="en-US" dirty="0"/>
              <a:t>of materials (BOMs) </a:t>
            </a:r>
            <a:r>
              <a:rPr lang="en-US" dirty="0" smtClean="0"/>
              <a:t>contain </a:t>
            </a:r>
            <a:r>
              <a:rPr lang="en-US" dirty="0"/>
              <a:t>essential master data for integrated materials management and production </a:t>
            </a:r>
            <a:r>
              <a:rPr lang="en-US" dirty="0" smtClean="0"/>
              <a:t>control</a:t>
            </a:r>
            <a:endParaRPr lang="en-US" dirty="0"/>
          </a:p>
          <a:p>
            <a:pPr marL="342900" indent="-342900">
              <a:buFont typeface="Arial" pitchFamily="34" charset="0"/>
              <a:buChar char="•"/>
            </a:pPr>
            <a:r>
              <a:rPr lang="en-US" dirty="0"/>
              <a:t>A bill of material is a complete, formally structured list of components that makes up a product or assembly. The list contains the object number of each component, together with the quantity and unit of measure. The components are known as BOM </a:t>
            </a:r>
            <a:r>
              <a:rPr lang="en-US" dirty="0" smtClean="0"/>
              <a:t>items</a:t>
            </a:r>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76</a:t>
            </a:fld>
            <a:endParaRPr lang="en-US" sz="1400" dirty="0">
              <a:solidFill>
                <a:schemeClr val="bg2"/>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25" y="1524000"/>
            <a:ext cx="4404188" cy="4267200"/>
          </a:xfrm>
          <a:prstGeom prst="rect">
            <a:avLst/>
          </a:prstGeom>
          <a:noFill/>
          <a:ln>
            <a:noFill/>
          </a:ln>
          <a:effectLst>
            <a:outerShdw blurRad="107950" dist="12700" dir="5400000" algn="ctr">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40609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303" y="2382591"/>
            <a:ext cx="3676650"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3042" name="Rectangle 2"/>
          <p:cNvSpPr>
            <a:spLocks noGrp="1" noChangeArrowheads="1"/>
          </p:cNvSpPr>
          <p:nvPr>
            <p:ph type="title"/>
          </p:nvPr>
        </p:nvSpPr>
        <p:spPr/>
        <p:txBody>
          <a:bodyPr/>
          <a:lstStyle/>
          <a:p>
            <a:r>
              <a:rPr lang="en-US" dirty="0" smtClean="0"/>
              <a:t>Creating a BOM</a:t>
            </a:r>
          </a:p>
        </p:txBody>
      </p:sp>
      <p:sp>
        <p:nvSpPr>
          <p:cNvPr id="343043" name="Rectangle 3"/>
          <p:cNvSpPr>
            <a:spLocks noGrp="1" noChangeArrowheads="1"/>
          </p:cNvSpPr>
          <p:nvPr>
            <p:ph idx="1"/>
          </p:nvPr>
        </p:nvSpPr>
        <p:spPr>
          <a:xfrm>
            <a:off x="304800" y="990600"/>
            <a:ext cx="8537575" cy="1361974"/>
          </a:xfrm>
        </p:spPr>
        <p:txBody>
          <a:bodyPr/>
          <a:lstStyle/>
          <a:p>
            <a:r>
              <a:rPr lang="en-US" dirty="0"/>
              <a:t>Materials must first exist in SAP before creating a bill of material. Materials are created  and entered into SAP by Master Data. Once material and component numbers exist, a BOM can be created using transaction CS01.</a:t>
            </a:r>
          </a:p>
        </p:txBody>
      </p:sp>
      <p:sp>
        <p:nvSpPr>
          <p:cNvPr id="343061" name="AutoShape 21"/>
          <p:cNvSpPr>
            <a:spLocks noChangeArrowheads="1"/>
          </p:cNvSpPr>
          <p:nvPr/>
        </p:nvSpPr>
        <p:spPr bwMode="auto">
          <a:xfrm>
            <a:off x="1313542" y="3633787"/>
            <a:ext cx="5379357" cy="2948196"/>
          </a:xfrm>
          <a:prstGeom prst="wedgeRectCallout">
            <a:avLst>
              <a:gd name="adj1" fmla="val -46643"/>
              <a:gd name="adj2" fmla="val -79302"/>
            </a:avLst>
          </a:prstGeom>
          <a:noFill/>
          <a:ln w="38100">
            <a:solidFill>
              <a:srgbClr val="FF0000"/>
            </a:solidFill>
            <a:prstDash val="dash"/>
            <a:miter lim="800000"/>
            <a:headEnd/>
            <a:tailEnd/>
          </a:ln>
          <a:effectLst/>
          <a:extLst/>
        </p:spPr>
        <p:txBody>
          <a:bodyPr/>
          <a:lstStyle/>
          <a:p>
            <a:pPr algn="ctr" eaLnBrk="1" hangingPunct="1"/>
            <a:endParaRPr lang="en-US" smtClean="0">
              <a:solidFill>
                <a:schemeClr val="accent4">
                  <a:lumMod val="10000"/>
                </a:schemeClr>
              </a:solidFill>
              <a:cs typeface="Arial" charset="0"/>
            </a:endParaRPr>
          </a:p>
        </p:txBody>
      </p:sp>
      <p:sp>
        <p:nvSpPr>
          <p:cNvPr id="343062" name="Rectangle 22"/>
          <p:cNvSpPr>
            <a:spLocks noChangeArrowheads="1"/>
          </p:cNvSpPr>
          <p:nvPr/>
        </p:nvSpPr>
        <p:spPr bwMode="auto">
          <a:xfrm>
            <a:off x="1008743" y="2448668"/>
            <a:ext cx="304800" cy="230187"/>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
        <p:nvSpPr>
          <p:cNvPr id="343066" name="Text Box 26"/>
          <p:cNvSpPr txBox="1">
            <a:spLocks noChangeArrowheads="1"/>
          </p:cNvSpPr>
          <p:nvPr/>
        </p:nvSpPr>
        <p:spPr bwMode="auto">
          <a:xfrm>
            <a:off x="4953000" y="1981200"/>
            <a:ext cx="2438400" cy="1447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Enter the Material, Plant, and BOM Usage information and click     the Enter button to continue. </a:t>
            </a:r>
            <a:endParaRPr lang="en-US" dirty="0"/>
          </a:p>
        </p:txBody>
      </p:sp>
      <p:sp>
        <p:nvSpPr>
          <p:cNvPr id="343073" name="Line 33"/>
          <p:cNvSpPr>
            <a:spLocks noChangeShapeType="1"/>
          </p:cNvSpPr>
          <p:nvPr/>
        </p:nvSpPr>
        <p:spPr bwMode="auto">
          <a:xfrm flipV="1">
            <a:off x="2514600" y="5029199"/>
            <a:ext cx="0" cy="230187"/>
          </a:xfrm>
          <a:prstGeom prst="line">
            <a:avLst/>
          </a:prstGeom>
          <a:noFill/>
          <a:ln w="9525">
            <a:solidFill>
              <a:schemeClr val="folHlink"/>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grpSp>
        <p:nvGrpSpPr>
          <p:cNvPr id="343063" name="Group 23"/>
          <p:cNvGrpSpPr>
            <a:grpSpLocks/>
          </p:cNvGrpSpPr>
          <p:nvPr/>
        </p:nvGrpSpPr>
        <p:grpSpPr bwMode="auto">
          <a:xfrm>
            <a:off x="533400" y="2315319"/>
            <a:ext cx="393700" cy="363537"/>
            <a:chOff x="4976" y="624"/>
            <a:chExt cx="200" cy="176"/>
          </a:xfrm>
        </p:grpSpPr>
        <p:sp>
          <p:nvSpPr>
            <p:cNvPr id="343064" name="Oval 24"/>
            <p:cNvSpPr>
              <a:spLocks noChangeArrowheads="1"/>
            </p:cNvSpPr>
            <p:nvPr/>
          </p:nvSpPr>
          <p:spPr bwMode="auto">
            <a:xfrm>
              <a:off x="4976" y="624"/>
              <a:ext cx="200" cy="176"/>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65" name="Text Box 25"/>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1</a:t>
              </a:r>
            </a:p>
          </p:txBody>
        </p:sp>
      </p:grpSp>
      <p:grpSp>
        <p:nvGrpSpPr>
          <p:cNvPr id="343069" name="Group 29"/>
          <p:cNvGrpSpPr>
            <a:grpSpLocks/>
          </p:cNvGrpSpPr>
          <p:nvPr/>
        </p:nvGrpSpPr>
        <p:grpSpPr bwMode="auto">
          <a:xfrm>
            <a:off x="901700" y="5029200"/>
            <a:ext cx="393700" cy="363538"/>
            <a:chOff x="4976" y="624"/>
            <a:chExt cx="200" cy="176"/>
          </a:xfrm>
        </p:grpSpPr>
        <p:sp>
          <p:nvSpPr>
            <p:cNvPr id="343070" name="Oval 30"/>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71" name="Text Box 31"/>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9" name="Slide Number Placeholder 3"/>
          <p:cNvSpPr>
            <a:spLocks noGrp="1"/>
          </p:cNvSpPr>
          <p:nvPr>
            <p:ph type="sldNum" sz="quarter" idx="10"/>
          </p:nvPr>
        </p:nvSpPr>
        <p:spPr>
          <a:xfrm>
            <a:off x="228600" y="6229350"/>
            <a:ext cx="2286000" cy="476250"/>
          </a:xfrm>
        </p:spPr>
        <p:txBody>
          <a:bodyPr/>
          <a:lstStyle/>
          <a:p>
            <a:endParaRPr lang="en-US" dirty="0" smtClean="0"/>
          </a:p>
          <a:p>
            <a:fld id="{C0ABF30F-1156-4F41-8469-8F121BB9144A}" type="slidenum">
              <a:rPr lang="en-US" sz="1400" smtClean="0">
                <a:solidFill>
                  <a:schemeClr val="bg2"/>
                </a:solidFill>
              </a:rPr>
              <a:pPr/>
              <a:t>77</a:t>
            </a:fld>
            <a:endParaRPr lang="en-US" sz="1400" dirty="0">
              <a:solidFill>
                <a:schemeClr val="bg2"/>
              </a:solidFill>
            </a:endParaRPr>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748086"/>
            <a:ext cx="5000625" cy="2614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2514600"/>
            <a:ext cx="344261" cy="328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3068" name="Text Box 28"/>
          <p:cNvSpPr txBox="1">
            <a:spLocks noChangeArrowheads="1"/>
          </p:cNvSpPr>
          <p:nvPr/>
        </p:nvSpPr>
        <p:spPr bwMode="auto">
          <a:xfrm>
            <a:off x="5638800" y="4038600"/>
            <a:ext cx="3429000" cy="254338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Enter each component that makes up the complete bill of material. The Item number for each denotes the order of assembly. When complete, click                                                                                                the Save button to save your BOM.</a:t>
            </a:r>
            <a:endParaRPr lang="en-US" dirty="0"/>
          </a:p>
        </p:txBody>
      </p:sp>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5486400"/>
            <a:ext cx="3333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9279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Material BOM</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Create material BOM: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CS01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Management of Technical Objects &gt;                                       Bill of </a:t>
            </a:r>
            <a:r>
              <a:rPr lang="en-US" dirty="0"/>
              <a:t>Material </a:t>
            </a:r>
            <a:r>
              <a:rPr lang="en-US" dirty="0" smtClean="0"/>
              <a:t>&gt; Material BOM &gt; Create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096000" y="426720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78</a:t>
            </a:fld>
            <a:endParaRPr lang="en-US" sz="1400" dirty="0">
              <a:solidFill>
                <a:srgbClr val="4D4D4D"/>
              </a:solidFill>
            </a:endParaRPr>
          </a:p>
        </p:txBody>
      </p:sp>
    </p:spTree>
    <p:extLst>
      <p:ext uri="{BB962C8B-B14F-4D97-AF65-F5344CB8AC3E}">
        <p14:creationId xmlns:p14="http://schemas.microsoft.com/office/powerpoint/2010/main" val="1138230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For inventory stock purposes, a bill of material for a 12x10 Pump must be created.</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5.3 Create a Material BOM</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79</a:t>
            </a:fld>
            <a:endParaRPr lang="en-US" sz="1400" dirty="0">
              <a:solidFill>
                <a:schemeClr val="bg2"/>
              </a:solidFill>
            </a:endParaRPr>
          </a:p>
        </p:txBody>
      </p:sp>
    </p:spTree>
    <p:extLst>
      <p:ext uri="{BB962C8B-B14F-4D97-AF65-F5344CB8AC3E}">
        <p14:creationId xmlns:p14="http://schemas.microsoft.com/office/powerpoint/2010/main" val="62200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4191001"/>
            <a:ext cx="4114800" cy="2514599"/>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6" y="2098472"/>
            <a:ext cx="3774230" cy="2456066"/>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 Box 20"/>
          <p:cNvSpPr txBox="1">
            <a:spLocks noChangeArrowheads="1"/>
          </p:cNvSpPr>
          <p:nvPr/>
        </p:nvSpPr>
        <p:spPr bwMode="auto">
          <a:xfrm>
            <a:off x="5810330" y="1752600"/>
            <a:ext cx="3028870" cy="236839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sz="1400" dirty="0"/>
              <a:t>Enter the Material, Plant, and BOM Usage information and </a:t>
            </a:r>
            <a:r>
              <a:rPr lang="en-US" sz="1400" dirty="0" smtClean="0"/>
              <a:t>click               the </a:t>
            </a:r>
            <a:r>
              <a:rPr lang="en-US" sz="1400" dirty="0"/>
              <a:t>Enter button to continue. </a:t>
            </a:r>
          </a:p>
          <a:p>
            <a:endParaRPr lang="en-US" sz="1400" dirty="0"/>
          </a:p>
          <a:p>
            <a:r>
              <a:rPr lang="en-US" sz="1400" dirty="0" smtClean="0"/>
              <a:t>Make any necessary changes to the BOM and click        the Save button to save your changes.</a:t>
            </a:r>
            <a:endParaRPr lang="en-US" dirty="0"/>
          </a:p>
        </p:txBody>
      </p:sp>
      <p:grpSp>
        <p:nvGrpSpPr>
          <p:cNvPr id="9" name="Group 8"/>
          <p:cNvGrpSpPr>
            <a:grpSpLocks/>
          </p:cNvGrpSpPr>
          <p:nvPr/>
        </p:nvGrpSpPr>
        <p:grpSpPr bwMode="auto">
          <a:xfrm>
            <a:off x="4038600" y="2303462"/>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410200" y="1828800"/>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0" name="Group 24"/>
          <p:cNvGrpSpPr>
            <a:grpSpLocks/>
          </p:cNvGrpSpPr>
          <p:nvPr/>
        </p:nvGrpSpPr>
        <p:grpSpPr bwMode="auto">
          <a:xfrm>
            <a:off x="5410200" y="2895600"/>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Changing a BOM</a:t>
            </a:r>
            <a:endParaRPr lang="en-US" dirty="0"/>
          </a:p>
        </p:txBody>
      </p:sp>
      <p:sp>
        <p:nvSpPr>
          <p:cNvPr id="27" name="Content Placeholder 2"/>
          <p:cNvSpPr txBox="1">
            <a:spLocks/>
          </p:cNvSpPr>
          <p:nvPr/>
        </p:nvSpPr>
        <p:spPr>
          <a:xfrm>
            <a:off x="301625" y="1066801"/>
            <a:ext cx="8537575" cy="1031672"/>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dirty="0" smtClean="0"/>
              <a:t>On occasion, it may be necessary to change a component, the item number, or the quantity in a BOM. Access transaction CS02 to complete any necessary changes.</a:t>
            </a:r>
          </a:p>
          <a:p>
            <a:endParaRPr lang="en-US" dirty="0"/>
          </a:p>
        </p:txBody>
      </p:sp>
      <p:sp>
        <p:nvSpPr>
          <p:cNvPr id="28" name="Curved Right Arrow 27"/>
          <p:cNvSpPr/>
          <p:nvPr/>
        </p:nvSpPr>
        <p:spPr bwMode="auto">
          <a:xfrm rot="17720705">
            <a:off x="2524343" y="4171998"/>
            <a:ext cx="882213" cy="2605326"/>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9" name="Rectangle 19"/>
          <p:cNvSpPr>
            <a:spLocks noChangeArrowheads="1"/>
          </p:cNvSpPr>
          <p:nvPr/>
        </p:nvSpPr>
        <p:spPr bwMode="auto">
          <a:xfrm>
            <a:off x="6172200" y="4132344"/>
            <a:ext cx="381000" cy="413931"/>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grpSp>
        <p:nvGrpSpPr>
          <p:cNvPr id="17" name="Group 24"/>
          <p:cNvGrpSpPr>
            <a:grpSpLocks/>
          </p:cNvGrpSpPr>
          <p:nvPr/>
        </p:nvGrpSpPr>
        <p:grpSpPr bwMode="auto">
          <a:xfrm>
            <a:off x="8382000" y="4437062"/>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80</a:t>
            </a:fld>
            <a:endParaRPr lang="en-US" sz="1400" dirty="0">
              <a:solidFill>
                <a:schemeClr val="bg2"/>
              </a:solidFill>
            </a:endParaRPr>
          </a:p>
        </p:txBody>
      </p:sp>
      <p:pic>
        <p:nvPicPr>
          <p:cNvPr id="2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3939" y="2338387"/>
            <a:ext cx="344261" cy="328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75689" y="3306763"/>
            <a:ext cx="315711" cy="3157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6885022"/>
      </p:ext>
    </p:extLst>
  </p:cSld>
  <p:clrMapOvr>
    <a:masterClrMapping/>
  </p:clrMapOvr>
  <p:transition>
    <p:fade thruBlk="1"/>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Change a Material BOM</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material BOM: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CS02</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Management of Technical Objects &gt;                                       Bill of </a:t>
            </a:r>
            <a:r>
              <a:rPr lang="en-US" dirty="0"/>
              <a:t>Material </a:t>
            </a:r>
            <a:r>
              <a:rPr lang="en-US" dirty="0" smtClean="0"/>
              <a:t>&gt; Material BOM &gt; Change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096000" y="4267200"/>
            <a:ext cx="29938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81</a:t>
            </a:fld>
            <a:endParaRPr lang="en-US" sz="1400" dirty="0">
              <a:solidFill>
                <a:srgbClr val="4D4D4D"/>
              </a:solidFill>
            </a:endParaRPr>
          </a:p>
        </p:txBody>
      </p:sp>
    </p:spTree>
    <p:extLst>
      <p:ext uri="{BB962C8B-B14F-4D97-AF65-F5344CB8AC3E}">
        <p14:creationId xmlns:p14="http://schemas.microsoft.com/office/powerpoint/2010/main" val="1562155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The bill of material recently created for a 12x10 Pump must be changed.</a:t>
            </a:r>
          </a:p>
          <a:p>
            <a:endParaRPr lang="en-US" b="1" dirty="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Add a Caps Bolts/Nuts component</a:t>
            </a:r>
          </a:p>
          <a:p>
            <a:pPr marL="342900" indent="-342900">
              <a:buFont typeface="Arial" pitchFamily="34" charset="0"/>
              <a:buChar char="•"/>
            </a:pPr>
            <a:endParaRPr lang="en-US" b="1" dirty="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Change the Item number of the Lock Nut from 0030 to 0015</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5.4 Change a Material BOM</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82</a:t>
            </a:fld>
            <a:endParaRPr lang="en-US" sz="1400" dirty="0">
              <a:solidFill>
                <a:schemeClr val="bg2"/>
              </a:solidFill>
            </a:endParaRPr>
          </a:p>
        </p:txBody>
      </p:sp>
    </p:spTree>
    <p:extLst>
      <p:ext uri="{BB962C8B-B14F-4D97-AF65-F5344CB8AC3E}">
        <p14:creationId xmlns:p14="http://schemas.microsoft.com/office/powerpoint/2010/main" val="197278867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an Equipment BOM?</a:t>
            </a:r>
            <a:endParaRPr lang="en-US" dirty="0"/>
          </a:p>
        </p:txBody>
      </p:sp>
      <p:sp>
        <p:nvSpPr>
          <p:cNvPr id="3" name="Content Placeholder 2"/>
          <p:cNvSpPr>
            <a:spLocks noGrp="1"/>
          </p:cNvSpPr>
          <p:nvPr>
            <p:ph idx="1"/>
          </p:nvPr>
        </p:nvSpPr>
        <p:spPr>
          <a:xfrm>
            <a:off x="4724400" y="1143001"/>
            <a:ext cx="4114800" cy="4648200"/>
          </a:xfrm>
        </p:spPr>
        <p:txBody>
          <a:bodyPr/>
          <a:lstStyle/>
          <a:p>
            <a:pPr marL="342900" indent="-342900">
              <a:buFont typeface="Arial" pitchFamily="34" charset="0"/>
              <a:buChar char="•"/>
            </a:pPr>
            <a:r>
              <a:rPr lang="en-US" dirty="0"/>
              <a:t>A</a:t>
            </a:r>
            <a:r>
              <a:rPr lang="en-US" dirty="0" smtClean="0"/>
              <a:t> </a:t>
            </a:r>
            <a:r>
              <a:rPr lang="en-US" dirty="0"/>
              <a:t>bill of material for a piece of maintenance equipment </a:t>
            </a:r>
            <a:r>
              <a:rPr lang="en-US" dirty="0" smtClean="0"/>
              <a:t>is used to </a:t>
            </a:r>
            <a:r>
              <a:rPr lang="en-US" dirty="0"/>
              <a:t>describe the equipment components, maintenance </a:t>
            </a:r>
            <a:r>
              <a:rPr lang="en-US" dirty="0" smtClean="0"/>
              <a:t>requirements, </a:t>
            </a:r>
            <a:r>
              <a:rPr lang="en-US" dirty="0"/>
              <a:t>or the assignment of spare </a:t>
            </a:r>
            <a:r>
              <a:rPr lang="en-US" dirty="0" smtClean="0"/>
              <a:t>parts</a:t>
            </a:r>
          </a:p>
          <a:p>
            <a:pPr marL="342900" indent="-342900">
              <a:buFont typeface="Arial" pitchFamily="34" charset="0"/>
              <a:buChar char="•"/>
            </a:pPr>
            <a:r>
              <a:rPr lang="en-US" dirty="0" smtClean="0"/>
              <a:t>An equipment BOM can be used to track preventive maintenance for Fleet vehicles and general parts servicing</a:t>
            </a:r>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83</a:t>
            </a:fld>
            <a:endParaRPr lang="en-US" sz="1400" dirty="0">
              <a:solidFill>
                <a:schemeClr val="bg2"/>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71600"/>
            <a:ext cx="4490299" cy="4333876"/>
          </a:xfrm>
          <a:prstGeom prst="rect">
            <a:avLst/>
          </a:prstGeom>
          <a:noFill/>
          <a:ln>
            <a:noFill/>
          </a:ln>
          <a:effectLst>
            <a:glow rad="101600">
              <a:schemeClr val="accent5">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92737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2200"/>
            <a:ext cx="3429000" cy="235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725" y="3724275"/>
            <a:ext cx="479107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3042" name="Rectangle 2"/>
          <p:cNvSpPr>
            <a:spLocks noGrp="1" noChangeArrowheads="1"/>
          </p:cNvSpPr>
          <p:nvPr>
            <p:ph type="title"/>
          </p:nvPr>
        </p:nvSpPr>
        <p:spPr/>
        <p:txBody>
          <a:bodyPr/>
          <a:lstStyle/>
          <a:p>
            <a:r>
              <a:rPr lang="en-US" dirty="0" smtClean="0"/>
              <a:t>Creating an Equipment BOM</a:t>
            </a:r>
          </a:p>
        </p:txBody>
      </p:sp>
      <p:sp>
        <p:nvSpPr>
          <p:cNvPr id="343043" name="Rectangle 3"/>
          <p:cNvSpPr>
            <a:spLocks noGrp="1" noChangeArrowheads="1"/>
          </p:cNvSpPr>
          <p:nvPr>
            <p:ph idx="1"/>
          </p:nvPr>
        </p:nvSpPr>
        <p:spPr>
          <a:xfrm>
            <a:off x="304800" y="990600"/>
            <a:ext cx="8537575" cy="1361974"/>
          </a:xfrm>
        </p:spPr>
        <p:txBody>
          <a:bodyPr/>
          <a:lstStyle/>
          <a:p>
            <a:r>
              <a:rPr lang="en-US" dirty="0" smtClean="0"/>
              <a:t>For an equipment BOM, </a:t>
            </a:r>
            <a:r>
              <a:rPr lang="en-US" dirty="0"/>
              <a:t>a</a:t>
            </a:r>
            <a:r>
              <a:rPr lang="en-US" dirty="0" smtClean="0"/>
              <a:t>n </a:t>
            </a:r>
            <a:r>
              <a:rPr lang="en-US" dirty="0"/>
              <a:t>equipment item can only contain one </a:t>
            </a:r>
            <a:r>
              <a:rPr lang="en-US" dirty="0" smtClean="0"/>
              <a:t>BOM. If </a:t>
            </a:r>
            <a:r>
              <a:rPr lang="en-US" dirty="0"/>
              <a:t>a BOM </a:t>
            </a:r>
            <a:r>
              <a:rPr lang="en-US" dirty="0" smtClean="0"/>
              <a:t>exists </a:t>
            </a:r>
            <a:r>
              <a:rPr lang="en-US" dirty="0"/>
              <a:t>for this equipment, it must be changed</a:t>
            </a:r>
            <a:r>
              <a:rPr lang="en-US" dirty="0" smtClean="0"/>
              <a:t>. An equipment BOM is created using transaction IB01.</a:t>
            </a:r>
            <a:endParaRPr lang="en-US" dirty="0"/>
          </a:p>
        </p:txBody>
      </p:sp>
      <p:sp>
        <p:nvSpPr>
          <p:cNvPr id="343061" name="AutoShape 21"/>
          <p:cNvSpPr>
            <a:spLocks noChangeArrowheads="1"/>
          </p:cNvSpPr>
          <p:nvPr/>
        </p:nvSpPr>
        <p:spPr bwMode="auto">
          <a:xfrm>
            <a:off x="1313542" y="3633787"/>
            <a:ext cx="5379357" cy="2948196"/>
          </a:xfrm>
          <a:prstGeom prst="wedgeRectCallout">
            <a:avLst>
              <a:gd name="adj1" fmla="val -46643"/>
              <a:gd name="adj2" fmla="val -79302"/>
            </a:avLst>
          </a:prstGeom>
          <a:noFill/>
          <a:ln w="38100">
            <a:solidFill>
              <a:srgbClr val="FF0000"/>
            </a:solidFill>
            <a:prstDash val="dash"/>
            <a:miter lim="800000"/>
            <a:headEnd/>
            <a:tailEnd/>
          </a:ln>
          <a:effectLst/>
          <a:extLst/>
        </p:spPr>
        <p:txBody>
          <a:bodyPr/>
          <a:lstStyle/>
          <a:p>
            <a:pPr algn="ctr" eaLnBrk="1" hangingPunct="1"/>
            <a:endParaRPr lang="en-US" smtClean="0">
              <a:solidFill>
                <a:schemeClr val="accent4">
                  <a:lumMod val="10000"/>
                </a:schemeClr>
              </a:solidFill>
              <a:cs typeface="Arial" charset="0"/>
            </a:endParaRPr>
          </a:p>
        </p:txBody>
      </p:sp>
      <p:sp>
        <p:nvSpPr>
          <p:cNvPr id="343062" name="Rectangle 22"/>
          <p:cNvSpPr>
            <a:spLocks noChangeArrowheads="1"/>
          </p:cNvSpPr>
          <p:nvPr/>
        </p:nvSpPr>
        <p:spPr bwMode="auto">
          <a:xfrm>
            <a:off x="1066800" y="2448668"/>
            <a:ext cx="304800" cy="230187"/>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
        <p:nvSpPr>
          <p:cNvPr id="343066" name="Text Box 26"/>
          <p:cNvSpPr txBox="1">
            <a:spLocks noChangeArrowheads="1"/>
          </p:cNvSpPr>
          <p:nvPr/>
        </p:nvSpPr>
        <p:spPr bwMode="auto">
          <a:xfrm>
            <a:off x="4953000" y="1981200"/>
            <a:ext cx="2438400" cy="1447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Enter the Equipment, Plant, and BOM Usage information and click     the Enter button to continue. </a:t>
            </a:r>
            <a:endParaRPr lang="en-US" dirty="0"/>
          </a:p>
        </p:txBody>
      </p:sp>
      <p:sp>
        <p:nvSpPr>
          <p:cNvPr id="343073" name="Line 33"/>
          <p:cNvSpPr>
            <a:spLocks noChangeShapeType="1"/>
          </p:cNvSpPr>
          <p:nvPr/>
        </p:nvSpPr>
        <p:spPr bwMode="auto">
          <a:xfrm flipV="1">
            <a:off x="2514600" y="5029199"/>
            <a:ext cx="0" cy="230187"/>
          </a:xfrm>
          <a:prstGeom prst="line">
            <a:avLst/>
          </a:prstGeom>
          <a:noFill/>
          <a:ln w="9525">
            <a:solidFill>
              <a:schemeClr val="folHlink"/>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grpSp>
        <p:nvGrpSpPr>
          <p:cNvPr id="343063" name="Group 23"/>
          <p:cNvGrpSpPr>
            <a:grpSpLocks/>
          </p:cNvGrpSpPr>
          <p:nvPr/>
        </p:nvGrpSpPr>
        <p:grpSpPr bwMode="auto">
          <a:xfrm>
            <a:off x="533400" y="2315319"/>
            <a:ext cx="393700" cy="363537"/>
            <a:chOff x="4976" y="624"/>
            <a:chExt cx="200" cy="176"/>
          </a:xfrm>
        </p:grpSpPr>
        <p:sp>
          <p:nvSpPr>
            <p:cNvPr id="343064" name="Oval 24"/>
            <p:cNvSpPr>
              <a:spLocks noChangeArrowheads="1"/>
            </p:cNvSpPr>
            <p:nvPr/>
          </p:nvSpPr>
          <p:spPr bwMode="auto">
            <a:xfrm>
              <a:off x="4976" y="624"/>
              <a:ext cx="200" cy="176"/>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65" name="Text Box 25"/>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1</a:t>
              </a:r>
            </a:p>
          </p:txBody>
        </p:sp>
      </p:grpSp>
      <p:grpSp>
        <p:nvGrpSpPr>
          <p:cNvPr id="343069" name="Group 29"/>
          <p:cNvGrpSpPr>
            <a:grpSpLocks/>
          </p:cNvGrpSpPr>
          <p:nvPr/>
        </p:nvGrpSpPr>
        <p:grpSpPr bwMode="auto">
          <a:xfrm>
            <a:off x="901700" y="5029200"/>
            <a:ext cx="393700" cy="363538"/>
            <a:chOff x="4976" y="624"/>
            <a:chExt cx="200" cy="176"/>
          </a:xfrm>
        </p:grpSpPr>
        <p:sp>
          <p:nvSpPr>
            <p:cNvPr id="343070" name="Oval 30"/>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71" name="Text Box 31"/>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9" name="Slide Number Placeholder 3"/>
          <p:cNvSpPr>
            <a:spLocks noGrp="1"/>
          </p:cNvSpPr>
          <p:nvPr>
            <p:ph type="sldNum" sz="quarter" idx="10"/>
          </p:nvPr>
        </p:nvSpPr>
        <p:spPr>
          <a:xfrm>
            <a:off x="228600" y="6229350"/>
            <a:ext cx="2286000" cy="476250"/>
          </a:xfrm>
        </p:spPr>
        <p:txBody>
          <a:bodyPr/>
          <a:lstStyle/>
          <a:p>
            <a:endParaRPr lang="en-US" dirty="0" smtClean="0"/>
          </a:p>
          <a:p>
            <a:fld id="{C0ABF30F-1156-4F41-8469-8F121BB9144A}" type="slidenum">
              <a:rPr lang="en-US" sz="1400" smtClean="0">
                <a:solidFill>
                  <a:schemeClr val="bg2"/>
                </a:solidFill>
              </a:rPr>
              <a:pPr/>
              <a:t>84</a:t>
            </a:fld>
            <a:endParaRPr lang="en-US" sz="1400" dirty="0">
              <a:solidFill>
                <a:schemeClr val="bg2"/>
              </a:solidFill>
            </a:endParaRPr>
          </a:p>
        </p:txBody>
      </p:sp>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2590800"/>
            <a:ext cx="344261" cy="328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3068" name="Text Box 28"/>
          <p:cNvSpPr txBox="1">
            <a:spLocks noChangeArrowheads="1"/>
          </p:cNvSpPr>
          <p:nvPr/>
        </p:nvSpPr>
        <p:spPr bwMode="auto">
          <a:xfrm>
            <a:off x="5638800" y="4038600"/>
            <a:ext cx="3429000" cy="254338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Enter each component that makes up the complete bill of material. The Item number for each denotes the order of assembly. When complete, click                                                                                                the Save button to save your BOM.</a:t>
            </a:r>
            <a:endParaRPr lang="en-US" dirty="0"/>
          </a:p>
        </p:txBody>
      </p:sp>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5486400"/>
            <a:ext cx="3333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882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an Equipment BOM</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Create equipment BOM: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IB01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Management of Technical Objects &gt;                                       Bill of </a:t>
            </a:r>
            <a:r>
              <a:rPr lang="en-US" dirty="0"/>
              <a:t>Material </a:t>
            </a:r>
            <a:r>
              <a:rPr lang="en-US" dirty="0" smtClean="0"/>
              <a:t>&gt; Equipment BOM &gt; Create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248400" y="4267200"/>
            <a:ext cx="2841433" cy="2525620"/>
          </a:xfrm>
          <a:prstGeom prst="rect">
            <a:avLst/>
          </a:prstGeom>
          <a:noFill/>
        </p:spPr>
      </p:pic>
      <p:sp>
        <p:nvSpPr>
          <p:cNvPr id="7" name="Slide Number Placeholder 3"/>
          <p:cNvSpPr>
            <a:spLocks noGrp="1"/>
          </p:cNvSpPr>
          <p:nvPr>
            <p:ph type="sldNum" sz="quarter" idx="10"/>
          </p:nvPr>
        </p:nvSpPr>
        <p:spPr>
          <a:xfrm>
            <a:off x="304800" y="6248400"/>
            <a:ext cx="2286000" cy="476250"/>
          </a:xfrm>
        </p:spPr>
        <p:txBody>
          <a:bodyPr/>
          <a:lstStyle/>
          <a:p>
            <a:endParaRPr lang="en-US" dirty="0" smtClean="0">
              <a:solidFill>
                <a:srgbClr val="FFFFFF"/>
              </a:solidFill>
            </a:endParaRPr>
          </a:p>
          <a:p>
            <a:fld id="{C0ABF30F-1156-4F41-8469-8F121BB9144A}" type="slidenum">
              <a:rPr lang="en-US" sz="1400" smtClean="0">
                <a:solidFill>
                  <a:srgbClr val="4D4D4D"/>
                </a:solidFill>
              </a:rPr>
              <a:pPr/>
              <a:t>85</a:t>
            </a:fld>
            <a:endParaRPr lang="en-US" sz="1400" dirty="0">
              <a:solidFill>
                <a:srgbClr val="4D4D4D"/>
              </a:solidFill>
            </a:endParaRPr>
          </a:p>
        </p:txBody>
      </p:sp>
    </p:spTree>
    <p:extLst>
      <p:ext uri="{BB962C8B-B14F-4D97-AF65-F5344CB8AC3E}">
        <p14:creationId xmlns:p14="http://schemas.microsoft.com/office/powerpoint/2010/main" val="34478815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An equipment BOM must be created to add </a:t>
            </a:r>
            <a:r>
              <a:rPr lang="en-US" b="1" dirty="0" err="1" smtClean="0">
                <a:solidFill>
                  <a:schemeClr val="accent4">
                    <a:lumMod val="10000"/>
                  </a:schemeClr>
                </a:solidFill>
              </a:rPr>
              <a:t>leadtimes</a:t>
            </a:r>
            <a:r>
              <a:rPr lang="en-US" b="1" dirty="0" smtClean="0">
                <a:solidFill>
                  <a:schemeClr val="accent4">
                    <a:lumMod val="10000"/>
                  </a:schemeClr>
                </a:solidFill>
              </a:rPr>
              <a:t> to a backflow device for preventive maintenance purposes.</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5.5 Create an Equipment BOM</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86</a:t>
            </a:fld>
            <a:endParaRPr lang="en-US" sz="1400" dirty="0">
              <a:solidFill>
                <a:schemeClr val="bg2"/>
              </a:solidFill>
            </a:endParaRPr>
          </a:p>
        </p:txBody>
      </p:sp>
    </p:spTree>
    <p:extLst>
      <p:ext uri="{BB962C8B-B14F-4D97-AF65-F5344CB8AC3E}">
        <p14:creationId xmlns:p14="http://schemas.microsoft.com/office/powerpoint/2010/main" val="262366523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098473"/>
            <a:ext cx="3581400" cy="237827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9702" y="4114800"/>
            <a:ext cx="4086098" cy="2630888"/>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 Box 20"/>
          <p:cNvSpPr txBox="1">
            <a:spLocks noChangeArrowheads="1"/>
          </p:cNvSpPr>
          <p:nvPr/>
        </p:nvSpPr>
        <p:spPr bwMode="auto">
          <a:xfrm>
            <a:off x="5810330" y="1752601"/>
            <a:ext cx="3028870" cy="2209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sz="1400" dirty="0"/>
              <a:t>Enter the Material, Plant, and BOM Usage information and </a:t>
            </a:r>
            <a:r>
              <a:rPr lang="en-US" sz="1400" dirty="0" smtClean="0"/>
              <a:t>click               the </a:t>
            </a:r>
            <a:r>
              <a:rPr lang="en-US" sz="1400" dirty="0"/>
              <a:t>Enter button to continue. </a:t>
            </a:r>
          </a:p>
          <a:p>
            <a:endParaRPr lang="en-US" sz="1400" dirty="0"/>
          </a:p>
          <a:p>
            <a:r>
              <a:rPr lang="en-US" sz="1400" dirty="0" smtClean="0"/>
              <a:t>Make any necessary changes to the BOM and click        the Save button to save your changes.</a:t>
            </a:r>
            <a:endParaRPr lang="en-US" dirty="0"/>
          </a:p>
        </p:txBody>
      </p:sp>
      <p:grpSp>
        <p:nvGrpSpPr>
          <p:cNvPr id="9" name="Group 8"/>
          <p:cNvGrpSpPr>
            <a:grpSpLocks/>
          </p:cNvGrpSpPr>
          <p:nvPr/>
        </p:nvGrpSpPr>
        <p:grpSpPr bwMode="auto">
          <a:xfrm>
            <a:off x="3657600" y="1998662"/>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410200" y="1828800"/>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0" name="Group 24"/>
          <p:cNvGrpSpPr>
            <a:grpSpLocks/>
          </p:cNvGrpSpPr>
          <p:nvPr/>
        </p:nvGrpSpPr>
        <p:grpSpPr bwMode="auto">
          <a:xfrm>
            <a:off x="5410200" y="2895600"/>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Changing an Equipment BOM</a:t>
            </a:r>
            <a:endParaRPr lang="en-US" dirty="0"/>
          </a:p>
        </p:txBody>
      </p:sp>
      <p:sp>
        <p:nvSpPr>
          <p:cNvPr id="27" name="Content Placeholder 2"/>
          <p:cNvSpPr txBox="1">
            <a:spLocks/>
          </p:cNvSpPr>
          <p:nvPr/>
        </p:nvSpPr>
        <p:spPr>
          <a:xfrm>
            <a:off x="301625" y="1066801"/>
            <a:ext cx="8537575" cy="1031672"/>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dirty="0" smtClean="0"/>
              <a:t>To add components or change validity dates, access transaction IB02 to complete any necessary changes.</a:t>
            </a:r>
          </a:p>
          <a:p>
            <a:endParaRPr lang="en-US" dirty="0"/>
          </a:p>
        </p:txBody>
      </p:sp>
      <p:sp>
        <p:nvSpPr>
          <p:cNvPr id="28" name="Curved Right Arrow 27"/>
          <p:cNvSpPr/>
          <p:nvPr/>
        </p:nvSpPr>
        <p:spPr bwMode="auto">
          <a:xfrm rot="17720705">
            <a:off x="2524343" y="4171998"/>
            <a:ext cx="882213" cy="2605326"/>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9" name="Rectangle 19"/>
          <p:cNvSpPr>
            <a:spLocks noChangeArrowheads="1"/>
          </p:cNvSpPr>
          <p:nvPr/>
        </p:nvSpPr>
        <p:spPr bwMode="auto">
          <a:xfrm>
            <a:off x="5867400" y="4132344"/>
            <a:ext cx="381000" cy="413931"/>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grpSp>
        <p:nvGrpSpPr>
          <p:cNvPr id="17" name="Group 24"/>
          <p:cNvGrpSpPr>
            <a:grpSpLocks/>
          </p:cNvGrpSpPr>
          <p:nvPr/>
        </p:nvGrpSpPr>
        <p:grpSpPr bwMode="auto">
          <a:xfrm>
            <a:off x="8382000" y="4437062"/>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87</a:t>
            </a:fld>
            <a:endParaRPr lang="en-US" sz="1400" dirty="0">
              <a:solidFill>
                <a:schemeClr val="bg2"/>
              </a:solidFill>
            </a:endParaRPr>
          </a:p>
        </p:txBody>
      </p:sp>
      <p:pic>
        <p:nvPicPr>
          <p:cNvPr id="2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3939" y="2338387"/>
            <a:ext cx="344261" cy="328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228975"/>
            <a:ext cx="3048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Rectangle 19"/>
          <p:cNvSpPr>
            <a:spLocks noChangeArrowheads="1"/>
          </p:cNvSpPr>
          <p:nvPr/>
        </p:nvSpPr>
        <p:spPr bwMode="auto">
          <a:xfrm>
            <a:off x="457200" y="2057400"/>
            <a:ext cx="381000" cy="413931"/>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rgbClr val="002E62"/>
              </a:solidFill>
              <a:cs typeface="Arial" charset="0"/>
            </a:endParaRPr>
          </a:p>
        </p:txBody>
      </p:sp>
    </p:spTree>
    <p:extLst>
      <p:ext uri="{BB962C8B-B14F-4D97-AF65-F5344CB8AC3E}">
        <p14:creationId xmlns:p14="http://schemas.microsoft.com/office/powerpoint/2010/main" val="1779268150"/>
      </p:ext>
    </p:extLst>
  </p:cSld>
  <p:clrMapOvr>
    <a:masterClrMapping/>
  </p:clrMapOvr>
  <p:transition>
    <p:fade thruBlk="1"/>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Change an Equipment BOM</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equipment BOM: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IB02</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Management of Technical Objects &gt;                                       Bill of </a:t>
            </a:r>
            <a:r>
              <a:rPr lang="en-US" dirty="0"/>
              <a:t>Material </a:t>
            </a:r>
            <a:r>
              <a:rPr lang="en-US" dirty="0" smtClean="0"/>
              <a:t>&gt; Equipment BOM &gt; Change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324600" y="4267200"/>
            <a:ext cx="2765233" cy="2525620"/>
          </a:xfrm>
          <a:prstGeom prst="rect">
            <a:avLst/>
          </a:prstGeom>
          <a:noFill/>
        </p:spPr>
      </p:pic>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84</a:t>
            </a:r>
            <a:endParaRPr lang="en-US" sz="1400" dirty="0">
              <a:solidFill>
                <a:schemeClr val="bg2"/>
              </a:solidFill>
            </a:endParaRPr>
          </a:p>
        </p:txBody>
      </p:sp>
    </p:spTree>
    <p:extLst>
      <p:ext uri="{BB962C8B-B14F-4D97-AF65-F5344CB8AC3E}">
        <p14:creationId xmlns:p14="http://schemas.microsoft.com/office/powerpoint/2010/main" val="8420947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An equipment BOM recently created for a Sierra 2500 HD4WD GMC Regular Cab Pickup must be changed.</a:t>
            </a:r>
          </a:p>
          <a:p>
            <a:endParaRPr lang="en-US" b="1" dirty="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Add a 5 ¼” Hose Cap component</a:t>
            </a:r>
            <a:endParaRPr lang="en-US" b="1" dirty="0">
              <a:solidFill>
                <a:schemeClr val="accent4">
                  <a:lumMod val="10000"/>
                </a:schemeClr>
              </a:solidFill>
            </a:endParaRPr>
          </a:p>
          <a:p>
            <a:endParaRPr lang="en-US" b="1" dirty="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Change the Item number of the Lock Nut from 0030 to 0010</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5.6 Change an Equipment BOM</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89</a:t>
            </a:fld>
            <a:endParaRPr lang="en-US" sz="1400" dirty="0">
              <a:solidFill>
                <a:schemeClr val="bg2"/>
              </a:solidFill>
            </a:endParaRPr>
          </a:p>
        </p:txBody>
      </p:sp>
    </p:spTree>
    <p:extLst>
      <p:ext uri="{BB962C8B-B14F-4D97-AF65-F5344CB8AC3E}">
        <p14:creationId xmlns:p14="http://schemas.microsoft.com/office/powerpoint/2010/main" val="132485706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 of Commission/Decommission</a:t>
            </a:r>
            <a:endParaRPr lang="en-US" dirty="0"/>
          </a:p>
        </p:txBody>
      </p:sp>
      <p:sp>
        <p:nvSpPr>
          <p:cNvPr id="3" name="Content Placeholder 2"/>
          <p:cNvSpPr>
            <a:spLocks noGrp="1"/>
          </p:cNvSpPr>
          <p:nvPr>
            <p:ph idx="1"/>
          </p:nvPr>
        </p:nvSpPr>
        <p:spPr/>
        <p:txBody>
          <a:bodyPr/>
          <a:lstStyle/>
          <a:p>
            <a:r>
              <a:rPr lang="en-US" dirty="0" smtClean="0"/>
              <a:t>Commission, used to activate a vehicle after it’s been purchased. Decommission is the process of deactivating the vehicle when it is not going to be used anymore. Use IE01. Need information from John/Buddy.</a:t>
            </a:r>
            <a:endParaRPr lang="en-US" dirty="0"/>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90</a:t>
            </a:fld>
            <a:endParaRPr lang="en-US" sz="1400" dirty="0">
              <a:solidFill>
                <a:schemeClr val="bg2"/>
              </a:solidFill>
            </a:endParaRPr>
          </a:p>
        </p:txBody>
      </p:sp>
    </p:spTree>
    <p:extLst>
      <p:ext uri="{BB962C8B-B14F-4D97-AF65-F5344CB8AC3E}">
        <p14:creationId xmlns:p14="http://schemas.microsoft.com/office/powerpoint/2010/main" val="238847049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Commission Equipment</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91</a:t>
            </a:fld>
            <a:endParaRPr lang="en-US" sz="1400" dirty="0">
              <a:solidFill>
                <a:schemeClr val="bg2"/>
              </a:solidFill>
            </a:endParaRPr>
          </a:p>
        </p:txBody>
      </p:sp>
    </p:spTree>
    <p:extLst>
      <p:ext uri="{BB962C8B-B14F-4D97-AF65-F5344CB8AC3E}">
        <p14:creationId xmlns:p14="http://schemas.microsoft.com/office/powerpoint/2010/main" val="351485759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Commission Equipment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Create Equipment: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IE01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Management of Technical Objects &gt;                                       Equipment &gt; Create (General)</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324600" y="4267200"/>
            <a:ext cx="2765233" cy="2525620"/>
          </a:xfrm>
          <a:prstGeom prst="rect">
            <a:avLst/>
          </a:prstGeom>
          <a:noFill/>
        </p:spPr>
      </p:pic>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88</a:t>
            </a:r>
            <a:endParaRPr lang="en-US" sz="1400" dirty="0">
              <a:solidFill>
                <a:schemeClr val="bg2"/>
              </a:solidFill>
            </a:endParaRPr>
          </a:p>
        </p:txBody>
      </p:sp>
    </p:spTree>
    <p:extLst>
      <p:ext uri="{BB962C8B-B14F-4D97-AF65-F5344CB8AC3E}">
        <p14:creationId xmlns:p14="http://schemas.microsoft.com/office/powerpoint/2010/main" val="2535331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 new fleet vehicle has been purchased and must be commissioned in SAP before usage can begin.</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5.7 Commission Equipment</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93</a:t>
            </a:fld>
            <a:endParaRPr lang="en-US" sz="1400" dirty="0">
              <a:solidFill>
                <a:schemeClr val="bg2"/>
              </a:solidFill>
            </a:endParaRPr>
          </a:p>
        </p:txBody>
      </p:sp>
    </p:spTree>
    <p:extLst>
      <p:ext uri="{BB962C8B-B14F-4D97-AF65-F5344CB8AC3E}">
        <p14:creationId xmlns:p14="http://schemas.microsoft.com/office/powerpoint/2010/main" val="366561851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Decommission Equipment</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sz="1400" smtClean="0"/>
          </a:p>
          <a:p>
            <a:fld id="{C0ABF30F-1156-4F41-8469-8F121BB9144A}" type="slidenum">
              <a:rPr lang="en-US" sz="1400" smtClean="0">
                <a:solidFill>
                  <a:schemeClr val="bg2"/>
                </a:solidFill>
              </a:rPr>
              <a:pPr/>
              <a:t>94</a:t>
            </a:fld>
            <a:endParaRPr lang="en-US" sz="1400" dirty="0">
              <a:solidFill>
                <a:schemeClr val="bg2"/>
              </a:solidFill>
            </a:endParaRPr>
          </a:p>
        </p:txBody>
      </p:sp>
      <p:sp>
        <p:nvSpPr>
          <p:cNvPr id="5" name="Rectangle 4"/>
          <p:cNvSpPr/>
          <p:nvPr/>
        </p:nvSpPr>
        <p:spPr>
          <a:xfrm>
            <a:off x="3863312" y="3244334"/>
            <a:ext cx="1417376" cy="369332"/>
          </a:xfrm>
          <a:prstGeom prst="rect">
            <a:avLst/>
          </a:prstGeom>
        </p:spPr>
        <p:txBody>
          <a:bodyPr wrap="none">
            <a:spAutoFit/>
          </a:bodyPr>
          <a:lstStyle/>
          <a:p>
            <a:r>
              <a:rPr lang="en-US" dirty="0">
                <a:latin typeface="Segoe Print" panose="02000600000000000000" pitchFamily="2" charset="0"/>
              </a:rPr>
              <a:t>6rANhdgd</a:t>
            </a:r>
            <a:endParaRPr lang="en-US" dirty="0"/>
          </a:p>
        </p:txBody>
      </p:sp>
    </p:spTree>
    <p:extLst>
      <p:ext uri="{BB962C8B-B14F-4D97-AF65-F5344CB8AC3E}">
        <p14:creationId xmlns:p14="http://schemas.microsoft.com/office/powerpoint/2010/main" val="423988153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Decommission Equipment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Equipment: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IE02</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Management of Technical Objects &gt;                                        Equipment &gt; Change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324600" y="4267200"/>
            <a:ext cx="2765233" cy="2525620"/>
          </a:xfrm>
          <a:prstGeom prst="rect">
            <a:avLst/>
          </a:prstGeom>
          <a:noFill/>
        </p:spPr>
      </p:pic>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91</a:t>
            </a:r>
            <a:endParaRPr lang="en-US" sz="1400" dirty="0">
              <a:solidFill>
                <a:schemeClr val="bg2"/>
              </a:solidFill>
            </a:endParaRPr>
          </a:p>
        </p:txBody>
      </p:sp>
    </p:spTree>
    <p:extLst>
      <p:ext uri="{BB962C8B-B14F-4D97-AF65-F5344CB8AC3E}">
        <p14:creationId xmlns:p14="http://schemas.microsoft.com/office/powerpoint/2010/main" val="2598708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 vehicle has reached the point where it must be removed from the fleet and resold. Before this can be done, the vehicle must be decommissioned in SAP.</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5.8 Decommission Equipment</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96</a:t>
            </a:fld>
            <a:endParaRPr lang="en-US" sz="1400" dirty="0">
              <a:solidFill>
                <a:schemeClr val="bg2"/>
              </a:solidFill>
            </a:endParaRPr>
          </a:p>
        </p:txBody>
      </p:sp>
    </p:spTree>
    <p:extLst>
      <p:ext uri="{BB962C8B-B14F-4D97-AF65-F5344CB8AC3E}">
        <p14:creationId xmlns:p14="http://schemas.microsoft.com/office/powerpoint/2010/main" val="199940105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Measurement Document</a:t>
            </a:r>
            <a:endParaRPr lang="en-US" dirty="0"/>
          </a:p>
        </p:txBody>
      </p:sp>
      <p:sp>
        <p:nvSpPr>
          <p:cNvPr id="3" name="Content Placeholder 2"/>
          <p:cNvSpPr>
            <a:spLocks noGrp="1"/>
          </p:cNvSpPr>
          <p:nvPr>
            <p:ph idx="1"/>
          </p:nvPr>
        </p:nvSpPr>
        <p:spPr>
          <a:xfrm>
            <a:off x="301625" y="1143001"/>
            <a:ext cx="8537575" cy="2590799"/>
          </a:xfrm>
        </p:spPr>
        <p:txBody>
          <a:bodyPr/>
          <a:lstStyle/>
          <a:p>
            <a:pPr marL="342900" indent="-342900">
              <a:buFont typeface="Arial" pitchFamily="34" charset="0"/>
              <a:buChar char="•"/>
            </a:pPr>
            <a:r>
              <a:rPr lang="en-US" dirty="0" smtClean="0"/>
              <a:t>Measurement values are needed to help track maintenance conditions for a given object</a:t>
            </a:r>
          </a:p>
          <a:p>
            <a:pPr marL="342900" indent="-342900">
              <a:buFont typeface="Arial" pitchFamily="34" charset="0"/>
              <a:buChar char="•"/>
            </a:pPr>
            <a:r>
              <a:rPr lang="en-US" dirty="0" smtClean="0"/>
              <a:t>Measurement document is used to create either a measuring point or to take a counter reading</a:t>
            </a:r>
          </a:p>
          <a:p>
            <a:pPr marL="342900" indent="-342900">
              <a:buFont typeface="Arial" pitchFamily="34" charset="0"/>
              <a:buChar char="•"/>
            </a:pPr>
            <a:r>
              <a:rPr lang="en-US" dirty="0"/>
              <a:t>After a measurement has been taken at a measuring point or a counter, the data needs to be entered into the system</a:t>
            </a:r>
          </a:p>
        </p:txBody>
      </p:sp>
      <p:pic>
        <p:nvPicPr>
          <p:cNvPr id="6" name="Picture 5"/>
          <p:cNvPicPr>
            <a:picLocks noChangeAspect="1"/>
          </p:cNvPicPr>
          <p:nvPr/>
        </p:nvPicPr>
        <p:blipFill>
          <a:blip r:embed="rId2"/>
          <a:stretch>
            <a:fillRect/>
          </a:stretch>
        </p:blipFill>
        <p:spPr>
          <a:xfrm>
            <a:off x="838200" y="3485406"/>
            <a:ext cx="7991669" cy="291539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93</a:t>
            </a:r>
            <a:endParaRPr lang="en-US" sz="1400" dirty="0">
              <a:solidFill>
                <a:schemeClr val="bg2"/>
              </a:solidFill>
            </a:endParaRPr>
          </a:p>
        </p:txBody>
      </p:sp>
    </p:spTree>
    <p:extLst>
      <p:ext uri="{BB962C8B-B14F-4D97-AF65-F5344CB8AC3E}">
        <p14:creationId xmlns:p14="http://schemas.microsoft.com/office/powerpoint/2010/main" val="155923809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8509" y="1987550"/>
            <a:ext cx="4564491" cy="3032126"/>
          </a:xfrm>
          <a:prstGeom prst="rect">
            <a:avLst/>
          </a:prstGeom>
        </p:spPr>
      </p:pic>
      <p:sp>
        <p:nvSpPr>
          <p:cNvPr id="343042" name="Rectangle 2"/>
          <p:cNvSpPr>
            <a:spLocks noGrp="1" noChangeArrowheads="1"/>
          </p:cNvSpPr>
          <p:nvPr>
            <p:ph type="title"/>
          </p:nvPr>
        </p:nvSpPr>
        <p:spPr/>
        <p:txBody>
          <a:bodyPr/>
          <a:lstStyle/>
          <a:p>
            <a:r>
              <a:rPr lang="en-US" dirty="0" smtClean="0"/>
              <a:t>Creating a Measurement Document</a:t>
            </a:r>
          </a:p>
        </p:txBody>
      </p:sp>
      <p:sp>
        <p:nvSpPr>
          <p:cNvPr id="343043" name="Rectangle 3"/>
          <p:cNvSpPr>
            <a:spLocks noGrp="1" noChangeArrowheads="1"/>
          </p:cNvSpPr>
          <p:nvPr>
            <p:ph idx="1"/>
          </p:nvPr>
        </p:nvSpPr>
        <p:spPr>
          <a:xfrm>
            <a:off x="304800" y="1152626"/>
            <a:ext cx="8537575" cy="1361974"/>
          </a:xfrm>
        </p:spPr>
        <p:txBody>
          <a:bodyPr/>
          <a:lstStyle/>
          <a:p>
            <a:r>
              <a:rPr lang="en-US" dirty="0" smtClean="0"/>
              <a:t>Create a measurement document using transaction IK11.</a:t>
            </a:r>
            <a:endParaRPr lang="en-US" dirty="0"/>
          </a:p>
        </p:txBody>
      </p:sp>
      <p:sp>
        <p:nvSpPr>
          <p:cNvPr id="343061" name="AutoShape 21"/>
          <p:cNvSpPr>
            <a:spLocks noChangeArrowheads="1"/>
          </p:cNvSpPr>
          <p:nvPr/>
        </p:nvSpPr>
        <p:spPr bwMode="auto">
          <a:xfrm>
            <a:off x="1313542" y="3633787"/>
            <a:ext cx="5379357" cy="2948196"/>
          </a:xfrm>
          <a:prstGeom prst="wedgeRectCallout">
            <a:avLst>
              <a:gd name="adj1" fmla="val -58073"/>
              <a:gd name="adj2" fmla="val -92671"/>
            </a:avLst>
          </a:prstGeom>
          <a:noFill/>
          <a:ln w="38100">
            <a:solidFill>
              <a:srgbClr val="FF0000"/>
            </a:solidFill>
            <a:prstDash val="dash"/>
            <a:miter lim="800000"/>
            <a:headEnd/>
            <a:tailEnd/>
          </a:ln>
          <a:effectLst/>
          <a:extLst/>
        </p:spPr>
        <p:txBody>
          <a:bodyPr/>
          <a:lstStyle/>
          <a:p>
            <a:pPr algn="ctr" eaLnBrk="1" hangingPunct="1"/>
            <a:endParaRPr lang="en-US" smtClean="0">
              <a:solidFill>
                <a:schemeClr val="accent4">
                  <a:lumMod val="10000"/>
                </a:schemeClr>
              </a:solidFill>
              <a:cs typeface="Arial" charset="0"/>
            </a:endParaRPr>
          </a:p>
        </p:txBody>
      </p:sp>
      <p:sp>
        <p:nvSpPr>
          <p:cNvPr id="343062" name="Rectangle 22"/>
          <p:cNvSpPr>
            <a:spLocks noChangeArrowheads="1"/>
          </p:cNvSpPr>
          <p:nvPr/>
        </p:nvSpPr>
        <p:spPr bwMode="auto">
          <a:xfrm>
            <a:off x="515258" y="1981200"/>
            <a:ext cx="322942" cy="297902"/>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
        <p:nvSpPr>
          <p:cNvPr id="343066" name="Text Box 26"/>
          <p:cNvSpPr txBox="1">
            <a:spLocks noChangeArrowheads="1"/>
          </p:cNvSpPr>
          <p:nvPr/>
        </p:nvSpPr>
        <p:spPr bwMode="auto">
          <a:xfrm>
            <a:off x="4953000" y="1981200"/>
            <a:ext cx="2438400" cy="1447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Enter the Measuring Point and click        the Enter button to continue. </a:t>
            </a:r>
            <a:endParaRPr lang="en-US" dirty="0"/>
          </a:p>
        </p:txBody>
      </p:sp>
      <p:sp>
        <p:nvSpPr>
          <p:cNvPr id="343073" name="Line 33"/>
          <p:cNvSpPr>
            <a:spLocks noChangeShapeType="1"/>
          </p:cNvSpPr>
          <p:nvPr/>
        </p:nvSpPr>
        <p:spPr bwMode="auto">
          <a:xfrm flipV="1">
            <a:off x="2514600" y="5029199"/>
            <a:ext cx="0" cy="230187"/>
          </a:xfrm>
          <a:prstGeom prst="line">
            <a:avLst/>
          </a:prstGeom>
          <a:noFill/>
          <a:ln w="9525">
            <a:solidFill>
              <a:schemeClr val="folHlink"/>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grpSp>
        <p:nvGrpSpPr>
          <p:cNvPr id="343063" name="Group 23"/>
          <p:cNvGrpSpPr>
            <a:grpSpLocks/>
          </p:cNvGrpSpPr>
          <p:nvPr/>
        </p:nvGrpSpPr>
        <p:grpSpPr bwMode="auto">
          <a:xfrm>
            <a:off x="914400" y="1676400"/>
            <a:ext cx="393700" cy="363537"/>
            <a:chOff x="4976" y="624"/>
            <a:chExt cx="200" cy="176"/>
          </a:xfrm>
        </p:grpSpPr>
        <p:sp>
          <p:nvSpPr>
            <p:cNvPr id="343064" name="Oval 24"/>
            <p:cNvSpPr>
              <a:spLocks noChangeArrowheads="1"/>
            </p:cNvSpPr>
            <p:nvPr/>
          </p:nvSpPr>
          <p:spPr bwMode="auto">
            <a:xfrm>
              <a:off x="4976" y="624"/>
              <a:ext cx="200" cy="176"/>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65" name="Text Box 25"/>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1</a:t>
              </a:r>
            </a:p>
          </p:txBody>
        </p:sp>
      </p:grpSp>
      <p:grpSp>
        <p:nvGrpSpPr>
          <p:cNvPr id="343069" name="Group 29"/>
          <p:cNvGrpSpPr>
            <a:grpSpLocks/>
          </p:cNvGrpSpPr>
          <p:nvPr/>
        </p:nvGrpSpPr>
        <p:grpSpPr bwMode="auto">
          <a:xfrm>
            <a:off x="901700" y="5029200"/>
            <a:ext cx="393700" cy="363538"/>
            <a:chOff x="4976" y="624"/>
            <a:chExt cx="200" cy="176"/>
          </a:xfrm>
        </p:grpSpPr>
        <p:sp>
          <p:nvSpPr>
            <p:cNvPr id="343070" name="Oval 30"/>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71" name="Text Box 31"/>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9" name="Slide Number Placeholder 3"/>
          <p:cNvSpPr>
            <a:spLocks noGrp="1"/>
          </p:cNvSpPr>
          <p:nvPr>
            <p:ph type="sldNum" sz="quarter" idx="10"/>
          </p:nvPr>
        </p:nvSpPr>
        <p:spPr>
          <a:xfrm>
            <a:off x="228600" y="6229350"/>
            <a:ext cx="2286000" cy="476250"/>
          </a:xfrm>
        </p:spPr>
        <p:txBody>
          <a:bodyPr/>
          <a:lstStyle/>
          <a:p>
            <a:endParaRPr lang="en-US" dirty="0" smtClean="0"/>
          </a:p>
          <a:p>
            <a:fld id="{C0ABF30F-1156-4F41-8469-8F121BB9144A}" type="slidenum">
              <a:rPr lang="en-US" sz="1400" smtClean="0">
                <a:solidFill>
                  <a:schemeClr val="bg2"/>
                </a:solidFill>
              </a:rPr>
              <a:pPr/>
              <a:t>98</a:t>
            </a:fld>
            <a:endParaRPr lang="en-US" sz="1400" dirty="0">
              <a:solidFill>
                <a:schemeClr val="bg2"/>
              </a:solidFill>
            </a:endParaRPr>
          </a:p>
        </p:txBody>
      </p:sp>
      <p:pic>
        <p:nvPicPr>
          <p:cNvPr id="30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7539" y="2566987"/>
            <a:ext cx="344261" cy="328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4"/>
          <a:stretch>
            <a:fillRect/>
          </a:stretch>
        </p:blipFill>
        <p:spPr>
          <a:xfrm>
            <a:off x="1600200" y="3719613"/>
            <a:ext cx="4849133" cy="2833587"/>
          </a:xfrm>
          <a:prstGeom prst="rect">
            <a:avLst/>
          </a:prstGeom>
        </p:spPr>
      </p:pic>
      <p:sp>
        <p:nvSpPr>
          <p:cNvPr id="343068" name="Text Box 28"/>
          <p:cNvSpPr txBox="1">
            <a:spLocks noChangeArrowheads="1"/>
          </p:cNvSpPr>
          <p:nvPr/>
        </p:nvSpPr>
        <p:spPr bwMode="auto">
          <a:xfrm>
            <a:off x="6172200" y="4038600"/>
            <a:ext cx="2895600" cy="2543385"/>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Enter the document data needed in each field. When complete, click                                                                                                the Save button to save your information.</a:t>
            </a:r>
            <a:endParaRPr lang="en-US" dirty="0"/>
          </a:p>
        </p:txBody>
      </p:sp>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0" y="5153933"/>
            <a:ext cx="284842" cy="2848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07867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Measurement Document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Create Measurement Document: Initial Screen</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IK11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Processing &gt;                                       Bill of Completion Confirmation &gt;                                    Measurement Documents &gt; Create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248400" y="4267200"/>
            <a:ext cx="2841433" cy="2525620"/>
          </a:xfrm>
          <a:prstGeom prst="rect">
            <a:avLst/>
          </a:prstGeom>
          <a:noFill/>
        </p:spPr>
      </p:pic>
      <p:sp>
        <p:nvSpPr>
          <p:cNvPr id="9"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95</a:t>
            </a:r>
            <a:endParaRPr lang="en-US" sz="1400" dirty="0">
              <a:solidFill>
                <a:schemeClr val="bg2"/>
              </a:solidFill>
            </a:endParaRPr>
          </a:p>
        </p:txBody>
      </p:sp>
    </p:spTree>
    <p:extLst>
      <p:ext uri="{BB962C8B-B14F-4D97-AF65-F5344CB8AC3E}">
        <p14:creationId xmlns:p14="http://schemas.microsoft.com/office/powerpoint/2010/main" val="687397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 counter reading of 5000 miles needs to be entered for a fleet vehicle to help facilitate regularly scheduled oil change maintenance.</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934200" cy="400110"/>
          </a:xfrm>
          <a:prstGeom prst="rect">
            <a:avLst/>
          </a:prstGeom>
          <a:noFill/>
        </p:spPr>
        <p:txBody>
          <a:bodyPr wrap="square" rtlCol="0">
            <a:spAutoFit/>
          </a:bodyPr>
          <a:lstStyle/>
          <a:p>
            <a:pPr marL="1939925" indent="-193992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5.9 Create a Measurement Document</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100</a:t>
            </a:fld>
            <a:endParaRPr lang="en-US" sz="1400" dirty="0">
              <a:solidFill>
                <a:schemeClr val="bg2"/>
              </a:solidFill>
            </a:endParaRPr>
          </a:p>
        </p:txBody>
      </p:sp>
    </p:spTree>
    <p:extLst>
      <p:ext uri="{BB962C8B-B14F-4D97-AF65-F5344CB8AC3E}">
        <p14:creationId xmlns:p14="http://schemas.microsoft.com/office/powerpoint/2010/main" val="21405619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2426845"/>
            <a:ext cx="4004310" cy="229755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8" name="Text Box 20"/>
          <p:cNvSpPr txBox="1">
            <a:spLocks noChangeArrowheads="1"/>
          </p:cNvSpPr>
          <p:nvPr/>
        </p:nvSpPr>
        <p:spPr bwMode="auto">
          <a:xfrm>
            <a:off x="5886530" y="1828800"/>
            <a:ext cx="3028870" cy="22098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sz="1400" dirty="0" smtClean="0"/>
              <a:t>Enter the Entry list name and click               the </a:t>
            </a:r>
            <a:r>
              <a:rPr lang="en-US" sz="1400" dirty="0"/>
              <a:t>Enter button to continue. </a:t>
            </a:r>
          </a:p>
          <a:p>
            <a:endParaRPr lang="en-US" sz="1400" dirty="0"/>
          </a:p>
          <a:p>
            <a:r>
              <a:rPr lang="en-US" sz="1400" dirty="0" smtClean="0"/>
              <a:t>Enter each measurement point or counter reading as needed and click        the Save button to save your entries.</a:t>
            </a:r>
            <a:endParaRPr lang="en-US" dirty="0"/>
          </a:p>
        </p:txBody>
      </p:sp>
      <p:grpSp>
        <p:nvGrpSpPr>
          <p:cNvPr id="9" name="Group 8"/>
          <p:cNvGrpSpPr>
            <a:grpSpLocks/>
          </p:cNvGrpSpPr>
          <p:nvPr/>
        </p:nvGrpSpPr>
        <p:grpSpPr bwMode="auto">
          <a:xfrm>
            <a:off x="520700" y="2074862"/>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12" name="Group 11"/>
          <p:cNvGrpSpPr>
            <a:grpSpLocks/>
          </p:cNvGrpSpPr>
          <p:nvPr/>
        </p:nvGrpSpPr>
        <p:grpSpPr bwMode="auto">
          <a:xfrm>
            <a:off x="5473700" y="1998662"/>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20" name="Group 24"/>
          <p:cNvGrpSpPr>
            <a:grpSpLocks/>
          </p:cNvGrpSpPr>
          <p:nvPr/>
        </p:nvGrpSpPr>
        <p:grpSpPr bwMode="auto">
          <a:xfrm>
            <a:off x="5473700" y="2895600"/>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Measurement Reading Entry List</a:t>
            </a:r>
            <a:endParaRPr lang="en-US" dirty="0"/>
          </a:p>
        </p:txBody>
      </p:sp>
      <p:sp>
        <p:nvSpPr>
          <p:cNvPr id="27" name="Content Placeholder 2"/>
          <p:cNvSpPr txBox="1">
            <a:spLocks/>
          </p:cNvSpPr>
          <p:nvPr/>
        </p:nvSpPr>
        <p:spPr>
          <a:xfrm>
            <a:off x="76200" y="914400"/>
            <a:ext cx="8537575" cy="1031672"/>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dirty="0"/>
              <a:t>The Measurement Reading Entry </a:t>
            </a:r>
            <a:r>
              <a:rPr lang="en-US" dirty="0" smtClean="0"/>
              <a:t>List works as a </a:t>
            </a:r>
            <a:r>
              <a:rPr lang="en-US" dirty="0"/>
              <a:t>“to-do” list for the worker</a:t>
            </a:r>
            <a:r>
              <a:rPr lang="en-US" dirty="0" smtClean="0"/>
              <a:t>. The reading list is used to group together multiple readings. Access the transaction using IK31.</a:t>
            </a:r>
          </a:p>
          <a:p>
            <a:endParaRPr lang="en-US" dirty="0"/>
          </a:p>
        </p:txBody>
      </p:sp>
      <p:sp>
        <p:nvSpPr>
          <p:cNvPr id="28" name="Curved Right Arrow 27"/>
          <p:cNvSpPr/>
          <p:nvPr/>
        </p:nvSpPr>
        <p:spPr bwMode="auto">
          <a:xfrm rot="17720705">
            <a:off x="2524343" y="4446658"/>
            <a:ext cx="882213" cy="2605326"/>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nvGrpSpPr>
          <p:cNvPr id="17" name="Group 24"/>
          <p:cNvGrpSpPr>
            <a:grpSpLocks/>
          </p:cNvGrpSpPr>
          <p:nvPr/>
        </p:nvGrpSpPr>
        <p:grpSpPr bwMode="auto">
          <a:xfrm>
            <a:off x="8305800" y="4343400"/>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2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101</a:t>
            </a:fld>
            <a:endParaRPr lang="en-US" sz="1400" dirty="0">
              <a:solidFill>
                <a:schemeClr val="bg2"/>
              </a:solidFill>
            </a:endParaRPr>
          </a:p>
        </p:txBody>
      </p:sp>
      <p:pic>
        <p:nvPicPr>
          <p:cNvPr id="2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0" y="2490787"/>
            <a:ext cx="344261" cy="328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3276600"/>
            <a:ext cx="3048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5"/>
          <a:stretch>
            <a:fillRect/>
          </a:stretch>
        </p:blipFill>
        <p:spPr>
          <a:xfrm>
            <a:off x="4238626" y="4091190"/>
            <a:ext cx="4080382" cy="269060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30" name="Rectangle 22"/>
          <p:cNvSpPr>
            <a:spLocks noChangeArrowheads="1"/>
          </p:cNvSpPr>
          <p:nvPr/>
        </p:nvSpPr>
        <p:spPr bwMode="auto">
          <a:xfrm>
            <a:off x="228600" y="2445298"/>
            <a:ext cx="322942" cy="297902"/>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Tree>
    <p:extLst>
      <p:ext uri="{BB962C8B-B14F-4D97-AF65-F5344CB8AC3E}">
        <p14:creationId xmlns:p14="http://schemas.microsoft.com/office/powerpoint/2010/main" val="2873274897"/>
      </p:ext>
    </p:extLst>
  </p:cSld>
  <p:clrMapOvr>
    <a:masterClrMapping/>
  </p:clrMapOvr>
  <p:transition>
    <p:fade thruBlk="1"/>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Create a Measurement Reading Entry List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Measurement Reading Entry List: Create</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IK31</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Management of Technical Objects &gt;                                       Environment &gt; Measuring Points &gt;                          Measurement Reading </a:t>
            </a:r>
            <a:r>
              <a:rPr lang="en-US" dirty="0"/>
              <a:t>Entry List </a:t>
            </a:r>
            <a:r>
              <a:rPr lang="en-US" dirty="0" smtClean="0"/>
              <a:t>&gt; Create</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248400" y="4267200"/>
            <a:ext cx="2841433" cy="2525620"/>
          </a:xfrm>
          <a:prstGeom prst="rect">
            <a:avLst/>
          </a:prstGeom>
          <a:noFill/>
        </p:spPr>
      </p:pic>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98</a:t>
            </a:r>
            <a:endParaRPr lang="en-US" sz="1400" dirty="0">
              <a:solidFill>
                <a:schemeClr val="bg2"/>
              </a:solidFill>
            </a:endParaRPr>
          </a:p>
        </p:txBody>
      </p:sp>
    </p:spTree>
    <p:extLst>
      <p:ext uri="{BB962C8B-B14F-4D97-AF65-F5344CB8AC3E}">
        <p14:creationId xmlns:p14="http://schemas.microsoft.com/office/powerpoint/2010/main" val="1162320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You have completed three measurement point and five counter readings. For organization purposes, you need to create a measurement reading entry list.</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46939" y="3733800"/>
            <a:ext cx="2297061" cy="3062748"/>
          </a:xfrm>
          <a:prstGeom prst="rect">
            <a:avLst/>
          </a:prstGeom>
          <a:noFill/>
        </p:spPr>
      </p:pic>
      <p:sp>
        <p:nvSpPr>
          <p:cNvPr id="5" name="TextBox 4"/>
          <p:cNvSpPr txBox="1"/>
          <p:nvPr/>
        </p:nvSpPr>
        <p:spPr>
          <a:xfrm>
            <a:off x="228600" y="5848290"/>
            <a:ext cx="6934200" cy="707886"/>
          </a:xfrm>
          <a:prstGeom prst="rect">
            <a:avLst/>
          </a:prstGeom>
          <a:noFill/>
        </p:spPr>
        <p:txBody>
          <a:bodyPr wrap="square" rtlCol="0">
            <a:spAutoFit/>
          </a:bodyPr>
          <a:lstStyle/>
          <a:p>
            <a:pPr marL="2174875" indent="-2111375"/>
            <a:r>
              <a:rPr lang="en-US" sz="2000" b="1" dirty="0">
                <a:solidFill>
                  <a:srgbClr val="DADADA">
                    <a:lumMod val="10000"/>
                  </a:srgbClr>
                </a:solidFill>
                <a:latin typeface="Verdana" pitchFamily="34" charset="0"/>
                <a:ea typeface="Verdana" pitchFamily="34" charset="0"/>
                <a:cs typeface="Verdana" pitchFamily="34" charset="0"/>
              </a:rPr>
              <a:t>Exercise: </a:t>
            </a:r>
            <a:r>
              <a:rPr lang="en-US" sz="2000" b="1" dirty="0" smtClean="0">
                <a:solidFill>
                  <a:srgbClr val="DADADA">
                    <a:lumMod val="10000"/>
                  </a:srgbClr>
                </a:solidFill>
                <a:latin typeface="Verdana" pitchFamily="34" charset="0"/>
                <a:ea typeface="Verdana" pitchFamily="34" charset="0"/>
                <a:cs typeface="Verdana" pitchFamily="34" charset="0"/>
              </a:rPr>
              <a:t>5.10 Create a Measurement Reading                                                                Entry List</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103</a:t>
            </a:fld>
            <a:endParaRPr lang="en-US" sz="1400" dirty="0">
              <a:solidFill>
                <a:schemeClr val="bg2"/>
              </a:solidFill>
            </a:endParaRPr>
          </a:p>
        </p:txBody>
      </p:sp>
    </p:spTree>
    <p:extLst>
      <p:ext uri="{BB962C8B-B14F-4D97-AF65-F5344CB8AC3E}">
        <p14:creationId xmlns:p14="http://schemas.microsoft.com/office/powerpoint/2010/main" val="135751311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a:t>Having completed this module, you should be able to:</a:t>
            </a:r>
          </a:p>
          <a:p>
            <a:endParaRPr lang="en-US" dirty="0"/>
          </a:p>
          <a:p>
            <a:pPr marL="342900" indent="-342900">
              <a:buFont typeface="Arial" pitchFamily="34" charset="0"/>
              <a:buChar char="•"/>
            </a:pPr>
            <a:r>
              <a:rPr lang="en-US" dirty="0"/>
              <a:t>Define key terms and concepts</a:t>
            </a:r>
          </a:p>
          <a:p>
            <a:pPr marL="342900" indent="-342900">
              <a:buFont typeface="Arial" pitchFamily="34" charset="0"/>
              <a:buChar char="•"/>
            </a:pPr>
            <a:r>
              <a:rPr lang="en-US" dirty="0"/>
              <a:t>Create a material BOM</a:t>
            </a:r>
          </a:p>
          <a:p>
            <a:pPr marL="342900" indent="-342900">
              <a:buFont typeface="Arial" pitchFamily="34" charset="0"/>
              <a:buChar char="•"/>
            </a:pPr>
            <a:r>
              <a:rPr lang="en-US" dirty="0"/>
              <a:t>Create an equipment BOM</a:t>
            </a:r>
          </a:p>
          <a:p>
            <a:pPr marL="342900" indent="-342900">
              <a:buFont typeface="Arial" pitchFamily="34" charset="0"/>
              <a:buChar char="•"/>
            </a:pPr>
            <a:r>
              <a:rPr lang="en-US" dirty="0" smtClean="0"/>
              <a:t>Commission/Decommission equipment</a:t>
            </a:r>
          </a:p>
          <a:p>
            <a:pPr marL="342900" indent="-342900">
              <a:buFont typeface="Arial" pitchFamily="34" charset="0"/>
              <a:buChar char="•"/>
            </a:pPr>
            <a:r>
              <a:rPr lang="en-US" dirty="0"/>
              <a:t>Manage measurement </a:t>
            </a:r>
            <a:r>
              <a:rPr lang="en-US" dirty="0" smtClean="0"/>
              <a:t>points</a:t>
            </a:r>
            <a:endParaRPr lang="en-US" dirty="0"/>
          </a:p>
          <a:p>
            <a:pPr marL="342900" indent="-342900">
              <a:buFont typeface="Arial" pitchFamily="34" charset="0"/>
              <a:buChar char="•"/>
            </a:pPr>
            <a:r>
              <a:rPr lang="en-US" dirty="0"/>
              <a:t>Review stock</a:t>
            </a:r>
          </a:p>
          <a:p>
            <a:endParaRPr lang="en-US" dirty="0"/>
          </a:p>
        </p:txBody>
      </p:sp>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689600" y="4038600"/>
            <a:ext cx="3454400" cy="2590800"/>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104</a:t>
            </a:fld>
            <a:endParaRPr lang="en-US" sz="1400" dirty="0">
              <a:solidFill>
                <a:schemeClr val="bg2"/>
              </a:solidFill>
            </a:endParaRPr>
          </a:p>
        </p:txBody>
      </p:sp>
    </p:spTree>
    <p:extLst>
      <p:ext uri="{BB962C8B-B14F-4D97-AF65-F5344CB8AC3E}">
        <p14:creationId xmlns:p14="http://schemas.microsoft.com/office/powerpoint/2010/main" val="274435541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Analytics &amp; Reports</a:t>
            </a:r>
            <a:endParaRPr lang="en-US" dirty="0"/>
          </a:p>
        </p:txBody>
      </p:sp>
      <p:sp>
        <p:nvSpPr>
          <p:cNvPr id="3" name="Text Placeholder 2"/>
          <p:cNvSpPr>
            <a:spLocks noGrp="1"/>
          </p:cNvSpPr>
          <p:nvPr>
            <p:ph type="body" idx="1"/>
          </p:nvPr>
        </p:nvSpPr>
        <p:spPr/>
        <p:txBody>
          <a:bodyPr/>
          <a:lstStyle/>
          <a:p>
            <a:r>
              <a:rPr lang="en-US" dirty="0" smtClean="0"/>
              <a:t>Module 6</a:t>
            </a:r>
            <a:endParaRPr lang="en-US" dirty="0"/>
          </a:p>
        </p:txBody>
      </p:sp>
    </p:spTree>
    <p:extLst>
      <p:ext uri="{BB962C8B-B14F-4D97-AF65-F5344CB8AC3E}">
        <p14:creationId xmlns:p14="http://schemas.microsoft.com/office/powerpoint/2010/main" val="4088242734"/>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Objectives</a:t>
            </a:r>
            <a:endParaRPr lang="en-US" dirty="0"/>
          </a:p>
        </p:txBody>
      </p:sp>
      <p:sp>
        <p:nvSpPr>
          <p:cNvPr id="4" name="Content Placeholder 3"/>
          <p:cNvSpPr>
            <a:spLocks noGrp="1"/>
          </p:cNvSpPr>
          <p:nvPr>
            <p:ph idx="1"/>
          </p:nvPr>
        </p:nvSpPr>
        <p:spPr/>
        <p:txBody>
          <a:bodyPr/>
          <a:lstStyle/>
          <a:p>
            <a:r>
              <a:rPr lang="en-US" dirty="0" smtClean="0"/>
              <a:t>Upon completion of this module, you should be able to:</a:t>
            </a:r>
          </a:p>
          <a:p>
            <a:endParaRPr lang="en-US" dirty="0" smtClean="0"/>
          </a:p>
          <a:p>
            <a:pPr marL="342900" indent="-342900">
              <a:buFont typeface="Arial" pitchFamily="34" charset="0"/>
              <a:buChar char="•"/>
            </a:pPr>
            <a:r>
              <a:rPr lang="en-US" dirty="0" smtClean="0"/>
              <a:t>Define key terms and concepts</a:t>
            </a:r>
          </a:p>
          <a:p>
            <a:pPr marL="342900" indent="-342900">
              <a:buFont typeface="Arial" pitchFamily="34" charset="0"/>
              <a:buChar char="•"/>
            </a:pPr>
            <a:r>
              <a:rPr lang="en-US" dirty="0" smtClean="0"/>
              <a:t>Describe Various reports related to the EAM Management process</a:t>
            </a:r>
          </a:p>
          <a:p>
            <a:pPr marL="342900" indent="-342900">
              <a:buFont typeface="Arial" pitchFamily="34" charset="0"/>
              <a:buChar char="•"/>
            </a:pPr>
            <a:r>
              <a:rPr lang="en-US" dirty="0" smtClean="0"/>
              <a:t>Explain the purpose of selection criteria and multiple selection options</a:t>
            </a:r>
          </a:p>
          <a:p>
            <a:pPr marL="342900" indent="-342900">
              <a:buFont typeface="Arial" pitchFamily="34" charset="0"/>
              <a:buChar char="•"/>
            </a:pPr>
            <a:r>
              <a:rPr lang="en-US" dirty="0" smtClean="0"/>
              <a:t>Generate a List Edit report in SAP</a:t>
            </a:r>
          </a:p>
        </p:txBody>
      </p:sp>
      <p:pic>
        <p:nvPicPr>
          <p:cNvPr id="5" name="Picture 2" descr="C:\Users\namudaliar\Documents\Narayanan\Ball Corp\Images\shutterstock_54581515.jpg"/>
          <p:cNvPicPr>
            <a:picLocks noChangeAspect="1" noChangeArrowheads="1"/>
          </p:cNvPicPr>
          <p:nvPr/>
        </p:nvPicPr>
        <p:blipFill>
          <a:blip r:embed="rId2" cstate="print"/>
          <a:srcRect/>
          <a:stretch>
            <a:fillRect/>
          </a:stretch>
        </p:blipFill>
        <p:spPr bwMode="auto">
          <a:xfrm>
            <a:off x="6629400" y="3530600"/>
            <a:ext cx="2438400" cy="3251200"/>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106</a:t>
            </a:fld>
            <a:endParaRPr lang="en-US" sz="1400" dirty="0">
              <a:solidFill>
                <a:schemeClr val="bg2"/>
              </a:solidFill>
            </a:endParaRPr>
          </a:p>
        </p:txBody>
      </p:sp>
    </p:spTree>
    <p:extLst>
      <p:ext uri="{BB962C8B-B14F-4D97-AF65-F5344CB8AC3E}">
        <p14:creationId xmlns:p14="http://schemas.microsoft.com/office/powerpoint/2010/main" val="67701217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Key Terms and Definitions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915906672"/>
              </p:ext>
            </p:extLst>
          </p:nvPr>
        </p:nvGraphicFramePr>
        <p:xfrm>
          <a:off x="301625" y="1143000"/>
          <a:ext cx="8537575" cy="2682240"/>
        </p:xfrm>
        <a:graphic>
          <a:graphicData uri="http://schemas.openxmlformats.org/drawingml/2006/table">
            <a:tbl>
              <a:tblPr firstRow="1" bandRow="1">
                <a:tableStyleId>{5C22544A-7EE6-4342-B048-85BDC9FD1C3A}</a:tableStyleId>
              </a:tblPr>
              <a:tblGrid>
                <a:gridCol w="2365375"/>
                <a:gridCol w="6172200"/>
              </a:tblGrid>
              <a:tr h="370840">
                <a:tc>
                  <a:txBody>
                    <a:bodyPr/>
                    <a:lstStyle/>
                    <a:p>
                      <a:r>
                        <a:rPr lang="en-US" sz="2000" dirty="0" smtClean="0"/>
                        <a:t>Key Term</a:t>
                      </a:r>
                      <a:endParaRPr lang="en-US" sz="2000" dirty="0">
                        <a:latin typeface="Verdana" pitchFamily="34" charset="0"/>
                        <a:ea typeface="Verdana" pitchFamily="34" charset="0"/>
                        <a:cs typeface="Verdana" pitchFamily="34" charset="0"/>
                      </a:endParaRPr>
                    </a:p>
                  </a:txBody>
                  <a:tcPr marL="97534" marR="97534"/>
                </a:tc>
                <a:tc>
                  <a:txBody>
                    <a:bodyPr/>
                    <a:lstStyle/>
                    <a:p>
                      <a:r>
                        <a:rPr lang="en-US" sz="2000" dirty="0" smtClean="0"/>
                        <a:t>Definition</a:t>
                      </a:r>
                      <a:endParaRPr lang="en-US" sz="2000" dirty="0">
                        <a:latin typeface="Verdana" pitchFamily="34" charset="0"/>
                        <a:ea typeface="Verdana" pitchFamily="34" charset="0"/>
                        <a:cs typeface="Verdana" pitchFamily="34" charset="0"/>
                      </a:endParaRPr>
                    </a:p>
                  </a:txBody>
                  <a:tcPr marL="97534" marR="97534"/>
                </a:tc>
              </a:tr>
              <a:tr h="370840">
                <a:tc>
                  <a:txBody>
                    <a:bodyPr/>
                    <a:lstStyle/>
                    <a:p>
                      <a:r>
                        <a:rPr lang="en-US" b="1" dirty="0" smtClean="0">
                          <a:solidFill>
                            <a:schemeClr val="accent4">
                              <a:lumMod val="10000"/>
                            </a:schemeClr>
                          </a:solidFill>
                          <a:latin typeface="Verdana" pitchFamily="34" charset="0"/>
                          <a:ea typeface="Verdana" pitchFamily="34" charset="0"/>
                          <a:cs typeface="Verdana" pitchFamily="34" charset="0"/>
                        </a:rPr>
                        <a:t>Malfunction Report </a:t>
                      </a:r>
                      <a:endParaRPr lang="en-US"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r>
                        <a:rPr lang="en-US" dirty="0" smtClean="0">
                          <a:solidFill>
                            <a:schemeClr val="accent4">
                              <a:lumMod val="10000"/>
                            </a:schemeClr>
                          </a:solidFill>
                          <a:latin typeface="Verdana" pitchFamily="34" charset="0"/>
                          <a:ea typeface="Verdana" pitchFamily="34" charset="0"/>
                          <a:cs typeface="Verdana" pitchFamily="34" charset="0"/>
                        </a:rPr>
                        <a:t>A maintenance notification describing a malfunction at a technical object.</a:t>
                      </a:r>
                    </a:p>
                    <a:p>
                      <a:endParaRPr lang="en-US" dirty="0" smtClean="0">
                        <a:solidFill>
                          <a:schemeClr val="accent4">
                            <a:lumMod val="10000"/>
                          </a:schemeClr>
                        </a:solidFill>
                        <a:latin typeface="Verdana" pitchFamily="34" charset="0"/>
                        <a:ea typeface="Verdana" pitchFamily="34" charset="0"/>
                        <a:cs typeface="Verdana" pitchFamily="34" charset="0"/>
                      </a:endParaRPr>
                    </a:p>
                    <a:p>
                      <a:r>
                        <a:rPr lang="en-US" dirty="0" smtClean="0">
                          <a:solidFill>
                            <a:schemeClr val="accent4">
                              <a:lumMod val="10000"/>
                            </a:schemeClr>
                          </a:solidFill>
                          <a:latin typeface="Verdana" pitchFamily="34" charset="0"/>
                          <a:ea typeface="Verdana" pitchFamily="34" charset="0"/>
                          <a:cs typeface="Verdana" pitchFamily="34" charset="0"/>
                        </a:rPr>
                        <a:t>An employee, for example, from Production, can use a malfunction report to inform the maintenance department that an operational system is not functioning correctly, is not functioning or is producing poor results.</a:t>
                      </a:r>
                      <a:endParaRPr lang="en-US" dirty="0">
                        <a:solidFill>
                          <a:schemeClr val="accent4">
                            <a:lumMod val="10000"/>
                          </a:schemeClr>
                        </a:solidFill>
                        <a:latin typeface="Verdana" pitchFamily="34" charset="0"/>
                        <a:ea typeface="Verdana" pitchFamily="34" charset="0"/>
                        <a:cs typeface="Verdana" pitchFamily="34" charset="0"/>
                      </a:endParaRPr>
                    </a:p>
                  </a:txBody>
                  <a:tcPr marL="97534" marR="97534"/>
                </a:tc>
              </a:tr>
            </a:tbl>
          </a:graphicData>
        </a:graphic>
      </p:graphicFrame>
      <p:sp>
        <p:nvSpPr>
          <p:cNvPr id="5" name="Slide Number Placeholder 3"/>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107</a:t>
            </a:fld>
            <a:endParaRPr lang="en-US" sz="1400" dirty="0">
              <a:solidFill>
                <a:schemeClr val="bg2"/>
              </a:solidFill>
            </a:endParaRPr>
          </a:p>
        </p:txBody>
      </p:sp>
    </p:spTree>
    <p:extLst>
      <p:ext uri="{BB962C8B-B14F-4D97-AF65-F5344CB8AC3E}">
        <p14:creationId xmlns:p14="http://schemas.microsoft.com/office/powerpoint/2010/main" val="256396700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EAM Process Flow</a:t>
            </a:r>
            <a:endParaRPr lang="en-US" dirty="0"/>
          </a:p>
        </p:txBody>
      </p:sp>
      <p:graphicFrame>
        <p:nvGraphicFramePr>
          <p:cNvPr id="5" name="Content Placeholder 4"/>
          <p:cNvGraphicFramePr>
            <a:graphicFrameLocks noGrp="1"/>
          </p:cNvGraphicFramePr>
          <p:nvPr>
            <p:ph idx="1"/>
            <p:extLst/>
          </p:nvPr>
        </p:nvGraphicFramePr>
        <p:xfrm>
          <a:off x="1901825" y="2667001"/>
          <a:ext cx="6403975" cy="1828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3" name="Straight Arrow Connector 12"/>
          <p:cNvCxnSpPr>
            <a:stCxn id="19" idx="0"/>
          </p:cNvCxnSpPr>
          <p:nvPr/>
        </p:nvCxnSpPr>
        <p:spPr bwMode="auto">
          <a:xfrm flipV="1">
            <a:off x="2743200" y="3962400"/>
            <a:ext cx="914400" cy="6858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19" name="TextBox 18"/>
          <p:cNvSpPr txBox="1"/>
          <p:nvPr/>
        </p:nvSpPr>
        <p:spPr>
          <a:xfrm>
            <a:off x="2286000" y="4648200"/>
            <a:ext cx="914400" cy="369332"/>
          </a:xfrm>
          <a:prstGeom prst="rect">
            <a:avLst/>
          </a:prstGeom>
          <a:noFill/>
          <a:ln>
            <a:solidFill>
              <a:srgbClr val="000000"/>
            </a:solidFill>
          </a:ln>
        </p:spPr>
        <p:txBody>
          <a:bodyPr wrap="square" rtlCol="0">
            <a:spAutoFit/>
          </a:bodyPr>
          <a:lstStyle/>
          <a:p>
            <a:r>
              <a:rPr lang="en-US" dirty="0" smtClean="0">
                <a:solidFill>
                  <a:srgbClr val="000000"/>
                </a:solidFill>
              </a:rPr>
              <a:t>Labor</a:t>
            </a:r>
            <a:endParaRPr lang="en-US" dirty="0">
              <a:solidFill>
                <a:srgbClr val="000000"/>
              </a:solidFill>
            </a:endParaRPr>
          </a:p>
        </p:txBody>
      </p:sp>
      <p:sp>
        <p:nvSpPr>
          <p:cNvPr id="20" name="TextBox 19"/>
          <p:cNvSpPr txBox="1"/>
          <p:nvPr/>
        </p:nvSpPr>
        <p:spPr>
          <a:xfrm>
            <a:off x="3429000" y="4659868"/>
            <a:ext cx="1524000" cy="923330"/>
          </a:xfrm>
          <a:prstGeom prst="rect">
            <a:avLst/>
          </a:prstGeom>
          <a:noFill/>
          <a:ln>
            <a:solidFill>
              <a:srgbClr val="000000"/>
            </a:solidFill>
          </a:ln>
        </p:spPr>
        <p:txBody>
          <a:bodyPr wrap="square" rtlCol="0">
            <a:spAutoFit/>
          </a:bodyPr>
          <a:lstStyle/>
          <a:p>
            <a:r>
              <a:rPr lang="en-US" dirty="0" smtClean="0">
                <a:solidFill>
                  <a:srgbClr val="000000"/>
                </a:solidFill>
              </a:rPr>
              <a:t>Preventive Maintenance Work Order</a:t>
            </a:r>
            <a:endParaRPr lang="en-US" dirty="0">
              <a:solidFill>
                <a:srgbClr val="000000"/>
              </a:solidFill>
            </a:endParaRPr>
          </a:p>
        </p:txBody>
      </p:sp>
      <p:cxnSp>
        <p:nvCxnSpPr>
          <p:cNvPr id="21" name="Straight Arrow Connector 20"/>
          <p:cNvCxnSpPr>
            <a:stCxn id="20" idx="0"/>
          </p:cNvCxnSpPr>
          <p:nvPr/>
        </p:nvCxnSpPr>
        <p:spPr bwMode="auto">
          <a:xfrm flipV="1">
            <a:off x="41910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24" name="Straight Arrow Connector 23"/>
          <p:cNvCxnSpPr>
            <a:stCxn id="28" idx="2"/>
          </p:cNvCxnSpPr>
          <p:nvPr/>
        </p:nvCxnSpPr>
        <p:spPr bwMode="auto">
          <a:xfrm>
            <a:off x="2552700" y="2590800"/>
            <a:ext cx="1104900" cy="6096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28" name="TextBox 27"/>
          <p:cNvSpPr txBox="1"/>
          <p:nvPr/>
        </p:nvSpPr>
        <p:spPr>
          <a:xfrm>
            <a:off x="1828800" y="1944469"/>
            <a:ext cx="1447800" cy="646331"/>
          </a:xfrm>
          <a:prstGeom prst="rect">
            <a:avLst/>
          </a:prstGeom>
          <a:noFill/>
          <a:ln>
            <a:solidFill>
              <a:srgbClr val="000000"/>
            </a:solidFill>
          </a:ln>
        </p:spPr>
        <p:txBody>
          <a:bodyPr wrap="square" rtlCol="0">
            <a:spAutoFit/>
          </a:bodyPr>
          <a:lstStyle/>
          <a:p>
            <a:r>
              <a:rPr lang="en-US" dirty="0" smtClean="0">
                <a:solidFill>
                  <a:srgbClr val="000000"/>
                </a:solidFill>
              </a:rPr>
              <a:t>Pre-Defined Work Steps</a:t>
            </a:r>
            <a:endParaRPr lang="en-US" dirty="0">
              <a:solidFill>
                <a:srgbClr val="000000"/>
              </a:solidFill>
            </a:endParaRPr>
          </a:p>
        </p:txBody>
      </p:sp>
      <p:sp>
        <p:nvSpPr>
          <p:cNvPr id="30" name="TextBox 29"/>
          <p:cNvSpPr txBox="1"/>
          <p:nvPr/>
        </p:nvSpPr>
        <p:spPr>
          <a:xfrm>
            <a:off x="3657600" y="1676400"/>
            <a:ext cx="1143000" cy="646331"/>
          </a:xfrm>
          <a:prstGeom prst="rect">
            <a:avLst/>
          </a:prstGeom>
          <a:noFill/>
          <a:ln>
            <a:solidFill>
              <a:srgbClr val="000000"/>
            </a:solidFill>
          </a:ln>
        </p:spPr>
        <p:txBody>
          <a:bodyPr wrap="square" rtlCol="0">
            <a:spAutoFit/>
          </a:bodyPr>
          <a:lstStyle/>
          <a:p>
            <a:r>
              <a:rPr lang="en-US" dirty="0" smtClean="0">
                <a:solidFill>
                  <a:srgbClr val="000000"/>
                </a:solidFill>
              </a:rPr>
              <a:t>Parts/ Supplies</a:t>
            </a:r>
            <a:endParaRPr lang="en-US" dirty="0">
              <a:solidFill>
                <a:srgbClr val="000000"/>
              </a:solidFill>
            </a:endParaRPr>
          </a:p>
        </p:txBody>
      </p:sp>
      <p:cxnSp>
        <p:nvCxnSpPr>
          <p:cNvPr id="31" name="Straight Arrow Connector 30"/>
          <p:cNvCxnSpPr/>
          <p:nvPr/>
        </p:nvCxnSpPr>
        <p:spPr bwMode="auto">
          <a:xfrm>
            <a:off x="4191000" y="2324100"/>
            <a:ext cx="0" cy="8763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33" name="Straight Arrow Connector 32"/>
          <p:cNvCxnSpPr>
            <a:stCxn id="37" idx="2"/>
          </p:cNvCxnSpPr>
          <p:nvPr/>
        </p:nvCxnSpPr>
        <p:spPr bwMode="auto">
          <a:xfrm flipH="1">
            <a:off x="4724400" y="2475131"/>
            <a:ext cx="1009650" cy="725269"/>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37" name="TextBox 36"/>
          <p:cNvSpPr txBox="1"/>
          <p:nvPr/>
        </p:nvSpPr>
        <p:spPr>
          <a:xfrm>
            <a:off x="5067300" y="1828800"/>
            <a:ext cx="1333500" cy="646331"/>
          </a:xfrm>
          <a:prstGeom prst="rect">
            <a:avLst/>
          </a:prstGeom>
          <a:noFill/>
          <a:ln>
            <a:solidFill>
              <a:srgbClr val="000000"/>
            </a:solidFill>
          </a:ln>
        </p:spPr>
        <p:txBody>
          <a:bodyPr wrap="square" rtlCol="0">
            <a:spAutoFit/>
          </a:bodyPr>
          <a:lstStyle/>
          <a:p>
            <a:r>
              <a:rPr lang="en-US" dirty="0" smtClean="0">
                <a:solidFill>
                  <a:srgbClr val="000000"/>
                </a:solidFill>
              </a:rPr>
              <a:t>External Services</a:t>
            </a:r>
            <a:endParaRPr lang="en-US" dirty="0">
              <a:solidFill>
                <a:srgbClr val="000000"/>
              </a:solidFill>
            </a:endParaRPr>
          </a:p>
        </p:txBody>
      </p:sp>
      <p:sp>
        <p:nvSpPr>
          <p:cNvPr id="38" name="TextBox 37"/>
          <p:cNvSpPr txBox="1"/>
          <p:nvPr/>
        </p:nvSpPr>
        <p:spPr>
          <a:xfrm>
            <a:off x="5067300" y="4659868"/>
            <a:ext cx="1562100" cy="646331"/>
          </a:xfrm>
          <a:prstGeom prst="rect">
            <a:avLst/>
          </a:prstGeom>
          <a:noFill/>
          <a:ln>
            <a:solidFill>
              <a:srgbClr val="000000"/>
            </a:solidFill>
          </a:ln>
        </p:spPr>
        <p:txBody>
          <a:bodyPr wrap="square" rtlCol="0">
            <a:spAutoFit/>
          </a:bodyPr>
          <a:lstStyle/>
          <a:p>
            <a:r>
              <a:rPr lang="en-US" dirty="0" smtClean="0">
                <a:solidFill>
                  <a:srgbClr val="000000"/>
                </a:solidFill>
              </a:rPr>
              <a:t>Material Requisitions</a:t>
            </a:r>
            <a:endParaRPr lang="en-US" dirty="0">
              <a:solidFill>
                <a:srgbClr val="000000"/>
              </a:solidFill>
            </a:endParaRPr>
          </a:p>
        </p:txBody>
      </p:sp>
      <p:cxnSp>
        <p:nvCxnSpPr>
          <p:cNvPr id="39" name="Straight Arrow Connector 38"/>
          <p:cNvCxnSpPr>
            <a:stCxn id="38" idx="0"/>
          </p:cNvCxnSpPr>
          <p:nvPr/>
        </p:nvCxnSpPr>
        <p:spPr bwMode="auto">
          <a:xfrm flipH="1" flipV="1">
            <a:off x="4724400" y="3962400"/>
            <a:ext cx="112395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41" name="Straight Arrow Connector 40"/>
          <p:cNvCxnSpPr/>
          <p:nvPr/>
        </p:nvCxnSpPr>
        <p:spPr bwMode="auto">
          <a:xfrm flipV="1">
            <a:off x="74676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42" name="TextBox 41"/>
          <p:cNvSpPr txBox="1"/>
          <p:nvPr/>
        </p:nvSpPr>
        <p:spPr>
          <a:xfrm>
            <a:off x="6858000" y="4648200"/>
            <a:ext cx="1295400" cy="369332"/>
          </a:xfrm>
          <a:prstGeom prst="rect">
            <a:avLst/>
          </a:prstGeom>
          <a:noFill/>
          <a:ln w="63500">
            <a:solidFill>
              <a:srgbClr val="FF0000"/>
            </a:solidFill>
          </a:ln>
        </p:spPr>
        <p:txBody>
          <a:bodyPr wrap="square" rtlCol="0">
            <a:spAutoFit/>
          </a:bodyPr>
          <a:lstStyle/>
          <a:p>
            <a:r>
              <a:rPr lang="en-US" dirty="0" smtClean="0">
                <a:solidFill>
                  <a:srgbClr val="000000"/>
                </a:solidFill>
              </a:rPr>
              <a:t>Reporting</a:t>
            </a:r>
            <a:endParaRPr lang="en-US" dirty="0">
              <a:solidFill>
                <a:srgbClr val="000000"/>
              </a:solidFill>
            </a:endParaRPr>
          </a:p>
        </p:txBody>
      </p:sp>
      <p:sp>
        <p:nvSpPr>
          <p:cNvPr id="23"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108</a:t>
            </a:fld>
            <a:endParaRPr lang="en-US" sz="1400" dirty="0">
              <a:solidFill>
                <a:schemeClr val="bg2"/>
              </a:solidFill>
            </a:endParaRPr>
          </a:p>
        </p:txBody>
      </p:sp>
      <p:graphicFrame>
        <p:nvGraphicFramePr>
          <p:cNvPr id="22" name="Diagram 21"/>
          <p:cNvGraphicFramePr/>
          <p:nvPr>
            <p:extLst/>
          </p:nvPr>
        </p:nvGraphicFramePr>
        <p:xfrm>
          <a:off x="152400" y="1651000"/>
          <a:ext cx="9906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5" name="Right Brace 24"/>
          <p:cNvSpPr/>
          <p:nvPr/>
        </p:nvSpPr>
        <p:spPr bwMode="auto">
          <a:xfrm>
            <a:off x="1143000" y="1655802"/>
            <a:ext cx="685800" cy="4059198"/>
          </a:xfrm>
          <a:prstGeom prst="rightBrace">
            <a:avLst>
              <a:gd name="adj1" fmla="val 8333"/>
              <a:gd name="adj2" fmla="val 50404"/>
            </a:avLst>
          </a:prstGeom>
          <a:noFill/>
          <a:ln w="444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341967157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SAP ECC Reports</a:t>
            </a:r>
            <a:endParaRPr lang="en-US" dirty="0"/>
          </a:p>
        </p:txBody>
      </p:sp>
      <p:sp>
        <p:nvSpPr>
          <p:cNvPr id="3" name="Content Placeholder 2"/>
          <p:cNvSpPr>
            <a:spLocks noGrp="1"/>
          </p:cNvSpPr>
          <p:nvPr>
            <p:ph idx="1"/>
          </p:nvPr>
        </p:nvSpPr>
        <p:spPr>
          <a:xfrm>
            <a:off x="301625" y="1066800"/>
            <a:ext cx="8537575" cy="4983163"/>
          </a:xfrm>
        </p:spPr>
        <p:txBody>
          <a:bodyPr/>
          <a:lstStyle/>
          <a:p>
            <a:r>
              <a:rPr lang="en-US" dirty="0"/>
              <a:t>SAP </a:t>
            </a:r>
            <a:r>
              <a:rPr lang="en-US" dirty="0" smtClean="0"/>
              <a:t>ECC </a:t>
            </a:r>
            <a:r>
              <a:rPr lang="en-US" dirty="0"/>
              <a:t>reports contain real-time data</a:t>
            </a:r>
            <a:r>
              <a:rPr lang="en-US" sz="1600" dirty="0"/>
              <a:t>:</a:t>
            </a:r>
          </a:p>
          <a:p>
            <a:pPr lvl="1">
              <a:buFont typeface="Wingdings" pitchFamily="2" charset="2"/>
              <a:buChar char="§"/>
            </a:pPr>
            <a:r>
              <a:rPr lang="en-US" dirty="0">
                <a:solidFill>
                  <a:schemeClr val="accent4">
                    <a:lumMod val="10000"/>
                  </a:schemeClr>
                </a:solidFill>
                <a:effectLst/>
              </a:rPr>
              <a:t>Data in SAP </a:t>
            </a:r>
            <a:r>
              <a:rPr lang="en-US" dirty="0" smtClean="0">
                <a:solidFill>
                  <a:schemeClr val="accent4">
                    <a:lumMod val="10000"/>
                  </a:schemeClr>
                </a:solidFill>
                <a:effectLst/>
              </a:rPr>
              <a:t>ECC </a:t>
            </a:r>
            <a:r>
              <a:rPr lang="en-US" dirty="0">
                <a:solidFill>
                  <a:schemeClr val="accent4">
                    <a:lumMod val="10000"/>
                  </a:schemeClr>
                </a:solidFill>
                <a:effectLst/>
              </a:rPr>
              <a:t>reports is up-to-date at any given time and reflects all posting activities as soon as they </a:t>
            </a:r>
            <a:r>
              <a:rPr lang="en-US" dirty="0" smtClean="0">
                <a:solidFill>
                  <a:schemeClr val="accent4">
                    <a:lumMod val="10000"/>
                  </a:schemeClr>
                </a:solidFill>
                <a:effectLst/>
              </a:rPr>
              <a:t>occur</a:t>
            </a:r>
            <a:endParaRPr lang="en-US" dirty="0">
              <a:solidFill>
                <a:schemeClr val="accent4">
                  <a:lumMod val="10000"/>
                </a:schemeClr>
              </a:solidFill>
              <a:effectLst/>
            </a:endParaRPr>
          </a:p>
          <a:p>
            <a:pPr lvl="1">
              <a:buFont typeface="Wingdings" pitchFamily="2" charset="2"/>
              <a:buChar char="§"/>
            </a:pPr>
            <a:r>
              <a:rPr lang="en-US" dirty="0">
                <a:solidFill>
                  <a:schemeClr val="accent4">
                    <a:lumMod val="10000"/>
                  </a:schemeClr>
                </a:solidFill>
                <a:effectLst/>
              </a:rPr>
              <a:t>Reports in SAP </a:t>
            </a:r>
            <a:r>
              <a:rPr lang="en-US" dirty="0" smtClean="0">
                <a:solidFill>
                  <a:schemeClr val="accent4">
                    <a:lumMod val="10000"/>
                  </a:schemeClr>
                </a:solidFill>
                <a:effectLst/>
              </a:rPr>
              <a:t>ECC </a:t>
            </a:r>
            <a:r>
              <a:rPr lang="en-US" dirty="0">
                <a:solidFill>
                  <a:schemeClr val="accent4">
                    <a:lumMod val="10000"/>
                  </a:schemeClr>
                </a:solidFill>
                <a:effectLst/>
              </a:rPr>
              <a:t>are organized by modules and </a:t>
            </a:r>
            <a:r>
              <a:rPr lang="en-US" dirty="0" smtClean="0">
                <a:solidFill>
                  <a:schemeClr val="accent4">
                    <a:lumMod val="10000"/>
                  </a:schemeClr>
                </a:solidFill>
                <a:effectLst/>
              </a:rPr>
              <a:t>applications</a:t>
            </a:r>
            <a:endParaRPr lang="en-US" dirty="0">
              <a:solidFill>
                <a:schemeClr val="accent4">
                  <a:lumMod val="10000"/>
                </a:schemeClr>
              </a:solidFill>
              <a:effectLst/>
            </a:endParaRPr>
          </a:p>
          <a:p>
            <a:pPr lvl="1">
              <a:buFont typeface="Wingdings" pitchFamily="2" charset="2"/>
              <a:buChar char="§"/>
            </a:pPr>
            <a:r>
              <a:rPr lang="en-US" dirty="0">
                <a:solidFill>
                  <a:schemeClr val="accent4">
                    <a:lumMod val="10000"/>
                  </a:schemeClr>
                </a:solidFill>
                <a:effectLst/>
              </a:rPr>
              <a:t>You can access reports by navigating the SAP menu tabs or by using transaction </a:t>
            </a:r>
            <a:r>
              <a:rPr lang="en-US" dirty="0" smtClean="0">
                <a:solidFill>
                  <a:schemeClr val="accent4">
                    <a:lumMod val="10000"/>
                  </a:schemeClr>
                </a:solidFill>
                <a:effectLst/>
              </a:rPr>
              <a:t>codes</a:t>
            </a:r>
            <a:endParaRPr lang="en-US" dirty="0">
              <a:solidFill>
                <a:schemeClr val="accent4">
                  <a:lumMod val="10000"/>
                </a:schemeClr>
              </a:solidFill>
              <a:effectLst/>
            </a:endParaRPr>
          </a:p>
          <a:p>
            <a:pPr lvl="1">
              <a:buFont typeface="Wingdings" pitchFamily="2" charset="2"/>
              <a:buChar char="§"/>
            </a:pPr>
            <a:r>
              <a:rPr lang="en-US" dirty="0">
                <a:solidFill>
                  <a:schemeClr val="accent4">
                    <a:lumMod val="10000"/>
                  </a:schemeClr>
                </a:solidFill>
                <a:effectLst/>
              </a:rPr>
              <a:t>Access to reports is restricted by the role(s) assigned to the </a:t>
            </a:r>
            <a:r>
              <a:rPr lang="en-US" dirty="0" smtClean="0">
                <a:solidFill>
                  <a:schemeClr val="accent4">
                    <a:lumMod val="10000"/>
                  </a:schemeClr>
                </a:solidFill>
                <a:effectLst/>
              </a:rPr>
              <a:t>user</a:t>
            </a:r>
            <a:r>
              <a:rPr lang="en-US" sz="1600" dirty="0" smtClean="0">
                <a:solidFill>
                  <a:schemeClr val="accent4">
                    <a:lumMod val="10000"/>
                  </a:schemeClr>
                </a:solidFill>
                <a:effectLst/>
              </a:rPr>
              <a:t> </a:t>
            </a:r>
            <a:endParaRPr lang="en-US" sz="1600" dirty="0">
              <a:solidFill>
                <a:schemeClr val="accent4">
                  <a:lumMod val="10000"/>
                </a:schemeClr>
              </a:solidFill>
              <a:effectLst/>
              <a:cs typeface="Arial" charset="0"/>
            </a:endParaRPr>
          </a:p>
          <a:p>
            <a:endParaRPr lang="en-US" dirty="0"/>
          </a:p>
        </p:txBody>
      </p:sp>
      <p:sp>
        <p:nvSpPr>
          <p:cNvPr id="4" name="AutoShape 70"/>
          <p:cNvSpPr>
            <a:spLocks noChangeArrowheads="1"/>
          </p:cNvSpPr>
          <p:nvPr/>
        </p:nvSpPr>
        <p:spPr bwMode="auto">
          <a:xfrm rot="15142423">
            <a:off x="1838325" y="4167061"/>
            <a:ext cx="1676400" cy="1543050"/>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rotWithShape="0">
            <a:gsLst>
              <a:gs pos="0">
                <a:srgbClr val="FFFF99">
                  <a:gamma/>
                  <a:shade val="76078"/>
                  <a:invGamma/>
                </a:srgbClr>
              </a:gs>
              <a:gs pos="50000">
                <a:srgbClr val="FFFF99"/>
              </a:gs>
              <a:gs pos="100000">
                <a:srgbClr val="FFFF99">
                  <a:gamma/>
                  <a:shade val="76078"/>
                  <a:invGamma/>
                </a:srgbClr>
              </a:gs>
            </a:gsLst>
            <a:lin ang="5400000" scaled="1"/>
          </a:gra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nchor="ctr"/>
          <a:lstStyle/>
          <a:p>
            <a:pPr eaLnBrk="1" hangingPunct="1"/>
            <a:endParaRPr lang="en-US" smtClean="0">
              <a:solidFill>
                <a:schemeClr val="accent4">
                  <a:lumMod val="10000"/>
                </a:schemeClr>
              </a:solidFill>
              <a:cs typeface="Arial" charset="0"/>
            </a:endParaRPr>
          </a:p>
        </p:txBody>
      </p:sp>
      <p:pic>
        <p:nvPicPr>
          <p:cNvPr id="5" name="Picture 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4265486"/>
            <a:ext cx="17081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32"/>
          <p:cNvSpPr>
            <a:spLocks noChangeArrowheads="1"/>
          </p:cNvSpPr>
          <p:nvPr/>
        </p:nvSpPr>
        <p:spPr bwMode="auto">
          <a:xfrm rot="5024843">
            <a:off x="5661025" y="4840161"/>
            <a:ext cx="1608138" cy="1195388"/>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rotWithShape="0">
            <a:gsLst>
              <a:gs pos="0">
                <a:srgbClr val="FFFF99">
                  <a:gamma/>
                  <a:shade val="76078"/>
                  <a:invGamma/>
                </a:srgbClr>
              </a:gs>
              <a:gs pos="50000">
                <a:srgbClr val="FFFF99"/>
              </a:gs>
              <a:gs pos="100000">
                <a:srgbClr val="FFFF99">
                  <a:gamma/>
                  <a:shade val="76078"/>
                  <a:invGamma/>
                </a:srgbClr>
              </a:gs>
            </a:gsLst>
            <a:lin ang="5400000" scaled="1"/>
          </a:gra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nchor="ctr"/>
          <a:lstStyle/>
          <a:p>
            <a:pPr eaLnBrk="1" hangingPunct="1"/>
            <a:endParaRPr lang="en-US" smtClean="0">
              <a:solidFill>
                <a:schemeClr val="accent4">
                  <a:lumMod val="10000"/>
                </a:schemeClr>
              </a:solidFill>
              <a:cs typeface="Arial" charset="0"/>
            </a:endParaRPr>
          </a:p>
        </p:txBody>
      </p:sp>
      <p:pic>
        <p:nvPicPr>
          <p:cNvPr id="7" name="Picture 75" descr="MPj04223850000[1]"/>
          <p:cNvPicPr>
            <a:picLocks noChangeAspect="1" noChangeArrowheads="1"/>
          </p:cNvPicPr>
          <p:nvPr/>
        </p:nvPicPr>
        <p:blipFill>
          <a:blip r:embed="rId4" cstate="print">
            <a:extLst>
              <a:ext uri="{28A0092B-C50C-407E-A947-70E740481C1C}">
                <a14:useLocalDpi xmlns:a14="http://schemas.microsoft.com/office/drawing/2010/main" val="0"/>
              </a:ext>
            </a:extLst>
          </a:blip>
          <a:srcRect r="10234" b="16640"/>
          <a:stretch>
            <a:fillRect/>
          </a:stretch>
        </p:blipFill>
        <p:spPr>
          <a:xfrm>
            <a:off x="4800600" y="5167186"/>
            <a:ext cx="1420813" cy="947738"/>
          </a:xfrm>
          <a:prstGeom prst="rect">
            <a:avLst/>
          </a:prstGeom>
        </p:spPr>
      </p:pic>
      <p:sp>
        <p:nvSpPr>
          <p:cNvPr id="8" name="Text Box 5"/>
          <p:cNvSpPr txBox="1">
            <a:spLocks noChangeArrowheads="1"/>
          </p:cNvSpPr>
          <p:nvPr/>
        </p:nvSpPr>
        <p:spPr bwMode="auto">
          <a:xfrm>
            <a:off x="4666725" y="6265736"/>
            <a:ext cx="1421864" cy="4398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200" b="1" dirty="0" smtClean="0">
                <a:solidFill>
                  <a:schemeClr val="accent4">
                    <a:lumMod val="10000"/>
                  </a:schemeClr>
                </a:solidFill>
                <a:cs typeface="Arial" charset="0"/>
              </a:rPr>
              <a:t>ECC Cost Center </a:t>
            </a:r>
            <a:br>
              <a:rPr lang="en-US" sz="1200" b="1" dirty="0" smtClean="0">
                <a:solidFill>
                  <a:schemeClr val="accent4">
                    <a:lumMod val="10000"/>
                  </a:schemeClr>
                </a:solidFill>
                <a:cs typeface="Arial" charset="0"/>
              </a:rPr>
            </a:br>
            <a:r>
              <a:rPr lang="en-US" sz="1200" b="1" dirty="0" smtClean="0">
                <a:solidFill>
                  <a:schemeClr val="accent4">
                    <a:lumMod val="10000"/>
                  </a:schemeClr>
                </a:solidFill>
                <a:cs typeface="Arial" charset="0"/>
              </a:rPr>
              <a:t>Reporting</a:t>
            </a:r>
          </a:p>
        </p:txBody>
      </p:sp>
      <p:sp>
        <p:nvSpPr>
          <p:cNvPr id="9" name="Text Box 33"/>
          <p:cNvSpPr txBox="1">
            <a:spLocks noChangeArrowheads="1"/>
          </p:cNvSpPr>
          <p:nvPr/>
        </p:nvSpPr>
        <p:spPr bwMode="auto">
          <a:xfrm>
            <a:off x="2994658" y="5646611"/>
            <a:ext cx="1346523" cy="4398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200" b="1" dirty="0" smtClean="0">
                <a:solidFill>
                  <a:schemeClr val="accent4">
                    <a:lumMod val="10000"/>
                  </a:schemeClr>
                </a:solidFill>
                <a:cs typeface="Arial" charset="0"/>
              </a:rPr>
              <a:t>ECC Purchasing</a:t>
            </a:r>
          </a:p>
          <a:p>
            <a:pPr algn="ctr"/>
            <a:r>
              <a:rPr lang="en-US" sz="1200" b="1" dirty="0" smtClean="0">
                <a:solidFill>
                  <a:schemeClr val="accent4">
                    <a:lumMod val="10000"/>
                  </a:schemeClr>
                </a:solidFill>
                <a:cs typeface="Arial" charset="0"/>
              </a:rPr>
              <a:t>Reporting</a:t>
            </a:r>
          </a:p>
        </p:txBody>
      </p:sp>
      <p:pic>
        <p:nvPicPr>
          <p:cNvPr id="10" name="Picture 7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69113" y="4489324"/>
            <a:ext cx="1589087" cy="17526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73"/>
          <p:cNvSpPr txBox="1">
            <a:spLocks noChangeArrowheads="1"/>
          </p:cNvSpPr>
          <p:nvPr/>
        </p:nvSpPr>
        <p:spPr bwMode="auto">
          <a:xfrm rot="-2458701">
            <a:off x="6973936" y="5001587"/>
            <a:ext cx="1303242" cy="56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600" b="1" smtClean="0">
                <a:solidFill>
                  <a:schemeClr val="accent4">
                    <a:lumMod val="10000"/>
                  </a:schemeClr>
                </a:solidFill>
                <a:cs typeface="Arial" charset="0"/>
              </a:rPr>
              <a:t>Cost Center</a:t>
            </a:r>
          </a:p>
          <a:p>
            <a:pPr algn="ctr"/>
            <a:r>
              <a:rPr lang="en-US" sz="1600" b="1" smtClean="0">
                <a:solidFill>
                  <a:schemeClr val="accent4">
                    <a:lumMod val="10000"/>
                  </a:schemeClr>
                </a:solidFill>
                <a:cs typeface="Arial" charset="0"/>
              </a:rPr>
              <a:t>Report</a:t>
            </a:r>
          </a:p>
        </p:txBody>
      </p:sp>
      <p:pic>
        <p:nvPicPr>
          <p:cNvPr id="12" name="Picture 81" descr="MPj04225270000[1]"/>
          <p:cNvPicPr>
            <a:picLocks noChangeAspect="1" noChangeArrowheads="1"/>
          </p:cNvPicPr>
          <p:nvPr/>
        </p:nvPicPr>
        <p:blipFill>
          <a:blip r:embed="rId6" cstate="print">
            <a:extLst>
              <a:ext uri="{28A0092B-C50C-407E-A947-70E740481C1C}">
                <a14:useLocalDpi xmlns:a14="http://schemas.microsoft.com/office/drawing/2010/main" val="0"/>
              </a:ext>
            </a:extLst>
          </a:blip>
          <a:srcRect b="26875"/>
          <a:stretch>
            <a:fillRect/>
          </a:stretch>
        </p:blipFill>
        <p:spPr>
          <a:xfrm>
            <a:off x="2959100" y="4557586"/>
            <a:ext cx="1447800" cy="1066800"/>
          </a:xfrm>
          <a:prstGeom prst="rect">
            <a:avLst/>
          </a:prstGeo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 name="Text Box 83"/>
          <p:cNvSpPr txBox="1">
            <a:spLocks noChangeArrowheads="1"/>
          </p:cNvSpPr>
          <p:nvPr/>
        </p:nvSpPr>
        <p:spPr bwMode="auto">
          <a:xfrm rot="-2750834">
            <a:off x="203994" y="4848893"/>
            <a:ext cx="2528887" cy="558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lIns="69850" tIns="34925" rIns="69850" bIns="34925">
            <a:spAutoFit/>
          </a:bodyPr>
          <a:lstStyle/>
          <a:p>
            <a:pPr algn="ctr"/>
            <a:r>
              <a:rPr lang="en-US" sz="1600" b="1" smtClean="0">
                <a:solidFill>
                  <a:schemeClr val="accent4">
                    <a:lumMod val="10000"/>
                  </a:schemeClr>
                </a:solidFill>
                <a:cs typeface="Arial" charset="0"/>
              </a:rPr>
              <a:t>List Display</a:t>
            </a:r>
          </a:p>
          <a:p>
            <a:pPr algn="ctr"/>
            <a:r>
              <a:rPr lang="en-US" sz="1600" b="1" smtClean="0">
                <a:solidFill>
                  <a:schemeClr val="accent4">
                    <a:lumMod val="10000"/>
                  </a:schemeClr>
                </a:solidFill>
                <a:cs typeface="Arial" charset="0"/>
              </a:rPr>
              <a:t> Purchase Requisitions</a:t>
            </a:r>
          </a:p>
        </p:txBody>
      </p:sp>
      <p:sp>
        <p:nvSpPr>
          <p:cNvPr id="14"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109</a:t>
            </a:fld>
            <a:endParaRPr lang="en-US" sz="1400" dirty="0">
              <a:solidFill>
                <a:schemeClr val="bg2"/>
              </a:solidFill>
            </a:endParaRPr>
          </a:p>
        </p:txBody>
      </p:sp>
    </p:spTree>
    <p:extLst>
      <p:ext uri="{BB962C8B-B14F-4D97-AF65-F5344CB8AC3E}">
        <p14:creationId xmlns:p14="http://schemas.microsoft.com/office/powerpoint/2010/main" val="30014145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Available Reports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66345413"/>
              </p:ext>
            </p:extLst>
          </p:nvPr>
        </p:nvGraphicFramePr>
        <p:xfrm>
          <a:off x="685800" y="1005840"/>
          <a:ext cx="8153400" cy="5710079"/>
        </p:xfrm>
        <a:graphic>
          <a:graphicData uri="http://schemas.openxmlformats.org/drawingml/2006/table">
            <a:tbl>
              <a:tblPr firstRow="1" bandRow="1">
                <a:tableStyleId>{5C22544A-7EE6-4342-B048-85BDC9FD1C3A}</a:tableStyleId>
              </a:tblPr>
              <a:tblGrid>
                <a:gridCol w="2258937"/>
                <a:gridCol w="5894463"/>
              </a:tblGrid>
              <a:tr h="385921">
                <a:tc>
                  <a:txBody>
                    <a:bodyPr/>
                    <a:lstStyle/>
                    <a:p>
                      <a:r>
                        <a:rPr lang="en-US" sz="2000" dirty="0" smtClean="0"/>
                        <a:t>Report</a:t>
                      </a:r>
                      <a:endParaRPr lang="en-US" sz="2000" dirty="0">
                        <a:latin typeface="Verdana" pitchFamily="34" charset="0"/>
                        <a:ea typeface="Verdana" pitchFamily="34" charset="0"/>
                        <a:cs typeface="Verdana" pitchFamily="34" charset="0"/>
                      </a:endParaRPr>
                    </a:p>
                  </a:txBody>
                  <a:tcPr marL="97534" marR="97534"/>
                </a:tc>
                <a:tc>
                  <a:txBody>
                    <a:bodyPr/>
                    <a:lstStyle/>
                    <a:p>
                      <a:r>
                        <a:rPr lang="en-US" sz="2000" dirty="0" smtClean="0">
                          <a:latin typeface="+mn-lt"/>
                          <a:ea typeface="+mn-ea"/>
                          <a:cs typeface="+mn-cs"/>
                        </a:rPr>
                        <a:t>Purpose</a:t>
                      </a:r>
                      <a:endParaRPr lang="en-US" sz="2000" dirty="0">
                        <a:latin typeface="Verdana" pitchFamily="34" charset="0"/>
                        <a:ea typeface="Verdana" pitchFamily="34" charset="0"/>
                        <a:cs typeface="Verdana" pitchFamily="34" charset="0"/>
                      </a:endParaRPr>
                    </a:p>
                  </a:txBody>
                  <a:tcPr marL="97534" marR="97534"/>
                </a:tc>
              </a:tr>
              <a:tr h="920274">
                <a:tc>
                  <a:txBody>
                    <a:bodyPr/>
                    <a:lstStyle/>
                    <a:p>
                      <a:pPr marL="0" lvl="1" indent="0">
                        <a:spcBef>
                          <a:spcPct val="20000"/>
                        </a:spcBef>
                        <a:buClr>
                          <a:srgbClr val="004B91"/>
                        </a:buClr>
                        <a:buFont typeface="Arial" pitchFamily="34" charset="0"/>
                        <a:buNone/>
                      </a:pPr>
                      <a:r>
                        <a:rPr lang="en-US" sz="1200" b="1" dirty="0" smtClean="0">
                          <a:solidFill>
                            <a:srgbClr val="000000"/>
                          </a:solidFill>
                          <a:latin typeface="Verdana" pitchFamily="34" charset="0"/>
                          <a:ea typeface="Verdana" pitchFamily="34" charset="0"/>
                          <a:cs typeface="Verdana" pitchFamily="34" charset="0"/>
                        </a:rPr>
                        <a:t>IW28 – Change Notifications: Selection of Notifications</a:t>
                      </a:r>
                      <a:endParaRPr lang="en-US" sz="1200" b="1" dirty="0">
                        <a:solidFill>
                          <a:srgbClr val="000000"/>
                        </a:solidFill>
                        <a:latin typeface="Verdana" pitchFamily="34" charset="0"/>
                        <a:ea typeface="Verdana" pitchFamily="34" charset="0"/>
                        <a:cs typeface="Verdana" pitchFamily="34" charset="0"/>
                      </a:endParaRPr>
                    </a:p>
                  </a:txBody>
                  <a:tcPr marL="97534" marR="97534"/>
                </a:tc>
                <a:tc>
                  <a:txBody>
                    <a:bodyPr/>
                    <a:lstStyle/>
                    <a:p>
                      <a:pPr marL="0" lvl="1" indent="0">
                        <a:spcBef>
                          <a:spcPct val="20000"/>
                        </a:spcBef>
                        <a:buClr>
                          <a:srgbClr val="004B91"/>
                        </a:buClr>
                        <a:buFont typeface="Arial" pitchFamily="34" charset="0"/>
                        <a:buNone/>
                      </a:pPr>
                      <a:r>
                        <a:rPr lang="en-US" sz="1200" dirty="0" smtClean="0">
                          <a:solidFill>
                            <a:srgbClr val="000000"/>
                          </a:solidFill>
                          <a:latin typeface="Verdana" pitchFamily="34" charset="0"/>
                          <a:ea typeface="Verdana" pitchFamily="34" charset="0"/>
                          <a:cs typeface="Verdana" pitchFamily="34" charset="0"/>
                        </a:rPr>
                        <a:t>Displays a list of open or in process notifications</a:t>
                      </a:r>
                      <a:endParaRPr lang="en-US" sz="1200" dirty="0">
                        <a:solidFill>
                          <a:srgbClr val="000000"/>
                        </a:solidFill>
                        <a:latin typeface="Verdana" pitchFamily="34" charset="0"/>
                        <a:ea typeface="Verdana" pitchFamily="34" charset="0"/>
                        <a:cs typeface="Verdana" pitchFamily="34" charset="0"/>
                      </a:endParaRPr>
                    </a:p>
                  </a:txBody>
                  <a:tcPr marL="97534" marR="97534"/>
                </a:tc>
              </a:tr>
              <a:tr h="97964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000000"/>
                          </a:solidFill>
                          <a:latin typeface="Verdana" pitchFamily="34" charset="0"/>
                          <a:ea typeface="Verdana" pitchFamily="34" charset="0"/>
                          <a:cs typeface="Verdana" pitchFamily="34" charset="0"/>
                        </a:rPr>
                        <a:t>IW38 – Change PM orders: Selection of Orders</a:t>
                      </a:r>
                    </a:p>
                    <a:p>
                      <a:endParaRPr lang="en-US" sz="1200"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0000"/>
                          </a:solidFill>
                          <a:latin typeface="Verdana" pitchFamily="34" charset="0"/>
                          <a:ea typeface="Verdana" pitchFamily="34" charset="0"/>
                          <a:cs typeface="Verdana" pitchFamily="34" charset="0"/>
                        </a:rPr>
                        <a:t>Displays a list of open or in process Plant Maintenance orders</a:t>
                      </a:r>
                      <a:endParaRPr lang="en-US" sz="1200" b="1" dirty="0" smtClean="0">
                        <a:solidFill>
                          <a:srgbClr val="C00000"/>
                        </a:solidFill>
                        <a:latin typeface="Verdana" pitchFamily="34" charset="0"/>
                        <a:ea typeface="Verdana" pitchFamily="34" charset="0"/>
                        <a:cs typeface="Verdana" pitchFamily="34" charset="0"/>
                      </a:endParaRPr>
                    </a:p>
                    <a:p>
                      <a:endParaRPr lang="en-US" sz="1200" dirty="0">
                        <a:solidFill>
                          <a:schemeClr val="accent4">
                            <a:lumMod val="10000"/>
                          </a:schemeClr>
                        </a:solidFill>
                        <a:latin typeface="Verdana" pitchFamily="34" charset="0"/>
                        <a:ea typeface="Verdana" pitchFamily="34" charset="0"/>
                        <a:cs typeface="Verdana" pitchFamily="34" charset="0"/>
                      </a:endParaRPr>
                    </a:p>
                  </a:txBody>
                  <a:tcPr marL="97534" marR="97534"/>
                </a:tc>
              </a:tr>
              <a:tr h="139525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000000"/>
                          </a:solidFill>
                          <a:latin typeface="Verdana" pitchFamily="34" charset="0"/>
                          <a:ea typeface="Verdana" pitchFamily="34" charset="0"/>
                          <a:cs typeface="Verdana" pitchFamily="34" charset="0"/>
                        </a:rPr>
                        <a:t>IW58 – Change Service Notifications: Selection of Notifications</a:t>
                      </a:r>
                    </a:p>
                    <a:p>
                      <a:endParaRPr lang="en-US" sz="1200"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0000"/>
                          </a:solidFill>
                          <a:latin typeface="Verdana" pitchFamily="34" charset="0"/>
                          <a:ea typeface="Verdana" pitchFamily="34" charset="0"/>
                          <a:cs typeface="Verdana" pitchFamily="34" charset="0"/>
                        </a:rPr>
                        <a:t>Displays a list of open or in process service notifications</a:t>
                      </a:r>
                    </a:p>
                    <a:p>
                      <a:endParaRPr lang="en-US" sz="1200" dirty="0">
                        <a:solidFill>
                          <a:schemeClr val="accent4">
                            <a:lumMod val="10000"/>
                          </a:schemeClr>
                        </a:solidFill>
                        <a:latin typeface="Verdana" pitchFamily="34" charset="0"/>
                        <a:ea typeface="Verdana" pitchFamily="34" charset="0"/>
                        <a:cs typeface="Verdana" pitchFamily="34" charset="0"/>
                      </a:endParaRPr>
                    </a:p>
                  </a:txBody>
                  <a:tcPr marL="97534" marR="97534"/>
                </a:tc>
              </a:tr>
              <a:tr h="97964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000000"/>
                          </a:solidFill>
                          <a:latin typeface="Verdana" pitchFamily="34" charset="0"/>
                          <a:ea typeface="Verdana" pitchFamily="34" charset="0"/>
                          <a:cs typeface="Verdana" pitchFamily="34" charset="0"/>
                        </a:rPr>
                        <a:t>IW72 – Change Service Order: Selection of Orders</a:t>
                      </a:r>
                    </a:p>
                    <a:p>
                      <a:endParaRPr lang="en-US" sz="1200"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0000"/>
                          </a:solidFill>
                          <a:latin typeface="Verdana" pitchFamily="34" charset="0"/>
                          <a:ea typeface="Verdana" pitchFamily="34" charset="0"/>
                          <a:cs typeface="Verdana" pitchFamily="34" charset="0"/>
                        </a:rPr>
                        <a:t>Displays a list of open or in process service orders</a:t>
                      </a:r>
                    </a:p>
                    <a:p>
                      <a:endParaRPr lang="en-US" sz="1200" dirty="0">
                        <a:solidFill>
                          <a:schemeClr val="accent4">
                            <a:lumMod val="10000"/>
                          </a:schemeClr>
                        </a:solidFill>
                        <a:latin typeface="Verdana" pitchFamily="34" charset="0"/>
                        <a:ea typeface="Verdana" pitchFamily="34" charset="0"/>
                        <a:cs typeface="Verdana" pitchFamily="34" charset="0"/>
                      </a:endParaRPr>
                    </a:p>
                  </a:txBody>
                  <a:tcPr marL="97534" marR="97534"/>
                </a:tc>
              </a:tr>
              <a:tr h="103901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000000"/>
                          </a:solidFill>
                          <a:latin typeface="Verdana" pitchFamily="34" charset="0"/>
                          <a:ea typeface="Verdana" pitchFamily="34" charset="0"/>
                          <a:cs typeface="Verdana" pitchFamily="34" charset="0"/>
                        </a:rPr>
                        <a:t>IW37N – Change Orders and Operations: Selection of Orders and Operations</a:t>
                      </a:r>
                      <a:endParaRPr lang="da-DK" sz="1200" b="1" dirty="0" smtClean="0">
                        <a:solidFill>
                          <a:srgbClr val="C00000"/>
                        </a:solidFill>
                        <a:latin typeface="Verdana" pitchFamily="34" charset="0"/>
                        <a:ea typeface="Verdana" pitchFamily="34" charset="0"/>
                        <a:cs typeface="Verdana" pitchFamily="34" charset="0"/>
                      </a:endParaRPr>
                    </a:p>
                    <a:p>
                      <a:endParaRPr lang="en-US" sz="1200"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0000"/>
                          </a:solidFill>
                          <a:latin typeface="Verdana" pitchFamily="34" charset="0"/>
                          <a:ea typeface="Verdana" pitchFamily="34" charset="0"/>
                          <a:cs typeface="Verdana" pitchFamily="34" charset="0"/>
                        </a:rPr>
                        <a:t>Display a list of open or in process orders and operations</a:t>
                      </a:r>
                    </a:p>
                    <a:p>
                      <a:endParaRPr lang="en-US" sz="1200" dirty="0">
                        <a:solidFill>
                          <a:schemeClr val="accent4">
                            <a:lumMod val="10000"/>
                          </a:schemeClr>
                        </a:solidFill>
                        <a:latin typeface="Verdana" pitchFamily="34" charset="0"/>
                        <a:ea typeface="Verdana" pitchFamily="34" charset="0"/>
                        <a:cs typeface="Verdana" pitchFamily="34" charset="0"/>
                      </a:endParaRPr>
                    </a:p>
                  </a:txBody>
                  <a:tcPr marL="97534" marR="97534"/>
                </a:tc>
              </a:tr>
            </a:tbl>
          </a:graphicData>
        </a:graphic>
      </p:graphicFrame>
      <p:sp>
        <p:nvSpPr>
          <p:cNvPr id="5"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110</a:t>
            </a:fld>
            <a:endParaRPr lang="en-US" sz="1400" dirty="0">
              <a:solidFill>
                <a:schemeClr val="bg2"/>
              </a:solidFill>
            </a:endParaRPr>
          </a:p>
        </p:txBody>
      </p:sp>
    </p:spTree>
    <p:extLst>
      <p:ext uri="{BB962C8B-B14F-4D97-AF65-F5344CB8AC3E}">
        <p14:creationId xmlns:p14="http://schemas.microsoft.com/office/powerpoint/2010/main" val="157188618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19200"/>
            <a:ext cx="5286375"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Displaying Notifications Report</a:t>
            </a:r>
            <a:endParaRPr lang="en-US" dirty="0"/>
          </a:p>
        </p:txBody>
      </p:sp>
      <p:sp>
        <p:nvSpPr>
          <p:cNvPr id="27" name="Text Box 20"/>
          <p:cNvSpPr txBox="1">
            <a:spLocks noChangeArrowheads="1"/>
          </p:cNvSpPr>
          <p:nvPr/>
        </p:nvSpPr>
        <p:spPr bwMode="auto">
          <a:xfrm>
            <a:off x="1143000" y="4489609"/>
            <a:ext cx="2819400" cy="2215991"/>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Transaction IW28 used to display notifications.</a:t>
            </a:r>
          </a:p>
          <a:p>
            <a:endParaRPr lang="en-US" dirty="0"/>
          </a:p>
          <a:p>
            <a:r>
              <a:rPr lang="en-US" dirty="0" smtClean="0"/>
              <a:t>Report results after initiating the transaction. Double click a line to display detailed information on the order.</a:t>
            </a:r>
            <a:endParaRPr lang="en-US" dirty="0"/>
          </a:p>
        </p:txBody>
      </p:sp>
      <p:grpSp>
        <p:nvGrpSpPr>
          <p:cNvPr id="28" name="Group 24"/>
          <p:cNvGrpSpPr>
            <a:grpSpLocks/>
          </p:cNvGrpSpPr>
          <p:nvPr/>
        </p:nvGrpSpPr>
        <p:grpSpPr bwMode="auto">
          <a:xfrm>
            <a:off x="749300" y="5732462"/>
            <a:ext cx="393700" cy="363538"/>
            <a:chOff x="4976" y="624"/>
            <a:chExt cx="200" cy="176"/>
          </a:xfrm>
        </p:grpSpPr>
        <p:sp>
          <p:nvSpPr>
            <p:cNvPr id="29"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0"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31" name="Group 30"/>
          <p:cNvGrpSpPr>
            <a:grpSpLocks/>
          </p:cNvGrpSpPr>
          <p:nvPr/>
        </p:nvGrpSpPr>
        <p:grpSpPr bwMode="auto">
          <a:xfrm>
            <a:off x="749300" y="4894262"/>
            <a:ext cx="393700" cy="363538"/>
            <a:chOff x="4976" y="624"/>
            <a:chExt cx="200" cy="176"/>
          </a:xfrm>
        </p:grpSpPr>
        <p:sp>
          <p:nvSpPr>
            <p:cNvPr id="32" name="Oval 31"/>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3"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grpSp>
        <p:nvGrpSpPr>
          <p:cNvPr id="34" name="Group 24"/>
          <p:cNvGrpSpPr>
            <a:grpSpLocks/>
          </p:cNvGrpSpPr>
          <p:nvPr/>
        </p:nvGrpSpPr>
        <p:grpSpPr bwMode="auto">
          <a:xfrm>
            <a:off x="7454900" y="2057400"/>
            <a:ext cx="393700" cy="363538"/>
            <a:chOff x="4976" y="624"/>
            <a:chExt cx="200" cy="176"/>
          </a:xfrm>
        </p:grpSpPr>
        <p:sp>
          <p:nvSpPr>
            <p:cNvPr id="35"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6"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grpSp>
        <p:nvGrpSpPr>
          <p:cNvPr id="37" name="Group 36"/>
          <p:cNvGrpSpPr>
            <a:grpSpLocks/>
          </p:cNvGrpSpPr>
          <p:nvPr/>
        </p:nvGrpSpPr>
        <p:grpSpPr bwMode="auto">
          <a:xfrm>
            <a:off x="5105400" y="990600"/>
            <a:ext cx="393700" cy="363538"/>
            <a:chOff x="4976" y="624"/>
            <a:chExt cx="200" cy="176"/>
          </a:xfrm>
        </p:grpSpPr>
        <p:sp>
          <p:nvSpPr>
            <p:cNvPr id="38" name="Oval 37"/>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1</a:t>
              </a:r>
            </a:p>
          </p:txBody>
        </p:sp>
      </p:gr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3350" y="2490139"/>
            <a:ext cx="5048250" cy="345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111</a:t>
            </a:fld>
            <a:endParaRPr lang="en-US" sz="1400" dirty="0">
              <a:solidFill>
                <a:schemeClr val="bg2"/>
              </a:solidFill>
            </a:endParaRPr>
          </a:p>
        </p:txBody>
      </p:sp>
    </p:spTree>
    <p:extLst>
      <p:ext uri="{BB962C8B-B14F-4D97-AF65-F5344CB8AC3E}">
        <p14:creationId xmlns:p14="http://schemas.microsoft.com/office/powerpoint/2010/main" val="720741520"/>
      </p:ext>
    </p:extLst>
  </p:cSld>
  <p:clrMapOvr>
    <a:masterClrMapping/>
  </p:clrMapOvr>
  <p:transition>
    <p:fade thruBlk="1"/>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Generate a Notifications Report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Notifications: Selection of Notifications</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IW28</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Plant Maintenance &gt;</a:t>
            </a:r>
            <a:br>
              <a:rPr lang="en-US" dirty="0" smtClean="0"/>
            </a:br>
            <a:r>
              <a:rPr lang="en-US" dirty="0" smtClean="0"/>
              <a:t>Maintenance </a:t>
            </a:r>
            <a:r>
              <a:rPr lang="en-US" dirty="0"/>
              <a:t>Processing &gt; </a:t>
            </a:r>
            <a:r>
              <a:rPr lang="en-US" dirty="0" smtClean="0"/>
              <a:t>Notification &gt;                                         List Editing &gt; Change </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107</a:t>
            </a:r>
            <a:endParaRPr lang="en-US" sz="1400" dirty="0">
              <a:solidFill>
                <a:schemeClr val="bg2"/>
              </a:solidFill>
            </a:endParaRPr>
          </a:p>
        </p:txBody>
      </p:sp>
    </p:spTree>
    <p:extLst>
      <p:ext uri="{BB962C8B-B14F-4D97-AF65-F5344CB8AC3E}">
        <p14:creationId xmlns:p14="http://schemas.microsoft.com/office/powerpoint/2010/main" val="21129122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t>
            </a:r>
          </a:p>
          <a:p>
            <a:endParaRPr lang="en-US" b="1" dirty="0" smtClean="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You have logged on to SAP. You need to generate a report that displays “outstanding” and “in process” notifications</a:t>
            </a:r>
            <a:endParaRPr lang="en-US" b="1" dirty="0">
              <a:solidFill>
                <a:schemeClr val="accent4">
                  <a:lumMod val="10000"/>
                </a:schemeClr>
              </a:solidFill>
            </a:endParaRPr>
          </a:p>
          <a:p>
            <a:pPr marL="342900" indent="-342900">
              <a:buFont typeface="Arial" pitchFamily="34" charset="0"/>
              <a:buChar char="•"/>
            </a:pPr>
            <a:endParaRPr lang="en-US" b="1" dirty="0" smtClean="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Find and display the details for an “in process” notification for a water leak</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940959" y="3795252"/>
            <a:ext cx="2011311" cy="2681748"/>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r>
              <a:rPr lang="en-US" sz="2000" b="1" dirty="0">
                <a:solidFill>
                  <a:srgbClr val="DADADA">
                    <a:lumMod val="10000"/>
                  </a:srgbClr>
                </a:solidFill>
                <a:latin typeface="Verdana" pitchFamily="34" charset="0"/>
                <a:ea typeface="Verdana" pitchFamily="34" charset="0"/>
                <a:cs typeface="Verdana" pitchFamily="34" charset="0"/>
              </a:rPr>
              <a:t>Exercise: 6</a:t>
            </a:r>
            <a:r>
              <a:rPr lang="en-US" sz="2000" b="1" dirty="0" smtClean="0">
                <a:solidFill>
                  <a:srgbClr val="DADADA">
                    <a:lumMod val="10000"/>
                  </a:srgbClr>
                </a:solidFill>
                <a:latin typeface="Verdana" pitchFamily="34" charset="0"/>
                <a:ea typeface="Verdana" pitchFamily="34" charset="0"/>
                <a:cs typeface="Verdana" pitchFamily="34" charset="0"/>
              </a:rPr>
              <a:t>.1 Generate a notifications report </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113</a:t>
            </a:fld>
            <a:endParaRPr lang="en-US" sz="1400" dirty="0">
              <a:solidFill>
                <a:schemeClr val="bg2"/>
              </a:solidFill>
            </a:endParaRPr>
          </a:p>
        </p:txBody>
      </p:sp>
    </p:spTree>
    <p:extLst>
      <p:ext uri="{BB962C8B-B14F-4D97-AF65-F5344CB8AC3E}">
        <p14:creationId xmlns:p14="http://schemas.microsoft.com/office/powerpoint/2010/main" val="1285083052"/>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Content Placeholder 3"/>
          <p:cNvSpPr>
            <a:spLocks noGrp="1"/>
          </p:cNvSpPr>
          <p:nvPr>
            <p:ph idx="1"/>
          </p:nvPr>
        </p:nvSpPr>
        <p:spPr/>
        <p:txBody>
          <a:bodyPr/>
          <a:lstStyle/>
          <a:p>
            <a:pPr defTabSz="687388"/>
            <a:r>
              <a:rPr lang="en-US" sz="1800" b="1" dirty="0"/>
              <a:t>Activity Name: </a:t>
            </a:r>
            <a:r>
              <a:rPr lang="en-US" sz="1800" dirty="0" smtClean="0"/>
              <a:t>Generate a Service Order Report</a:t>
            </a:r>
            <a:endParaRPr lang="en-US" sz="1800" dirty="0"/>
          </a:p>
          <a:p>
            <a:pPr defTabSz="687388"/>
            <a:endParaRPr lang="en-US" sz="1800" dirty="0"/>
          </a:p>
          <a:p>
            <a:pPr defTabSz="687388"/>
            <a:r>
              <a:rPr lang="en-US" sz="1800" b="1" dirty="0"/>
              <a:t>Transaction Name:</a:t>
            </a:r>
          </a:p>
          <a:p>
            <a:pPr marL="857250" lvl="1" indent="-342900" defTabSz="687388">
              <a:buClr>
                <a:schemeClr val="accent1"/>
              </a:buClr>
            </a:pPr>
            <a:r>
              <a:rPr lang="en-US" sz="1800" dirty="0" smtClean="0"/>
              <a:t>Change Service Order: Selection of Orders</a:t>
            </a:r>
            <a:endParaRPr lang="en-US" sz="1800" dirty="0"/>
          </a:p>
          <a:p>
            <a:pPr marL="857250" lvl="1" indent="-342900" defTabSz="687388"/>
            <a:endParaRPr lang="en-US" sz="1800" dirty="0"/>
          </a:p>
          <a:p>
            <a:pPr marL="0" lvl="1" indent="0" defTabSz="687388">
              <a:buNone/>
            </a:pPr>
            <a:r>
              <a:rPr lang="en-US" sz="1800" b="1" dirty="0"/>
              <a:t>Transaction Code:</a:t>
            </a:r>
          </a:p>
          <a:p>
            <a:pPr marL="857250" lvl="1" indent="-342900" defTabSz="687388">
              <a:buClr>
                <a:schemeClr val="accent1"/>
              </a:buClr>
            </a:pPr>
            <a:r>
              <a:rPr lang="en-US" sz="1800" dirty="0" smtClean="0"/>
              <a:t>IW72</a:t>
            </a:r>
            <a:endParaRPr lang="en-US" sz="1800" dirty="0"/>
          </a:p>
          <a:p>
            <a:pPr marL="857250" lvl="1" indent="-342900" defTabSz="687388"/>
            <a:endParaRPr lang="en-US" sz="1800" dirty="0"/>
          </a:p>
          <a:p>
            <a:pPr marL="0" lvl="1" indent="0" defTabSz="687388">
              <a:buNone/>
            </a:pPr>
            <a:r>
              <a:rPr lang="en-US" sz="1800" b="1" dirty="0"/>
              <a:t>Path:</a:t>
            </a:r>
          </a:p>
          <a:p>
            <a:pPr marL="858838" lvl="3" indent="-285750" defTabSz="687388">
              <a:buClr>
                <a:schemeClr val="accent1"/>
              </a:buClr>
            </a:pPr>
            <a:r>
              <a:rPr lang="en-US" dirty="0" smtClean="0"/>
              <a:t>Logistics &gt; Customer Service &gt;</a:t>
            </a:r>
            <a:br>
              <a:rPr lang="en-US" dirty="0" smtClean="0"/>
            </a:br>
            <a:r>
              <a:rPr lang="en-US" dirty="0" smtClean="0"/>
              <a:t>Service </a:t>
            </a:r>
            <a:r>
              <a:rPr lang="en-US" dirty="0"/>
              <a:t>Processing &gt; </a:t>
            </a:r>
            <a:r>
              <a:rPr lang="en-US" dirty="0" smtClean="0"/>
              <a:t>History &gt;                                            Order List &gt; Change </a:t>
            </a:r>
          </a:p>
          <a:p>
            <a:endParaRPr lang="en-US" dirty="0"/>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6150167" y="4332380"/>
            <a:ext cx="2993833" cy="2525620"/>
          </a:xfrm>
          <a:prstGeom prst="rect">
            <a:avLst/>
          </a:prstGeom>
          <a:noFill/>
        </p:spPr>
      </p:pic>
      <p:sp>
        <p:nvSpPr>
          <p:cNvPr id="8"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109</a:t>
            </a:r>
            <a:endParaRPr lang="en-US" sz="1400" dirty="0">
              <a:solidFill>
                <a:schemeClr val="bg2"/>
              </a:solidFill>
            </a:endParaRPr>
          </a:p>
        </p:txBody>
      </p:sp>
    </p:spTree>
    <p:extLst>
      <p:ext uri="{BB962C8B-B14F-4D97-AF65-F5344CB8AC3E}">
        <p14:creationId xmlns:p14="http://schemas.microsoft.com/office/powerpoint/2010/main" val="1140646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1143001"/>
            <a:ext cx="8537575" cy="4572000"/>
          </a:xfrm>
        </p:spPr>
        <p:txBody>
          <a:bodyPr/>
          <a:lstStyle/>
          <a:p>
            <a:r>
              <a:rPr lang="en-US" b="1" dirty="0" smtClean="0">
                <a:solidFill>
                  <a:schemeClr val="accent4">
                    <a:lumMod val="10000"/>
                  </a:schemeClr>
                </a:solidFill>
              </a:rPr>
              <a:t>Scenario: </a:t>
            </a:r>
          </a:p>
          <a:p>
            <a:endParaRPr lang="en-US" b="1" dirty="0">
              <a:solidFill>
                <a:schemeClr val="accent4">
                  <a:lumMod val="10000"/>
                </a:schemeClr>
              </a:solidFill>
            </a:endParaRPr>
          </a:p>
          <a:p>
            <a:pPr marL="342900" indent="-342900">
              <a:buFont typeface="Arial" pitchFamily="34" charset="0"/>
              <a:buChar char="•"/>
            </a:pPr>
            <a:r>
              <a:rPr lang="en-US" b="1" dirty="0">
                <a:solidFill>
                  <a:schemeClr val="accent4">
                    <a:lumMod val="10000"/>
                  </a:schemeClr>
                </a:solidFill>
              </a:rPr>
              <a:t>You have logged on to SAP. You need to generate a report that displays “outstanding” and “in process” </a:t>
            </a:r>
            <a:r>
              <a:rPr lang="en-US" b="1" dirty="0" smtClean="0">
                <a:solidFill>
                  <a:schemeClr val="accent4">
                    <a:lumMod val="10000"/>
                  </a:schemeClr>
                </a:solidFill>
              </a:rPr>
              <a:t>service orders</a:t>
            </a:r>
            <a:endParaRPr lang="en-US" b="1" dirty="0">
              <a:solidFill>
                <a:schemeClr val="accent4">
                  <a:lumMod val="10000"/>
                </a:schemeClr>
              </a:solidFill>
            </a:endParaRPr>
          </a:p>
          <a:p>
            <a:pPr marL="342900" indent="-342900">
              <a:buFont typeface="Arial" pitchFamily="34" charset="0"/>
              <a:buChar char="•"/>
            </a:pPr>
            <a:endParaRPr lang="en-US" b="1" dirty="0" smtClean="0">
              <a:solidFill>
                <a:schemeClr val="accent4">
                  <a:lumMod val="10000"/>
                </a:schemeClr>
              </a:solidFill>
            </a:endParaRPr>
          </a:p>
          <a:p>
            <a:pPr marL="342900" indent="-342900">
              <a:buFont typeface="Arial" pitchFamily="34" charset="0"/>
              <a:buChar char="•"/>
            </a:pPr>
            <a:r>
              <a:rPr lang="en-US" b="1" dirty="0" smtClean="0">
                <a:solidFill>
                  <a:schemeClr val="accent4">
                    <a:lumMod val="10000"/>
                  </a:schemeClr>
                </a:solidFill>
              </a:rPr>
              <a:t>Find and display the details for an “outstanding” service order for a water main break.</a:t>
            </a:r>
            <a:endParaRPr lang="en-US" b="1" dirty="0">
              <a:solidFill>
                <a:schemeClr val="accent4">
                  <a:lumMod val="10000"/>
                </a:schemeClr>
              </a:solidFill>
            </a:endParaRPr>
          </a:p>
        </p:txBody>
      </p:sp>
      <p:pic>
        <p:nvPicPr>
          <p:cNvPr id="6" name="Picture 2" descr="C:\Users\namudaliar\Documents\Narayanan\Ball Corp\Images\shutterstock_50629798.jpg"/>
          <p:cNvPicPr>
            <a:picLocks noChangeAspect="1" noChangeArrowheads="1"/>
          </p:cNvPicPr>
          <p:nvPr/>
        </p:nvPicPr>
        <p:blipFill>
          <a:blip r:embed="rId2" cstate="print"/>
          <a:srcRect/>
          <a:stretch>
            <a:fillRect/>
          </a:stretch>
        </p:blipFill>
        <p:spPr bwMode="auto">
          <a:xfrm>
            <a:off x="6837720" y="3733800"/>
            <a:ext cx="2114550" cy="2819400"/>
          </a:xfrm>
          <a:prstGeom prst="rect">
            <a:avLst/>
          </a:prstGeom>
          <a:noFill/>
        </p:spPr>
      </p:pic>
      <p:sp>
        <p:nvSpPr>
          <p:cNvPr id="5" name="TextBox 4"/>
          <p:cNvSpPr txBox="1"/>
          <p:nvPr/>
        </p:nvSpPr>
        <p:spPr>
          <a:xfrm>
            <a:off x="228600" y="5848290"/>
            <a:ext cx="6781800" cy="400110"/>
          </a:xfrm>
          <a:prstGeom prst="rect">
            <a:avLst/>
          </a:prstGeom>
          <a:noFill/>
        </p:spPr>
        <p:txBody>
          <a:bodyPr wrap="square" rtlCol="0">
            <a:spAutoFit/>
          </a:bodyPr>
          <a:lstStyle/>
          <a:p>
            <a:r>
              <a:rPr lang="en-US" sz="2000" b="1" dirty="0">
                <a:solidFill>
                  <a:srgbClr val="DADADA">
                    <a:lumMod val="10000"/>
                  </a:srgbClr>
                </a:solidFill>
                <a:latin typeface="Verdana" pitchFamily="34" charset="0"/>
                <a:ea typeface="Verdana" pitchFamily="34" charset="0"/>
                <a:cs typeface="Verdana" pitchFamily="34" charset="0"/>
              </a:rPr>
              <a:t>Exercise: 6</a:t>
            </a:r>
            <a:r>
              <a:rPr lang="en-US" sz="2000" b="1" dirty="0" smtClean="0">
                <a:solidFill>
                  <a:srgbClr val="DADADA">
                    <a:lumMod val="10000"/>
                  </a:srgbClr>
                </a:solidFill>
                <a:latin typeface="Verdana" pitchFamily="34" charset="0"/>
                <a:ea typeface="Verdana" pitchFamily="34" charset="0"/>
                <a:cs typeface="Verdana" pitchFamily="34" charset="0"/>
              </a:rPr>
              <a:t>.2 Generate service order report </a:t>
            </a:r>
            <a:endParaRPr lang="en-US" sz="2000" b="1" dirty="0">
              <a:solidFill>
                <a:srgbClr val="DADADA">
                  <a:lumMod val="10000"/>
                </a:srgbClr>
              </a:solidFill>
              <a:latin typeface="Verdana" pitchFamily="34" charset="0"/>
              <a:ea typeface="Verdana" pitchFamily="34" charset="0"/>
              <a:cs typeface="Verdana" pitchFamily="34"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115</a:t>
            </a:fld>
            <a:endParaRPr lang="en-US" sz="1400" dirty="0">
              <a:solidFill>
                <a:schemeClr val="bg2"/>
              </a:solidFill>
            </a:endParaRPr>
          </a:p>
        </p:txBody>
      </p:sp>
    </p:spTree>
    <p:extLst>
      <p:ext uri="{BB962C8B-B14F-4D97-AF65-F5344CB8AC3E}">
        <p14:creationId xmlns:p14="http://schemas.microsoft.com/office/powerpoint/2010/main" val="361427061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 Selection Criteria</a:t>
            </a:r>
            <a:endParaRPr lang="en-US" dirty="0"/>
          </a:p>
        </p:txBody>
      </p:sp>
      <p:sp>
        <p:nvSpPr>
          <p:cNvPr id="3" name="Content Placeholder 2"/>
          <p:cNvSpPr>
            <a:spLocks noGrp="1"/>
          </p:cNvSpPr>
          <p:nvPr>
            <p:ph idx="1"/>
          </p:nvPr>
        </p:nvSpPr>
        <p:spPr>
          <a:xfrm>
            <a:off x="301625" y="1066800"/>
            <a:ext cx="8537575" cy="4983163"/>
          </a:xfrm>
        </p:spPr>
        <p:txBody>
          <a:bodyPr/>
          <a:lstStyle/>
          <a:p>
            <a:r>
              <a:rPr lang="en-US" dirty="0">
                <a:solidFill>
                  <a:schemeClr val="accent3">
                    <a:lumMod val="10000"/>
                  </a:schemeClr>
                </a:solidFill>
              </a:rPr>
              <a:t>Once you select the report that you want to run, </a:t>
            </a:r>
            <a:r>
              <a:rPr lang="en-US" dirty="0" smtClean="0">
                <a:solidFill>
                  <a:schemeClr val="accent3">
                    <a:lumMod val="10000"/>
                  </a:schemeClr>
                </a:solidFill>
              </a:rPr>
              <a:t>you </a:t>
            </a:r>
            <a:r>
              <a:rPr lang="en-US" dirty="0">
                <a:solidFill>
                  <a:schemeClr val="accent3">
                    <a:lumMod val="10000"/>
                  </a:schemeClr>
                </a:solidFill>
              </a:rPr>
              <a:t>need to define the type and amount of information you want to be displayed in the report:</a:t>
            </a:r>
          </a:p>
          <a:p>
            <a:pPr lvl="1"/>
            <a:r>
              <a:rPr lang="en-US" b="1" dirty="0">
                <a:solidFill>
                  <a:schemeClr val="accent3">
                    <a:lumMod val="10000"/>
                  </a:schemeClr>
                </a:solidFill>
              </a:rPr>
              <a:t>Selection criteria</a:t>
            </a:r>
            <a:r>
              <a:rPr lang="en-US" dirty="0">
                <a:solidFill>
                  <a:schemeClr val="accent3">
                    <a:lumMod val="10000"/>
                  </a:schemeClr>
                </a:solidFill>
              </a:rPr>
              <a:t> are fields that you can use to enter values for retrieving data for the report</a:t>
            </a:r>
          </a:p>
          <a:p>
            <a:pPr lvl="1"/>
            <a:r>
              <a:rPr lang="en-US" dirty="0">
                <a:solidFill>
                  <a:schemeClr val="accent3">
                    <a:lumMod val="10000"/>
                  </a:schemeClr>
                </a:solidFill>
              </a:rPr>
              <a:t>Selection criteria </a:t>
            </a:r>
            <a:r>
              <a:rPr lang="en-US" dirty="0" smtClean="0">
                <a:solidFill>
                  <a:schemeClr val="accent3">
                    <a:lumMod val="10000"/>
                  </a:schemeClr>
                </a:solidFill>
              </a:rPr>
              <a:t>fields </a:t>
            </a:r>
            <a:r>
              <a:rPr lang="en-US" dirty="0">
                <a:solidFill>
                  <a:schemeClr val="accent3">
                    <a:lumMod val="10000"/>
                  </a:schemeClr>
                </a:solidFill>
              </a:rPr>
              <a:t>vary depending upon the report you select</a:t>
            </a:r>
          </a:p>
          <a:p>
            <a:pPr lvl="1"/>
            <a:r>
              <a:rPr lang="en-US" dirty="0">
                <a:solidFill>
                  <a:schemeClr val="accent3">
                    <a:lumMod val="10000"/>
                  </a:schemeClr>
                </a:solidFill>
              </a:rPr>
              <a:t>Only data that matches the selection criteria </a:t>
            </a:r>
            <a:r>
              <a:rPr lang="en-US" dirty="0" smtClean="0">
                <a:solidFill>
                  <a:schemeClr val="accent3">
                    <a:lumMod val="10000"/>
                  </a:schemeClr>
                </a:solidFill>
              </a:rPr>
              <a:t>are displayed </a:t>
            </a:r>
            <a:r>
              <a:rPr lang="en-US" dirty="0">
                <a:solidFill>
                  <a:schemeClr val="accent3">
                    <a:lumMod val="10000"/>
                  </a:schemeClr>
                </a:solidFill>
              </a:rPr>
              <a:t>in the report</a:t>
            </a:r>
          </a:p>
          <a:p>
            <a:endParaRPr lang="en-US" i="1" dirty="0">
              <a:solidFill>
                <a:schemeClr val="accent3">
                  <a:lumMod val="10000"/>
                </a:schemeClr>
              </a:solidFill>
            </a:endParaRPr>
          </a:p>
          <a:p>
            <a:endParaRPr lang="en-US" dirty="0">
              <a:solidFill>
                <a:schemeClr val="accent3">
                  <a:lumMod val="10000"/>
                </a:schemeClr>
              </a:solidFill>
            </a:endParaRPr>
          </a:p>
        </p:txBody>
      </p:sp>
      <p:sp>
        <p:nvSpPr>
          <p:cNvPr id="5" name="Text Box 26"/>
          <p:cNvSpPr txBox="1">
            <a:spLocks noChangeArrowheads="1"/>
          </p:cNvSpPr>
          <p:nvPr/>
        </p:nvSpPr>
        <p:spPr bwMode="auto">
          <a:xfrm>
            <a:off x="685800" y="5876092"/>
            <a:ext cx="7696200" cy="707886"/>
          </a:xfrm>
          <a:prstGeom prst="rect">
            <a:avLst/>
          </a:prstGeom>
          <a:solidFill>
            <a:srgbClr val="002E6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eaLnBrk="1" hangingPunct="1">
              <a:spcBef>
                <a:spcPct val="50000"/>
              </a:spcBef>
            </a:pPr>
            <a:r>
              <a:rPr lang="en-US" sz="2000" dirty="0" smtClean="0">
                <a:solidFill>
                  <a:schemeClr val="tx1"/>
                </a:solidFill>
                <a:latin typeface="Verdana" pitchFamily="34" charset="0"/>
                <a:ea typeface="Verdana" pitchFamily="34" charset="0"/>
                <a:cs typeface="Verdana" pitchFamily="34" charset="0"/>
              </a:rPr>
              <a:t>Selection criteria field options change depending on the report you are generating</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191000"/>
            <a:ext cx="7239000" cy="1666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116</a:t>
            </a:fld>
            <a:endParaRPr lang="en-US" sz="1400" dirty="0">
              <a:solidFill>
                <a:schemeClr val="bg2"/>
              </a:solidFill>
            </a:endParaRPr>
          </a:p>
        </p:txBody>
      </p:sp>
    </p:spTree>
    <p:extLst>
      <p:ext uri="{BB962C8B-B14F-4D97-AF65-F5344CB8AC3E}">
        <p14:creationId xmlns:p14="http://schemas.microsoft.com/office/powerpoint/2010/main" val="2908629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81200"/>
            <a:ext cx="7239000" cy="1666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smtClean="0"/>
              <a:t>Using the Multiple Selection Option</a:t>
            </a:r>
            <a:endParaRPr lang="en-US" dirty="0"/>
          </a:p>
        </p:txBody>
      </p:sp>
      <p:sp>
        <p:nvSpPr>
          <p:cNvPr id="4" name="Content Placeholder 3"/>
          <p:cNvSpPr>
            <a:spLocks noGrp="1"/>
          </p:cNvSpPr>
          <p:nvPr>
            <p:ph idx="1"/>
          </p:nvPr>
        </p:nvSpPr>
        <p:spPr>
          <a:xfrm>
            <a:off x="301625" y="990600"/>
            <a:ext cx="8537575" cy="5135563"/>
          </a:xfrm>
        </p:spPr>
        <p:txBody>
          <a:bodyPr/>
          <a:lstStyle/>
          <a:p>
            <a:r>
              <a:rPr lang="en-US" dirty="0">
                <a:solidFill>
                  <a:schemeClr val="accent4">
                    <a:lumMod val="10000"/>
                  </a:schemeClr>
                </a:solidFill>
              </a:rPr>
              <a:t>One of the reporting tools used to produce very specific report results is the </a:t>
            </a:r>
            <a:r>
              <a:rPr lang="en-US" b="1" dirty="0">
                <a:solidFill>
                  <a:schemeClr val="accent4">
                    <a:lumMod val="10000"/>
                  </a:schemeClr>
                </a:solidFill>
              </a:rPr>
              <a:t>Multiple Selection</a:t>
            </a:r>
            <a:r>
              <a:rPr lang="en-US" dirty="0">
                <a:solidFill>
                  <a:schemeClr val="accent4">
                    <a:lumMod val="10000"/>
                  </a:schemeClr>
                </a:solidFill>
              </a:rPr>
              <a:t>     </a:t>
            </a:r>
            <a:r>
              <a:rPr lang="en-US" dirty="0" smtClean="0">
                <a:solidFill>
                  <a:schemeClr val="accent4">
                    <a:lumMod val="10000"/>
                  </a:schemeClr>
                </a:solidFill>
              </a:rPr>
              <a:t>button.</a:t>
            </a:r>
            <a:endParaRPr lang="en-US" dirty="0">
              <a:solidFill>
                <a:schemeClr val="accent4">
                  <a:lumMod val="10000"/>
                </a:schemeClr>
              </a:solidFill>
            </a:endParaRPr>
          </a:p>
          <a:p>
            <a:endParaRPr lang="en-US" dirty="0">
              <a:solidFill>
                <a:schemeClr val="accent4">
                  <a:lumMod val="10000"/>
                </a:schemeClr>
              </a:solidFill>
            </a:endParaRPr>
          </a:p>
        </p:txBody>
      </p:sp>
      <p:sp>
        <p:nvSpPr>
          <p:cNvPr id="2" name="Slide Number Placeholder 1"/>
          <p:cNvSpPr>
            <a:spLocks noGrp="1"/>
          </p:cNvSpPr>
          <p:nvPr>
            <p:ph type="sldNum" sz="quarter" idx="10"/>
          </p:nvPr>
        </p:nvSpPr>
        <p:spPr/>
        <p:txBody>
          <a:bodyPr/>
          <a:lstStyle/>
          <a:p>
            <a:pPr>
              <a:defRPr/>
            </a:pPr>
            <a:fld id="{94BD25D2-E3C8-485E-BFD9-CCB34FCC7F99}" type="slidenum">
              <a:rPr lang="en-US" altLang="en-US" smtClean="0"/>
              <a:pPr>
                <a:defRPr/>
              </a:pPr>
              <a:t>117</a:t>
            </a:fld>
            <a:endParaRPr lang="en-US" alt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395412"/>
            <a:ext cx="376238" cy="20478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bwMode="auto">
          <a:xfrm>
            <a:off x="7467600" y="2971800"/>
            <a:ext cx="457200" cy="5334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8" name="Rectangular Callout 7"/>
          <p:cNvSpPr/>
          <p:nvPr/>
        </p:nvSpPr>
        <p:spPr bwMode="auto">
          <a:xfrm>
            <a:off x="679477" y="4419600"/>
            <a:ext cx="8313683" cy="2211385"/>
          </a:xfrm>
          <a:prstGeom prst="wedgeRectCallout">
            <a:avLst>
              <a:gd name="adj1" fmla="val 32628"/>
              <a:gd name="adj2" fmla="val -87846"/>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p>
            <a:pPr defTabSz="954088">
              <a:spcAft>
                <a:spcPts val="600"/>
              </a:spcAft>
            </a:pPr>
            <a:r>
              <a:rPr lang="en-US" sz="1600" dirty="0">
                <a:solidFill>
                  <a:srgbClr val="000000"/>
                </a:solidFill>
                <a:latin typeface="Arial" pitchFamily="34" charset="0"/>
                <a:ea typeface="Verdana" pitchFamily="34" charset="0"/>
                <a:cs typeface="Arial" pitchFamily="34" charset="0"/>
              </a:rPr>
              <a:t>The </a:t>
            </a:r>
            <a:r>
              <a:rPr lang="en-US" sz="1600" b="1" dirty="0">
                <a:solidFill>
                  <a:srgbClr val="000000"/>
                </a:solidFill>
                <a:latin typeface="Arial" pitchFamily="34" charset="0"/>
                <a:ea typeface="Verdana" pitchFamily="34" charset="0"/>
                <a:cs typeface="Arial" pitchFamily="34" charset="0"/>
              </a:rPr>
              <a:t>Multiple Selection </a:t>
            </a:r>
            <a:r>
              <a:rPr lang="en-US" sz="1600" dirty="0">
                <a:solidFill>
                  <a:srgbClr val="000000"/>
                </a:solidFill>
                <a:latin typeface="Arial" pitchFamily="34" charset="0"/>
                <a:ea typeface="Verdana" pitchFamily="34" charset="0"/>
                <a:cs typeface="Arial" pitchFamily="34" charset="0"/>
              </a:rPr>
              <a:t>button allows you to enter very specific selection criteria to narrow the report results</a:t>
            </a:r>
          </a:p>
          <a:p>
            <a:pPr marL="285750" indent="-285750" defTabSz="954088">
              <a:spcAft>
                <a:spcPts val="600"/>
              </a:spcAft>
              <a:buFont typeface="Arial" pitchFamily="34" charset="0"/>
              <a:buChar char="•"/>
            </a:pPr>
            <a:r>
              <a:rPr lang="en-US" sz="1600" dirty="0">
                <a:solidFill>
                  <a:srgbClr val="000000"/>
                </a:solidFill>
                <a:latin typeface="Arial" pitchFamily="34" charset="0"/>
                <a:ea typeface="Verdana" pitchFamily="34" charset="0"/>
                <a:cs typeface="Arial" pitchFamily="34" charset="0"/>
              </a:rPr>
              <a:t>Only use the multiple selection tools when you have a clear understanding of the data because the advanced selection tools are so specific that all criteria must be true to generate report results</a:t>
            </a:r>
          </a:p>
          <a:p>
            <a:pPr marL="285750" indent="-285750" defTabSz="954088">
              <a:spcAft>
                <a:spcPts val="600"/>
              </a:spcAft>
              <a:buFont typeface="Arial" pitchFamily="34" charset="0"/>
              <a:buChar char="•"/>
            </a:pPr>
            <a:r>
              <a:rPr lang="en-US" sz="1600" dirty="0">
                <a:solidFill>
                  <a:srgbClr val="000000"/>
                </a:solidFill>
                <a:latin typeface="Arial" pitchFamily="34" charset="0"/>
                <a:ea typeface="Verdana" pitchFamily="34" charset="0"/>
                <a:cs typeface="Arial" pitchFamily="34" charset="0"/>
              </a:rPr>
              <a:t>In the Multiple Selection Criteria tabs you may include, exclude, or add operators to your specific selections</a:t>
            </a:r>
          </a:p>
        </p:txBody>
      </p:sp>
      <p:sp>
        <p:nvSpPr>
          <p:cNvPr id="9" name="Slide Number Placeholder 3"/>
          <p:cNvSpPr txBox="1">
            <a:spLocks/>
          </p:cNvSpPr>
          <p:nvPr/>
        </p:nvSpPr>
        <p:spPr>
          <a:xfrm>
            <a:off x="304800" y="6229350"/>
            <a:ext cx="2286000" cy="476250"/>
          </a:xfrm>
          <a:prstGeom prst="rect">
            <a:avLst/>
          </a:prstGeom>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endParaRPr lang="en-US" smtClean="0"/>
          </a:p>
          <a:p>
            <a:fld id="{C0ABF30F-1156-4F41-8469-8F121BB9144A}" type="slidenum">
              <a:rPr lang="en-US" sz="1400" smtClean="0">
                <a:solidFill>
                  <a:schemeClr val="bg2"/>
                </a:solidFill>
              </a:rPr>
              <a:pPr/>
              <a:t>117</a:t>
            </a:fld>
            <a:endParaRPr lang="en-US" sz="1400" dirty="0">
              <a:solidFill>
                <a:schemeClr val="bg2"/>
              </a:solidFill>
            </a:endParaRPr>
          </a:p>
        </p:txBody>
      </p:sp>
    </p:spTree>
    <p:extLst>
      <p:ext uri="{BB962C8B-B14F-4D97-AF65-F5344CB8AC3E}">
        <p14:creationId xmlns:p14="http://schemas.microsoft.com/office/powerpoint/2010/main" val="20627350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en-US" smtClean="0"/>
              <a:t>Multiple Selection Buttons</a:t>
            </a:r>
          </a:p>
        </p:txBody>
      </p:sp>
      <p:sp>
        <p:nvSpPr>
          <p:cNvPr id="446467" name="Rectangle 3"/>
          <p:cNvSpPr>
            <a:spLocks noGrp="1" noChangeArrowheads="1"/>
          </p:cNvSpPr>
          <p:nvPr>
            <p:ph idx="1"/>
          </p:nvPr>
        </p:nvSpPr>
        <p:spPr/>
        <p:txBody>
          <a:bodyPr/>
          <a:lstStyle/>
          <a:p>
            <a:r>
              <a:rPr lang="en-US" dirty="0" smtClean="0">
                <a:solidFill>
                  <a:schemeClr val="accent4">
                    <a:lumMod val="10000"/>
                  </a:schemeClr>
                </a:solidFill>
              </a:rPr>
              <a:t>There are a four tabs and a number of buttons on the </a:t>
            </a:r>
            <a:r>
              <a:rPr lang="en-US" b="1" dirty="0" smtClean="0">
                <a:solidFill>
                  <a:schemeClr val="accent4">
                    <a:lumMod val="10000"/>
                  </a:schemeClr>
                </a:solidFill>
              </a:rPr>
              <a:t>Multiple Selection</a:t>
            </a:r>
            <a:r>
              <a:rPr lang="en-US" dirty="0" smtClean="0">
                <a:solidFill>
                  <a:schemeClr val="accent4">
                    <a:lumMod val="10000"/>
                  </a:schemeClr>
                </a:solidFill>
              </a:rPr>
              <a:t> dialog box to provide additional functionality.</a:t>
            </a:r>
          </a:p>
        </p:txBody>
      </p:sp>
      <p:pic>
        <p:nvPicPr>
          <p:cNvPr id="4464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57400"/>
            <a:ext cx="7315200" cy="29178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E04F">
                    <a:alpha val="50999"/>
                  </a:srgbClr>
                </a:solidFill>
              </a14:hiddenFill>
            </a:ext>
            <a:ext uri="{91240B29-F687-4F45-9708-019B960494DF}">
              <a14:hiddenLine xmlns:a14="http://schemas.microsoft.com/office/drawing/2010/main" w="9525">
                <a:solidFill>
                  <a:schemeClr val="folHlink"/>
                </a:solidFill>
                <a:prstDash val="dash"/>
                <a:miter lim="800000"/>
                <a:headEnd/>
                <a:tailEnd/>
              </a14:hiddenLine>
            </a:ext>
          </a:extLst>
        </p:spPr>
      </p:pic>
      <p:sp>
        <p:nvSpPr>
          <p:cNvPr id="446493" name="Rectangle 29"/>
          <p:cNvSpPr>
            <a:spLocks noChangeArrowheads="1"/>
          </p:cNvSpPr>
          <p:nvPr/>
        </p:nvSpPr>
        <p:spPr bwMode="auto">
          <a:xfrm>
            <a:off x="685800" y="5257800"/>
            <a:ext cx="8001000" cy="838200"/>
          </a:xfrm>
          <a:prstGeom prst="rect">
            <a:avLst/>
          </a:prstGeom>
          <a:solidFill>
            <a:srgbClr val="002E6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3"/>
          </a:lnRef>
          <a:fillRef idx="3">
            <a:schemeClr val="accent3"/>
          </a:fillRef>
          <a:effectRef idx="3">
            <a:schemeClr val="accent3"/>
          </a:effectRef>
          <a:fontRef idx="minor">
            <a:schemeClr val="lt1"/>
          </a:fontRef>
        </p:style>
        <p:txBody>
          <a:bodyPr anchor="ctr"/>
          <a:lstStyle/>
          <a:p>
            <a:pPr defTabSz="954088">
              <a:lnSpc>
                <a:spcPct val="90000"/>
              </a:lnSpc>
              <a:spcBef>
                <a:spcPct val="15000"/>
              </a:spcBef>
              <a:spcAft>
                <a:spcPct val="15000"/>
              </a:spcAft>
              <a:buFont typeface="Times" pitchFamily="18" charset="0"/>
              <a:buNone/>
            </a:pPr>
            <a:r>
              <a:rPr lang="en-US" sz="2000" dirty="0" smtClean="0">
                <a:solidFill>
                  <a:schemeClr val="tx1"/>
                </a:solidFill>
                <a:latin typeface="Verdana" pitchFamily="34" charset="0"/>
                <a:ea typeface="Verdana" pitchFamily="34" charset="0"/>
                <a:cs typeface="Verdana" pitchFamily="34" charset="0"/>
              </a:rPr>
              <a:t>Mix and match these multiple selection options to produce a complex and very specific search for report or query data.</a:t>
            </a:r>
          </a:p>
        </p:txBody>
      </p:sp>
      <p:sp>
        <p:nvSpPr>
          <p:cNvPr id="2" name="Rectangle 1"/>
          <p:cNvSpPr/>
          <p:nvPr/>
        </p:nvSpPr>
        <p:spPr bwMode="auto">
          <a:xfrm>
            <a:off x="1219200" y="2041634"/>
            <a:ext cx="7162800" cy="3810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118</a:t>
            </a:fld>
            <a:endParaRPr lang="en-US" sz="1400" dirty="0">
              <a:solidFill>
                <a:schemeClr val="bg2"/>
              </a:solidFill>
            </a:endParaRPr>
          </a:p>
        </p:txBody>
      </p:sp>
    </p:spTree>
    <p:extLst>
      <p:ext uri="{BB962C8B-B14F-4D97-AF65-F5344CB8AC3E}">
        <p14:creationId xmlns:p14="http://schemas.microsoft.com/office/powerpoint/2010/main" val="2273923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619500"/>
            <a:ext cx="563880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374055"/>
            <a:ext cx="5295900" cy="14359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3042" name="Rectangle 2"/>
          <p:cNvSpPr>
            <a:spLocks noGrp="1" noChangeArrowheads="1"/>
          </p:cNvSpPr>
          <p:nvPr>
            <p:ph type="title"/>
          </p:nvPr>
        </p:nvSpPr>
        <p:spPr/>
        <p:txBody>
          <a:bodyPr/>
          <a:lstStyle/>
          <a:p>
            <a:r>
              <a:rPr lang="en-US" smtClean="0"/>
              <a:t>Specify Additional Selection Criteria</a:t>
            </a:r>
          </a:p>
        </p:txBody>
      </p:sp>
      <p:sp>
        <p:nvSpPr>
          <p:cNvPr id="343043" name="Rectangle 3"/>
          <p:cNvSpPr>
            <a:spLocks noGrp="1" noChangeArrowheads="1"/>
          </p:cNvSpPr>
          <p:nvPr>
            <p:ph idx="1"/>
          </p:nvPr>
        </p:nvSpPr>
        <p:spPr>
          <a:xfrm>
            <a:off x="304800" y="1012081"/>
            <a:ext cx="8537575" cy="5135563"/>
          </a:xfrm>
        </p:spPr>
        <p:txBody>
          <a:bodyPr/>
          <a:lstStyle/>
          <a:p>
            <a:r>
              <a:rPr lang="en-US" dirty="0" smtClean="0"/>
              <a:t>In addition to the selection criteria that are displayed on the screen, some reports allow you to specify additional fields that you can use as selection criteria via the </a:t>
            </a:r>
            <a:r>
              <a:rPr lang="en-US" b="1" dirty="0" smtClean="0">
                <a:solidFill>
                  <a:schemeClr val="accent4">
                    <a:lumMod val="10000"/>
                  </a:schemeClr>
                </a:solidFill>
              </a:rPr>
              <a:t>Dynamic Selection</a:t>
            </a:r>
            <a:r>
              <a:rPr lang="en-US" dirty="0" smtClean="0"/>
              <a:t> option.</a:t>
            </a:r>
          </a:p>
        </p:txBody>
      </p:sp>
      <p:sp>
        <p:nvSpPr>
          <p:cNvPr id="343061" name="AutoShape 21"/>
          <p:cNvSpPr>
            <a:spLocks noChangeArrowheads="1"/>
          </p:cNvSpPr>
          <p:nvPr/>
        </p:nvSpPr>
        <p:spPr bwMode="auto">
          <a:xfrm>
            <a:off x="1295400" y="3633787"/>
            <a:ext cx="5638800" cy="2362200"/>
          </a:xfrm>
          <a:prstGeom prst="wedgeRectCallout">
            <a:avLst>
              <a:gd name="adj1" fmla="val -37231"/>
              <a:gd name="adj2" fmla="val -80287"/>
            </a:avLst>
          </a:prstGeom>
          <a:noFill/>
          <a:ln w="38100">
            <a:solidFill>
              <a:srgbClr val="FF0000"/>
            </a:solidFill>
            <a:prstDash val="dash"/>
            <a:miter lim="800000"/>
            <a:headEnd/>
            <a:tailEnd/>
          </a:ln>
          <a:effectLst/>
          <a:extLst/>
        </p:spPr>
        <p:txBody>
          <a:bodyPr/>
          <a:lstStyle/>
          <a:p>
            <a:pPr algn="ctr" eaLnBrk="1" hangingPunct="1"/>
            <a:endParaRPr lang="en-US" smtClean="0">
              <a:solidFill>
                <a:schemeClr val="accent4">
                  <a:lumMod val="10000"/>
                </a:schemeClr>
              </a:solidFill>
              <a:cs typeface="Arial" charset="0"/>
            </a:endParaRPr>
          </a:p>
        </p:txBody>
      </p:sp>
      <p:sp>
        <p:nvSpPr>
          <p:cNvPr id="343062" name="Rectangle 22"/>
          <p:cNvSpPr>
            <a:spLocks noChangeArrowheads="1"/>
          </p:cNvSpPr>
          <p:nvPr/>
        </p:nvSpPr>
        <p:spPr bwMode="auto">
          <a:xfrm>
            <a:off x="1752600" y="2678855"/>
            <a:ext cx="304800" cy="230187"/>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
        <p:nvSpPr>
          <p:cNvPr id="343066" name="Text Box 26"/>
          <p:cNvSpPr txBox="1">
            <a:spLocks noChangeArrowheads="1"/>
          </p:cNvSpPr>
          <p:nvPr/>
        </p:nvSpPr>
        <p:spPr bwMode="auto">
          <a:xfrm>
            <a:off x="6692900" y="2668587"/>
            <a:ext cx="2222500" cy="107950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smtClean="0"/>
              <a:t>Click    on </a:t>
            </a:r>
            <a:r>
              <a:rPr lang="en-US" dirty="0"/>
              <a:t>the initial screen to display the Dynamic Selections </a:t>
            </a:r>
          </a:p>
        </p:txBody>
      </p:sp>
      <p:sp>
        <p:nvSpPr>
          <p:cNvPr id="343072" name="Rectangle 32"/>
          <p:cNvSpPr>
            <a:spLocks noChangeArrowheads="1"/>
          </p:cNvSpPr>
          <p:nvPr/>
        </p:nvSpPr>
        <p:spPr bwMode="auto">
          <a:xfrm>
            <a:off x="1524000" y="4648200"/>
            <a:ext cx="1981200" cy="3810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mtClean="0">
              <a:solidFill>
                <a:schemeClr val="accent4">
                  <a:lumMod val="10000"/>
                </a:schemeClr>
              </a:solidFill>
              <a:cs typeface="Arial" charset="0"/>
            </a:endParaRPr>
          </a:p>
        </p:txBody>
      </p:sp>
      <p:sp>
        <p:nvSpPr>
          <p:cNvPr id="343073" name="Line 33"/>
          <p:cNvSpPr>
            <a:spLocks noChangeShapeType="1"/>
          </p:cNvSpPr>
          <p:nvPr/>
        </p:nvSpPr>
        <p:spPr bwMode="auto">
          <a:xfrm flipV="1">
            <a:off x="2514600" y="5029199"/>
            <a:ext cx="0" cy="230187"/>
          </a:xfrm>
          <a:prstGeom prst="line">
            <a:avLst/>
          </a:prstGeom>
          <a:noFill/>
          <a:ln w="9525">
            <a:solidFill>
              <a:schemeClr val="folHlink"/>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smtClean="0">
              <a:solidFill>
                <a:schemeClr val="accent4">
                  <a:lumMod val="10000"/>
                </a:schemeClr>
              </a:solidFill>
              <a:cs typeface="Arial" charset="0"/>
            </a:endParaRPr>
          </a:p>
        </p:txBody>
      </p:sp>
      <p:sp>
        <p:nvSpPr>
          <p:cNvPr id="343074" name="Text Box 34"/>
          <p:cNvSpPr txBox="1">
            <a:spLocks noChangeArrowheads="1"/>
          </p:cNvSpPr>
          <p:nvPr/>
        </p:nvSpPr>
        <p:spPr bwMode="auto">
          <a:xfrm>
            <a:off x="7086600" y="4191000"/>
            <a:ext cx="1828800" cy="15684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The selected field(s</a:t>
            </a:r>
            <a:r>
              <a:rPr lang="en-US" dirty="0" smtClean="0"/>
              <a:t>) </a:t>
            </a:r>
            <a:r>
              <a:rPr lang="en-US" dirty="0"/>
              <a:t>appear on the screen. You can now enter values in these fields.</a:t>
            </a:r>
          </a:p>
        </p:txBody>
      </p:sp>
      <p:grpSp>
        <p:nvGrpSpPr>
          <p:cNvPr id="343063" name="Group 23"/>
          <p:cNvGrpSpPr>
            <a:grpSpLocks/>
          </p:cNvGrpSpPr>
          <p:nvPr/>
        </p:nvGrpSpPr>
        <p:grpSpPr bwMode="auto">
          <a:xfrm>
            <a:off x="1828800" y="2315319"/>
            <a:ext cx="393700" cy="363537"/>
            <a:chOff x="4976" y="624"/>
            <a:chExt cx="200" cy="176"/>
          </a:xfrm>
        </p:grpSpPr>
        <p:sp>
          <p:nvSpPr>
            <p:cNvPr id="343064" name="Oval 24"/>
            <p:cNvSpPr>
              <a:spLocks noChangeArrowheads="1"/>
            </p:cNvSpPr>
            <p:nvPr/>
          </p:nvSpPr>
          <p:spPr bwMode="auto">
            <a:xfrm>
              <a:off x="4976" y="624"/>
              <a:ext cx="200" cy="176"/>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65" name="Text Box 25"/>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1</a:t>
              </a:r>
            </a:p>
          </p:txBody>
        </p:sp>
      </p:grpSp>
      <p:sp>
        <p:nvSpPr>
          <p:cNvPr id="343081" name="Text Box 41"/>
          <p:cNvSpPr txBox="1">
            <a:spLocks noChangeArrowheads="1"/>
          </p:cNvSpPr>
          <p:nvPr/>
        </p:nvSpPr>
        <p:spPr bwMode="auto">
          <a:xfrm>
            <a:off x="4419600" y="6034087"/>
            <a:ext cx="4495800" cy="590550"/>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Click    </a:t>
            </a:r>
            <a:r>
              <a:rPr lang="en-US" dirty="0" smtClean="0"/>
              <a:t>to </a:t>
            </a:r>
            <a:r>
              <a:rPr lang="en-US" dirty="0"/>
              <a:t>return to the initial selection screen.</a:t>
            </a:r>
          </a:p>
        </p:txBody>
      </p:sp>
      <p:grpSp>
        <p:nvGrpSpPr>
          <p:cNvPr id="343069" name="Group 29"/>
          <p:cNvGrpSpPr>
            <a:grpSpLocks/>
          </p:cNvGrpSpPr>
          <p:nvPr/>
        </p:nvGrpSpPr>
        <p:grpSpPr bwMode="auto">
          <a:xfrm>
            <a:off x="1130300" y="4725987"/>
            <a:ext cx="393700" cy="363538"/>
            <a:chOff x="4976" y="624"/>
            <a:chExt cx="200" cy="176"/>
          </a:xfrm>
        </p:grpSpPr>
        <p:sp>
          <p:nvSpPr>
            <p:cNvPr id="343070" name="Oval 30"/>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71" name="Text Box 31"/>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smtClean="0">
                  <a:solidFill>
                    <a:schemeClr val="accent4">
                      <a:lumMod val="10000"/>
                    </a:schemeClr>
                  </a:solidFill>
                </a:rPr>
                <a:t>2</a:t>
              </a:r>
            </a:p>
          </p:txBody>
        </p:sp>
      </p:grpSp>
      <p:sp>
        <p:nvSpPr>
          <p:cNvPr id="343068" name="Text Box 28"/>
          <p:cNvSpPr txBox="1">
            <a:spLocks noChangeArrowheads="1"/>
          </p:cNvSpPr>
          <p:nvPr/>
        </p:nvSpPr>
        <p:spPr bwMode="auto">
          <a:xfrm>
            <a:off x="609600" y="5181600"/>
            <a:ext cx="3200400" cy="1400383"/>
          </a:xfrm>
          <a:prstGeom prst="rect">
            <a:avLst/>
          </a:prstGeom>
          <a:solidFill>
            <a:schemeClr val="tx1">
              <a:lumMod val="85000"/>
            </a:schemeClr>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dirty="0"/>
              <a:t>Double-click the field(s) you want to use as selection criteria.</a:t>
            </a:r>
          </a:p>
          <a:p>
            <a:r>
              <a:rPr lang="en-US" dirty="0"/>
              <a:t>Fields already selected are highlight in green; double-click to remove as selection criteria.</a:t>
            </a:r>
          </a:p>
        </p:txBody>
      </p:sp>
      <p:grpSp>
        <p:nvGrpSpPr>
          <p:cNvPr id="343078" name="Group 38"/>
          <p:cNvGrpSpPr>
            <a:grpSpLocks/>
          </p:cNvGrpSpPr>
          <p:nvPr/>
        </p:nvGrpSpPr>
        <p:grpSpPr bwMode="auto">
          <a:xfrm>
            <a:off x="4102100" y="5868987"/>
            <a:ext cx="393700" cy="363538"/>
            <a:chOff x="4976" y="624"/>
            <a:chExt cx="200" cy="176"/>
          </a:xfrm>
        </p:grpSpPr>
        <p:sp>
          <p:nvSpPr>
            <p:cNvPr id="343079" name="Oval 3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80" name="Text Box 40"/>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4</a:t>
              </a:r>
            </a:p>
          </p:txBody>
        </p:sp>
      </p:grpSp>
      <p:grpSp>
        <p:nvGrpSpPr>
          <p:cNvPr id="343075" name="Group 35"/>
          <p:cNvGrpSpPr>
            <a:grpSpLocks/>
          </p:cNvGrpSpPr>
          <p:nvPr/>
        </p:nvGrpSpPr>
        <p:grpSpPr bwMode="auto">
          <a:xfrm>
            <a:off x="6705600" y="4116387"/>
            <a:ext cx="393700" cy="363538"/>
            <a:chOff x="4976" y="624"/>
            <a:chExt cx="200" cy="176"/>
          </a:xfrm>
        </p:grpSpPr>
        <p:sp>
          <p:nvSpPr>
            <p:cNvPr id="343076" name="Oval 36"/>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smtClean="0">
                <a:solidFill>
                  <a:schemeClr val="accent4">
                    <a:lumMod val="10000"/>
                  </a:schemeClr>
                </a:solidFill>
                <a:cs typeface="Arial" charset="0"/>
              </a:endParaRPr>
            </a:p>
          </p:txBody>
        </p:sp>
        <p:sp>
          <p:nvSpPr>
            <p:cNvPr id="343077" name="Text Box 37"/>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smtClean="0">
                  <a:solidFill>
                    <a:schemeClr val="accent4">
                      <a:lumMod val="10000"/>
                    </a:schemeClr>
                  </a:solidFill>
                </a:rPr>
                <a:t>3</a:t>
              </a:r>
            </a:p>
          </p:txBody>
        </p:sp>
      </p:gr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0425" y="2828925"/>
            <a:ext cx="20955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6219824"/>
            <a:ext cx="20955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Slide Number Placeholder 3"/>
          <p:cNvSpPr>
            <a:spLocks noGrp="1"/>
          </p:cNvSpPr>
          <p:nvPr>
            <p:ph type="sldNum" sz="quarter" idx="10"/>
          </p:nvPr>
        </p:nvSpPr>
        <p:spPr>
          <a:xfrm>
            <a:off x="228600" y="6229350"/>
            <a:ext cx="2286000" cy="476250"/>
          </a:xfrm>
        </p:spPr>
        <p:txBody>
          <a:bodyPr/>
          <a:lstStyle/>
          <a:p>
            <a:endParaRPr lang="en-US" dirty="0" smtClean="0"/>
          </a:p>
          <a:p>
            <a:fld id="{C0ABF30F-1156-4F41-8469-8F121BB9144A}" type="slidenum">
              <a:rPr lang="en-US" sz="1400" smtClean="0">
                <a:solidFill>
                  <a:schemeClr val="bg2"/>
                </a:solidFill>
              </a:rPr>
              <a:pPr/>
              <a:t>119</a:t>
            </a:fld>
            <a:endParaRPr lang="en-US" sz="1400" dirty="0">
              <a:solidFill>
                <a:schemeClr val="bg2"/>
              </a:solidFill>
            </a:endParaRPr>
          </a:p>
        </p:txBody>
      </p:sp>
    </p:spTree>
    <p:extLst>
      <p:ext uri="{BB962C8B-B14F-4D97-AF65-F5344CB8AC3E}">
        <p14:creationId xmlns:p14="http://schemas.microsoft.com/office/powerpoint/2010/main" val="3090724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2" name="Slide Number Placeholder 1"/>
          <p:cNvSpPr>
            <a:spLocks noGrp="1"/>
          </p:cNvSpPr>
          <p:nvPr>
            <p:ph type="sldNum" sz="quarter" idx="10"/>
          </p:nvPr>
        </p:nvSpPr>
        <p:spPr/>
        <p:txBody>
          <a:bodyPr/>
          <a:lstStyle/>
          <a:p>
            <a:endParaRPr lang="en-US" dirty="0" smtClean="0"/>
          </a:p>
          <a:p>
            <a:fld id="{C0ABF30F-1156-4F41-8469-8F121BB9144A}" type="slidenum">
              <a:rPr lang="en-US" sz="1400" smtClean="0">
                <a:solidFill>
                  <a:schemeClr val="bg2"/>
                </a:solidFill>
              </a:rPr>
              <a:pPr/>
              <a:t>120</a:t>
            </a:fld>
            <a:endParaRPr lang="en-US" sz="1400" dirty="0">
              <a:solidFill>
                <a:schemeClr val="bg2"/>
              </a:solidFill>
            </a:endParaRPr>
          </a:p>
        </p:txBody>
      </p:sp>
      <p:pic>
        <p:nvPicPr>
          <p:cNvPr id="6" name="Picture 2" descr="C:\Users\namudaliar\Documents\Narayanan\Ball Corp\Images\shutterstock_14861146_small.jpg"/>
          <p:cNvPicPr>
            <a:picLocks noChangeAspect="1" noChangeArrowheads="1"/>
          </p:cNvPicPr>
          <p:nvPr/>
        </p:nvPicPr>
        <p:blipFill rotWithShape="1">
          <a:blip r:embed="rId3" cstate="print"/>
          <a:srcRect r="5169"/>
          <a:stretch/>
        </p:blipFill>
        <p:spPr bwMode="auto">
          <a:xfrm>
            <a:off x="5486400" y="3962400"/>
            <a:ext cx="3174486" cy="2678020"/>
          </a:xfrm>
          <a:prstGeom prst="rect">
            <a:avLst/>
          </a:prstGeom>
          <a:noFill/>
        </p:spPr>
      </p:pic>
      <p:sp>
        <p:nvSpPr>
          <p:cNvPr id="7" name="Content Placeholder 3"/>
          <p:cNvSpPr txBox="1">
            <a:spLocks/>
          </p:cNvSpPr>
          <p:nvPr/>
        </p:nvSpPr>
        <p:spPr bwMode="auto">
          <a:xfrm>
            <a:off x="454025" y="1295400"/>
            <a:ext cx="8537575" cy="4983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ts val="30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ts val="300"/>
              </a:spcAft>
              <a:buFont typeface="Arial" charset="0"/>
              <a:buChar char="–"/>
              <a:defRPr sz="20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2pPr>
            <a:lvl3pPr marL="11430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3pPr>
            <a:lvl4pPr marL="1600200" indent="-228600" algn="l" rtl="0" fontAlgn="base">
              <a:spcBef>
                <a:spcPct val="20000"/>
              </a:spcBef>
              <a:spcAft>
                <a:spcPts val="300"/>
              </a:spcAft>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4pPr>
            <a:lvl5pPr marL="2057400" indent="-228600" algn="l" rtl="0" fontAlgn="base">
              <a:spcBef>
                <a:spcPct val="20000"/>
              </a:spcBef>
              <a:spcAft>
                <a:spcPts val="300"/>
              </a:spcAft>
              <a:buClr>
                <a:srgbClr val="004B91"/>
              </a:buClr>
              <a:buFont typeface="Wingdings" pitchFamily="2" charset="2"/>
              <a:buChar char="§"/>
              <a:defRPr sz="1800">
                <a:solidFill>
                  <a:srgbClr val="000000"/>
                </a:solidFill>
                <a:effectLst>
                  <a:outerShdw blurRad="38100" dist="38100" dir="2700000" algn="tl">
                    <a:srgbClr val="FFFFFF"/>
                  </a:outerShdw>
                </a:effectLst>
                <a:latin typeface="Verdana" pitchFamily="34" charset="0"/>
                <a:ea typeface="Verdana" pitchFamily="34" charset="0"/>
                <a:cs typeface="Verdana" pitchFamily="34" charset="0"/>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defTabSz="687388"/>
            <a:r>
              <a:rPr lang="en-US" sz="1800" b="1" kern="0" dirty="0" smtClean="0"/>
              <a:t>Activity Name: </a:t>
            </a:r>
            <a:r>
              <a:rPr lang="en-US" sz="1800" kern="0" dirty="0" smtClean="0"/>
              <a:t>Create a Selection Variant</a:t>
            </a:r>
          </a:p>
          <a:p>
            <a:pPr defTabSz="687388"/>
            <a:endParaRPr lang="en-US" sz="1800" kern="0" dirty="0" smtClean="0"/>
          </a:p>
          <a:p>
            <a:pPr defTabSz="687388"/>
            <a:r>
              <a:rPr lang="en-US" sz="1800" b="1" kern="0" dirty="0" smtClean="0"/>
              <a:t>Transaction Name:</a:t>
            </a:r>
          </a:p>
          <a:p>
            <a:pPr marL="857250" lvl="1" indent="-342900" defTabSz="687388">
              <a:buClr>
                <a:schemeClr val="accent1"/>
              </a:buClr>
            </a:pPr>
            <a:r>
              <a:rPr lang="en-US" sz="1800" kern="0" dirty="0" smtClean="0"/>
              <a:t>Change Service Order: Selection of Orders</a:t>
            </a:r>
          </a:p>
          <a:p>
            <a:pPr marL="857250" lvl="1" indent="-342900" defTabSz="687388"/>
            <a:endParaRPr lang="en-US" sz="1800" kern="0" dirty="0" smtClean="0"/>
          </a:p>
          <a:p>
            <a:pPr marL="0" lvl="1" indent="0" defTabSz="687388">
              <a:buFont typeface="Arial" charset="0"/>
              <a:buNone/>
            </a:pPr>
            <a:r>
              <a:rPr lang="en-US" sz="1800" b="1" kern="0" dirty="0" smtClean="0"/>
              <a:t>Transaction Code:</a:t>
            </a:r>
          </a:p>
          <a:p>
            <a:pPr marL="857250" lvl="1" indent="-342900" defTabSz="687388">
              <a:buClr>
                <a:schemeClr val="accent1"/>
              </a:buClr>
            </a:pPr>
            <a:r>
              <a:rPr lang="en-US" sz="1800" kern="0" dirty="0" smtClean="0"/>
              <a:t>IW72</a:t>
            </a:r>
          </a:p>
          <a:p>
            <a:pPr marL="857250" lvl="1" indent="-342900" defTabSz="687388"/>
            <a:endParaRPr lang="en-US" sz="1800" kern="0" dirty="0" smtClean="0"/>
          </a:p>
          <a:p>
            <a:pPr marL="0" lvl="1" indent="0" defTabSz="687388">
              <a:buFont typeface="Arial" charset="0"/>
              <a:buNone/>
            </a:pPr>
            <a:r>
              <a:rPr lang="en-US" sz="1800" b="1" kern="0" dirty="0" smtClean="0"/>
              <a:t>Path:</a:t>
            </a:r>
          </a:p>
          <a:p>
            <a:pPr marL="858838" lvl="3" indent="-285750" defTabSz="687388">
              <a:buClr>
                <a:schemeClr val="accent1"/>
              </a:buClr>
            </a:pPr>
            <a:r>
              <a:rPr lang="en-US" kern="0" dirty="0" smtClean="0"/>
              <a:t>Logistics &gt; Customer Service &gt;</a:t>
            </a:r>
            <a:br>
              <a:rPr lang="en-US" kern="0" dirty="0" smtClean="0"/>
            </a:br>
            <a:r>
              <a:rPr lang="en-US" kern="0" dirty="0" smtClean="0"/>
              <a:t>Service Processing &gt; History &gt;                                            Order List &gt; Change </a:t>
            </a:r>
          </a:p>
          <a:p>
            <a:endParaRPr lang="en-US" kern="0" dirty="0"/>
          </a:p>
        </p:txBody>
      </p:sp>
    </p:spTree>
    <p:extLst>
      <p:ext uri="{BB962C8B-B14F-4D97-AF65-F5344CB8AC3E}">
        <p14:creationId xmlns:p14="http://schemas.microsoft.com/office/powerpoint/2010/main" val="2135144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a:t>
            </a:r>
            <a:endParaRPr lang="en-US" dirty="0"/>
          </a:p>
        </p:txBody>
      </p:sp>
      <p:sp>
        <p:nvSpPr>
          <p:cNvPr id="3" name="Content Placeholder 2"/>
          <p:cNvSpPr>
            <a:spLocks noGrp="1"/>
          </p:cNvSpPr>
          <p:nvPr>
            <p:ph idx="1"/>
          </p:nvPr>
        </p:nvSpPr>
        <p:spPr>
          <a:xfrm>
            <a:off x="301625" y="914400"/>
            <a:ext cx="8537575" cy="5135563"/>
          </a:xfrm>
        </p:spPr>
        <p:txBody>
          <a:bodyPr/>
          <a:lstStyle/>
          <a:p>
            <a:pPr marL="0" lvl="1" indent="0">
              <a:buClr>
                <a:srgbClr val="004B91"/>
              </a:buClr>
              <a:buFont typeface="Wingdings" pitchFamily="2" charset="2"/>
              <a:buNone/>
              <a:tabLst>
                <a:tab pos="2514600" algn="l"/>
              </a:tabLst>
            </a:pPr>
            <a:r>
              <a:rPr lang="en-US" b="1" dirty="0"/>
              <a:t>Scenario: </a:t>
            </a:r>
          </a:p>
          <a:p>
            <a:pPr marL="342900" lvl="1" indent="-342900">
              <a:buClr>
                <a:srgbClr val="004B91"/>
              </a:buClr>
              <a:buFont typeface="Arial" pitchFamily="34" charset="0"/>
              <a:buChar char="•"/>
              <a:tabLst>
                <a:tab pos="2514600" algn="l"/>
              </a:tabLst>
            </a:pPr>
            <a:r>
              <a:rPr lang="en-US" b="1" dirty="0">
                <a:solidFill>
                  <a:schemeClr val="accent4">
                    <a:lumMod val="10000"/>
                  </a:schemeClr>
                </a:solidFill>
              </a:rPr>
              <a:t>As part of your </a:t>
            </a:r>
            <a:r>
              <a:rPr lang="en-US" b="1" dirty="0" smtClean="0">
                <a:solidFill>
                  <a:schemeClr val="accent4">
                    <a:lumMod val="10000"/>
                  </a:schemeClr>
                </a:solidFill>
              </a:rPr>
              <a:t>duties, </a:t>
            </a:r>
            <a:r>
              <a:rPr lang="en-US" b="1" dirty="0">
                <a:solidFill>
                  <a:schemeClr val="accent4">
                    <a:lumMod val="10000"/>
                  </a:schemeClr>
                </a:solidFill>
              </a:rPr>
              <a:t>you monitor </a:t>
            </a:r>
            <a:r>
              <a:rPr lang="en-US" b="1" dirty="0" smtClean="0">
                <a:solidFill>
                  <a:schemeClr val="accent4">
                    <a:lumMod val="10000"/>
                  </a:schemeClr>
                </a:solidFill>
              </a:rPr>
              <a:t>“outstanding” and in “process” work orders. </a:t>
            </a:r>
            <a:r>
              <a:rPr lang="en-US" b="1" dirty="0">
                <a:solidFill>
                  <a:schemeClr val="accent4">
                    <a:lumMod val="10000"/>
                  </a:schemeClr>
                </a:solidFill>
              </a:rPr>
              <a:t>To facilitate this process, you wish to create a Selection Variant.</a:t>
            </a:r>
          </a:p>
          <a:p>
            <a:pPr marL="342900" lvl="1" indent="-342900">
              <a:buClr>
                <a:srgbClr val="004B91"/>
              </a:buClr>
              <a:buFont typeface="Arial" pitchFamily="34" charset="0"/>
              <a:buChar char="•"/>
              <a:tabLst>
                <a:tab pos="2514600" algn="l"/>
              </a:tabLst>
            </a:pPr>
            <a:r>
              <a:rPr lang="en-US" b="1" dirty="0">
                <a:solidFill>
                  <a:schemeClr val="accent4">
                    <a:lumMod val="10000"/>
                  </a:schemeClr>
                </a:solidFill>
              </a:rPr>
              <a:t>E</a:t>
            </a:r>
            <a:r>
              <a:rPr lang="en-US" b="1" dirty="0" smtClean="0">
                <a:solidFill>
                  <a:schemeClr val="accent4">
                    <a:lumMod val="10000"/>
                  </a:schemeClr>
                </a:solidFill>
              </a:rPr>
              <a:t>nter </a:t>
            </a:r>
            <a:r>
              <a:rPr lang="en-US" b="1" dirty="0">
                <a:solidFill>
                  <a:schemeClr val="accent4">
                    <a:lumMod val="10000"/>
                  </a:schemeClr>
                </a:solidFill>
              </a:rPr>
              <a:t>selection criteria in the </a:t>
            </a:r>
            <a:r>
              <a:rPr lang="en-US" b="1" dirty="0" smtClean="0">
                <a:solidFill>
                  <a:schemeClr val="accent4">
                    <a:lumMod val="10000"/>
                  </a:schemeClr>
                </a:solidFill>
              </a:rPr>
              <a:t>IW72 Change Service Orders: Selection of Orders list edit </a:t>
            </a:r>
            <a:r>
              <a:rPr lang="en-US" b="1" dirty="0">
                <a:solidFill>
                  <a:schemeClr val="accent4">
                    <a:lumMod val="10000"/>
                  </a:schemeClr>
                </a:solidFill>
              </a:rPr>
              <a:t>report for </a:t>
            </a:r>
            <a:r>
              <a:rPr lang="en-US" b="1" dirty="0" smtClean="0">
                <a:solidFill>
                  <a:schemeClr val="accent4">
                    <a:lumMod val="10000"/>
                  </a:schemeClr>
                </a:solidFill>
              </a:rPr>
              <a:t>Order Type PM01, Functional Location PL1, and Plant for </a:t>
            </a:r>
            <a:r>
              <a:rPr lang="en-US" b="1" dirty="0" err="1" smtClean="0">
                <a:solidFill>
                  <a:schemeClr val="accent4">
                    <a:lumMod val="10000"/>
                  </a:schemeClr>
                </a:solidFill>
              </a:rPr>
              <a:t>WorkCenter</a:t>
            </a:r>
            <a:r>
              <a:rPr lang="en-US" b="1" dirty="0" smtClean="0">
                <a:solidFill>
                  <a:schemeClr val="accent4">
                    <a:lumMod val="10000"/>
                  </a:schemeClr>
                </a:solidFill>
              </a:rPr>
              <a:t> PL00</a:t>
            </a:r>
            <a:endParaRPr lang="en-US" b="1" dirty="0">
              <a:solidFill>
                <a:schemeClr val="accent4">
                  <a:lumMod val="10000"/>
                </a:schemeClr>
              </a:solidFill>
            </a:endParaRPr>
          </a:p>
          <a:p>
            <a:pPr marL="342900" lvl="1" indent="-342900">
              <a:buClr>
                <a:srgbClr val="004B91"/>
              </a:buClr>
              <a:buFont typeface="Arial" pitchFamily="34" charset="0"/>
              <a:buChar char="•"/>
              <a:tabLst>
                <a:tab pos="2514600" algn="l"/>
              </a:tabLst>
            </a:pPr>
            <a:r>
              <a:rPr lang="en-US" b="1" dirty="0">
                <a:solidFill>
                  <a:schemeClr val="accent4">
                    <a:lumMod val="10000"/>
                  </a:schemeClr>
                </a:solidFill>
              </a:rPr>
              <a:t>Save your selection criteria values as a Personal Selection Variant and name it </a:t>
            </a:r>
            <a:r>
              <a:rPr lang="en-US" b="1" dirty="0" err="1" smtClean="0">
                <a:solidFill>
                  <a:schemeClr val="accent4">
                    <a:lumMod val="10000"/>
                  </a:schemeClr>
                </a:solidFill>
              </a:rPr>
              <a:t>WO_your</a:t>
            </a:r>
            <a:r>
              <a:rPr lang="en-US" b="1" dirty="0" smtClean="0">
                <a:solidFill>
                  <a:schemeClr val="accent4">
                    <a:lumMod val="10000"/>
                  </a:schemeClr>
                </a:solidFill>
              </a:rPr>
              <a:t> Last Name </a:t>
            </a:r>
            <a:endParaRPr lang="en-US" b="1" dirty="0">
              <a:solidFill>
                <a:schemeClr val="accent4">
                  <a:lumMod val="10000"/>
                </a:schemeClr>
              </a:solidFill>
            </a:endParaRPr>
          </a:p>
          <a:p>
            <a:pPr marL="342900" lvl="1" indent="-342900">
              <a:buClr>
                <a:srgbClr val="004B91"/>
              </a:buClr>
              <a:buFont typeface="Arial" pitchFamily="34" charset="0"/>
              <a:buChar char="•"/>
              <a:tabLst>
                <a:tab pos="2514600" algn="l"/>
              </a:tabLst>
            </a:pPr>
            <a:r>
              <a:rPr lang="en-US" b="1" dirty="0">
                <a:solidFill>
                  <a:schemeClr val="accent4">
                    <a:lumMod val="10000"/>
                  </a:schemeClr>
                </a:solidFill>
              </a:rPr>
              <a:t>Exit the report without executing it</a:t>
            </a:r>
          </a:p>
          <a:p>
            <a:endParaRPr lang="en-US" b="1" dirty="0" smtClean="0"/>
          </a:p>
          <a:p>
            <a:endParaRPr lang="en-US" b="1" dirty="0"/>
          </a:p>
          <a:p>
            <a:r>
              <a:rPr lang="en-US" b="1" dirty="0" smtClean="0"/>
              <a:t>Exercise: 6.3 Create a Selection Variant</a:t>
            </a:r>
            <a:endParaRPr lang="en-US" b="1" dirty="0"/>
          </a:p>
        </p:txBody>
      </p:sp>
      <p:pic>
        <p:nvPicPr>
          <p:cNvPr id="5" name="Picture 2" descr="C:\Users\namudaliar\Documents\Narayanan\Ball Corp\Images\shutterstock_50629798.jpg"/>
          <p:cNvPicPr>
            <a:picLocks noChangeAspect="1" noChangeArrowheads="1"/>
          </p:cNvPicPr>
          <p:nvPr/>
        </p:nvPicPr>
        <p:blipFill>
          <a:blip r:embed="rId3" cstate="print"/>
          <a:srcRect/>
          <a:stretch>
            <a:fillRect/>
          </a:stretch>
        </p:blipFill>
        <p:spPr bwMode="auto">
          <a:xfrm>
            <a:off x="7238669" y="4419600"/>
            <a:ext cx="1905331" cy="2362200"/>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121</a:t>
            </a:fld>
            <a:endParaRPr lang="en-US" sz="1400" dirty="0">
              <a:solidFill>
                <a:schemeClr val="bg2"/>
              </a:solidFill>
            </a:endParaRPr>
          </a:p>
        </p:txBody>
      </p:sp>
    </p:spTree>
    <p:extLst>
      <p:ext uri="{BB962C8B-B14F-4D97-AF65-F5344CB8AC3E}">
        <p14:creationId xmlns:p14="http://schemas.microsoft.com/office/powerpoint/2010/main" val="960225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Understanding</a:t>
            </a:r>
            <a:endParaRPr lang="en-US" dirty="0"/>
          </a:p>
        </p:txBody>
      </p:sp>
      <p:sp>
        <p:nvSpPr>
          <p:cNvPr id="3" name="Content Placeholder 2"/>
          <p:cNvSpPr>
            <a:spLocks noGrp="1"/>
          </p:cNvSpPr>
          <p:nvPr>
            <p:ph idx="1"/>
          </p:nvPr>
        </p:nvSpPr>
        <p:spPr/>
        <p:txBody>
          <a:bodyPr/>
          <a:lstStyle/>
          <a:p>
            <a:pPr marL="457200" indent="-457200">
              <a:buClr>
                <a:schemeClr val="accent4">
                  <a:lumMod val="10000"/>
                </a:schemeClr>
              </a:buClr>
              <a:buFont typeface="+mj-lt"/>
              <a:buAutoNum type="arabicPeriod"/>
            </a:pPr>
            <a:r>
              <a:rPr lang="en-US" b="1" dirty="0" smtClean="0">
                <a:solidFill>
                  <a:schemeClr val="accent4">
                    <a:lumMod val="10000"/>
                  </a:schemeClr>
                </a:solidFill>
              </a:rPr>
              <a:t>True or False: </a:t>
            </a:r>
            <a:r>
              <a:rPr lang="en-US" dirty="0"/>
              <a:t>List Edit Reports allow you the option of displaying information that remains outstanding, currently in process, or completed. </a:t>
            </a:r>
            <a:endParaRPr lang="en-US" b="1" dirty="0" smtClean="0">
              <a:solidFill>
                <a:schemeClr val="accent4">
                  <a:lumMod val="10000"/>
                </a:schemeClr>
              </a:solidFill>
            </a:endParaRPr>
          </a:p>
          <a:p>
            <a:pPr marL="457200" indent="-457200">
              <a:buClr>
                <a:schemeClr val="accent4">
                  <a:lumMod val="10000"/>
                </a:schemeClr>
              </a:buClr>
              <a:buFont typeface="+mj-lt"/>
              <a:buAutoNum type="arabicPeriod"/>
            </a:pPr>
            <a:r>
              <a:rPr lang="en-US" b="1" dirty="0" smtClean="0">
                <a:solidFill>
                  <a:schemeClr val="accent4">
                    <a:lumMod val="10000"/>
                  </a:schemeClr>
                </a:solidFill>
              </a:rPr>
              <a:t>True or False: </a:t>
            </a:r>
            <a:r>
              <a:rPr lang="en-US" dirty="0" smtClean="0">
                <a:solidFill>
                  <a:schemeClr val="accent4">
                    <a:lumMod val="10000"/>
                  </a:schemeClr>
                </a:solidFill>
              </a:rPr>
              <a:t>Report results can only be viewed in SAP.</a:t>
            </a:r>
            <a:endParaRPr lang="en-US" b="1" dirty="0">
              <a:solidFill>
                <a:schemeClr val="accent4">
                  <a:lumMod val="10000"/>
                </a:schemeClr>
              </a:solidFill>
            </a:endParaRPr>
          </a:p>
          <a:p>
            <a:endParaRPr lang="en-US" dirty="0"/>
          </a:p>
        </p:txBody>
      </p:sp>
      <p:pic>
        <p:nvPicPr>
          <p:cNvPr id="5" name="Picture 2" descr="C:\Users\namudaliar\Documents\Narayanan\Ball Corp\Images\shutterstock_35719711.jpg"/>
          <p:cNvPicPr>
            <a:picLocks noChangeAspect="1" noChangeArrowheads="1"/>
          </p:cNvPicPr>
          <p:nvPr/>
        </p:nvPicPr>
        <p:blipFill>
          <a:blip r:embed="rId3" cstate="print"/>
          <a:srcRect/>
          <a:stretch>
            <a:fillRect/>
          </a:stretch>
        </p:blipFill>
        <p:spPr bwMode="auto">
          <a:xfrm>
            <a:off x="5771533" y="3366933"/>
            <a:ext cx="3167650" cy="2768395"/>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122</a:t>
            </a:fld>
            <a:endParaRPr lang="en-US" sz="1400" dirty="0">
              <a:solidFill>
                <a:schemeClr val="bg2"/>
              </a:solidFill>
            </a:endParaRPr>
          </a:p>
        </p:txBody>
      </p:sp>
    </p:spTree>
    <p:extLst>
      <p:ext uri="{BB962C8B-B14F-4D97-AF65-F5344CB8AC3E}">
        <p14:creationId xmlns:p14="http://schemas.microsoft.com/office/powerpoint/2010/main" val="337951912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Summary</a:t>
            </a:r>
            <a:endParaRPr lang="en-US" dirty="0"/>
          </a:p>
        </p:txBody>
      </p:sp>
      <p:sp>
        <p:nvSpPr>
          <p:cNvPr id="5" name="Content Placeholder 4"/>
          <p:cNvSpPr>
            <a:spLocks noGrp="1"/>
          </p:cNvSpPr>
          <p:nvPr>
            <p:ph idx="1"/>
          </p:nvPr>
        </p:nvSpPr>
        <p:spPr/>
        <p:txBody>
          <a:bodyPr/>
          <a:lstStyle/>
          <a:p>
            <a:r>
              <a:rPr lang="en-US" dirty="0"/>
              <a:t>Having completed this module, you should be able to:</a:t>
            </a:r>
          </a:p>
          <a:p>
            <a:endParaRPr lang="en-US" dirty="0"/>
          </a:p>
          <a:p>
            <a:pPr marL="342900" indent="-342900">
              <a:buFont typeface="Arial" pitchFamily="34" charset="0"/>
              <a:buChar char="•"/>
            </a:pPr>
            <a:r>
              <a:rPr lang="en-US" dirty="0"/>
              <a:t>Define key terms and concepts</a:t>
            </a:r>
          </a:p>
          <a:p>
            <a:pPr marL="342900" indent="-342900">
              <a:buFont typeface="Arial" pitchFamily="34" charset="0"/>
              <a:buChar char="•"/>
            </a:pPr>
            <a:r>
              <a:rPr lang="en-US" dirty="0"/>
              <a:t>Describe Various reports related to the EAM Management process</a:t>
            </a:r>
          </a:p>
          <a:p>
            <a:pPr marL="342900" indent="-342900">
              <a:buFont typeface="Arial" pitchFamily="34" charset="0"/>
              <a:buChar char="•"/>
            </a:pPr>
            <a:r>
              <a:rPr lang="en-US" dirty="0"/>
              <a:t>Explain the purpose of selection criteria and multiple selection options</a:t>
            </a:r>
          </a:p>
          <a:p>
            <a:pPr marL="342900" indent="-342900">
              <a:buFont typeface="Arial" pitchFamily="34" charset="0"/>
              <a:buChar char="•"/>
            </a:pPr>
            <a:r>
              <a:rPr lang="en-US" dirty="0"/>
              <a:t>Generate a List Edit report in SAP</a:t>
            </a:r>
          </a:p>
          <a:p>
            <a:endParaRPr lang="en-US" dirty="0"/>
          </a:p>
        </p:txBody>
      </p:sp>
      <p:pic>
        <p:nvPicPr>
          <p:cNvPr id="8" name="Picture 2" descr="C:\Users\namudaliar\Documents\Narayanan\Ball Corp\Images\shutterstock_14321632.jpg"/>
          <p:cNvPicPr>
            <a:picLocks noChangeAspect="1" noChangeArrowheads="1"/>
          </p:cNvPicPr>
          <p:nvPr/>
        </p:nvPicPr>
        <p:blipFill>
          <a:blip r:embed="rId2" cstate="print"/>
          <a:srcRect/>
          <a:stretch>
            <a:fillRect/>
          </a:stretch>
        </p:blipFill>
        <p:spPr bwMode="auto">
          <a:xfrm>
            <a:off x="5363497" y="3794023"/>
            <a:ext cx="3780503" cy="2835377"/>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123</a:t>
            </a:fld>
            <a:endParaRPr lang="en-US" sz="1400" dirty="0">
              <a:solidFill>
                <a:schemeClr val="bg2"/>
              </a:solidFill>
            </a:endParaRPr>
          </a:p>
        </p:txBody>
      </p:sp>
    </p:spTree>
    <p:extLst>
      <p:ext uri="{BB962C8B-B14F-4D97-AF65-F5344CB8AC3E}">
        <p14:creationId xmlns:p14="http://schemas.microsoft.com/office/powerpoint/2010/main" val="3998456822"/>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Tree>
    <p:extLst>
      <p:ext uri="{BB962C8B-B14F-4D97-AF65-F5344CB8AC3E}">
        <p14:creationId xmlns:p14="http://schemas.microsoft.com/office/powerpoint/2010/main" val="315609372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Summary</a:t>
            </a:r>
            <a:endParaRPr lang="en-US" dirty="0"/>
          </a:p>
        </p:txBody>
      </p:sp>
      <p:sp>
        <p:nvSpPr>
          <p:cNvPr id="5" name="Content Placeholder 4"/>
          <p:cNvSpPr>
            <a:spLocks noGrp="1"/>
          </p:cNvSpPr>
          <p:nvPr>
            <p:ph idx="1"/>
          </p:nvPr>
        </p:nvSpPr>
        <p:spPr>
          <a:xfrm>
            <a:off x="301625" y="990600"/>
            <a:ext cx="8537575" cy="4983163"/>
          </a:xfrm>
        </p:spPr>
        <p:txBody>
          <a:bodyPr/>
          <a:lstStyle/>
          <a:p>
            <a:r>
              <a:rPr lang="en-US" dirty="0" smtClean="0"/>
              <a:t>In this course you have learned to :</a:t>
            </a:r>
          </a:p>
          <a:p>
            <a:endParaRPr lang="en-US" dirty="0"/>
          </a:p>
          <a:p>
            <a:pPr marL="342900" indent="-342900">
              <a:buFont typeface="Arial" pitchFamily="34" charset="0"/>
              <a:buChar char="•"/>
            </a:pPr>
            <a:r>
              <a:rPr lang="en-US" dirty="0"/>
              <a:t>Define key terms and definitions</a:t>
            </a:r>
          </a:p>
          <a:p>
            <a:pPr marL="342900" indent="-342900">
              <a:buFont typeface="Arial" pitchFamily="34" charset="0"/>
              <a:buChar char="•"/>
            </a:pPr>
            <a:r>
              <a:rPr lang="en-US" dirty="0"/>
              <a:t>Explain the SAP log on process</a:t>
            </a:r>
          </a:p>
          <a:p>
            <a:pPr marL="342900" indent="-342900">
              <a:buFont typeface="Arial" pitchFamily="34" charset="0"/>
              <a:buChar char="•"/>
            </a:pPr>
            <a:r>
              <a:rPr lang="en-US" dirty="0"/>
              <a:t>Explain the EAM process flow</a:t>
            </a:r>
          </a:p>
          <a:p>
            <a:pPr marL="342900" indent="-342900">
              <a:buFont typeface="Arial" pitchFamily="34" charset="0"/>
              <a:buChar char="•"/>
            </a:pPr>
            <a:r>
              <a:rPr lang="en-US" dirty="0"/>
              <a:t>Create notifications in SAP</a:t>
            </a:r>
          </a:p>
          <a:p>
            <a:pPr marL="342900" indent="-342900">
              <a:buFont typeface="Arial" pitchFamily="34" charset="0"/>
              <a:buChar char="•"/>
            </a:pPr>
            <a:r>
              <a:rPr lang="en-US" dirty="0"/>
              <a:t>View assigned work orders</a:t>
            </a:r>
          </a:p>
          <a:p>
            <a:pPr marL="342900" indent="-342900">
              <a:buFont typeface="Arial" pitchFamily="34" charset="0"/>
              <a:buChar char="•"/>
            </a:pPr>
            <a:r>
              <a:rPr lang="en-US" dirty="0" smtClean="0"/>
              <a:t>Manage work orders</a:t>
            </a:r>
            <a:endParaRPr lang="en-US" dirty="0"/>
          </a:p>
          <a:p>
            <a:pPr marL="342900" indent="-342900">
              <a:buFont typeface="Arial" pitchFamily="34" charset="0"/>
              <a:buChar char="•"/>
            </a:pPr>
            <a:r>
              <a:rPr lang="en-US" dirty="0"/>
              <a:t>Create measurement points</a:t>
            </a:r>
          </a:p>
          <a:p>
            <a:pPr marL="342900" indent="-342900">
              <a:buFont typeface="Arial" pitchFamily="34" charset="0"/>
              <a:buChar char="•"/>
            </a:pPr>
            <a:r>
              <a:rPr lang="en-US" dirty="0"/>
              <a:t>Manage bill of materials</a:t>
            </a:r>
          </a:p>
          <a:p>
            <a:pPr marL="342900" indent="-342900">
              <a:buFont typeface="Arial" pitchFamily="34" charset="0"/>
              <a:buChar char="•"/>
            </a:pPr>
            <a:r>
              <a:rPr lang="en-US" dirty="0" smtClean="0"/>
              <a:t>Commission/Decommission equipment</a:t>
            </a:r>
            <a:endParaRPr lang="en-US" dirty="0"/>
          </a:p>
          <a:p>
            <a:pPr marL="342900" indent="-342900">
              <a:buFont typeface="Arial" pitchFamily="34" charset="0"/>
              <a:buChar char="•"/>
            </a:pPr>
            <a:r>
              <a:rPr lang="en-US" dirty="0"/>
              <a:t>Return material to stock</a:t>
            </a:r>
          </a:p>
          <a:p>
            <a:pPr marL="342900" indent="-342900">
              <a:buFont typeface="Arial" pitchFamily="34" charset="0"/>
              <a:buChar char="•"/>
            </a:pPr>
            <a:r>
              <a:rPr lang="en-US" dirty="0"/>
              <a:t>Generate an ad hoc report</a:t>
            </a:r>
          </a:p>
          <a:p>
            <a:endParaRPr lang="en-US" dirty="0"/>
          </a:p>
          <a:p>
            <a:endParaRPr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4191000"/>
            <a:ext cx="2133601" cy="2438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125</a:t>
            </a:fld>
            <a:endParaRPr lang="en-US" sz="1400" dirty="0">
              <a:solidFill>
                <a:schemeClr val="bg2"/>
              </a:solidFill>
            </a:endParaRPr>
          </a:p>
        </p:txBody>
      </p:sp>
    </p:spTree>
    <p:extLst>
      <p:ext uri="{BB962C8B-B14F-4D97-AF65-F5344CB8AC3E}">
        <p14:creationId xmlns:p14="http://schemas.microsoft.com/office/powerpoint/2010/main" val="1586270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Need Info for Help</a:t>
            </a:r>
            <a:endParaRPr lang="en-US" dirty="0">
              <a:solidFill>
                <a:srgbClr val="FF0000"/>
              </a:solidFill>
            </a:endParaRPr>
          </a:p>
        </p:txBody>
      </p:sp>
      <p:sp>
        <p:nvSpPr>
          <p:cNvPr id="3" name="Content Placeholder 2"/>
          <p:cNvSpPr>
            <a:spLocks noGrp="1"/>
          </p:cNvSpPr>
          <p:nvPr>
            <p:ph idx="1"/>
          </p:nvPr>
        </p:nvSpPr>
        <p:spPr/>
        <p:txBody>
          <a:bodyPr/>
          <a:lstStyle/>
          <a:p>
            <a:endParaRPr lang="en-US"/>
          </a:p>
        </p:txBody>
      </p:sp>
      <p:sp>
        <p:nvSpPr>
          <p:cNvPr id="7" name="Slide Number Placeholder 3"/>
          <p:cNvSpPr>
            <a:spLocks noGrp="1"/>
          </p:cNvSpPr>
          <p:nvPr>
            <p:ph type="sldNum" sz="quarter" idx="10"/>
          </p:nvPr>
        </p:nvSpPr>
        <p:spPr>
          <a:xfrm>
            <a:off x="304800" y="6229350"/>
            <a:ext cx="2286000" cy="476250"/>
          </a:xfrm>
        </p:spPr>
        <p:txBody>
          <a:bodyPr/>
          <a:lstStyle/>
          <a:p>
            <a:endParaRPr lang="en-US" dirty="0" smtClean="0"/>
          </a:p>
          <a:p>
            <a:r>
              <a:rPr lang="en-US" sz="1400" dirty="0" smtClean="0">
                <a:solidFill>
                  <a:schemeClr val="bg2"/>
                </a:solidFill>
              </a:rPr>
              <a:t>121</a:t>
            </a:r>
            <a:endParaRPr lang="en-US" sz="1400" dirty="0">
              <a:solidFill>
                <a:schemeClr val="bg2"/>
              </a:solidFill>
            </a:endParaRPr>
          </a:p>
        </p:txBody>
      </p:sp>
    </p:spTree>
    <p:extLst>
      <p:ext uri="{BB962C8B-B14F-4D97-AF65-F5344CB8AC3E}">
        <p14:creationId xmlns:p14="http://schemas.microsoft.com/office/powerpoint/2010/main" val="171594939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dirty="0" smtClean="0"/>
              <a:t>Course Evaluation</a:t>
            </a:r>
            <a:endParaRPr lang="en-US" dirty="0"/>
          </a:p>
        </p:txBody>
      </p:sp>
      <p:sp>
        <p:nvSpPr>
          <p:cNvPr id="159747" name="Rectangle 3"/>
          <p:cNvSpPr>
            <a:spLocks noGrp="1" noChangeArrowheads="1"/>
          </p:cNvSpPr>
          <p:nvPr>
            <p:ph idx="1"/>
          </p:nvPr>
        </p:nvSpPr>
        <p:spPr>
          <a:noFill/>
          <a:ln w="9525">
            <a:noFill/>
            <a:miter lim="800000"/>
            <a:headEnd/>
            <a:tailEnd/>
          </a:ln>
        </p:spPr>
        <p:txBody>
          <a:bodyPr vert="horz" wrap="square" lIns="0" tIns="0" rIns="0" bIns="0" numCol="1" anchor="t" anchorCtr="0" compatLnSpc="1">
            <a:prstTxWarp prst="textNoShape">
              <a:avLst/>
            </a:prstTxWarp>
          </a:bodyPr>
          <a:lstStyle/>
          <a:p>
            <a:pPr marL="227013" indent="-228600" eaLnBrk="0" hangingPunct="0">
              <a:buClr>
                <a:srgbClr val="2B91AA"/>
              </a:buClr>
              <a:buFont typeface="Wingdings" charset="2"/>
              <a:buChar char="§"/>
              <a:tabLst>
                <a:tab pos="228600" algn="l"/>
              </a:tabLst>
            </a:pPr>
            <a:endParaRPr lang="en-US" sz="1800" dirty="0">
              <a:latin typeface="Verdana"/>
              <a:ea typeface="Verdana" pitchFamily="34" charset="0"/>
              <a:cs typeface="Verdana" pitchFamily="34" charset="0"/>
            </a:endParaRPr>
          </a:p>
          <a:p>
            <a:pPr marL="227013" indent="-228600" eaLnBrk="0" hangingPunct="0">
              <a:buClr>
                <a:srgbClr val="2B91AA"/>
              </a:buClr>
              <a:buFont typeface="Wingdings" charset="2"/>
              <a:buChar char="§"/>
              <a:tabLst>
                <a:tab pos="228600" algn="l"/>
              </a:tabLst>
            </a:pPr>
            <a:r>
              <a:rPr lang="en-US" sz="1800" dirty="0">
                <a:latin typeface="Verdana"/>
                <a:ea typeface="Verdana" pitchFamily="34" charset="0"/>
                <a:cs typeface="Verdana" pitchFamily="34" charset="0"/>
              </a:rPr>
              <a:t>Please visit the Learning </a:t>
            </a:r>
            <a:r>
              <a:rPr lang="en-US" sz="1800" dirty="0" smtClean="0">
                <a:latin typeface="Verdana"/>
                <a:ea typeface="Verdana" pitchFamily="34" charset="0"/>
                <a:cs typeface="Verdana" pitchFamily="34" charset="0"/>
              </a:rPr>
              <a:t>Portal </a:t>
            </a:r>
            <a:r>
              <a:rPr lang="en-US" sz="1800" dirty="0">
                <a:latin typeface="Verdana"/>
                <a:ea typeface="Verdana" pitchFamily="34" charset="0"/>
                <a:cs typeface="Verdana" pitchFamily="34" charset="0"/>
              </a:rPr>
              <a:t>and complete the Course Evaluation located in the Help tab. The evaluations are anonymous and your input will help improve future training</a:t>
            </a:r>
            <a:r>
              <a:rPr lang="en-US" sz="1800" dirty="0" smtClean="0">
                <a:latin typeface="Verdana"/>
                <a:ea typeface="Verdana" pitchFamily="34" charset="0"/>
                <a:cs typeface="Verdana" pitchFamily="34" charset="0"/>
              </a:rPr>
              <a:t>.</a:t>
            </a:r>
          </a:p>
          <a:p>
            <a:pPr marL="227013" indent="-228600" eaLnBrk="0" hangingPunct="0">
              <a:buClr>
                <a:srgbClr val="2B91AA"/>
              </a:buClr>
              <a:buFont typeface="Wingdings" charset="2"/>
              <a:buChar char="§"/>
              <a:tabLst>
                <a:tab pos="228600" algn="l"/>
              </a:tabLst>
            </a:pPr>
            <a:endParaRPr lang="en-US" sz="1800" dirty="0">
              <a:latin typeface="Verdana"/>
              <a:ea typeface="Verdana" pitchFamily="34" charset="0"/>
              <a:cs typeface="Verdana" pitchFamily="34" charset="0"/>
            </a:endParaRPr>
          </a:p>
          <a:p>
            <a:pPr marL="227013" indent="-228600" eaLnBrk="0" hangingPunct="0">
              <a:buClr>
                <a:srgbClr val="2B91AA"/>
              </a:buClr>
              <a:buFont typeface="Wingdings" charset="2"/>
              <a:buChar char="§"/>
              <a:tabLst>
                <a:tab pos="228600" algn="l"/>
              </a:tabLst>
            </a:pPr>
            <a:r>
              <a:rPr lang="en-US" sz="1800" dirty="0">
                <a:latin typeface="Verdana"/>
                <a:ea typeface="Verdana" pitchFamily="34" charset="0"/>
                <a:cs typeface="Verdana" pitchFamily="34" charset="0"/>
              </a:rPr>
              <a:t>Go to the Learning </a:t>
            </a:r>
            <a:r>
              <a:rPr lang="en-US" sz="1800" dirty="0" smtClean="0">
                <a:latin typeface="Verdana"/>
                <a:ea typeface="Verdana" pitchFamily="34" charset="0"/>
                <a:cs typeface="Verdana" pitchFamily="34" charset="0"/>
              </a:rPr>
              <a:t>Portal </a:t>
            </a:r>
            <a:r>
              <a:rPr lang="en-US" sz="1800" dirty="0">
                <a:latin typeface="Verdana"/>
                <a:ea typeface="Verdana" pitchFamily="34" charset="0"/>
                <a:cs typeface="Verdana" pitchFamily="34" charset="0"/>
              </a:rPr>
              <a:t>and open the Help tab, or type in the following address to start the survey</a:t>
            </a:r>
            <a:r>
              <a:rPr lang="en-US" sz="1800" dirty="0" smtClean="0">
                <a:latin typeface="Verdana"/>
                <a:ea typeface="Verdana" pitchFamily="34" charset="0"/>
                <a:cs typeface="Verdana" pitchFamily="34" charset="0"/>
              </a:rPr>
              <a:t>:</a:t>
            </a:r>
          </a:p>
          <a:p>
            <a:pPr marL="227013" indent="-228600" eaLnBrk="0" hangingPunct="0">
              <a:buClr>
                <a:srgbClr val="2B91AA"/>
              </a:buClr>
              <a:buFont typeface="Wingdings" charset="2"/>
              <a:buChar char="§"/>
              <a:tabLst>
                <a:tab pos="228600" algn="l"/>
              </a:tabLst>
            </a:pPr>
            <a:endParaRPr lang="en-US" sz="1800" dirty="0">
              <a:latin typeface="Verdana"/>
            </a:endParaRPr>
          </a:p>
          <a:p>
            <a:pPr marL="741363" lvl="1" indent="0" eaLnBrk="0" hangingPunct="0">
              <a:buClr>
                <a:srgbClr val="2B91AA"/>
              </a:buClr>
              <a:buNone/>
              <a:tabLst>
                <a:tab pos="228600" algn="l"/>
              </a:tabLst>
            </a:pPr>
            <a:r>
              <a:rPr lang="en-US" sz="1800" b="1" dirty="0" smtClean="0">
                <a:solidFill>
                  <a:srgbClr val="FF0000"/>
                </a:solidFill>
                <a:latin typeface="Verdana"/>
                <a:ea typeface="Verdana" pitchFamily="34" charset="0"/>
                <a:cs typeface="Verdana" pitchFamily="34" charset="0"/>
              </a:rPr>
              <a:t>(Insert Survey Monkey link here)</a:t>
            </a:r>
          </a:p>
          <a:p>
            <a:pPr marL="227013" indent="-228600" eaLnBrk="0" hangingPunct="0">
              <a:buClr>
                <a:srgbClr val="2B91AA"/>
              </a:buClr>
              <a:buFont typeface="Wingdings" charset="2"/>
              <a:buChar char="§"/>
              <a:tabLst>
                <a:tab pos="228600" algn="l"/>
              </a:tabLst>
            </a:pPr>
            <a:endParaRPr lang="en-US" sz="1800" dirty="0">
              <a:latin typeface="Verdana"/>
              <a:ea typeface="Verdana" pitchFamily="34" charset="0"/>
              <a:cs typeface="Verdana" pitchFamily="34" charset="0"/>
            </a:endParaRPr>
          </a:p>
        </p:txBody>
      </p:sp>
      <p:pic>
        <p:nvPicPr>
          <p:cNvPr id="15362" name="Picture 2" descr="C:\Users\namudaliar\Documents\Narayanan\Ball Corp\Images\shutterstock_59481016.jpg"/>
          <p:cNvPicPr>
            <a:picLocks noChangeAspect="1" noChangeArrowheads="1"/>
          </p:cNvPicPr>
          <p:nvPr/>
        </p:nvPicPr>
        <p:blipFill>
          <a:blip r:embed="rId2" cstate="print"/>
          <a:srcRect/>
          <a:stretch>
            <a:fillRect/>
          </a:stretch>
        </p:blipFill>
        <p:spPr bwMode="auto">
          <a:xfrm>
            <a:off x="5666727" y="3279329"/>
            <a:ext cx="2336134" cy="3222282"/>
          </a:xfrm>
          <a:prstGeom prst="rect">
            <a:avLst/>
          </a:prstGeom>
          <a:noFill/>
        </p:spPr>
      </p:pic>
      <p:sp>
        <p:nvSpPr>
          <p:cNvPr id="6" name="Slide Number Placeholder 3"/>
          <p:cNvSpPr>
            <a:spLocks noGrp="1"/>
          </p:cNvSpPr>
          <p:nvPr>
            <p:ph type="sldNum" sz="quarter" idx="10"/>
          </p:nvPr>
        </p:nvSpPr>
        <p:spPr>
          <a:xfrm>
            <a:off x="304800" y="6229350"/>
            <a:ext cx="2286000" cy="476250"/>
          </a:xfrm>
        </p:spPr>
        <p:txBody>
          <a:bodyPr/>
          <a:lstStyle/>
          <a:p>
            <a:endParaRPr lang="en-US" dirty="0" smtClean="0"/>
          </a:p>
          <a:p>
            <a:fld id="{C0ABF30F-1156-4F41-8469-8F121BB9144A}" type="slidenum">
              <a:rPr lang="en-US" sz="1400" smtClean="0">
                <a:solidFill>
                  <a:schemeClr val="bg2"/>
                </a:solidFill>
              </a:rPr>
              <a:pPr/>
              <a:t>127</a:t>
            </a:fld>
            <a:endParaRPr lang="en-US" sz="1400" dirty="0">
              <a:solidFill>
                <a:schemeClr val="bg2"/>
              </a:solidFill>
            </a:endParaRPr>
          </a:p>
        </p:txBody>
      </p:sp>
    </p:spTree>
    <p:extLst>
      <p:ext uri="{BB962C8B-B14F-4D97-AF65-F5344CB8AC3E}">
        <p14:creationId xmlns:p14="http://schemas.microsoft.com/office/powerpoint/2010/main" val="3955301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Box 4"/>
          <p:cNvSpPr txBox="1">
            <a:spLocks noChangeArrowheads="1"/>
          </p:cNvSpPr>
          <p:nvPr/>
        </p:nvSpPr>
        <p:spPr bwMode="auto">
          <a:xfrm>
            <a:off x="2084388" y="5597525"/>
            <a:ext cx="7288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a:t>What other questions do you have?</a:t>
            </a:r>
          </a:p>
        </p:txBody>
      </p:sp>
      <p:pic>
        <p:nvPicPr>
          <p:cNvPr id="7" name="Picture 3" descr="C:\Users\namudaliar\Documents\Narayanan\Ball Corp\Images\shutterstock_49142218.jpg"/>
          <p:cNvPicPr>
            <a:picLocks noChangeAspect="1" noChangeArrowheads="1"/>
          </p:cNvPicPr>
          <p:nvPr/>
        </p:nvPicPr>
        <p:blipFill>
          <a:blip r:embed="rId2" cstate="print"/>
          <a:srcRect/>
          <a:stretch>
            <a:fillRect/>
          </a:stretch>
        </p:blipFill>
        <p:spPr bwMode="auto">
          <a:xfrm>
            <a:off x="2069686" y="1268361"/>
            <a:ext cx="5045669" cy="4420215"/>
          </a:xfrm>
          <a:prstGeom prst="rect">
            <a:avLst/>
          </a:prstGeom>
          <a:noFill/>
        </p:spPr>
      </p:pic>
      <p:sp>
        <p:nvSpPr>
          <p:cNvPr id="5" name="Title 1"/>
          <p:cNvSpPr txBox="1">
            <a:spLocks/>
          </p:cNvSpPr>
          <p:nvPr/>
        </p:nvSpPr>
        <p:spPr>
          <a:xfrm>
            <a:off x="301625" y="228600"/>
            <a:ext cx="8510588" cy="639762"/>
          </a:xfrm>
          <a:prstGeom prst="rect">
            <a:avLst/>
          </a:prstGeom>
        </p:spPr>
        <p:txBody>
          <a:bodyPr/>
          <a:lst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dirty="0" smtClean="0"/>
              <a:t>Questions</a:t>
            </a:r>
            <a:endParaRPr lang="en-US" dirty="0"/>
          </a:p>
        </p:txBody>
      </p:sp>
    </p:spTree>
    <p:extLst>
      <p:ext uri="{BB962C8B-B14F-4D97-AF65-F5344CB8AC3E}">
        <p14:creationId xmlns:p14="http://schemas.microsoft.com/office/powerpoint/2010/main" val="3015459254"/>
      </p:ext>
    </p:extLst>
  </p:cSld>
  <p:clrMapOvr>
    <a:masterClrMapping/>
  </p:clrMapOvr>
  <p:transition>
    <p:fade thruBlk="1"/>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GUID" val="5eb33501-79cd-4a89-a243-912f074e9d26"/>
</p:tagLst>
</file>

<file path=ppt/tags/tag2.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L619i2EZ_files\slide0001_image001.png"/>
</p:tagLst>
</file>

<file path=ppt/tags/tag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DNwYUK3V_files\slide0001_image001.png"/>
</p:tagLst>
</file>

<file path=ppt/tags/tag5.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EqazWdKb_files\slide0001_image001.png"/>
</p:tagLst>
</file>

<file path=ppt/tags/tag6.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cxoByonn_files\slide0001_image001.png"/>
</p:tagLst>
</file>

<file path=ppt/tags/tag7.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klQkSCZ9_files\slide0001_image001.emz"/>
</p:tagLst>
</file>

<file path=ppt/tags/tag8.xml><?xml version="1.0" encoding="utf-8"?>
<p:tagLst xmlns:a="http://schemas.openxmlformats.org/drawingml/2006/main" xmlns:r="http://schemas.openxmlformats.org/officeDocument/2006/relationships" xmlns:p="http://schemas.openxmlformats.org/presentationml/2006/main">
  <p:tag name="ARTICULATE_SLIDE_GUID" val="d7f62427-8879-49f5-92bd-4d3b3a9194a2"/>
</p:tagLst>
</file>

<file path=ppt/tags/tag9.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3YugZFOp_files\slide0001_image001.png"/>
</p:tagLst>
</file>

<file path=ppt/tags/tag10.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4u0KEt2c_files\slide0001_image001.png"/>
</p:tagLst>
</file>

<file path=ppt/tags/tag11.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1kyWyHUo_files\slide0001_image001.png"/>
</p:tagLst>
</file>

<file path=ppt/tags/tag1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XD8ucFKg_files\slide0001_image001.png"/>
</p:tagLst>
</file>

<file path=ppt/tags/tag1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1ltw8R42_files\slide0001_image001.emz"/>
</p:tagLst>
</file>

<file path=ppt/tags/tag1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xDmaLT01_files\slide0001_image001.png"/>
</p:tagLst>
</file>

<file path=ppt/theme/theme1.xml><?xml version="1.0" encoding="utf-8"?>
<a:theme xmlns:a="http://schemas.openxmlformats.org/drawingml/2006/main" name="Training_PowerPoint_template">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raining Title and Module Title">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Main Body Plain to use with graphics">
  <a:themeElements>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fontScheme name="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9DDA877AD4EF24EB87D1E1CEFC3BFED" ma:contentTypeVersion="0" ma:contentTypeDescription="Create a new document." ma:contentTypeScope="" ma:versionID="cc9713e640a90515cb76b7b71d6ea43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ADFB92-85F9-4CD2-AB39-2E252EF4D10B}">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www.w3.org/XML/1998/namespace"/>
    <ds:schemaRef ds:uri="http://purl.org/dc/dcmitype/"/>
  </ds:schemaRefs>
</ds:datastoreItem>
</file>

<file path=customXml/itemProps2.xml><?xml version="1.0" encoding="utf-8"?>
<ds:datastoreItem xmlns:ds="http://schemas.openxmlformats.org/officeDocument/2006/customXml" ds:itemID="{AD0534AE-E5BE-485B-A3E1-9BD08DF963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855BCBD2-4FB7-4695-B151-A6627945E99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IC_Web_Basics_21June_LE</Template>
  <TotalTime>18049</TotalTime>
  <Words>7115</Words>
  <Application>Microsoft Office PowerPoint</Application>
  <PresentationFormat>On-screen Show (4:3)</PresentationFormat>
  <Paragraphs>1278</Paragraphs>
  <Slides>128</Slides>
  <Notes>44</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128</vt:i4>
      </vt:variant>
    </vt:vector>
  </HeadingPairs>
  <TitlesOfParts>
    <vt:vector size="141" baseType="lpstr">
      <vt:lpstr>Arial</vt:lpstr>
      <vt:lpstr>Calibri</vt:lpstr>
      <vt:lpstr>Courier New</vt:lpstr>
      <vt:lpstr>Georgia</vt:lpstr>
      <vt:lpstr>Segoe Print</vt:lpstr>
      <vt:lpstr>Symbol</vt:lpstr>
      <vt:lpstr>Tahoma</vt:lpstr>
      <vt:lpstr>Times</vt:lpstr>
      <vt:lpstr>Verdana</vt:lpstr>
      <vt:lpstr>Wingdings</vt:lpstr>
      <vt:lpstr>Training_PowerPoint_template</vt:lpstr>
      <vt:lpstr>1_Training Title and Module Title</vt:lpstr>
      <vt:lpstr>Main Body Plain to use with graphics</vt:lpstr>
      <vt:lpstr>Maintenance Planner/Supervisor</vt:lpstr>
      <vt:lpstr>Welcome </vt:lpstr>
      <vt:lpstr>Course Components</vt:lpstr>
      <vt:lpstr>Housekeeping</vt:lpstr>
      <vt:lpstr>Ground Rules</vt:lpstr>
      <vt:lpstr>Course Modules </vt:lpstr>
      <vt:lpstr>Course Objectives </vt:lpstr>
      <vt:lpstr>SAP overview</vt:lpstr>
      <vt:lpstr>Module Objectives</vt:lpstr>
      <vt:lpstr>Log On to SAP</vt:lpstr>
      <vt:lpstr>SAP Screen Features</vt:lpstr>
      <vt:lpstr>Transaction Codes</vt:lpstr>
      <vt:lpstr>Practice</vt:lpstr>
      <vt:lpstr>Check Your Understanding</vt:lpstr>
      <vt:lpstr>Introduction and EAM Process overview</vt:lpstr>
      <vt:lpstr>Module Objectives</vt:lpstr>
      <vt:lpstr>Overview EAM Process Flow</vt:lpstr>
      <vt:lpstr>Overview Work Order Process Flow</vt:lpstr>
      <vt:lpstr>Benefits of an Electronic Process</vt:lpstr>
      <vt:lpstr>Check Your Understanding</vt:lpstr>
      <vt:lpstr>Module Summary</vt:lpstr>
      <vt:lpstr>Manage Notifications</vt:lpstr>
      <vt:lpstr>Module Objectives</vt:lpstr>
      <vt:lpstr>Key Terms and Definitions </vt:lpstr>
      <vt:lpstr>Overview EAM Process Flow</vt:lpstr>
      <vt:lpstr>What is a Notification?</vt:lpstr>
      <vt:lpstr>Notification Types</vt:lpstr>
      <vt:lpstr>Notification Types</vt:lpstr>
      <vt:lpstr>Demonstration</vt:lpstr>
      <vt:lpstr>Practice</vt:lpstr>
      <vt:lpstr>PowerPoint Presentation</vt:lpstr>
      <vt:lpstr>Demonstration</vt:lpstr>
      <vt:lpstr>Practice</vt:lpstr>
      <vt:lpstr>Check Your Understanding</vt:lpstr>
      <vt:lpstr>Module Summary</vt:lpstr>
      <vt:lpstr>Manage Work orders</vt:lpstr>
      <vt:lpstr>Module Objectives</vt:lpstr>
      <vt:lpstr>Key Terms and Definitions</vt:lpstr>
      <vt:lpstr>Overview EAM Process Flow</vt:lpstr>
      <vt:lpstr>Managing Work Orders</vt:lpstr>
      <vt:lpstr>Work Order Types vs. Maintenance Types</vt:lpstr>
      <vt:lpstr>Work Order Types</vt:lpstr>
      <vt:lpstr>PowerPoint Presentation</vt:lpstr>
      <vt:lpstr>Demonstration</vt:lpstr>
      <vt:lpstr>Practice</vt:lpstr>
      <vt:lpstr>Managing Emergency Work in SAP</vt:lpstr>
      <vt:lpstr>PowerPoint Presentation</vt:lpstr>
      <vt:lpstr>Demonstration</vt:lpstr>
      <vt:lpstr>Practice</vt:lpstr>
      <vt:lpstr>PowerPoint Presentation</vt:lpstr>
      <vt:lpstr>Adding Materials, Time, and Resources</vt:lpstr>
      <vt:lpstr>Adding Materials to an Order </vt:lpstr>
      <vt:lpstr>Adding Time to an Order</vt:lpstr>
      <vt:lpstr>PowerPoint Presentation</vt:lpstr>
      <vt:lpstr>Demonstration</vt:lpstr>
      <vt:lpstr>Practice</vt:lpstr>
      <vt:lpstr>PowerPoint Presentation</vt:lpstr>
      <vt:lpstr>PowerPoint Presentation</vt:lpstr>
      <vt:lpstr>Close a Work Order</vt:lpstr>
      <vt:lpstr>PowerPoint Presentation</vt:lpstr>
      <vt:lpstr>Demonstration</vt:lpstr>
      <vt:lpstr>Practice</vt:lpstr>
      <vt:lpstr>Check Your Understanding</vt:lpstr>
      <vt:lpstr>Module Summary</vt:lpstr>
      <vt:lpstr>Manage Planning Activities</vt:lpstr>
      <vt:lpstr>Module Objectives</vt:lpstr>
      <vt:lpstr>Key Terms and Definitions</vt:lpstr>
      <vt:lpstr>Overview EAM Process Flow</vt:lpstr>
      <vt:lpstr>Managing Materials in SAP</vt:lpstr>
      <vt:lpstr>PowerPoint Presentation</vt:lpstr>
      <vt:lpstr>Demonstration</vt:lpstr>
      <vt:lpstr>Practice</vt:lpstr>
      <vt:lpstr>Changing a Material</vt:lpstr>
      <vt:lpstr>Demonstration</vt:lpstr>
      <vt:lpstr>Practice</vt:lpstr>
      <vt:lpstr>What is a BOM?</vt:lpstr>
      <vt:lpstr>Creating a BOM</vt:lpstr>
      <vt:lpstr>Demonstration</vt:lpstr>
      <vt:lpstr>Practice</vt:lpstr>
      <vt:lpstr>PowerPoint Presentation</vt:lpstr>
      <vt:lpstr>Demonstration</vt:lpstr>
      <vt:lpstr>Practice</vt:lpstr>
      <vt:lpstr>What is an Equipment BOM?</vt:lpstr>
      <vt:lpstr>Creating an Equipment BOM</vt:lpstr>
      <vt:lpstr>Demonstration</vt:lpstr>
      <vt:lpstr>Practice</vt:lpstr>
      <vt:lpstr>PowerPoint Presentation</vt:lpstr>
      <vt:lpstr>Demonstration</vt:lpstr>
      <vt:lpstr>Practice</vt:lpstr>
      <vt:lpstr>Purpose of Commission/Decommission</vt:lpstr>
      <vt:lpstr>Commission Equipment</vt:lpstr>
      <vt:lpstr>Demonstration</vt:lpstr>
      <vt:lpstr>Practice</vt:lpstr>
      <vt:lpstr>Decommission Equipment</vt:lpstr>
      <vt:lpstr>Demonstration</vt:lpstr>
      <vt:lpstr>Practice</vt:lpstr>
      <vt:lpstr>Measurement Document</vt:lpstr>
      <vt:lpstr>Creating a Measurement Document</vt:lpstr>
      <vt:lpstr>Demonstration</vt:lpstr>
      <vt:lpstr>Practice</vt:lpstr>
      <vt:lpstr>PowerPoint Presentation</vt:lpstr>
      <vt:lpstr>Demonstration</vt:lpstr>
      <vt:lpstr>Practice</vt:lpstr>
      <vt:lpstr>Module Summary</vt:lpstr>
      <vt:lpstr>Analytics &amp; Reports</vt:lpstr>
      <vt:lpstr>Module Objectives</vt:lpstr>
      <vt:lpstr>Key Terms and Definitions</vt:lpstr>
      <vt:lpstr>Overview EAM Process Flow</vt:lpstr>
      <vt:lpstr>SAP ECC Reports</vt:lpstr>
      <vt:lpstr>Available Reports</vt:lpstr>
      <vt:lpstr>PowerPoint Presentation</vt:lpstr>
      <vt:lpstr>Demonstration</vt:lpstr>
      <vt:lpstr>Practice</vt:lpstr>
      <vt:lpstr>Demonstration</vt:lpstr>
      <vt:lpstr>Practice</vt:lpstr>
      <vt:lpstr>Enter Selection Criteria</vt:lpstr>
      <vt:lpstr>Using the Multiple Selection Option</vt:lpstr>
      <vt:lpstr>Multiple Selection Buttons</vt:lpstr>
      <vt:lpstr>Specify Additional Selection Criteria</vt:lpstr>
      <vt:lpstr>Demonstration</vt:lpstr>
      <vt:lpstr>Practice</vt:lpstr>
      <vt:lpstr>Check Your Understanding</vt:lpstr>
      <vt:lpstr>Module Summary</vt:lpstr>
      <vt:lpstr>Summary</vt:lpstr>
      <vt:lpstr>Course Summary</vt:lpstr>
      <vt:lpstr>Need Info for Help</vt:lpstr>
      <vt:lpstr>Course Evaluation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Drake L. Mancuso</dc:creator>
  <cp:lastModifiedBy>eugene deloatch</cp:lastModifiedBy>
  <cp:revision>501</cp:revision>
  <dcterms:created xsi:type="dcterms:W3CDTF">2012-08-02T17:04:45Z</dcterms:created>
  <dcterms:modified xsi:type="dcterms:W3CDTF">2013-03-27T20:57:44Z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0x01010059DDA877AD4EF24EB87D1E1CEFC3BFED</vt:lpwstr>
  </property>
</Properties>
</file>