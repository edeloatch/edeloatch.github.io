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4"/>
    <p:sldMasterId id="2147483696" r:id="rId5"/>
    <p:sldMasterId id="2147483700" r:id="rId6"/>
  </p:sldMasterIdLst>
  <p:notesMasterIdLst>
    <p:notesMasterId r:id="rId173"/>
  </p:notesMasterIdLst>
  <p:sldIdLst>
    <p:sldId id="256" r:id="rId7"/>
    <p:sldId id="268" r:id="rId8"/>
    <p:sldId id="272" r:id="rId9"/>
    <p:sldId id="486" r:id="rId10"/>
    <p:sldId id="270" r:id="rId11"/>
    <p:sldId id="271" r:id="rId12"/>
    <p:sldId id="257" r:id="rId13"/>
    <p:sldId id="262" r:id="rId14"/>
    <p:sldId id="286" r:id="rId15"/>
    <p:sldId id="275" r:id="rId16"/>
    <p:sldId id="285" r:id="rId17"/>
    <p:sldId id="444" r:id="rId18"/>
    <p:sldId id="524" r:id="rId19"/>
    <p:sldId id="518" r:id="rId20"/>
    <p:sldId id="520" r:id="rId21"/>
    <p:sldId id="516" r:id="rId22"/>
    <p:sldId id="526" r:id="rId23"/>
    <p:sldId id="527" r:id="rId24"/>
    <p:sldId id="529" r:id="rId25"/>
    <p:sldId id="530" r:id="rId26"/>
    <p:sldId id="531" r:id="rId27"/>
    <p:sldId id="525" r:id="rId28"/>
    <p:sldId id="532" r:id="rId29"/>
    <p:sldId id="533" r:id="rId30"/>
    <p:sldId id="278" r:id="rId31"/>
    <p:sldId id="279" r:id="rId32"/>
    <p:sldId id="280" r:id="rId33"/>
    <p:sldId id="281" r:id="rId34"/>
    <p:sldId id="282" r:id="rId35"/>
    <p:sldId id="324" r:id="rId36"/>
    <p:sldId id="443" r:id="rId37"/>
    <p:sldId id="325" r:id="rId38"/>
    <p:sldId id="284" r:id="rId39"/>
    <p:sldId id="283" r:id="rId40"/>
    <p:sldId id="341" r:id="rId41"/>
    <p:sldId id="292" r:id="rId42"/>
    <p:sldId id="461" r:id="rId43"/>
    <p:sldId id="287" r:id="rId44"/>
    <p:sldId id="293" r:id="rId45"/>
    <p:sldId id="294" r:id="rId46"/>
    <p:sldId id="297" r:id="rId47"/>
    <p:sldId id="307" r:id="rId48"/>
    <p:sldId id="289" r:id="rId49"/>
    <p:sldId id="290" r:id="rId50"/>
    <p:sldId id="291" r:id="rId51"/>
    <p:sldId id="462" r:id="rId52"/>
    <p:sldId id="303" r:id="rId53"/>
    <p:sldId id="340" r:id="rId54"/>
    <p:sldId id="309" r:id="rId55"/>
    <p:sldId id="310" r:id="rId56"/>
    <p:sldId id="463" r:id="rId57"/>
    <p:sldId id="338" r:id="rId58"/>
    <p:sldId id="344" r:id="rId59"/>
    <p:sldId id="296" r:id="rId60"/>
    <p:sldId id="295" r:id="rId61"/>
    <p:sldId id="343" r:id="rId62"/>
    <p:sldId id="464" r:id="rId63"/>
    <p:sldId id="346" r:id="rId64"/>
    <p:sldId id="347" r:id="rId65"/>
    <p:sldId id="326" r:id="rId66"/>
    <p:sldId id="323" r:id="rId67"/>
    <p:sldId id="327" r:id="rId68"/>
    <p:sldId id="321" r:id="rId69"/>
    <p:sldId id="322" r:id="rId70"/>
    <p:sldId id="502" r:id="rId71"/>
    <p:sldId id="503" r:id="rId72"/>
    <p:sldId id="504" r:id="rId73"/>
    <p:sldId id="315" r:id="rId74"/>
    <p:sldId id="331" r:id="rId75"/>
    <p:sldId id="333" r:id="rId76"/>
    <p:sldId id="317" r:id="rId77"/>
    <p:sldId id="465" r:id="rId78"/>
    <p:sldId id="335" r:id="rId79"/>
    <p:sldId id="445" r:id="rId80"/>
    <p:sldId id="334" r:id="rId81"/>
    <p:sldId id="318" r:id="rId82"/>
    <p:sldId id="466" r:id="rId83"/>
    <p:sldId id="336" r:id="rId84"/>
    <p:sldId id="446" r:id="rId85"/>
    <p:sldId id="319" r:id="rId86"/>
    <p:sldId id="320" r:id="rId87"/>
    <p:sldId id="300" r:id="rId88"/>
    <p:sldId id="302" r:id="rId89"/>
    <p:sldId id="441" r:id="rId90"/>
    <p:sldId id="442" r:id="rId91"/>
    <p:sldId id="498" r:id="rId92"/>
    <p:sldId id="506" r:id="rId93"/>
    <p:sldId id="507" r:id="rId94"/>
    <p:sldId id="499" r:id="rId95"/>
    <p:sldId id="500" r:id="rId96"/>
    <p:sldId id="501" r:id="rId97"/>
    <p:sldId id="510" r:id="rId98"/>
    <p:sldId id="511" r:id="rId99"/>
    <p:sldId id="495" r:id="rId100"/>
    <p:sldId id="508" r:id="rId101"/>
    <p:sldId id="509" r:id="rId102"/>
    <p:sldId id="512" r:id="rId103"/>
    <p:sldId id="513" r:id="rId104"/>
    <p:sldId id="514" r:id="rId105"/>
    <p:sldId id="496" r:id="rId106"/>
    <p:sldId id="497" r:id="rId107"/>
    <p:sldId id="328" r:id="rId108"/>
    <p:sldId id="329" r:id="rId109"/>
    <p:sldId id="350" r:id="rId110"/>
    <p:sldId id="414" r:id="rId111"/>
    <p:sldId id="416" r:id="rId112"/>
    <p:sldId id="467" r:id="rId113"/>
    <p:sldId id="422" r:id="rId114"/>
    <p:sldId id="447" r:id="rId115"/>
    <p:sldId id="419" r:id="rId116"/>
    <p:sldId id="420" r:id="rId117"/>
    <p:sldId id="366" r:id="rId118"/>
    <p:sldId id="367" r:id="rId119"/>
    <p:sldId id="468" r:id="rId120"/>
    <p:sldId id="423" r:id="rId121"/>
    <p:sldId id="448" r:id="rId122"/>
    <p:sldId id="515" r:id="rId123"/>
    <p:sldId id="372" r:id="rId124"/>
    <p:sldId id="470" r:id="rId125"/>
    <p:sldId id="425" r:id="rId126"/>
    <p:sldId id="374" r:id="rId127"/>
    <p:sldId id="376" r:id="rId128"/>
    <p:sldId id="471" r:id="rId129"/>
    <p:sldId id="426" r:id="rId130"/>
    <p:sldId id="450" r:id="rId131"/>
    <p:sldId id="381" r:id="rId132"/>
    <p:sldId id="421" r:id="rId133"/>
    <p:sldId id="384" r:id="rId134"/>
    <p:sldId id="385" r:id="rId135"/>
    <p:sldId id="386" r:id="rId136"/>
    <p:sldId id="472" r:id="rId137"/>
    <p:sldId id="427" r:id="rId138"/>
    <p:sldId id="388" r:id="rId139"/>
    <p:sldId id="473" r:id="rId140"/>
    <p:sldId id="428" r:id="rId141"/>
    <p:sldId id="391" r:id="rId142"/>
    <p:sldId id="474" r:id="rId143"/>
    <p:sldId id="429" r:id="rId144"/>
    <p:sldId id="452" r:id="rId145"/>
    <p:sldId id="394" r:id="rId146"/>
    <p:sldId id="475" r:id="rId147"/>
    <p:sldId id="430" r:id="rId148"/>
    <p:sldId id="396" r:id="rId149"/>
    <p:sldId id="476" r:id="rId150"/>
    <p:sldId id="431" r:id="rId151"/>
    <p:sldId id="453" r:id="rId152"/>
    <p:sldId id="402" r:id="rId153"/>
    <p:sldId id="477" r:id="rId154"/>
    <p:sldId id="432" r:id="rId155"/>
    <p:sldId id="407" r:id="rId156"/>
    <p:sldId id="404" r:id="rId157"/>
    <p:sldId id="479" r:id="rId158"/>
    <p:sldId id="434" r:id="rId159"/>
    <p:sldId id="410" r:id="rId160"/>
    <p:sldId id="480" r:id="rId161"/>
    <p:sldId id="435" r:id="rId162"/>
    <p:sldId id="412" r:id="rId163"/>
    <p:sldId id="481" r:id="rId164"/>
    <p:sldId id="436" r:id="rId165"/>
    <p:sldId id="439" r:id="rId166"/>
    <p:sldId id="459" r:id="rId167"/>
    <p:sldId id="483" r:id="rId168"/>
    <p:sldId id="339" r:id="rId169"/>
    <p:sldId id="484" r:id="rId170"/>
    <p:sldId id="305" r:id="rId171"/>
    <p:sldId id="306" r:id="rId17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AC8300"/>
    <a:srgbClr val="000000"/>
    <a:srgbClr val="002E62"/>
    <a:srgbClr val="002F62"/>
    <a:srgbClr val="004B91"/>
    <a:srgbClr val="00AEEF"/>
    <a:srgbClr val="C1D8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9290" autoAdjust="0"/>
  </p:normalViewPr>
  <p:slideViewPr>
    <p:cSldViewPr>
      <p:cViewPr>
        <p:scale>
          <a:sx n="70" d="100"/>
          <a:sy n="70" d="100"/>
        </p:scale>
        <p:origin x="-384" y="456"/>
      </p:cViewPr>
      <p:guideLst>
        <p:guide orient="horz" pos="2160"/>
        <p:guide pos="2880"/>
      </p:guideLst>
    </p:cSldViewPr>
  </p:slideViewPr>
  <p:notesTextViewPr>
    <p:cViewPr>
      <p:scale>
        <a:sx n="100" d="100"/>
        <a:sy n="100" d="100"/>
      </p:scale>
      <p:origin x="0" y="0"/>
    </p:cViewPr>
  </p:notesTextViewPr>
  <p:sorterViewPr>
    <p:cViewPr>
      <p:scale>
        <a:sx n="80" d="100"/>
        <a:sy n="80" d="100"/>
      </p:scale>
      <p:origin x="0" y="2269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38" Type="http://schemas.openxmlformats.org/officeDocument/2006/relationships/slide" Target="slides/slide132.xml"/><Relationship Id="rId154" Type="http://schemas.openxmlformats.org/officeDocument/2006/relationships/slide" Target="slides/slide148.xml"/><Relationship Id="rId159" Type="http://schemas.openxmlformats.org/officeDocument/2006/relationships/slide" Target="slides/slide153.xml"/><Relationship Id="rId175" Type="http://schemas.openxmlformats.org/officeDocument/2006/relationships/viewProps" Target="viewProps.xml"/><Relationship Id="rId170" Type="http://schemas.openxmlformats.org/officeDocument/2006/relationships/slide" Target="slides/slide164.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28" Type="http://schemas.openxmlformats.org/officeDocument/2006/relationships/slide" Target="slides/slide122.xml"/><Relationship Id="rId144" Type="http://schemas.openxmlformats.org/officeDocument/2006/relationships/slide" Target="slides/slide138.xml"/><Relationship Id="rId149" Type="http://schemas.openxmlformats.org/officeDocument/2006/relationships/slide" Target="slides/slide143.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slide" Target="slides/slide89.xml"/><Relationship Id="rId160" Type="http://schemas.openxmlformats.org/officeDocument/2006/relationships/slide" Target="slides/slide154.xml"/><Relationship Id="rId165" Type="http://schemas.openxmlformats.org/officeDocument/2006/relationships/slide" Target="slides/slide15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slide" Target="slides/slide112.xml"/><Relationship Id="rId134" Type="http://schemas.openxmlformats.org/officeDocument/2006/relationships/slide" Target="slides/slide128.xml"/><Relationship Id="rId139" Type="http://schemas.openxmlformats.org/officeDocument/2006/relationships/slide" Target="slides/slide133.xml"/><Relationship Id="rId80" Type="http://schemas.openxmlformats.org/officeDocument/2006/relationships/slide" Target="slides/slide74.xml"/><Relationship Id="rId85" Type="http://schemas.openxmlformats.org/officeDocument/2006/relationships/slide" Target="slides/slide79.xml"/><Relationship Id="rId150" Type="http://schemas.openxmlformats.org/officeDocument/2006/relationships/slide" Target="slides/slide144.xml"/><Relationship Id="rId155" Type="http://schemas.openxmlformats.org/officeDocument/2006/relationships/slide" Target="slides/slide149.xml"/><Relationship Id="rId171" Type="http://schemas.openxmlformats.org/officeDocument/2006/relationships/slide" Target="slides/slide165.xml"/><Relationship Id="rId176" Type="http://schemas.openxmlformats.org/officeDocument/2006/relationships/theme" Target="theme/theme1.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124" Type="http://schemas.openxmlformats.org/officeDocument/2006/relationships/slide" Target="slides/slide118.xml"/><Relationship Id="rId129" Type="http://schemas.openxmlformats.org/officeDocument/2006/relationships/slide" Target="slides/slide123.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40" Type="http://schemas.openxmlformats.org/officeDocument/2006/relationships/slide" Target="slides/slide134.xml"/><Relationship Id="rId145" Type="http://schemas.openxmlformats.org/officeDocument/2006/relationships/slide" Target="slides/slide139.xml"/><Relationship Id="rId161" Type="http://schemas.openxmlformats.org/officeDocument/2006/relationships/slide" Target="slides/slide155.xml"/><Relationship Id="rId166" Type="http://schemas.openxmlformats.org/officeDocument/2006/relationships/slide" Target="slides/slide160.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slide" Target="slides/slide113.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30" Type="http://schemas.openxmlformats.org/officeDocument/2006/relationships/slide" Target="slides/slide124.xml"/><Relationship Id="rId135" Type="http://schemas.openxmlformats.org/officeDocument/2006/relationships/slide" Target="slides/slide129.xml"/><Relationship Id="rId143" Type="http://schemas.openxmlformats.org/officeDocument/2006/relationships/slide" Target="slides/slide137.xml"/><Relationship Id="rId148" Type="http://schemas.openxmlformats.org/officeDocument/2006/relationships/slide" Target="slides/slide142.xml"/><Relationship Id="rId151" Type="http://schemas.openxmlformats.org/officeDocument/2006/relationships/slide" Target="slides/slide145.xml"/><Relationship Id="rId156" Type="http://schemas.openxmlformats.org/officeDocument/2006/relationships/slide" Target="slides/slide150.xml"/><Relationship Id="rId164" Type="http://schemas.openxmlformats.org/officeDocument/2006/relationships/slide" Target="slides/slide158.xml"/><Relationship Id="rId169" Type="http://schemas.openxmlformats.org/officeDocument/2006/relationships/slide" Target="slides/slide163.xml"/><Relationship Id="rId177"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72" Type="http://schemas.openxmlformats.org/officeDocument/2006/relationships/slide" Target="slides/slide166.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slide" Target="slides/slide119.xml"/><Relationship Id="rId141" Type="http://schemas.openxmlformats.org/officeDocument/2006/relationships/slide" Target="slides/slide135.xml"/><Relationship Id="rId146" Type="http://schemas.openxmlformats.org/officeDocument/2006/relationships/slide" Target="slides/slide140.xml"/><Relationship Id="rId167" Type="http://schemas.openxmlformats.org/officeDocument/2006/relationships/slide" Target="slides/slide16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162" Type="http://schemas.openxmlformats.org/officeDocument/2006/relationships/slide" Target="slides/slide15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slide" Target="slides/slide130.xml"/><Relationship Id="rId157" Type="http://schemas.openxmlformats.org/officeDocument/2006/relationships/slide" Target="slides/slide151.xml"/><Relationship Id="rId61" Type="http://schemas.openxmlformats.org/officeDocument/2006/relationships/slide" Target="slides/slide55.xml"/><Relationship Id="rId82" Type="http://schemas.openxmlformats.org/officeDocument/2006/relationships/slide" Target="slides/slide76.xml"/><Relationship Id="rId152" Type="http://schemas.openxmlformats.org/officeDocument/2006/relationships/slide" Target="slides/slide146.xml"/><Relationship Id="rId173" Type="http://schemas.openxmlformats.org/officeDocument/2006/relationships/notesMaster" Target="notesMasters/notesMaster1.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slide" Target="slides/slide157.xml"/><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74" Type="http://schemas.openxmlformats.org/officeDocument/2006/relationships/presProps" Target="presProps.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BC7FDE-BE43-4846-BA74-2C6F9B708B3D}" type="doc">
      <dgm:prSet loTypeId="urn:microsoft.com/office/officeart/2011/layout/HexagonRadial" loCatId="cycle" qsTypeId="urn:microsoft.com/office/officeart/2005/8/quickstyle/3d1" qsCatId="3D" csTypeId="urn:microsoft.com/office/officeart/2005/8/colors/colorful2" csCatId="colorful" phldr="1"/>
      <dgm:spPr/>
      <dgm:t>
        <a:bodyPr/>
        <a:lstStyle/>
        <a:p>
          <a:endParaRPr lang="en-US"/>
        </a:p>
      </dgm:t>
    </dgm:pt>
    <dgm:pt modelId="{F5D68D49-4BA4-422A-B52F-B32FB106501F}">
      <dgm:prSet phldrT="[Text]" custT="1"/>
      <dgm:spPr/>
      <dgm:t>
        <a:bodyPr/>
        <a:lstStyle/>
        <a:p>
          <a:r>
            <a:rPr lang="en-US" sz="2800" dirty="0" smtClean="0"/>
            <a:t>SAP</a:t>
          </a:r>
          <a:endParaRPr lang="en-US" sz="2800" dirty="0"/>
        </a:p>
      </dgm:t>
    </dgm:pt>
    <dgm:pt modelId="{A389788C-AE16-4670-B115-074DC36B3EAA}" type="parTrans" cxnId="{D26972A7-05C1-4DC6-8412-1254567CC536}">
      <dgm:prSet/>
      <dgm:spPr/>
      <dgm:t>
        <a:bodyPr/>
        <a:lstStyle/>
        <a:p>
          <a:endParaRPr lang="en-US"/>
        </a:p>
      </dgm:t>
    </dgm:pt>
    <dgm:pt modelId="{F39367FA-DB65-49F3-B03F-A5529244E87C}" type="sibTrans" cxnId="{D26972A7-05C1-4DC6-8412-1254567CC536}">
      <dgm:prSet/>
      <dgm:spPr/>
      <dgm:t>
        <a:bodyPr/>
        <a:lstStyle/>
        <a:p>
          <a:endParaRPr lang="en-US"/>
        </a:p>
      </dgm:t>
    </dgm:pt>
    <dgm:pt modelId="{B388AF0F-A407-4E93-B4D3-802BF3A10D71}">
      <dgm:prSet phldrT="[Text]"/>
      <dgm:spPr/>
      <dgm:t>
        <a:bodyPr/>
        <a:lstStyle/>
        <a:p>
          <a:r>
            <a:rPr lang="en-US" dirty="0" smtClean="0"/>
            <a:t>Finance</a:t>
          </a:r>
          <a:endParaRPr lang="en-US" dirty="0"/>
        </a:p>
      </dgm:t>
    </dgm:pt>
    <dgm:pt modelId="{C2BE2F61-3B97-42A4-AAAD-6021777F940A}" type="parTrans" cxnId="{429AD943-130F-4F72-9F1B-EF8E93A43085}">
      <dgm:prSet/>
      <dgm:spPr/>
      <dgm:t>
        <a:bodyPr/>
        <a:lstStyle/>
        <a:p>
          <a:endParaRPr lang="en-US"/>
        </a:p>
      </dgm:t>
    </dgm:pt>
    <dgm:pt modelId="{2A51AB5D-D919-4DB6-BC97-A73300B09107}" type="sibTrans" cxnId="{429AD943-130F-4F72-9F1B-EF8E93A43085}">
      <dgm:prSet/>
      <dgm:spPr/>
      <dgm:t>
        <a:bodyPr/>
        <a:lstStyle/>
        <a:p>
          <a:endParaRPr lang="en-US"/>
        </a:p>
      </dgm:t>
    </dgm:pt>
    <dgm:pt modelId="{6F5FAC6E-11DA-4CB9-B48C-599073DAF9CF}">
      <dgm:prSet phldrT="[Text]"/>
      <dgm:spPr/>
      <dgm:t>
        <a:bodyPr/>
        <a:lstStyle/>
        <a:p>
          <a:r>
            <a:rPr lang="en-US" dirty="0" smtClean="0"/>
            <a:t>Project Systems</a:t>
          </a:r>
          <a:endParaRPr lang="en-US" dirty="0"/>
        </a:p>
      </dgm:t>
    </dgm:pt>
    <dgm:pt modelId="{CB2E388B-1ED8-4185-8FED-24B7519918A3}" type="parTrans" cxnId="{C6C3788D-705D-4AE4-9328-B835F0F0AAAC}">
      <dgm:prSet/>
      <dgm:spPr/>
      <dgm:t>
        <a:bodyPr/>
        <a:lstStyle/>
        <a:p>
          <a:endParaRPr lang="en-US"/>
        </a:p>
      </dgm:t>
    </dgm:pt>
    <dgm:pt modelId="{2523E81C-8651-4405-8F14-4567F5960966}" type="sibTrans" cxnId="{C6C3788D-705D-4AE4-9328-B835F0F0AAAC}">
      <dgm:prSet/>
      <dgm:spPr/>
      <dgm:t>
        <a:bodyPr/>
        <a:lstStyle/>
        <a:p>
          <a:endParaRPr lang="en-US"/>
        </a:p>
      </dgm:t>
    </dgm:pt>
    <dgm:pt modelId="{4BBF3630-BBB7-47F8-9FDE-049539A4B0C1}">
      <dgm:prSet phldrT="[Text]"/>
      <dgm:spPr/>
      <dgm:t>
        <a:bodyPr/>
        <a:lstStyle/>
        <a:p>
          <a:r>
            <a:rPr lang="en-US" dirty="0" smtClean="0"/>
            <a:t>EAM</a:t>
          </a:r>
          <a:endParaRPr lang="en-US" dirty="0"/>
        </a:p>
      </dgm:t>
    </dgm:pt>
    <dgm:pt modelId="{DECD2399-5AAB-462E-84B5-78177DBE0F2F}" type="parTrans" cxnId="{827C85EB-2EDE-4294-873E-EFB51D13AE4C}">
      <dgm:prSet/>
      <dgm:spPr/>
      <dgm:t>
        <a:bodyPr/>
        <a:lstStyle/>
        <a:p>
          <a:endParaRPr lang="en-US"/>
        </a:p>
      </dgm:t>
    </dgm:pt>
    <dgm:pt modelId="{7B9840A7-C97E-43C4-9648-65E88196CE7B}" type="sibTrans" cxnId="{827C85EB-2EDE-4294-873E-EFB51D13AE4C}">
      <dgm:prSet/>
      <dgm:spPr/>
      <dgm:t>
        <a:bodyPr/>
        <a:lstStyle/>
        <a:p>
          <a:endParaRPr lang="en-US"/>
        </a:p>
      </dgm:t>
    </dgm:pt>
    <dgm:pt modelId="{D680D5E3-226D-4D1E-A2D4-9CA7DE5AC2AA}">
      <dgm:prSet phldrT="[Text]"/>
      <dgm:spPr/>
      <dgm:t>
        <a:bodyPr/>
        <a:lstStyle/>
        <a:p>
          <a:r>
            <a:rPr lang="en-US" dirty="0" smtClean="0"/>
            <a:t>Human Resources</a:t>
          </a:r>
          <a:endParaRPr lang="en-US" dirty="0"/>
        </a:p>
      </dgm:t>
    </dgm:pt>
    <dgm:pt modelId="{43101253-A1BB-471D-A840-A1BD768BB347}" type="parTrans" cxnId="{D18F10DA-088E-4F79-932D-7C652E33AB62}">
      <dgm:prSet/>
      <dgm:spPr/>
      <dgm:t>
        <a:bodyPr/>
        <a:lstStyle/>
        <a:p>
          <a:endParaRPr lang="en-US"/>
        </a:p>
      </dgm:t>
    </dgm:pt>
    <dgm:pt modelId="{84BFFC71-1FFA-4805-8A80-8FCCECDF6188}" type="sibTrans" cxnId="{D18F10DA-088E-4F79-932D-7C652E33AB62}">
      <dgm:prSet/>
      <dgm:spPr/>
      <dgm:t>
        <a:bodyPr/>
        <a:lstStyle/>
        <a:p>
          <a:endParaRPr lang="en-US"/>
        </a:p>
      </dgm:t>
    </dgm:pt>
    <dgm:pt modelId="{CE543BFB-7958-465A-84FB-6CBF62A3FBA5}">
      <dgm:prSet phldrT="[Text]"/>
      <dgm:spPr/>
      <dgm:t>
        <a:bodyPr/>
        <a:lstStyle/>
        <a:p>
          <a:r>
            <a:rPr lang="en-US" dirty="0" smtClean="0"/>
            <a:t>Payroll</a:t>
          </a:r>
          <a:endParaRPr lang="en-US" dirty="0"/>
        </a:p>
      </dgm:t>
    </dgm:pt>
    <dgm:pt modelId="{C7E93E38-24C9-4F79-B34E-C4DE0589306C}" type="parTrans" cxnId="{A6F3EB8D-C068-4CB4-A16A-2D84DF1EFBC5}">
      <dgm:prSet/>
      <dgm:spPr/>
      <dgm:t>
        <a:bodyPr/>
        <a:lstStyle/>
        <a:p>
          <a:endParaRPr lang="en-US"/>
        </a:p>
      </dgm:t>
    </dgm:pt>
    <dgm:pt modelId="{18543DE1-6E13-42EB-BAD7-AF3F86C37AD3}" type="sibTrans" cxnId="{A6F3EB8D-C068-4CB4-A16A-2D84DF1EFBC5}">
      <dgm:prSet/>
      <dgm:spPr/>
      <dgm:t>
        <a:bodyPr/>
        <a:lstStyle/>
        <a:p>
          <a:endParaRPr lang="en-US"/>
        </a:p>
      </dgm:t>
    </dgm:pt>
    <dgm:pt modelId="{CB4CA66D-8B40-46EA-A195-CEF695394504}">
      <dgm:prSet phldrT="[Text]"/>
      <dgm:spPr/>
      <dgm:t>
        <a:bodyPr/>
        <a:lstStyle/>
        <a:p>
          <a:r>
            <a:rPr lang="en-US" dirty="0" smtClean="0"/>
            <a:t>Utility Billing</a:t>
          </a:r>
          <a:endParaRPr lang="en-US" dirty="0"/>
        </a:p>
      </dgm:t>
    </dgm:pt>
    <dgm:pt modelId="{FEFA02EE-2DC7-4A4A-B662-70E800A1A4AD}" type="parTrans" cxnId="{A05F0648-FEBD-4BCC-94EA-762A8DB2609B}">
      <dgm:prSet/>
      <dgm:spPr/>
      <dgm:t>
        <a:bodyPr/>
        <a:lstStyle/>
        <a:p>
          <a:endParaRPr lang="en-US"/>
        </a:p>
      </dgm:t>
    </dgm:pt>
    <dgm:pt modelId="{B0881F95-D63E-4569-971A-082816F671F9}" type="sibTrans" cxnId="{A05F0648-FEBD-4BCC-94EA-762A8DB2609B}">
      <dgm:prSet/>
      <dgm:spPr/>
      <dgm:t>
        <a:bodyPr/>
        <a:lstStyle/>
        <a:p>
          <a:endParaRPr lang="en-US"/>
        </a:p>
      </dgm:t>
    </dgm:pt>
    <dgm:pt modelId="{4B72FA43-AE6B-4389-B500-96A48CFEE1AB}" type="pres">
      <dgm:prSet presAssocID="{14BC7FDE-BE43-4846-BA74-2C6F9B708B3D}" presName="Name0" presStyleCnt="0">
        <dgm:presLayoutVars>
          <dgm:chMax val="1"/>
          <dgm:chPref val="1"/>
          <dgm:dir/>
          <dgm:animOne val="branch"/>
          <dgm:animLvl val="lvl"/>
        </dgm:presLayoutVars>
      </dgm:prSet>
      <dgm:spPr/>
      <dgm:t>
        <a:bodyPr/>
        <a:lstStyle/>
        <a:p>
          <a:endParaRPr lang="en-US"/>
        </a:p>
      </dgm:t>
    </dgm:pt>
    <dgm:pt modelId="{BF8B98AE-3DA7-43E0-9093-B870C7C06618}" type="pres">
      <dgm:prSet presAssocID="{F5D68D49-4BA4-422A-B52F-B32FB106501F}" presName="Parent" presStyleLbl="node0" presStyleIdx="0" presStyleCnt="1">
        <dgm:presLayoutVars>
          <dgm:chMax val="6"/>
          <dgm:chPref val="6"/>
        </dgm:presLayoutVars>
      </dgm:prSet>
      <dgm:spPr/>
      <dgm:t>
        <a:bodyPr/>
        <a:lstStyle/>
        <a:p>
          <a:endParaRPr lang="en-US"/>
        </a:p>
      </dgm:t>
    </dgm:pt>
    <dgm:pt modelId="{AD09B25E-879F-4B95-A816-EB00A55127C3}" type="pres">
      <dgm:prSet presAssocID="{B388AF0F-A407-4E93-B4D3-802BF3A10D71}" presName="Accent1" presStyleCnt="0"/>
      <dgm:spPr/>
      <dgm:t>
        <a:bodyPr/>
        <a:lstStyle/>
        <a:p>
          <a:endParaRPr lang="en-US"/>
        </a:p>
      </dgm:t>
    </dgm:pt>
    <dgm:pt modelId="{6127823F-38F0-49A9-B772-47D958BDC037}" type="pres">
      <dgm:prSet presAssocID="{B388AF0F-A407-4E93-B4D3-802BF3A10D71}" presName="Accent" presStyleLbl="bgShp" presStyleIdx="0" presStyleCnt="6"/>
      <dgm:spPr/>
      <dgm:t>
        <a:bodyPr/>
        <a:lstStyle/>
        <a:p>
          <a:endParaRPr lang="en-US"/>
        </a:p>
      </dgm:t>
    </dgm:pt>
    <dgm:pt modelId="{6DC28DCA-6B47-41B0-AEC5-14EC9B59F255}" type="pres">
      <dgm:prSet presAssocID="{B388AF0F-A407-4E93-B4D3-802BF3A10D71}" presName="Child1" presStyleLbl="node1" presStyleIdx="0" presStyleCnt="6">
        <dgm:presLayoutVars>
          <dgm:chMax val="0"/>
          <dgm:chPref val="0"/>
          <dgm:bulletEnabled val="1"/>
        </dgm:presLayoutVars>
      </dgm:prSet>
      <dgm:spPr/>
      <dgm:t>
        <a:bodyPr/>
        <a:lstStyle/>
        <a:p>
          <a:endParaRPr lang="en-US"/>
        </a:p>
      </dgm:t>
    </dgm:pt>
    <dgm:pt modelId="{34E5F10B-7F02-4173-BC70-A82624F743F3}" type="pres">
      <dgm:prSet presAssocID="{6F5FAC6E-11DA-4CB9-B48C-599073DAF9CF}" presName="Accent2" presStyleCnt="0"/>
      <dgm:spPr/>
      <dgm:t>
        <a:bodyPr/>
        <a:lstStyle/>
        <a:p>
          <a:endParaRPr lang="en-US"/>
        </a:p>
      </dgm:t>
    </dgm:pt>
    <dgm:pt modelId="{25B195BD-CFDF-4B0F-8EB7-280CB3D19805}" type="pres">
      <dgm:prSet presAssocID="{6F5FAC6E-11DA-4CB9-B48C-599073DAF9CF}" presName="Accent" presStyleLbl="bgShp" presStyleIdx="1" presStyleCnt="6"/>
      <dgm:spPr/>
      <dgm:t>
        <a:bodyPr/>
        <a:lstStyle/>
        <a:p>
          <a:endParaRPr lang="en-US"/>
        </a:p>
      </dgm:t>
    </dgm:pt>
    <dgm:pt modelId="{A89AFF7F-DEA8-43FE-BAB7-E0E3C089D088}" type="pres">
      <dgm:prSet presAssocID="{6F5FAC6E-11DA-4CB9-B48C-599073DAF9CF}" presName="Child2" presStyleLbl="node1" presStyleIdx="1" presStyleCnt="6">
        <dgm:presLayoutVars>
          <dgm:chMax val="0"/>
          <dgm:chPref val="0"/>
          <dgm:bulletEnabled val="1"/>
        </dgm:presLayoutVars>
      </dgm:prSet>
      <dgm:spPr/>
      <dgm:t>
        <a:bodyPr/>
        <a:lstStyle/>
        <a:p>
          <a:endParaRPr lang="en-US"/>
        </a:p>
      </dgm:t>
    </dgm:pt>
    <dgm:pt modelId="{DAEF620A-146D-4B23-8BB2-543C659395B0}" type="pres">
      <dgm:prSet presAssocID="{4BBF3630-BBB7-47F8-9FDE-049539A4B0C1}" presName="Accent3" presStyleCnt="0"/>
      <dgm:spPr/>
      <dgm:t>
        <a:bodyPr/>
        <a:lstStyle/>
        <a:p>
          <a:endParaRPr lang="en-US"/>
        </a:p>
      </dgm:t>
    </dgm:pt>
    <dgm:pt modelId="{72508D0D-2569-4255-BD5C-5D8419002C8D}" type="pres">
      <dgm:prSet presAssocID="{4BBF3630-BBB7-47F8-9FDE-049539A4B0C1}" presName="Accent" presStyleLbl="bgShp" presStyleIdx="2" presStyleCnt="6"/>
      <dgm:spPr/>
      <dgm:t>
        <a:bodyPr/>
        <a:lstStyle/>
        <a:p>
          <a:endParaRPr lang="en-US"/>
        </a:p>
      </dgm:t>
    </dgm:pt>
    <dgm:pt modelId="{69361EFB-0275-4462-BDD6-58758DE444B9}" type="pres">
      <dgm:prSet presAssocID="{4BBF3630-BBB7-47F8-9FDE-049539A4B0C1}" presName="Child3" presStyleLbl="node1" presStyleIdx="2" presStyleCnt="6">
        <dgm:presLayoutVars>
          <dgm:chMax val="0"/>
          <dgm:chPref val="0"/>
          <dgm:bulletEnabled val="1"/>
        </dgm:presLayoutVars>
      </dgm:prSet>
      <dgm:spPr/>
      <dgm:t>
        <a:bodyPr/>
        <a:lstStyle/>
        <a:p>
          <a:endParaRPr lang="en-US"/>
        </a:p>
      </dgm:t>
    </dgm:pt>
    <dgm:pt modelId="{0C9989DE-E39C-466D-A162-817D0D7D2FC7}" type="pres">
      <dgm:prSet presAssocID="{D680D5E3-226D-4D1E-A2D4-9CA7DE5AC2AA}" presName="Accent4" presStyleCnt="0"/>
      <dgm:spPr/>
      <dgm:t>
        <a:bodyPr/>
        <a:lstStyle/>
        <a:p>
          <a:endParaRPr lang="en-US"/>
        </a:p>
      </dgm:t>
    </dgm:pt>
    <dgm:pt modelId="{5B1574FC-C3CA-4CC7-B2CC-38F2B5E4BF85}" type="pres">
      <dgm:prSet presAssocID="{D680D5E3-226D-4D1E-A2D4-9CA7DE5AC2AA}" presName="Accent" presStyleLbl="bgShp" presStyleIdx="3" presStyleCnt="6"/>
      <dgm:spPr/>
      <dgm:t>
        <a:bodyPr/>
        <a:lstStyle/>
        <a:p>
          <a:endParaRPr lang="en-US"/>
        </a:p>
      </dgm:t>
    </dgm:pt>
    <dgm:pt modelId="{9EB90388-C186-4FC8-B0C4-BA17029D21CB}" type="pres">
      <dgm:prSet presAssocID="{D680D5E3-226D-4D1E-A2D4-9CA7DE5AC2AA}" presName="Child4" presStyleLbl="node1" presStyleIdx="3" presStyleCnt="6">
        <dgm:presLayoutVars>
          <dgm:chMax val="0"/>
          <dgm:chPref val="0"/>
          <dgm:bulletEnabled val="1"/>
        </dgm:presLayoutVars>
      </dgm:prSet>
      <dgm:spPr/>
      <dgm:t>
        <a:bodyPr/>
        <a:lstStyle/>
        <a:p>
          <a:endParaRPr lang="en-US"/>
        </a:p>
      </dgm:t>
    </dgm:pt>
    <dgm:pt modelId="{B60F77C7-AF8C-4024-B550-E485ECBCE76F}" type="pres">
      <dgm:prSet presAssocID="{CE543BFB-7958-465A-84FB-6CBF62A3FBA5}" presName="Accent5" presStyleCnt="0"/>
      <dgm:spPr/>
      <dgm:t>
        <a:bodyPr/>
        <a:lstStyle/>
        <a:p>
          <a:endParaRPr lang="en-US"/>
        </a:p>
      </dgm:t>
    </dgm:pt>
    <dgm:pt modelId="{563E6FD3-BD10-4428-93BC-0FD17C9A3CDD}" type="pres">
      <dgm:prSet presAssocID="{CE543BFB-7958-465A-84FB-6CBF62A3FBA5}" presName="Accent" presStyleLbl="bgShp" presStyleIdx="4" presStyleCnt="6"/>
      <dgm:spPr/>
      <dgm:t>
        <a:bodyPr/>
        <a:lstStyle/>
        <a:p>
          <a:endParaRPr lang="en-US"/>
        </a:p>
      </dgm:t>
    </dgm:pt>
    <dgm:pt modelId="{12B9BA07-9018-4C9D-A0BA-A97DEA53A208}" type="pres">
      <dgm:prSet presAssocID="{CE543BFB-7958-465A-84FB-6CBF62A3FBA5}" presName="Child5" presStyleLbl="node1" presStyleIdx="4" presStyleCnt="6">
        <dgm:presLayoutVars>
          <dgm:chMax val="0"/>
          <dgm:chPref val="0"/>
          <dgm:bulletEnabled val="1"/>
        </dgm:presLayoutVars>
      </dgm:prSet>
      <dgm:spPr/>
      <dgm:t>
        <a:bodyPr/>
        <a:lstStyle/>
        <a:p>
          <a:endParaRPr lang="en-US"/>
        </a:p>
      </dgm:t>
    </dgm:pt>
    <dgm:pt modelId="{16A1F87F-794D-4FF8-9F69-6AA44C6E92DB}" type="pres">
      <dgm:prSet presAssocID="{CB4CA66D-8B40-46EA-A195-CEF695394504}" presName="Accent6" presStyleCnt="0"/>
      <dgm:spPr/>
      <dgm:t>
        <a:bodyPr/>
        <a:lstStyle/>
        <a:p>
          <a:endParaRPr lang="en-US"/>
        </a:p>
      </dgm:t>
    </dgm:pt>
    <dgm:pt modelId="{A31117D1-456A-4510-9541-CDD7F38E4E70}" type="pres">
      <dgm:prSet presAssocID="{CB4CA66D-8B40-46EA-A195-CEF695394504}" presName="Accent" presStyleLbl="bgShp" presStyleIdx="5" presStyleCnt="6"/>
      <dgm:spPr/>
      <dgm:t>
        <a:bodyPr/>
        <a:lstStyle/>
        <a:p>
          <a:endParaRPr lang="en-US"/>
        </a:p>
      </dgm:t>
    </dgm:pt>
    <dgm:pt modelId="{10963279-B485-45EA-A4BF-B7927212EE24}" type="pres">
      <dgm:prSet presAssocID="{CB4CA66D-8B40-46EA-A195-CEF695394504}" presName="Child6" presStyleLbl="node1" presStyleIdx="5" presStyleCnt="6">
        <dgm:presLayoutVars>
          <dgm:chMax val="0"/>
          <dgm:chPref val="0"/>
          <dgm:bulletEnabled val="1"/>
        </dgm:presLayoutVars>
      </dgm:prSet>
      <dgm:spPr/>
      <dgm:t>
        <a:bodyPr/>
        <a:lstStyle/>
        <a:p>
          <a:endParaRPr lang="en-US"/>
        </a:p>
      </dgm:t>
    </dgm:pt>
  </dgm:ptLst>
  <dgm:cxnLst>
    <dgm:cxn modelId="{C6C3788D-705D-4AE4-9328-B835F0F0AAAC}" srcId="{F5D68D49-4BA4-422A-B52F-B32FB106501F}" destId="{6F5FAC6E-11DA-4CB9-B48C-599073DAF9CF}" srcOrd="1" destOrd="0" parTransId="{CB2E388B-1ED8-4185-8FED-24B7519918A3}" sibTransId="{2523E81C-8651-4405-8F14-4567F5960966}"/>
    <dgm:cxn modelId="{A6F3EB8D-C068-4CB4-A16A-2D84DF1EFBC5}" srcId="{F5D68D49-4BA4-422A-B52F-B32FB106501F}" destId="{CE543BFB-7958-465A-84FB-6CBF62A3FBA5}" srcOrd="4" destOrd="0" parTransId="{C7E93E38-24C9-4F79-B34E-C4DE0589306C}" sibTransId="{18543DE1-6E13-42EB-BAD7-AF3F86C37AD3}"/>
    <dgm:cxn modelId="{FC36D071-BF45-42F4-9B74-9C43EBA0E7C8}" type="presOf" srcId="{CE543BFB-7958-465A-84FB-6CBF62A3FBA5}" destId="{12B9BA07-9018-4C9D-A0BA-A97DEA53A208}" srcOrd="0" destOrd="0" presId="urn:microsoft.com/office/officeart/2011/layout/HexagonRadial"/>
    <dgm:cxn modelId="{C353141C-2AC4-453C-8070-22AA1C5C3BD8}" type="presOf" srcId="{B388AF0F-A407-4E93-B4D3-802BF3A10D71}" destId="{6DC28DCA-6B47-41B0-AEC5-14EC9B59F255}" srcOrd="0" destOrd="0" presId="urn:microsoft.com/office/officeart/2011/layout/HexagonRadial"/>
    <dgm:cxn modelId="{D26972A7-05C1-4DC6-8412-1254567CC536}" srcId="{14BC7FDE-BE43-4846-BA74-2C6F9B708B3D}" destId="{F5D68D49-4BA4-422A-B52F-B32FB106501F}" srcOrd="0" destOrd="0" parTransId="{A389788C-AE16-4670-B115-074DC36B3EAA}" sibTransId="{F39367FA-DB65-49F3-B03F-A5529244E87C}"/>
    <dgm:cxn modelId="{320BE9BF-9251-4BBE-9F51-65AB87D6B171}" type="presOf" srcId="{F5D68D49-4BA4-422A-B52F-B32FB106501F}" destId="{BF8B98AE-3DA7-43E0-9093-B870C7C06618}" srcOrd="0" destOrd="0" presId="urn:microsoft.com/office/officeart/2011/layout/HexagonRadial"/>
    <dgm:cxn modelId="{A05F0648-FEBD-4BCC-94EA-762A8DB2609B}" srcId="{F5D68D49-4BA4-422A-B52F-B32FB106501F}" destId="{CB4CA66D-8B40-46EA-A195-CEF695394504}" srcOrd="5" destOrd="0" parTransId="{FEFA02EE-2DC7-4A4A-B662-70E800A1A4AD}" sibTransId="{B0881F95-D63E-4569-971A-082816F671F9}"/>
    <dgm:cxn modelId="{429AD943-130F-4F72-9F1B-EF8E93A43085}" srcId="{F5D68D49-4BA4-422A-B52F-B32FB106501F}" destId="{B388AF0F-A407-4E93-B4D3-802BF3A10D71}" srcOrd="0" destOrd="0" parTransId="{C2BE2F61-3B97-42A4-AAAD-6021777F940A}" sibTransId="{2A51AB5D-D919-4DB6-BC97-A73300B09107}"/>
    <dgm:cxn modelId="{ED65F399-2FA5-4204-85E3-DA3586D59E74}" type="presOf" srcId="{14BC7FDE-BE43-4846-BA74-2C6F9B708B3D}" destId="{4B72FA43-AE6B-4389-B500-96A48CFEE1AB}" srcOrd="0" destOrd="0" presId="urn:microsoft.com/office/officeart/2011/layout/HexagonRadial"/>
    <dgm:cxn modelId="{827C85EB-2EDE-4294-873E-EFB51D13AE4C}" srcId="{F5D68D49-4BA4-422A-B52F-B32FB106501F}" destId="{4BBF3630-BBB7-47F8-9FDE-049539A4B0C1}" srcOrd="2" destOrd="0" parTransId="{DECD2399-5AAB-462E-84B5-78177DBE0F2F}" sibTransId="{7B9840A7-C97E-43C4-9648-65E88196CE7B}"/>
    <dgm:cxn modelId="{D18F10DA-088E-4F79-932D-7C652E33AB62}" srcId="{F5D68D49-4BA4-422A-B52F-B32FB106501F}" destId="{D680D5E3-226D-4D1E-A2D4-9CA7DE5AC2AA}" srcOrd="3" destOrd="0" parTransId="{43101253-A1BB-471D-A840-A1BD768BB347}" sibTransId="{84BFFC71-1FFA-4805-8A80-8FCCECDF6188}"/>
    <dgm:cxn modelId="{4E475D2C-E5AC-43CD-984B-1C58062F6B38}" type="presOf" srcId="{4BBF3630-BBB7-47F8-9FDE-049539A4B0C1}" destId="{69361EFB-0275-4462-BDD6-58758DE444B9}" srcOrd="0" destOrd="0" presId="urn:microsoft.com/office/officeart/2011/layout/HexagonRadial"/>
    <dgm:cxn modelId="{5443F6C9-F20C-4705-A563-56EFD58AA656}" type="presOf" srcId="{D680D5E3-226D-4D1E-A2D4-9CA7DE5AC2AA}" destId="{9EB90388-C186-4FC8-B0C4-BA17029D21CB}" srcOrd="0" destOrd="0" presId="urn:microsoft.com/office/officeart/2011/layout/HexagonRadial"/>
    <dgm:cxn modelId="{928168FC-D024-460F-B38A-430721FA5709}" type="presOf" srcId="{6F5FAC6E-11DA-4CB9-B48C-599073DAF9CF}" destId="{A89AFF7F-DEA8-43FE-BAB7-E0E3C089D088}" srcOrd="0" destOrd="0" presId="urn:microsoft.com/office/officeart/2011/layout/HexagonRadial"/>
    <dgm:cxn modelId="{AE470F66-ACA8-4C87-8BA7-AA75D59D710E}" type="presOf" srcId="{CB4CA66D-8B40-46EA-A195-CEF695394504}" destId="{10963279-B485-45EA-A4BF-B7927212EE24}" srcOrd="0" destOrd="0" presId="urn:microsoft.com/office/officeart/2011/layout/HexagonRadial"/>
    <dgm:cxn modelId="{913978D1-5B04-46A7-B4CC-507D41A0CAD4}" type="presParOf" srcId="{4B72FA43-AE6B-4389-B500-96A48CFEE1AB}" destId="{BF8B98AE-3DA7-43E0-9093-B870C7C06618}" srcOrd="0" destOrd="0" presId="urn:microsoft.com/office/officeart/2011/layout/HexagonRadial"/>
    <dgm:cxn modelId="{18712EA0-5D41-427E-B34A-53BEFA2631B5}" type="presParOf" srcId="{4B72FA43-AE6B-4389-B500-96A48CFEE1AB}" destId="{AD09B25E-879F-4B95-A816-EB00A55127C3}" srcOrd="1" destOrd="0" presId="urn:microsoft.com/office/officeart/2011/layout/HexagonRadial"/>
    <dgm:cxn modelId="{115F8F16-7208-4C97-AD29-D800BB8BC486}" type="presParOf" srcId="{AD09B25E-879F-4B95-A816-EB00A55127C3}" destId="{6127823F-38F0-49A9-B772-47D958BDC037}" srcOrd="0" destOrd="0" presId="urn:microsoft.com/office/officeart/2011/layout/HexagonRadial"/>
    <dgm:cxn modelId="{AFF92C4C-ADB9-40E9-9BE1-976ED8DF6E94}" type="presParOf" srcId="{4B72FA43-AE6B-4389-B500-96A48CFEE1AB}" destId="{6DC28DCA-6B47-41B0-AEC5-14EC9B59F255}" srcOrd="2" destOrd="0" presId="urn:microsoft.com/office/officeart/2011/layout/HexagonRadial"/>
    <dgm:cxn modelId="{B4150241-4206-4862-9D47-9EBA95541BF6}" type="presParOf" srcId="{4B72FA43-AE6B-4389-B500-96A48CFEE1AB}" destId="{34E5F10B-7F02-4173-BC70-A82624F743F3}" srcOrd="3" destOrd="0" presId="urn:microsoft.com/office/officeart/2011/layout/HexagonRadial"/>
    <dgm:cxn modelId="{8EA4C76A-D093-42F9-812D-44525AF3FE50}" type="presParOf" srcId="{34E5F10B-7F02-4173-BC70-A82624F743F3}" destId="{25B195BD-CFDF-4B0F-8EB7-280CB3D19805}" srcOrd="0" destOrd="0" presId="urn:microsoft.com/office/officeart/2011/layout/HexagonRadial"/>
    <dgm:cxn modelId="{5BC38F92-913E-4593-8449-1150FD0D2E82}" type="presParOf" srcId="{4B72FA43-AE6B-4389-B500-96A48CFEE1AB}" destId="{A89AFF7F-DEA8-43FE-BAB7-E0E3C089D088}" srcOrd="4" destOrd="0" presId="urn:microsoft.com/office/officeart/2011/layout/HexagonRadial"/>
    <dgm:cxn modelId="{CF9D5BEC-D77C-411A-8449-8D6D50A62AD7}" type="presParOf" srcId="{4B72FA43-AE6B-4389-B500-96A48CFEE1AB}" destId="{DAEF620A-146D-4B23-8BB2-543C659395B0}" srcOrd="5" destOrd="0" presId="urn:microsoft.com/office/officeart/2011/layout/HexagonRadial"/>
    <dgm:cxn modelId="{8578206F-3AD9-4A58-9A56-88AC56BCAE85}" type="presParOf" srcId="{DAEF620A-146D-4B23-8BB2-543C659395B0}" destId="{72508D0D-2569-4255-BD5C-5D8419002C8D}" srcOrd="0" destOrd="0" presId="urn:microsoft.com/office/officeart/2011/layout/HexagonRadial"/>
    <dgm:cxn modelId="{97084030-E69D-4E07-AF21-D7B0B692F4A6}" type="presParOf" srcId="{4B72FA43-AE6B-4389-B500-96A48CFEE1AB}" destId="{69361EFB-0275-4462-BDD6-58758DE444B9}" srcOrd="6" destOrd="0" presId="urn:microsoft.com/office/officeart/2011/layout/HexagonRadial"/>
    <dgm:cxn modelId="{3CD0EA91-8421-4E30-8875-75DC6D592277}" type="presParOf" srcId="{4B72FA43-AE6B-4389-B500-96A48CFEE1AB}" destId="{0C9989DE-E39C-466D-A162-817D0D7D2FC7}" srcOrd="7" destOrd="0" presId="urn:microsoft.com/office/officeart/2011/layout/HexagonRadial"/>
    <dgm:cxn modelId="{127C67B0-7A8F-44A5-9467-4D1078BBF838}" type="presParOf" srcId="{0C9989DE-E39C-466D-A162-817D0D7D2FC7}" destId="{5B1574FC-C3CA-4CC7-B2CC-38F2B5E4BF85}" srcOrd="0" destOrd="0" presId="urn:microsoft.com/office/officeart/2011/layout/HexagonRadial"/>
    <dgm:cxn modelId="{A231041B-2ED4-4B21-A0B6-2A97C028A1A7}" type="presParOf" srcId="{4B72FA43-AE6B-4389-B500-96A48CFEE1AB}" destId="{9EB90388-C186-4FC8-B0C4-BA17029D21CB}" srcOrd="8" destOrd="0" presId="urn:microsoft.com/office/officeart/2011/layout/HexagonRadial"/>
    <dgm:cxn modelId="{5F91797C-E0F6-445C-AE42-594A0BE15034}" type="presParOf" srcId="{4B72FA43-AE6B-4389-B500-96A48CFEE1AB}" destId="{B60F77C7-AF8C-4024-B550-E485ECBCE76F}" srcOrd="9" destOrd="0" presId="urn:microsoft.com/office/officeart/2011/layout/HexagonRadial"/>
    <dgm:cxn modelId="{3FAA3990-B3E5-4C49-B067-93003C9DBDF5}" type="presParOf" srcId="{B60F77C7-AF8C-4024-B550-E485ECBCE76F}" destId="{563E6FD3-BD10-4428-93BC-0FD17C9A3CDD}" srcOrd="0" destOrd="0" presId="urn:microsoft.com/office/officeart/2011/layout/HexagonRadial"/>
    <dgm:cxn modelId="{FA8D6F2F-7B7C-4E5C-95C4-AA0FC4DEF49C}" type="presParOf" srcId="{4B72FA43-AE6B-4389-B500-96A48CFEE1AB}" destId="{12B9BA07-9018-4C9D-A0BA-A97DEA53A208}" srcOrd="10" destOrd="0" presId="urn:microsoft.com/office/officeart/2011/layout/HexagonRadial"/>
    <dgm:cxn modelId="{F7D009D5-928E-49BF-AA2E-9CC4C18F2B3F}" type="presParOf" srcId="{4B72FA43-AE6B-4389-B500-96A48CFEE1AB}" destId="{16A1F87F-794D-4FF8-9F69-6AA44C6E92DB}" srcOrd="11" destOrd="0" presId="urn:microsoft.com/office/officeart/2011/layout/HexagonRadial"/>
    <dgm:cxn modelId="{DEF1810E-D311-436D-AB0E-BEFE010EC681}" type="presParOf" srcId="{16A1F87F-794D-4FF8-9F69-6AA44C6E92DB}" destId="{A31117D1-456A-4510-9541-CDD7F38E4E70}" srcOrd="0" destOrd="0" presId="urn:microsoft.com/office/officeart/2011/layout/HexagonRadial"/>
    <dgm:cxn modelId="{0D017906-E306-4BB1-828A-90DB97D991DD}" type="presParOf" srcId="{4B72FA43-AE6B-4389-B500-96A48CFEE1AB}" destId="{10963279-B485-45EA-A4BF-B7927212EE24}"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4658CC-58F4-4727-B25D-93703356502A}" type="doc">
      <dgm:prSet loTypeId="urn:microsoft.com/office/officeart/2005/8/layout/radial5" loCatId="cycle" qsTypeId="urn:microsoft.com/office/officeart/2005/8/quickstyle/3d1" qsCatId="3D" csTypeId="urn:microsoft.com/office/officeart/2005/8/colors/colorful2" csCatId="colorful" phldr="1"/>
      <dgm:spPr/>
      <dgm:t>
        <a:bodyPr/>
        <a:lstStyle/>
        <a:p>
          <a:endParaRPr lang="en-US"/>
        </a:p>
      </dgm:t>
    </dgm:pt>
    <dgm:pt modelId="{4471EA72-17E4-492A-9F6D-1BE37E82AA79}">
      <dgm:prSet phldrT="[Text]"/>
      <dgm:spPr/>
      <dgm:t>
        <a:bodyPr/>
        <a:lstStyle/>
        <a:p>
          <a:r>
            <a:rPr lang="en-US" dirty="0" smtClean="0"/>
            <a:t>SAP</a:t>
          </a:r>
          <a:endParaRPr lang="en-US" dirty="0"/>
        </a:p>
      </dgm:t>
    </dgm:pt>
    <dgm:pt modelId="{B3CEEA5C-6797-40BF-9EEE-9FD004FA9498}" type="parTrans" cxnId="{A73088EA-408C-46CA-BD9A-EE7A7A7A335E}">
      <dgm:prSet/>
      <dgm:spPr/>
      <dgm:t>
        <a:bodyPr/>
        <a:lstStyle/>
        <a:p>
          <a:endParaRPr lang="en-US"/>
        </a:p>
      </dgm:t>
    </dgm:pt>
    <dgm:pt modelId="{61763C7A-8870-400E-BF67-329708EE63CA}" type="sibTrans" cxnId="{A73088EA-408C-46CA-BD9A-EE7A7A7A335E}">
      <dgm:prSet/>
      <dgm:spPr/>
      <dgm:t>
        <a:bodyPr/>
        <a:lstStyle/>
        <a:p>
          <a:endParaRPr lang="en-US"/>
        </a:p>
      </dgm:t>
    </dgm:pt>
    <dgm:pt modelId="{A2F4028E-B9AB-48E9-AD76-17A002FC3607}">
      <dgm:prSet phldrT="[Text]"/>
      <dgm:spPr/>
      <dgm:t>
        <a:bodyPr/>
        <a:lstStyle/>
        <a:p>
          <a:r>
            <a:rPr lang="en-US" dirty="0" smtClean="0"/>
            <a:t>IC Web</a:t>
          </a:r>
          <a:endParaRPr lang="en-US" dirty="0"/>
        </a:p>
      </dgm:t>
    </dgm:pt>
    <dgm:pt modelId="{DF2F12EF-FD19-48D7-92F0-DD133ACF6B73}" type="parTrans" cxnId="{72579A42-9980-4CF1-B369-6920CAF95D05}">
      <dgm:prSet/>
      <dgm:spPr>
        <a:scene3d>
          <a:camera prst="orthographicFront">
            <a:rot lat="0" lon="300000" rev="0"/>
          </a:camera>
          <a:lightRig rig="flat" dir="t"/>
        </a:scene3d>
        <a:sp3d z="-80000" prstMaterial="plastic">
          <a:bevelT w="50800" h="50800"/>
          <a:bevelB w="25400" h="25400" prst="angle"/>
        </a:sp3d>
      </dgm:spPr>
      <dgm:t>
        <a:bodyPr/>
        <a:lstStyle/>
        <a:p>
          <a:endParaRPr lang="en-US"/>
        </a:p>
      </dgm:t>
    </dgm:pt>
    <dgm:pt modelId="{98833913-63E3-4556-99B3-4B6A09071624}" type="sibTrans" cxnId="{72579A42-9980-4CF1-B369-6920CAF95D05}">
      <dgm:prSet/>
      <dgm:spPr/>
      <dgm:t>
        <a:bodyPr/>
        <a:lstStyle/>
        <a:p>
          <a:endParaRPr lang="en-US"/>
        </a:p>
      </dgm:t>
    </dgm:pt>
    <dgm:pt modelId="{AF9CBFCC-8AA0-4FE1-ABD0-7F5093A4577F}">
      <dgm:prSet phldrT="[Text]"/>
      <dgm:spPr/>
      <dgm:t>
        <a:bodyPr/>
        <a:lstStyle/>
        <a:p>
          <a:r>
            <a:rPr lang="en-US" dirty="0" smtClean="0"/>
            <a:t>ESS</a:t>
          </a:r>
          <a:endParaRPr lang="en-US" dirty="0"/>
        </a:p>
      </dgm:t>
    </dgm:pt>
    <dgm:pt modelId="{9B8527AD-4E5E-4281-BD5F-2B463132F5A7}" type="parTrans" cxnId="{3E092048-8CA9-4370-8B61-810C06089F2E}">
      <dgm:prSet/>
      <dgm:spPr/>
      <dgm:t>
        <a:bodyPr/>
        <a:lstStyle/>
        <a:p>
          <a:endParaRPr lang="en-US"/>
        </a:p>
      </dgm:t>
    </dgm:pt>
    <dgm:pt modelId="{C5C53BA2-82BF-4FA1-909C-BD7C0D376B7F}" type="sibTrans" cxnId="{3E092048-8CA9-4370-8B61-810C06089F2E}">
      <dgm:prSet/>
      <dgm:spPr/>
      <dgm:t>
        <a:bodyPr/>
        <a:lstStyle/>
        <a:p>
          <a:endParaRPr lang="en-US"/>
        </a:p>
      </dgm:t>
    </dgm:pt>
    <dgm:pt modelId="{6D7068D5-3058-4AF4-9999-1A1E79A2F71F}">
      <dgm:prSet phldrT="[Text]"/>
      <dgm:spPr/>
      <dgm:t>
        <a:bodyPr/>
        <a:lstStyle/>
        <a:p>
          <a:r>
            <a:rPr lang="en-US" dirty="0" smtClean="0"/>
            <a:t>SRM</a:t>
          </a:r>
          <a:endParaRPr lang="en-US" dirty="0"/>
        </a:p>
      </dgm:t>
    </dgm:pt>
    <dgm:pt modelId="{48210319-5D01-4134-832B-20394952FFC0}" type="parTrans" cxnId="{CF1AE872-5321-4260-88E7-FEC035228702}">
      <dgm:prSet/>
      <dgm:spPr/>
      <dgm:t>
        <a:bodyPr/>
        <a:lstStyle/>
        <a:p>
          <a:endParaRPr lang="en-US"/>
        </a:p>
      </dgm:t>
    </dgm:pt>
    <dgm:pt modelId="{A0A9CF23-B999-4955-B77A-547E8FDDDE72}" type="sibTrans" cxnId="{CF1AE872-5321-4260-88E7-FEC035228702}">
      <dgm:prSet/>
      <dgm:spPr/>
      <dgm:t>
        <a:bodyPr/>
        <a:lstStyle/>
        <a:p>
          <a:endParaRPr lang="en-US"/>
        </a:p>
      </dgm:t>
    </dgm:pt>
    <dgm:pt modelId="{5BDF837A-E1DA-45F8-A707-DB992D7EC041}">
      <dgm:prSet phldrT="[Text]"/>
      <dgm:spPr/>
      <dgm:t>
        <a:bodyPr/>
        <a:lstStyle/>
        <a:p>
          <a:r>
            <a:rPr lang="en-US" dirty="0" smtClean="0"/>
            <a:t>ECC</a:t>
          </a:r>
          <a:endParaRPr lang="en-US" dirty="0"/>
        </a:p>
      </dgm:t>
    </dgm:pt>
    <dgm:pt modelId="{F0CD6706-D866-4D26-A067-3527E7999640}" type="parTrans" cxnId="{0F685C19-CE8C-4BEC-BFC8-EA055A894E5F}">
      <dgm:prSet/>
      <dgm:spPr/>
      <dgm:t>
        <a:bodyPr/>
        <a:lstStyle/>
        <a:p>
          <a:endParaRPr lang="en-US"/>
        </a:p>
      </dgm:t>
    </dgm:pt>
    <dgm:pt modelId="{1FD70FE9-AA89-4E92-9ACF-26DCABF8C539}" type="sibTrans" cxnId="{0F685C19-CE8C-4BEC-BFC8-EA055A894E5F}">
      <dgm:prSet/>
      <dgm:spPr/>
      <dgm:t>
        <a:bodyPr/>
        <a:lstStyle/>
        <a:p>
          <a:endParaRPr lang="en-US"/>
        </a:p>
      </dgm:t>
    </dgm:pt>
    <dgm:pt modelId="{A74F2C0E-8889-4918-92C2-5BC9CD32D4A7}" type="pres">
      <dgm:prSet presAssocID="{014658CC-58F4-4727-B25D-93703356502A}" presName="Name0" presStyleCnt="0">
        <dgm:presLayoutVars>
          <dgm:chMax val="1"/>
          <dgm:dir/>
          <dgm:animLvl val="ctr"/>
          <dgm:resizeHandles val="exact"/>
        </dgm:presLayoutVars>
      </dgm:prSet>
      <dgm:spPr/>
      <dgm:t>
        <a:bodyPr/>
        <a:lstStyle/>
        <a:p>
          <a:endParaRPr lang="en-US"/>
        </a:p>
      </dgm:t>
    </dgm:pt>
    <dgm:pt modelId="{4B5C3C21-AC0D-4D92-BCA8-B717230C3D31}" type="pres">
      <dgm:prSet presAssocID="{4471EA72-17E4-492A-9F6D-1BE37E82AA79}" presName="centerShape" presStyleLbl="node0" presStyleIdx="0" presStyleCnt="1"/>
      <dgm:spPr/>
      <dgm:t>
        <a:bodyPr/>
        <a:lstStyle/>
        <a:p>
          <a:endParaRPr lang="en-US"/>
        </a:p>
      </dgm:t>
    </dgm:pt>
    <dgm:pt modelId="{94C0F964-BF25-4B43-88C4-1A34CDA46F3D}" type="pres">
      <dgm:prSet presAssocID="{DF2F12EF-FD19-48D7-92F0-DD133ACF6B73}" presName="parTrans" presStyleLbl="sibTrans2D1" presStyleIdx="0" presStyleCnt="4"/>
      <dgm:spPr/>
      <dgm:t>
        <a:bodyPr/>
        <a:lstStyle/>
        <a:p>
          <a:endParaRPr lang="en-US"/>
        </a:p>
      </dgm:t>
    </dgm:pt>
    <dgm:pt modelId="{AEEB9885-89CE-45F1-AA79-6D11B01EEA3B}" type="pres">
      <dgm:prSet presAssocID="{DF2F12EF-FD19-48D7-92F0-DD133ACF6B73}" presName="connectorText" presStyleLbl="sibTrans2D1" presStyleIdx="0" presStyleCnt="4"/>
      <dgm:spPr/>
      <dgm:t>
        <a:bodyPr/>
        <a:lstStyle/>
        <a:p>
          <a:endParaRPr lang="en-US"/>
        </a:p>
      </dgm:t>
    </dgm:pt>
    <dgm:pt modelId="{FA0B023D-E0B3-4087-A225-CFCAC3A73CE3}" type="pres">
      <dgm:prSet presAssocID="{A2F4028E-B9AB-48E9-AD76-17A002FC3607}" presName="node" presStyleLbl="node1" presStyleIdx="0" presStyleCnt="4">
        <dgm:presLayoutVars>
          <dgm:bulletEnabled val="1"/>
        </dgm:presLayoutVars>
      </dgm:prSet>
      <dgm:spPr/>
      <dgm:t>
        <a:bodyPr/>
        <a:lstStyle/>
        <a:p>
          <a:endParaRPr lang="en-US"/>
        </a:p>
      </dgm:t>
    </dgm:pt>
    <dgm:pt modelId="{8E6F1776-1C78-42BE-987C-726DA1FF3ADB}" type="pres">
      <dgm:prSet presAssocID="{9B8527AD-4E5E-4281-BD5F-2B463132F5A7}" presName="parTrans" presStyleLbl="sibTrans2D1" presStyleIdx="1" presStyleCnt="4"/>
      <dgm:spPr/>
      <dgm:t>
        <a:bodyPr/>
        <a:lstStyle/>
        <a:p>
          <a:endParaRPr lang="en-US"/>
        </a:p>
      </dgm:t>
    </dgm:pt>
    <dgm:pt modelId="{688ACD75-798A-4DDA-BBAE-E9BB85E9F3A2}" type="pres">
      <dgm:prSet presAssocID="{9B8527AD-4E5E-4281-BD5F-2B463132F5A7}" presName="connectorText" presStyleLbl="sibTrans2D1" presStyleIdx="1" presStyleCnt="4"/>
      <dgm:spPr/>
      <dgm:t>
        <a:bodyPr/>
        <a:lstStyle/>
        <a:p>
          <a:endParaRPr lang="en-US"/>
        </a:p>
      </dgm:t>
    </dgm:pt>
    <dgm:pt modelId="{49192C08-21DE-4221-8A64-2BE7BC5E8BBB}" type="pres">
      <dgm:prSet presAssocID="{AF9CBFCC-8AA0-4FE1-ABD0-7F5093A4577F}" presName="node" presStyleLbl="node1" presStyleIdx="1" presStyleCnt="4">
        <dgm:presLayoutVars>
          <dgm:bulletEnabled val="1"/>
        </dgm:presLayoutVars>
      </dgm:prSet>
      <dgm:spPr/>
      <dgm:t>
        <a:bodyPr/>
        <a:lstStyle/>
        <a:p>
          <a:endParaRPr lang="en-US"/>
        </a:p>
      </dgm:t>
    </dgm:pt>
    <dgm:pt modelId="{51B87D4D-E0D8-49B9-8BF8-ED381BAC007F}" type="pres">
      <dgm:prSet presAssocID="{48210319-5D01-4134-832B-20394952FFC0}" presName="parTrans" presStyleLbl="sibTrans2D1" presStyleIdx="2" presStyleCnt="4"/>
      <dgm:spPr/>
      <dgm:t>
        <a:bodyPr/>
        <a:lstStyle/>
        <a:p>
          <a:endParaRPr lang="en-US"/>
        </a:p>
      </dgm:t>
    </dgm:pt>
    <dgm:pt modelId="{DD0F88EB-C4ED-4007-A85C-0D5F9A70AA0F}" type="pres">
      <dgm:prSet presAssocID="{48210319-5D01-4134-832B-20394952FFC0}" presName="connectorText" presStyleLbl="sibTrans2D1" presStyleIdx="2" presStyleCnt="4"/>
      <dgm:spPr/>
      <dgm:t>
        <a:bodyPr/>
        <a:lstStyle/>
        <a:p>
          <a:endParaRPr lang="en-US"/>
        </a:p>
      </dgm:t>
    </dgm:pt>
    <dgm:pt modelId="{C3505AE2-B4C0-4DE7-A30C-C59B908665A0}" type="pres">
      <dgm:prSet presAssocID="{6D7068D5-3058-4AF4-9999-1A1E79A2F71F}" presName="node" presStyleLbl="node1" presStyleIdx="2" presStyleCnt="4">
        <dgm:presLayoutVars>
          <dgm:bulletEnabled val="1"/>
        </dgm:presLayoutVars>
      </dgm:prSet>
      <dgm:spPr/>
      <dgm:t>
        <a:bodyPr/>
        <a:lstStyle/>
        <a:p>
          <a:endParaRPr lang="en-US"/>
        </a:p>
      </dgm:t>
    </dgm:pt>
    <dgm:pt modelId="{A291E796-3A0B-4C73-9AA5-2A56F2F26B63}" type="pres">
      <dgm:prSet presAssocID="{F0CD6706-D866-4D26-A067-3527E7999640}" presName="parTrans" presStyleLbl="sibTrans2D1" presStyleIdx="3" presStyleCnt="4"/>
      <dgm:spPr/>
      <dgm:t>
        <a:bodyPr/>
        <a:lstStyle/>
        <a:p>
          <a:endParaRPr lang="en-US"/>
        </a:p>
      </dgm:t>
    </dgm:pt>
    <dgm:pt modelId="{01EBB773-A9A5-414A-8851-D675F6D1D756}" type="pres">
      <dgm:prSet presAssocID="{F0CD6706-D866-4D26-A067-3527E7999640}" presName="connectorText" presStyleLbl="sibTrans2D1" presStyleIdx="3" presStyleCnt="4"/>
      <dgm:spPr/>
      <dgm:t>
        <a:bodyPr/>
        <a:lstStyle/>
        <a:p>
          <a:endParaRPr lang="en-US"/>
        </a:p>
      </dgm:t>
    </dgm:pt>
    <dgm:pt modelId="{8E4CCE5C-1AF7-45C4-9479-251147DF0C0A}" type="pres">
      <dgm:prSet presAssocID="{5BDF837A-E1DA-45F8-A707-DB992D7EC041}" presName="node" presStyleLbl="node1" presStyleIdx="3" presStyleCnt="4">
        <dgm:presLayoutVars>
          <dgm:bulletEnabled val="1"/>
        </dgm:presLayoutVars>
      </dgm:prSet>
      <dgm:spPr/>
      <dgm:t>
        <a:bodyPr/>
        <a:lstStyle/>
        <a:p>
          <a:endParaRPr lang="en-US"/>
        </a:p>
      </dgm:t>
    </dgm:pt>
  </dgm:ptLst>
  <dgm:cxnLst>
    <dgm:cxn modelId="{EF02AD6A-C233-4C48-B835-3FF48B5301D0}" type="presOf" srcId="{4471EA72-17E4-492A-9F6D-1BE37E82AA79}" destId="{4B5C3C21-AC0D-4D92-BCA8-B717230C3D31}" srcOrd="0" destOrd="0" presId="urn:microsoft.com/office/officeart/2005/8/layout/radial5"/>
    <dgm:cxn modelId="{242BA4C1-992F-4840-BCC8-3E09CFCB17DE}" type="presOf" srcId="{DF2F12EF-FD19-48D7-92F0-DD133ACF6B73}" destId="{AEEB9885-89CE-45F1-AA79-6D11B01EEA3B}" srcOrd="1" destOrd="0" presId="urn:microsoft.com/office/officeart/2005/8/layout/radial5"/>
    <dgm:cxn modelId="{0F685C19-CE8C-4BEC-BFC8-EA055A894E5F}" srcId="{4471EA72-17E4-492A-9F6D-1BE37E82AA79}" destId="{5BDF837A-E1DA-45F8-A707-DB992D7EC041}" srcOrd="3" destOrd="0" parTransId="{F0CD6706-D866-4D26-A067-3527E7999640}" sibTransId="{1FD70FE9-AA89-4E92-9ACF-26DCABF8C539}"/>
    <dgm:cxn modelId="{72579A42-9980-4CF1-B369-6920CAF95D05}" srcId="{4471EA72-17E4-492A-9F6D-1BE37E82AA79}" destId="{A2F4028E-B9AB-48E9-AD76-17A002FC3607}" srcOrd="0" destOrd="0" parTransId="{DF2F12EF-FD19-48D7-92F0-DD133ACF6B73}" sibTransId="{98833913-63E3-4556-99B3-4B6A09071624}"/>
    <dgm:cxn modelId="{A975A0BF-3AC8-4F0E-AEFB-C8702CA27048}" type="presOf" srcId="{F0CD6706-D866-4D26-A067-3527E7999640}" destId="{A291E796-3A0B-4C73-9AA5-2A56F2F26B63}" srcOrd="0" destOrd="0" presId="urn:microsoft.com/office/officeart/2005/8/layout/radial5"/>
    <dgm:cxn modelId="{3E092048-8CA9-4370-8B61-810C06089F2E}" srcId="{4471EA72-17E4-492A-9F6D-1BE37E82AA79}" destId="{AF9CBFCC-8AA0-4FE1-ABD0-7F5093A4577F}" srcOrd="1" destOrd="0" parTransId="{9B8527AD-4E5E-4281-BD5F-2B463132F5A7}" sibTransId="{C5C53BA2-82BF-4FA1-909C-BD7C0D376B7F}"/>
    <dgm:cxn modelId="{A73088EA-408C-46CA-BD9A-EE7A7A7A335E}" srcId="{014658CC-58F4-4727-B25D-93703356502A}" destId="{4471EA72-17E4-492A-9F6D-1BE37E82AA79}" srcOrd="0" destOrd="0" parTransId="{B3CEEA5C-6797-40BF-9EEE-9FD004FA9498}" sibTransId="{61763C7A-8870-400E-BF67-329708EE63CA}"/>
    <dgm:cxn modelId="{5C0ACD35-FE21-4E69-BFEF-4E6672F6CD89}" type="presOf" srcId="{6D7068D5-3058-4AF4-9999-1A1E79A2F71F}" destId="{C3505AE2-B4C0-4DE7-A30C-C59B908665A0}" srcOrd="0" destOrd="0" presId="urn:microsoft.com/office/officeart/2005/8/layout/radial5"/>
    <dgm:cxn modelId="{EAC585AA-907E-4910-981B-2BA619F1F5E7}" type="presOf" srcId="{014658CC-58F4-4727-B25D-93703356502A}" destId="{A74F2C0E-8889-4918-92C2-5BC9CD32D4A7}" srcOrd="0" destOrd="0" presId="urn:microsoft.com/office/officeart/2005/8/layout/radial5"/>
    <dgm:cxn modelId="{7ABB30DB-4D32-4D7D-A3D2-201E59038608}" type="presOf" srcId="{9B8527AD-4E5E-4281-BD5F-2B463132F5A7}" destId="{688ACD75-798A-4DDA-BBAE-E9BB85E9F3A2}" srcOrd="1" destOrd="0" presId="urn:microsoft.com/office/officeart/2005/8/layout/radial5"/>
    <dgm:cxn modelId="{5D084B45-5891-40DF-A457-1CB1E65B41A2}" type="presOf" srcId="{F0CD6706-D866-4D26-A067-3527E7999640}" destId="{01EBB773-A9A5-414A-8851-D675F6D1D756}" srcOrd="1" destOrd="0" presId="urn:microsoft.com/office/officeart/2005/8/layout/radial5"/>
    <dgm:cxn modelId="{A99D5DCC-E303-48BF-BEEC-4DA9454CEC2E}" type="presOf" srcId="{48210319-5D01-4134-832B-20394952FFC0}" destId="{51B87D4D-E0D8-49B9-8BF8-ED381BAC007F}" srcOrd="0" destOrd="0" presId="urn:microsoft.com/office/officeart/2005/8/layout/radial5"/>
    <dgm:cxn modelId="{109D333C-4844-4380-A980-D3A1781587EA}" type="presOf" srcId="{AF9CBFCC-8AA0-4FE1-ABD0-7F5093A4577F}" destId="{49192C08-21DE-4221-8A64-2BE7BC5E8BBB}" srcOrd="0" destOrd="0" presId="urn:microsoft.com/office/officeart/2005/8/layout/radial5"/>
    <dgm:cxn modelId="{C2238D5C-2FB7-4D3E-9C89-6F6DD0094816}" type="presOf" srcId="{5BDF837A-E1DA-45F8-A707-DB992D7EC041}" destId="{8E4CCE5C-1AF7-45C4-9479-251147DF0C0A}" srcOrd="0" destOrd="0" presId="urn:microsoft.com/office/officeart/2005/8/layout/radial5"/>
    <dgm:cxn modelId="{CF1AE872-5321-4260-88E7-FEC035228702}" srcId="{4471EA72-17E4-492A-9F6D-1BE37E82AA79}" destId="{6D7068D5-3058-4AF4-9999-1A1E79A2F71F}" srcOrd="2" destOrd="0" parTransId="{48210319-5D01-4134-832B-20394952FFC0}" sibTransId="{A0A9CF23-B999-4955-B77A-547E8FDDDE72}"/>
    <dgm:cxn modelId="{EA4C22D3-2BCC-4CF1-92B7-B46ED28C9AC9}" type="presOf" srcId="{9B8527AD-4E5E-4281-BD5F-2B463132F5A7}" destId="{8E6F1776-1C78-42BE-987C-726DA1FF3ADB}" srcOrd="0" destOrd="0" presId="urn:microsoft.com/office/officeart/2005/8/layout/radial5"/>
    <dgm:cxn modelId="{637EC29C-8E18-42EA-BD7F-A3D7EA83CBD5}" type="presOf" srcId="{DF2F12EF-FD19-48D7-92F0-DD133ACF6B73}" destId="{94C0F964-BF25-4B43-88C4-1A34CDA46F3D}" srcOrd="0" destOrd="0" presId="urn:microsoft.com/office/officeart/2005/8/layout/radial5"/>
    <dgm:cxn modelId="{CE281C23-71AB-45C7-BF21-4F9BB32B00F9}" type="presOf" srcId="{48210319-5D01-4134-832B-20394952FFC0}" destId="{DD0F88EB-C4ED-4007-A85C-0D5F9A70AA0F}" srcOrd="1" destOrd="0" presId="urn:microsoft.com/office/officeart/2005/8/layout/radial5"/>
    <dgm:cxn modelId="{D4B46794-74EB-4779-9DE0-8056C6997B8E}" type="presOf" srcId="{A2F4028E-B9AB-48E9-AD76-17A002FC3607}" destId="{FA0B023D-E0B3-4087-A225-CFCAC3A73CE3}" srcOrd="0" destOrd="0" presId="urn:microsoft.com/office/officeart/2005/8/layout/radial5"/>
    <dgm:cxn modelId="{A991A67C-F9B8-4093-B19B-F1F9AD8858DC}" type="presParOf" srcId="{A74F2C0E-8889-4918-92C2-5BC9CD32D4A7}" destId="{4B5C3C21-AC0D-4D92-BCA8-B717230C3D31}" srcOrd="0" destOrd="0" presId="urn:microsoft.com/office/officeart/2005/8/layout/radial5"/>
    <dgm:cxn modelId="{0A47297F-ED92-4505-9514-5EC05B14CD01}" type="presParOf" srcId="{A74F2C0E-8889-4918-92C2-5BC9CD32D4A7}" destId="{94C0F964-BF25-4B43-88C4-1A34CDA46F3D}" srcOrd="1" destOrd="0" presId="urn:microsoft.com/office/officeart/2005/8/layout/radial5"/>
    <dgm:cxn modelId="{AC658BB6-756C-48F7-A719-B3988A4B4408}" type="presParOf" srcId="{94C0F964-BF25-4B43-88C4-1A34CDA46F3D}" destId="{AEEB9885-89CE-45F1-AA79-6D11B01EEA3B}" srcOrd="0" destOrd="0" presId="urn:microsoft.com/office/officeart/2005/8/layout/radial5"/>
    <dgm:cxn modelId="{5EC4C7A5-00F2-4B29-904A-0BA24A1B9F8B}" type="presParOf" srcId="{A74F2C0E-8889-4918-92C2-5BC9CD32D4A7}" destId="{FA0B023D-E0B3-4087-A225-CFCAC3A73CE3}" srcOrd="2" destOrd="0" presId="urn:microsoft.com/office/officeart/2005/8/layout/radial5"/>
    <dgm:cxn modelId="{923666C4-5F52-4CBB-9683-D3C25F460CA2}" type="presParOf" srcId="{A74F2C0E-8889-4918-92C2-5BC9CD32D4A7}" destId="{8E6F1776-1C78-42BE-987C-726DA1FF3ADB}" srcOrd="3" destOrd="0" presId="urn:microsoft.com/office/officeart/2005/8/layout/radial5"/>
    <dgm:cxn modelId="{3F5CC1E1-FB22-4112-9CD3-6937979A321C}" type="presParOf" srcId="{8E6F1776-1C78-42BE-987C-726DA1FF3ADB}" destId="{688ACD75-798A-4DDA-BBAE-E9BB85E9F3A2}" srcOrd="0" destOrd="0" presId="urn:microsoft.com/office/officeart/2005/8/layout/radial5"/>
    <dgm:cxn modelId="{2E9D8B60-0760-4FE5-9CB4-A95113A8D72E}" type="presParOf" srcId="{A74F2C0E-8889-4918-92C2-5BC9CD32D4A7}" destId="{49192C08-21DE-4221-8A64-2BE7BC5E8BBB}" srcOrd="4" destOrd="0" presId="urn:microsoft.com/office/officeart/2005/8/layout/radial5"/>
    <dgm:cxn modelId="{287352F3-AEE5-4177-8FB6-948A7422F439}" type="presParOf" srcId="{A74F2C0E-8889-4918-92C2-5BC9CD32D4A7}" destId="{51B87D4D-E0D8-49B9-8BF8-ED381BAC007F}" srcOrd="5" destOrd="0" presId="urn:microsoft.com/office/officeart/2005/8/layout/radial5"/>
    <dgm:cxn modelId="{89FF85FD-41D1-4EDC-96C3-AE0A8A9F1026}" type="presParOf" srcId="{51B87D4D-E0D8-49B9-8BF8-ED381BAC007F}" destId="{DD0F88EB-C4ED-4007-A85C-0D5F9A70AA0F}" srcOrd="0" destOrd="0" presId="urn:microsoft.com/office/officeart/2005/8/layout/radial5"/>
    <dgm:cxn modelId="{1CA01C59-FDC6-4626-8CBE-D703F2DF7FC8}" type="presParOf" srcId="{A74F2C0E-8889-4918-92C2-5BC9CD32D4A7}" destId="{C3505AE2-B4C0-4DE7-A30C-C59B908665A0}" srcOrd="6" destOrd="0" presId="urn:microsoft.com/office/officeart/2005/8/layout/radial5"/>
    <dgm:cxn modelId="{83005001-68CF-4E87-8A16-FF66F7E23F28}" type="presParOf" srcId="{A74F2C0E-8889-4918-92C2-5BC9CD32D4A7}" destId="{A291E796-3A0B-4C73-9AA5-2A56F2F26B63}" srcOrd="7" destOrd="0" presId="urn:microsoft.com/office/officeart/2005/8/layout/radial5"/>
    <dgm:cxn modelId="{52296382-C265-4807-BF9C-F4548571CAAA}" type="presParOf" srcId="{A291E796-3A0B-4C73-9AA5-2A56F2F26B63}" destId="{01EBB773-A9A5-414A-8851-D675F6D1D756}" srcOrd="0" destOrd="0" presId="urn:microsoft.com/office/officeart/2005/8/layout/radial5"/>
    <dgm:cxn modelId="{F120CED5-61CC-4BC2-980A-C72B8CDDC4B2}" type="presParOf" srcId="{A74F2C0E-8889-4918-92C2-5BC9CD32D4A7}" destId="{8E4CCE5C-1AF7-45C4-9479-251147DF0C0A}"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p>
        </p:txBody>
      </p:sp>
      <p:sp>
        <p:nvSpPr>
          <p:cNvPr id="829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829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29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p>
        </p:txBody>
      </p:sp>
      <p:sp>
        <p:nvSpPr>
          <p:cNvPr id="829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8CAB1E07-34C8-4DE7-8292-5D29B71B4A02}" type="slidenum">
              <a:rPr lang="en-US"/>
              <a:pPr/>
              <a:t>‹#›</a:t>
            </a:fld>
            <a:endParaRPr lang="en-US"/>
          </a:p>
        </p:txBody>
      </p:sp>
    </p:spTree>
    <p:extLst>
      <p:ext uri="{BB962C8B-B14F-4D97-AF65-F5344CB8AC3E}">
        <p14:creationId xmlns:p14="http://schemas.microsoft.com/office/powerpoint/2010/main" val="404844099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a:t>
            </a:fld>
            <a:endParaRPr lang="en-US"/>
          </a:p>
        </p:txBody>
      </p:sp>
    </p:spTree>
    <p:extLst>
      <p:ext uri="{BB962C8B-B14F-4D97-AF65-F5344CB8AC3E}">
        <p14:creationId xmlns:p14="http://schemas.microsoft.com/office/powerpoint/2010/main" val="3249995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screens utilized in this training have been captured from the Development SAP Environment. Because the system may not have been completely customized to the final version as the time this course was written, the views on your monitor may appear slightly different than the views depicted in this course. The differences, however, do not and will not affect the manner in which you work within the SAP Environment.</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3</a:t>
            </a:fld>
            <a:endParaRPr lang="en-US"/>
          </a:p>
        </p:txBody>
      </p:sp>
    </p:spTree>
    <p:extLst>
      <p:ext uri="{BB962C8B-B14F-4D97-AF65-F5344CB8AC3E}">
        <p14:creationId xmlns:p14="http://schemas.microsoft.com/office/powerpoint/2010/main" val="1664458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SAP is software that integrates and streamlines business processes that span various applications and data sources. Using SAP, you can access and display the data and transactions you will use to complete your tasks. </a:t>
            </a:r>
            <a:r>
              <a:rPr lang="en-US" sz="1200" kern="1200" dirty="0" smtClean="0">
                <a:solidFill>
                  <a:schemeClr val="tx1"/>
                </a:solidFill>
                <a:effectLst/>
                <a:latin typeface="Arial" charset="0"/>
                <a:ea typeface="+mn-ea"/>
                <a:cs typeface="+mn-cs"/>
              </a:rPr>
              <a:t>This course will cover the basics of SAP Navigation, including an overview of the SAP software, how to log on to and off of SAP, understanding the various window screens and toolbars, how to move around in SAP, how to create favorites and user preferences. We will demonstrate how to use selection criteria to</a:t>
            </a:r>
            <a:r>
              <a:rPr lang="en-US" sz="1200" kern="1200" baseline="0" dirty="0" smtClean="0">
                <a:solidFill>
                  <a:schemeClr val="tx1"/>
                </a:solidFill>
                <a:effectLst/>
                <a:latin typeface="Arial" charset="0"/>
                <a:ea typeface="+mn-ea"/>
                <a:cs typeface="+mn-cs"/>
              </a:rPr>
              <a:t> generate reports specific to your area of concern</a:t>
            </a:r>
            <a:r>
              <a:rPr lang="en-US" sz="1200" kern="1200" dirty="0" smtClean="0">
                <a:solidFill>
                  <a:schemeClr val="tx1"/>
                </a:solidFill>
                <a:effectLst/>
                <a:latin typeface="Arial" charset="0"/>
                <a:ea typeface="+mn-ea"/>
                <a:cs typeface="+mn-cs"/>
              </a:rPr>
              <a:t> and finally how to seek help on SAP should you experience problems while using the software.</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5</a:t>
            </a:fld>
            <a:endParaRPr lang="en-US"/>
          </a:p>
        </p:txBody>
      </p:sp>
    </p:spTree>
    <p:extLst>
      <p:ext uri="{BB962C8B-B14F-4D97-AF65-F5344CB8AC3E}">
        <p14:creationId xmlns:p14="http://schemas.microsoft.com/office/powerpoint/2010/main" val="1589785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7013" indent="-169863">
              <a:buFontTx/>
              <a:buChar char="•"/>
            </a:pPr>
            <a:r>
              <a:rPr lang="en-US" dirty="0" smtClean="0"/>
              <a:t>SAP is an application that integrates a company’s core business functions in a seamless and efficient manner.</a:t>
            </a:r>
          </a:p>
          <a:p>
            <a:pPr marL="227013" indent="-169863">
              <a:buFontTx/>
              <a:buChar char="•"/>
            </a:pPr>
            <a:r>
              <a:rPr lang="en-US" dirty="0" smtClean="0"/>
              <a:t>SAP is designed to handle data and information related to an entire corporation.</a:t>
            </a:r>
          </a:p>
          <a:p>
            <a:pPr marL="227013" indent="-169863">
              <a:buFontTx/>
              <a:buChar char="•"/>
            </a:pPr>
            <a:r>
              <a:rPr lang="en-US" dirty="0" smtClean="0"/>
              <a:t>SAP consists of business areas (modules) that are integrated, meaning that data entered in one functional module is available to other functional modules.</a:t>
            </a:r>
          </a:p>
          <a:p>
            <a:pPr marL="227013" indent="-169863">
              <a:buFontTx/>
              <a:buChar char="•"/>
            </a:pPr>
            <a:r>
              <a:rPr lang="en-US" dirty="0" smtClean="0"/>
              <a:t>With SAP, it is easy to manage just about any aspect of any business, regardless of size or complexity.</a:t>
            </a:r>
          </a:p>
          <a:p>
            <a:pPr marL="227013" indent="-169863">
              <a:buFontTx/>
              <a:buChar char="•"/>
            </a:pPr>
            <a:r>
              <a:rPr lang="en-US" dirty="0" smtClean="0"/>
              <a:t>Unifies Loudoun Water's operations into one common and standardized system.</a:t>
            </a:r>
          </a:p>
          <a:p>
            <a:pPr marL="227013" indent="-169863">
              <a:buFontTx/>
              <a:buChar char="•"/>
            </a:pPr>
            <a:r>
              <a:rPr lang="en-US" dirty="0" smtClean="0"/>
              <a:t>Provides timely, accurate information providing relevant analysis and intelligence needed for our business leaders and employees to make informed decisions.</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9</a:t>
            </a:fld>
            <a:endParaRPr lang="en-US"/>
          </a:p>
        </p:txBody>
      </p:sp>
    </p:spTree>
    <p:extLst>
      <p:ext uri="{BB962C8B-B14F-4D97-AF65-F5344CB8AC3E}">
        <p14:creationId xmlns:p14="http://schemas.microsoft.com/office/powerpoint/2010/main" val="1864509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Modules are groups of transactions that fit a specific component in SAP. For example, the Human Resources module has transactions for entering time, approving time, maintaining employee data, tracking employee training, benefits, hiring, and termination. The Materials Management module has transactions for purchasing and receiving goods and inventory management, while the Plant Maintenance module manages work orders and plant maintenance.</a:t>
            </a:r>
          </a:p>
          <a:p>
            <a:endParaRPr lang="en-US" dirty="0" smtClean="0"/>
          </a:p>
          <a:p>
            <a:r>
              <a:rPr lang="en-US" dirty="0" smtClean="0"/>
              <a:t>Because SAP is integrated, a change in one application</a:t>
            </a:r>
            <a:r>
              <a:rPr lang="en-US" baseline="0" dirty="0" smtClean="0"/>
              <a:t> module results in an automatic update of the data in the other modules involved.  </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10</a:t>
            </a:fld>
            <a:endParaRPr lang="en-US"/>
          </a:p>
        </p:txBody>
      </p:sp>
    </p:spTree>
    <p:extLst>
      <p:ext uri="{BB962C8B-B14F-4D97-AF65-F5344CB8AC3E}">
        <p14:creationId xmlns:p14="http://schemas.microsoft.com/office/powerpoint/2010/main" val="2952819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ECC is the basic</a:t>
            </a:r>
            <a:r>
              <a:rPr lang="en-US" baseline="0" dirty="0" smtClean="0"/>
              <a:t> set of integrated applications and components that comprise core SAP ERP. SAP ECC is made up individual, integrated software modules that perform various organizational system tasks.</a:t>
            </a:r>
          </a:p>
          <a:p>
            <a:endParaRPr lang="en-US" baseline="0" dirty="0" smtClean="0"/>
          </a:p>
          <a:p>
            <a:r>
              <a:rPr lang="en-US" baseline="0" dirty="0" smtClean="0"/>
              <a:t>ESS is where you will enter timesheets and maintain personal data such as contact information, bank details, and leave requests.</a:t>
            </a:r>
          </a:p>
          <a:p>
            <a:endParaRPr lang="en-US" baseline="0" dirty="0" smtClean="0"/>
          </a:p>
          <a:p>
            <a:r>
              <a:rPr lang="en-US" baseline="0" dirty="0" smtClean="0"/>
              <a:t>SRM is used for building shopping carts and starting the Procurement process.</a:t>
            </a:r>
          </a:p>
          <a:p>
            <a:endParaRPr lang="en-US" baseline="0" dirty="0" smtClean="0"/>
          </a:p>
          <a:p>
            <a:r>
              <a:rPr lang="en-US" baseline="0" dirty="0" smtClean="0"/>
              <a:t>IC Web is used in Customer Relations.</a:t>
            </a:r>
          </a:p>
          <a:p>
            <a:endParaRPr lang="en-US" baseline="0" dirty="0" smtClean="0"/>
          </a:p>
          <a:p>
            <a:r>
              <a:rPr lang="en-US" sz="1200" kern="1200" dirty="0" smtClean="0">
                <a:solidFill>
                  <a:schemeClr val="tx1"/>
                </a:solidFill>
                <a:effectLst/>
                <a:latin typeface="Arial" charset="0"/>
                <a:ea typeface="+mn-ea"/>
                <a:cs typeface="+mn-cs"/>
              </a:rPr>
              <a:t>SAP ECC is a database of information for an organization. Information may be entered into the database from any point and then viewed across the organization as needed. </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A Client is a self-contain unit within the ECC system with separate records and data. The client you will be working in is dependent on the role or task to be performed. For example, during a training session, you will most likely be working within a Training client so as not to contaminate the data in the Production client. The Production client is the live-working environment, the data of which needs to remain pristine. </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During each use you can only access the data of the client selected during the logon.</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11</a:t>
            </a:fld>
            <a:endParaRPr lang="en-US"/>
          </a:p>
        </p:txBody>
      </p:sp>
    </p:spTree>
    <p:extLst>
      <p:ext uri="{BB962C8B-B14F-4D97-AF65-F5344CB8AC3E}">
        <p14:creationId xmlns:p14="http://schemas.microsoft.com/office/powerpoint/2010/main" val="3926394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14</a:t>
            </a:fld>
            <a:endParaRPr lang="en-US"/>
          </a:p>
        </p:txBody>
      </p:sp>
    </p:spTree>
    <p:extLst>
      <p:ext uri="{BB962C8B-B14F-4D97-AF65-F5344CB8AC3E}">
        <p14:creationId xmlns:p14="http://schemas.microsoft.com/office/powerpoint/2010/main" val="3082178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sz="1200" dirty="0" smtClean="0"/>
              <a:t>In order to organize and manage a large number of G/L accounts better, they are arranged in </a:t>
            </a:r>
            <a:r>
              <a:rPr lang="en-US" sz="1200" b="1" u="sng" dirty="0" smtClean="0"/>
              <a:t>account groups</a:t>
            </a:r>
            <a:r>
              <a:rPr lang="en-US" sz="1200" dirty="0" smtClean="0"/>
              <a:t>. </a:t>
            </a:r>
          </a:p>
          <a:p>
            <a:pPr marL="171450" indent="-171450">
              <a:buFont typeface="Arial" pitchFamily="34" charset="0"/>
              <a:buChar char="•"/>
            </a:pPr>
            <a:r>
              <a:rPr lang="en-US" sz="1200" dirty="0" smtClean="0"/>
              <a:t>The accounts of an account group normally have similar business functions. You could, for example, have an account group for cash accounts, one for expense accounts, one for revenue accounts, and one for other balance sheet accounts, etc.</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15</a:t>
            </a:fld>
            <a:endParaRPr lang="en-US"/>
          </a:p>
        </p:txBody>
      </p:sp>
    </p:spTree>
    <p:extLst>
      <p:ext uri="{BB962C8B-B14F-4D97-AF65-F5344CB8AC3E}">
        <p14:creationId xmlns:p14="http://schemas.microsoft.com/office/powerpoint/2010/main" val="3082178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16</a:t>
            </a:fld>
            <a:endParaRPr lang="en-US"/>
          </a:p>
        </p:txBody>
      </p:sp>
    </p:spTree>
    <p:extLst>
      <p:ext uri="{BB962C8B-B14F-4D97-AF65-F5344CB8AC3E}">
        <p14:creationId xmlns:p14="http://schemas.microsoft.com/office/powerpoint/2010/main" val="3082178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buFont typeface="Wingdings" pitchFamily="2" charset="2"/>
              <a:buNone/>
            </a:pPr>
            <a:r>
              <a:rPr lang="en-US" dirty="0" smtClean="0"/>
              <a:t>Profit Center Definition</a:t>
            </a:r>
          </a:p>
          <a:p>
            <a:pPr marL="342900" lvl="0" indent="-342900">
              <a:buFont typeface="Arial" pitchFamily="34" charset="0"/>
              <a:buChar char="•"/>
            </a:pPr>
            <a:r>
              <a:rPr lang="en-US" sz="2000" dirty="0" smtClean="0"/>
              <a:t>Profit center has internal areas of responsibilities.</a:t>
            </a:r>
          </a:p>
          <a:p>
            <a:pPr marL="342900" lvl="0" indent="-342900">
              <a:buFont typeface="Arial" pitchFamily="34" charset="0"/>
              <a:buChar char="•"/>
            </a:pPr>
            <a:r>
              <a:rPr lang="en-US" sz="2000" dirty="0" smtClean="0"/>
              <a:t>Each profit center has responsibility for revenues, expenses, and in some cases certain assets and liabilities.</a:t>
            </a:r>
          </a:p>
          <a:p>
            <a:pPr marL="342900" lvl="0" indent="-342900">
              <a:buFont typeface="Arial" pitchFamily="34" charset="0"/>
              <a:buChar char="•"/>
            </a:pPr>
            <a:r>
              <a:rPr lang="en-US" sz="2000" dirty="0" smtClean="0"/>
              <a:t>Profit centers create profits individually and separately from other profit centers.</a:t>
            </a:r>
          </a:p>
          <a:p>
            <a:pPr marL="342900" lvl="0" indent="-342900">
              <a:buFont typeface="Arial" pitchFamily="34" charset="0"/>
              <a:buChar char="•"/>
            </a:pPr>
            <a:r>
              <a:rPr lang="en-US" sz="2000" dirty="0" smtClean="0"/>
              <a:t>Every profit center is assigned to the organizational unit controlling area.</a:t>
            </a:r>
          </a:p>
          <a:p>
            <a:pPr lvl="1"/>
            <a:endParaRPr lang="en-US" sz="2000" dirty="0" smtClean="0"/>
          </a:p>
          <a:p>
            <a:r>
              <a:rPr lang="en-US" sz="1200" kern="1200" dirty="0" smtClean="0">
                <a:solidFill>
                  <a:schemeClr val="tx1"/>
                </a:solidFill>
                <a:effectLst/>
                <a:latin typeface="Arial" charset="0"/>
                <a:ea typeface="+mn-ea"/>
                <a:cs typeface="+mn-cs"/>
              </a:rPr>
              <a:t>The following Profit Centers have been identified at LW:</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Water</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Wastewater</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Reuse</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Each individual Community Systems for example Lenah Run, Raspberry Falls etc.</a:t>
            </a:r>
          </a:p>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17</a:t>
            </a:fld>
            <a:endParaRPr lang="en-US"/>
          </a:p>
        </p:txBody>
      </p:sp>
    </p:spTree>
    <p:extLst>
      <p:ext uri="{BB962C8B-B14F-4D97-AF65-F5344CB8AC3E}">
        <p14:creationId xmlns:p14="http://schemas.microsoft.com/office/powerpoint/2010/main" val="3082178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buFont typeface="Wingdings" pitchFamily="2" charset="2"/>
              <a:buNone/>
            </a:pPr>
            <a:r>
              <a:rPr lang="en-NZ" sz="2800" b="1" dirty="0" smtClean="0"/>
              <a:t>Description</a:t>
            </a:r>
          </a:p>
          <a:p>
            <a:pPr>
              <a:lnSpc>
                <a:spcPct val="90000"/>
              </a:lnSpc>
            </a:pPr>
            <a:r>
              <a:rPr lang="en-NZ" sz="2400" dirty="0" smtClean="0"/>
              <a:t>Organizational unit within a controlling area that represents a defined location of cost incurrence. The definition can be based on:</a:t>
            </a:r>
          </a:p>
          <a:p>
            <a:pPr marL="800100" lvl="1" indent="-342900">
              <a:lnSpc>
                <a:spcPct val="90000"/>
              </a:lnSpc>
            </a:pPr>
            <a:r>
              <a:rPr lang="en-NZ" sz="2400" dirty="0" smtClean="0"/>
              <a:t>Functional requirements </a:t>
            </a:r>
          </a:p>
          <a:p>
            <a:pPr marL="800100" lvl="1" indent="-342900">
              <a:lnSpc>
                <a:spcPct val="90000"/>
              </a:lnSpc>
            </a:pPr>
            <a:r>
              <a:rPr lang="en-NZ" sz="2400" dirty="0" smtClean="0"/>
              <a:t>Allocation criteria </a:t>
            </a:r>
          </a:p>
          <a:p>
            <a:pPr marL="800100" lvl="1" indent="-342900">
              <a:lnSpc>
                <a:spcPct val="90000"/>
              </a:lnSpc>
            </a:pPr>
            <a:r>
              <a:rPr lang="en-NZ" sz="2400" dirty="0" smtClean="0"/>
              <a:t>Physical location </a:t>
            </a:r>
          </a:p>
          <a:p>
            <a:pPr marL="800100" lvl="1" indent="-342900">
              <a:lnSpc>
                <a:spcPct val="90000"/>
              </a:lnSpc>
            </a:pPr>
            <a:r>
              <a:rPr lang="en-NZ" sz="2400" dirty="0" smtClean="0"/>
              <a:t>Responsibility for costs</a:t>
            </a:r>
          </a:p>
          <a:p>
            <a:pPr>
              <a:lnSpc>
                <a:spcPct val="90000"/>
              </a:lnSpc>
            </a:pPr>
            <a:r>
              <a:rPr lang="en-NZ" sz="2400" dirty="0" smtClean="0"/>
              <a:t>Defines the smallest area of responsibility within the company that causes and influences costs; the lowest level to which you can meaningfully assign direct and indirect costs</a:t>
            </a:r>
          </a:p>
          <a:p>
            <a:endParaRPr lang="en-US" dirty="0" smtClean="0"/>
          </a:p>
          <a:p>
            <a:r>
              <a:rPr lang="en-US" sz="1200" kern="1200" dirty="0" smtClean="0">
                <a:solidFill>
                  <a:schemeClr val="tx1"/>
                </a:solidFill>
                <a:effectLst/>
                <a:latin typeface="Arial" charset="0"/>
                <a:ea typeface="+mn-ea"/>
                <a:cs typeface="+mn-cs"/>
              </a:rPr>
              <a:t>Cost Center Category is used in functional area reporting as well as restricting the activities that can be performed by a cost center. LW will use the following Cost Center Categories:</a:t>
            </a:r>
          </a:p>
          <a:p>
            <a:r>
              <a:rPr lang="en-US" sz="1200" kern="1200" dirty="0" smtClean="0">
                <a:solidFill>
                  <a:schemeClr val="tx1"/>
                </a:solidFill>
                <a:effectLst/>
                <a:latin typeface="Arial" charset="0"/>
                <a:ea typeface="+mn-ea"/>
                <a:cs typeface="+mn-cs"/>
              </a:rPr>
              <a:t>1 – GM Office</a:t>
            </a:r>
          </a:p>
          <a:p>
            <a:r>
              <a:rPr lang="en-US" sz="1200" kern="1200" dirty="0" smtClean="0">
                <a:solidFill>
                  <a:schemeClr val="tx1"/>
                </a:solidFill>
                <a:effectLst/>
                <a:latin typeface="Arial" charset="0"/>
                <a:ea typeface="+mn-ea"/>
                <a:cs typeface="+mn-cs"/>
              </a:rPr>
              <a:t>2 – Operations</a:t>
            </a:r>
          </a:p>
          <a:p>
            <a:r>
              <a:rPr lang="en-US" sz="1200" kern="1200" dirty="0" smtClean="0">
                <a:solidFill>
                  <a:schemeClr val="tx1"/>
                </a:solidFill>
                <a:effectLst/>
                <a:latin typeface="Arial" charset="0"/>
                <a:ea typeface="+mn-ea"/>
                <a:cs typeface="+mn-cs"/>
              </a:rPr>
              <a:t>3 – Finance</a:t>
            </a:r>
          </a:p>
          <a:p>
            <a:r>
              <a:rPr lang="en-US" sz="1200" kern="1200" dirty="0" smtClean="0">
                <a:solidFill>
                  <a:schemeClr val="tx1"/>
                </a:solidFill>
                <a:effectLst/>
                <a:latin typeface="Arial" charset="0"/>
                <a:ea typeface="+mn-ea"/>
                <a:cs typeface="+mn-cs"/>
              </a:rPr>
              <a:t>4 – Administration</a:t>
            </a:r>
          </a:p>
          <a:p>
            <a:r>
              <a:rPr lang="en-US" sz="1200" kern="1200" dirty="0" smtClean="0">
                <a:solidFill>
                  <a:schemeClr val="tx1"/>
                </a:solidFill>
                <a:effectLst/>
                <a:latin typeface="Arial" charset="0"/>
                <a:ea typeface="+mn-ea"/>
                <a:cs typeface="+mn-cs"/>
              </a:rPr>
              <a:t>5 – Non Departmental</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18</a:t>
            </a:fld>
            <a:endParaRPr lang="en-US"/>
          </a:p>
        </p:txBody>
      </p:sp>
    </p:spTree>
    <p:extLst>
      <p:ext uri="{BB962C8B-B14F-4D97-AF65-F5344CB8AC3E}">
        <p14:creationId xmlns:p14="http://schemas.microsoft.com/office/powerpoint/2010/main" val="3082178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GB" dirty="0" smtClean="0"/>
              <a:t>The Controlling module addresses the internal accounting requirements of the organization. In a traditional sense, Cost and Management Accounting functions are performed in the CO module, whereas the Financial Accounting (FI) module addresses the external accounting and statutory reporting requirements.</a:t>
            </a:r>
          </a:p>
          <a:p>
            <a:pPr eaLnBrk="1" hangingPunct="1"/>
            <a:endParaRPr lang="en-GB" dirty="0" smtClean="0"/>
          </a:p>
          <a:p>
            <a:pPr eaLnBrk="1" hangingPunct="1"/>
            <a:r>
              <a:rPr lang="en-GB" dirty="0" smtClean="0"/>
              <a:t>The Controlling Module addresses the requirements for internal controls and internal accounting. MIS requirements can be achieved using the Controlling Module as well.</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19</a:t>
            </a:fld>
            <a:endParaRPr lang="en-US"/>
          </a:p>
        </p:txBody>
      </p:sp>
    </p:spTree>
    <p:extLst>
      <p:ext uri="{BB962C8B-B14F-4D97-AF65-F5344CB8AC3E}">
        <p14:creationId xmlns:p14="http://schemas.microsoft.com/office/powerpoint/2010/main" val="3907285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4625" indent="-174625">
              <a:spcBef>
                <a:spcPct val="0"/>
              </a:spcBef>
              <a:buFont typeface="Wingdings" pitchFamily="2" charset="2"/>
              <a:buNone/>
              <a:tabLst>
                <a:tab pos="3860800" algn="l"/>
              </a:tabLst>
            </a:pPr>
            <a:r>
              <a:rPr lang="en-US" b="1" dirty="0" smtClean="0"/>
              <a:t>Primary Cost</a:t>
            </a:r>
            <a:r>
              <a:rPr lang="en-US" b="1" baseline="0" dirty="0" smtClean="0"/>
              <a:t> Elements</a:t>
            </a:r>
          </a:p>
          <a:p>
            <a:pPr marL="174625" marR="0" indent="-174625" algn="l" defTabSz="914400" rtl="0" eaLnBrk="1" fontAlgn="base" latinLnBrk="0" hangingPunct="1">
              <a:lnSpc>
                <a:spcPct val="100000"/>
              </a:lnSpc>
              <a:spcBef>
                <a:spcPct val="0"/>
              </a:spcBef>
              <a:spcAft>
                <a:spcPct val="0"/>
              </a:spcAft>
              <a:buClrTx/>
              <a:buSzTx/>
              <a:buFont typeface="Wingdings" pitchFamily="2" charset="2"/>
              <a:buNone/>
              <a:tabLst>
                <a:tab pos="3860800" algn="l"/>
              </a:tabLst>
              <a:defRPr/>
            </a:pPr>
            <a:r>
              <a:rPr lang="en-US" sz="1200" kern="1200" dirty="0" smtClean="0">
                <a:solidFill>
                  <a:schemeClr val="tx1"/>
                </a:solidFill>
                <a:effectLst/>
                <a:latin typeface="Arial" charset="0"/>
                <a:ea typeface="+mn-ea"/>
                <a:cs typeface="+mn-cs"/>
              </a:rPr>
              <a:t>The Primary Cost Element represents an expense/revenue General Ledger (GL) Account in Controlling. A Primary Cost Element is automatically created for every Expense/Revenue GL Account created. There is a one to one equivalence between an Expense/Revenue GL Account and a Primary Cost Element. A Primary Cost Element is a means in which expenses and revenues are automatically recorded Controlling. A Primary Cost Element will be created automatically each time and Profit and Loss GL Account is created in Finance.</a:t>
            </a:r>
          </a:p>
          <a:p>
            <a:pPr marL="174625" indent="-174625">
              <a:spcBef>
                <a:spcPct val="0"/>
              </a:spcBef>
              <a:buFont typeface="Wingdings" pitchFamily="2" charset="2"/>
              <a:buNone/>
              <a:tabLst>
                <a:tab pos="3860800" algn="l"/>
              </a:tabLst>
            </a:pPr>
            <a:endParaRPr lang="en-US" sz="2000" dirty="0" smtClean="0">
              <a:solidFill>
                <a:srgbClr val="000000"/>
              </a:solidFill>
            </a:endParaRPr>
          </a:p>
          <a:p>
            <a:pPr marL="174625" indent="-174625">
              <a:spcBef>
                <a:spcPct val="0"/>
              </a:spcBef>
              <a:buFont typeface="Wingdings" pitchFamily="2" charset="2"/>
              <a:buNone/>
              <a:tabLst>
                <a:tab pos="3860800" algn="l"/>
              </a:tabLst>
            </a:pPr>
            <a:r>
              <a:rPr lang="en-US" sz="2000" b="1" dirty="0" smtClean="0">
                <a:solidFill>
                  <a:srgbClr val="000000"/>
                </a:solidFill>
              </a:rPr>
              <a:t>Secondary Cost Elements</a:t>
            </a:r>
          </a:p>
          <a:p>
            <a:r>
              <a:rPr lang="en-US" sz="1200" kern="1200" dirty="0" smtClean="0">
                <a:solidFill>
                  <a:schemeClr val="tx1"/>
                </a:solidFill>
                <a:effectLst/>
                <a:latin typeface="Arial" charset="0"/>
                <a:ea typeface="+mn-ea"/>
                <a:cs typeface="+mn-cs"/>
              </a:rPr>
              <a:t>The Secondary Cost Element represents a Cost Element that exists only in Controlling. A Secondary Cost Element is used in Controlling for internal activities such as activity allocation/distribution purposes. A Secondary Cost Element collects costs (as secondary costs) and then distributes/allocates these costs out using tracing factors (i.e. tools used to give costs away) such as Activity Types. A Secondary Cost Element needs to be created in Controlling and does not exist in any area besides Controlling. </a:t>
            </a:r>
          </a:p>
          <a:p>
            <a:r>
              <a:rPr lang="en-US" sz="1200" kern="1200" dirty="0" smtClean="0">
                <a:solidFill>
                  <a:schemeClr val="tx1"/>
                </a:solidFill>
                <a:effectLst/>
                <a:latin typeface="Arial" charset="0"/>
                <a:ea typeface="+mn-ea"/>
                <a:cs typeface="+mn-cs"/>
              </a:rPr>
              <a:t>At LW Secondary Cost Elements will be created within the number range 900000 – 999999 making them easy to recognize for reporting purposes</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The activities that Cost Elements can be used for in the system are controlled by the Cost Element Category. The Secondary Cost Element Categories that will be used at Loudoun Water are:</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Internal Activity Allocation </a:t>
            </a:r>
          </a:p>
          <a:p>
            <a:pPr marL="171450" indent="-171450">
              <a:buFont typeface="Arial" pitchFamily="34" charset="0"/>
              <a:buChar char="•"/>
            </a:pPr>
            <a:r>
              <a:rPr lang="en-US" sz="1200" kern="1200" dirty="0" smtClean="0">
                <a:solidFill>
                  <a:schemeClr val="tx1"/>
                </a:solidFill>
                <a:effectLst/>
                <a:latin typeface="Arial" charset="0"/>
                <a:ea typeface="+mn-ea"/>
                <a:cs typeface="+mn-cs"/>
              </a:rPr>
              <a:t>Project System Settlement </a:t>
            </a:r>
            <a:endParaRPr lang="en-US" sz="2000" b="0" dirty="0" smtClean="0">
              <a:solidFill>
                <a:srgbClr val="000000"/>
              </a:solidFill>
            </a:endParaRP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20</a:t>
            </a:fld>
            <a:endParaRPr lang="en-US"/>
          </a:p>
        </p:txBody>
      </p:sp>
    </p:spTree>
    <p:extLst>
      <p:ext uri="{BB962C8B-B14F-4D97-AF65-F5344CB8AC3E}">
        <p14:creationId xmlns:p14="http://schemas.microsoft.com/office/powerpoint/2010/main" val="2678055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An Activity Type is used in Controlling for cost allocation purposes. It classifies the activities produced in a Cost Center and is based on the “output” of a cost center.  An Activity Type once created as master data will be used in activity allocation transactions to allocate costs by Activity Quantity and Rate from the sending (Home) Cost Center to receiving Cost Centers or WBS Elements.</a:t>
            </a:r>
          </a:p>
          <a:p>
            <a:r>
              <a:rPr lang="en-US" sz="1200" kern="1200" dirty="0" smtClean="0">
                <a:solidFill>
                  <a:schemeClr val="tx1"/>
                </a:solidFill>
                <a:effectLst/>
                <a:latin typeface="Arial" charset="0"/>
                <a:ea typeface="+mn-ea"/>
                <a:cs typeface="+mn-cs"/>
              </a:rPr>
              <a:t>At LW Activity Types will be created to allocate activities from Land Development, Capital Programs, Utility Systems Maintenance, Inspections and Field Services Cost Centers to Water and Wastewater related cost centers.</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21</a:t>
            </a:fld>
            <a:endParaRPr lang="en-US"/>
          </a:p>
        </p:txBody>
      </p:sp>
    </p:spTree>
    <p:extLst>
      <p:ext uri="{BB962C8B-B14F-4D97-AF65-F5344CB8AC3E}">
        <p14:creationId xmlns:p14="http://schemas.microsoft.com/office/powerpoint/2010/main" val="2678055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22</a:t>
            </a:fld>
            <a:endParaRPr lang="en-US"/>
          </a:p>
        </p:txBody>
      </p:sp>
    </p:spTree>
    <p:extLst>
      <p:ext uri="{BB962C8B-B14F-4D97-AF65-F5344CB8AC3E}">
        <p14:creationId xmlns:p14="http://schemas.microsoft.com/office/powerpoint/2010/main" val="3082178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Arial" charset="0"/>
                <a:ea typeface="+mn-ea"/>
                <a:cs typeface="+mn-cs"/>
              </a:rPr>
              <a:t>MATERIAL MASTER</a:t>
            </a:r>
            <a:endParaRPr lang="en-US" sz="1200" kern="1200" dirty="0" smtClean="0">
              <a:solidFill>
                <a:schemeClr val="tx1"/>
              </a:solidFill>
              <a:effectLst/>
              <a:latin typeface="Arial" charset="0"/>
              <a:ea typeface="+mn-ea"/>
              <a:cs typeface="+mn-cs"/>
            </a:endParaRPr>
          </a:p>
          <a:p>
            <a:pPr lvl="0"/>
            <a:r>
              <a:rPr lang="en-US" sz="1200" kern="1200" dirty="0" smtClean="0">
                <a:solidFill>
                  <a:schemeClr val="tx1"/>
                </a:solidFill>
                <a:effectLst/>
                <a:latin typeface="Arial" charset="0"/>
                <a:ea typeface="+mn-ea"/>
                <a:cs typeface="+mn-cs"/>
              </a:rPr>
              <a:t>Material Master is an enterprise’s main source of material-specific data. It is used in all areas of logistics in the SAP ECC system</a:t>
            </a:r>
            <a:endParaRPr lang="en-US" sz="1600" kern="1200" dirty="0" smtClean="0">
              <a:solidFill>
                <a:schemeClr val="tx1"/>
              </a:solidFill>
              <a:effectLst/>
              <a:latin typeface="Arial" charset="0"/>
              <a:ea typeface="+mn-ea"/>
              <a:cs typeface="+mn-cs"/>
            </a:endParaRPr>
          </a:p>
          <a:p>
            <a:pPr lvl="0"/>
            <a:r>
              <a:rPr lang="en-US" sz="1200" kern="1200" dirty="0" smtClean="0">
                <a:solidFill>
                  <a:schemeClr val="tx1"/>
                </a:solidFill>
                <a:effectLst/>
                <a:latin typeface="Arial" charset="0"/>
                <a:ea typeface="+mn-ea"/>
                <a:cs typeface="+mn-cs"/>
              </a:rPr>
              <a:t>Since different user departments within an enterprise work with one material, and each department enters different information relating to it, the data in a material master record is subdivided according to area of use. Each user department thus has its own view of a material master record</a:t>
            </a:r>
            <a:endParaRPr lang="en-US" sz="1600" kern="1200" dirty="0" smtClean="0">
              <a:solidFill>
                <a:schemeClr val="tx1"/>
              </a:solidFill>
              <a:effectLst/>
              <a:latin typeface="Arial" charset="0"/>
              <a:ea typeface="+mn-ea"/>
              <a:cs typeface="+mn-cs"/>
            </a:endParaRPr>
          </a:p>
          <a:p>
            <a:pPr lvl="0"/>
            <a:r>
              <a:rPr lang="en-US" sz="1200" kern="1200" dirty="0" smtClean="0">
                <a:solidFill>
                  <a:schemeClr val="tx1"/>
                </a:solidFill>
                <a:effectLst/>
                <a:latin typeface="Arial" charset="0"/>
                <a:ea typeface="+mn-ea"/>
                <a:cs typeface="+mn-cs"/>
              </a:rPr>
              <a:t>The data screens used to process material master records can be subdivided into the following types:</a:t>
            </a:r>
            <a:endParaRPr lang="en-US" sz="1600" kern="1200" dirty="0" smtClean="0">
              <a:solidFill>
                <a:schemeClr val="tx1"/>
              </a:solidFill>
              <a:effectLst/>
              <a:latin typeface="Arial" charset="0"/>
              <a:ea typeface="+mn-ea"/>
              <a:cs typeface="+mn-cs"/>
            </a:endParaRPr>
          </a:p>
          <a:p>
            <a:pPr lvl="1"/>
            <a:r>
              <a:rPr lang="en-US" sz="1200" u="sng" kern="1200" dirty="0" smtClean="0">
                <a:solidFill>
                  <a:schemeClr val="tx1"/>
                </a:solidFill>
                <a:effectLst/>
                <a:latin typeface="Arial" charset="0"/>
                <a:ea typeface="+mn-ea"/>
                <a:cs typeface="+mn-cs"/>
              </a:rPr>
              <a:t>Main data</a:t>
            </a:r>
            <a:r>
              <a:rPr lang="en-US" sz="1200" kern="1200" dirty="0" smtClean="0">
                <a:solidFill>
                  <a:schemeClr val="tx1"/>
                </a:solidFill>
                <a:effectLst/>
                <a:latin typeface="Arial" charset="0"/>
                <a:ea typeface="+mn-ea"/>
                <a:cs typeface="+mn-cs"/>
              </a:rPr>
              <a:t>: These are the views for the individual user departments, such as basic data, materials planning, accounting, sales, purchasing, and so on.</a:t>
            </a:r>
          </a:p>
          <a:p>
            <a:pPr lvl="1"/>
            <a:r>
              <a:rPr lang="en-US" sz="1200" u="sng" kern="1200" dirty="0" smtClean="0">
                <a:solidFill>
                  <a:schemeClr val="tx1"/>
                </a:solidFill>
                <a:effectLst/>
                <a:latin typeface="Arial" charset="0"/>
                <a:ea typeface="+mn-ea"/>
                <a:cs typeface="+mn-cs"/>
              </a:rPr>
              <a:t>Additional data</a:t>
            </a:r>
            <a:r>
              <a:rPr lang="en-US" sz="1200" kern="1200" dirty="0" smtClean="0">
                <a:solidFill>
                  <a:schemeClr val="tx1"/>
                </a:solidFill>
                <a:effectLst/>
                <a:latin typeface="Arial" charset="0"/>
                <a:ea typeface="+mn-ea"/>
                <a:cs typeface="+mn-cs"/>
              </a:rPr>
              <a:t>: These are the views on which you find additional information such as alternative units of measure, material short descriptions, and consumption values</a:t>
            </a:r>
          </a:p>
          <a:p>
            <a:r>
              <a:rPr lang="en-US" sz="1200" kern="1200" dirty="0" smtClean="0">
                <a:solidFill>
                  <a:schemeClr val="tx1"/>
                </a:solidFill>
                <a:effectLst/>
                <a:latin typeface="Arial" charset="0"/>
                <a:ea typeface="+mn-ea"/>
                <a:cs typeface="+mn-cs"/>
              </a:rPr>
              <a:t> </a:t>
            </a:r>
          </a:p>
          <a:p>
            <a:r>
              <a:rPr lang="en-US" sz="1200" b="1" kern="1200" dirty="0" smtClean="0">
                <a:solidFill>
                  <a:schemeClr val="tx1"/>
                </a:solidFill>
                <a:effectLst/>
                <a:latin typeface="Arial" charset="0"/>
                <a:ea typeface="+mn-ea"/>
                <a:cs typeface="+mn-cs"/>
              </a:rPr>
              <a:t>VENDOR MASTER </a:t>
            </a:r>
            <a:endParaRPr lang="en-US" sz="1200" kern="1200" dirty="0" smtClean="0">
              <a:solidFill>
                <a:schemeClr val="tx1"/>
              </a:solidFill>
              <a:effectLst/>
              <a:latin typeface="Arial" charset="0"/>
              <a:ea typeface="+mn-ea"/>
              <a:cs typeface="+mn-cs"/>
            </a:endParaRPr>
          </a:p>
          <a:p>
            <a:pPr lvl="0"/>
            <a:r>
              <a:rPr lang="en-US" sz="1200" kern="1200" dirty="0" smtClean="0">
                <a:solidFill>
                  <a:schemeClr val="tx1"/>
                </a:solidFill>
                <a:effectLst/>
                <a:latin typeface="Arial" charset="0"/>
                <a:ea typeface="+mn-ea"/>
                <a:cs typeface="+mn-cs"/>
              </a:rPr>
              <a:t>Unique repository of all the relevant information related to the vendors</a:t>
            </a:r>
          </a:p>
          <a:p>
            <a:pPr lvl="0"/>
            <a:r>
              <a:rPr lang="en-US" sz="1200" kern="1200" dirty="0" smtClean="0">
                <a:solidFill>
                  <a:schemeClr val="tx1"/>
                </a:solidFill>
                <a:effectLst/>
                <a:latin typeface="Arial" charset="0"/>
                <a:ea typeface="+mn-ea"/>
                <a:cs typeface="+mn-cs"/>
              </a:rPr>
              <a:t>It is divided in three categories or views:</a:t>
            </a:r>
          </a:p>
          <a:p>
            <a:pPr lvl="1"/>
            <a:r>
              <a:rPr lang="en-US" sz="1200" u="sng" kern="1200" dirty="0" smtClean="0">
                <a:solidFill>
                  <a:schemeClr val="tx1"/>
                </a:solidFill>
                <a:effectLst/>
                <a:latin typeface="Arial" charset="0"/>
                <a:ea typeface="+mn-ea"/>
                <a:cs typeface="+mn-cs"/>
              </a:rPr>
              <a:t>General data</a:t>
            </a:r>
            <a:r>
              <a:rPr lang="en-US" sz="1200" kern="1200" dirty="0" smtClean="0">
                <a:solidFill>
                  <a:schemeClr val="tx1"/>
                </a:solidFill>
                <a:effectLst/>
                <a:latin typeface="Arial" charset="0"/>
                <a:ea typeface="+mn-ea"/>
                <a:cs typeface="+mn-cs"/>
              </a:rPr>
              <a:t>: contains mostly the legal information from the vendor, i.e., address, legal name, ABN number, etc. It is relevant at client level</a:t>
            </a:r>
          </a:p>
          <a:p>
            <a:pPr lvl="1"/>
            <a:r>
              <a:rPr lang="en-US" sz="1200" u="sng" kern="1200" dirty="0" smtClean="0">
                <a:solidFill>
                  <a:schemeClr val="tx1"/>
                </a:solidFill>
                <a:effectLst/>
                <a:latin typeface="Arial" charset="0"/>
                <a:ea typeface="+mn-ea"/>
                <a:cs typeface="+mn-cs"/>
              </a:rPr>
              <a:t>Company Code data</a:t>
            </a:r>
            <a:r>
              <a:rPr lang="en-US" sz="1200" kern="1200" dirty="0" smtClean="0">
                <a:solidFill>
                  <a:schemeClr val="tx1"/>
                </a:solidFill>
                <a:effectLst/>
                <a:latin typeface="Arial" charset="0"/>
                <a:ea typeface="+mn-ea"/>
                <a:cs typeface="+mn-cs"/>
              </a:rPr>
              <a:t>: contains all the information related to a specific company code, i.e., account information, etc.</a:t>
            </a:r>
          </a:p>
          <a:p>
            <a:pPr lvl="1"/>
            <a:r>
              <a:rPr lang="en-US" sz="1200" u="sng" kern="1200" dirty="0" smtClean="0">
                <a:solidFill>
                  <a:schemeClr val="tx1"/>
                </a:solidFill>
                <a:effectLst/>
                <a:latin typeface="Arial" charset="0"/>
                <a:ea typeface="+mn-ea"/>
                <a:cs typeface="+mn-cs"/>
              </a:rPr>
              <a:t>Purchasing data</a:t>
            </a:r>
            <a:r>
              <a:rPr lang="en-US" sz="1200" kern="1200" dirty="0" smtClean="0">
                <a:solidFill>
                  <a:schemeClr val="tx1"/>
                </a:solidFill>
                <a:effectLst/>
                <a:latin typeface="Arial" charset="0"/>
                <a:ea typeface="+mn-ea"/>
                <a:cs typeface="+mn-cs"/>
              </a:rPr>
              <a:t>: this is maintained for each purchasing organization, i.e., the currency, incoterms, etc.</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23</a:t>
            </a:fld>
            <a:endParaRPr lang="en-US"/>
          </a:p>
        </p:txBody>
      </p:sp>
    </p:spTree>
    <p:extLst>
      <p:ext uri="{BB962C8B-B14F-4D97-AF65-F5344CB8AC3E}">
        <p14:creationId xmlns:p14="http://schemas.microsoft.com/office/powerpoint/2010/main" val="30821787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24</a:t>
            </a:fld>
            <a:endParaRPr lang="en-US"/>
          </a:p>
        </p:txBody>
      </p:sp>
    </p:spTree>
    <p:extLst>
      <p:ext uri="{BB962C8B-B14F-4D97-AF65-F5344CB8AC3E}">
        <p14:creationId xmlns:p14="http://schemas.microsoft.com/office/powerpoint/2010/main" val="3082178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SAP uses two types of data when processing a transaction in SAP.</a:t>
            </a:r>
          </a:p>
          <a:p>
            <a:pPr marL="171450" indent="-171450">
              <a:buFont typeface="Arial" pitchFamily="34" charset="0"/>
              <a:buChar char="•"/>
            </a:pPr>
            <a:r>
              <a:rPr lang="en-US" dirty="0" smtClean="0"/>
              <a:t>Master data</a:t>
            </a:r>
            <a:r>
              <a:rPr lang="en-US" baseline="0" dirty="0" smtClean="0"/>
              <a:t> records make it easier to find data, for example a cost center or vendor number, when processing a transaction. </a:t>
            </a:r>
            <a:r>
              <a:rPr lang="en-US" dirty="0" smtClean="0"/>
              <a:t>Master Data examples include: </a:t>
            </a:r>
          </a:p>
          <a:p>
            <a:pPr marL="628650" lvl="1" indent="-171450">
              <a:buFont typeface="Arial" pitchFamily="34" charset="0"/>
              <a:buChar char="•"/>
            </a:pPr>
            <a:r>
              <a:rPr lang="en-US" dirty="0" smtClean="0"/>
              <a:t>Customer Master - A Customer Master contains key information that defines the business relationship between a company and its customer. The Customer Master contains the customer-specific parameters such as billing and processing payments.</a:t>
            </a:r>
          </a:p>
          <a:p>
            <a:pPr marL="628650" lvl="1" indent="-171450">
              <a:buFont typeface="Arial" pitchFamily="34" charset="0"/>
              <a:buChar char="•"/>
            </a:pPr>
            <a:r>
              <a:rPr lang="en-US" dirty="0" smtClean="0"/>
              <a:t>Vendor Master - The Vendor Master is a collective term for all vendor master records. The vendor master contains the data of all vendors Loudoun Water conducts business with.</a:t>
            </a:r>
          </a:p>
          <a:p>
            <a:pPr marL="628650" lvl="1" indent="-171450">
              <a:buFont typeface="Arial" pitchFamily="34" charset="0"/>
              <a:buChar char="•"/>
            </a:pPr>
            <a:r>
              <a:rPr lang="en-US" dirty="0" smtClean="0"/>
              <a:t>Material Master – Loudoun Water manages the data on all its materials in the material master.</a:t>
            </a:r>
          </a:p>
          <a:p>
            <a:pPr marL="171450" lvl="0" indent="-171450">
              <a:buFont typeface="Arial" pitchFamily="34" charset="0"/>
              <a:buChar char="•"/>
            </a:pPr>
            <a:r>
              <a:rPr lang="en-US" dirty="0" smtClean="0"/>
              <a:t>Organizational Data examples include:</a:t>
            </a:r>
          </a:p>
          <a:p>
            <a:pPr marL="628650" lvl="1" indent="-171450">
              <a:buFont typeface="Arial" pitchFamily="34" charset="0"/>
              <a:buChar char="•"/>
            </a:pPr>
            <a:r>
              <a:rPr lang="en-US" dirty="0" smtClean="0"/>
              <a:t>Plant - An Loudoun Water location linked to a company code.</a:t>
            </a:r>
          </a:p>
          <a:p>
            <a:pPr marL="628650" lvl="1" indent="-171450">
              <a:buFont typeface="Arial" pitchFamily="34" charset="0"/>
              <a:buChar char="•"/>
            </a:pPr>
            <a:r>
              <a:rPr lang="en-US" dirty="0" smtClean="0"/>
              <a:t>Sales Offices - A sales office is an Loudoun Water location linked to a Sales Area (specific combination of sales organization, distribution channel, and division).</a:t>
            </a:r>
          </a:p>
          <a:p>
            <a:pPr marL="628650" lvl="1" indent="-171450">
              <a:buFont typeface="Arial" pitchFamily="34" charset="0"/>
              <a:buChar char="•"/>
            </a:pPr>
            <a:r>
              <a:rPr lang="en-US" dirty="0" smtClean="0"/>
              <a:t>Sales Organizations - Organizational unit which structures the company according to its sales requirements. A Sales Organization is responsible for selling materials and services.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25</a:t>
            </a:fld>
            <a:endParaRPr lang="en-US"/>
          </a:p>
        </p:txBody>
      </p:sp>
    </p:spTree>
    <p:extLst>
      <p:ext uri="{BB962C8B-B14F-4D97-AF65-F5344CB8AC3E}">
        <p14:creationId xmlns:p14="http://schemas.microsoft.com/office/powerpoint/2010/main" val="31178712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Instead of re-entering this information each time you create a purchase order, you can simply enter the number of the vendor master record (the SAP vendor number) into the purchase order and the necessary information will default into the purchase order.</a:t>
            </a:r>
          </a:p>
          <a:p>
            <a:pPr marL="171450" marR="0" indent="-17145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dirty="0" smtClean="0"/>
              <a:t>Vendor Master: The Vendor Master is a collective term for all vendor master records. The vendor master contains the data of all vendors Loudoun Water conducts business with.</a:t>
            </a:r>
          </a:p>
          <a:p>
            <a:pPr marL="171450" marR="0" indent="-17145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dirty="0" smtClean="0"/>
              <a:t>Material Master:</a:t>
            </a:r>
            <a:r>
              <a:rPr lang="en-US" baseline="0" dirty="0" smtClean="0"/>
              <a:t> Loudoun Water manages the data on all its materials in the material master.</a:t>
            </a:r>
            <a:endParaRPr lang="en-US" dirty="0" smtClean="0"/>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26</a:t>
            </a:fld>
            <a:endParaRPr lang="en-US"/>
          </a:p>
        </p:txBody>
      </p:sp>
    </p:spTree>
    <p:extLst>
      <p:ext uri="{BB962C8B-B14F-4D97-AF65-F5344CB8AC3E}">
        <p14:creationId xmlns:p14="http://schemas.microsoft.com/office/powerpoint/2010/main" val="21193779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example, when creating a purchase order you must specify</a:t>
            </a:r>
            <a:r>
              <a:rPr lang="en-US" baseline="0" dirty="0" smtClean="0"/>
              <a:t> the company code for which the item is being purchased. The costs related to the purchase will be posted against the company code.</a:t>
            </a:r>
          </a:p>
          <a:p>
            <a:pPr marL="171450" indent="-171450">
              <a:buFont typeface="Arial" pitchFamily="34" charset="0"/>
              <a:buChar char="•"/>
            </a:pPr>
            <a:r>
              <a:rPr lang="en-US" baseline="0" dirty="0" smtClean="0"/>
              <a:t>Company Code - Legal, independent accounting unit; the central organizational element of Financial Accounting.</a:t>
            </a:r>
          </a:p>
          <a:p>
            <a:pPr marL="171450" indent="-171450">
              <a:buFont typeface="Arial" pitchFamily="34" charset="0"/>
              <a:buChar char="•"/>
            </a:pPr>
            <a:r>
              <a:rPr lang="en-US" baseline="0" dirty="0" smtClean="0"/>
              <a:t>Purchasing Organization - Organizational unit subdividing Loudoun Water according to the requirements of Purchasing. A Purchasing Organization procures materials and services and bears responsibility for such transactions.</a:t>
            </a:r>
          </a:p>
          <a:p>
            <a:pPr marL="171450" indent="-171450">
              <a:buFont typeface="Arial" pitchFamily="34" charset="0"/>
              <a:buChar char="•"/>
            </a:pPr>
            <a:r>
              <a:rPr lang="en-US" baseline="0" dirty="0" smtClean="0"/>
              <a:t>Purchasing Group - The Purchasing Group is internally responsible for the procurement of a material or a class of materials and usually the principal channel for Loudoun Water's dealings with vendors.</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27</a:t>
            </a:fld>
            <a:endParaRPr lang="en-US"/>
          </a:p>
        </p:txBody>
      </p:sp>
    </p:spTree>
    <p:extLst>
      <p:ext uri="{BB962C8B-B14F-4D97-AF65-F5344CB8AC3E}">
        <p14:creationId xmlns:p14="http://schemas.microsoft.com/office/powerpoint/2010/main" val="6639872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The SAP document contains all the relevant pre-defined information from master data and organizational data, as well as newly created transactional data.</a:t>
            </a:r>
          </a:p>
          <a:p>
            <a:pPr marL="171450" indent="-171450">
              <a:buFont typeface="Arial" pitchFamily="34" charset="0"/>
              <a:buChar char="•"/>
            </a:pPr>
            <a:r>
              <a:rPr lang="en-US" dirty="0" smtClean="0"/>
              <a:t>An SAP document is a record of a business transaction in SAP. Each document in SAP has a unique document number. The document number will appear at the bottom of the screen when you save your transaction.</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28</a:t>
            </a:fld>
            <a:endParaRPr lang="en-US"/>
          </a:p>
        </p:txBody>
      </p:sp>
    </p:spTree>
    <p:extLst>
      <p:ext uri="{BB962C8B-B14F-4D97-AF65-F5344CB8AC3E}">
        <p14:creationId xmlns:p14="http://schemas.microsoft.com/office/powerpoint/2010/main" val="2309003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People</a:t>
            </a:r>
            <a:r>
              <a:rPr lang="en-US" baseline="0" dirty="0" smtClean="0"/>
              <a:t> - Employees in the organization.</a:t>
            </a:r>
          </a:p>
          <a:p>
            <a:r>
              <a:rPr lang="en-US" baseline="0" dirty="0" smtClean="0"/>
              <a:t>Roles - Roles are focused on each individual's tasks and responsibilities. A role includes all activities a person performing a role needs to participate in the corresponding business scenario.</a:t>
            </a:r>
          </a:p>
          <a:p>
            <a:r>
              <a:rPr lang="en-US" baseline="0" dirty="0" smtClean="0"/>
              <a:t>Business Scenarios - A start-to-finish process, such as Procurement, with defined segments that are completed by individuals with an appropriate role in SAP.</a:t>
            </a:r>
          </a:p>
          <a:p>
            <a:r>
              <a:rPr lang="en-US" baseline="0" dirty="0" smtClean="0"/>
              <a:t>Components - An SAP application or program, such as ECC or SRM, with associated transactions.</a:t>
            </a:r>
          </a:p>
          <a:p>
            <a:endParaRPr lang="en-US" baseline="0" dirty="0" smtClean="0"/>
          </a:p>
          <a:p>
            <a:pPr marL="227013" indent="-169863">
              <a:lnSpc>
                <a:spcPct val="100000"/>
              </a:lnSpc>
              <a:spcAft>
                <a:spcPct val="55000"/>
              </a:spcAft>
              <a:buFont typeface="Times" pitchFamily="18" charset="0"/>
              <a:buChar char="•"/>
            </a:pPr>
            <a:r>
              <a:rPr lang="en-US" dirty="0" smtClean="0">
                <a:cs typeface="Times New Roman" pitchFamily="18" charset="0"/>
              </a:rPr>
              <a:t>The areas that you may access within SAP are driven by the SAP Role assigned to you</a:t>
            </a:r>
          </a:p>
          <a:p>
            <a:pPr marL="227013" indent="-169863">
              <a:lnSpc>
                <a:spcPct val="100000"/>
              </a:lnSpc>
              <a:spcAft>
                <a:spcPct val="55000"/>
              </a:spcAft>
              <a:buFont typeface="Times" pitchFamily="18" charset="0"/>
              <a:buChar char="•"/>
            </a:pPr>
            <a:r>
              <a:rPr lang="en-US" dirty="0" smtClean="0">
                <a:cs typeface="Times New Roman" pitchFamily="18" charset="0"/>
              </a:rPr>
              <a:t>An SAP Role is a logical grouping of processes or transactions that employees need to access in SAP based on their work roles</a:t>
            </a:r>
          </a:p>
          <a:p>
            <a:pPr marL="227013" indent="-169863">
              <a:lnSpc>
                <a:spcPct val="100000"/>
              </a:lnSpc>
              <a:spcAft>
                <a:spcPct val="55000"/>
              </a:spcAft>
              <a:buFont typeface="Times" pitchFamily="18" charset="0"/>
              <a:buChar char="•"/>
            </a:pPr>
            <a:r>
              <a:rPr lang="en-US" dirty="0" smtClean="0">
                <a:cs typeface="Times New Roman" pitchFamily="18" charset="0"/>
              </a:rPr>
              <a:t>Your level of access is controlled by the SAP Security Administrator and is tied to your User ID.  </a:t>
            </a:r>
          </a:p>
          <a:p>
            <a:pPr marL="227013" indent="-169863">
              <a:lnSpc>
                <a:spcPct val="100000"/>
              </a:lnSpc>
              <a:spcAft>
                <a:spcPct val="55000"/>
              </a:spcAft>
              <a:buFont typeface="Times" pitchFamily="18" charset="0"/>
              <a:buChar char="•"/>
            </a:pPr>
            <a:r>
              <a:rPr lang="en-US" dirty="0" smtClean="0">
                <a:cs typeface="Times New Roman" pitchFamily="18" charset="0"/>
              </a:rPr>
              <a:t>Everything you do in SAP is stamped with your User ID.  Because of this, you should never share your User ID and password with other coworkers. </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29</a:t>
            </a:fld>
            <a:endParaRPr lang="en-US"/>
          </a:p>
        </p:txBody>
      </p:sp>
    </p:spTree>
    <p:extLst>
      <p:ext uri="{BB962C8B-B14F-4D97-AF65-F5344CB8AC3E}">
        <p14:creationId xmlns:p14="http://schemas.microsoft.com/office/powerpoint/2010/main" val="1372030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Financial</a:t>
            </a:r>
            <a:r>
              <a:rPr lang="en-US" baseline="0" dirty="0" smtClean="0"/>
              <a:t> Accounting = external usage; Controlling = internal usage</a:t>
            </a:r>
          </a:p>
          <a:p>
            <a:pPr marL="228600" indent="-228600">
              <a:buAutoNum type="arabicPeriod"/>
            </a:pPr>
            <a:r>
              <a:rPr lang="en-US" baseline="0" dirty="0" smtClean="0"/>
              <a:t>True</a:t>
            </a:r>
          </a:p>
          <a:p>
            <a:pPr marL="228600" indent="-228600">
              <a:buAutoNum type="arabicPeriod"/>
            </a:pPr>
            <a:r>
              <a:rPr lang="en-US" sz="1200" dirty="0" smtClean="0">
                <a:solidFill>
                  <a:schemeClr val="accent4">
                    <a:lumMod val="10000"/>
                  </a:schemeClr>
                </a:solidFill>
                <a:latin typeface="Verdana" pitchFamily="34" charset="0"/>
                <a:ea typeface="Verdana" pitchFamily="34" charset="0"/>
                <a:cs typeface="Verdana" pitchFamily="34" charset="0"/>
              </a:rPr>
              <a:t>General Ledger (GL) accounts are the structures that classify debit and credit values for accounting transactions and form the basis for creating financial statements </a:t>
            </a:r>
            <a:endParaRPr lang="en-US" sz="1200" dirty="0">
              <a:solidFill>
                <a:schemeClr val="accent4">
                  <a:lumMod val="10000"/>
                </a:schemeClr>
              </a:solidFill>
              <a:latin typeface="Verdana" pitchFamily="34" charset="0"/>
              <a:ea typeface="Verdana" pitchFamily="34" charset="0"/>
              <a:cs typeface="Verdana" pitchFamily="34" charset="0"/>
            </a:endParaRPr>
          </a:p>
        </p:txBody>
      </p:sp>
      <p:sp>
        <p:nvSpPr>
          <p:cNvPr id="4" name="Slide Number Placeholder 3"/>
          <p:cNvSpPr>
            <a:spLocks noGrp="1"/>
          </p:cNvSpPr>
          <p:nvPr>
            <p:ph type="sldNum" sz="quarter" idx="10"/>
          </p:nvPr>
        </p:nvSpPr>
        <p:spPr/>
        <p:txBody>
          <a:bodyPr/>
          <a:lstStyle/>
          <a:p>
            <a:fld id="{8CAB1E07-34C8-4DE7-8292-5D29B71B4A02}" type="slidenum">
              <a:rPr lang="en-US" smtClean="0"/>
              <a:pPr/>
              <a:t>30</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module</a:t>
            </a:r>
            <a:r>
              <a:rPr lang="en-US" baseline="0" dirty="0" smtClean="0"/>
              <a:t> introduces you to basic SAP navigation, including the basic screens, menus, transaction codes and buttons that you will use frequently. The first step to learning SAP is to become familiar with SAP navigation. Understanding the skills presented in this module is necessary prior to completing other modules or courses.</a:t>
            </a:r>
          </a:p>
          <a:p>
            <a:endParaRPr lang="en-US" baseline="0" dirty="0" smtClean="0"/>
          </a:p>
          <a:p>
            <a:r>
              <a:rPr lang="en-US" baseline="0" dirty="0" smtClean="0"/>
              <a:t>As you continue to work on your own with the SAP system, you will discover that it offers several different ways of completing standard tasks. This great flexibility allows each user to develop personalized preferences for using navigation options and system shortcuts.</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34</a:t>
            </a:fld>
            <a:endParaRPr lang="en-US"/>
          </a:p>
        </p:txBody>
      </p:sp>
    </p:spTree>
    <p:extLst>
      <p:ext uri="{BB962C8B-B14F-4D97-AF65-F5344CB8AC3E}">
        <p14:creationId xmlns:p14="http://schemas.microsoft.com/office/powerpoint/2010/main" val="3244940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To log onto the SAP ECC system, begin by locating the SAP icon located on your desktop and double-clicking it.  This will launch an SAP logon screen with various servers listed. You will be instructed as to which server to select, but a general rule will be to select the training server for training courses, and the production server for work assignments.</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To select the server, either highlight it with a single mouse click and then click on the “logon” button, or double-click the server name. Selecting a server will launch the log on screen. On this screen, enter your assigned client number, user ID, and password. After each entry, press the &lt;TAB&gt; key to move the cursor to the next field. The additional field on this screen is for language, which has been defaulted to English and does not need to be filled in.</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Should you wish to change the data in any field, defaulted or not, simply type over the existing entry.</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Once you have entered the appropriate information, click Enter in the upper-left corner of the screen, or press the &lt;ENTER&gt; key on your computer keyboard.</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35</a:t>
            </a:fld>
            <a:endParaRPr lang="en-US"/>
          </a:p>
        </p:txBody>
      </p:sp>
    </p:spTree>
    <p:extLst>
      <p:ext uri="{BB962C8B-B14F-4D97-AF65-F5344CB8AC3E}">
        <p14:creationId xmlns:p14="http://schemas.microsoft.com/office/powerpoint/2010/main" val="2197362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The first time you logon, you create your own password. The next and subsequent times you logon, you will use the password created during the initial logon. When changing your password, please remember the following rules: Your new password must be between 5 and 8 characters. Do not begin with three identical characters, such as </a:t>
            </a:r>
            <a:r>
              <a:rPr lang="en-US" sz="1200" kern="1200" dirty="0" err="1" smtClean="0">
                <a:solidFill>
                  <a:schemeClr val="tx1"/>
                </a:solidFill>
                <a:effectLst/>
                <a:latin typeface="Arial" charset="0"/>
                <a:ea typeface="+mn-ea"/>
                <a:cs typeface="+mn-cs"/>
              </a:rPr>
              <a:t>aaa</a:t>
            </a:r>
            <a:r>
              <a:rPr lang="en-US" sz="1200" kern="1200" dirty="0" smtClean="0">
                <a:solidFill>
                  <a:schemeClr val="tx1"/>
                </a:solidFill>
                <a:effectLst/>
                <a:latin typeface="Arial" charset="0"/>
                <a:ea typeface="+mn-ea"/>
                <a:cs typeface="+mn-cs"/>
              </a:rPr>
              <a:t> or 333. Your password cannot contain any sequence of three characters that are contained in your user ID. Do not use a question mark, exclamation point, blank space, or the word pass. And your password is not case sensitive.</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The first time you log onto SAP, a pop-up window will display prompting you for a new password. Enter the new password, in the case of training it would be “XXX” in the new password field. Enter the same password in the Repeat Password field, and then click the green check mark. </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This action will generate a copyright notice in a pop-up window. Accept the terms by clicking the green check mark. This changes the password and launches the SAP Easy Access screen.</a:t>
            </a:r>
          </a:p>
          <a:p>
            <a:endParaRPr lang="en-US" sz="1200" kern="1200" dirty="0" smtClean="0">
              <a:solidFill>
                <a:schemeClr val="tx1"/>
              </a:solidFill>
              <a:effectLst/>
              <a:latin typeface="Arial"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36</a:t>
            </a:fld>
            <a:endParaRPr lang="en-US"/>
          </a:p>
        </p:txBody>
      </p:sp>
    </p:spTree>
    <p:extLst>
      <p:ext uri="{BB962C8B-B14F-4D97-AF65-F5344CB8AC3E}">
        <p14:creationId xmlns:p14="http://schemas.microsoft.com/office/powerpoint/2010/main" val="14748035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Show the SAP GUI; explain that it will be automatically installed on</a:t>
            </a:r>
            <a:r>
              <a:rPr lang="en-US" baseline="0" dirty="0" smtClean="0"/>
              <a:t> their computer workstations.</a:t>
            </a:r>
          </a:p>
          <a:p>
            <a:pPr marL="228600" indent="-228600">
              <a:buFont typeface="+mj-lt"/>
              <a:buAutoNum type="arabicPeriod"/>
            </a:pPr>
            <a:r>
              <a:rPr lang="en-US" baseline="0" dirty="0" smtClean="0"/>
              <a:t>Show the server listings; explain how some are accessed by other means, for example, IC Web, SRM, ESS.</a:t>
            </a:r>
          </a:p>
          <a:p>
            <a:pPr marL="228600" indent="-228600">
              <a:buFont typeface="+mj-lt"/>
              <a:buAutoNum type="arabicPeriod"/>
            </a:pPr>
            <a:r>
              <a:rPr lang="en-US" baseline="0" dirty="0" smtClean="0"/>
              <a:t>Highlight the Training server we will use in class.</a:t>
            </a:r>
          </a:p>
          <a:p>
            <a:pPr marL="228600" indent="-228600">
              <a:buFont typeface="+mj-lt"/>
              <a:buAutoNum type="arabicPeriod"/>
            </a:pPr>
            <a:r>
              <a:rPr lang="en-US" baseline="0" dirty="0" smtClean="0"/>
              <a:t>Demonstrate how to log on. Click New Password and explain how they will automatically get the pop-up window when they log on for the first time but can also change it whenever they wish by clicking New Password.</a:t>
            </a:r>
          </a:p>
          <a:p>
            <a:pPr marL="228600" indent="-228600">
              <a:buFont typeface="+mj-lt"/>
              <a:buAutoNum type="arabicPeriod"/>
            </a:pPr>
            <a:r>
              <a:rPr lang="en-US" baseline="0" dirty="0" smtClean="0"/>
              <a:t>Change the password, explain the guidelines for password selection.</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37</a:t>
            </a:fld>
            <a:endParaRPr lang="en-US"/>
          </a:p>
        </p:txBody>
      </p:sp>
    </p:spTree>
    <p:extLst>
      <p:ext uri="{BB962C8B-B14F-4D97-AF65-F5344CB8AC3E}">
        <p14:creationId xmlns:p14="http://schemas.microsoft.com/office/powerpoint/2010/main" val="8281248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After logging on to the ECC system, you will first see the SAP Easy Access Menu Screen. It is from this screen that you will be able to enter a specific transaction to work. </a:t>
            </a:r>
          </a:p>
          <a:p>
            <a:endParaRPr lang="en-US" sz="1200" b="1" kern="1200" dirty="0" smtClean="0">
              <a:solidFill>
                <a:schemeClr val="tx1"/>
              </a:solidFill>
              <a:effectLst/>
              <a:latin typeface="Arial" charset="0"/>
              <a:ea typeface="+mn-ea"/>
              <a:cs typeface="+mn-cs"/>
            </a:endParaRPr>
          </a:p>
          <a:p>
            <a:r>
              <a:rPr lang="en-US" b="1" dirty="0" smtClean="0"/>
              <a:t>Screen Header </a:t>
            </a:r>
            <a:r>
              <a:rPr lang="en-US" dirty="0" smtClean="0"/>
              <a:t>– Displays standard Windows buttons such as </a:t>
            </a:r>
            <a:r>
              <a:rPr lang="en-US" i="1" dirty="0" smtClean="0"/>
              <a:t>minimize</a:t>
            </a:r>
            <a:r>
              <a:rPr lang="en-US" dirty="0" smtClean="0"/>
              <a:t>, </a:t>
            </a:r>
            <a:r>
              <a:rPr lang="en-US" i="1" dirty="0" smtClean="0"/>
              <a:t>maximize</a:t>
            </a:r>
            <a:r>
              <a:rPr lang="en-US" dirty="0" smtClean="0"/>
              <a:t>,</a:t>
            </a:r>
            <a:r>
              <a:rPr lang="en-US" baseline="0" dirty="0" smtClean="0"/>
              <a:t> and </a:t>
            </a:r>
            <a:r>
              <a:rPr lang="en-US" i="1" baseline="0" dirty="0" smtClean="0"/>
              <a:t>close</a:t>
            </a:r>
            <a:r>
              <a:rPr lang="en-US" baseline="0" dirty="0" smtClean="0"/>
              <a:t>. On a PC, the Screen Header also contains the </a:t>
            </a:r>
            <a:r>
              <a:rPr lang="en-US" b="1" baseline="0" dirty="0" smtClean="0"/>
              <a:t>Stop Transaction</a:t>
            </a:r>
            <a:r>
              <a:rPr lang="en-US" baseline="0" dirty="0" smtClean="0"/>
              <a:t> button on the upper left corner. This button can be used for stopping transactions and reports that have already been run.</a:t>
            </a:r>
          </a:p>
          <a:p>
            <a:endParaRPr lang="en-US" baseline="0" dirty="0" smtClean="0"/>
          </a:p>
          <a:p>
            <a:r>
              <a:rPr lang="en-US" b="1" baseline="0" dirty="0" smtClean="0"/>
              <a:t>Menu Bar </a:t>
            </a:r>
            <a:r>
              <a:rPr lang="en-US" baseline="0" dirty="0" smtClean="0"/>
              <a:t>– Contains menus for the functional and administrative areas of the system. As you navigate through SAP screens, the options on the Menu Bar will change, but every Menu Bar will contain </a:t>
            </a:r>
            <a:r>
              <a:rPr lang="en-US" b="1" baseline="0" dirty="0" smtClean="0"/>
              <a:t>System</a:t>
            </a:r>
            <a:r>
              <a:rPr lang="en-US" baseline="0" dirty="0" smtClean="0"/>
              <a:t> and </a:t>
            </a:r>
            <a:r>
              <a:rPr lang="en-US" b="1" baseline="0" dirty="0" smtClean="0"/>
              <a:t>Help</a:t>
            </a:r>
            <a:r>
              <a:rPr lang="en-US" baseline="0" dirty="0" smtClean="0"/>
              <a:t>. Clicking on the System option on the Menu Bar opens a drop down menu of useful functions such as Create session, End session and Log off.</a:t>
            </a:r>
          </a:p>
          <a:p>
            <a:endParaRPr lang="en-US" baseline="0" dirty="0" smtClean="0"/>
          </a:p>
          <a:p>
            <a:r>
              <a:rPr lang="en-US" b="1" baseline="0" dirty="0" smtClean="0"/>
              <a:t>Standard Toolbar</a:t>
            </a:r>
            <a:r>
              <a:rPr lang="en-US" b="0" baseline="0" dirty="0" smtClean="0"/>
              <a:t> – Contains the </a:t>
            </a:r>
            <a:r>
              <a:rPr lang="en-US" b="1" baseline="0" dirty="0" smtClean="0"/>
              <a:t>Command field </a:t>
            </a:r>
            <a:r>
              <a:rPr lang="en-US" b="0" baseline="0" dirty="0" smtClean="0"/>
              <a:t>and the standard SAP Toolbar buttons.</a:t>
            </a:r>
          </a:p>
          <a:p>
            <a:endParaRPr lang="en-US" b="0" baseline="0" dirty="0" smtClean="0"/>
          </a:p>
          <a:p>
            <a:r>
              <a:rPr lang="en-US" b="1" baseline="0" dirty="0" smtClean="0"/>
              <a:t>Title Bar </a:t>
            </a:r>
            <a:r>
              <a:rPr lang="en-US" b="0" baseline="0" dirty="0" smtClean="0"/>
              <a:t>– Displays the name of the screen you are working on.</a:t>
            </a:r>
          </a:p>
          <a:p>
            <a:endParaRPr lang="en-US" b="0" baseline="0" dirty="0" smtClean="0"/>
          </a:p>
          <a:p>
            <a:r>
              <a:rPr lang="en-US" b="1" baseline="0" dirty="0" smtClean="0"/>
              <a:t>Navigation Toolbar </a:t>
            </a:r>
            <a:r>
              <a:rPr lang="en-US" b="0" baseline="0" dirty="0" smtClean="0"/>
              <a:t>– Contains the </a:t>
            </a:r>
            <a:r>
              <a:rPr lang="en-US" b="1" baseline="0" dirty="0" smtClean="0"/>
              <a:t>SAP Standard Menu</a:t>
            </a:r>
            <a:r>
              <a:rPr lang="en-US" b="0" baseline="0" dirty="0" smtClean="0"/>
              <a:t>, </a:t>
            </a:r>
            <a:r>
              <a:rPr lang="en-US" b="1" baseline="0" dirty="0" smtClean="0"/>
              <a:t>SAP User Menu </a:t>
            </a:r>
            <a:r>
              <a:rPr lang="en-US" b="0" baseline="0" dirty="0" smtClean="0"/>
              <a:t>buttons and </a:t>
            </a:r>
            <a:r>
              <a:rPr lang="en-US" b="0" i="1" baseline="0" dirty="0" smtClean="0"/>
              <a:t>Favorites</a:t>
            </a:r>
            <a:r>
              <a:rPr lang="en-US" b="0" baseline="0" dirty="0" smtClean="0"/>
              <a:t>. When you are in a transaction, the Navigation Toolbar is replaced by the </a:t>
            </a:r>
            <a:r>
              <a:rPr lang="en-US" b="1" baseline="0" dirty="0" smtClean="0"/>
              <a:t>Application Toolbar</a:t>
            </a:r>
            <a:r>
              <a:rPr lang="en-US" b="0" baseline="0" dirty="0" smtClean="0"/>
              <a:t>.  The Application Toolbar provides quick access to commonly used functions.</a:t>
            </a:r>
          </a:p>
          <a:p>
            <a:endParaRPr lang="en-US" b="0" baseline="0" dirty="0" smtClean="0"/>
          </a:p>
          <a:p>
            <a:r>
              <a:rPr lang="en-US" b="1" baseline="0" dirty="0" smtClean="0"/>
              <a:t>Screen Body </a:t>
            </a:r>
            <a:r>
              <a:rPr lang="en-US" b="0" baseline="0" dirty="0" smtClean="0"/>
              <a:t>– Displays different elements depending on where you are in the system.</a:t>
            </a:r>
          </a:p>
          <a:p>
            <a:endParaRPr lang="en-US" b="0" baseline="0" dirty="0" smtClean="0"/>
          </a:p>
          <a:p>
            <a:r>
              <a:rPr lang="en-US" b="1" baseline="0" dirty="0" smtClean="0"/>
              <a:t>Status Bar </a:t>
            </a:r>
            <a:r>
              <a:rPr lang="en-US" b="0" baseline="0" dirty="0" smtClean="0"/>
              <a:t>– Located at the bottom of the SAP screen, displays system messages and other session information.</a:t>
            </a:r>
          </a:p>
          <a:p>
            <a:endParaRPr lang="en-US" b="0" baseline="0" dirty="0" smtClean="0"/>
          </a:p>
          <a:p>
            <a:endParaRPr lang="en-US" b="1"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38</a:t>
            </a:fld>
            <a:endParaRPr lang="en-US"/>
          </a:p>
        </p:txBody>
      </p:sp>
    </p:spTree>
    <p:extLst>
      <p:ext uri="{BB962C8B-B14F-4D97-AF65-F5344CB8AC3E}">
        <p14:creationId xmlns:p14="http://schemas.microsoft.com/office/powerpoint/2010/main" val="2614265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Menu Bar contains menus which consist of sub-menus and/or functions that perform an action. Menus on your screen change depending on which application or task you are using. Consequently, you will see different menus as you work on different tasks.  Two items however will not change on the menu bar and they are System and Help. </a:t>
            </a:r>
          </a:p>
          <a:p>
            <a:endParaRPr lang="en-US" dirty="0" smtClean="0"/>
          </a:p>
          <a:p>
            <a:r>
              <a:rPr lang="en-US" sz="1200" kern="1200" dirty="0" smtClean="0">
                <a:solidFill>
                  <a:schemeClr val="tx1"/>
                </a:solidFill>
                <a:effectLst/>
                <a:latin typeface="Arial" charset="0"/>
                <a:ea typeface="+mn-ea"/>
                <a:cs typeface="+mn-cs"/>
              </a:rPr>
              <a:t>Menus contain sub-menus and functions. A sub-menu, which is “subordinate” to a menu function, will have an arrow to the right of the item. To display all the menus in a Menu Bar, click once with the left mouse button on a menu and drag the cursor across the menus in the Menu Bar.</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You can select menus, sub-menus and functions with either the mouse or the keyboard. To select a menu using the mouse, click on the menu name you wish to select with the left mouse button. To select some functions, it may be necessary to first choose one or even two sub-menus first with the left mouse button. You can easily cancel, or close, any menu or sub-menus that you have selected by clicking once with the left mouse button outside of the menu or sub-menu.</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To select a menu utilizing the keyboard, begin by pressing F10 and then use the arrow keys to mark and display the menu. You select a sub-menu and/or functions by marking them with the arrow keys and then pressing the &lt;ENTER&gt; key.</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39</a:t>
            </a:fld>
            <a:endParaRPr lang="en-US"/>
          </a:p>
        </p:txBody>
      </p:sp>
    </p:spTree>
    <p:extLst>
      <p:ext uri="{BB962C8B-B14F-4D97-AF65-F5344CB8AC3E}">
        <p14:creationId xmlns:p14="http://schemas.microsoft.com/office/powerpoint/2010/main" val="20015897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Standard Toolbar contains many icons for performing common actions. Also located in the Standard Toolbar is the Command Field that is used for transaction codes, a topic yet to be discussed. The icons located in the Standard Toolbar remain the same in all applications. However, in some applications, the icons may not be available for use. They will be shaded out. By positioning the cursor over the icon in the Standard Toolbar and leaving it there, a small banner will appear with the name of the icon. Some of the banners will also provide the corresponding function key used to perform that function.</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40</a:t>
            </a:fld>
            <a:endParaRPr lang="en-US"/>
          </a:p>
        </p:txBody>
      </p:sp>
    </p:spTree>
    <p:extLst>
      <p:ext uri="{BB962C8B-B14F-4D97-AF65-F5344CB8AC3E}">
        <p14:creationId xmlns:p14="http://schemas.microsoft.com/office/powerpoint/2010/main" val="28735932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SAP Application Toolbar contains buttons that duplicate</a:t>
            </a:r>
            <a:r>
              <a:rPr lang="en-US" baseline="0" dirty="0" smtClean="0"/>
              <a:t> functions available from the menu bar but provide quicker access to some of the most commonly used functions for the current screen and system tasks.</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41</a:t>
            </a:fld>
            <a:endParaRPr lang="en-US"/>
          </a:p>
        </p:txBody>
      </p:sp>
    </p:spTree>
    <p:extLst>
      <p:ext uri="{BB962C8B-B14F-4D97-AF65-F5344CB8AC3E}">
        <p14:creationId xmlns:p14="http://schemas.microsoft.com/office/powerpoint/2010/main" val="41757324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System</a:t>
            </a:r>
            <a:r>
              <a:rPr lang="en-US" baseline="0" dirty="0" smtClean="0"/>
              <a:t> Messages – The large field to the left displays system messages including: warning messages, error messages or instructions, such as </a:t>
            </a:r>
            <a:r>
              <a:rPr lang="en-US" b="1" i="1" baseline="0" dirty="0" smtClean="0"/>
              <a:t>Make an entry in all required fields.</a:t>
            </a:r>
          </a:p>
          <a:p>
            <a:endParaRPr lang="en-US" b="0" i="0" baseline="0" dirty="0" smtClean="0"/>
          </a:p>
          <a:p>
            <a:r>
              <a:rPr lang="en-US" b="0" i="0" baseline="0" dirty="0" smtClean="0"/>
              <a:t>Double-click on the message or click in the red circle and a dialogue box pops up that explains the message and what action to take.</a:t>
            </a:r>
          </a:p>
          <a:p>
            <a:endParaRPr lang="en-US" b="0" i="0" baseline="0" dirty="0" smtClean="0"/>
          </a:p>
          <a:p>
            <a:r>
              <a:rPr lang="en-US" b="0" i="0" baseline="0" dirty="0" smtClean="0"/>
              <a:t>System Information – The second field on the status bar defaults to display the system information such as system name (session number) and (client number).</a:t>
            </a:r>
            <a:endParaRPr lang="en-US" b="0" i="0"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42</a:t>
            </a:fld>
            <a:endParaRPr lang="en-US"/>
          </a:p>
        </p:txBody>
      </p:sp>
    </p:spTree>
    <p:extLst>
      <p:ext uri="{BB962C8B-B14F-4D97-AF65-F5344CB8AC3E}">
        <p14:creationId xmlns:p14="http://schemas.microsoft.com/office/powerpoint/2010/main" val="15724691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b="1" dirty="0" smtClean="0"/>
              <a:t>SAP Standard</a:t>
            </a:r>
            <a:r>
              <a:rPr lang="en-US" b="1" baseline="0" dirty="0" smtClean="0"/>
              <a:t> Menu </a:t>
            </a:r>
            <a:r>
              <a:rPr lang="en-US" baseline="0" dirty="0" smtClean="0"/>
              <a:t>-  </a:t>
            </a:r>
            <a:r>
              <a:rPr lang="en-US" sz="1200" kern="1200" dirty="0" smtClean="0">
                <a:solidFill>
                  <a:schemeClr val="tx1"/>
                </a:solidFill>
                <a:effectLst/>
                <a:latin typeface="Arial" charset="0"/>
                <a:ea typeface="+mn-ea"/>
                <a:cs typeface="+mn-cs"/>
              </a:rPr>
              <a:t>After logging on to the ECC system, you will first see the SAP Easy Access Menu Screen. It is from this screen that you will be able to enter a specific transaction to work.  In some instances, the menu will be collapsed. To expand the menu tree, click on the SAP Standard Menu</a:t>
            </a:r>
            <a:r>
              <a:rPr lang="en-US" sz="1200" kern="1200" baseline="0" dirty="0" smtClean="0">
                <a:solidFill>
                  <a:schemeClr val="tx1"/>
                </a:solidFill>
                <a:effectLst/>
                <a:latin typeface="Arial" charset="0"/>
                <a:ea typeface="+mn-ea"/>
                <a:cs typeface="+mn-cs"/>
              </a:rPr>
              <a:t> </a:t>
            </a:r>
            <a:r>
              <a:rPr lang="en-US" sz="1200" kern="1200" dirty="0" smtClean="0">
                <a:solidFill>
                  <a:schemeClr val="tx1"/>
                </a:solidFill>
                <a:effectLst/>
                <a:latin typeface="Arial" charset="0"/>
                <a:ea typeface="+mn-ea"/>
                <a:cs typeface="+mn-cs"/>
              </a:rPr>
              <a:t>icon. While all transactions will be displayed, you will only be able to access those transactions associated with your assigned role.</a:t>
            </a:r>
          </a:p>
          <a:p>
            <a:pPr marL="171450" marR="0" indent="-17145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sz="1200" b="1" kern="1200" dirty="0" smtClean="0">
                <a:solidFill>
                  <a:schemeClr val="tx1"/>
                </a:solidFill>
                <a:effectLst/>
                <a:latin typeface="Arial" charset="0"/>
                <a:ea typeface="+mn-ea"/>
                <a:cs typeface="+mn-cs"/>
              </a:rPr>
              <a:t>SAP User Menu </a:t>
            </a:r>
            <a:r>
              <a:rPr lang="en-US" sz="1200" kern="1200" dirty="0" smtClean="0">
                <a:solidFill>
                  <a:schemeClr val="tx1"/>
                </a:solidFill>
                <a:effectLst/>
                <a:latin typeface="Arial" charset="0"/>
                <a:ea typeface="+mn-ea"/>
                <a:cs typeface="+mn-cs"/>
              </a:rPr>
              <a:t>- To initiate the requisite task to be performed, you must drill down into the tree structure of the SAP Easy Access screen to access transactions. Expand and collapse the menu tree structure either by clicking on the SAP Menu icon or by clicking on the triangles to the left of each folder. The Menu Tree Structure is organized in a hierarchical order, beginning with a listing of the various applications or modules. Each application expands to reveal a list of nodes or subfolders sectioning the application into various components. Under each node are specific transactions, and end the menu path for that transaction. Double clicking on the transaction will launch the appropriate initial screen for that transaction.</a:t>
            </a:r>
          </a:p>
          <a:p>
            <a:pPr marL="171450" marR="0" indent="-171450" algn="l" defTabSz="914400" rtl="0" eaLnBrk="1" fontAlgn="base" latinLnBrk="0" hangingPunct="1">
              <a:lnSpc>
                <a:spcPct val="100000"/>
              </a:lnSpc>
              <a:spcBef>
                <a:spcPct val="30000"/>
              </a:spcBef>
              <a:spcAft>
                <a:spcPct val="0"/>
              </a:spcAft>
              <a:buClrTx/>
              <a:buSzTx/>
              <a:buFont typeface="Arial" pitchFamily="34" charset="0"/>
              <a:buChar char="•"/>
              <a:tabLst/>
              <a:defRPr/>
            </a:pP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43</a:t>
            </a:fld>
            <a:endParaRPr lang="en-US"/>
          </a:p>
        </p:txBody>
      </p:sp>
    </p:spTree>
    <p:extLst>
      <p:ext uri="{BB962C8B-B14F-4D97-AF65-F5344CB8AC3E}">
        <p14:creationId xmlns:p14="http://schemas.microsoft.com/office/powerpoint/2010/main" val="7569889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A transaction code or T-Code for short are letters, numbers, or both that make</a:t>
            </a:r>
            <a:r>
              <a:rPr lang="en-US" sz="1200" kern="1200" baseline="0" dirty="0" smtClean="0">
                <a:solidFill>
                  <a:schemeClr val="tx1"/>
                </a:solidFill>
                <a:effectLst/>
                <a:latin typeface="Arial" charset="0"/>
                <a:ea typeface="+mn-ea"/>
                <a:cs typeface="+mn-cs"/>
              </a:rPr>
              <a:t> up a unique code </a:t>
            </a:r>
            <a:r>
              <a:rPr lang="en-US" sz="1200" kern="1200" dirty="0" smtClean="0">
                <a:solidFill>
                  <a:schemeClr val="tx1"/>
                </a:solidFill>
                <a:effectLst/>
                <a:latin typeface="Arial" charset="0"/>
                <a:ea typeface="+mn-ea"/>
                <a:cs typeface="+mn-cs"/>
              </a:rPr>
              <a:t>that takes you directly to an application or the first screen of a task. </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To use the Menu Tree to locate a transaction, from the SAP Easy Access screen, click on the SAP Menu icon to expand the SAP Standard menu tree. The first-level folders will be displayed; select the appropriate folder and double-click on the arrow next to it to expand it. Continue drilling down in this manner until SAP displays the transaction you are seeking. Once you arrive at the transaction, double-click on it to access the initial transaction screen.</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Please note that while the standard menu displays all SAP transactions, you will only be able to access those transactions associated with your assigned role.</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44</a:t>
            </a:fld>
            <a:endParaRPr lang="en-US"/>
          </a:p>
        </p:txBody>
      </p:sp>
    </p:spTree>
    <p:extLst>
      <p:ext uri="{BB962C8B-B14F-4D97-AF65-F5344CB8AC3E}">
        <p14:creationId xmlns:p14="http://schemas.microsoft.com/office/powerpoint/2010/main" val="27450384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SAP provides the option to display the transaction code on the main menu screen. This procedure needs to be done only once, and once set will automatically display transaction codes in the Menu tree.</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To show the transaction codes in your User menu, select the menu path Extras &gt; Settings. Select the checkbox “Display technical names” Click </a:t>
            </a:r>
            <a:r>
              <a:rPr lang="en-US" sz="1200" b="1" kern="1200" dirty="0" smtClean="0">
                <a:solidFill>
                  <a:schemeClr val="tx1"/>
                </a:solidFill>
                <a:effectLst/>
                <a:latin typeface="Arial" charset="0"/>
                <a:ea typeface="+mn-ea"/>
                <a:cs typeface="+mn-cs"/>
              </a:rPr>
              <a:t>Continue</a:t>
            </a:r>
            <a:r>
              <a:rPr lang="en-US" sz="1200" kern="1200" dirty="0" smtClean="0">
                <a:solidFill>
                  <a:schemeClr val="tx1"/>
                </a:solidFill>
                <a:effectLst/>
                <a:latin typeface="Arial" charset="0"/>
                <a:ea typeface="+mn-ea"/>
                <a:cs typeface="+mn-cs"/>
              </a:rPr>
              <a:t> or press </a:t>
            </a:r>
            <a:r>
              <a:rPr lang="en-US" sz="1200" b="1" kern="1200" dirty="0" smtClean="0">
                <a:solidFill>
                  <a:schemeClr val="tx1"/>
                </a:solidFill>
                <a:effectLst/>
                <a:latin typeface="Arial" charset="0"/>
                <a:ea typeface="+mn-ea"/>
                <a:cs typeface="+mn-cs"/>
              </a:rPr>
              <a:t>Enter</a:t>
            </a:r>
            <a:r>
              <a:rPr lang="en-US" sz="1200" kern="1200" dirty="0" smtClean="0">
                <a:solidFill>
                  <a:schemeClr val="tx1"/>
                </a:solidFill>
                <a:effectLst/>
                <a:latin typeface="Arial" charset="0"/>
                <a:ea typeface="+mn-ea"/>
                <a:cs typeface="+mn-cs"/>
              </a:rPr>
              <a:t> on the keyboard. This action closes the menu and displays the transaction codes on an ongoing basis every time you log into SAP.</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45</a:t>
            </a:fld>
            <a:endParaRPr lang="en-US"/>
          </a:p>
        </p:txBody>
      </p:sp>
    </p:spTree>
    <p:extLst>
      <p:ext uri="{BB962C8B-B14F-4D97-AF65-F5344CB8AC3E}">
        <p14:creationId xmlns:p14="http://schemas.microsoft.com/office/powerpoint/2010/main" val="38270975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Show the SAP</a:t>
            </a:r>
            <a:r>
              <a:rPr lang="en-US" baseline="0" dirty="0" smtClean="0"/>
              <a:t> Easy Menu screen and highlight the seven main areas.</a:t>
            </a:r>
          </a:p>
          <a:p>
            <a:pPr marL="228600" indent="-228600">
              <a:buFont typeface="+mj-lt"/>
              <a:buAutoNum type="arabicPeriod"/>
            </a:pPr>
            <a:r>
              <a:rPr lang="en-US" baseline="0" dirty="0" smtClean="0"/>
              <a:t>Highlight the System Menu and Help </a:t>
            </a:r>
            <a:r>
              <a:rPr lang="en-US" baseline="0" dirty="0" err="1" smtClean="0"/>
              <a:t>Meu</a:t>
            </a:r>
            <a:r>
              <a:rPr lang="en-US" baseline="0" dirty="0" smtClean="0"/>
              <a:t> on the Menu bar. Show how to select sub-menus.</a:t>
            </a:r>
          </a:p>
          <a:p>
            <a:pPr marL="228600" indent="-228600">
              <a:buFont typeface="+mj-lt"/>
              <a:buAutoNum type="arabicPeriod"/>
            </a:pPr>
            <a:r>
              <a:rPr lang="en-US" baseline="0" dirty="0" smtClean="0"/>
              <a:t>Highlight the Standard Toolbar and explain the buttons.</a:t>
            </a:r>
          </a:p>
          <a:p>
            <a:pPr marL="228600" indent="-228600">
              <a:buFont typeface="+mj-lt"/>
              <a:buAutoNum type="arabicPeriod"/>
            </a:pPr>
            <a:r>
              <a:rPr lang="en-US" baseline="0" dirty="0" smtClean="0"/>
              <a:t>Highlight the Status Bar.</a:t>
            </a:r>
          </a:p>
          <a:p>
            <a:pPr marL="228600" indent="-228600">
              <a:buFont typeface="+mj-lt"/>
              <a:buAutoNum type="arabicPeriod"/>
            </a:pPr>
            <a:r>
              <a:rPr lang="en-US" baseline="0" dirty="0" smtClean="0"/>
              <a:t>Toggle between the SAP Standard Menu and the SAP User Menu; show the differences.</a:t>
            </a:r>
          </a:p>
          <a:p>
            <a:pPr marL="228600" indent="-228600">
              <a:buFont typeface="+mj-lt"/>
              <a:buAutoNum type="arabicPeriod"/>
            </a:pPr>
            <a:r>
              <a:rPr lang="en-US" baseline="0" dirty="0" smtClean="0"/>
              <a:t>Drill down into a menu tree, show transactions without transaction codes. Demonstrate how to display transaction codes in the tree structure.</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46</a:t>
            </a:fld>
            <a:endParaRPr lang="en-US"/>
          </a:p>
        </p:txBody>
      </p:sp>
    </p:spTree>
    <p:extLst>
      <p:ext uri="{BB962C8B-B14F-4D97-AF65-F5344CB8AC3E}">
        <p14:creationId xmlns:p14="http://schemas.microsoft.com/office/powerpoint/2010/main" val="40970747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False. While passwords must be between 5 and 8 characters,</a:t>
            </a:r>
            <a:r>
              <a:rPr lang="en-US" baseline="0" dirty="0" smtClean="0"/>
              <a:t> they can be either letters, numbers, or a mixture of both.</a:t>
            </a:r>
          </a:p>
          <a:p>
            <a:pPr marL="228600" indent="-228600">
              <a:buAutoNum type="arabicPeriod"/>
            </a:pPr>
            <a:r>
              <a:rPr lang="en-US" baseline="0" dirty="0" smtClean="0"/>
              <a:t>System Menu and Help Menu</a:t>
            </a:r>
          </a:p>
          <a:p>
            <a:pPr marL="228600" indent="-228600">
              <a:buAutoNum type="arabicPeriod"/>
            </a:pPr>
            <a:r>
              <a:rPr lang="en-US" baseline="0" dirty="0" smtClean="0"/>
              <a:t>The SAP Standard Menu shows all transactions while the SAP User Menu shows only those transactions a user has the security role to execute.</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48</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SAP Favorites are menu shortcuts, similar to bookmarks on a web browser, to add the transactions and content you use most to a customized folder on the </a:t>
            </a:r>
            <a:r>
              <a:rPr lang="en-US" sz="1200" b="1" i="1" kern="1200" dirty="0" smtClean="0">
                <a:solidFill>
                  <a:schemeClr val="tx1"/>
                </a:solidFill>
                <a:effectLst/>
                <a:latin typeface="Arial" charset="0"/>
                <a:ea typeface="+mn-ea"/>
                <a:cs typeface="+mn-cs"/>
              </a:rPr>
              <a:t>SAP Easy Access</a:t>
            </a:r>
            <a:r>
              <a:rPr lang="en-US" sz="1200" kern="1200" dirty="0" smtClean="0">
                <a:solidFill>
                  <a:schemeClr val="tx1"/>
                </a:solidFill>
                <a:effectLst/>
                <a:latin typeface="Arial" charset="0"/>
                <a:ea typeface="+mn-ea"/>
                <a:cs typeface="+mn-cs"/>
              </a:rPr>
              <a:t> menu. Favorites are customized to each user and allow you to quickly access SAP transactions and reports you use most often. You can also add web pages and files on your network or computer hard drive.</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49</a:t>
            </a:fld>
            <a:endParaRPr lang="en-US"/>
          </a:p>
        </p:txBody>
      </p:sp>
    </p:spTree>
    <p:extLst>
      <p:ext uri="{BB962C8B-B14F-4D97-AF65-F5344CB8AC3E}">
        <p14:creationId xmlns:p14="http://schemas.microsoft.com/office/powerpoint/2010/main" val="5816637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From the SAP Menu screen,</a:t>
            </a:r>
            <a:r>
              <a:rPr lang="en-US" baseline="0" dirty="0" smtClean="0"/>
              <a:t> drill down into </a:t>
            </a:r>
            <a:r>
              <a:rPr lang="en-US" b="1" baseline="0" dirty="0" smtClean="0"/>
              <a:t>Logistics &gt; Plant Maintenance &gt; Maintenance Processing &gt; Notification</a:t>
            </a:r>
            <a:r>
              <a:rPr lang="en-US" baseline="0" dirty="0" smtClean="0"/>
              <a:t>. Single click </a:t>
            </a:r>
            <a:r>
              <a:rPr lang="en-US" b="1" baseline="0" dirty="0" smtClean="0"/>
              <a:t>IW21 Create </a:t>
            </a:r>
            <a:r>
              <a:rPr lang="en-US" baseline="0" dirty="0" smtClean="0"/>
              <a:t>to highlight; click </a:t>
            </a:r>
            <a:r>
              <a:rPr lang="en-US" b="1" baseline="0" dirty="0" smtClean="0"/>
              <a:t>Favorites</a:t>
            </a:r>
            <a:r>
              <a:rPr lang="en-US" baseline="0" dirty="0" smtClean="0"/>
              <a:t>, click </a:t>
            </a:r>
            <a:r>
              <a:rPr lang="en-US" b="1" baseline="0" dirty="0" smtClean="0"/>
              <a:t>Add</a:t>
            </a:r>
            <a:r>
              <a:rPr lang="en-US" b="0" baseline="0" dirty="0" smtClean="0"/>
              <a:t>. Show how it was added to the Favorites folder.</a:t>
            </a:r>
          </a:p>
          <a:p>
            <a:pPr marL="228600" marR="0" indent="-228600" algn="l" defTabSz="914400" rtl="0" eaLnBrk="1" fontAlgn="base" latinLnBrk="0" hangingPunct="1">
              <a:lnSpc>
                <a:spcPct val="100000"/>
              </a:lnSpc>
              <a:spcBef>
                <a:spcPct val="30000"/>
              </a:spcBef>
              <a:spcAft>
                <a:spcPct val="0"/>
              </a:spcAft>
              <a:buClrTx/>
              <a:buSzTx/>
              <a:buFont typeface="+mj-lt"/>
              <a:buAutoNum type="arabicPeriod"/>
              <a:tabLst/>
              <a:defRPr/>
            </a:pPr>
            <a:r>
              <a:rPr lang="en-US" dirty="0" smtClean="0"/>
              <a:t>From the SAP Menu screen,</a:t>
            </a:r>
            <a:r>
              <a:rPr lang="en-US" baseline="0" dirty="0" smtClean="0"/>
              <a:t> drill down into </a:t>
            </a:r>
            <a:r>
              <a:rPr lang="en-US" b="1" baseline="0" dirty="0" smtClean="0"/>
              <a:t>Logistics &gt; Plant Maintenance &gt; Maintenance Processing &gt; Notification</a:t>
            </a:r>
            <a:r>
              <a:rPr lang="en-US" baseline="0" dirty="0" smtClean="0"/>
              <a:t>. Single click </a:t>
            </a:r>
            <a:r>
              <a:rPr lang="en-US" b="1" baseline="0" dirty="0" smtClean="0"/>
              <a:t>IW22 Change </a:t>
            </a:r>
            <a:r>
              <a:rPr lang="en-US" baseline="0" dirty="0" smtClean="0"/>
              <a:t>to highlight; right click to display menu, click </a:t>
            </a:r>
            <a:r>
              <a:rPr lang="en-US" b="1" baseline="0" dirty="0" smtClean="0"/>
              <a:t>Add to Favorites</a:t>
            </a:r>
            <a:r>
              <a:rPr lang="en-US" baseline="0" dirty="0" smtClean="0"/>
              <a:t>. </a:t>
            </a:r>
            <a:r>
              <a:rPr lang="en-US" b="0" baseline="0" dirty="0" smtClean="0"/>
              <a:t>Show how it was added to the Favorites folder.</a:t>
            </a:r>
          </a:p>
          <a:p>
            <a:pPr marL="228600" indent="-228600">
              <a:buFont typeface="+mj-lt"/>
              <a:buAutoNum type="arabicPeriod"/>
            </a:pPr>
            <a:r>
              <a:rPr lang="en-US" dirty="0" smtClean="0"/>
              <a:t>From the SAP Menu screen,</a:t>
            </a:r>
            <a:r>
              <a:rPr lang="en-US" baseline="0" dirty="0" smtClean="0"/>
              <a:t> drill down into </a:t>
            </a:r>
            <a:r>
              <a:rPr lang="en-US" b="1" baseline="0" dirty="0" smtClean="0"/>
              <a:t>Logistics &gt; Plant Maintenance &gt; Maintenance Processing &gt; Notification</a:t>
            </a:r>
            <a:r>
              <a:rPr lang="en-US" baseline="0" dirty="0" smtClean="0"/>
              <a:t>. Hold the mouse on </a:t>
            </a:r>
            <a:r>
              <a:rPr lang="en-US" b="1" baseline="0" dirty="0" smtClean="0"/>
              <a:t>IW23 Display</a:t>
            </a:r>
            <a:r>
              <a:rPr lang="en-US" baseline="0" dirty="0" smtClean="0"/>
              <a:t> and drag to the Favorites folder; release mouse. Show how it was added to the Favorites folder.</a:t>
            </a:r>
          </a:p>
          <a:p>
            <a:pPr marL="228600" indent="-228600">
              <a:buFont typeface="+mj-lt"/>
              <a:buAutoNum type="arabicPeriod"/>
            </a:pPr>
            <a:r>
              <a:rPr lang="en-US" baseline="0" dirty="0" smtClean="0"/>
              <a:t>Demonstrate how to create a folder in Favorites and organize transactions. Right click on </a:t>
            </a:r>
            <a:r>
              <a:rPr lang="en-US" b="1" baseline="0" dirty="0" smtClean="0"/>
              <a:t>Favorites</a:t>
            </a:r>
            <a:r>
              <a:rPr lang="en-US" baseline="0" dirty="0" smtClean="0"/>
              <a:t> in the menu tree, click </a:t>
            </a:r>
            <a:r>
              <a:rPr lang="en-US" b="1" baseline="0" dirty="0" smtClean="0"/>
              <a:t>Insert Folder</a:t>
            </a:r>
            <a:r>
              <a:rPr lang="en-US" baseline="0" dirty="0" smtClean="0"/>
              <a:t>. In the pop-up screen, name the folder </a:t>
            </a:r>
            <a:r>
              <a:rPr lang="en-US" b="1" baseline="0" dirty="0" smtClean="0"/>
              <a:t>Notifications</a:t>
            </a:r>
            <a:r>
              <a:rPr lang="en-US" baseline="0" dirty="0" smtClean="0"/>
              <a:t> and click </a:t>
            </a:r>
            <a:r>
              <a:rPr lang="en-US" b="1" baseline="0" dirty="0" smtClean="0"/>
              <a:t>Accept</a:t>
            </a:r>
            <a:r>
              <a:rPr lang="en-US" baseline="0" dirty="0" smtClean="0"/>
              <a:t>. Drag and drop the 3 transactions into the </a:t>
            </a:r>
            <a:r>
              <a:rPr lang="en-US" b="1" baseline="0" dirty="0" smtClean="0"/>
              <a:t>Notifications</a:t>
            </a:r>
            <a:r>
              <a:rPr lang="en-US" baseline="0" dirty="0" smtClean="0"/>
              <a:t> folder.</a:t>
            </a:r>
          </a:p>
          <a:p>
            <a:pPr marL="228600" indent="-228600">
              <a:buFont typeface="+mj-lt"/>
              <a:buAutoNum type="arabicPeriod"/>
            </a:pPr>
            <a:r>
              <a:rPr lang="en-US" baseline="0" dirty="0" smtClean="0"/>
              <a:t>Demonstrate how to add other items to a folder in Favorites. Right click the </a:t>
            </a:r>
            <a:r>
              <a:rPr lang="en-US" b="1" baseline="0" dirty="0" smtClean="0"/>
              <a:t>Notifications</a:t>
            </a:r>
            <a:r>
              <a:rPr lang="en-US" baseline="0" dirty="0" smtClean="0"/>
              <a:t> folder, click </a:t>
            </a:r>
            <a:r>
              <a:rPr lang="en-US" b="1" baseline="0" dirty="0" smtClean="0"/>
              <a:t>Add Other Objects</a:t>
            </a:r>
            <a:r>
              <a:rPr lang="en-US" baseline="0" dirty="0" smtClean="0"/>
              <a:t>. Explain all the options in the pop-up window. Double-click </a:t>
            </a:r>
            <a:r>
              <a:rPr lang="en-US" b="1" baseline="0" dirty="0" smtClean="0"/>
              <a:t>Web Address or File</a:t>
            </a:r>
            <a:r>
              <a:rPr lang="en-US" baseline="0" dirty="0" smtClean="0"/>
              <a:t>. In the </a:t>
            </a:r>
            <a:r>
              <a:rPr lang="en-US" b="1" baseline="0" dirty="0" smtClean="0"/>
              <a:t>Text </a:t>
            </a:r>
            <a:r>
              <a:rPr lang="en-US" baseline="0" dirty="0" smtClean="0"/>
              <a:t>field, name it </a:t>
            </a:r>
            <a:r>
              <a:rPr lang="en-US" b="1" baseline="0" dirty="0" smtClean="0"/>
              <a:t>News</a:t>
            </a:r>
            <a:r>
              <a:rPr lang="en-US" baseline="0" dirty="0" smtClean="0"/>
              <a:t>. In the </a:t>
            </a:r>
            <a:r>
              <a:rPr lang="en-US" b="1" baseline="0" dirty="0" smtClean="0"/>
              <a:t>Web Address or File</a:t>
            </a:r>
            <a:r>
              <a:rPr lang="en-US" baseline="0" dirty="0" smtClean="0"/>
              <a:t> field, type </a:t>
            </a:r>
            <a:r>
              <a:rPr lang="en-US" b="1" baseline="0" dirty="0" smtClean="0"/>
              <a:t>www.cnn.com</a:t>
            </a:r>
            <a:r>
              <a:rPr lang="en-US" baseline="0" dirty="0" smtClean="0"/>
              <a:t>. Click </a:t>
            </a:r>
            <a:r>
              <a:rPr lang="en-US" b="1" baseline="0" dirty="0" smtClean="0"/>
              <a:t>Accept</a:t>
            </a:r>
            <a:r>
              <a:rPr lang="en-US" baseline="0" dirty="0" smtClean="0"/>
              <a:t>. Show how it is now listed in Favorites. Click the link and show how the web site opens.</a:t>
            </a:r>
          </a:p>
          <a:p>
            <a:pPr marL="0" indent="0">
              <a:buFont typeface="+mj-lt"/>
              <a:buNone/>
            </a:pPr>
            <a:endParaRPr lang="en-US" b="1" baseline="0" dirty="0" smtClean="0"/>
          </a:p>
          <a:p>
            <a:pPr marL="0" indent="0">
              <a:buFont typeface="+mj-lt"/>
              <a:buNone/>
            </a:pPr>
            <a:endParaRPr lang="en-US" b="1"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51</a:t>
            </a:fld>
            <a:endParaRPr lang="en-US"/>
          </a:p>
        </p:txBody>
      </p:sp>
    </p:spTree>
    <p:extLst>
      <p:ext uri="{BB962C8B-B14F-4D97-AF65-F5344CB8AC3E}">
        <p14:creationId xmlns:p14="http://schemas.microsoft.com/office/powerpoint/2010/main" val="38589884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Menu Shortcuts</a:t>
            </a:r>
          </a:p>
          <a:p>
            <a:pPr marL="228600" indent="-228600">
              <a:buAutoNum type="arabicPeriod"/>
            </a:pPr>
            <a:r>
              <a:rPr lang="en-US" dirty="0" smtClean="0"/>
              <a:t>Using the main menu, using right click, using drag and drop</a:t>
            </a:r>
          </a:p>
          <a:p>
            <a:pPr marL="228600" indent="-228600">
              <a:buAutoNum type="arabicPeriod"/>
            </a:pPr>
            <a:r>
              <a:rPr lang="en-US" dirty="0" smtClean="0"/>
              <a:t>As many</a:t>
            </a:r>
            <a:r>
              <a:rPr lang="en-US" baseline="0" dirty="0" smtClean="0"/>
              <a:t> as you wish</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53</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In SAP it tis possible to have two or more windows or sessions open</a:t>
            </a:r>
            <a:r>
              <a:rPr lang="en-US" sz="1200" kern="1200" baseline="0" dirty="0" smtClean="0">
                <a:solidFill>
                  <a:schemeClr val="tx1"/>
                </a:solidFill>
                <a:effectLst/>
                <a:latin typeface="Arial" charset="0"/>
                <a:ea typeface="+mn-ea"/>
                <a:cs typeface="+mn-cs"/>
              </a:rPr>
              <a:t> at one time. This feature is useful in several situations, for example; you can view a repot in one window and a purchase requisition in another.</a:t>
            </a:r>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 </a:t>
            </a:r>
          </a:p>
          <a:p>
            <a:r>
              <a:rPr lang="en-US" dirty="0" smtClean="0"/>
              <a:t>When you are finished</a:t>
            </a:r>
            <a:r>
              <a:rPr lang="en-US" baseline="0" dirty="0" smtClean="0"/>
              <a:t> with the second session and no longer need it, follow the menu path </a:t>
            </a:r>
            <a:r>
              <a:rPr lang="en-US" b="1" baseline="0" dirty="0" smtClean="0"/>
              <a:t>System&gt;End Session </a:t>
            </a:r>
            <a:r>
              <a:rPr lang="en-US" baseline="0" dirty="0" smtClean="0"/>
              <a:t>from that session to close it.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54</a:t>
            </a:fld>
            <a:endParaRPr lang="en-US"/>
          </a:p>
        </p:txBody>
      </p:sp>
    </p:spTree>
    <p:extLst>
      <p:ext uri="{BB962C8B-B14F-4D97-AF65-F5344CB8AC3E}">
        <p14:creationId xmlns:p14="http://schemas.microsoft.com/office/powerpoint/2010/main" val="9950082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From the SAP Easy Access screen, simply type the T-Code into the field and press the &lt;ENTER&gt; key or click on the green check mark at the upper right corner of the screen. You may also press CTRL + TAB, which will place the cursor in the Command Field.</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If you are currently working in a transaction and want to end it and go to another transaction, type /n and the transaction code in the Command Field. For example, to enter the transaction for creating a Sales Order, VA01, you would enter /nVA01 and press the &lt;ENTER&gt; key or click on the green check mark at the upper right corner of the screen. The /n tells the SAP system that you wish to open a NEW transaction.</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If you do not want to end your current task, but need to perform another task, you can create a new session – an additional ECC window that can open when you want to work on more than one task at a time. For example, suppose you are creating a Sales order and you need to look at a table of exchange rates. You can start a new session to look for the exchange rate table without having to end your first task of create the Sales order.</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55</a:t>
            </a:fld>
            <a:endParaRPr lang="en-US"/>
          </a:p>
        </p:txBody>
      </p:sp>
    </p:spTree>
    <p:extLst>
      <p:ext uri="{BB962C8B-B14F-4D97-AF65-F5344CB8AC3E}">
        <p14:creationId xmlns:p14="http://schemas.microsoft.com/office/powerpoint/2010/main" val="37607450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SAP only recognizes transaction codes when used with </a:t>
            </a:r>
            <a:r>
              <a:rPr lang="en-US" b="1" dirty="0" smtClean="0"/>
              <a:t>prefixes</a:t>
            </a:r>
            <a:r>
              <a:rPr lang="en-US" dirty="0" smtClean="0"/>
              <a:t>. Prefixes determine the way in which SAP will access the indicated transaction.</a:t>
            </a:r>
          </a:p>
          <a:p>
            <a:endParaRPr lang="en-US" dirty="0" smtClean="0"/>
          </a:p>
          <a:p>
            <a:r>
              <a:rPr lang="en-US" sz="1200" kern="1200" dirty="0" smtClean="0">
                <a:solidFill>
                  <a:schemeClr val="tx1"/>
                </a:solidFill>
                <a:effectLst/>
                <a:latin typeface="Arial" charset="0"/>
                <a:ea typeface="+mn-ea"/>
                <a:cs typeface="+mn-cs"/>
              </a:rPr>
              <a:t>In the ECC system, you can create a session and start a task in one step by using a transaction code. When you open a session with a transaction code, the system displays the initial screen of the task in the new session. To use this method, enter /o (OH, not zero) followed by the transaction code.  </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The system opens an additional window for the new session and displays the initial screen of the transaction entered. The system places the new window in front of all the other windows on your computer screen. The new session becomes the active session and remains as such until you move to a different session. You may move between sessions by holding the ALT key down and then pressing on the TAB key.</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56</a:t>
            </a:fld>
            <a:endParaRPr lang="en-US"/>
          </a:p>
        </p:txBody>
      </p:sp>
    </p:spTree>
    <p:extLst>
      <p:ext uri="{BB962C8B-B14F-4D97-AF65-F5344CB8AC3E}">
        <p14:creationId xmlns:p14="http://schemas.microsoft.com/office/powerpoint/2010/main" val="19542697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From the </a:t>
            </a:r>
            <a:r>
              <a:rPr lang="en-US" b="1" dirty="0" smtClean="0"/>
              <a:t>SAP Easy Access </a:t>
            </a:r>
            <a:r>
              <a:rPr lang="en-US" dirty="0" smtClean="0"/>
              <a:t>screen,</a:t>
            </a:r>
            <a:r>
              <a:rPr lang="en-US" baseline="0" dirty="0" smtClean="0"/>
              <a:t> type </a:t>
            </a:r>
            <a:r>
              <a:rPr lang="en-US" b="1" baseline="0" dirty="0" smtClean="0"/>
              <a:t>FBL1N</a:t>
            </a:r>
            <a:r>
              <a:rPr lang="en-US" baseline="0" dirty="0" smtClean="0"/>
              <a:t> in the </a:t>
            </a:r>
            <a:r>
              <a:rPr lang="en-US" b="1" baseline="0" dirty="0" smtClean="0"/>
              <a:t>Command</a:t>
            </a:r>
            <a:r>
              <a:rPr lang="en-US" baseline="0" dirty="0" smtClean="0"/>
              <a:t> field and press </a:t>
            </a:r>
            <a:r>
              <a:rPr lang="en-US" b="1" baseline="0" dirty="0" smtClean="0"/>
              <a:t>Enter</a:t>
            </a:r>
            <a:r>
              <a:rPr lang="en-US" baseline="0" dirty="0" smtClean="0"/>
              <a:t>. </a:t>
            </a:r>
          </a:p>
          <a:p>
            <a:pPr marL="228600" indent="-228600">
              <a:buFont typeface="+mj-lt"/>
              <a:buAutoNum type="arabicPeriod"/>
            </a:pPr>
            <a:r>
              <a:rPr lang="en-US" baseline="0" dirty="0" smtClean="0"/>
              <a:t>In the </a:t>
            </a:r>
            <a:r>
              <a:rPr lang="en-US" b="1" baseline="0" dirty="0" smtClean="0"/>
              <a:t>Vendor Account </a:t>
            </a:r>
            <a:r>
              <a:rPr lang="en-US" baseline="0" dirty="0" smtClean="0"/>
              <a:t>field, enter </a:t>
            </a:r>
            <a:r>
              <a:rPr lang="en-US" b="1" baseline="0" dirty="0" smtClean="0"/>
              <a:t>3100000005 </a:t>
            </a:r>
            <a:r>
              <a:rPr lang="en-US" baseline="0" dirty="0" smtClean="0"/>
              <a:t>and click </a:t>
            </a:r>
            <a:r>
              <a:rPr lang="en-US" b="1" baseline="0" dirty="0" smtClean="0"/>
              <a:t>Execute</a:t>
            </a:r>
            <a:r>
              <a:rPr lang="en-US" baseline="0" dirty="0" smtClean="0"/>
              <a:t>.</a:t>
            </a:r>
          </a:p>
          <a:p>
            <a:pPr marL="228600" indent="-228600">
              <a:buFont typeface="+mj-lt"/>
              <a:buAutoNum type="arabicPeriod"/>
            </a:pPr>
            <a:r>
              <a:rPr lang="en-US" baseline="0" dirty="0" smtClean="0"/>
              <a:t>Explain that you wish to leave this transaction and go to another transaction. In the </a:t>
            </a:r>
            <a:r>
              <a:rPr lang="en-US" b="1" baseline="0" dirty="0" smtClean="0"/>
              <a:t>Command</a:t>
            </a:r>
            <a:r>
              <a:rPr lang="en-US" baseline="0" dirty="0" smtClean="0"/>
              <a:t> field, type </a:t>
            </a:r>
            <a:r>
              <a:rPr lang="en-US" b="1" baseline="0" dirty="0" smtClean="0"/>
              <a:t>/nFK10N </a:t>
            </a:r>
            <a:r>
              <a:rPr lang="en-US" baseline="0" dirty="0" smtClean="0"/>
              <a:t>and press </a:t>
            </a:r>
            <a:r>
              <a:rPr lang="en-US" b="1" baseline="0" dirty="0" smtClean="0"/>
              <a:t>Enter</a:t>
            </a:r>
            <a:r>
              <a:rPr lang="en-US" baseline="0" dirty="0" smtClean="0"/>
              <a:t>.</a:t>
            </a:r>
          </a:p>
          <a:p>
            <a:pPr marL="228600" indent="-228600">
              <a:buFont typeface="+mj-lt"/>
              <a:buAutoNum type="arabicPeriod"/>
            </a:pPr>
            <a:r>
              <a:rPr lang="en-US" baseline="0" dirty="0" smtClean="0"/>
              <a:t>Show that you still have a single session, the system exited the previous transaction and launched a new one. Now explain that you are going to show how to open a new session and move to a new transaction while keeping the old one open.</a:t>
            </a:r>
          </a:p>
          <a:p>
            <a:pPr marL="228600" indent="-228600">
              <a:buFont typeface="+mj-lt"/>
              <a:buAutoNum type="arabicPeriod"/>
            </a:pPr>
            <a:r>
              <a:rPr lang="en-US" baseline="0" dirty="0" smtClean="0"/>
              <a:t>In the </a:t>
            </a:r>
            <a:r>
              <a:rPr lang="en-US" b="1" baseline="0" dirty="0" smtClean="0"/>
              <a:t>Command</a:t>
            </a:r>
            <a:r>
              <a:rPr lang="en-US" baseline="0" dirty="0" smtClean="0"/>
              <a:t> field, type </a:t>
            </a:r>
            <a:r>
              <a:rPr lang="en-US" b="1" baseline="0" dirty="0" smtClean="0"/>
              <a:t>/oFBL1N </a:t>
            </a:r>
            <a:r>
              <a:rPr lang="en-US" baseline="0" dirty="0" smtClean="0"/>
              <a:t>and press </a:t>
            </a:r>
            <a:r>
              <a:rPr lang="en-US" b="1" baseline="0" dirty="0" smtClean="0"/>
              <a:t>Enter</a:t>
            </a:r>
            <a:r>
              <a:rPr lang="en-US" baseline="0" dirty="0" smtClean="0"/>
              <a:t>. Show the two screens.</a:t>
            </a:r>
          </a:p>
          <a:p>
            <a:pPr marL="228600" indent="-228600">
              <a:buFont typeface="+mj-lt"/>
              <a:buAutoNum type="arabicPeriod"/>
            </a:pPr>
            <a:r>
              <a:rPr lang="en-US" baseline="0" dirty="0" smtClean="0"/>
              <a:t>Finally, explain that you are going to close one session while leaving the other open. Click </a:t>
            </a:r>
            <a:r>
              <a:rPr lang="en-US" b="1" baseline="0" dirty="0" smtClean="0"/>
              <a:t>System</a:t>
            </a:r>
            <a:r>
              <a:rPr lang="en-US" baseline="0" dirty="0" smtClean="0"/>
              <a:t>, </a:t>
            </a:r>
            <a:r>
              <a:rPr lang="en-US" b="1" baseline="0" dirty="0" smtClean="0"/>
              <a:t>End Session</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57</a:t>
            </a:fld>
            <a:endParaRPr lang="en-US"/>
          </a:p>
        </p:txBody>
      </p:sp>
    </p:spTree>
    <p:extLst>
      <p:ext uri="{BB962C8B-B14F-4D97-AF65-F5344CB8AC3E}">
        <p14:creationId xmlns:p14="http://schemas.microsoft.com/office/powerpoint/2010/main" val="36382457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Up to six sessions.</a:t>
            </a:r>
          </a:p>
          <a:p>
            <a:pPr marL="228600" indent="-228600">
              <a:buAutoNum type="arabicPeriod"/>
            </a:pPr>
            <a:r>
              <a:rPr lang="en-US" dirty="0" smtClean="0"/>
              <a:t>No</a:t>
            </a:r>
            <a:r>
              <a:rPr lang="en-US" baseline="0" dirty="0" smtClean="0"/>
              <a:t> more than two sessions.</a:t>
            </a:r>
          </a:p>
          <a:p>
            <a:pPr marL="228600" indent="-228600">
              <a:buAutoNum type="arabicPeriod"/>
            </a:pPr>
            <a:r>
              <a:rPr lang="en-US" baseline="0" dirty="0" smtClean="0"/>
              <a:t>A transaction code is a unique identifier attached to each transaction in SAP while a command code is the text typed into the command field in order to access a transaction.</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59</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A-Standard</a:t>
            </a:r>
            <a:r>
              <a:rPr lang="en-US" baseline="0" dirty="0" smtClean="0"/>
              <a:t> Toolbar</a:t>
            </a:r>
          </a:p>
          <a:p>
            <a:r>
              <a:rPr lang="en-US" baseline="0" dirty="0" smtClean="0"/>
              <a:t>B-Application Toolbar</a:t>
            </a:r>
          </a:p>
          <a:p>
            <a:r>
              <a:rPr lang="en-US" baseline="0" dirty="0" smtClean="0"/>
              <a:t>C-Screen Body</a:t>
            </a:r>
          </a:p>
          <a:p>
            <a:r>
              <a:rPr lang="en-US" baseline="0" dirty="0" smtClean="0"/>
              <a:t>D-Status Bar</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60</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module</a:t>
            </a:r>
            <a:r>
              <a:rPr lang="en-US" baseline="0" dirty="0" smtClean="0"/>
              <a:t> introduces you to basic SAP search fundamentals, including the basic search screens and a variety of search functions that you will use frequently. SAP provides its users with powerful search options and understanding the skills presented in this module is a necessary and </a:t>
            </a:r>
            <a:r>
              <a:rPr lang="en-US" baseline="0" dirty="0" err="1" smtClean="0"/>
              <a:t>usefl</a:t>
            </a:r>
            <a:r>
              <a:rPr lang="en-US" baseline="0" dirty="0" smtClean="0"/>
              <a:t> tool for using SAP.</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64</a:t>
            </a:fld>
            <a:endParaRPr lang="en-US"/>
          </a:p>
        </p:txBody>
      </p:sp>
    </p:spTree>
    <p:extLst>
      <p:ext uri="{BB962C8B-B14F-4D97-AF65-F5344CB8AC3E}">
        <p14:creationId xmlns:p14="http://schemas.microsoft.com/office/powerpoint/2010/main" val="23708264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In SAP you enter data in specified areas called fields.  A field is a “holding place” for each piece of information on a document.  When you type information in a field, it is stored in that document and can later be accessed from the database. </a:t>
            </a:r>
          </a:p>
          <a:p>
            <a:endParaRPr lang="en-US" dirty="0" smtClean="0"/>
          </a:p>
          <a:p>
            <a:r>
              <a:rPr lang="en-US" dirty="0" smtClean="0"/>
              <a:t>There are three field types: </a:t>
            </a:r>
            <a:r>
              <a:rPr lang="en-US" i="1" dirty="0" smtClean="0"/>
              <a:t>Required Default</a:t>
            </a:r>
            <a:r>
              <a:rPr lang="en-US" dirty="0" smtClean="0"/>
              <a:t>, and </a:t>
            </a:r>
            <a:r>
              <a:rPr lang="en-US" i="1" dirty="0" smtClean="0"/>
              <a:t>Optional:</a:t>
            </a:r>
            <a:endParaRPr lang="en-US" dirty="0" smtClean="0"/>
          </a:p>
          <a:p>
            <a:pPr marL="342900" lvl="0" indent="-342900">
              <a:buFont typeface="Arial" pitchFamily="34" charset="0"/>
              <a:buChar char="•"/>
            </a:pPr>
            <a:r>
              <a:rPr lang="en-US" b="1" dirty="0" smtClean="0"/>
              <a:t>Required Entry fields</a:t>
            </a:r>
            <a:r>
              <a:rPr lang="en-US" dirty="0" smtClean="0"/>
              <a:t> are usually flagged with </a:t>
            </a:r>
            <a:r>
              <a:rPr lang="en-US" i="1" dirty="0" smtClean="0"/>
              <a:t>a checked box</a:t>
            </a:r>
            <a:r>
              <a:rPr lang="en-US" dirty="0" smtClean="0"/>
              <a:t>. This means that correct or relevant data must be entered in the field before continuing on to other fields or tasks.  While some fields are Loudoun Water required and others are SAP required.  SAP required fields are indicated with a checkmark in the field.  </a:t>
            </a:r>
          </a:p>
          <a:p>
            <a:pPr marL="342900" lvl="0" indent="-342900">
              <a:buFont typeface="Arial" pitchFamily="34" charset="0"/>
              <a:buChar char="•"/>
            </a:pPr>
            <a:r>
              <a:rPr lang="en-US" b="1" dirty="0" smtClean="0"/>
              <a:t>Default Entry fields </a:t>
            </a:r>
            <a:r>
              <a:rPr lang="en-US" dirty="0" smtClean="0"/>
              <a:t>already have a system entry. However, you may be able to overwrite the system entry depending on the system task and / or your SAP profile.</a:t>
            </a:r>
          </a:p>
          <a:p>
            <a:pPr marL="342900" lvl="0" indent="-342900">
              <a:buFont typeface="Arial" pitchFamily="34" charset="0"/>
              <a:buChar char="•"/>
            </a:pPr>
            <a:r>
              <a:rPr lang="en-US" b="1" dirty="0" smtClean="0"/>
              <a:t>Optional Entry fields </a:t>
            </a:r>
            <a:r>
              <a:rPr lang="en-US" dirty="0" smtClean="0"/>
              <a:t>are those in which you may enter data, but an entry is not required by the system in order to proceed with a system task. Some </a:t>
            </a:r>
            <a:r>
              <a:rPr lang="en-US" b="1" i="1" dirty="0" smtClean="0"/>
              <a:t>Optional Entry</a:t>
            </a:r>
            <a:r>
              <a:rPr lang="en-US" dirty="0" smtClean="0"/>
              <a:t> fields may become required depending on the values entered in other fields.</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65</a:t>
            </a:fld>
            <a:endParaRPr lang="en-US"/>
          </a:p>
        </p:txBody>
      </p:sp>
    </p:spTree>
    <p:extLst>
      <p:ext uri="{BB962C8B-B14F-4D97-AF65-F5344CB8AC3E}">
        <p14:creationId xmlns:p14="http://schemas.microsoft.com/office/powerpoint/2010/main" val="7028056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66</a:t>
            </a:fld>
            <a:endParaRPr lang="en-US"/>
          </a:p>
        </p:txBody>
      </p:sp>
    </p:spTree>
    <p:extLst>
      <p:ext uri="{BB962C8B-B14F-4D97-AF65-F5344CB8AC3E}">
        <p14:creationId xmlns:p14="http://schemas.microsoft.com/office/powerpoint/2010/main" val="7028056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67</a:t>
            </a:fld>
            <a:endParaRPr lang="en-US"/>
          </a:p>
        </p:txBody>
      </p:sp>
    </p:spTree>
    <p:extLst>
      <p:ext uri="{BB962C8B-B14F-4D97-AF65-F5344CB8AC3E}">
        <p14:creationId xmlns:p14="http://schemas.microsoft.com/office/powerpoint/2010/main" val="7028056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Check Boxes - You can check one or more items in a group of options. SAP will display data relevant to the checked items.</a:t>
            </a:r>
          </a:p>
          <a:p>
            <a:endParaRPr lang="en-US" dirty="0" smtClean="0"/>
          </a:p>
          <a:p>
            <a:r>
              <a:rPr lang="en-US" dirty="0" smtClean="0"/>
              <a:t>Radio Buttons - You can select only one option in a group of options.</a:t>
            </a:r>
          </a:p>
          <a:p>
            <a:endParaRPr lang="en-US" dirty="0" smtClean="0"/>
          </a:p>
          <a:p>
            <a:r>
              <a:rPr lang="en-US" dirty="0" smtClean="0"/>
              <a:t>Data Entry Fields – Require a match to data in the system. If you do not know the exact data, such as an account number, use the matchcode function to search for</a:t>
            </a:r>
            <a:r>
              <a:rPr lang="en-US" baseline="0" dirty="0" smtClean="0"/>
              <a:t> it.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68</a:t>
            </a:fld>
            <a:endParaRPr lang="en-US"/>
          </a:p>
        </p:txBody>
      </p:sp>
    </p:spTree>
    <p:extLst>
      <p:ext uri="{BB962C8B-B14F-4D97-AF65-F5344CB8AC3E}">
        <p14:creationId xmlns:p14="http://schemas.microsoft.com/office/powerpoint/2010/main" val="17791476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a field has a Matchcode option, you will see a </a:t>
            </a:r>
            <a:r>
              <a:rPr lang="en-US" b="1" dirty="0" smtClean="0"/>
              <a:t>Matchcode  Icon </a:t>
            </a:r>
            <a:r>
              <a:rPr lang="en-US" dirty="0" smtClean="0"/>
              <a:t>at the right side of the field when you click on it. Depending on how many entry options exist for that field, the system displays one of the following:</a:t>
            </a:r>
          </a:p>
          <a:p>
            <a:pPr marL="342900" lvl="0" indent="-342900">
              <a:buFont typeface="Arial" pitchFamily="34" charset="0"/>
              <a:buChar char="•"/>
            </a:pPr>
            <a:r>
              <a:rPr lang="en-US" dirty="0" smtClean="0"/>
              <a:t>A simple list of possible entries, e.g., Personnel Area </a:t>
            </a:r>
          </a:p>
          <a:p>
            <a:pPr marL="342900" lvl="0" indent="-342900">
              <a:buFont typeface="Arial" pitchFamily="34" charset="0"/>
              <a:buChar char="•"/>
            </a:pPr>
            <a:r>
              <a:rPr lang="en-US" dirty="0" smtClean="0"/>
              <a:t>A graphical selection tool, e.g., a calendar to select a date</a:t>
            </a:r>
          </a:p>
          <a:p>
            <a:pPr marL="342900" lvl="0" indent="-342900">
              <a:buFont typeface="Arial" pitchFamily="34" charset="0"/>
              <a:buChar char="•"/>
            </a:pPr>
            <a:r>
              <a:rPr lang="en-US" dirty="0" smtClean="0"/>
              <a:t>A Search help selection window </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69</a:t>
            </a:fld>
            <a:endParaRPr lang="en-US"/>
          </a:p>
        </p:txBody>
      </p:sp>
    </p:spTree>
    <p:extLst>
      <p:ext uri="{BB962C8B-B14F-4D97-AF65-F5344CB8AC3E}">
        <p14:creationId xmlns:p14="http://schemas.microsoft.com/office/powerpoint/2010/main" val="34491738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In many cases, SAP requires the entry of a numerical code such as a Vendor ID number or G/L account number to indicate the particular record that you wish to look up. Because SAP users cannot remember all of these thousands of entry options, SAP offers a variety of search functions to assist users in finding the values they need.</a:t>
            </a:r>
          </a:p>
          <a:p>
            <a:r>
              <a:rPr lang="en-US" sz="1200" kern="1200" dirty="0" smtClean="0">
                <a:solidFill>
                  <a:schemeClr val="tx1"/>
                </a:solidFill>
                <a:effectLst/>
                <a:latin typeface="Arial" charset="0"/>
                <a:ea typeface="+mn-ea"/>
                <a:cs typeface="+mn-cs"/>
              </a:rPr>
              <a:t>The Matchcode function allows you to select from a list of possible entries for a field if the list is short enough, or if the available list is too numerous to display, to search for information in a variety of ways.</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70</a:t>
            </a:fld>
            <a:endParaRPr lang="en-US"/>
          </a:p>
        </p:txBody>
      </p:sp>
    </p:spTree>
    <p:extLst>
      <p:ext uri="{BB962C8B-B14F-4D97-AF65-F5344CB8AC3E}">
        <p14:creationId xmlns:p14="http://schemas.microsoft.com/office/powerpoint/2010/main" val="20815359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you have created a Favorites</a:t>
            </a:r>
            <a:r>
              <a:rPr lang="en-US" baseline="0" dirty="0" smtClean="0"/>
              <a:t> list, it will automatically display from any transaction with that field. For example, Material Group appears in a number of transactions; any time you click the matchcode button in that field, your favorites list will display. You can toggle between your favorites list and the master list, and add/delete items at any time.</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71</a:t>
            </a:fld>
            <a:endParaRPr lang="en-US"/>
          </a:p>
        </p:txBody>
      </p:sp>
    </p:spTree>
    <p:extLst>
      <p:ext uri="{BB962C8B-B14F-4D97-AF65-F5344CB8AC3E}">
        <p14:creationId xmlns:p14="http://schemas.microsoft.com/office/powerpoint/2010/main" val="7703885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Execute transaction </a:t>
            </a:r>
            <a:r>
              <a:rPr lang="en-US" b="1" dirty="0" smtClean="0"/>
              <a:t>FAGLB03</a:t>
            </a:r>
            <a:r>
              <a:rPr lang="en-US" dirty="0" smtClean="0"/>
              <a:t>. Click the matchcode</a:t>
            </a:r>
            <a:r>
              <a:rPr lang="en-US" baseline="0" dirty="0" smtClean="0"/>
              <a:t> for </a:t>
            </a:r>
            <a:r>
              <a:rPr lang="en-US" b="1" baseline="0" dirty="0" smtClean="0"/>
              <a:t>Account Number</a:t>
            </a:r>
            <a:r>
              <a:rPr lang="en-US" baseline="0" dirty="0" smtClean="0"/>
              <a:t>.</a:t>
            </a:r>
          </a:p>
          <a:p>
            <a:pPr marL="228600" indent="-228600">
              <a:buFont typeface="+mj-lt"/>
              <a:buAutoNum type="arabicPeriod"/>
            </a:pPr>
            <a:r>
              <a:rPr lang="en-US" baseline="0" dirty="0" smtClean="0"/>
              <a:t>Demonstrate the quick tab function. Select search option </a:t>
            </a:r>
            <a:r>
              <a:rPr lang="en-US" b="1" baseline="0" dirty="0" smtClean="0"/>
              <a:t>G/L Account Number in Company Code</a:t>
            </a:r>
            <a:r>
              <a:rPr lang="en-US" baseline="0" dirty="0" smtClean="0"/>
              <a:t>.</a:t>
            </a:r>
          </a:p>
          <a:p>
            <a:pPr marL="228600" indent="-228600">
              <a:buFont typeface="+mj-lt"/>
              <a:buAutoNum type="arabicPeriod"/>
            </a:pPr>
            <a:r>
              <a:rPr lang="en-US" baseline="0" dirty="0" smtClean="0"/>
              <a:t>Click </a:t>
            </a:r>
            <a:r>
              <a:rPr lang="en-US" b="1" baseline="0" dirty="0" smtClean="0"/>
              <a:t>OK</a:t>
            </a:r>
            <a:r>
              <a:rPr lang="en-US" baseline="0" dirty="0" smtClean="0"/>
              <a:t>. Show how long the list is by scrolling down. Explain how most managers/users will want a list of the G/L accounts they will use most often.</a:t>
            </a:r>
          </a:p>
          <a:p>
            <a:pPr marL="228600" indent="-228600">
              <a:buFont typeface="+mj-lt"/>
              <a:buAutoNum type="arabicPeriod"/>
            </a:pPr>
            <a:r>
              <a:rPr lang="en-US" baseline="0" dirty="0" smtClean="0"/>
              <a:t>Highlight a line item; click </a:t>
            </a:r>
            <a:r>
              <a:rPr lang="en-US" b="1" baseline="0" dirty="0" smtClean="0"/>
              <a:t>Insert in Personal List</a:t>
            </a:r>
            <a:r>
              <a:rPr lang="en-US" baseline="0" dirty="0" smtClean="0"/>
              <a:t>. Do several options, then click </a:t>
            </a:r>
            <a:r>
              <a:rPr lang="en-US" b="1" baseline="0" dirty="0" smtClean="0"/>
              <a:t>Personal Value List </a:t>
            </a:r>
            <a:r>
              <a:rPr lang="en-US" baseline="0" dirty="0" smtClean="0"/>
              <a:t>to show the results. </a:t>
            </a:r>
          </a:p>
          <a:p>
            <a:pPr marL="228600" indent="-228600">
              <a:buFont typeface="+mj-lt"/>
              <a:buAutoNum type="arabicPeriod"/>
            </a:pPr>
            <a:r>
              <a:rPr lang="en-US" baseline="0" dirty="0" smtClean="0"/>
              <a:t>Click </a:t>
            </a:r>
            <a:r>
              <a:rPr lang="en-US" b="1" baseline="0" dirty="0" smtClean="0"/>
              <a:t>Copy</a:t>
            </a:r>
            <a:r>
              <a:rPr lang="en-US" baseline="0" dirty="0" smtClean="0"/>
              <a:t> to return to the main screen, then click the matchcode again for </a:t>
            </a:r>
            <a:r>
              <a:rPr lang="en-US" b="1" baseline="0" dirty="0" smtClean="0"/>
              <a:t>Account Number</a:t>
            </a:r>
            <a:r>
              <a:rPr lang="en-US" baseline="0" dirty="0" smtClean="0"/>
              <a:t>. Show how only the </a:t>
            </a:r>
            <a:r>
              <a:rPr lang="en-US" b="1" baseline="0" dirty="0" smtClean="0"/>
              <a:t>Personal list </a:t>
            </a:r>
            <a:r>
              <a:rPr lang="en-US" baseline="0" dirty="0" smtClean="0"/>
              <a:t>displays; click </a:t>
            </a:r>
            <a:r>
              <a:rPr lang="en-US" b="1" baseline="0" dirty="0" smtClean="0"/>
              <a:t>Show All Values</a:t>
            </a:r>
            <a:r>
              <a:rPr lang="en-US" baseline="0" dirty="0" smtClean="0"/>
              <a:t> to demonstrate how to get back to the selection screen.</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72</a:t>
            </a:fld>
            <a:endParaRPr lang="en-US"/>
          </a:p>
        </p:txBody>
      </p:sp>
    </p:spTree>
    <p:extLst>
      <p:ext uri="{BB962C8B-B14F-4D97-AF65-F5344CB8AC3E}">
        <p14:creationId xmlns:p14="http://schemas.microsoft.com/office/powerpoint/2010/main" val="33054698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False. You only need to</a:t>
            </a:r>
            <a:r>
              <a:rPr lang="en-US" baseline="0" dirty="0" smtClean="0"/>
              <a:t> enter data in required fields.</a:t>
            </a:r>
          </a:p>
          <a:p>
            <a:pPr marL="228600" indent="-228600">
              <a:buAutoNum type="arabicPeriod"/>
            </a:pPr>
            <a:r>
              <a:rPr lang="en-US" baseline="0" dirty="0" smtClean="0"/>
              <a:t>False. If the field appears as white, you may modify the data in the field.</a:t>
            </a:r>
          </a:p>
          <a:p>
            <a:pPr marL="228600" indent="-228600">
              <a:buAutoNum type="arabicPeriod"/>
            </a:pPr>
            <a:r>
              <a:rPr lang="en-US" baseline="0" dirty="0" smtClean="0"/>
              <a:t>Check boxes.</a:t>
            </a:r>
          </a:p>
          <a:p>
            <a:pPr marL="228600" indent="-228600">
              <a:buAutoNum type="arabicPeriod"/>
            </a:pPr>
            <a:r>
              <a:rPr lang="en-US" baseline="0" dirty="0" smtClean="0"/>
              <a:t>Search Help – List and Search Help – Help.</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74</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54088">
              <a:spcAft>
                <a:spcPts val="600"/>
              </a:spcAft>
            </a:pPr>
            <a:r>
              <a:rPr lang="en-US" sz="1200" dirty="0" smtClean="0">
                <a:solidFill>
                  <a:srgbClr val="000000"/>
                </a:solidFill>
                <a:latin typeface="Arial" pitchFamily="34" charset="0"/>
                <a:ea typeface="Verdana" pitchFamily="34" charset="0"/>
                <a:cs typeface="Arial" pitchFamily="34" charset="0"/>
              </a:rPr>
              <a:t>Some search fields are free text, while others allow you to select from a list of categories.</a:t>
            </a:r>
          </a:p>
          <a:p>
            <a:pPr defTabSz="954088">
              <a:spcAft>
                <a:spcPts val="600"/>
              </a:spcAft>
            </a:pPr>
            <a:r>
              <a:rPr lang="en-US" sz="1200" dirty="0" smtClean="0">
                <a:solidFill>
                  <a:srgbClr val="000000"/>
                </a:solidFill>
                <a:latin typeface="Arial" pitchFamily="34" charset="0"/>
                <a:ea typeface="Verdana" pitchFamily="34" charset="0"/>
                <a:cs typeface="Arial" pitchFamily="34" charset="0"/>
              </a:rPr>
              <a:t>For example, you may change the Category, Vendor, or </a:t>
            </a:r>
            <a:r>
              <a:rPr lang="en-US" sz="1200" dirty="0" err="1" smtClean="0">
                <a:solidFill>
                  <a:srgbClr val="000000"/>
                </a:solidFill>
                <a:latin typeface="Arial" pitchFamily="34" charset="0"/>
                <a:ea typeface="Verdana" pitchFamily="34" charset="0"/>
                <a:cs typeface="Arial" pitchFamily="34" charset="0"/>
              </a:rPr>
              <a:t>Purch</a:t>
            </a:r>
            <a:r>
              <a:rPr lang="en-US" sz="1200" dirty="0" smtClean="0">
                <a:solidFill>
                  <a:srgbClr val="000000"/>
                </a:solidFill>
                <a:latin typeface="Arial" pitchFamily="34" charset="0"/>
                <a:ea typeface="Verdana" pitchFamily="34" charset="0"/>
                <a:cs typeface="Arial" pitchFamily="34" charset="0"/>
              </a:rPr>
              <a:t>. Organization to search by a specified list of options, but use free text in the Search term, City, or Postal Code fields.</a:t>
            </a:r>
          </a:p>
          <a:p>
            <a:pPr marL="0" marR="0" indent="0" algn="l" defTabSz="954088" rtl="0" eaLnBrk="1" fontAlgn="base" latinLnBrk="0" hangingPunct="1">
              <a:lnSpc>
                <a:spcPct val="100000"/>
              </a:lnSpc>
              <a:spcBef>
                <a:spcPct val="30000"/>
              </a:spcBef>
              <a:spcAft>
                <a:spcPts val="600"/>
              </a:spcAft>
              <a:buClrTx/>
              <a:buSzTx/>
              <a:buFontTx/>
              <a:buNone/>
              <a:tabLst/>
              <a:defRPr/>
            </a:pPr>
            <a:r>
              <a:rPr lang="en-US" sz="1200" dirty="0" smtClean="0">
                <a:solidFill>
                  <a:schemeClr val="bg2"/>
                </a:solidFill>
                <a:latin typeface="Verdana" pitchFamily="34" charset="0"/>
                <a:ea typeface="Verdana" pitchFamily="34" charset="0"/>
                <a:cs typeface="Verdana" pitchFamily="34" charset="0"/>
              </a:rPr>
              <a:t>The search feature is useful when the list of possible values is too long</a:t>
            </a:r>
          </a:p>
          <a:p>
            <a:pPr defTabSz="954088">
              <a:spcAft>
                <a:spcPts val="600"/>
              </a:spcAft>
            </a:pPr>
            <a:endParaRPr lang="en-US" sz="1200" dirty="0" smtClean="0">
              <a:solidFill>
                <a:srgbClr val="000000"/>
              </a:solidFill>
              <a:latin typeface="Arial" pitchFamily="34" charset="0"/>
              <a:ea typeface="Verdana" pitchFamily="34" charset="0"/>
              <a:cs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75</a:t>
            </a:fld>
            <a:endParaRPr lang="en-US"/>
          </a:p>
        </p:txBody>
      </p:sp>
    </p:spTree>
    <p:extLst>
      <p:ext uri="{BB962C8B-B14F-4D97-AF65-F5344CB8AC3E}">
        <p14:creationId xmlns:p14="http://schemas.microsoft.com/office/powerpoint/2010/main" val="3100845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SzPct val="105000"/>
              <a:buFontTx/>
              <a:buChar char="•"/>
            </a:pPr>
            <a:r>
              <a:rPr lang="en-US" dirty="0" smtClean="0">
                <a:solidFill>
                  <a:schemeClr val="accent4">
                    <a:lumMod val="10000"/>
                  </a:schemeClr>
                </a:solidFill>
                <a:cs typeface="Times New Roman" pitchFamily="18" charset="0"/>
              </a:rPr>
              <a:t>When performing a </a:t>
            </a:r>
            <a:r>
              <a:rPr lang="en-US" b="1" dirty="0" smtClean="0">
                <a:solidFill>
                  <a:schemeClr val="accent4">
                    <a:lumMod val="10000"/>
                  </a:schemeClr>
                </a:solidFill>
                <a:cs typeface="Times New Roman" pitchFamily="18" charset="0"/>
              </a:rPr>
              <a:t>Search Help – Search</a:t>
            </a:r>
            <a:r>
              <a:rPr lang="en-US" dirty="0" smtClean="0">
                <a:solidFill>
                  <a:schemeClr val="accent4">
                    <a:lumMod val="10000"/>
                  </a:schemeClr>
                </a:solidFill>
                <a:cs typeface="Times New Roman" pitchFamily="18" charset="0"/>
              </a:rPr>
              <a:t> you must type the </a:t>
            </a:r>
            <a:r>
              <a:rPr lang="en-US" u="sng" dirty="0" smtClean="0">
                <a:solidFill>
                  <a:schemeClr val="accent4">
                    <a:lumMod val="10000"/>
                  </a:schemeClr>
                </a:solidFill>
                <a:cs typeface="Times New Roman" pitchFamily="18" charset="0"/>
              </a:rPr>
              <a:t>exact</a:t>
            </a:r>
            <a:r>
              <a:rPr lang="en-US" dirty="0" smtClean="0">
                <a:solidFill>
                  <a:schemeClr val="accent4">
                    <a:lumMod val="10000"/>
                  </a:schemeClr>
                </a:solidFill>
                <a:cs typeface="Times New Roman" pitchFamily="18" charset="0"/>
              </a:rPr>
              <a:t> search term (word or series of words) to produce accurate search results.  </a:t>
            </a:r>
          </a:p>
          <a:p>
            <a:pPr>
              <a:buSzPct val="105000"/>
              <a:buFontTx/>
              <a:buChar char="•"/>
            </a:pPr>
            <a:r>
              <a:rPr lang="en-US" dirty="0" smtClean="0">
                <a:solidFill>
                  <a:schemeClr val="accent4">
                    <a:lumMod val="10000"/>
                  </a:schemeClr>
                </a:solidFill>
                <a:cs typeface="Times New Roman" pitchFamily="18" charset="0"/>
              </a:rPr>
              <a:t>You may not always know the exact search term.</a:t>
            </a:r>
          </a:p>
          <a:p>
            <a:pPr>
              <a:buClr>
                <a:schemeClr val="tx1"/>
              </a:buClr>
              <a:buSzPct val="105000"/>
              <a:buFontTx/>
              <a:buChar char="•"/>
            </a:pPr>
            <a:r>
              <a:rPr lang="en-US" i="1" dirty="0" smtClean="0">
                <a:solidFill>
                  <a:schemeClr val="accent4">
                    <a:lumMod val="10000"/>
                  </a:schemeClr>
                </a:solidFill>
                <a:cs typeface="Times New Roman" pitchFamily="18" charset="0"/>
              </a:rPr>
              <a:t>For example</a:t>
            </a:r>
            <a:r>
              <a:rPr lang="en-US" dirty="0" smtClean="0">
                <a:solidFill>
                  <a:schemeClr val="accent4">
                    <a:lumMod val="10000"/>
                  </a:schemeClr>
                </a:solidFill>
                <a:cs typeface="Times New Roman" pitchFamily="18" charset="0"/>
              </a:rPr>
              <a:t>, when searching for the vendor known as </a:t>
            </a:r>
            <a:r>
              <a:rPr lang="en-US" b="1" dirty="0" smtClean="0">
                <a:solidFill>
                  <a:schemeClr val="accent4">
                    <a:lumMod val="10000"/>
                  </a:schemeClr>
                </a:solidFill>
                <a:cs typeface="Times New Roman" pitchFamily="18" charset="0"/>
              </a:rPr>
              <a:t>Sentry Security Systems</a:t>
            </a:r>
            <a:r>
              <a:rPr lang="en-US" dirty="0" smtClean="0">
                <a:solidFill>
                  <a:schemeClr val="accent4">
                    <a:lumMod val="10000"/>
                  </a:schemeClr>
                </a:solidFill>
                <a:cs typeface="Times New Roman" pitchFamily="18" charset="0"/>
              </a:rPr>
              <a:t>, you may not know </a:t>
            </a:r>
            <a:r>
              <a:rPr lang="en-US" u="sng" dirty="0" smtClean="0">
                <a:solidFill>
                  <a:schemeClr val="accent4">
                    <a:lumMod val="10000"/>
                  </a:schemeClr>
                </a:solidFill>
                <a:cs typeface="Times New Roman" pitchFamily="18" charset="0"/>
              </a:rPr>
              <a:t>exactly</a:t>
            </a:r>
            <a:r>
              <a:rPr lang="en-US" dirty="0" smtClean="0">
                <a:solidFill>
                  <a:schemeClr val="accent4">
                    <a:lumMod val="10000"/>
                  </a:schemeClr>
                </a:solidFill>
                <a:cs typeface="Times New Roman" pitchFamily="18" charset="0"/>
              </a:rPr>
              <a:t> how that name appears in SAP.</a:t>
            </a:r>
            <a:br>
              <a:rPr lang="en-US" dirty="0" smtClean="0">
                <a:solidFill>
                  <a:schemeClr val="accent4">
                    <a:lumMod val="10000"/>
                  </a:schemeClr>
                </a:solidFill>
                <a:cs typeface="Times New Roman" pitchFamily="18" charset="0"/>
              </a:rPr>
            </a:br>
            <a:r>
              <a:rPr lang="en-US" dirty="0" smtClean="0">
                <a:solidFill>
                  <a:schemeClr val="accent4">
                    <a:lumMod val="10000"/>
                  </a:schemeClr>
                </a:solidFill>
                <a:cs typeface="Times New Roman" pitchFamily="18" charset="0"/>
              </a:rPr>
              <a:t/>
            </a:r>
            <a:br>
              <a:rPr lang="en-US" dirty="0" smtClean="0">
                <a:solidFill>
                  <a:schemeClr val="accent4">
                    <a:lumMod val="10000"/>
                  </a:schemeClr>
                </a:solidFill>
                <a:cs typeface="Times New Roman" pitchFamily="18" charset="0"/>
              </a:rPr>
            </a:br>
            <a:r>
              <a:rPr lang="en-US" dirty="0" smtClean="0">
                <a:solidFill>
                  <a:schemeClr val="accent4">
                    <a:lumMod val="10000"/>
                  </a:schemeClr>
                </a:solidFill>
                <a:cs typeface="Times New Roman" pitchFamily="18" charset="0"/>
              </a:rPr>
              <a:t>     </a:t>
            </a:r>
            <a:r>
              <a:rPr lang="en-US" b="1" dirty="0" smtClean="0">
                <a:solidFill>
                  <a:schemeClr val="accent4">
                    <a:lumMod val="10000"/>
                  </a:schemeClr>
                </a:solidFill>
                <a:cs typeface="Times New Roman" pitchFamily="18" charset="0"/>
              </a:rPr>
              <a:t>Sentry    </a:t>
            </a:r>
            <a:r>
              <a:rPr lang="en-US" dirty="0" smtClean="0">
                <a:solidFill>
                  <a:schemeClr val="accent4">
                    <a:lumMod val="10000"/>
                  </a:schemeClr>
                </a:solidFill>
                <a:cs typeface="Times New Roman" pitchFamily="18" charset="0"/>
              </a:rPr>
              <a:t>or</a:t>
            </a:r>
            <a:r>
              <a:rPr lang="en-US" b="1" dirty="0" smtClean="0">
                <a:solidFill>
                  <a:schemeClr val="accent4">
                    <a:lumMod val="10000"/>
                  </a:schemeClr>
                </a:solidFill>
                <a:cs typeface="Times New Roman" pitchFamily="18" charset="0"/>
              </a:rPr>
              <a:t>   Sentry Security   </a:t>
            </a:r>
            <a:r>
              <a:rPr lang="en-US" dirty="0" smtClean="0">
                <a:solidFill>
                  <a:schemeClr val="accent4">
                    <a:lumMod val="10000"/>
                  </a:schemeClr>
                </a:solidFill>
                <a:cs typeface="Times New Roman" pitchFamily="18" charset="0"/>
              </a:rPr>
              <a:t>or</a:t>
            </a:r>
            <a:r>
              <a:rPr lang="en-US" b="1" dirty="0" smtClean="0">
                <a:solidFill>
                  <a:schemeClr val="accent4">
                    <a:lumMod val="10000"/>
                  </a:schemeClr>
                </a:solidFill>
                <a:cs typeface="Times New Roman" pitchFamily="18" charset="0"/>
              </a:rPr>
              <a:t>   Sentry Security Systems</a:t>
            </a:r>
            <a:br>
              <a:rPr lang="en-US" b="1" dirty="0" smtClean="0">
                <a:solidFill>
                  <a:schemeClr val="accent4">
                    <a:lumMod val="10000"/>
                  </a:schemeClr>
                </a:solidFill>
                <a:cs typeface="Times New Roman" pitchFamily="18" charset="0"/>
              </a:rPr>
            </a:br>
            <a:endParaRPr lang="en-US" dirty="0" smtClean="0">
              <a:solidFill>
                <a:schemeClr val="accent4">
                  <a:lumMod val="10000"/>
                </a:schemeClr>
              </a:solidFill>
              <a:cs typeface="Times New Roman" pitchFamily="18" charset="0"/>
            </a:endParaRPr>
          </a:p>
          <a:p>
            <a:pPr>
              <a:buSzPct val="105000"/>
              <a:buFontTx/>
              <a:buChar char="•"/>
            </a:pPr>
            <a:r>
              <a:rPr lang="en-US" dirty="0" smtClean="0">
                <a:solidFill>
                  <a:schemeClr val="accent4">
                    <a:lumMod val="10000"/>
                  </a:schemeClr>
                </a:solidFill>
                <a:cs typeface="Times New Roman" pitchFamily="18" charset="0"/>
              </a:rPr>
              <a:t>Wildcard (asterisk </a:t>
            </a:r>
            <a:r>
              <a:rPr lang="en-US" b="1" dirty="0" smtClean="0">
                <a:solidFill>
                  <a:schemeClr val="accent4">
                    <a:lumMod val="10000"/>
                  </a:schemeClr>
                </a:solidFill>
                <a:cs typeface="Times New Roman" pitchFamily="18" charset="0"/>
              </a:rPr>
              <a:t>*</a:t>
            </a:r>
            <a:r>
              <a:rPr lang="en-US" dirty="0" smtClean="0">
                <a:solidFill>
                  <a:schemeClr val="accent4">
                    <a:lumMod val="10000"/>
                  </a:schemeClr>
                </a:solidFill>
                <a:cs typeface="Times New Roman" pitchFamily="18" charset="0"/>
              </a:rPr>
              <a:t>) represent the unknown portions of the search term.  Use a wildcard to help you search in SAP.</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76</a:t>
            </a:fld>
            <a:endParaRPr lang="en-US"/>
          </a:p>
        </p:txBody>
      </p:sp>
    </p:spTree>
    <p:extLst>
      <p:ext uri="{BB962C8B-B14F-4D97-AF65-F5344CB8AC3E}">
        <p14:creationId xmlns:p14="http://schemas.microsoft.com/office/powerpoint/2010/main" val="20921315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Launch</a:t>
            </a:r>
            <a:r>
              <a:rPr lang="en-US" baseline="0" dirty="0" smtClean="0"/>
              <a:t> transaction code </a:t>
            </a:r>
            <a:r>
              <a:rPr lang="en-US" sz="1200" kern="1200" dirty="0" smtClean="0">
                <a:solidFill>
                  <a:schemeClr val="tx1"/>
                </a:solidFill>
                <a:effectLst/>
                <a:latin typeface="Arial" charset="0"/>
                <a:ea typeface="+mn-ea"/>
                <a:cs typeface="+mn-cs"/>
              </a:rPr>
              <a:t>ZPS028</a:t>
            </a:r>
            <a:r>
              <a:rPr lang="en-US" sz="1200" kern="1200" baseline="0" dirty="0" smtClean="0">
                <a:solidFill>
                  <a:schemeClr val="tx1"/>
                </a:solidFill>
                <a:effectLst/>
                <a:latin typeface="Arial" charset="0"/>
                <a:ea typeface="+mn-ea"/>
                <a:cs typeface="+mn-cs"/>
              </a:rPr>
              <a:t> (Project Inspection Report). Click in the Project Definition field, then click the matchcode. </a:t>
            </a:r>
          </a:p>
          <a:p>
            <a:pPr marL="228600" indent="-228600">
              <a:buFont typeface="+mj-lt"/>
              <a:buAutoNum type="arabicPeriod"/>
            </a:pPr>
            <a:r>
              <a:rPr lang="en-US" sz="1200" kern="1200" baseline="0" dirty="0" smtClean="0">
                <a:solidFill>
                  <a:schemeClr val="tx1"/>
                </a:solidFill>
                <a:effectLst/>
                <a:latin typeface="Arial" charset="0"/>
                <a:ea typeface="+mn-ea"/>
                <a:cs typeface="+mn-cs"/>
              </a:rPr>
              <a:t>In the Description field, type *</a:t>
            </a:r>
            <a:r>
              <a:rPr lang="en-US" sz="1200" kern="1200" baseline="0" dirty="0" err="1" smtClean="0">
                <a:solidFill>
                  <a:schemeClr val="tx1"/>
                </a:solidFill>
                <a:effectLst/>
                <a:latin typeface="Arial" charset="0"/>
                <a:ea typeface="+mn-ea"/>
                <a:cs typeface="+mn-cs"/>
              </a:rPr>
              <a:t>Ald</a:t>
            </a:r>
            <a:r>
              <a:rPr lang="en-US" sz="1200" kern="1200" baseline="0" dirty="0" smtClean="0">
                <a:solidFill>
                  <a:schemeClr val="tx1"/>
                </a:solidFill>
                <a:effectLst/>
                <a:latin typeface="Arial" charset="0"/>
                <a:ea typeface="+mn-ea"/>
                <a:cs typeface="+mn-cs"/>
              </a:rPr>
              <a:t>* and click Accept.</a:t>
            </a:r>
          </a:p>
          <a:p>
            <a:pPr marL="228600" indent="-228600">
              <a:buFont typeface="+mj-lt"/>
              <a:buAutoNum type="arabicPeriod"/>
            </a:pPr>
            <a:r>
              <a:rPr lang="en-US" sz="1200" kern="1200" baseline="0" dirty="0" smtClean="0">
                <a:solidFill>
                  <a:schemeClr val="tx1"/>
                </a:solidFill>
                <a:effectLst/>
                <a:latin typeface="Arial" charset="0"/>
                <a:ea typeface="+mn-ea"/>
                <a:cs typeface="+mn-cs"/>
              </a:rPr>
              <a:t>Show the displayed option, pointing out the misspelling and the entire name.</a:t>
            </a:r>
          </a:p>
          <a:p>
            <a:pPr marL="228600" indent="-228600">
              <a:buFont typeface="+mj-lt"/>
              <a:buAutoNum type="arabicPeriod"/>
            </a:pPr>
            <a:r>
              <a:rPr lang="en-US" sz="1200" kern="1200" baseline="0" dirty="0" smtClean="0">
                <a:solidFill>
                  <a:schemeClr val="tx1"/>
                </a:solidFill>
                <a:effectLst/>
                <a:latin typeface="Arial" charset="0"/>
                <a:ea typeface="+mn-ea"/>
                <a:cs typeface="+mn-cs"/>
              </a:rPr>
              <a:t>Double click the option to populate the report.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77</a:t>
            </a:fld>
            <a:endParaRPr lang="en-US"/>
          </a:p>
        </p:txBody>
      </p:sp>
    </p:spTree>
    <p:extLst>
      <p:ext uri="{BB962C8B-B14F-4D97-AF65-F5344CB8AC3E}">
        <p14:creationId xmlns:p14="http://schemas.microsoft.com/office/powerpoint/2010/main" val="10916000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500, but you can change it.</a:t>
            </a:r>
          </a:p>
          <a:p>
            <a:pPr marL="228600" indent="-228600">
              <a:buAutoNum type="arabicPeriod"/>
            </a:pPr>
            <a:r>
              <a:rPr lang="en-US" dirty="0" smtClean="0"/>
              <a:t>The unknown</a:t>
            </a:r>
            <a:r>
              <a:rPr lang="en-US" baseline="0" dirty="0" smtClean="0"/>
              <a:t> portions of the search term.</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79</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SzPct val="105000"/>
              <a:buFontTx/>
              <a:buChar char="•"/>
            </a:pPr>
            <a:r>
              <a:rPr lang="en-US" dirty="0" smtClean="0">
                <a:solidFill>
                  <a:schemeClr val="tx1"/>
                </a:solidFill>
                <a:cs typeface="Arial" charset="0"/>
              </a:rPr>
              <a:t>Sometimes if you do not enter the correct type of information, SAP may prompt you with system messages.</a:t>
            </a:r>
          </a:p>
          <a:p>
            <a:pPr>
              <a:buSzPct val="105000"/>
              <a:buFontTx/>
              <a:buChar char="•"/>
            </a:pPr>
            <a:r>
              <a:rPr lang="en-US" dirty="0" smtClean="0">
                <a:solidFill>
                  <a:schemeClr val="tx1"/>
                </a:solidFill>
                <a:cs typeface="Arial" charset="0"/>
              </a:rPr>
              <a:t>There are three types of system messages that you may see.</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80</a:t>
            </a:fld>
            <a:endParaRPr lang="en-US"/>
          </a:p>
        </p:txBody>
      </p:sp>
    </p:spTree>
    <p:extLst>
      <p:ext uri="{BB962C8B-B14F-4D97-AF65-F5344CB8AC3E}">
        <p14:creationId xmlns:p14="http://schemas.microsoft.com/office/powerpoint/2010/main" val="37732924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There are some transactions within SAP that have status levels.  Those statuses are indicated by a traffic light.  The colors in the SAP traffic light have the same meaning as a real traffic light.</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81</a:t>
            </a:fld>
            <a:endParaRPr lang="en-US"/>
          </a:p>
        </p:txBody>
      </p:sp>
    </p:spTree>
    <p:extLst>
      <p:ext uri="{BB962C8B-B14F-4D97-AF65-F5344CB8AC3E}">
        <p14:creationId xmlns:p14="http://schemas.microsoft.com/office/powerpoint/2010/main" val="35249069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During the Land Development Process, the Developer submits the Bond, Agreement, Deeds and Easements etc. when required. With SAP the internal approval process will move inside SAP to track who approved, when it got approved etc. In addition, certain Purchase Requisitions created for Capital Projects will be approved from the ECC Business Workplace.</a:t>
            </a:r>
          </a:p>
          <a:p>
            <a:r>
              <a:rPr lang="en-US" dirty="0" smtClean="0"/>
              <a:t>The process for approving Purchase Requisitions created from Capital Projects is different than approving general shopping cart requests. As Project-related Purchase Requisitions are created, they will require different levels of approval.  Depending on your approval authority, purchase requisitions will be routed to your SAP inbox and will processing before they can move to the next level of approval in the process.</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86</a:t>
            </a:fld>
            <a:endParaRPr lang="en-US"/>
          </a:p>
        </p:txBody>
      </p:sp>
    </p:spTree>
    <p:extLst>
      <p:ext uri="{BB962C8B-B14F-4D97-AF65-F5344CB8AC3E}">
        <p14:creationId xmlns:p14="http://schemas.microsoft.com/office/powerpoint/2010/main" val="17683252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smtClean="0">
                <a:solidFill>
                  <a:schemeClr val="accent1"/>
                </a:solidFill>
              </a:rPr>
              <a:t>Workflow</a:t>
            </a:r>
            <a:r>
              <a:rPr lang="en-US" sz="1200" dirty="0" smtClean="0"/>
              <a:t> is a set of rules that determine the path a particular process will take. </a:t>
            </a:r>
          </a:p>
          <a:p>
            <a:r>
              <a:rPr lang="en-US" sz="1200" b="1" dirty="0" smtClean="0">
                <a:solidFill>
                  <a:schemeClr val="accent1"/>
                </a:solidFill>
              </a:rPr>
              <a:t>Workflow tasks</a:t>
            </a:r>
            <a:r>
              <a:rPr lang="en-US" sz="1200" dirty="0" smtClean="0"/>
              <a:t> are the steps in the process which have to be performed either by people or automatically by SAP. </a:t>
            </a:r>
          </a:p>
          <a:p>
            <a:r>
              <a:rPr lang="en-US" sz="1200" dirty="0" smtClean="0"/>
              <a:t>A </a:t>
            </a:r>
            <a:r>
              <a:rPr lang="en-US" sz="1200" b="1" dirty="0" smtClean="0">
                <a:solidFill>
                  <a:schemeClr val="accent1"/>
                </a:solidFill>
              </a:rPr>
              <a:t>work item</a:t>
            </a:r>
            <a:r>
              <a:rPr lang="en-US" sz="1200" dirty="0" smtClean="0"/>
              <a:t> is the specific task that displays in the Business Workplace </a:t>
            </a:r>
            <a:r>
              <a:rPr lang="en-US" sz="1200" dirty="0" err="1" smtClean="0"/>
              <a:t>Worklist</a:t>
            </a:r>
            <a:r>
              <a:rPr lang="en-US" sz="1200" dirty="0" smtClean="0"/>
              <a:t> for a person to perform.</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87</a:t>
            </a:fld>
            <a:endParaRPr lang="en-US"/>
          </a:p>
        </p:txBody>
      </p:sp>
    </p:spTree>
    <p:extLst>
      <p:ext uri="{BB962C8B-B14F-4D97-AF65-F5344CB8AC3E}">
        <p14:creationId xmlns:p14="http://schemas.microsoft.com/office/powerpoint/2010/main" val="38423889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also access the Business Workplace by</a:t>
            </a:r>
            <a:r>
              <a:rPr lang="en-US" baseline="0" dirty="0" smtClean="0"/>
              <a:t> using transaction code SBWP.</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89</a:t>
            </a:fld>
            <a:endParaRPr lang="en-US"/>
          </a:p>
        </p:txBody>
      </p:sp>
    </p:spTree>
    <p:extLst>
      <p:ext uri="{BB962C8B-B14F-4D97-AF65-F5344CB8AC3E}">
        <p14:creationId xmlns:p14="http://schemas.microsoft.com/office/powerpoint/2010/main" val="2305654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Complete section once</a:t>
            </a:r>
            <a:r>
              <a:rPr lang="en-US" baseline="0" dirty="0" smtClean="0"/>
              <a:t> training client is set up.</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92</a:t>
            </a:fld>
            <a:endParaRPr lang="en-US"/>
          </a:p>
        </p:txBody>
      </p:sp>
    </p:spTree>
    <p:extLst>
      <p:ext uri="{BB962C8B-B14F-4D97-AF65-F5344CB8AC3E}">
        <p14:creationId xmlns:p14="http://schemas.microsoft.com/office/powerpoint/2010/main" val="10916000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False. Time approvals are done in MSS and general Shopping</a:t>
            </a:r>
            <a:r>
              <a:rPr lang="en-US" baseline="0" dirty="0" smtClean="0"/>
              <a:t> Carts are approved in SRM. Only ECC-generated items requiring approval will be routed to your Business Workplace Inbox.</a:t>
            </a:r>
          </a:p>
          <a:p>
            <a:pPr marL="228600" indent="-228600">
              <a:buAutoNum type="arabicPeriod"/>
            </a:pPr>
            <a:r>
              <a:rPr lang="en-US" baseline="0" dirty="0" smtClean="0"/>
              <a:t>True.</a:t>
            </a:r>
          </a:p>
          <a:p>
            <a:pPr marL="228600" indent="-228600">
              <a:buAutoNum type="arabicPeriod"/>
            </a:pPr>
            <a:r>
              <a:rPr lang="en-US" baseline="0" dirty="0" smtClean="0"/>
              <a:t>It automatically flows to the next person in the approval hierarchy, unless you are the last approver.</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94</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b="1" dirty="0" smtClean="0">
                <a:solidFill>
                  <a:schemeClr val="accent1"/>
                </a:solidFill>
              </a:rPr>
              <a:t>passive delegation</a:t>
            </a:r>
            <a:r>
              <a:rPr lang="en-US" dirty="0" smtClean="0"/>
              <a:t> is essentially a substitution on request. The delegate is always on “stand by” to approve for you in times of unexpected absences.</a:t>
            </a:r>
          </a:p>
          <a:p>
            <a:r>
              <a:rPr lang="en-US" dirty="0" smtClean="0"/>
              <a:t>You set up the passive delegate but </a:t>
            </a:r>
            <a:r>
              <a:rPr lang="en-US" dirty="0" err="1" smtClean="0"/>
              <a:t>worklist</a:t>
            </a:r>
            <a:r>
              <a:rPr lang="en-US" dirty="0" smtClean="0"/>
              <a:t> items do not flow to the delegate’s inbox; the delegate must go into SAP and take over your </a:t>
            </a:r>
            <a:r>
              <a:rPr lang="en-US" dirty="0" err="1" smtClean="0"/>
              <a:t>worklist</a:t>
            </a:r>
            <a:r>
              <a:rPr lang="en-US" dirty="0" smtClean="0"/>
              <a:t> items in order to approve or reject a task.</a:t>
            </a:r>
          </a:p>
          <a:p>
            <a:pPr marL="628650" lvl="1" indent="-171450">
              <a:buFont typeface="Arial" pitchFamily="34" charset="0"/>
              <a:buChar char="•"/>
            </a:pPr>
            <a:r>
              <a:rPr lang="en-US" dirty="0" smtClean="0"/>
              <a:t>It is highly recommended that every approving manager have at least one passive delegation set up to cover for them in the event of unplanned absence</a:t>
            </a:r>
          </a:p>
          <a:p>
            <a:pPr marL="628650" lvl="1" indent="-171450">
              <a:buFont typeface="Arial" pitchFamily="34" charset="0"/>
              <a:buChar char="•"/>
            </a:pPr>
            <a:r>
              <a:rPr lang="en-US" dirty="0" smtClean="0"/>
              <a:t>Your delegate will have the ability to adopt or take over your </a:t>
            </a:r>
            <a:r>
              <a:rPr lang="en-US" dirty="0" err="1" smtClean="0"/>
              <a:t>worklist</a:t>
            </a:r>
            <a:r>
              <a:rPr lang="en-US" dirty="0" smtClean="0"/>
              <a:t> items at anytime</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95</a:t>
            </a:fld>
            <a:endParaRPr lang="en-US"/>
          </a:p>
        </p:txBody>
      </p:sp>
    </p:spTree>
    <p:extLst>
      <p:ext uri="{BB962C8B-B14F-4D97-AF65-F5344CB8AC3E}">
        <p14:creationId xmlns:p14="http://schemas.microsoft.com/office/powerpoint/2010/main" val="195153697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a:t>
            </a:r>
            <a:r>
              <a:rPr lang="en-US" b="1" dirty="0" smtClean="0">
                <a:solidFill>
                  <a:schemeClr val="accent1"/>
                </a:solidFill>
              </a:rPr>
              <a:t>Active Delegation</a:t>
            </a:r>
            <a:r>
              <a:rPr lang="en-US" dirty="0" smtClean="0"/>
              <a:t> is used for planned absences such as vacation or extended leave. </a:t>
            </a:r>
          </a:p>
          <a:p>
            <a:r>
              <a:rPr lang="en-US" dirty="0" smtClean="0"/>
              <a:t>When in effect, work items in your inbox are automatically available in your delegate’s inbox as well:</a:t>
            </a:r>
          </a:p>
          <a:p>
            <a:pPr marL="628650" lvl="1" indent="-171450">
              <a:buFont typeface="Arial" pitchFamily="34" charset="0"/>
              <a:buChar char="•"/>
            </a:pPr>
            <a:r>
              <a:rPr lang="en-US" dirty="0" smtClean="0"/>
              <a:t>When the </a:t>
            </a:r>
            <a:r>
              <a:rPr lang="en-US" dirty="0" err="1" smtClean="0"/>
              <a:t>worklist</a:t>
            </a:r>
            <a:r>
              <a:rPr lang="en-US" dirty="0" smtClean="0"/>
              <a:t> item is acted upon by one person it will disappear from both inboxes</a:t>
            </a:r>
          </a:p>
          <a:p>
            <a:pPr marL="628650" lvl="1" indent="-171450">
              <a:buFont typeface="Arial" pitchFamily="34" charset="0"/>
              <a:buChar char="•"/>
            </a:pPr>
            <a:r>
              <a:rPr lang="en-US" dirty="0" smtClean="0"/>
              <a:t>You must end the delegation in order to stop </a:t>
            </a:r>
            <a:r>
              <a:rPr lang="en-US" dirty="0" err="1" smtClean="0"/>
              <a:t>worklist</a:t>
            </a:r>
            <a:r>
              <a:rPr lang="en-US" dirty="0" smtClean="0"/>
              <a:t> items from flowing to both inboxes</a:t>
            </a:r>
          </a:p>
          <a:p>
            <a:pPr marL="628650" lvl="1" indent="-171450">
              <a:buFont typeface="Arial" pitchFamily="34" charset="0"/>
              <a:buChar char="•"/>
            </a:pPr>
            <a:r>
              <a:rPr lang="en-US" dirty="0" smtClean="0"/>
              <a:t>Your delegate will not be able to access your </a:t>
            </a:r>
            <a:r>
              <a:rPr lang="en-US" dirty="0" err="1" smtClean="0"/>
              <a:t>worklist</a:t>
            </a:r>
            <a:r>
              <a:rPr lang="en-US" dirty="0" smtClean="0"/>
              <a:t> items until you turn the activation back on at a later date</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96</a:t>
            </a:fld>
            <a:endParaRPr lang="en-US"/>
          </a:p>
        </p:txBody>
      </p:sp>
    </p:spTree>
    <p:extLst>
      <p:ext uri="{BB962C8B-B14F-4D97-AF65-F5344CB8AC3E}">
        <p14:creationId xmlns:p14="http://schemas.microsoft.com/office/powerpoint/2010/main" val="28567742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Complete section once</a:t>
            </a:r>
            <a:r>
              <a:rPr lang="en-US" baseline="0" dirty="0" smtClean="0"/>
              <a:t> training client is set up.</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97</a:t>
            </a:fld>
            <a:endParaRPr lang="en-US"/>
          </a:p>
        </p:txBody>
      </p:sp>
    </p:spTree>
    <p:extLst>
      <p:ext uri="{BB962C8B-B14F-4D97-AF65-F5344CB8AC3E}">
        <p14:creationId xmlns:p14="http://schemas.microsoft.com/office/powerpoint/2010/main" val="10916000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As many as you would</a:t>
            </a:r>
            <a:r>
              <a:rPr lang="en-US" baseline="0" dirty="0" smtClean="0"/>
              <a:t> like.</a:t>
            </a:r>
          </a:p>
          <a:p>
            <a:pPr marL="228600" indent="-228600">
              <a:buAutoNum type="arabicPeriod"/>
            </a:pPr>
            <a:r>
              <a:rPr lang="en-US" baseline="0" dirty="0" smtClean="0"/>
              <a:t>Solicit answers from audience – you may be surprised at what you get.</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99</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smtClean="0">
                <a:solidFill>
                  <a:schemeClr val="accent4">
                    <a:lumMod val="10000"/>
                  </a:schemeClr>
                </a:solidFill>
                <a:effectLst/>
              </a:rPr>
              <a:t> You will learn more about specific reports</a:t>
            </a:r>
            <a:r>
              <a:rPr lang="en-US" baseline="0" dirty="0" smtClean="0">
                <a:solidFill>
                  <a:schemeClr val="accent4">
                    <a:lumMod val="10000"/>
                  </a:schemeClr>
                </a:solidFill>
                <a:effectLst/>
              </a:rPr>
              <a:t> in other sessions you are registered for; this course covers the fundamentals of how you access and display reports. The skills you learn in this course will help you in your next courses as you start to see the various reports you now have access to.</a:t>
            </a:r>
            <a:endParaRPr lang="en-US" sz="1600" dirty="0" smtClean="0">
              <a:solidFill>
                <a:schemeClr val="accent4">
                  <a:lumMod val="10000"/>
                </a:schemeClr>
              </a:solidFill>
              <a:effectLst/>
              <a:cs typeface="Arial" charset="0"/>
            </a:endParaRP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103</a:t>
            </a:fld>
            <a:endParaRPr lang="en-US"/>
          </a:p>
        </p:txBody>
      </p:sp>
    </p:spTree>
    <p:extLst>
      <p:ext uri="{BB962C8B-B14F-4D97-AF65-F5344CB8AC3E}">
        <p14:creationId xmlns:p14="http://schemas.microsoft.com/office/powerpoint/2010/main" val="10419191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add reports you use most often to your Favorites folder. </a:t>
            </a:r>
          </a:p>
          <a:p>
            <a:endParaRPr lang="en-US" dirty="0" smtClean="0"/>
          </a:p>
          <a:p>
            <a:r>
              <a:rPr lang="en-US" dirty="0" smtClean="0"/>
              <a:t>Access to</a:t>
            </a:r>
            <a:r>
              <a:rPr lang="en-US" baseline="0" dirty="0" smtClean="0"/>
              <a:t> reports is restricted by the role(s) assigned to the user – for example, not everyone will have the ability to generate capital project reports. And for those that will be able to generate budget reports, your access will be limited to just your department. You will not be able to see another department’s budget.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104</a:t>
            </a:fld>
            <a:endParaRPr lang="en-US"/>
          </a:p>
        </p:txBody>
      </p:sp>
    </p:spTree>
    <p:extLst>
      <p:ext uri="{BB962C8B-B14F-4D97-AF65-F5344CB8AC3E}">
        <p14:creationId xmlns:p14="http://schemas.microsoft.com/office/powerpoint/2010/main" val="201534760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chemeClr val="accent4">
                    <a:lumMod val="10000"/>
                  </a:schemeClr>
                </a:solidFill>
              </a:rPr>
              <a:t>Both standard and Loudoun Water-customized reports are located in the SAP menu tree</a:t>
            </a:r>
          </a:p>
          <a:p>
            <a:pPr lvl="1">
              <a:spcAft>
                <a:spcPts val="300"/>
              </a:spcAft>
              <a:buFont typeface="Wingdings" pitchFamily="2" charset="2"/>
              <a:buChar char="§"/>
            </a:pPr>
            <a:r>
              <a:rPr lang="en-US" dirty="0" smtClean="0">
                <a:solidFill>
                  <a:schemeClr val="accent4">
                    <a:lumMod val="10000"/>
                  </a:schemeClr>
                </a:solidFill>
                <a:effectLst/>
              </a:rPr>
              <a:t>Your ability to access specific reports is based on your SAP role and security level</a:t>
            </a:r>
          </a:p>
          <a:p>
            <a:pPr lvl="1">
              <a:spcAft>
                <a:spcPts val="300"/>
              </a:spcAft>
              <a:buFont typeface="Wingdings" pitchFamily="2" charset="2"/>
              <a:buChar char="§"/>
            </a:pPr>
            <a:r>
              <a:rPr lang="en-US" dirty="0" smtClean="0">
                <a:solidFill>
                  <a:schemeClr val="accent4">
                    <a:lumMod val="10000"/>
                  </a:schemeClr>
                </a:solidFill>
                <a:effectLst/>
              </a:rPr>
              <a:t>Reports are grouped in a logical manner to the business process the report is tied to</a:t>
            </a:r>
          </a:p>
          <a:p>
            <a:pPr lvl="2">
              <a:spcAft>
                <a:spcPts val="300"/>
              </a:spcAft>
            </a:pPr>
            <a:r>
              <a:rPr lang="en-US" dirty="0" smtClean="0">
                <a:solidFill>
                  <a:schemeClr val="accent4">
                    <a:lumMod val="10000"/>
                  </a:schemeClr>
                </a:solidFill>
                <a:effectLst/>
              </a:rPr>
              <a:t>For example, Vendor Payment reports are listed under the Accounts Payable tab; Depreciation reports are listed under the Asset Accounting tab, etc.</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smtClean="0"/>
              <a:t>BI reports, on the other hand, aggregate data over a period of time and provide static reports and statistical dashboard views.</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105</a:t>
            </a:fld>
            <a:endParaRPr lang="en-US"/>
          </a:p>
        </p:txBody>
      </p:sp>
    </p:spTree>
    <p:extLst>
      <p:ext uri="{BB962C8B-B14F-4D97-AF65-F5344CB8AC3E}">
        <p14:creationId xmlns:p14="http://schemas.microsoft.com/office/powerpoint/2010/main" val="12606752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may wish to point out how long the path is to again</a:t>
            </a:r>
            <a:r>
              <a:rPr lang="en-US" baseline="0" dirty="0" smtClean="0"/>
              <a:t> stress using transaction codes and moving  transactions into Favorites Folder.</a:t>
            </a:r>
          </a:p>
          <a:p>
            <a:endParaRPr lang="en-US" baseline="0" dirty="0" smtClean="0"/>
          </a:p>
          <a:p>
            <a:pPr marL="228600" indent="-228600">
              <a:buFont typeface="+mj-lt"/>
              <a:buAutoNum type="arabicPeriod"/>
            </a:pPr>
            <a:r>
              <a:rPr lang="en-US" baseline="0" dirty="0" smtClean="0"/>
              <a:t>Execute transaction.</a:t>
            </a:r>
          </a:p>
          <a:p>
            <a:pPr marL="228600" indent="-228600">
              <a:buFont typeface="+mj-lt"/>
              <a:buAutoNum type="arabicPeriod"/>
            </a:pPr>
            <a:r>
              <a:rPr lang="en-US" baseline="0" dirty="0" smtClean="0"/>
              <a:t>Explain that all ECC reports first display a screen where the user can add search criteria to narrow search results, and we will be going over all the options in greater detail.</a:t>
            </a:r>
          </a:p>
          <a:p>
            <a:pPr marL="228600" indent="-228600">
              <a:buFont typeface="+mj-lt"/>
              <a:buAutoNum type="arabicPeriod"/>
            </a:pPr>
            <a:r>
              <a:rPr lang="en-US" baseline="0" dirty="0" smtClean="0"/>
              <a:t>Enter 3000000000 (3000 000 000) in the Vendor Account field and click Execute.</a:t>
            </a:r>
          </a:p>
          <a:p>
            <a:pPr marL="228600" indent="-228600">
              <a:buFont typeface="+mj-lt"/>
              <a:buAutoNum type="arabicPeriod"/>
            </a:pPr>
            <a:r>
              <a:rPr lang="en-US" baseline="0" dirty="0" smtClean="0"/>
              <a:t>Show the results.</a:t>
            </a:r>
          </a:p>
          <a:p>
            <a:pPr marL="228600" indent="-228600">
              <a:buFont typeface="+mj-lt"/>
              <a:buAutoNum type="arabicPeriod"/>
            </a:pPr>
            <a:r>
              <a:rPr lang="en-US" baseline="0" dirty="0" smtClean="0"/>
              <a:t>Explain that the next exercise is just to have them execute a report, stress again that the next hour will be spent going over the fields in detail.</a:t>
            </a:r>
          </a:p>
          <a:p>
            <a:pPr marL="228600" indent="-228600">
              <a:buFont typeface="+mj-lt"/>
              <a:buAutoNum type="arabicPeriod"/>
            </a:pPr>
            <a:endParaRPr lang="en-US" baseline="0" dirty="0" smtClean="0"/>
          </a:p>
        </p:txBody>
      </p:sp>
      <p:sp>
        <p:nvSpPr>
          <p:cNvPr id="4" name="Slide Number Placeholder 3"/>
          <p:cNvSpPr>
            <a:spLocks noGrp="1"/>
          </p:cNvSpPr>
          <p:nvPr>
            <p:ph type="sldNum" sz="quarter" idx="10"/>
          </p:nvPr>
        </p:nvSpPr>
        <p:spPr/>
        <p:txBody>
          <a:bodyPr/>
          <a:lstStyle/>
          <a:p>
            <a:fld id="{8CAB1E07-34C8-4DE7-8292-5D29B71B4A02}" type="slidenum">
              <a:rPr lang="en-US" smtClean="0"/>
              <a:pPr/>
              <a:t>107</a:t>
            </a:fld>
            <a:endParaRPr lang="en-US"/>
          </a:p>
        </p:txBody>
      </p:sp>
    </p:spTree>
    <p:extLst>
      <p:ext uri="{BB962C8B-B14F-4D97-AF65-F5344CB8AC3E}">
        <p14:creationId xmlns:p14="http://schemas.microsoft.com/office/powerpoint/2010/main" val="21294604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False. SAP ECC reports provide real-time data from ECC only. External</a:t>
            </a:r>
            <a:r>
              <a:rPr lang="en-US" baseline="0" dirty="0" smtClean="0"/>
              <a:t> applications do not synch data to SAP ECC.</a:t>
            </a:r>
          </a:p>
          <a:p>
            <a:pPr marL="228600" indent="-228600">
              <a:buAutoNum type="arabicPeriod"/>
            </a:pPr>
            <a:r>
              <a:rPr lang="en-US" baseline="0" dirty="0" smtClean="0"/>
              <a:t>Dashboard reports are Business Intelligence reports that aggregate static data from SAP and external applications.</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109</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chemeClr val="accent3">
                    <a:lumMod val="10000"/>
                  </a:schemeClr>
                </a:solidFill>
              </a:rPr>
              <a:t>The use of selection criteria offers the following benefits:</a:t>
            </a:r>
          </a:p>
          <a:p>
            <a:pPr lvl="1"/>
            <a:r>
              <a:rPr lang="en-US" dirty="0" smtClean="0">
                <a:solidFill>
                  <a:schemeClr val="accent3">
                    <a:lumMod val="10000"/>
                  </a:schemeClr>
                </a:solidFill>
              </a:rPr>
              <a:t>You can limit the length of the report</a:t>
            </a:r>
          </a:p>
          <a:p>
            <a:pPr lvl="1"/>
            <a:r>
              <a:rPr lang="en-US" dirty="0" smtClean="0">
                <a:solidFill>
                  <a:schemeClr val="accent3">
                    <a:lumMod val="10000"/>
                  </a:schemeClr>
                </a:solidFill>
              </a:rPr>
              <a:t>You can minimize the processing time needed by SAP for data retrieval</a:t>
            </a:r>
          </a:p>
          <a:p>
            <a:pPr lvl="1"/>
            <a:r>
              <a:rPr lang="en-US" dirty="0" smtClean="0">
                <a:solidFill>
                  <a:schemeClr val="accent3">
                    <a:lumMod val="10000"/>
                  </a:schemeClr>
                </a:solidFill>
              </a:rPr>
              <a:t>You can extract relevant data and exclude unwanted data</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solidFill>
                  <a:schemeClr val="accent3">
                    <a:lumMod val="10000"/>
                  </a:schemeClr>
                </a:solidFill>
              </a:rPr>
              <a:t>Because of the wealth of data in the SAP system, be very cautious of generating reports with vast amounts of data by using few or no selection criteria.</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110</a:t>
            </a:fld>
            <a:endParaRPr lang="en-US"/>
          </a:p>
        </p:txBody>
      </p:sp>
    </p:spTree>
    <p:extLst>
      <p:ext uri="{BB962C8B-B14F-4D97-AF65-F5344CB8AC3E}">
        <p14:creationId xmlns:p14="http://schemas.microsoft.com/office/powerpoint/2010/main" val="27261638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training</a:t>
            </a:r>
            <a:r>
              <a:rPr lang="en-US" baseline="0" dirty="0" smtClean="0"/>
              <a:t> client is set up, find report with multiple data points to select from. Show Multiple Selection options, Dynamic Selections.</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114</a:t>
            </a:fld>
            <a:endParaRPr lang="en-US"/>
          </a:p>
        </p:txBody>
      </p:sp>
    </p:spTree>
    <p:extLst>
      <p:ext uri="{BB962C8B-B14F-4D97-AF65-F5344CB8AC3E}">
        <p14:creationId xmlns:p14="http://schemas.microsoft.com/office/powerpoint/2010/main" val="162648096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May need to find another report.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115</a:t>
            </a:fld>
            <a:endParaRPr lang="en-US"/>
          </a:p>
        </p:txBody>
      </p:sp>
    </p:spTree>
    <p:extLst>
      <p:ext uri="{BB962C8B-B14F-4D97-AF65-F5344CB8AC3E}">
        <p14:creationId xmlns:p14="http://schemas.microsoft.com/office/powerpoint/2010/main" val="276813899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True. While you can</a:t>
            </a:r>
            <a:r>
              <a:rPr lang="en-US" baseline="0" dirty="0" smtClean="0"/>
              <a:t> generate a report with vast amounts of data, it is not recommended as it can tie up system resources significantly.</a:t>
            </a:r>
          </a:p>
          <a:p>
            <a:pPr marL="228600" indent="-228600">
              <a:buAutoNum type="arabicPeriod"/>
            </a:pPr>
            <a:r>
              <a:rPr lang="en-US" baseline="0" dirty="0" smtClean="0"/>
              <a:t>The Multiple Selection function.</a:t>
            </a:r>
          </a:p>
          <a:p>
            <a:pPr marL="228600" indent="-228600">
              <a:buAutoNum type="arabicPeriod"/>
            </a:pPr>
            <a:r>
              <a:rPr lang="en-US" baseline="0" dirty="0" smtClean="0"/>
              <a:t>The Dynamic Selection option.</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116</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chemeClr val="accent4">
                    <a:lumMod val="10000"/>
                  </a:schemeClr>
                </a:solidFill>
              </a:rPr>
              <a:t>Before you execute the report, you can save the values that you enter in the selection criteria fields as a </a:t>
            </a:r>
            <a:r>
              <a:rPr lang="en-US" b="1" dirty="0" smtClean="0">
                <a:solidFill>
                  <a:schemeClr val="accent4">
                    <a:lumMod val="10000"/>
                  </a:schemeClr>
                </a:solidFill>
              </a:rPr>
              <a:t>Selection</a:t>
            </a:r>
            <a:r>
              <a:rPr lang="en-US" dirty="0" smtClean="0">
                <a:solidFill>
                  <a:schemeClr val="accent4">
                    <a:lumMod val="10000"/>
                  </a:schemeClr>
                </a:solidFill>
              </a:rPr>
              <a:t> </a:t>
            </a:r>
            <a:r>
              <a:rPr lang="en-US" b="1" dirty="0" smtClean="0">
                <a:solidFill>
                  <a:schemeClr val="accent4">
                    <a:lumMod val="10000"/>
                  </a:schemeClr>
                </a:solidFill>
              </a:rPr>
              <a:t>Variant</a:t>
            </a:r>
            <a:r>
              <a:rPr lang="en-US" dirty="0" smtClean="0">
                <a:solidFill>
                  <a:schemeClr val="accent4">
                    <a:lumMod val="10000"/>
                  </a:schemeClr>
                </a:solidFill>
              </a:rPr>
              <a:t>.</a:t>
            </a:r>
          </a:p>
          <a:p>
            <a:pPr lvl="1"/>
            <a:r>
              <a:rPr lang="en-US" dirty="0" smtClean="0">
                <a:solidFill>
                  <a:schemeClr val="accent4">
                    <a:lumMod val="10000"/>
                  </a:schemeClr>
                </a:solidFill>
              </a:rPr>
              <a:t>A selection variant is a group of selection criteria values that have been saved for future use.</a:t>
            </a:r>
          </a:p>
          <a:p>
            <a:pPr lvl="1"/>
            <a:r>
              <a:rPr lang="en-US" dirty="0" smtClean="0">
                <a:solidFill>
                  <a:schemeClr val="accent4">
                    <a:lumMod val="10000"/>
                  </a:schemeClr>
                </a:solidFill>
              </a:rPr>
              <a:t>You can “recall” the variant of saved values at a later time without having to enter the values each time you want to run the report.</a:t>
            </a:r>
          </a:p>
          <a:p>
            <a:pPr lvl="1"/>
            <a:r>
              <a:rPr lang="en-US" dirty="0" smtClean="0">
                <a:solidFill>
                  <a:schemeClr val="accent4">
                    <a:lumMod val="10000"/>
                  </a:schemeClr>
                </a:solidFill>
              </a:rPr>
              <a:t>When you select a saved variant, the selection criteria values will automatically default in the selection screen.  </a:t>
            </a:r>
          </a:p>
          <a:p>
            <a:pPr lvl="1"/>
            <a:r>
              <a:rPr lang="en-US" dirty="0" smtClean="0">
                <a:solidFill>
                  <a:schemeClr val="accent4">
                    <a:lumMod val="10000"/>
                  </a:schemeClr>
                </a:solidFill>
              </a:rPr>
              <a:t>By adding a </a:t>
            </a:r>
            <a:r>
              <a:rPr lang="en-US" b="1" dirty="0" smtClean="0">
                <a:solidFill>
                  <a:schemeClr val="accent4">
                    <a:lumMod val="10000"/>
                  </a:schemeClr>
                </a:solidFill>
              </a:rPr>
              <a:t>forward slash</a:t>
            </a:r>
            <a:r>
              <a:rPr lang="en-US" dirty="0" smtClean="0">
                <a:solidFill>
                  <a:schemeClr val="accent4">
                    <a:lumMod val="10000"/>
                  </a:schemeClr>
                </a:solidFill>
              </a:rPr>
              <a:t> (</a:t>
            </a:r>
            <a:r>
              <a:rPr lang="en-US" b="1" dirty="0" smtClean="0">
                <a:solidFill>
                  <a:schemeClr val="accent4">
                    <a:lumMod val="10000"/>
                  </a:schemeClr>
                </a:solidFill>
              </a:rPr>
              <a:t>/</a:t>
            </a:r>
            <a:r>
              <a:rPr lang="en-US" dirty="0" smtClean="0">
                <a:solidFill>
                  <a:schemeClr val="accent4">
                    <a:lumMod val="10000"/>
                  </a:schemeClr>
                </a:solidFill>
              </a:rPr>
              <a:t>) in front of the variant name you can allow others to use your variant. This is called a </a:t>
            </a:r>
            <a:r>
              <a:rPr lang="en-US" b="1" dirty="0" smtClean="0">
                <a:solidFill>
                  <a:schemeClr val="accent4">
                    <a:lumMod val="10000"/>
                  </a:schemeClr>
                </a:solidFill>
              </a:rPr>
              <a:t>Global Variant</a:t>
            </a:r>
            <a:r>
              <a:rPr lang="en-US" dirty="0" smtClean="0">
                <a:solidFill>
                  <a:schemeClr val="accent4">
                    <a:lumMod val="10000"/>
                  </a:schemeClr>
                </a:solidFill>
              </a:rPr>
              <a:t>.</a:t>
            </a:r>
          </a:p>
          <a:p>
            <a:pPr lvl="1"/>
            <a:r>
              <a:rPr lang="en-US" dirty="0" smtClean="0">
                <a:solidFill>
                  <a:schemeClr val="accent4">
                    <a:lumMod val="10000"/>
                  </a:schemeClr>
                </a:solidFill>
              </a:rPr>
              <a:t>A report can have several different variants, with each variant retrieving different types of information.</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117</a:t>
            </a:fld>
            <a:endParaRPr lang="en-US"/>
          </a:p>
        </p:txBody>
      </p:sp>
    </p:spTree>
    <p:extLst>
      <p:ext uri="{BB962C8B-B14F-4D97-AF65-F5344CB8AC3E}">
        <p14:creationId xmlns:p14="http://schemas.microsoft.com/office/powerpoint/2010/main" val="26575704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Will need to identify criteria once training</a:t>
            </a:r>
            <a:r>
              <a:rPr lang="en-US" baseline="0" dirty="0" smtClean="0"/>
              <a:t> client is built.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119</a:t>
            </a:fld>
            <a:endParaRPr lang="en-US"/>
          </a:p>
        </p:txBody>
      </p:sp>
    </p:spTree>
    <p:extLst>
      <p:ext uri="{BB962C8B-B14F-4D97-AF65-F5344CB8AC3E}">
        <p14:creationId xmlns:p14="http://schemas.microsoft.com/office/powerpoint/2010/main" val="245144754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Validate once training</a:t>
            </a:r>
            <a:r>
              <a:rPr lang="en-US" baseline="0" dirty="0" smtClean="0"/>
              <a:t> client is built.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120</a:t>
            </a:fld>
            <a:endParaRPr lang="en-US"/>
          </a:p>
        </p:txBody>
      </p:sp>
    </p:spTree>
    <p:extLst>
      <p:ext uri="{BB962C8B-B14F-4D97-AF65-F5344CB8AC3E}">
        <p14:creationId xmlns:p14="http://schemas.microsoft.com/office/powerpoint/2010/main" val="270145738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Need to update.</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124</a:t>
            </a:fld>
            <a:endParaRPr lang="en-US"/>
          </a:p>
        </p:txBody>
      </p:sp>
    </p:spTree>
    <p:extLst>
      <p:ext uri="{BB962C8B-B14F-4D97-AF65-F5344CB8AC3E}">
        <p14:creationId xmlns:p14="http://schemas.microsoft.com/office/powerpoint/2010/main" val="73185461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A</a:t>
            </a:r>
            <a:r>
              <a:rPr lang="en-US" baseline="0" dirty="0" smtClean="0"/>
              <a:t> group of selection criteria values that have been saved for future use.</a:t>
            </a:r>
          </a:p>
          <a:p>
            <a:pPr marL="228600" indent="-228600">
              <a:buAutoNum type="arabicPeriod"/>
            </a:pPr>
            <a:r>
              <a:rPr lang="en-US" dirty="0" smtClean="0"/>
              <a:t>Add a forward slash (/) in front of the variant name.</a:t>
            </a:r>
          </a:p>
          <a:p>
            <a:pPr marL="228600" indent="-228600">
              <a:buAutoNum type="arabicPeriod"/>
            </a:pPr>
            <a:r>
              <a:rPr lang="en-US" dirty="0" smtClean="0"/>
              <a:t>Yes.</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125</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run a report</a:t>
            </a:r>
            <a:r>
              <a:rPr lang="en-US" baseline="0" dirty="0" smtClean="0"/>
              <a:t> in the “foreground” means to suspend your ability to use the system until the results are generate. You can also run a report in the background, which we will discuss later.</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126</a:t>
            </a:fld>
            <a:endParaRPr lang="en-US"/>
          </a:p>
        </p:txBody>
      </p:sp>
    </p:spTree>
    <p:extLst>
      <p:ext uri="{BB962C8B-B14F-4D97-AF65-F5344CB8AC3E}">
        <p14:creationId xmlns:p14="http://schemas.microsoft.com/office/powerpoint/2010/main" val="22951244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chemeClr val="accent4">
                    <a:lumMod val="10000"/>
                  </a:schemeClr>
                </a:solidFill>
              </a:rPr>
              <a:t>You can customize the SAP ECC report to meet your business and reporting needs: </a:t>
            </a:r>
          </a:p>
          <a:p>
            <a:pPr lvl="1">
              <a:buFont typeface="Arial" pitchFamily="34" charset="0"/>
              <a:buChar char="•"/>
            </a:pPr>
            <a:r>
              <a:rPr lang="en-US" dirty="0" smtClean="0">
                <a:solidFill>
                  <a:schemeClr val="accent4">
                    <a:lumMod val="10000"/>
                  </a:schemeClr>
                </a:solidFill>
              </a:rPr>
              <a:t>You can </a:t>
            </a:r>
            <a:r>
              <a:rPr lang="en-US" b="1" dirty="0" smtClean="0">
                <a:solidFill>
                  <a:schemeClr val="accent4">
                    <a:lumMod val="10000"/>
                  </a:schemeClr>
                </a:solidFill>
              </a:rPr>
              <a:t>sort</a:t>
            </a:r>
            <a:r>
              <a:rPr lang="en-US" dirty="0" smtClean="0">
                <a:solidFill>
                  <a:schemeClr val="accent4">
                    <a:lumMod val="10000"/>
                  </a:schemeClr>
                </a:solidFill>
              </a:rPr>
              <a:t> the report data (for example, you can sort the report data by the posting date of the invoice in ascending order)</a:t>
            </a:r>
          </a:p>
          <a:p>
            <a:pPr lvl="1">
              <a:buFont typeface="Arial" pitchFamily="34" charset="0"/>
              <a:buChar char="•"/>
            </a:pPr>
            <a:r>
              <a:rPr lang="en-US" dirty="0" smtClean="0">
                <a:solidFill>
                  <a:schemeClr val="accent4">
                    <a:lumMod val="10000"/>
                  </a:schemeClr>
                </a:solidFill>
              </a:rPr>
              <a:t>You can </a:t>
            </a:r>
            <a:r>
              <a:rPr lang="en-US" b="1" dirty="0" smtClean="0">
                <a:solidFill>
                  <a:schemeClr val="accent4">
                    <a:lumMod val="10000"/>
                  </a:schemeClr>
                </a:solidFill>
              </a:rPr>
              <a:t>filter</a:t>
            </a:r>
            <a:r>
              <a:rPr lang="en-US" dirty="0" smtClean="0">
                <a:solidFill>
                  <a:schemeClr val="accent4">
                    <a:lumMod val="10000"/>
                  </a:schemeClr>
                </a:solidFill>
              </a:rPr>
              <a:t> the report data, i.e., you can restrict it to display data for specific values only (for example, view purchase order data for only one vendor)</a:t>
            </a:r>
          </a:p>
          <a:p>
            <a:pPr lvl="1">
              <a:buFont typeface="Arial" pitchFamily="34" charset="0"/>
              <a:buChar char="•"/>
            </a:pPr>
            <a:r>
              <a:rPr lang="en-US" dirty="0" smtClean="0">
                <a:solidFill>
                  <a:schemeClr val="accent4">
                    <a:lumMod val="10000"/>
                  </a:schemeClr>
                </a:solidFill>
              </a:rPr>
              <a:t>You can </a:t>
            </a:r>
            <a:r>
              <a:rPr lang="en-US" b="1" dirty="0" smtClean="0">
                <a:solidFill>
                  <a:schemeClr val="accent4">
                    <a:lumMod val="10000"/>
                  </a:schemeClr>
                </a:solidFill>
              </a:rPr>
              <a:t>total</a:t>
            </a:r>
            <a:r>
              <a:rPr lang="en-US" dirty="0" smtClean="0">
                <a:solidFill>
                  <a:schemeClr val="accent4">
                    <a:lumMod val="10000"/>
                  </a:schemeClr>
                </a:solidFill>
              </a:rPr>
              <a:t> and </a:t>
            </a:r>
            <a:r>
              <a:rPr lang="en-US" b="1" dirty="0" smtClean="0">
                <a:solidFill>
                  <a:schemeClr val="accent4">
                    <a:lumMod val="10000"/>
                  </a:schemeClr>
                </a:solidFill>
              </a:rPr>
              <a:t>sub-total</a:t>
            </a:r>
            <a:r>
              <a:rPr lang="en-US" dirty="0" smtClean="0">
                <a:solidFill>
                  <a:schemeClr val="accent4">
                    <a:lumMod val="10000"/>
                  </a:schemeClr>
                </a:solidFill>
              </a:rPr>
              <a:t> values in a column</a:t>
            </a:r>
          </a:p>
          <a:p>
            <a:pPr lvl="1">
              <a:buFont typeface="Arial" pitchFamily="34" charset="0"/>
              <a:buChar char="•"/>
            </a:pPr>
            <a:r>
              <a:rPr lang="en-US" dirty="0" smtClean="0">
                <a:solidFill>
                  <a:schemeClr val="accent4">
                    <a:lumMod val="10000"/>
                  </a:schemeClr>
                </a:solidFill>
              </a:rPr>
              <a:t>You can </a:t>
            </a:r>
            <a:r>
              <a:rPr lang="en-US" b="1" dirty="0" smtClean="0">
                <a:solidFill>
                  <a:schemeClr val="accent4">
                    <a:lumMod val="10000"/>
                  </a:schemeClr>
                </a:solidFill>
              </a:rPr>
              <a:t>drill-down</a:t>
            </a:r>
            <a:r>
              <a:rPr lang="en-US" dirty="0" smtClean="0">
                <a:solidFill>
                  <a:schemeClr val="accent4">
                    <a:lumMod val="10000"/>
                  </a:schemeClr>
                </a:solidFill>
              </a:rPr>
              <a:t> and </a:t>
            </a:r>
            <a:r>
              <a:rPr lang="en-US" b="1" dirty="0" smtClean="0">
                <a:solidFill>
                  <a:schemeClr val="accent4">
                    <a:lumMod val="10000"/>
                  </a:schemeClr>
                </a:solidFill>
              </a:rPr>
              <a:t>drill-across</a:t>
            </a:r>
            <a:r>
              <a:rPr lang="en-US" dirty="0" smtClean="0">
                <a:solidFill>
                  <a:schemeClr val="accent4">
                    <a:lumMod val="10000"/>
                  </a:schemeClr>
                </a:solidFill>
              </a:rPr>
              <a:t> into the report data to view additional lower-level details (for example, view the line items of a posted invoice)</a:t>
            </a:r>
          </a:p>
          <a:p>
            <a:pPr lvl="1">
              <a:buFont typeface="Arial" pitchFamily="34" charset="0"/>
              <a:buChar char="•"/>
            </a:pPr>
            <a:r>
              <a:rPr lang="en-US" dirty="0" smtClean="0">
                <a:solidFill>
                  <a:schemeClr val="accent4">
                    <a:lumMod val="10000"/>
                  </a:schemeClr>
                </a:solidFill>
              </a:rPr>
              <a:t>You can also </a:t>
            </a:r>
            <a:r>
              <a:rPr lang="en-US" b="1" dirty="0" smtClean="0">
                <a:solidFill>
                  <a:schemeClr val="accent4">
                    <a:lumMod val="10000"/>
                  </a:schemeClr>
                </a:solidFill>
              </a:rPr>
              <a:t>change the layout</a:t>
            </a:r>
            <a:r>
              <a:rPr lang="en-US" dirty="0" smtClean="0">
                <a:solidFill>
                  <a:schemeClr val="accent4">
                    <a:lumMod val="10000"/>
                  </a:schemeClr>
                </a:solidFill>
              </a:rPr>
              <a:t> of the report by changing the position and width of columns and by adding or hiding columns</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127</a:t>
            </a:fld>
            <a:endParaRPr lang="en-US"/>
          </a:p>
        </p:txBody>
      </p:sp>
    </p:spTree>
    <p:extLst>
      <p:ext uri="{BB962C8B-B14F-4D97-AF65-F5344CB8AC3E}">
        <p14:creationId xmlns:p14="http://schemas.microsoft.com/office/powerpoint/2010/main" val="210030477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Need to update.</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132</a:t>
            </a:fld>
            <a:endParaRPr lang="en-US"/>
          </a:p>
        </p:txBody>
      </p:sp>
    </p:spTree>
    <p:extLst>
      <p:ext uri="{BB962C8B-B14F-4D97-AF65-F5344CB8AC3E}">
        <p14:creationId xmlns:p14="http://schemas.microsoft.com/office/powerpoint/2010/main" val="341989578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Quick</a:t>
            </a:r>
            <a:r>
              <a:rPr lang="en-US" baseline="0" dirty="0" smtClean="0"/>
              <a:t> demo</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134</a:t>
            </a:fld>
            <a:endParaRPr lang="en-US"/>
          </a:p>
        </p:txBody>
      </p:sp>
    </p:spTree>
    <p:extLst>
      <p:ext uri="{BB962C8B-B14F-4D97-AF65-F5344CB8AC3E}">
        <p14:creationId xmlns:p14="http://schemas.microsoft.com/office/powerpoint/2010/main" val="231046737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135</a:t>
            </a:fld>
            <a:endParaRPr lang="en-US"/>
          </a:p>
        </p:txBody>
      </p:sp>
    </p:spTree>
    <p:extLst>
      <p:ext uri="{BB962C8B-B14F-4D97-AF65-F5344CB8AC3E}">
        <p14:creationId xmlns:p14="http://schemas.microsoft.com/office/powerpoint/2010/main" val="316261485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chemeClr val="accent4">
                    <a:lumMod val="10000"/>
                  </a:schemeClr>
                </a:solidFill>
              </a:rPr>
              <a:t>Report data usually appears in the default layout most often used within Loudoun Water</a:t>
            </a:r>
          </a:p>
          <a:p>
            <a:pPr marL="171450" lvl="0" indent="-171450">
              <a:buFont typeface="Arial" pitchFamily="34" charset="0"/>
              <a:buChar char="•"/>
            </a:pPr>
            <a:r>
              <a:rPr lang="en-US" dirty="0" smtClean="0">
                <a:solidFill>
                  <a:schemeClr val="accent4">
                    <a:lumMod val="10000"/>
                  </a:schemeClr>
                </a:solidFill>
              </a:rPr>
              <a:t>However, you can change or customize the layout of the report by:</a:t>
            </a:r>
          </a:p>
          <a:p>
            <a:pPr marL="628650" lvl="1" indent="-171450">
              <a:buFont typeface="Arial" pitchFamily="34" charset="0"/>
              <a:buChar char="•"/>
            </a:pPr>
            <a:r>
              <a:rPr lang="en-US" dirty="0" smtClean="0">
                <a:solidFill>
                  <a:schemeClr val="accent4">
                    <a:lumMod val="10000"/>
                  </a:schemeClr>
                </a:solidFill>
              </a:rPr>
              <a:t>Changing the position of the columns</a:t>
            </a:r>
          </a:p>
          <a:p>
            <a:pPr marL="628650" lvl="1" indent="-171450">
              <a:buFont typeface="Arial" pitchFamily="34" charset="0"/>
              <a:buChar char="•"/>
            </a:pPr>
            <a:r>
              <a:rPr lang="en-US" dirty="0" smtClean="0">
                <a:solidFill>
                  <a:schemeClr val="accent4">
                    <a:lumMod val="10000"/>
                  </a:schemeClr>
                </a:solidFill>
              </a:rPr>
              <a:t>Changing the width of the columns</a:t>
            </a:r>
          </a:p>
          <a:p>
            <a:pPr marL="628650" lvl="1" indent="-171450">
              <a:buFont typeface="Arial" pitchFamily="34" charset="0"/>
              <a:buChar char="•"/>
            </a:pPr>
            <a:r>
              <a:rPr lang="en-US" dirty="0" smtClean="0">
                <a:solidFill>
                  <a:schemeClr val="accent4">
                    <a:lumMod val="10000"/>
                  </a:schemeClr>
                </a:solidFill>
              </a:rPr>
              <a:t>Hiding columns</a:t>
            </a:r>
          </a:p>
          <a:p>
            <a:pPr marL="628650" lvl="1" indent="-171450">
              <a:buFont typeface="Arial" pitchFamily="34" charset="0"/>
              <a:buChar char="•"/>
            </a:pPr>
            <a:r>
              <a:rPr lang="en-US" dirty="0" smtClean="0">
                <a:solidFill>
                  <a:schemeClr val="accent4">
                    <a:lumMod val="10000"/>
                  </a:schemeClr>
                </a:solidFill>
              </a:rPr>
              <a:t>Adding columns</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136</a:t>
            </a:fld>
            <a:endParaRPr lang="en-US"/>
          </a:p>
        </p:txBody>
      </p:sp>
    </p:spTree>
    <p:extLst>
      <p:ext uri="{BB962C8B-B14F-4D97-AF65-F5344CB8AC3E}">
        <p14:creationId xmlns:p14="http://schemas.microsoft.com/office/powerpoint/2010/main" val="28527835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Update</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138</a:t>
            </a:fld>
            <a:endParaRPr lang="en-US"/>
          </a:p>
        </p:txBody>
      </p:sp>
    </p:spTree>
    <p:extLst>
      <p:ext uri="{BB962C8B-B14F-4D97-AF65-F5344CB8AC3E}">
        <p14:creationId xmlns:p14="http://schemas.microsoft.com/office/powerpoint/2010/main" val="87224453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The Reporting toolbar.</a:t>
            </a:r>
          </a:p>
          <a:p>
            <a:pPr marL="228600" indent="-228600">
              <a:buAutoNum type="arabicPeriod"/>
            </a:pPr>
            <a:r>
              <a:rPr lang="en-US" dirty="0" smtClean="0"/>
              <a:t>Yes, the Define sort order dialog box provides you the</a:t>
            </a:r>
            <a:r>
              <a:rPr lang="en-US" baseline="0" dirty="0" smtClean="0"/>
              <a:t> ability to sort by multiple criteria.</a:t>
            </a:r>
          </a:p>
          <a:p>
            <a:pPr marL="228600" indent="-228600">
              <a:buAutoNum type="arabicPeriod"/>
            </a:pPr>
            <a:r>
              <a:rPr lang="en-US" baseline="0" dirty="0" smtClean="0"/>
              <a:t>Double click a line item to display lower level details.</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139</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chemeClr val="accent4">
                    <a:lumMod val="10000"/>
                  </a:schemeClr>
                </a:solidFill>
              </a:rPr>
              <a:t>Once you have customized the report layout to meet your needs, you can save the layout for future use. </a:t>
            </a:r>
          </a:p>
          <a:p>
            <a:r>
              <a:rPr lang="en-US" dirty="0" smtClean="0">
                <a:solidFill>
                  <a:schemeClr val="accent4">
                    <a:lumMod val="10000"/>
                  </a:schemeClr>
                </a:solidFill>
              </a:rPr>
              <a:t>A saved, customized report layout is called a </a:t>
            </a:r>
            <a:r>
              <a:rPr lang="en-US" b="1" dirty="0" smtClean="0">
                <a:solidFill>
                  <a:schemeClr val="accent4">
                    <a:lumMod val="10000"/>
                  </a:schemeClr>
                </a:solidFill>
              </a:rPr>
              <a:t>Display Variant</a:t>
            </a:r>
            <a:r>
              <a:rPr lang="en-US" dirty="0" smtClean="0">
                <a:solidFill>
                  <a:schemeClr val="accent4">
                    <a:lumMod val="10000"/>
                  </a:schemeClr>
                </a:solidFill>
              </a:rPr>
              <a:t>. </a:t>
            </a:r>
          </a:p>
          <a:p>
            <a:pPr marL="628650" lvl="1" indent="-171450">
              <a:buFont typeface="Arial" pitchFamily="34" charset="0"/>
              <a:buChar char="•"/>
            </a:pPr>
            <a:r>
              <a:rPr lang="en-US" dirty="0" smtClean="0">
                <a:solidFill>
                  <a:schemeClr val="accent4">
                    <a:lumMod val="10000"/>
                  </a:schemeClr>
                </a:solidFill>
              </a:rPr>
              <a:t>You can “recall” the display variant the next time you execute the report.</a:t>
            </a:r>
          </a:p>
          <a:p>
            <a:pPr marL="628650" lvl="1" indent="-171450">
              <a:buFont typeface="Arial" pitchFamily="34" charset="0"/>
              <a:buChar char="•"/>
            </a:pPr>
            <a:r>
              <a:rPr lang="en-US" dirty="0" smtClean="0">
                <a:solidFill>
                  <a:schemeClr val="accent4">
                    <a:lumMod val="10000"/>
                  </a:schemeClr>
                </a:solidFill>
              </a:rPr>
              <a:t>The report data will be automatically displayed according to the saved layout.  </a:t>
            </a:r>
          </a:p>
          <a:p>
            <a:pPr marL="628650" lvl="1" indent="-171450">
              <a:buFont typeface="Arial" pitchFamily="34" charset="0"/>
              <a:buChar char="•"/>
            </a:pPr>
            <a:r>
              <a:rPr lang="en-US" dirty="0" smtClean="0">
                <a:solidFill>
                  <a:schemeClr val="accent4">
                    <a:lumMod val="10000"/>
                  </a:schemeClr>
                </a:solidFill>
              </a:rPr>
              <a:t>A report can have several different display variants, with each display variant using a different layout. </a:t>
            </a:r>
          </a:p>
          <a:p>
            <a:pPr marL="628650" lvl="1" indent="-171450">
              <a:buFont typeface="Arial" pitchFamily="34" charset="0"/>
              <a:buChar char="•"/>
            </a:pPr>
            <a:r>
              <a:rPr lang="en-US" dirty="0" smtClean="0">
                <a:solidFill>
                  <a:schemeClr val="accent4">
                    <a:lumMod val="10000"/>
                  </a:schemeClr>
                </a:solidFill>
              </a:rPr>
              <a:t> Adding a </a:t>
            </a:r>
            <a:r>
              <a:rPr lang="en-US" b="1" dirty="0" smtClean="0">
                <a:solidFill>
                  <a:schemeClr val="accent4">
                    <a:lumMod val="10000"/>
                  </a:schemeClr>
                </a:solidFill>
              </a:rPr>
              <a:t>forward slash</a:t>
            </a:r>
            <a:r>
              <a:rPr lang="en-US" dirty="0" smtClean="0">
                <a:solidFill>
                  <a:schemeClr val="accent4">
                    <a:lumMod val="10000"/>
                  </a:schemeClr>
                </a:solidFill>
              </a:rPr>
              <a:t> (</a:t>
            </a:r>
            <a:r>
              <a:rPr lang="en-US" b="1" dirty="0" smtClean="0">
                <a:solidFill>
                  <a:schemeClr val="accent4">
                    <a:lumMod val="10000"/>
                  </a:schemeClr>
                </a:solidFill>
              </a:rPr>
              <a:t>/</a:t>
            </a:r>
            <a:r>
              <a:rPr lang="en-US" dirty="0" smtClean="0">
                <a:solidFill>
                  <a:schemeClr val="accent4">
                    <a:lumMod val="10000"/>
                  </a:schemeClr>
                </a:solidFill>
              </a:rPr>
              <a:t>) in front of the variant name will make the variant available to others. This is called a </a:t>
            </a:r>
            <a:r>
              <a:rPr lang="en-US" b="1" dirty="0" smtClean="0">
                <a:solidFill>
                  <a:schemeClr val="accent4">
                    <a:lumMod val="10000"/>
                  </a:schemeClr>
                </a:solidFill>
              </a:rPr>
              <a:t>Global Variant</a:t>
            </a:r>
            <a:r>
              <a:rPr lang="en-US" dirty="0" smtClean="0">
                <a:solidFill>
                  <a:schemeClr val="accent4">
                    <a:lumMod val="10000"/>
                  </a:schemeClr>
                </a:solidFill>
              </a:rPr>
              <a:t>.</a:t>
            </a:r>
          </a:p>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140</a:t>
            </a:fld>
            <a:endParaRPr lang="en-US"/>
          </a:p>
        </p:txBody>
      </p:sp>
    </p:spTree>
    <p:extLst>
      <p:ext uri="{BB962C8B-B14F-4D97-AF65-F5344CB8AC3E}">
        <p14:creationId xmlns:p14="http://schemas.microsoft.com/office/powerpoint/2010/main" val="293069818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Need to update</a:t>
            </a:r>
            <a:r>
              <a:rPr lang="en-US" baseline="0" dirty="0" smtClean="0"/>
              <a:t> data.</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145</a:t>
            </a:fld>
            <a:endParaRPr lang="en-US"/>
          </a:p>
        </p:txBody>
      </p:sp>
    </p:spTree>
    <p:extLst>
      <p:ext uri="{BB962C8B-B14F-4D97-AF65-F5344CB8AC3E}">
        <p14:creationId xmlns:p14="http://schemas.microsoft.com/office/powerpoint/2010/main" val="362989366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US" dirty="0" smtClean="0"/>
              <a:t>1. </a:t>
            </a:r>
            <a:r>
              <a:rPr lang="en-US" dirty="0" smtClean="0">
                <a:solidFill>
                  <a:schemeClr val="accent4">
                    <a:lumMod val="10000"/>
                  </a:schemeClr>
                </a:solidFill>
              </a:rPr>
              <a:t>A selection variant is a group of selection criteria values that have been saved for future use. It produces the</a:t>
            </a:r>
            <a:r>
              <a:rPr lang="en-US" baseline="0" dirty="0" smtClean="0">
                <a:solidFill>
                  <a:schemeClr val="accent4">
                    <a:lumMod val="10000"/>
                  </a:schemeClr>
                </a:solidFill>
              </a:rPr>
              <a:t> report. A Display Variant is the unique format you wish to view the report in.</a:t>
            </a:r>
            <a:endParaRPr lang="en-US" dirty="0" smtClean="0">
              <a:solidFill>
                <a:schemeClr val="accent4">
                  <a:lumMod val="10000"/>
                </a:schemeClr>
              </a:solidFill>
            </a:endParaRP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146</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Rot="1" noChangeAspect="1" noChangeArrowheads="1" noTextEdit="1"/>
          </p:cNvSpPr>
          <p:nvPr>
            <p:ph type="sldImg"/>
          </p:nvPr>
        </p:nvSpPr>
        <p:spPr>
          <a:ln/>
        </p:spPr>
      </p:sp>
      <p:sp>
        <p:nvSpPr>
          <p:cNvPr id="3921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solidFill>
                  <a:schemeClr val="accent4">
                    <a:lumMod val="10000"/>
                  </a:schemeClr>
                </a:solidFill>
              </a:rPr>
              <a:t>SAP ECC allows you to export report data to commonly used PC applications, such as Microsoft Word and Excel. </a:t>
            </a:r>
          </a:p>
          <a:p>
            <a:pPr lvl="1"/>
            <a:r>
              <a:rPr lang="en-US" dirty="0" smtClean="0">
                <a:solidFill>
                  <a:schemeClr val="accent4">
                    <a:lumMod val="10000"/>
                  </a:schemeClr>
                </a:solidFill>
              </a:rPr>
              <a:t>Data from reports can be easily downloaded as spreadsheets or other file formats.</a:t>
            </a:r>
          </a:p>
          <a:p>
            <a:r>
              <a:rPr lang="en-US" dirty="0" smtClean="0">
                <a:solidFill>
                  <a:schemeClr val="accent4">
                    <a:lumMod val="10000"/>
                  </a:schemeClr>
                </a:solidFill>
              </a:rPr>
              <a:t>There are several reasons for downloading or exporting report data:</a:t>
            </a:r>
          </a:p>
          <a:p>
            <a:pPr lvl="1"/>
            <a:r>
              <a:rPr lang="en-US" dirty="0" smtClean="0">
                <a:solidFill>
                  <a:schemeClr val="accent4">
                    <a:lumMod val="10000"/>
                  </a:schemeClr>
                </a:solidFill>
              </a:rPr>
              <a:t>You have greater control and flexibility over the format or organization of report data.</a:t>
            </a:r>
          </a:p>
          <a:p>
            <a:pPr lvl="1"/>
            <a:r>
              <a:rPr lang="en-US" dirty="0" smtClean="0">
                <a:solidFill>
                  <a:schemeClr val="accent4">
                    <a:lumMod val="10000"/>
                  </a:schemeClr>
                </a:solidFill>
              </a:rPr>
              <a:t>You can share the report data with others who do not have access to SAP ECC.</a:t>
            </a:r>
          </a:p>
          <a:p>
            <a:r>
              <a:rPr lang="en-US" dirty="0" smtClean="0">
                <a:solidFill>
                  <a:schemeClr val="accent4">
                    <a:lumMod val="10000"/>
                  </a:schemeClr>
                </a:solidFill>
              </a:rPr>
              <a:t>However, there may be potential risks with downloaded data:</a:t>
            </a:r>
          </a:p>
          <a:p>
            <a:pPr lvl="1"/>
            <a:r>
              <a:rPr lang="en-US" dirty="0" smtClean="0">
                <a:solidFill>
                  <a:schemeClr val="accent4">
                    <a:lumMod val="10000"/>
                  </a:schemeClr>
                </a:solidFill>
              </a:rPr>
              <a:t>It may be more difficult to impose security controls.</a:t>
            </a:r>
          </a:p>
          <a:p>
            <a:pPr lvl="1"/>
            <a:r>
              <a:rPr lang="en-US" dirty="0" smtClean="0">
                <a:solidFill>
                  <a:schemeClr val="accent4">
                    <a:lumMod val="10000"/>
                  </a:schemeClr>
                </a:solidFill>
              </a:rPr>
              <a:t>The integrity of downloaded data may be jeopardized.</a:t>
            </a:r>
          </a:p>
          <a:p>
            <a:pPr lvl="1"/>
            <a:r>
              <a:rPr lang="en-US" dirty="0" smtClean="0">
                <a:solidFill>
                  <a:schemeClr val="accent4">
                    <a:lumMod val="10000"/>
                  </a:schemeClr>
                </a:solidFill>
              </a:rPr>
              <a:t>Downloaded data is a snapshot in time and quickly loses its “real-time” character.</a:t>
            </a:r>
          </a:p>
          <a:p>
            <a:endParaRPr lang="en-US" dirty="0" smtClean="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Rot="1" noChangeAspect="1" noChangeArrowheads="1" noTextEdit="1"/>
          </p:cNvSpPr>
          <p:nvPr>
            <p:ph type="sldImg"/>
          </p:nvPr>
        </p:nvSpPr>
        <p:spPr>
          <a:ln/>
        </p:spPr>
      </p:sp>
      <p:sp>
        <p:nvSpPr>
          <p:cNvPr id="3962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solidFill>
                  <a:schemeClr val="accent4">
                    <a:lumMod val="10000"/>
                  </a:schemeClr>
                </a:solidFill>
              </a:rPr>
              <a:t>Unlike most other programs, which forward print requests directly to the printer, SAP temporarily stores the print data. </a:t>
            </a:r>
          </a:p>
          <a:p>
            <a:r>
              <a:rPr lang="en-US" dirty="0" smtClean="0">
                <a:solidFill>
                  <a:schemeClr val="accent4">
                    <a:lumMod val="10000"/>
                  </a:schemeClr>
                </a:solidFill>
              </a:rPr>
              <a:t>An </a:t>
            </a:r>
            <a:r>
              <a:rPr lang="en-US" b="1" dirty="0" smtClean="0">
                <a:solidFill>
                  <a:schemeClr val="accent4">
                    <a:lumMod val="10000"/>
                  </a:schemeClr>
                </a:solidFill>
              </a:rPr>
              <a:t>output request </a:t>
            </a:r>
            <a:r>
              <a:rPr lang="en-US" dirty="0" smtClean="0">
                <a:solidFill>
                  <a:schemeClr val="accent4">
                    <a:lumMod val="10000"/>
                  </a:schemeClr>
                </a:solidFill>
              </a:rPr>
              <a:t>sends the data to the desired output device (printer) and allows you to select a printer other than your default printer if needed.</a:t>
            </a:r>
          </a:p>
          <a:p>
            <a:r>
              <a:rPr lang="en-US" dirty="0" smtClean="0">
                <a:solidFill>
                  <a:schemeClr val="accent4">
                    <a:lumMod val="10000"/>
                  </a:schemeClr>
                </a:solidFill>
              </a:rPr>
              <a:t>If your list is large, SAP takes longer to process the data. If SAP cannot process the data, a message indicating processing limitations appears in the status bar. In that case, you must:</a:t>
            </a:r>
          </a:p>
          <a:p>
            <a:pPr lvl="1"/>
            <a:r>
              <a:rPr lang="en-US" dirty="0" smtClean="0">
                <a:solidFill>
                  <a:schemeClr val="accent4">
                    <a:lumMod val="10000"/>
                  </a:schemeClr>
                </a:solidFill>
              </a:rPr>
              <a:t>Enter additional selection criteria to refine the report data returned, or</a:t>
            </a:r>
          </a:p>
          <a:p>
            <a:pPr lvl="1"/>
            <a:r>
              <a:rPr lang="en-US" dirty="0" smtClean="0">
                <a:solidFill>
                  <a:schemeClr val="accent4">
                    <a:lumMod val="10000"/>
                  </a:schemeClr>
                </a:solidFill>
              </a:rPr>
              <a:t>Print the list using background processing</a:t>
            </a:r>
          </a:p>
          <a:p>
            <a:endParaRPr lang="en-US" dirty="0"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Check with IT and</a:t>
            </a:r>
            <a:r>
              <a:rPr lang="en-US" baseline="0" dirty="0" smtClean="0"/>
              <a:t> make sure this is current.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151</a:t>
            </a:fld>
            <a:endParaRPr lang="en-US"/>
          </a:p>
        </p:txBody>
      </p:sp>
    </p:spTree>
    <p:extLst>
      <p:ext uri="{BB962C8B-B14F-4D97-AF65-F5344CB8AC3E}">
        <p14:creationId xmlns:p14="http://schemas.microsoft.com/office/powerpoint/2010/main" val="118899917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schedule reports to process in the background when there is a lot of data to evaluate; otherwise the system performance may be adversely affected. </a:t>
            </a:r>
          </a:p>
          <a:p>
            <a:pPr lvl="1"/>
            <a:r>
              <a:rPr lang="en-US" dirty="0" smtClean="0"/>
              <a:t>Running a report in the background does not tie up the SAP sessions you are currently working with</a:t>
            </a:r>
          </a:p>
          <a:p>
            <a:pPr lvl="2"/>
            <a:r>
              <a:rPr lang="en-US" dirty="0" smtClean="0"/>
              <a:t>When you start a report interactively, your current SAP session is blocked for further input for as long as the report runs</a:t>
            </a:r>
          </a:p>
          <a:p>
            <a:pPr lvl="2"/>
            <a:r>
              <a:rPr lang="en-US" dirty="0" smtClean="0"/>
              <a:t>When you start the report in the background, running the report does not influence your interactive work with SAP</a:t>
            </a:r>
          </a:p>
          <a:p>
            <a:pPr lvl="1"/>
            <a:r>
              <a:rPr lang="en-US" dirty="0" smtClean="0"/>
              <a:t>You can shift the execution of reports to the evening or other periods of low loads on SAP</a:t>
            </a:r>
          </a:p>
          <a:p>
            <a:pPr lvl="2"/>
            <a:r>
              <a:rPr lang="en-US" dirty="0" smtClean="0"/>
              <a:t>You can schedule a report to run at any time, even automatically on a regular basis, for example on a daily, weekly or monthly basis</a:t>
            </a:r>
          </a:p>
          <a:p>
            <a:pPr lvl="1"/>
            <a:r>
              <a:rPr lang="en-US" dirty="0" smtClean="0"/>
              <a:t>Background processing is the only way you can execute long-running jobs</a:t>
            </a:r>
          </a:p>
          <a:p>
            <a:pPr lvl="2"/>
            <a:r>
              <a:rPr lang="en-US" dirty="0" smtClean="0"/>
              <a:t>To prevent tying up system resources with interactive sessions for long reports, SAP has a built-in time limit on interactive sessions. If a single report runs for more than 5 minutes continuously, SAP terminates the report automatically.</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154</a:t>
            </a:fld>
            <a:endParaRPr lang="en-US"/>
          </a:p>
        </p:txBody>
      </p:sp>
    </p:spTree>
    <p:extLst>
      <p:ext uri="{BB962C8B-B14F-4D97-AF65-F5344CB8AC3E}">
        <p14:creationId xmlns:p14="http://schemas.microsoft.com/office/powerpoint/2010/main" val="233463783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Update</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156</a:t>
            </a:fld>
            <a:endParaRPr lang="en-US"/>
          </a:p>
        </p:txBody>
      </p:sp>
    </p:spTree>
    <p:extLst>
      <p:ext uri="{BB962C8B-B14F-4D97-AF65-F5344CB8AC3E}">
        <p14:creationId xmlns:p14="http://schemas.microsoft.com/office/powerpoint/2010/main" val="390498924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1" indent="-228600" algn="l" defTabSz="914400" rtl="0" eaLnBrk="1" fontAlgn="base" latinLnBrk="0" hangingPunct="1">
              <a:lnSpc>
                <a:spcPct val="100000"/>
              </a:lnSpc>
              <a:spcBef>
                <a:spcPct val="30000"/>
              </a:spcBef>
              <a:spcAft>
                <a:spcPct val="0"/>
              </a:spcAft>
              <a:buClrTx/>
              <a:buSzTx/>
              <a:buFontTx/>
              <a:buAutoNum type="arabicPeriod"/>
              <a:tabLst/>
              <a:defRPr/>
            </a:pPr>
            <a:r>
              <a:rPr lang="en-US" dirty="0" smtClean="0"/>
              <a:t>An action to send the</a:t>
            </a:r>
            <a:r>
              <a:rPr lang="en-US" baseline="0" dirty="0" smtClean="0"/>
              <a:t> report data to the desired output device.</a:t>
            </a:r>
          </a:p>
          <a:p>
            <a:pPr marL="228600" marR="0" lvl="1" indent="-228600" algn="l" defTabSz="914400" rtl="0" eaLnBrk="1" fontAlgn="base" latinLnBrk="0" hangingPunct="1">
              <a:lnSpc>
                <a:spcPct val="100000"/>
              </a:lnSpc>
              <a:spcBef>
                <a:spcPct val="30000"/>
              </a:spcBef>
              <a:spcAft>
                <a:spcPct val="0"/>
              </a:spcAft>
              <a:buClrTx/>
              <a:buSzTx/>
              <a:buFontTx/>
              <a:buAutoNum type="arabicPeriod"/>
              <a:tabLst/>
              <a:defRPr/>
            </a:pPr>
            <a:r>
              <a:rPr lang="en-US" baseline="0" dirty="0" smtClean="0"/>
              <a:t>Running a report in the background does not tie up the SAP session you are currently working with. In addition, you can shift the execution of the report to the evening or other periods of low loads on SAP.</a:t>
            </a:r>
          </a:p>
          <a:p>
            <a:pPr marL="228600" marR="0" lvl="1" indent="-228600" algn="l" defTabSz="914400" rtl="0" eaLnBrk="1" fontAlgn="base" latinLnBrk="0" hangingPunct="1">
              <a:lnSpc>
                <a:spcPct val="100000"/>
              </a:lnSpc>
              <a:spcBef>
                <a:spcPct val="30000"/>
              </a:spcBef>
              <a:spcAft>
                <a:spcPct val="0"/>
              </a:spcAft>
              <a:buClrTx/>
              <a:buSzTx/>
              <a:buFontTx/>
              <a:buAutoNum type="arabicPeriod"/>
              <a:tabLst/>
              <a:defRPr/>
            </a:pPr>
            <a:r>
              <a:rPr lang="en-US" baseline="0" dirty="0" smtClean="0"/>
              <a:t>If a single report runs for more than 5 minutes continuously, SAP terminates the report automatically.</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160</a:t>
            </a:fld>
            <a:endParaRPr lang="en-US"/>
          </a:p>
        </p:txBody>
      </p:sp>
    </p:spTree>
    <p:extLst>
      <p:ext uri="{BB962C8B-B14F-4D97-AF65-F5344CB8AC3E}">
        <p14:creationId xmlns:p14="http://schemas.microsoft.com/office/powerpoint/2010/main" val="35730789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134" name="Picture 14" descr="puritybar_logo"/>
          <p:cNvPicPr>
            <a:picLocks noChangeAspect="1" noChangeArrowheads="1"/>
          </p:cNvPicPr>
          <p:nvPr userDrawn="1"/>
        </p:nvPicPr>
        <p:blipFill>
          <a:blip r:embed="rId2" cstate="print">
            <a:clrChange>
              <a:clrFrom>
                <a:srgbClr val="FFFFFF"/>
              </a:clrFrom>
              <a:clrTo>
                <a:srgbClr val="FFFFFF">
                  <a:alpha val="0"/>
                </a:srgbClr>
              </a:clrTo>
            </a:clrChange>
          </a:blip>
          <a:srcRect/>
          <a:stretch>
            <a:fillRect/>
          </a:stretch>
        </p:blipFill>
        <p:spPr bwMode="auto">
          <a:xfrm>
            <a:off x="0" y="5211763"/>
            <a:ext cx="9144000" cy="1646237"/>
          </a:xfrm>
          <a:prstGeom prst="rect">
            <a:avLst/>
          </a:prstGeom>
          <a:noFill/>
        </p:spPr>
      </p:pic>
      <p:sp>
        <p:nvSpPr>
          <p:cNvPr id="5122" name="Rectangle 2"/>
          <p:cNvSpPr>
            <a:spLocks noGrp="1" noRot="1" noChangeArrowheads="1"/>
          </p:cNvSpPr>
          <p:nvPr>
            <p:ph type="ctrTitle" hasCustomPrompt="1"/>
          </p:nvPr>
        </p:nvSpPr>
        <p:spPr>
          <a:xfrm>
            <a:off x="1676400" y="1981200"/>
            <a:ext cx="6781800" cy="1600200"/>
          </a:xfrm>
        </p:spPr>
        <p:txBody>
          <a:bodyPr/>
          <a:lstStyle>
            <a:lvl1pPr algn="ctr">
              <a:spcBef>
                <a:spcPts val="1200"/>
              </a:spcBef>
              <a:spcAft>
                <a:spcPts val="1800"/>
              </a:spcAft>
              <a:defRPr sz="4000" baseline="0">
                <a:solidFill>
                  <a:srgbClr val="000000"/>
                </a:solidFill>
                <a:effectLst/>
              </a:defRPr>
            </a:lvl1pPr>
          </a:lstStyle>
          <a:p>
            <a:r>
              <a:rPr lang="en-US" dirty="0"/>
              <a:t>Title of </a:t>
            </a:r>
            <a:r>
              <a:rPr lang="en-US" dirty="0" smtClean="0"/>
              <a:t>Presentation</a:t>
            </a:r>
            <a:br>
              <a:rPr lang="en-US" dirty="0" smtClean="0"/>
            </a:br>
            <a:r>
              <a:rPr lang="en-US" sz="2000" dirty="0" smtClean="0"/>
              <a:t>Course ID</a:t>
            </a:r>
            <a:endParaRPr lang="en-US" dirty="0"/>
          </a:p>
        </p:txBody>
      </p:sp>
      <p:grpSp>
        <p:nvGrpSpPr>
          <p:cNvPr id="5127" name="Group 7"/>
          <p:cNvGrpSpPr>
            <a:grpSpLocks/>
          </p:cNvGrpSpPr>
          <p:nvPr userDrawn="1"/>
        </p:nvGrpSpPr>
        <p:grpSpPr bwMode="auto">
          <a:xfrm>
            <a:off x="0" y="0"/>
            <a:ext cx="1501775" cy="6861175"/>
            <a:chOff x="0" y="0"/>
            <a:chExt cx="946" cy="4322"/>
          </a:xfrm>
        </p:grpSpPr>
        <p:pic>
          <p:nvPicPr>
            <p:cNvPr id="5128" name="Picture 8" descr="MPj04304570000[1]"/>
            <p:cNvPicPr>
              <a:picLocks noChangeArrowheads="1"/>
            </p:cNvPicPr>
            <p:nvPr userDrawn="1"/>
          </p:nvPicPr>
          <p:blipFill>
            <a:blip r:embed="rId3" cstate="print"/>
            <a:srcRect b="-8"/>
            <a:stretch>
              <a:fillRect/>
            </a:stretch>
          </p:blipFill>
          <p:spPr bwMode="auto">
            <a:xfrm>
              <a:off x="0" y="2208"/>
              <a:ext cx="944" cy="1056"/>
            </a:xfrm>
            <a:prstGeom prst="rect">
              <a:avLst/>
            </a:prstGeom>
            <a:noFill/>
            <a:ln w="9525">
              <a:noFill/>
              <a:miter lim="800000"/>
              <a:headEnd/>
              <a:tailEnd/>
            </a:ln>
          </p:spPr>
        </p:pic>
        <p:pic>
          <p:nvPicPr>
            <p:cNvPr id="5129" name="Picture 9" descr="MPj04231330000[1]"/>
            <p:cNvPicPr>
              <a:picLocks noChangeArrowheads="1"/>
            </p:cNvPicPr>
            <p:nvPr userDrawn="1"/>
          </p:nvPicPr>
          <p:blipFill>
            <a:blip r:embed="rId4" cstate="print"/>
            <a:srcRect t="4001"/>
            <a:stretch>
              <a:fillRect/>
            </a:stretch>
          </p:blipFill>
          <p:spPr bwMode="auto">
            <a:xfrm>
              <a:off x="0" y="0"/>
              <a:ext cx="944" cy="1152"/>
            </a:xfrm>
            <a:prstGeom prst="rect">
              <a:avLst/>
            </a:prstGeom>
            <a:noFill/>
          </p:spPr>
        </p:pic>
        <p:pic>
          <p:nvPicPr>
            <p:cNvPr id="5130" name="Picture 10" descr="MPj04231190000[1]"/>
            <p:cNvPicPr>
              <a:picLocks noChangeAspect="1" noChangeArrowheads="1"/>
            </p:cNvPicPr>
            <p:nvPr userDrawn="1"/>
          </p:nvPicPr>
          <p:blipFill>
            <a:blip r:embed="rId5" cstate="print"/>
            <a:srcRect b="4173"/>
            <a:stretch>
              <a:fillRect/>
            </a:stretch>
          </p:blipFill>
          <p:spPr bwMode="auto">
            <a:xfrm>
              <a:off x="0" y="3264"/>
              <a:ext cx="946" cy="1058"/>
            </a:xfrm>
            <a:prstGeom prst="rect">
              <a:avLst/>
            </a:prstGeom>
            <a:noFill/>
          </p:spPr>
        </p:pic>
        <p:pic>
          <p:nvPicPr>
            <p:cNvPr id="5131" name="Picture 11" descr="MPj04229880000[1]"/>
            <p:cNvPicPr>
              <a:picLocks noChangeArrowheads="1"/>
            </p:cNvPicPr>
            <p:nvPr userDrawn="1"/>
          </p:nvPicPr>
          <p:blipFill>
            <a:blip r:embed="rId6" cstate="print"/>
            <a:srcRect t="8014"/>
            <a:stretch>
              <a:fillRect/>
            </a:stretch>
          </p:blipFill>
          <p:spPr bwMode="auto">
            <a:xfrm>
              <a:off x="0" y="1152"/>
              <a:ext cx="944" cy="1056"/>
            </a:xfrm>
            <a:prstGeom prst="rect">
              <a:avLst/>
            </a:prstGeom>
            <a:noFill/>
            <a:ln w="9525">
              <a:noFill/>
              <a:miter lim="800000"/>
              <a:headEnd/>
              <a:tailEnd/>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anchor="t"/>
          <a:lstStyle>
            <a:lvl1pPr algn="l">
              <a:defRPr sz="3200" b="1" cap="all">
                <a:solidFill>
                  <a:schemeClr val="tx2">
                    <a:lumMod val="25000"/>
                  </a:schemeClr>
                </a:solidFill>
              </a:defRPr>
            </a:lvl1pPr>
          </a:lstStyle>
          <a:p>
            <a:r>
              <a:rPr lang="en-US" dirty="0" smtClean="0"/>
              <a:t>Module Title</a:t>
            </a:r>
            <a:endParaRPr lang="en-US" dirty="0"/>
          </a:p>
        </p:txBody>
      </p:sp>
      <p:sp>
        <p:nvSpPr>
          <p:cNvPr id="3" name="Text Placeholder 2"/>
          <p:cNvSpPr>
            <a:spLocks noGrp="1"/>
          </p:cNvSpPr>
          <p:nvPr>
            <p:ph type="body" idx="1" hasCustomPrompt="1"/>
          </p:nvPr>
        </p:nvSpPr>
        <p:spPr>
          <a:xfrm>
            <a:off x="722313" y="2906713"/>
            <a:ext cx="7772400" cy="1500187"/>
          </a:xfrm>
        </p:spPr>
        <p:txBody>
          <a:bodyPr anchor="b"/>
          <a:lstStyle>
            <a:lvl1pPr marL="0" indent="0">
              <a:buNone/>
              <a:defRPr sz="24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Module #</a:t>
            </a:r>
          </a:p>
        </p:txBody>
      </p:sp>
      <p:cxnSp>
        <p:nvCxnSpPr>
          <p:cNvPr id="6" name="Straight Connector 5"/>
          <p:cNvCxnSpPr/>
          <p:nvPr userDrawn="1"/>
        </p:nvCxnSpPr>
        <p:spPr bwMode="auto">
          <a:xfrm>
            <a:off x="685800" y="4419600"/>
            <a:ext cx="7848600" cy="0"/>
          </a:xfrm>
          <a:prstGeom prst="line">
            <a:avLst/>
          </a:prstGeom>
          <a:solidFill>
            <a:schemeClr val="accent1"/>
          </a:solidFill>
          <a:ln w="28575" cap="flat" cmpd="sng" algn="ctr">
            <a:solidFill>
              <a:srgbClr val="C1D82F"/>
            </a:solidFill>
            <a:prstDash val="solid"/>
            <a:round/>
            <a:headEnd type="none" w="med" len="med"/>
            <a:tailEnd type="none" w="med" len="med"/>
          </a:ln>
          <a:effectLst/>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Main Body">
    <p:spTree>
      <p:nvGrpSpPr>
        <p:cNvPr id="1" name=""/>
        <p:cNvGrpSpPr/>
        <p:nvPr/>
      </p:nvGrpSpPr>
      <p:grpSpPr>
        <a:xfrm>
          <a:off x="0" y="0"/>
          <a:ext cx="0" cy="0"/>
          <a:chOff x="0" y="0"/>
          <a:chExt cx="0" cy="0"/>
        </a:xfrm>
      </p:grpSpPr>
      <p:sp>
        <p:nvSpPr>
          <p:cNvPr id="2" name="Title 1"/>
          <p:cNvSpPr>
            <a:spLocks noGrp="1"/>
          </p:cNvSpPr>
          <p:nvPr>
            <p:ph type="title"/>
          </p:nvPr>
        </p:nvSpPr>
        <p:spPr>
          <a:xfrm>
            <a:off x="301625" y="228600"/>
            <a:ext cx="8510588" cy="639762"/>
          </a:xfrm>
        </p:spPr>
        <p:txBody>
          <a:bodyPr/>
          <a:lstStyle>
            <a:lvl1pPr>
              <a:defRPr b="1">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01625" y="990600"/>
            <a:ext cx="8537575" cy="5135563"/>
          </a:xfrm>
        </p:spPr>
        <p:txBody>
          <a:bodyPr/>
          <a:lstStyle>
            <a:lvl1pPr marL="0" indent="0">
              <a:spcAft>
                <a:spcPts val="300"/>
              </a:spcAft>
              <a:defRPr sz="2000">
                <a:latin typeface="Verdana" pitchFamily="34" charset="0"/>
                <a:ea typeface="Verdana" pitchFamily="34" charset="0"/>
                <a:cs typeface="Verdana" pitchFamily="34" charset="0"/>
              </a:defRPr>
            </a:lvl1pPr>
            <a:lvl2pPr>
              <a:spcAft>
                <a:spcPts val="300"/>
              </a:spcAft>
              <a:defRPr sz="2000">
                <a:latin typeface="Verdana" pitchFamily="34" charset="0"/>
                <a:ea typeface="Verdana" pitchFamily="34" charset="0"/>
                <a:cs typeface="Verdana" pitchFamily="34" charset="0"/>
              </a:defRPr>
            </a:lvl2pPr>
            <a:lvl3pPr>
              <a:spcAft>
                <a:spcPts val="300"/>
              </a:spcAft>
              <a:defRPr sz="1800">
                <a:latin typeface="Verdana" pitchFamily="34" charset="0"/>
                <a:ea typeface="Verdana" pitchFamily="34" charset="0"/>
                <a:cs typeface="Verdana" pitchFamily="34" charset="0"/>
              </a:defRPr>
            </a:lvl3pPr>
            <a:lvl4pPr>
              <a:spcAft>
                <a:spcPts val="300"/>
              </a:spcAft>
              <a:defRPr sz="1800">
                <a:latin typeface="Verdana" pitchFamily="34" charset="0"/>
                <a:ea typeface="Verdana" pitchFamily="34" charset="0"/>
                <a:cs typeface="Verdana" pitchFamily="34" charset="0"/>
              </a:defRPr>
            </a:lvl4pPr>
            <a:lvl5pPr>
              <a:spcAft>
                <a:spcPts val="300"/>
              </a:spcAft>
              <a:defRPr sz="1800">
                <a:latin typeface="Verdana" pitchFamily="34" charset="0"/>
                <a:ea typeface="Verdana" pitchFamily="34" charset="0"/>
                <a:cs typeface="Verdan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sz="1400">
                <a:solidFill>
                  <a:schemeClr val="tx1"/>
                </a:solidFill>
                <a:latin typeface="Arial" charset="0"/>
              </a:defRPr>
            </a:lvl1pPr>
          </a:lstStyle>
          <a:p>
            <a:endParaRPr lang="en-US" dirty="0" smtClean="0">
              <a:solidFill>
                <a:srgbClr val="FFFFFF"/>
              </a:solidFill>
            </a:endParaRPr>
          </a:p>
          <a:p>
            <a:fld id="{A43E8436-101F-4105-8DD8-F746F1132964}" type="slidenum">
              <a:rPr lang="en-US" smtClean="0">
                <a:solidFill>
                  <a:srgbClr val="4D4D4D"/>
                </a:solidFill>
              </a:rPr>
              <a:t>‹#›</a:t>
            </a:fld>
            <a:endParaRPr lang="en-US" dirty="0">
              <a:solidFill>
                <a:srgbClr val="4D4D4D"/>
              </a:solidFill>
            </a:endParaRPr>
          </a:p>
        </p:txBody>
      </p:sp>
    </p:spTree>
    <p:extLst>
      <p:ext uri="{BB962C8B-B14F-4D97-AF65-F5344CB8AC3E}">
        <p14:creationId xmlns:p14="http://schemas.microsoft.com/office/powerpoint/2010/main" val="4247235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7388" y="249238"/>
            <a:ext cx="7926387" cy="598487"/>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914400"/>
            <a:ext cx="3924300" cy="5211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914400"/>
            <a:ext cx="3924300" cy="5211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58336455"/>
      </p:ext>
    </p:extLst>
  </p:cSld>
  <p:clrMapOvr>
    <a:masterClrMapping/>
  </p:clrMapOvr>
  <p:transition spd="med">
    <p:push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Main Body">
    <p:spTree>
      <p:nvGrpSpPr>
        <p:cNvPr id="1" name=""/>
        <p:cNvGrpSpPr/>
        <p:nvPr/>
      </p:nvGrpSpPr>
      <p:grpSpPr>
        <a:xfrm>
          <a:off x="0" y="0"/>
          <a:ext cx="0" cy="0"/>
          <a:chOff x="0" y="0"/>
          <a:chExt cx="0" cy="0"/>
        </a:xfrm>
      </p:grpSpPr>
      <p:sp>
        <p:nvSpPr>
          <p:cNvPr id="5" name="Rectangle 4"/>
          <p:cNvSpPr/>
          <p:nvPr userDrawn="1"/>
        </p:nvSpPr>
        <p:spPr bwMode="auto">
          <a:xfrm>
            <a:off x="0" y="0"/>
            <a:ext cx="9144000" cy="914400"/>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 name="Title 1"/>
          <p:cNvSpPr>
            <a:spLocks noGrp="1"/>
          </p:cNvSpPr>
          <p:nvPr>
            <p:ph type="title"/>
          </p:nvPr>
        </p:nvSpPr>
        <p:spPr>
          <a:xfrm>
            <a:off x="301625" y="228600"/>
            <a:ext cx="8510588" cy="639762"/>
          </a:xfrm>
        </p:spPr>
        <p:txBody>
          <a:bodyPr/>
          <a:lstStyle>
            <a:lvl1pPr>
              <a:defRPr sz="2400" b="1">
                <a:solidFill>
                  <a:schemeClr val="tx1"/>
                </a:solidFill>
                <a:latin typeface="+mj-lt"/>
              </a:defRPr>
            </a:lvl1pPr>
          </a:lstStyle>
          <a:p>
            <a:r>
              <a:rPr lang="en-US" dirty="0" smtClean="0"/>
              <a:t>Click to edit Master title style</a:t>
            </a:r>
            <a:endParaRPr lang="en-US" dirty="0"/>
          </a:p>
        </p:txBody>
      </p:sp>
      <p:sp>
        <p:nvSpPr>
          <p:cNvPr id="3" name="Content Placeholder 2"/>
          <p:cNvSpPr>
            <a:spLocks noGrp="1"/>
          </p:cNvSpPr>
          <p:nvPr>
            <p:ph idx="1"/>
          </p:nvPr>
        </p:nvSpPr>
        <p:spPr>
          <a:xfrm>
            <a:off x="301625" y="990600"/>
            <a:ext cx="8537575" cy="5135563"/>
          </a:xfrm>
        </p:spPr>
        <p:txBody>
          <a:bodyPr/>
          <a:lstStyle>
            <a:lvl1pPr marL="0" indent="0">
              <a:defRPr sz="2000">
                <a:latin typeface="Verdana" pitchFamily="34" charset="0"/>
                <a:ea typeface="Verdana" pitchFamily="34" charset="0"/>
                <a:cs typeface="Verdana" pitchFamily="34" charset="0"/>
              </a:defRPr>
            </a:lvl1pPr>
            <a:lvl2pPr>
              <a:defRPr sz="2000">
                <a:latin typeface="Verdana" pitchFamily="34" charset="0"/>
                <a:ea typeface="Verdana" pitchFamily="34" charset="0"/>
                <a:cs typeface="Verdana" pitchFamily="34" charset="0"/>
              </a:defRPr>
            </a:lvl2pPr>
            <a:lvl3pPr>
              <a:defRPr sz="1800">
                <a:latin typeface="Verdana" pitchFamily="34" charset="0"/>
                <a:ea typeface="Verdana" pitchFamily="34" charset="0"/>
                <a:cs typeface="Verdana" pitchFamily="34" charset="0"/>
              </a:defRPr>
            </a:lvl3pPr>
            <a:lvl4pPr>
              <a:defRPr sz="1800">
                <a:latin typeface="Verdana" pitchFamily="34" charset="0"/>
                <a:ea typeface="Verdana" pitchFamily="34" charset="0"/>
                <a:cs typeface="Verdana" pitchFamily="34" charset="0"/>
              </a:defRPr>
            </a:lvl4pPr>
            <a:lvl5pPr>
              <a:defRPr sz="1800">
                <a:latin typeface="Verdana" pitchFamily="34" charset="0"/>
                <a:ea typeface="Verdana" pitchFamily="34" charset="0"/>
                <a:cs typeface="Verdan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sz="1400">
                <a:solidFill>
                  <a:schemeClr val="tx1"/>
                </a:solidFill>
                <a:latin typeface="Arial" charset="0"/>
              </a:defRPr>
            </a:lvl1pPr>
          </a:lstStyle>
          <a:p>
            <a:endParaRPr lang="en-US" dirty="0" smtClean="0"/>
          </a:p>
          <a:p>
            <a:fld id="{C0ABF30F-1156-4F41-8469-8F121BB9144A}" type="slidenum">
              <a:rPr lang="en-US" smtClean="0">
                <a:solidFill>
                  <a:schemeClr val="bg2"/>
                </a:solidFill>
              </a:rPr>
              <a:pPr/>
              <a:t>‹#›</a:t>
            </a:fld>
            <a:endParaRPr lang="en-US" dirty="0">
              <a:solidFill>
                <a:schemeClr val="bg2"/>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anchor="t"/>
          <a:lstStyle>
            <a:lvl1pPr algn="l">
              <a:defRPr sz="3200" b="1" cap="all">
                <a:solidFill>
                  <a:schemeClr val="tx2">
                    <a:lumMod val="25000"/>
                  </a:schemeClr>
                </a:solidFill>
              </a:defRPr>
            </a:lvl1pPr>
          </a:lstStyle>
          <a:p>
            <a:r>
              <a:rPr lang="en-US" dirty="0" smtClean="0"/>
              <a:t>Module Title</a:t>
            </a:r>
            <a:endParaRPr lang="en-US" dirty="0"/>
          </a:p>
        </p:txBody>
      </p:sp>
      <p:sp>
        <p:nvSpPr>
          <p:cNvPr id="3" name="Text Placeholder 2"/>
          <p:cNvSpPr>
            <a:spLocks noGrp="1"/>
          </p:cNvSpPr>
          <p:nvPr>
            <p:ph type="body" idx="1" hasCustomPrompt="1"/>
          </p:nvPr>
        </p:nvSpPr>
        <p:spPr>
          <a:xfrm>
            <a:off x="722313" y="2906713"/>
            <a:ext cx="7772400" cy="1500187"/>
          </a:xfrm>
        </p:spPr>
        <p:txBody>
          <a:bodyPr anchor="b"/>
          <a:lstStyle>
            <a:lvl1pPr marL="0" indent="0">
              <a:buNone/>
              <a:defRPr sz="24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Module #</a:t>
            </a:r>
          </a:p>
        </p:txBody>
      </p:sp>
      <p:cxnSp>
        <p:nvCxnSpPr>
          <p:cNvPr id="6" name="Straight Connector 5"/>
          <p:cNvCxnSpPr/>
          <p:nvPr userDrawn="1"/>
        </p:nvCxnSpPr>
        <p:spPr bwMode="auto">
          <a:xfrm>
            <a:off x="685800" y="4419600"/>
            <a:ext cx="7848600" cy="0"/>
          </a:xfrm>
          <a:prstGeom prst="line">
            <a:avLst/>
          </a:prstGeom>
          <a:solidFill>
            <a:schemeClr val="accent1"/>
          </a:solidFill>
          <a:ln w="28575" cap="flat" cmpd="sng" algn="ctr">
            <a:solidFill>
              <a:srgbClr val="C1D82F"/>
            </a:solidFill>
            <a:prstDash val="solid"/>
            <a:round/>
            <a:headEnd type="none" w="med" len="med"/>
            <a:tailEnd type="none" w="med" len="med"/>
          </a:ln>
          <a:effectLst/>
        </p:spPr>
      </p:cxnSp>
    </p:spTree>
    <p:extLst>
      <p:ext uri="{BB962C8B-B14F-4D97-AF65-F5344CB8AC3E}">
        <p14:creationId xmlns:p14="http://schemas.microsoft.com/office/powerpoint/2010/main" val="3882800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Main Body">
    <p:spTree>
      <p:nvGrpSpPr>
        <p:cNvPr id="1" name=""/>
        <p:cNvGrpSpPr/>
        <p:nvPr/>
      </p:nvGrpSpPr>
      <p:grpSpPr>
        <a:xfrm>
          <a:off x="0" y="0"/>
          <a:ext cx="0" cy="0"/>
          <a:chOff x="0" y="0"/>
          <a:chExt cx="0" cy="0"/>
        </a:xfrm>
      </p:grpSpPr>
      <p:sp>
        <p:nvSpPr>
          <p:cNvPr id="2" name="Title 1"/>
          <p:cNvSpPr>
            <a:spLocks noGrp="1"/>
          </p:cNvSpPr>
          <p:nvPr>
            <p:ph type="title"/>
          </p:nvPr>
        </p:nvSpPr>
        <p:spPr>
          <a:xfrm>
            <a:off x="301625" y="228600"/>
            <a:ext cx="8510588" cy="639762"/>
          </a:xfrm>
        </p:spPr>
        <p:txBody>
          <a:bodyPr/>
          <a:lstStyle>
            <a:lvl1pPr>
              <a:defRPr b="1">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01625" y="990600"/>
            <a:ext cx="8537575" cy="5135563"/>
          </a:xfrm>
        </p:spPr>
        <p:txBody>
          <a:bodyPr/>
          <a:lstStyle>
            <a:lvl1pPr marL="0" indent="0">
              <a:spcAft>
                <a:spcPts val="300"/>
              </a:spcAft>
              <a:defRPr sz="2000">
                <a:latin typeface="Verdana" pitchFamily="34" charset="0"/>
                <a:ea typeface="Verdana" pitchFamily="34" charset="0"/>
                <a:cs typeface="Verdana" pitchFamily="34" charset="0"/>
              </a:defRPr>
            </a:lvl1pPr>
            <a:lvl2pPr>
              <a:spcAft>
                <a:spcPts val="300"/>
              </a:spcAft>
              <a:defRPr sz="2000">
                <a:latin typeface="Verdana" pitchFamily="34" charset="0"/>
                <a:ea typeface="Verdana" pitchFamily="34" charset="0"/>
                <a:cs typeface="Verdana" pitchFamily="34" charset="0"/>
              </a:defRPr>
            </a:lvl2pPr>
            <a:lvl3pPr>
              <a:spcAft>
                <a:spcPts val="300"/>
              </a:spcAft>
              <a:defRPr sz="1800">
                <a:latin typeface="Verdana" pitchFamily="34" charset="0"/>
                <a:ea typeface="Verdana" pitchFamily="34" charset="0"/>
                <a:cs typeface="Verdana" pitchFamily="34" charset="0"/>
              </a:defRPr>
            </a:lvl3pPr>
            <a:lvl4pPr>
              <a:spcAft>
                <a:spcPts val="300"/>
              </a:spcAft>
              <a:defRPr sz="1800">
                <a:latin typeface="Verdana" pitchFamily="34" charset="0"/>
                <a:ea typeface="Verdana" pitchFamily="34" charset="0"/>
                <a:cs typeface="Verdana" pitchFamily="34" charset="0"/>
              </a:defRPr>
            </a:lvl4pPr>
            <a:lvl5pPr>
              <a:spcAft>
                <a:spcPts val="300"/>
              </a:spcAft>
              <a:defRPr sz="1800">
                <a:latin typeface="Verdana" pitchFamily="34" charset="0"/>
                <a:ea typeface="Verdana" pitchFamily="34" charset="0"/>
                <a:cs typeface="Verdan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sz="1400">
                <a:solidFill>
                  <a:schemeClr val="tx1"/>
                </a:solidFill>
                <a:latin typeface="Arial" charset="0"/>
              </a:defRPr>
            </a:lvl1pPr>
          </a:lstStyle>
          <a:p>
            <a:endParaRPr lang="en-US" dirty="0" smtClean="0">
              <a:solidFill>
                <a:srgbClr val="FFFFFF"/>
              </a:solidFill>
            </a:endParaRPr>
          </a:p>
          <a:p>
            <a:fld id="{5191FF04-12CB-4D8B-8BA0-EC1EAA325CB1}" type="slidenum">
              <a:rPr lang="en-US" smtClean="0">
                <a:solidFill>
                  <a:schemeClr val="accent4">
                    <a:lumMod val="10000"/>
                  </a:schemeClr>
                </a:solidFill>
                <a:effectLst/>
              </a:rPr>
              <a:t>‹#›</a:t>
            </a:fld>
            <a:endParaRPr lang="en-US" dirty="0">
              <a:solidFill>
                <a:schemeClr val="accent4">
                  <a:lumMod val="10000"/>
                </a:schemeClr>
              </a:solidFill>
              <a:effectLst/>
            </a:endParaRPr>
          </a:p>
        </p:txBody>
      </p:sp>
    </p:spTree>
    <p:extLst>
      <p:ext uri="{BB962C8B-B14F-4D97-AF65-F5344CB8AC3E}">
        <p14:creationId xmlns:p14="http://schemas.microsoft.com/office/powerpoint/2010/main" val="2688036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xfrm>
            <a:off x="457200" y="6248400"/>
            <a:ext cx="2133600" cy="457200"/>
          </a:xfrm>
          <a:prstGeom prst="rect">
            <a:avLst/>
          </a:prstGeom>
        </p:spPr>
        <p:txBody>
          <a:bodyPr/>
          <a:lstStyle>
            <a:lvl1pPr algn="ctr">
              <a:defRPr>
                <a:latin typeface="Arial" charset="0"/>
                <a:cs typeface="Arial" charset="0"/>
              </a:defRPr>
            </a:lvl1pPr>
          </a:lstStyle>
          <a:p>
            <a:pPr>
              <a:defRPr/>
            </a:pPr>
            <a:endParaRPr lang="en-US" altLang="en-US" dirty="0"/>
          </a:p>
        </p:txBody>
      </p:sp>
      <p:sp>
        <p:nvSpPr>
          <p:cNvPr id="3" name="Rectangle 6"/>
          <p:cNvSpPr>
            <a:spLocks noGrp="1" noChangeArrowheads="1"/>
          </p:cNvSpPr>
          <p:nvPr>
            <p:ph type="ftr" sz="quarter" idx="11"/>
          </p:nvPr>
        </p:nvSpPr>
        <p:spPr>
          <a:xfrm>
            <a:off x="3124200" y="6248400"/>
            <a:ext cx="2895600" cy="457200"/>
          </a:xfrm>
          <a:prstGeom prst="rect">
            <a:avLst/>
          </a:prstGeom>
        </p:spPr>
        <p:txBody>
          <a:bodyPr/>
          <a:lstStyle>
            <a:lvl1pPr algn="ctr">
              <a:defRPr>
                <a:latin typeface="Arial" charset="0"/>
                <a:cs typeface="Arial" charset="0"/>
              </a:defRPr>
            </a:lvl1pPr>
          </a:lstStyle>
          <a:p>
            <a:pPr>
              <a:defRPr/>
            </a:pPr>
            <a:endParaRPr lang="en-US" altLang="en-US" dirty="0"/>
          </a:p>
        </p:txBody>
      </p:sp>
      <p:sp>
        <p:nvSpPr>
          <p:cNvPr id="4" name="Rectangle 7"/>
          <p:cNvSpPr>
            <a:spLocks noGrp="1" noChangeArrowheads="1"/>
          </p:cNvSpPr>
          <p:nvPr>
            <p:ph type="sldNum" sz="quarter" idx="12"/>
          </p:nvPr>
        </p:nvSpPr>
        <p:spPr>
          <a:xfrm>
            <a:off x="8686800" y="6416675"/>
            <a:ext cx="457200" cy="365125"/>
          </a:xfrm>
          <a:prstGeom prst="rect">
            <a:avLst/>
          </a:prstGeom>
        </p:spPr>
        <p:txBody>
          <a:bodyPr/>
          <a:lstStyle>
            <a:lvl1pPr algn="ctr">
              <a:defRPr>
                <a:latin typeface="Arial" charset="0"/>
                <a:cs typeface="Arial" charset="0"/>
              </a:defRPr>
            </a:lvl1pPr>
          </a:lstStyle>
          <a:p>
            <a:pPr>
              <a:defRPr/>
            </a:pPr>
            <a:fld id="{94BD25D2-E3C8-485E-BFD9-CCB34FCC7F99}" type="slidenum">
              <a:rPr lang="en-US" altLang="en-US"/>
              <a:pPr>
                <a:defRPr/>
              </a:pPr>
              <a:t>‹#›</a:t>
            </a:fld>
            <a:endParaRPr lang="en-US" altLang="en-US" dirty="0"/>
          </a:p>
        </p:txBody>
      </p:sp>
    </p:spTree>
    <p:extLst>
      <p:ext uri="{BB962C8B-B14F-4D97-AF65-F5344CB8AC3E}">
        <p14:creationId xmlns:p14="http://schemas.microsoft.com/office/powerpoint/2010/main" val="444284021"/>
      </p:ext>
    </p:extLst>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anchor="t"/>
          <a:lstStyle>
            <a:lvl1pPr algn="l">
              <a:defRPr sz="3200" b="1" cap="all">
                <a:solidFill>
                  <a:schemeClr val="tx2">
                    <a:lumMod val="25000"/>
                  </a:schemeClr>
                </a:solidFill>
              </a:defRPr>
            </a:lvl1pPr>
          </a:lstStyle>
          <a:p>
            <a:r>
              <a:rPr lang="en-US" dirty="0" smtClean="0"/>
              <a:t>Module Title</a:t>
            </a:r>
            <a:endParaRPr lang="en-US" dirty="0"/>
          </a:p>
        </p:txBody>
      </p:sp>
      <p:sp>
        <p:nvSpPr>
          <p:cNvPr id="3" name="Text Placeholder 2"/>
          <p:cNvSpPr>
            <a:spLocks noGrp="1"/>
          </p:cNvSpPr>
          <p:nvPr>
            <p:ph type="body" idx="1" hasCustomPrompt="1"/>
          </p:nvPr>
        </p:nvSpPr>
        <p:spPr>
          <a:xfrm>
            <a:off x="722313" y="2906713"/>
            <a:ext cx="7772400" cy="1500187"/>
          </a:xfrm>
        </p:spPr>
        <p:txBody>
          <a:bodyPr anchor="b"/>
          <a:lstStyle>
            <a:lvl1pPr marL="0" indent="0">
              <a:buNone/>
              <a:defRPr sz="24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Module #</a:t>
            </a:r>
          </a:p>
        </p:txBody>
      </p:sp>
      <p:cxnSp>
        <p:nvCxnSpPr>
          <p:cNvPr id="6" name="Straight Connector 5"/>
          <p:cNvCxnSpPr/>
          <p:nvPr userDrawn="1"/>
        </p:nvCxnSpPr>
        <p:spPr bwMode="auto">
          <a:xfrm>
            <a:off x="685800" y="4419600"/>
            <a:ext cx="7848600" cy="0"/>
          </a:xfrm>
          <a:prstGeom prst="line">
            <a:avLst/>
          </a:prstGeom>
          <a:solidFill>
            <a:schemeClr val="accent1"/>
          </a:solidFill>
          <a:ln w="28575" cap="flat" cmpd="sng" algn="ctr">
            <a:solidFill>
              <a:srgbClr val="C1D82F"/>
            </a:solidFill>
            <a:prstDash val="solid"/>
            <a:round/>
            <a:headEnd type="none" w="med" len="med"/>
            <a:tailEnd type="none" w="med" len="med"/>
          </a:ln>
          <a:effectLst/>
        </p:spPr>
      </p:cxnSp>
    </p:spTree>
    <p:extLst>
      <p:ext uri="{BB962C8B-B14F-4D97-AF65-F5344CB8AC3E}">
        <p14:creationId xmlns:p14="http://schemas.microsoft.com/office/powerpoint/2010/main" val="12160845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AEEF"/>
            </a:gs>
            <a:gs pos="100000">
              <a:schemeClr val="tx1"/>
            </a:gs>
          </a:gsLst>
          <a:lin ang="5400000" scaled="1"/>
        </a:gradFill>
        <a:effectLst/>
      </p:bgPr>
    </p:bg>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bwMode="auto">
          <a:xfrm>
            <a:off x="301625" y="228600"/>
            <a:ext cx="8510588" cy="533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4099" name="Rectangle 3"/>
          <p:cNvSpPr>
            <a:spLocks noGrp="1" noRot="1" noChangeArrowheads="1"/>
          </p:cNvSpPr>
          <p:nvPr>
            <p:ph type="body" idx="1"/>
          </p:nvPr>
        </p:nvSpPr>
        <p:spPr bwMode="auto">
          <a:xfrm>
            <a:off x="301625" y="914400"/>
            <a:ext cx="8540750" cy="5184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p:txBody>
      </p:sp>
      <p:sp>
        <p:nvSpPr>
          <p:cNvPr id="4102" name="Rectangle 6"/>
          <p:cNvSpPr>
            <a:spLocks noGrp="1" noChangeArrowheads="1"/>
          </p:cNvSpPr>
          <p:nvPr>
            <p:ph type="sldNum" sz="quarter" idx="4"/>
          </p:nvPr>
        </p:nvSpPr>
        <p:spPr bwMode="auto">
          <a:xfrm>
            <a:off x="304800" y="6248400"/>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solidFill>
                  <a:srgbClr val="000000"/>
                </a:solidFill>
                <a:effectLst>
                  <a:outerShdw blurRad="38100" dist="38100" dir="2700000" algn="tl">
                    <a:srgbClr val="FFFFFF"/>
                  </a:outerShdw>
                </a:effectLst>
                <a:latin typeface="+mj-lt"/>
              </a:defRPr>
            </a:lvl1pPr>
          </a:lstStyle>
          <a:p>
            <a:fld id="{2B92AE9C-49E5-4BD3-9210-8616C2D6A037}" type="slidenum">
              <a:rPr lang="en-US"/>
              <a:pPr/>
              <a:t>‹#›</a:t>
            </a:fld>
            <a:endParaRPr lang="en-US"/>
          </a:p>
        </p:txBody>
      </p:sp>
      <p:pic>
        <p:nvPicPr>
          <p:cNvPr id="4108" name="Picture 12" descr="half dropleaf"/>
          <p:cNvPicPr>
            <a:picLocks noChangeAspect="1" noChangeArrowheads="1"/>
          </p:cNvPicPr>
          <p:nvPr userDrawn="1"/>
        </p:nvPicPr>
        <p:blipFill>
          <a:blip r:embed="rId6" cstate="print">
            <a:clrChange>
              <a:clrFrom>
                <a:srgbClr val="FFFFFF"/>
              </a:clrFrom>
              <a:clrTo>
                <a:srgbClr val="FFFFFF">
                  <a:alpha val="0"/>
                </a:srgbClr>
              </a:clrTo>
            </a:clrChange>
          </a:blip>
          <a:srcRect/>
          <a:stretch>
            <a:fillRect/>
          </a:stretch>
        </p:blipFill>
        <p:spPr bwMode="auto">
          <a:xfrm>
            <a:off x="8139113" y="4041775"/>
            <a:ext cx="1004887" cy="2816225"/>
          </a:xfrm>
          <a:prstGeom prst="rect">
            <a:avLst/>
          </a:prstGeom>
          <a:noFill/>
        </p:spPr>
      </p:pic>
    </p:spTree>
  </p:cSld>
  <p:clrMap bg1="dk2" tx1="lt1" bg2="dk1" tx2="lt2" accent1="accent1" accent2="accent2" accent3="accent3" accent4="accent4" accent5="accent5" accent6="accent6" hlink="hlink" folHlink="folHlink"/>
  <p:sldLayoutIdLst>
    <p:sldLayoutId id="2147483650" r:id="rId1"/>
    <p:sldLayoutId id="2147483659" r:id="rId2"/>
    <p:sldLayoutId id="2147483704" r:id="rId3"/>
    <p:sldLayoutId id="2147483721" r:id="rId4"/>
  </p:sldLayoutIdLst>
  <p:hf hdr="0" ftr="0" dt="0"/>
  <p:txStyles>
    <p:titleStyle>
      <a:lvl1pPr algn="l" rtl="0" fontAlgn="base">
        <a:spcBef>
          <a:spcPct val="0"/>
        </a:spcBef>
        <a:spcAft>
          <a:spcPct val="0"/>
        </a:spcAft>
        <a:defRPr sz="2400">
          <a:solidFill>
            <a:srgbClr val="004B9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AEEF"/>
            </a:gs>
            <a:gs pos="100000">
              <a:schemeClr val="tx1"/>
            </a:gs>
          </a:gsLst>
          <a:lin ang="5400000" scaled="1"/>
        </a:gradFill>
        <a:effectLst/>
      </p:bgPr>
    </p:bg>
    <p:spTree>
      <p:nvGrpSpPr>
        <p:cNvPr id="1" name=""/>
        <p:cNvGrpSpPr/>
        <p:nvPr/>
      </p:nvGrpSpPr>
      <p:grpSpPr>
        <a:xfrm>
          <a:off x="0" y="0"/>
          <a:ext cx="0" cy="0"/>
          <a:chOff x="0" y="0"/>
          <a:chExt cx="0" cy="0"/>
        </a:xfrm>
      </p:grpSpPr>
      <p:sp>
        <p:nvSpPr>
          <p:cNvPr id="6" name="Rectangle 5"/>
          <p:cNvSpPr/>
          <p:nvPr userDrawn="1"/>
        </p:nvSpPr>
        <p:spPr bwMode="auto">
          <a:xfrm>
            <a:off x="0" y="0"/>
            <a:ext cx="9144000" cy="685800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4099" name="Rectangle 3"/>
          <p:cNvSpPr>
            <a:spLocks noGrp="1" noRot="1" noChangeArrowheads="1"/>
          </p:cNvSpPr>
          <p:nvPr>
            <p:ph type="body" idx="1"/>
          </p:nvPr>
        </p:nvSpPr>
        <p:spPr bwMode="auto">
          <a:xfrm>
            <a:off x="301625" y="990600"/>
            <a:ext cx="8540750" cy="5108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p:txBody>
      </p:sp>
      <p:sp>
        <p:nvSpPr>
          <p:cNvPr id="4102" name="Rectangle 6"/>
          <p:cNvSpPr>
            <a:spLocks noGrp="1" noChangeArrowheads="1"/>
          </p:cNvSpPr>
          <p:nvPr>
            <p:ph type="sldNum" sz="quarter" idx="4"/>
          </p:nvPr>
        </p:nvSpPr>
        <p:spPr bwMode="auto">
          <a:xfrm>
            <a:off x="304800" y="6248400"/>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solidFill>
                  <a:srgbClr val="000000"/>
                </a:solidFill>
                <a:effectLst>
                  <a:outerShdw blurRad="38100" dist="38100" dir="2700000" algn="tl">
                    <a:srgbClr val="FFFFFF"/>
                  </a:outerShdw>
                </a:effectLst>
                <a:latin typeface="+mj-lt"/>
              </a:defRPr>
            </a:lvl1pPr>
          </a:lstStyle>
          <a:p>
            <a:fld id="{2B92AE9C-49E5-4BD3-9210-8616C2D6A037}" type="slidenum">
              <a:rPr lang="en-US"/>
              <a:pPr/>
              <a:t>‹#›</a:t>
            </a:fld>
            <a:endParaRPr lang="en-US"/>
          </a:p>
        </p:txBody>
      </p:sp>
      <p:pic>
        <p:nvPicPr>
          <p:cNvPr id="4108" name="Picture 12" descr="half dropleaf"/>
          <p:cNvPicPr>
            <a:picLocks noChangeAspect="1" noChangeArrowheads="1"/>
          </p:cNvPicPr>
          <p:nvPr userDrawn="1"/>
        </p:nvPicPr>
        <p:blipFill>
          <a:blip r:embed="rId4" cstate="print">
            <a:clrChange>
              <a:clrFrom>
                <a:srgbClr val="FFFFFF"/>
              </a:clrFrom>
              <a:clrTo>
                <a:srgbClr val="FFFFFF">
                  <a:alpha val="0"/>
                </a:srgbClr>
              </a:clrTo>
            </a:clrChange>
          </a:blip>
          <a:srcRect/>
          <a:stretch>
            <a:fillRect/>
          </a:stretch>
        </p:blipFill>
        <p:spPr bwMode="auto">
          <a:xfrm>
            <a:off x="8139113" y="4041775"/>
            <a:ext cx="1004887" cy="2816225"/>
          </a:xfrm>
          <a:prstGeom prst="rect">
            <a:avLst/>
          </a:prstGeom>
          <a:noFill/>
        </p:spPr>
      </p:pic>
      <p:sp>
        <p:nvSpPr>
          <p:cNvPr id="7" name="Rectangle 6"/>
          <p:cNvSpPr/>
          <p:nvPr userDrawn="1"/>
        </p:nvSpPr>
        <p:spPr bwMode="auto">
          <a:xfrm>
            <a:off x="0" y="0"/>
            <a:ext cx="9144000" cy="914400"/>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4098" name="Rectangle 2"/>
          <p:cNvSpPr>
            <a:spLocks noGrp="1" noRot="1" noChangeArrowheads="1"/>
          </p:cNvSpPr>
          <p:nvPr>
            <p:ph type="title"/>
          </p:nvPr>
        </p:nvSpPr>
        <p:spPr bwMode="auto">
          <a:xfrm>
            <a:off x="301625" y="228600"/>
            <a:ext cx="8510588" cy="533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Tree>
  </p:cSld>
  <p:clrMap bg1="dk2" tx1="lt1" bg2="dk1" tx2="lt2" accent1="accent1" accent2="accent2" accent3="accent3" accent4="accent4" accent5="accent5" accent6="accent6" hlink="hlink" folHlink="folHlink"/>
  <p:sldLayoutIdLst>
    <p:sldLayoutId id="2147483699" r:id="rId1"/>
    <p:sldLayoutId id="2147483705" r:id="rId2"/>
  </p:sldLayoutIdLst>
  <p:hf hdr="0" ftr="0" dt="0"/>
  <p:txStyles>
    <p:titleStyle>
      <a:lvl1pPr algn="l" rtl="0" fontAlgn="base">
        <a:spcBef>
          <a:spcPct val="0"/>
        </a:spcBef>
        <a:spcAft>
          <a:spcPct val="0"/>
        </a:spcAft>
        <a:defRPr sz="24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AEEF"/>
            </a:gs>
            <a:gs pos="100000">
              <a:schemeClr val="tx1"/>
            </a:gs>
          </a:gsLst>
          <a:lin ang="5400000" scaled="1"/>
        </a:gradFill>
        <a:effectLst/>
      </p:bgPr>
    </p:bg>
    <p:spTree>
      <p:nvGrpSpPr>
        <p:cNvPr id="1" name=""/>
        <p:cNvGrpSpPr/>
        <p:nvPr/>
      </p:nvGrpSpPr>
      <p:grpSpPr>
        <a:xfrm>
          <a:off x="0" y="0"/>
          <a:ext cx="0" cy="0"/>
          <a:chOff x="0" y="0"/>
          <a:chExt cx="0" cy="0"/>
        </a:xfrm>
      </p:grpSpPr>
      <p:sp>
        <p:nvSpPr>
          <p:cNvPr id="6" name="Rectangle 5"/>
          <p:cNvSpPr/>
          <p:nvPr userDrawn="1"/>
        </p:nvSpPr>
        <p:spPr bwMode="auto">
          <a:xfrm>
            <a:off x="0" y="0"/>
            <a:ext cx="9144000" cy="685800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mtClean="0">
              <a:solidFill>
                <a:srgbClr val="FFFFFF"/>
              </a:solidFill>
            </a:endParaRPr>
          </a:p>
        </p:txBody>
      </p:sp>
      <p:sp>
        <p:nvSpPr>
          <p:cNvPr id="4099" name="Rectangle 3"/>
          <p:cNvSpPr>
            <a:spLocks noGrp="1" noRot="1" noChangeArrowheads="1"/>
          </p:cNvSpPr>
          <p:nvPr>
            <p:ph type="body" idx="1"/>
          </p:nvPr>
        </p:nvSpPr>
        <p:spPr bwMode="auto">
          <a:xfrm>
            <a:off x="301625" y="990600"/>
            <a:ext cx="8540750" cy="5108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p:txBody>
      </p:sp>
      <p:sp>
        <p:nvSpPr>
          <p:cNvPr id="4102" name="Rectangle 6"/>
          <p:cNvSpPr>
            <a:spLocks noGrp="1" noChangeArrowheads="1"/>
          </p:cNvSpPr>
          <p:nvPr>
            <p:ph type="sldNum" sz="quarter" idx="4"/>
          </p:nvPr>
        </p:nvSpPr>
        <p:spPr bwMode="auto">
          <a:xfrm>
            <a:off x="304800" y="6248400"/>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solidFill>
                  <a:schemeClr val="accent4">
                    <a:lumMod val="10000"/>
                  </a:schemeClr>
                </a:solidFill>
                <a:effectLst/>
                <a:latin typeface="+mj-lt"/>
              </a:defRPr>
            </a:lvl1pPr>
          </a:lstStyle>
          <a:p>
            <a:fld id="{540A7A92-339F-4BEF-94DC-EEB42836BE61}" type="slidenum">
              <a:rPr lang="en-US" smtClean="0"/>
              <a:t>‹#›</a:t>
            </a:fld>
            <a:endParaRPr lang="en-US" dirty="0"/>
          </a:p>
        </p:txBody>
      </p:sp>
      <p:sp>
        <p:nvSpPr>
          <p:cNvPr id="8" name="Rectangle 7"/>
          <p:cNvSpPr/>
          <p:nvPr userDrawn="1"/>
        </p:nvSpPr>
        <p:spPr bwMode="auto">
          <a:xfrm>
            <a:off x="0" y="0"/>
            <a:ext cx="9144000" cy="914400"/>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4098" name="Rectangle 2"/>
          <p:cNvSpPr>
            <a:spLocks noGrp="1" noRot="1" noChangeArrowheads="1"/>
          </p:cNvSpPr>
          <p:nvPr>
            <p:ph type="title"/>
          </p:nvPr>
        </p:nvSpPr>
        <p:spPr bwMode="auto">
          <a:xfrm>
            <a:off x="301625" y="228600"/>
            <a:ext cx="8510588" cy="533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Tree>
    <p:extLst>
      <p:ext uri="{BB962C8B-B14F-4D97-AF65-F5344CB8AC3E}">
        <p14:creationId xmlns:p14="http://schemas.microsoft.com/office/powerpoint/2010/main" val="4170130344"/>
      </p:ext>
    </p:extLst>
  </p:cSld>
  <p:clrMap bg1="dk2" tx1="lt1" bg2="dk1" tx2="lt2" accent1="accent1" accent2="accent2" accent3="accent3" accent4="accent4" accent5="accent5" accent6="accent6" hlink="hlink" folHlink="folHlink"/>
  <p:sldLayoutIdLst>
    <p:sldLayoutId id="2147483701" r:id="rId1"/>
    <p:sldLayoutId id="2147483702" r:id="rId2"/>
    <p:sldLayoutId id="2147483703" r:id="rId3"/>
  </p:sldLayoutIdLst>
  <p:hf hdr="0" ftr="0" dt="0"/>
  <p:txStyles>
    <p:titleStyle>
      <a:lvl1pPr algn="l" rtl="0" fontAlgn="base">
        <a:spcBef>
          <a:spcPct val="0"/>
        </a:spcBef>
        <a:spcAft>
          <a:spcPct val="0"/>
        </a:spcAft>
        <a:defRPr sz="24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12.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tags" Target="../tags/tag2.xml"/><Relationship Id="rId16" Type="http://schemas.openxmlformats.org/officeDocument/2006/relationships/image" Target="../media/image15.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0.emf"/><Relationship Id="rId5" Type="http://schemas.openxmlformats.org/officeDocument/2006/relationships/tags" Target="../tags/tag5.xml"/><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tags" Target="../tags/tag4.xml"/><Relationship Id="rId9" Type="http://schemas.openxmlformats.org/officeDocument/2006/relationships/slideLayout" Target="../slideLayouts/slideLayout7.xml"/><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jpeg"/></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37.gif"/><Relationship Id="rId4" Type="http://schemas.openxmlformats.org/officeDocument/2006/relationships/image" Target="../media/image36.gif"/></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43.png"/><Relationship Id="rId5" Type="http://schemas.openxmlformats.org/officeDocument/2006/relationships/oleObject" Target="../embeddings/oleObject2.bin"/><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6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6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1.xml"/><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8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6.png"/></Relationships>
</file>

<file path=ppt/slides/_rels/slide8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4.xml"/><Relationship Id="rId1" Type="http://schemas.openxmlformats.org/officeDocument/2006/relationships/slideLayout" Target="../slideLayouts/slideLayout7.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5.xml"/><Relationship Id="rId1" Type="http://schemas.openxmlformats.org/officeDocument/2006/relationships/slideLayout" Target="../slideLayouts/slideLayout7.xml"/><Relationship Id="rId5" Type="http://schemas.openxmlformats.org/officeDocument/2006/relationships/image" Target="../media/image63.png"/><Relationship Id="rId4" Type="http://schemas.openxmlformats.org/officeDocument/2006/relationships/image" Target="../media/image62.png"/></Relationships>
</file>

<file path=ppt/slides/_rels/slide9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59.jpeg"/><Relationship Id="rId7" Type="http://schemas.openxmlformats.org/officeDocument/2006/relationships/image" Target="../media/image58.jpeg"/><Relationship Id="rId2" Type="http://schemas.openxmlformats.org/officeDocument/2006/relationships/notesSlide" Target="../notesSlides/notesSlide68.xml"/><Relationship Id="rId1" Type="http://schemas.openxmlformats.org/officeDocument/2006/relationships/slideLayout" Target="../slideLayouts/slideLayout7.xml"/><Relationship Id="rId6" Type="http://schemas.openxmlformats.org/officeDocument/2006/relationships/image" Target="../media/image67.jpeg"/><Relationship Id="rId5" Type="http://schemas.openxmlformats.org/officeDocument/2006/relationships/image" Target="../media/image61.jpeg"/><Relationship Id="rId4" Type="http://schemas.openxmlformats.org/officeDocument/2006/relationships/image" Target="../media/image60.jpeg"/></Relationships>
</file>

<file path=ppt/slides/_rels/slide96.xml.rels><?xml version="1.0" encoding="UTF-8" standalone="yes"?>
<Relationships xmlns="http://schemas.openxmlformats.org/package/2006/relationships"><Relationship Id="rId3" Type="http://schemas.openxmlformats.org/officeDocument/2006/relationships/image" Target="../media/image58.jpeg"/><Relationship Id="rId7" Type="http://schemas.openxmlformats.org/officeDocument/2006/relationships/image" Target="../media/image67.jpeg"/><Relationship Id="rId2" Type="http://schemas.openxmlformats.org/officeDocument/2006/relationships/notesSlide" Target="../notesSlides/notesSlide69.xml"/><Relationship Id="rId1" Type="http://schemas.openxmlformats.org/officeDocument/2006/relationships/slideLayout" Target="../slideLayouts/slideLayout7.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s>
</file>

<file path=ppt/slides/_rels/slide9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3.xml"/><Relationship Id="rId1" Type="http://schemas.openxmlformats.org/officeDocument/2006/relationships/slideLayout" Target="../slideLayouts/slideLayout7.xml"/><Relationship Id="rId6" Type="http://schemas.openxmlformats.org/officeDocument/2006/relationships/image" Target="../media/image71.jpeg"/><Relationship Id="rId5" Type="http://schemas.openxmlformats.org/officeDocument/2006/relationships/image" Target="../media/image70.png"/><Relationship Id="rId4" Type="http://schemas.openxmlformats.org/officeDocument/2006/relationships/image" Target="../media/image69.jpeg"/></Relationships>
</file>

<file path=ppt/slides/_rels/slide10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4.xml"/><Relationship Id="rId1" Type="http://schemas.openxmlformats.org/officeDocument/2006/relationships/slideLayout" Target="../slideLayouts/slideLayout7.xml"/><Relationship Id="rId5" Type="http://schemas.openxmlformats.org/officeDocument/2006/relationships/image" Target="../media/image74.png"/><Relationship Id="rId4" Type="http://schemas.openxmlformats.org/officeDocument/2006/relationships/image" Target="../media/image73.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8.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1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81.xml"/><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61.jpeg"/><Relationship Id="rId4" Type="http://schemas.openxmlformats.org/officeDocument/2006/relationships/image" Target="../media/image60.jpeg"/></Relationships>
</file>

<file path=ppt/slides/_rels/slide11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1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12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12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13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1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91.xml"/><Relationship Id="rId1" Type="http://schemas.openxmlformats.org/officeDocument/2006/relationships/slideLayout" Target="../slideLayouts/slideLayout7.xml"/><Relationship Id="rId5" Type="http://schemas.openxmlformats.org/officeDocument/2006/relationships/image" Target="../media/image104.png"/><Relationship Id="rId4" Type="http://schemas.openxmlformats.org/officeDocument/2006/relationships/image" Target="../media/image103.png"/></Relationships>
</file>

<file path=ppt/slides/_rels/slide13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94.xml"/><Relationship Id="rId1" Type="http://schemas.openxmlformats.org/officeDocument/2006/relationships/slideLayout" Target="../slideLayouts/slideLayout7.xml"/><Relationship Id="rId5" Type="http://schemas.openxmlformats.org/officeDocument/2006/relationships/image" Target="../media/image104.png"/><Relationship Id="rId4" Type="http://schemas.openxmlformats.org/officeDocument/2006/relationships/image" Target="../media/image103.png"/></Relationships>
</file>

<file path=ppt/slides/_rels/slide14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6.png"/><Relationship Id="rId1" Type="http://schemas.openxmlformats.org/officeDocument/2006/relationships/slideLayout" Target="../slideLayouts/slideLayout7.xml"/><Relationship Id="rId4" Type="http://schemas.openxmlformats.org/officeDocument/2006/relationships/image" Target="../media/image104.png"/></Relationships>
</file>

<file path=ppt/slides/_rels/slide14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97.xml"/><Relationship Id="rId1" Type="http://schemas.openxmlformats.org/officeDocument/2006/relationships/slideLayout" Target="../slideLayouts/slideLayout7.xml"/><Relationship Id="rId5" Type="http://schemas.openxmlformats.org/officeDocument/2006/relationships/image" Target="../media/image109.png"/><Relationship Id="rId4" Type="http://schemas.openxmlformats.org/officeDocument/2006/relationships/image" Target="../media/image108.png"/></Relationships>
</file>

<file path=ppt/slides/_rels/slide14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notesSlide" Target="../notesSlides/notesSlide98.xml"/><Relationship Id="rId1" Type="http://schemas.openxmlformats.org/officeDocument/2006/relationships/slideLayout" Target="../slideLayouts/slideLayout7.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151.xml.rels><?xml version="1.0" encoding="UTF-8" standalone="yes"?>
<Relationships xmlns="http://schemas.openxmlformats.org/package/2006/relationships"><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notesSlide" Target="../notesSlides/notesSlide99.xml"/><Relationship Id="rId1" Type="http://schemas.openxmlformats.org/officeDocument/2006/relationships/slideLayout" Target="../slideLayouts/slideLayout7.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15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00.xml"/><Relationship Id="rId1" Type="http://schemas.openxmlformats.org/officeDocument/2006/relationships/slideLayout" Target="../slideLayouts/slideLayout7.xml"/><Relationship Id="rId6" Type="http://schemas.openxmlformats.org/officeDocument/2006/relationships/image" Target="../media/image113.png"/><Relationship Id="rId5" Type="http://schemas.openxmlformats.org/officeDocument/2006/relationships/image" Target="../media/image122.png"/><Relationship Id="rId4" Type="http://schemas.openxmlformats.org/officeDocument/2006/relationships/image" Target="../media/image121.png"/></Relationships>
</file>

<file path=ppt/slides/_rels/slide15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8.xml"/></Relationships>
</file>

<file path=ppt/slides/_rels/slide16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124.jpe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rrowheads="1"/>
          </p:cNvSpPr>
          <p:nvPr>
            <p:ph type="ctrTitle"/>
          </p:nvPr>
        </p:nvSpPr>
        <p:spPr/>
        <p:txBody>
          <a:bodyPr/>
          <a:lstStyle/>
          <a:p>
            <a:r>
              <a:rPr lang="en-US" dirty="0" smtClean="0"/>
              <a:t>SAP</a:t>
            </a:r>
            <a:br>
              <a:rPr lang="en-US" dirty="0" smtClean="0"/>
            </a:br>
            <a:r>
              <a:rPr lang="en-US" dirty="0" smtClean="0"/>
              <a:t>ECC Basic Navigation</a:t>
            </a:r>
            <a:endParaRPr 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Welcome</a:t>
            </a:r>
            <a:endParaRPr lang="en-US" dirty="0"/>
          </a:p>
        </p:txBody>
      </p:sp>
      <p:sp>
        <p:nvSpPr>
          <p:cNvPr id="3" name="Content Placeholder 2"/>
          <p:cNvSpPr>
            <a:spLocks noGrp="1"/>
          </p:cNvSpPr>
          <p:nvPr>
            <p:ph idx="1"/>
          </p:nvPr>
        </p:nvSpPr>
        <p:spPr/>
        <p:txBody>
          <a:bodyPr/>
          <a:lstStyle/>
          <a:p>
            <a:pPr>
              <a:spcAft>
                <a:spcPts val="300"/>
              </a:spcAft>
            </a:pPr>
            <a:r>
              <a:rPr lang="en-US" dirty="0"/>
              <a:t>This course consists of discussions about new concepts and processes, demonstrations, exercises, and quick reference materials. During the course, we will…</a:t>
            </a:r>
          </a:p>
          <a:p>
            <a:pPr marL="341313" indent="-342900" eaLnBrk="0" hangingPunct="0">
              <a:spcAft>
                <a:spcPts val="300"/>
              </a:spcAft>
              <a:buFont typeface="Arial" pitchFamily="34" charset="0"/>
              <a:buChar char="•"/>
              <a:tabLst>
                <a:tab pos="228600" algn="l"/>
              </a:tabLst>
            </a:pPr>
            <a:r>
              <a:rPr lang="en-US" dirty="0"/>
              <a:t>Prepare you for what is new or </a:t>
            </a:r>
            <a:r>
              <a:rPr lang="en-US" dirty="0" smtClean="0"/>
              <a:t>changing</a:t>
            </a:r>
            <a:endParaRPr lang="en-US" dirty="0"/>
          </a:p>
          <a:p>
            <a:pPr marL="341313" indent="-342900" eaLnBrk="0" hangingPunct="0">
              <a:spcAft>
                <a:spcPts val="300"/>
              </a:spcAft>
              <a:buFont typeface="Arial" pitchFamily="34" charset="0"/>
              <a:buChar char="•"/>
              <a:tabLst>
                <a:tab pos="228600" algn="l"/>
              </a:tabLst>
            </a:pPr>
            <a:r>
              <a:rPr lang="en-US" dirty="0"/>
              <a:t>Tell you what you will be able to </a:t>
            </a:r>
            <a:r>
              <a:rPr lang="en-US" dirty="0" smtClean="0"/>
              <a:t>do</a:t>
            </a:r>
            <a:endParaRPr lang="en-US" dirty="0"/>
          </a:p>
          <a:p>
            <a:pPr marL="341313" indent="-342900" eaLnBrk="0" hangingPunct="0">
              <a:spcAft>
                <a:spcPts val="300"/>
              </a:spcAft>
              <a:buFont typeface="Arial" pitchFamily="34" charset="0"/>
              <a:buChar char="•"/>
              <a:tabLst>
                <a:tab pos="228600" algn="l"/>
              </a:tabLst>
            </a:pPr>
            <a:r>
              <a:rPr lang="en-US" dirty="0"/>
              <a:t>Show you how to complete transactions in </a:t>
            </a:r>
            <a:r>
              <a:rPr lang="en-US" dirty="0" smtClean="0"/>
              <a:t>SAP</a:t>
            </a:r>
            <a:endParaRPr lang="en-US" dirty="0"/>
          </a:p>
          <a:p>
            <a:pPr marL="341313" indent="-342900" eaLnBrk="0" hangingPunct="0">
              <a:spcAft>
                <a:spcPts val="300"/>
              </a:spcAft>
              <a:buFont typeface="Arial" pitchFamily="34" charset="0"/>
              <a:buChar char="•"/>
              <a:tabLst>
                <a:tab pos="228600" algn="l"/>
              </a:tabLst>
            </a:pPr>
            <a:r>
              <a:rPr lang="en-US" dirty="0"/>
              <a:t>Let you practice in a structured environment and learn from your </a:t>
            </a:r>
            <a:r>
              <a:rPr lang="en-US" dirty="0" smtClean="0"/>
              <a:t>mistakes</a:t>
            </a:r>
            <a:endParaRPr lang="en-US" dirty="0"/>
          </a:p>
          <a:p>
            <a:pPr marL="341313" indent="-342900" eaLnBrk="0" hangingPunct="0">
              <a:spcAft>
                <a:spcPts val="300"/>
              </a:spcAft>
              <a:buFont typeface="Arial" pitchFamily="34" charset="0"/>
              <a:buChar char="•"/>
              <a:tabLst>
                <a:tab pos="228600" algn="l"/>
              </a:tabLst>
            </a:pPr>
            <a:r>
              <a:rPr lang="en-US" dirty="0"/>
              <a:t>Help you use quick reference materials</a:t>
            </a:r>
          </a:p>
          <a:p>
            <a:endParaRPr lang="en-US" dirty="0"/>
          </a:p>
        </p:txBody>
      </p:sp>
      <p:pic>
        <p:nvPicPr>
          <p:cNvPr id="6" name="Picture 3" descr="C:\Users\cdickerson\Downloads\shutterstock_43156969_med.jpg"/>
          <p:cNvPicPr>
            <a:picLocks noChangeAspect="1" noChangeArrowheads="1"/>
          </p:cNvPicPr>
          <p:nvPr/>
        </p:nvPicPr>
        <p:blipFill>
          <a:blip r:embed="rId2" cstate="print"/>
          <a:srcRect/>
          <a:stretch>
            <a:fillRect/>
          </a:stretch>
        </p:blipFill>
        <p:spPr bwMode="auto">
          <a:xfrm>
            <a:off x="5867401" y="3816009"/>
            <a:ext cx="2842742" cy="2404485"/>
          </a:xfrm>
          <a:prstGeom prst="rect">
            <a:avLst/>
          </a:prstGeom>
          <a:noFill/>
        </p:spPr>
      </p:pic>
    </p:spTree>
    <p:extLst>
      <p:ext uri="{BB962C8B-B14F-4D97-AF65-F5344CB8AC3E}">
        <p14:creationId xmlns:p14="http://schemas.microsoft.com/office/powerpoint/2010/main" val="2060288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Components</a:t>
            </a:r>
            <a:endParaRPr lang="en-US" dirty="0"/>
          </a:p>
        </p:txBody>
      </p:sp>
      <p:sp>
        <p:nvSpPr>
          <p:cNvPr id="3" name="Content Placeholder 2"/>
          <p:cNvSpPr>
            <a:spLocks noGrp="1"/>
          </p:cNvSpPr>
          <p:nvPr>
            <p:ph idx="1"/>
          </p:nvPr>
        </p:nvSpPr>
        <p:spPr/>
        <p:txBody>
          <a:bodyPr/>
          <a:lstStyle/>
          <a:p>
            <a:pPr marL="284163" indent="-285750" eaLnBrk="0" hangingPunct="0">
              <a:buFont typeface="Arial" pitchFamily="34" charset="0"/>
              <a:buChar char="•"/>
              <a:tabLst>
                <a:tab pos="228600" algn="l"/>
              </a:tabLst>
            </a:pPr>
            <a:r>
              <a:rPr lang="en-US" sz="1800" dirty="0">
                <a:latin typeface="Verdana"/>
              </a:rPr>
              <a:t>Participant Guide</a:t>
            </a:r>
          </a:p>
          <a:p>
            <a:pPr marL="568325" lvl="1" eaLnBrk="0" hangingPunct="0">
              <a:buClr>
                <a:srgbClr val="004B91"/>
              </a:buClr>
              <a:buFont typeface="Courier New" pitchFamily="49" charset="0"/>
              <a:buChar char="o"/>
              <a:tabLst>
                <a:tab pos="228600" algn="l"/>
              </a:tabLst>
            </a:pPr>
            <a:r>
              <a:rPr lang="en-US" sz="1800" dirty="0">
                <a:latin typeface="Verdana"/>
              </a:rPr>
              <a:t>Concepts</a:t>
            </a:r>
          </a:p>
          <a:p>
            <a:pPr marL="568325" lvl="1" eaLnBrk="0" hangingPunct="0">
              <a:buClr>
                <a:srgbClr val="004B91"/>
              </a:buClr>
              <a:buFont typeface="Courier New" pitchFamily="49" charset="0"/>
              <a:buChar char="o"/>
              <a:tabLst>
                <a:tab pos="228600" algn="l"/>
              </a:tabLst>
            </a:pPr>
            <a:r>
              <a:rPr lang="en-US" sz="1800" dirty="0">
                <a:latin typeface="Verdana"/>
              </a:rPr>
              <a:t>Check Your Understandings</a:t>
            </a:r>
          </a:p>
          <a:p>
            <a:pPr marL="284163" indent="-285750" eaLnBrk="0" hangingPunct="0">
              <a:buFont typeface="Arial" pitchFamily="34" charset="0"/>
              <a:buChar char="•"/>
              <a:tabLst>
                <a:tab pos="228600" algn="l"/>
              </a:tabLst>
            </a:pPr>
            <a:r>
              <a:rPr lang="en-US" sz="1800" dirty="0" smtClean="0">
                <a:latin typeface="Verdana"/>
              </a:rPr>
              <a:t>Activity </a:t>
            </a:r>
            <a:r>
              <a:rPr lang="en-US" sz="1800" dirty="0">
                <a:latin typeface="Verdana"/>
              </a:rPr>
              <a:t>Guide</a:t>
            </a:r>
          </a:p>
          <a:p>
            <a:pPr marL="568325" lvl="1" eaLnBrk="0" hangingPunct="0">
              <a:buClr>
                <a:srgbClr val="004B91"/>
              </a:buClr>
              <a:buFont typeface="Courier New" pitchFamily="49" charset="0"/>
              <a:buChar char="o"/>
              <a:tabLst>
                <a:tab pos="228600" algn="l"/>
              </a:tabLst>
            </a:pPr>
            <a:r>
              <a:rPr lang="en-US" sz="1800" dirty="0">
                <a:latin typeface="Verdana"/>
              </a:rPr>
              <a:t>Work Instructions</a:t>
            </a:r>
          </a:p>
          <a:p>
            <a:pPr marL="568325" lvl="1" eaLnBrk="0" hangingPunct="0">
              <a:buClr>
                <a:srgbClr val="004B91"/>
              </a:buClr>
              <a:buFont typeface="Courier New" pitchFamily="49" charset="0"/>
              <a:buChar char="o"/>
              <a:tabLst>
                <a:tab pos="228600" algn="l"/>
              </a:tabLst>
            </a:pPr>
            <a:r>
              <a:rPr lang="en-US" sz="1800" dirty="0" smtClean="0">
                <a:latin typeface="Verdana"/>
              </a:rPr>
              <a:t>Exercises/Demonstrations</a:t>
            </a:r>
          </a:p>
          <a:p>
            <a:pPr marL="285750" indent="-285750" eaLnBrk="0" hangingPunct="0">
              <a:buFont typeface="Arial" pitchFamily="34" charset="0"/>
              <a:buChar char="•"/>
              <a:tabLst>
                <a:tab pos="231775" algn="l"/>
              </a:tabLst>
            </a:pPr>
            <a:r>
              <a:rPr lang="en-US" sz="1800" dirty="0" smtClean="0">
                <a:latin typeface="Verdana"/>
              </a:rPr>
              <a:t>Job Aids</a:t>
            </a:r>
            <a:endParaRPr lang="en-US" sz="1800" dirty="0">
              <a:latin typeface="Verdana"/>
            </a:endParaRPr>
          </a:p>
          <a:p>
            <a:pPr marL="284163" indent="-285750" eaLnBrk="0" hangingPunct="0">
              <a:buFont typeface="Arial" pitchFamily="34" charset="0"/>
              <a:buChar char="•"/>
              <a:tabLst>
                <a:tab pos="228600" algn="l"/>
              </a:tabLst>
            </a:pPr>
            <a:r>
              <a:rPr lang="en-US" sz="1800" dirty="0">
                <a:latin typeface="Verdana"/>
              </a:rPr>
              <a:t>Course Evaluation</a:t>
            </a:r>
          </a:p>
          <a:p>
            <a:endParaRPr lang="en-US" dirty="0"/>
          </a:p>
        </p:txBody>
      </p:sp>
      <p:pic>
        <p:nvPicPr>
          <p:cNvPr id="4" name="Picture 2" descr="C:\Users\namudaliar\Documents\Narayanan\Ball Corp\Images\shutterstock_59897182_small.jpg"/>
          <p:cNvPicPr>
            <a:picLocks noChangeAspect="1" noChangeArrowheads="1"/>
          </p:cNvPicPr>
          <p:nvPr/>
        </p:nvPicPr>
        <p:blipFill>
          <a:blip r:embed="rId3" cstate="print"/>
          <a:srcRect/>
          <a:stretch>
            <a:fillRect/>
          </a:stretch>
        </p:blipFill>
        <p:spPr bwMode="auto">
          <a:xfrm>
            <a:off x="5004623" y="3196713"/>
            <a:ext cx="3991897" cy="2993923"/>
          </a:xfrm>
          <a:prstGeom prst="rect">
            <a:avLst/>
          </a:prstGeom>
          <a:noFill/>
        </p:spPr>
      </p:pic>
    </p:spTree>
    <p:extLst>
      <p:ext uri="{BB962C8B-B14F-4D97-AF65-F5344CB8AC3E}">
        <p14:creationId xmlns:p14="http://schemas.microsoft.com/office/powerpoint/2010/main" val="2414834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Ground Rules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52557946"/>
              </p:ext>
            </p:extLst>
          </p:nvPr>
        </p:nvGraphicFramePr>
        <p:xfrm>
          <a:off x="301625" y="990600"/>
          <a:ext cx="8537576" cy="5852160"/>
        </p:xfrm>
        <a:graphic>
          <a:graphicData uri="http://schemas.openxmlformats.org/drawingml/2006/table">
            <a:tbl>
              <a:tblPr>
                <a:tableStyleId>{5C22544A-7EE6-4342-B048-85BDC9FD1C3A}</a:tableStyleId>
              </a:tblPr>
              <a:tblGrid>
                <a:gridCol w="1527175"/>
                <a:gridCol w="2741613"/>
                <a:gridCol w="1525587"/>
                <a:gridCol w="2743201"/>
              </a:tblGrid>
              <a:tr h="370840">
                <a:tc>
                  <a:txBody>
                    <a:bodyPr/>
                    <a:lstStyle/>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solidFill>
                            <a:schemeClr val="bg2"/>
                          </a:solidFill>
                          <a:latin typeface="Verdana" pitchFamily="34" charset="0"/>
                          <a:ea typeface="Verdana" pitchFamily="34" charset="0"/>
                          <a:cs typeface="Verdana" pitchFamily="34" charset="0"/>
                        </a:rPr>
                        <a:t>Sign the attendance sheet</a:t>
                      </a: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solidFill>
                            <a:schemeClr val="bg2"/>
                          </a:solidFill>
                          <a:latin typeface="Verdana" pitchFamily="34" charset="0"/>
                          <a:ea typeface="Verdana" pitchFamily="34" charset="0"/>
                          <a:cs typeface="Verdana" pitchFamily="34" charset="0"/>
                        </a:rPr>
                        <a:t>Help manage activities by starting and stopping on time</a:t>
                      </a: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370840">
                <a:tc>
                  <a:txBody>
                    <a:bodyPr/>
                    <a:lstStyle/>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solidFill>
                            <a:schemeClr val="bg2"/>
                          </a:solidFill>
                          <a:latin typeface="Verdana" pitchFamily="34" charset="0"/>
                          <a:ea typeface="Verdana" pitchFamily="34" charset="0"/>
                          <a:cs typeface="Verdana" pitchFamily="34" charset="0"/>
                        </a:rPr>
                        <a:t>Silence cell phones and pagers</a:t>
                      </a: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solidFill>
                            <a:schemeClr val="bg2"/>
                          </a:solidFill>
                          <a:latin typeface="Verdana" pitchFamily="34" charset="0"/>
                          <a:ea typeface="Verdana" pitchFamily="34" charset="0"/>
                          <a:cs typeface="Verdana" pitchFamily="34" charset="0"/>
                        </a:rPr>
                        <a:t>Actively listen and participate in presentations; </a:t>
                      </a:r>
                      <a:r>
                        <a:rPr lang="en-US" b="0" dirty="0" smtClean="0">
                          <a:solidFill>
                            <a:schemeClr val="bg2"/>
                          </a:solidFill>
                          <a:latin typeface="Verdana" pitchFamily="34" charset="0"/>
                          <a:ea typeface="Verdana" pitchFamily="34" charset="0"/>
                          <a:cs typeface="Verdana" pitchFamily="34" charset="0"/>
                        </a:rPr>
                        <a:t>minimize side conversations</a:t>
                      </a:r>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370840">
                <a:tc>
                  <a:txBody>
                    <a:bodyPr/>
                    <a:lstStyle/>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solidFill>
                            <a:schemeClr val="bg2"/>
                          </a:solidFill>
                          <a:latin typeface="Verdana" pitchFamily="34" charset="0"/>
                          <a:ea typeface="Verdana" pitchFamily="34" charset="0"/>
                          <a:cs typeface="Verdana" pitchFamily="34" charset="0"/>
                        </a:rPr>
                        <a:t>Do not work on computers during instructor presentations</a:t>
                      </a: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solidFill>
                            <a:schemeClr val="bg2"/>
                          </a:solidFill>
                          <a:latin typeface="Verdana" pitchFamily="34" charset="0"/>
                          <a:ea typeface="Verdana" pitchFamily="34" charset="0"/>
                          <a:cs typeface="Verdana" pitchFamily="34" charset="0"/>
                        </a:rPr>
                        <a:t>Check E-mail during breaks ONLY</a:t>
                      </a: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370840">
                <a:tc>
                  <a:txBody>
                    <a:bodyPr/>
                    <a:lstStyle/>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smtClean="0">
                        <a:latin typeface="Verdana" pitchFamily="34" charset="0"/>
                        <a:ea typeface="Verdana" pitchFamily="34" charset="0"/>
                        <a:cs typeface="Verdana" pitchFamily="34" charset="0"/>
                      </a:endParaRP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solidFill>
                            <a:schemeClr val="bg2"/>
                          </a:solidFill>
                          <a:latin typeface="Verdana" pitchFamily="34" charset="0"/>
                          <a:ea typeface="Verdana" pitchFamily="34" charset="0"/>
                          <a:cs typeface="Verdana" pitchFamily="34" charset="0"/>
                        </a:rPr>
                        <a:t>Feel free to </a:t>
                      </a:r>
                      <a:br>
                        <a:rPr lang="en-US" sz="1800" b="0" dirty="0" smtClean="0">
                          <a:solidFill>
                            <a:schemeClr val="bg2"/>
                          </a:solidFill>
                          <a:latin typeface="Verdana" pitchFamily="34" charset="0"/>
                          <a:ea typeface="Verdana" pitchFamily="34" charset="0"/>
                          <a:cs typeface="Verdana" pitchFamily="34" charset="0"/>
                        </a:rPr>
                      </a:br>
                      <a:r>
                        <a:rPr lang="en-US" sz="1800" b="0" dirty="0" smtClean="0">
                          <a:solidFill>
                            <a:schemeClr val="bg2"/>
                          </a:solidFill>
                          <a:latin typeface="Verdana" pitchFamily="34" charset="0"/>
                          <a:ea typeface="Verdana" pitchFamily="34" charset="0"/>
                          <a:cs typeface="Verdana" pitchFamily="34" charset="0"/>
                        </a:rPr>
                        <a:t>ask questions</a:t>
                      </a: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solidFill>
                            <a:schemeClr val="bg2"/>
                          </a:solidFill>
                          <a:latin typeface="Verdana" pitchFamily="34" charset="0"/>
                          <a:ea typeface="Verdana" pitchFamily="34" charset="0"/>
                          <a:cs typeface="Verdana" pitchFamily="34" charset="0"/>
                        </a:rPr>
                        <a:t>Provide feedback to improve training</a:t>
                      </a:r>
                    </a:p>
                    <a:p>
                      <a:endParaRPr lang="en-US" b="0" dirty="0">
                        <a:latin typeface="Verdana" pitchFamily="34" charset="0"/>
                        <a:ea typeface="Verdana" pitchFamily="34" charset="0"/>
                        <a:cs typeface="Verdana"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pic>
        <p:nvPicPr>
          <p:cNvPr id="5" name="Picture 6" descr="C:\Users\amittal\Desktop\png7\note_edit.png"/>
          <p:cNvPicPr>
            <a:picLocks noChangeAspect="1" noChangeArrowheads="1"/>
          </p:cNvPicPr>
          <p:nvPr>
            <p:custDataLst>
              <p:tags r:id="rId1"/>
            </p:custDataLst>
          </p:nvPr>
        </p:nvPicPr>
        <p:blipFill>
          <a:blip r:embed="rId10" cstate="print"/>
          <a:srcRect/>
          <a:stretch>
            <a:fillRect/>
          </a:stretch>
        </p:blipFill>
        <p:spPr bwMode="auto">
          <a:xfrm>
            <a:off x="406400" y="1121768"/>
            <a:ext cx="1154113" cy="1154113"/>
          </a:xfrm>
          <a:prstGeom prst="rect">
            <a:avLst/>
          </a:prstGeom>
          <a:noFill/>
          <a:ln w="9525">
            <a:noFill/>
            <a:miter lim="800000"/>
            <a:headEnd/>
            <a:tailEnd/>
          </a:ln>
        </p:spPr>
      </p:pic>
      <p:pic>
        <p:nvPicPr>
          <p:cNvPr id="6" name="Picture 7"/>
          <p:cNvPicPr>
            <a:picLocks noChangeAspect="1" noChangeArrowheads="1"/>
          </p:cNvPicPr>
          <p:nvPr>
            <p:custDataLst>
              <p:tags r:id="rId2"/>
            </p:custDataLst>
          </p:nvPr>
        </p:nvPicPr>
        <p:blipFill>
          <a:blip r:embed="rId11" cstate="print"/>
          <a:srcRect/>
          <a:stretch>
            <a:fillRect/>
          </a:stretch>
        </p:blipFill>
        <p:spPr bwMode="auto">
          <a:xfrm>
            <a:off x="293687" y="2514600"/>
            <a:ext cx="1379538" cy="1381125"/>
          </a:xfrm>
          <a:prstGeom prst="rect">
            <a:avLst/>
          </a:prstGeom>
          <a:noFill/>
          <a:ln w="9525">
            <a:noFill/>
            <a:miter lim="800000"/>
            <a:headEnd/>
            <a:tailEnd/>
          </a:ln>
        </p:spPr>
      </p:pic>
      <p:pic>
        <p:nvPicPr>
          <p:cNvPr id="7" name="Picture 5" descr="C:\Users\amittal\Desktop\png7\computer_delete.png"/>
          <p:cNvPicPr>
            <a:picLocks noChangeAspect="1" noChangeArrowheads="1"/>
          </p:cNvPicPr>
          <p:nvPr>
            <p:custDataLst>
              <p:tags r:id="rId3"/>
            </p:custDataLst>
          </p:nvPr>
        </p:nvPicPr>
        <p:blipFill>
          <a:blip r:embed="rId12" cstate="print"/>
          <a:srcRect/>
          <a:stretch>
            <a:fillRect/>
          </a:stretch>
        </p:blipFill>
        <p:spPr bwMode="auto">
          <a:xfrm>
            <a:off x="454818" y="4191000"/>
            <a:ext cx="1057275" cy="1057275"/>
          </a:xfrm>
          <a:prstGeom prst="rect">
            <a:avLst/>
          </a:prstGeom>
          <a:noFill/>
          <a:ln w="9525">
            <a:noFill/>
            <a:miter lim="800000"/>
            <a:headEnd/>
            <a:tailEnd/>
          </a:ln>
        </p:spPr>
      </p:pic>
      <p:pic>
        <p:nvPicPr>
          <p:cNvPr id="8" name="Picture 2" descr="C:\Users\amittal\Desktop\Onebit-free-icon-set-2\coquette-part-3-icons-set\png\128x128\old_clock.png"/>
          <p:cNvPicPr>
            <a:picLocks noChangeAspect="1" noChangeArrowheads="1"/>
          </p:cNvPicPr>
          <p:nvPr>
            <p:custDataLst>
              <p:tags r:id="rId4"/>
            </p:custDataLst>
          </p:nvPr>
        </p:nvPicPr>
        <p:blipFill>
          <a:blip r:embed="rId13" cstate="print"/>
          <a:srcRect/>
          <a:stretch>
            <a:fillRect/>
          </a:stretch>
        </p:blipFill>
        <p:spPr bwMode="auto">
          <a:xfrm>
            <a:off x="4573137" y="1013024"/>
            <a:ext cx="1371600" cy="1371600"/>
          </a:xfrm>
          <a:prstGeom prst="rect">
            <a:avLst/>
          </a:prstGeom>
          <a:noFill/>
          <a:ln w="9525">
            <a:noFill/>
            <a:miter lim="800000"/>
            <a:headEnd/>
            <a:tailEnd/>
          </a:ln>
        </p:spPr>
      </p:pic>
      <p:pic>
        <p:nvPicPr>
          <p:cNvPr id="9" name="Picture 4" descr="C:\Users\amittal\Desktop\png7\male_user_comment.png"/>
          <p:cNvPicPr>
            <a:picLocks noChangeAspect="1" noChangeArrowheads="1"/>
          </p:cNvPicPr>
          <p:nvPr>
            <p:custDataLst>
              <p:tags r:id="rId5"/>
            </p:custDataLst>
          </p:nvPr>
        </p:nvPicPr>
        <p:blipFill>
          <a:blip r:embed="rId14" cstate="print"/>
          <a:srcRect/>
          <a:stretch>
            <a:fillRect/>
          </a:stretch>
        </p:blipFill>
        <p:spPr bwMode="auto">
          <a:xfrm>
            <a:off x="4573137" y="2397125"/>
            <a:ext cx="1498600" cy="1498600"/>
          </a:xfrm>
          <a:prstGeom prst="rect">
            <a:avLst/>
          </a:prstGeom>
          <a:noFill/>
          <a:ln w="9525">
            <a:noFill/>
            <a:miter lim="800000"/>
            <a:headEnd/>
            <a:tailEnd/>
          </a:ln>
        </p:spPr>
      </p:pic>
      <p:pic>
        <p:nvPicPr>
          <p:cNvPr id="10" name="Picture 4" descr="C:\Users\amittal\Desktop\png7\yellow_mail.png"/>
          <p:cNvPicPr>
            <a:picLocks noChangeAspect="1" noChangeArrowheads="1"/>
          </p:cNvPicPr>
          <p:nvPr>
            <p:custDataLst>
              <p:tags r:id="rId6"/>
            </p:custDataLst>
          </p:nvPr>
        </p:nvPicPr>
        <p:blipFill>
          <a:blip r:embed="rId15" cstate="print"/>
          <a:srcRect/>
          <a:stretch>
            <a:fillRect/>
          </a:stretch>
        </p:blipFill>
        <p:spPr bwMode="auto">
          <a:xfrm>
            <a:off x="4644574" y="3924228"/>
            <a:ext cx="1300163" cy="1300163"/>
          </a:xfrm>
          <a:prstGeom prst="rect">
            <a:avLst/>
          </a:prstGeom>
          <a:noFill/>
          <a:ln w="9525">
            <a:noFill/>
            <a:miter lim="800000"/>
            <a:headEnd/>
            <a:tailEnd/>
          </a:ln>
        </p:spPr>
      </p:pic>
      <p:pic>
        <p:nvPicPr>
          <p:cNvPr id="11" name="PPTShape_0" descr="C:\Users\amittal\Desktop\png7\help (2).png"/>
          <p:cNvPicPr>
            <a:picLocks noChangeAspect="1" noChangeArrowheads="1"/>
          </p:cNvPicPr>
          <p:nvPr>
            <p:custDataLst>
              <p:tags r:id="rId7"/>
            </p:custDataLst>
          </p:nvPr>
        </p:nvPicPr>
        <p:blipFill>
          <a:blip r:embed="rId16" cstate="print"/>
          <a:srcRect/>
          <a:stretch>
            <a:fillRect/>
          </a:stretch>
        </p:blipFill>
        <p:spPr bwMode="auto">
          <a:xfrm>
            <a:off x="454818" y="5486400"/>
            <a:ext cx="1169988" cy="1169987"/>
          </a:xfrm>
          <a:prstGeom prst="rect">
            <a:avLst/>
          </a:prstGeom>
          <a:noFill/>
          <a:ln w="9525">
            <a:noFill/>
            <a:miter lim="800000"/>
            <a:headEnd/>
            <a:tailEnd/>
          </a:ln>
        </p:spPr>
      </p:pic>
      <p:pic>
        <p:nvPicPr>
          <p:cNvPr id="12" name="Picture 11" descr="C:\Users\amittal\Documents\Deloitte\Projects\Genzyme\ILT Template\Images\png7\edit_male_user.png"/>
          <p:cNvPicPr>
            <a:picLocks noChangeAspect="1" noChangeArrowheads="1"/>
          </p:cNvPicPr>
          <p:nvPr>
            <p:custDataLst>
              <p:tags r:id="rId8"/>
            </p:custDataLst>
          </p:nvPr>
        </p:nvPicPr>
        <p:blipFill>
          <a:blip r:embed="rId17" cstate="print"/>
          <a:srcRect/>
          <a:stretch>
            <a:fillRect/>
          </a:stretch>
        </p:blipFill>
        <p:spPr bwMode="auto">
          <a:xfrm>
            <a:off x="4708809" y="5380830"/>
            <a:ext cx="1381125" cy="1381125"/>
          </a:xfrm>
          <a:prstGeom prst="rect">
            <a:avLst/>
          </a:prstGeom>
          <a:noFill/>
          <a:ln w="9525">
            <a:noFill/>
            <a:miter lim="800000"/>
            <a:headEnd/>
            <a:tailEnd/>
          </a:ln>
        </p:spPr>
      </p:pic>
    </p:spTree>
    <p:extLst>
      <p:ext uri="{BB962C8B-B14F-4D97-AF65-F5344CB8AC3E}">
        <p14:creationId xmlns:p14="http://schemas.microsoft.com/office/powerpoint/2010/main" val="33271126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mudaliar\Documents\Narayanan\Ball Corp\Images\shutterstock_50164627_Small.jpg"/>
          <p:cNvPicPr>
            <a:picLocks noChangeAspect="1" noChangeArrowheads="1"/>
          </p:cNvPicPr>
          <p:nvPr/>
        </p:nvPicPr>
        <p:blipFill>
          <a:blip r:embed="rId3" cstate="print"/>
          <a:srcRect/>
          <a:stretch>
            <a:fillRect/>
          </a:stretch>
        </p:blipFill>
        <p:spPr bwMode="auto">
          <a:xfrm>
            <a:off x="5622268" y="3000717"/>
            <a:ext cx="3505200" cy="3282475"/>
          </a:xfrm>
          <a:prstGeom prst="rect">
            <a:avLst/>
          </a:prstGeom>
          <a:noFill/>
        </p:spPr>
      </p:pic>
      <p:sp>
        <p:nvSpPr>
          <p:cNvPr id="2" name="Title 1"/>
          <p:cNvSpPr>
            <a:spLocks noGrp="1"/>
          </p:cNvSpPr>
          <p:nvPr>
            <p:ph type="title"/>
          </p:nvPr>
        </p:nvSpPr>
        <p:spPr/>
        <p:txBody>
          <a:bodyPr/>
          <a:lstStyle/>
          <a:p>
            <a:r>
              <a:rPr lang="en-US" dirty="0" smtClean="0"/>
              <a:t>Course Modules</a:t>
            </a:r>
            <a:endParaRPr lang="en-US" dirty="0"/>
          </a:p>
        </p:txBody>
      </p:sp>
      <p:sp>
        <p:nvSpPr>
          <p:cNvPr id="3" name="Content Placeholder 2"/>
          <p:cNvSpPr>
            <a:spLocks noGrp="1"/>
          </p:cNvSpPr>
          <p:nvPr>
            <p:ph idx="1"/>
          </p:nvPr>
        </p:nvSpPr>
        <p:spPr/>
        <p:txBody>
          <a:bodyPr/>
          <a:lstStyle/>
          <a:p>
            <a:pPr>
              <a:spcAft>
                <a:spcPct val="50000"/>
              </a:spcAft>
              <a:buClr>
                <a:srgbClr val="336699"/>
              </a:buClr>
              <a:buSzPct val="100000"/>
            </a:pPr>
            <a:r>
              <a:rPr lang="en-US" dirty="0"/>
              <a:t>This course is intended to </a:t>
            </a:r>
            <a:r>
              <a:rPr lang="en-US" dirty="0" smtClean="0"/>
              <a:t>introduce you to SAP ECC Navigation. In this course participants </a:t>
            </a:r>
            <a:r>
              <a:rPr lang="en-US" dirty="0"/>
              <a:t>will </a:t>
            </a:r>
            <a:r>
              <a:rPr lang="en-US" dirty="0" smtClean="0"/>
              <a:t>learn </a:t>
            </a:r>
            <a:r>
              <a:rPr lang="en-US" dirty="0"/>
              <a:t>about </a:t>
            </a:r>
            <a:r>
              <a:rPr lang="en-US" dirty="0" smtClean="0"/>
              <a:t>navigating the SAP ECC system, practice using its features, learn about generating reports and </a:t>
            </a:r>
            <a:r>
              <a:rPr lang="en-US" dirty="0"/>
              <a:t>the related SAP terminology.</a:t>
            </a:r>
          </a:p>
          <a:p>
            <a:pPr>
              <a:spcAft>
                <a:spcPct val="50000"/>
              </a:spcAft>
              <a:buClr>
                <a:srgbClr val="336699"/>
              </a:buClr>
              <a:buSzPct val="100000"/>
            </a:pPr>
            <a:r>
              <a:rPr lang="en-US" dirty="0"/>
              <a:t>The course is composed of the following modules:</a:t>
            </a:r>
          </a:p>
          <a:p>
            <a:pPr marL="341313" indent="-342900" eaLnBrk="0" hangingPunct="0">
              <a:buFont typeface="Arial" pitchFamily="34" charset="0"/>
              <a:buChar char="•"/>
              <a:tabLst>
                <a:tab pos="228600" algn="l"/>
              </a:tabLst>
            </a:pPr>
            <a:r>
              <a:rPr lang="en-US" dirty="0"/>
              <a:t>Module 1: </a:t>
            </a:r>
            <a:r>
              <a:rPr lang="en-US" dirty="0" smtClean="0"/>
              <a:t>Overview of SAP and Loudoun Water Financial Structures</a:t>
            </a:r>
            <a:endParaRPr lang="en-US" dirty="0"/>
          </a:p>
          <a:p>
            <a:pPr marL="341313" indent="-342900" eaLnBrk="0" hangingPunct="0">
              <a:buFont typeface="Arial" pitchFamily="34" charset="0"/>
              <a:buChar char="•"/>
              <a:tabLst>
                <a:tab pos="228600" algn="l"/>
              </a:tabLst>
            </a:pPr>
            <a:r>
              <a:rPr lang="en-US" dirty="0" smtClean="0"/>
              <a:t>Module 2: The SAP Screen</a:t>
            </a:r>
          </a:p>
          <a:p>
            <a:pPr marL="341313" indent="-342900" eaLnBrk="0" hangingPunct="0">
              <a:buFont typeface="Arial" pitchFamily="34" charset="0"/>
              <a:buChar char="•"/>
              <a:tabLst>
                <a:tab pos="228600" algn="l"/>
              </a:tabLst>
            </a:pPr>
            <a:r>
              <a:rPr lang="en-US" dirty="0" smtClean="0"/>
              <a:t>Module 3: Navigating in SAP ECC</a:t>
            </a:r>
          </a:p>
          <a:p>
            <a:pPr marL="341313" indent="-342900" eaLnBrk="0" hangingPunct="0">
              <a:buFont typeface="Arial" pitchFamily="34" charset="0"/>
              <a:buChar char="•"/>
              <a:tabLst>
                <a:tab pos="228600" algn="l"/>
              </a:tabLst>
            </a:pPr>
            <a:r>
              <a:rPr lang="en-US" dirty="0" smtClean="0"/>
              <a:t>Module 4: The SAP Business Workplace</a:t>
            </a:r>
            <a:endParaRPr lang="en-US" dirty="0"/>
          </a:p>
          <a:p>
            <a:pPr marL="341313" indent="-342900" eaLnBrk="0" hangingPunct="0">
              <a:buFont typeface="Arial" pitchFamily="34" charset="0"/>
              <a:buChar char="•"/>
              <a:tabLst>
                <a:tab pos="228600" algn="l"/>
              </a:tabLst>
            </a:pPr>
            <a:r>
              <a:rPr lang="en-US" dirty="0"/>
              <a:t>Module 5</a:t>
            </a:r>
            <a:r>
              <a:rPr lang="en-US" dirty="0" smtClean="0"/>
              <a:t>: Report Features and Tools</a:t>
            </a:r>
          </a:p>
          <a:p>
            <a:pPr marL="341313" indent="-342900" eaLnBrk="0" hangingPunct="0">
              <a:buFont typeface="Arial" pitchFamily="34" charset="0"/>
              <a:buChar char="•"/>
              <a:tabLst>
                <a:tab pos="228600" algn="l"/>
              </a:tabLst>
            </a:pPr>
            <a:r>
              <a:rPr lang="en-US" dirty="0" smtClean="0"/>
              <a:t>Module 6: Summary</a:t>
            </a:r>
          </a:p>
          <a:p>
            <a:pPr marL="341313" indent="-342900" eaLnBrk="0" hangingPunct="0">
              <a:buFont typeface="Arial" pitchFamily="34" charset="0"/>
              <a:buChar char="•"/>
              <a:tabLst>
                <a:tab pos="228600" algn="l"/>
              </a:tabLst>
            </a:pPr>
            <a:endParaRPr lang="en-US" dirty="0"/>
          </a:p>
          <a:p>
            <a:pPr marL="341313" indent="-342900" eaLnBrk="0" hangingPunct="0">
              <a:buFont typeface="Arial" pitchFamily="34" charset="0"/>
              <a:buChar char="•"/>
              <a:tabLst>
                <a:tab pos="228600" algn="l"/>
              </a:tabLst>
            </a:pPr>
            <a:endParaRPr lang="en-US" dirty="0" smtClean="0"/>
          </a:p>
          <a:p>
            <a:pPr marL="341313" indent="-342900" eaLnBrk="0" hangingPunct="0">
              <a:buFont typeface="Arial" pitchFamily="34" charset="0"/>
              <a:buChar char="•"/>
              <a:tabLst>
                <a:tab pos="228600" algn="l"/>
              </a:tabLst>
            </a:pPr>
            <a:endParaRPr lang="en-US" dirty="0"/>
          </a:p>
          <a:p>
            <a:pPr marL="341313" indent="-342900" eaLnBrk="0" hangingPunct="0">
              <a:buFont typeface="Arial" pitchFamily="34" charset="0"/>
              <a:buChar char="•"/>
              <a:tabLst>
                <a:tab pos="228600" algn="l"/>
              </a:tabLst>
            </a:pPr>
            <a:endParaRPr lang="en-US" dirty="0" smtClean="0"/>
          </a:p>
          <a:p>
            <a:pPr marL="341313" indent="-342900" eaLnBrk="0" hangingPunct="0">
              <a:buFont typeface="Arial" pitchFamily="34" charset="0"/>
              <a:buChar char="•"/>
              <a:tabLst>
                <a:tab pos="228600" algn="l"/>
              </a:tabLst>
            </a:pPr>
            <a:endParaRPr lang="en-US" dirty="0"/>
          </a:p>
          <a:p>
            <a:pPr marL="341313" indent="-342900" eaLnBrk="0" hangingPunct="0">
              <a:buFont typeface="Arial" pitchFamily="34" charset="0"/>
              <a:buChar char="•"/>
              <a:tabLst>
                <a:tab pos="228600" algn="l"/>
              </a:tabLst>
            </a:pPr>
            <a:endParaRPr lang="en-US" dirty="0" smtClean="0"/>
          </a:p>
          <a:p>
            <a:pPr marL="341313" indent="-342900" eaLnBrk="0" hangingPunct="0">
              <a:buFont typeface="Arial" pitchFamily="34" charset="0"/>
              <a:buChar char="•"/>
              <a:tabLst>
                <a:tab pos="228600" algn="l"/>
              </a:tabLst>
            </a:pPr>
            <a:endParaRPr lang="en-US" dirty="0"/>
          </a:p>
          <a:p>
            <a:pPr marL="341313" indent="-342900" eaLnBrk="0" hangingPunct="0">
              <a:buFont typeface="Arial" pitchFamily="34" charset="0"/>
              <a:buChar char="•"/>
              <a:tabLst>
                <a:tab pos="228600" algn="l"/>
              </a:tabLst>
            </a:pPr>
            <a:endParaRPr lang="en-US" dirty="0" smtClean="0"/>
          </a:p>
          <a:p>
            <a:pPr marL="341313" indent="-342900" eaLnBrk="0" hangingPunct="0">
              <a:buFont typeface="Arial" pitchFamily="34" charset="0"/>
              <a:buChar char="•"/>
              <a:tabLst>
                <a:tab pos="228600" algn="l"/>
              </a:tabLst>
            </a:pPr>
            <a:endParaRPr lang="en-US" dirty="0"/>
          </a:p>
          <a:p>
            <a:pPr marL="341313" indent="-342900" eaLnBrk="0" hangingPunct="0">
              <a:buFont typeface="Arial" pitchFamily="34" charset="0"/>
              <a:buChar char="•"/>
              <a:tabLst>
                <a:tab pos="228600" algn="l"/>
              </a:tabLst>
            </a:pPr>
            <a:endParaRPr lang="en-US" dirty="0" smtClean="0"/>
          </a:p>
          <a:p>
            <a:pPr marL="341313" indent="-342900" eaLnBrk="0" hangingPunct="0">
              <a:buFont typeface="Arial" pitchFamily="34" charset="0"/>
              <a:buChar char="•"/>
              <a:tabLst>
                <a:tab pos="228600" algn="l"/>
              </a:tabLst>
            </a:pPr>
            <a:endParaRPr lang="en-US" dirty="0"/>
          </a:p>
          <a:p>
            <a:pPr marL="341313" indent="-342900" eaLnBrk="0" hangingPunct="0">
              <a:buFont typeface="Arial" pitchFamily="34" charset="0"/>
              <a:buChar char="•"/>
              <a:tabLst>
                <a:tab pos="228600" algn="l"/>
              </a:tabLst>
            </a:pPr>
            <a:endParaRPr lang="en-US" dirty="0"/>
          </a:p>
          <a:p>
            <a:endParaRPr lang="en-US" dirty="0"/>
          </a:p>
        </p:txBody>
      </p:sp>
    </p:spTree>
    <p:extLst>
      <p:ext uri="{BB962C8B-B14F-4D97-AF65-F5344CB8AC3E}">
        <p14:creationId xmlns:p14="http://schemas.microsoft.com/office/powerpoint/2010/main" val="8423928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Objectives</a:t>
            </a:r>
            <a:endParaRPr lang="en-US" dirty="0"/>
          </a:p>
        </p:txBody>
      </p:sp>
      <p:sp>
        <p:nvSpPr>
          <p:cNvPr id="3" name="Content Placeholder 2"/>
          <p:cNvSpPr>
            <a:spLocks noGrp="1"/>
          </p:cNvSpPr>
          <p:nvPr>
            <p:ph idx="1"/>
          </p:nvPr>
        </p:nvSpPr>
        <p:spPr/>
        <p:txBody>
          <a:bodyPr/>
          <a:lstStyle/>
          <a:p>
            <a:r>
              <a:rPr lang="en-US" dirty="0" smtClean="0"/>
              <a:t>Upon completion of this course, you should be able to:</a:t>
            </a:r>
          </a:p>
          <a:p>
            <a:pPr marL="342900" indent="-342900">
              <a:buFont typeface="Arial" pitchFamily="34" charset="0"/>
              <a:buChar char="•"/>
            </a:pPr>
            <a:r>
              <a:rPr lang="en-US" dirty="0" smtClean="0"/>
              <a:t>Explain the Loudoun Water financial structure and how it is supported in SAP</a:t>
            </a:r>
          </a:p>
          <a:p>
            <a:pPr marL="342900" indent="-342900">
              <a:buFont typeface="Arial" pitchFamily="34" charset="0"/>
              <a:buChar char="•"/>
            </a:pPr>
            <a:r>
              <a:rPr lang="en-US" dirty="0" smtClean="0"/>
              <a:t>Access SAP ECC through the GUI and navigate within SAP</a:t>
            </a:r>
          </a:p>
          <a:p>
            <a:pPr marL="342900" indent="-342900">
              <a:buFont typeface="Arial" pitchFamily="34" charset="0"/>
              <a:buChar char="•"/>
            </a:pPr>
            <a:r>
              <a:rPr lang="en-US" dirty="0" smtClean="0"/>
              <a:t>Describe various types of reports available in SAP</a:t>
            </a:r>
          </a:p>
          <a:p>
            <a:pPr marL="342900" indent="-342900">
              <a:buFont typeface="Arial" pitchFamily="34" charset="0"/>
              <a:buChar char="•"/>
            </a:pPr>
            <a:r>
              <a:rPr lang="en-US" dirty="0" smtClean="0"/>
              <a:t>Access reports using a menu path or transaction code</a:t>
            </a:r>
          </a:p>
          <a:p>
            <a:pPr marL="342900" indent="-342900">
              <a:buFont typeface="Arial" pitchFamily="34" charset="0"/>
              <a:buChar char="•"/>
            </a:pPr>
            <a:r>
              <a:rPr lang="en-US" dirty="0" smtClean="0"/>
              <a:t>Use the features of SAP to generate reports and customize for personal use</a:t>
            </a:r>
          </a:p>
          <a:p>
            <a:pPr marL="342900" indent="-342900">
              <a:buFont typeface="Arial" pitchFamily="34" charset="0"/>
              <a:buChar char="•"/>
            </a:pPr>
            <a:r>
              <a:rPr lang="en-US" dirty="0" smtClean="0"/>
              <a:t>Access Help functions for SAP</a:t>
            </a:r>
            <a:endParaRPr lang="en-US" dirty="0"/>
          </a:p>
        </p:txBody>
      </p:sp>
    </p:spTree>
    <p:extLst>
      <p:ext uri="{BB962C8B-B14F-4D97-AF65-F5344CB8AC3E}">
        <p14:creationId xmlns:p14="http://schemas.microsoft.com/office/powerpoint/2010/main" val="459909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SAP and Loudoun Water Financial Structures</a:t>
            </a:r>
            <a:endParaRPr lang="en-US" dirty="0"/>
          </a:p>
        </p:txBody>
      </p:sp>
      <p:sp>
        <p:nvSpPr>
          <p:cNvPr id="3" name="Text Placeholder 2"/>
          <p:cNvSpPr>
            <a:spLocks noGrp="1"/>
          </p:cNvSpPr>
          <p:nvPr>
            <p:ph type="body" idx="1"/>
          </p:nvPr>
        </p:nvSpPr>
        <p:spPr/>
        <p:txBody>
          <a:bodyPr/>
          <a:lstStyle/>
          <a:p>
            <a:r>
              <a:rPr lang="en-US" dirty="0" smtClean="0"/>
              <a:t>Module 1</a:t>
            </a:r>
            <a:endParaRPr lang="en-US" dirty="0"/>
          </a:p>
        </p:txBody>
      </p:sp>
      <p:sp>
        <p:nvSpPr>
          <p:cNvPr id="4" name="Slide Number Placeholder 3"/>
          <p:cNvSpPr>
            <a:spLocks noGrp="1"/>
          </p:cNvSpPr>
          <p:nvPr>
            <p:ph type="sldNum" sz="quarter" idx="4294967295"/>
          </p:nvPr>
        </p:nvSpPr>
        <p:spPr>
          <a:xfrm>
            <a:off x="304800" y="6248400"/>
            <a:ext cx="2286000" cy="476250"/>
          </a:xfrm>
        </p:spPr>
        <p:txBody>
          <a:bodyPr/>
          <a:lstStyle/>
          <a:p>
            <a:fld id="{0AE39237-E31F-4BB3-A699-E1DE56857160}" type="slidenum">
              <a:rPr lang="en-US"/>
              <a:pPr/>
              <a:t>7</a:t>
            </a:fld>
            <a:endParaRPr 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3" name="Content Placeholder 2"/>
          <p:cNvSpPr>
            <a:spLocks noGrp="1"/>
          </p:cNvSpPr>
          <p:nvPr>
            <p:ph idx="1"/>
          </p:nvPr>
        </p:nvSpPr>
        <p:spPr/>
        <p:txBody>
          <a:bodyPr/>
          <a:lstStyle/>
          <a:p>
            <a:r>
              <a:rPr lang="en-US" dirty="0" smtClean="0"/>
              <a:t>Upon completion of this module, you should be able to:</a:t>
            </a:r>
          </a:p>
          <a:p>
            <a:pPr marL="342900" indent="-342900">
              <a:buFont typeface="Arial" pitchFamily="34" charset="0"/>
              <a:buChar char="•"/>
            </a:pPr>
            <a:r>
              <a:rPr lang="en-US" dirty="0" smtClean="0"/>
              <a:t>Describe the organizational module and financial structure of Loudoun Water</a:t>
            </a:r>
          </a:p>
          <a:p>
            <a:pPr marL="342900" indent="-342900">
              <a:buFont typeface="Arial" pitchFamily="34" charset="0"/>
              <a:buChar char="•"/>
            </a:pPr>
            <a:r>
              <a:rPr lang="en-US" dirty="0" smtClean="0"/>
              <a:t>Describe what SAP modules, applications and transactions are</a:t>
            </a:r>
          </a:p>
          <a:p>
            <a:pPr marL="342900" indent="-342900">
              <a:buFont typeface="Arial" pitchFamily="34" charset="0"/>
              <a:buChar char="•"/>
            </a:pPr>
            <a:r>
              <a:rPr lang="en-US" dirty="0" smtClean="0"/>
              <a:t>Describe the Organizational view in SAP</a:t>
            </a:r>
          </a:p>
          <a:p>
            <a:pPr marL="342900" indent="-342900">
              <a:buFont typeface="Arial" pitchFamily="34" charset="0"/>
              <a:buChar char="•"/>
            </a:pPr>
            <a:r>
              <a:rPr lang="en-US" dirty="0" smtClean="0"/>
              <a:t>Explain the difference between Finance and Controlling reporting</a:t>
            </a:r>
          </a:p>
          <a:p>
            <a:pPr marL="342900" indent="-342900">
              <a:buFont typeface="Arial" pitchFamily="34" charset="0"/>
              <a:buChar char="•"/>
            </a:pPr>
            <a:r>
              <a:rPr lang="en-US" dirty="0" smtClean="0"/>
              <a:t>Explain how SAP manages data</a:t>
            </a:r>
          </a:p>
          <a:p>
            <a:pPr marL="342900" indent="-342900">
              <a:buFont typeface="Arial" pitchFamily="34" charset="0"/>
              <a:buChar char="•"/>
            </a:pPr>
            <a:r>
              <a:rPr lang="en-US" dirty="0" smtClean="0"/>
              <a:t>Describe the types of data used in SAP</a:t>
            </a:r>
            <a:endParaRPr lang="en-US" dirty="0"/>
          </a:p>
        </p:txBody>
      </p:sp>
      <p:pic>
        <p:nvPicPr>
          <p:cNvPr id="4" name="Picture 2" descr="C:\Users\namudaliar\Documents\Narayanan\Ball Corp\Images\shutterstock_54581515.jpg"/>
          <p:cNvPicPr>
            <a:picLocks noChangeAspect="1" noChangeArrowheads="1"/>
          </p:cNvPicPr>
          <p:nvPr/>
        </p:nvPicPr>
        <p:blipFill>
          <a:blip r:embed="rId2" cstate="print"/>
          <a:srcRect/>
          <a:stretch>
            <a:fillRect/>
          </a:stretch>
        </p:blipFill>
        <p:spPr bwMode="auto">
          <a:xfrm>
            <a:off x="6651519" y="3733800"/>
            <a:ext cx="2286000" cy="3048000"/>
          </a:xfrm>
          <a:prstGeom prst="rect">
            <a:avLst/>
          </a:prstGeom>
          <a:noFill/>
        </p:spPr>
      </p:pic>
    </p:spTree>
    <p:extLst>
      <p:ext uri="{BB962C8B-B14F-4D97-AF65-F5344CB8AC3E}">
        <p14:creationId xmlns:p14="http://schemas.microsoft.com/office/powerpoint/2010/main" val="15575229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SAP</a:t>
            </a:r>
            <a:endParaRPr lang="en-US" dirty="0"/>
          </a:p>
        </p:txBody>
      </p:sp>
      <p:sp>
        <p:nvSpPr>
          <p:cNvPr id="6" name="Content Placeholder 5"/>
          <p:cNvSpPr>
            <a:spLocks noGrp="1"/>
          </p:cNvSpPr>
          <p:nvPr>
            <p:ph idx="1"/>
          </p:nvPr>
        </p:nvSpPr>
        <p:spPr/>
        <p:txBody>
          <a:bodyPr/>
          <a:lstStyle/>
          <a:p>
            <a:r>
              <a:rPr lang="en-US" dirty="0" smtClean="0"/>
              <a:t>SAP consists of application modules that support of all of Loudoun Water’s transactions and integrates those interactively.</a:t>
            </a:r>
            <a:endParaRPr lang="en-US" dirty="0"/>
          </a:p>
        </p:txBody>
      </p:sp>
      <p:sp>
        <p:nvSpPr>
          <p:cNvPr id="17" name="Content Placeholder 5"/>
          <p:cNvSpPr txBox="1">
            <a:spLocks/>
          </p:cNvSpPr>
          <p:nvPr/>
        </p:nvSpPr>
        <p:spPr bwMode="auto">
          <a:xfrm>
            <a:off x="4572000" y="2057400"/>
            <a:ext cx="4267200" cy="3505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0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2pPr>
            <a:lvl3pPr marL="1143000" indent="-228600" algn="l" rtl="0" fontAlgn="base">
              <a:spcBef>
                <a:spcPct val="20000"/>
              </a:spcBef>
              <a:spcAft>
                <a:spcPct val="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3pPr>
            <a:lvl4pPr marL="1600200" indent="-228600" algn="l" rtl="0" fontAlgn="base">
              <a:spcBef>
                <a:spcPct val="20000"/>
              </a:spcBef>
              <a:spcAft>
                <a:spcPct val="0"/>
              </a:spcAft>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4pPr>
            <a:lvl5pPr marL="2057400" indent="-228600" algn="l" rtl="0" fontAlgn="base">
              <a:spcBef>
                <a:spcPct val="20000"/>
              </a:spcBef>
              <a:spcAft>
                <a:spcPct val="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342900" indent="-342900">
              <a:buFont typeface="Arial" pitchFamily="34" charset="0"/>
              <a:buChar char="•"/>
            </a:pPr>
            <a:r>
              <a:rPr lang="en-US" dirty="0" smtClean="0"/>
              <a:t>Because it is modular, companies are able to implement the components of SAP that best fit their needs. </a:t>
            </a:r>
          </a:p>
          <a:p>
            <a:pPr marL="342900" indent="-342900">
              <a:buFont typeface="Arial" pitchFamily="34" charset="0"/>
              <a:buChar char="•"/>
            </a:pPr>
            <a:endParaRPr lang="en-US" dirty="0"/>
          </a:p>
          <a:p>
            <a:pPr marL="342900" indent="-342900">
              <a:buFont typeface="Arial" pitchFamily="34" charset="0"/>
              <a:buChar char="•"/>
            </a:pPr>
            <a:r>
              <a:rPr lang="en-US" dirty="0" smtClean="0"/>
              <a:t>It also allows companies to easily grow in their use of SAP</a:t>
            </a:r>
            <a:endParaRPr lang="en-US" dirty="0"/>
          </a:p>
        </p:txBody>
      </p:sp>
      <p:graphicFrame>
        <p:nvGraphicFramePr>
          <p:cNvPr id="3" name="Diagram 2"/>
          <p:cNvGraphicFramePr/>
          <p:nvPr>
            <p:extLst>
              <p:ext uri="{D42A27DB-BD31-4B8C-83A1-F6EECF244321}">
                <p14:modId xmlns:p14="http://schemas.microsoft.com/office/powerpoint/2010/main" val="1239288602"/>
              </p:ext>
            </p:extLst>
          </p:nvPr>
        </p:nvGraphicFramePr>
        <p:xfrm>
          <a:off x="-228600" y="1905000"/>
          <a:ext cx="57150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99925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 Applications, and Transactions</a:t>
            </a:r>
            <a:endParaRPr lang="en-US" dirty="0"/>
          </a:p>
        </p:txBody>
      </p:sp>
      <p:sp>
        <p:nvSpPr>
          <p:cNvPr id="3" name="Content Placeholder 2"/>
          <p:cNvSpPr>
            <a:spLocks noGrp="1"/>
          </p:cNvSpPr>
          <p:nvPr>
            <p:ph idx="1"/>
          </p:nvPr>
        </p:nvSpPr>
        <p:spPr>
          <a:xfrm>
            <a:off x="301625" y="990601"/>
            <a:ext cx="8537575" cy="1447800"/>
          </a:xfrm>
        </p:spPr>
        <p:txBody>
          <a:bodyPr/>
          <a:lstStyle/>
          <a:p>
            <a:pPr lvl="0" eaLnBrk="0" hangingPunct="0">
              <a:spcBef>
                <a:spcPct val="50000"/>
              </a:spcBef>
              <a:spcAft>
                <a:spcPct val="0"/>
              </a:spcAft>
              <a:buClrTx/>
            </a:pPr>
            <a:r>
              <a:rPr lang="en-US" kern="1200" dirty="0">
                <a:solidFill>
                  <a:schemeClr val="bg2"/>
                </a:solidFill>
              </a:rPr>
              <a:t>SAP data is structured by </a:t>
            </a:r>
            <a:r>
              <a:rPr lang="en-US" b="1" kern="1200" dirty="0">
                <a:solidFill>
                  <a:schemeClr val="bg2"/>
                </a:solidFill>
              </a:rPr>
              <a:t>modules</a:t>
            </a:r>
            <a:r>
              <a:rPr lang="en-US" kern="1200" dirty="0">
                <a:solidFill>
                  <a:schemeClr val="bg2"/>
                </a:solidFill>
              </a:rPr>
              <a:t> that correspond to business areas. </a:t>
            </a:r>
            <a:endParaRPr lang="en-US" kern="1200" dirty="0" smtClean="0">
              <a:solidFill>
                <a:schemeClr val="bg2"/>
              </a:solidFill>
            </a:endParaRPr>
          </a:p>
          <a:p>
            <a:pPr lvl="0" eaLnBrk="0" hangingPunct="0">
              <a:spcBef>
                <a:spcPct val="50000"/>
              </a:spcBef>
              <a:spcAft>
                <a:spcPct val="0"/>
              </a:spcAft>
              <a:buClrTx/>
            </a:pPr>
            <a:r>
              <a:rPr lang="en-US" kern="1200" dirty="0" smtClean="0">
                <a:solidFill>
                  <a:schemeClr val="bg2"/>
                </a:solidFill>
              </a:rPr>
              <a:t>Business </a:t>
            </a:r>
            <a:r>
              <a:rPr lang="en-US" kern="1200" dirty="0">
                <a:solidFill>
                  <a:schemeClr val="bg2"/>
                </a:solidFill>
              </a:rPr>
              <a:t>functions within a module are organized into </a:t>
            </a:r>
            <a:r>
              <a:rPr lang="en-US" b="1" kern="1200" dirty="0">
                <a:solidFill>
                  <a:schemeClr val="bg2"/>
                </a:solidFill>
              </a:rPr>
              <a:t>applications</a:t>
            </a:r>
            <a:r>
              <a:rPr lang="en-US" kern="1200" dirty="0">
                <a:solidFill>
                  <a:schemeClr val="bg2"/>
                </a:solidFill>
              </a:rPr>
              <a:t>. Business steps or activities within the applications are organized into </a:t>
            </a:r>
            <a:r>
              <a:rPr lang="en-US" b="1" kern="1200" dirty="0">
                <a:solidFill>
                  <a:schemeClr val="bg2"/>
                </a:solidFill>
              </a:rPr>
              <a:t>transactions</a:t>
            </a:r>
            <a:r>
              <a:rPr lang="en-US" kern="1200" dirty="0">
                <a:solidFill>
                  <a:schemeClr val="bg2"/>
                </a:solidFill>
              </a:rPr>
              <a:t>.</a:t>
            </a:r>
          </a:p>
          <a:p>
            <a:endParaRPr lang="en-US" dirty="0"/>
          </a:p>
        </p:txBody>
      </p:sp>
      <p:sp>
        <p:nvSpPr>
          <p:cNvPr id="6" name="Text Box 9"/>
          <p:cNvSpPr txBox="1">
            <a:spLocks noChangeArrowheads="1"/>
          </p:cNvSpPr>
          <p:nvPr/>
        </p:nvSpPr>
        <p:spPr bwMode="auto">
          <a:xfrm>
            <a:off x="520700" y="3273792"/>
            <a:ext cx="1930400" cy="815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100000"/>
              </a:lnSpc>
              <a:spcBef>
                <a:spcPct val="50000"/>
              </a:spcBef>
              <a:spcAft>
                <a:spcPct val="0"/>
              </a:spcAft>
              <a:buFontTx/>
              <a:buNone/>
            </a:pPr>
            <a:r>
              <a:rPr lang="en-US" sz="2000" b="1" dirty="0">
                <a:solidFill>
                  <a:schemeClr val="bg2"/>
                </a:solidFill>
              </a:rPr>
              <a:t>Module</a:t>
            </a:r>
          </a:p>
          <a:p>
            <a:pPr algn="ctr">
              <a:lnSpc>
                <a:spcPct val="100000"/>
              </a:lnSpc>
              <a:spcBef>
                <a:spcPct val="50000"/>
              </a:spcBef>
              <a:spcAft>
                <a:spcPct val="0"/>
              </a:spcAft>
              <a:buFontTx/>
              <a:buNone/>
            </a:pPr>
            <a:r>
              <a:rPr lang="en-US" b="1" i="1" dirty="0">
                <a:solidFill>
                  <a:schemeClr val="bg2"/>
                </a:solidFill>
              </a:rPr>
              <a:t>(Business area)</a:t>
            </a:r>
          </a:p>
        </p:txBody>
      </p:sp>
      <p:sp>
        <p:nvSpPr>
          <p:cNvPr id="7" name="Text Box 10"/>
          <p:cNvSpPr txBox="1">
            <a:spLocks noChangeArrowheads="1"/>
          </p:cNvSpPr>
          <p:nvPr/>
        </p:nvSpPr>
        <p:spPr bwMode="auto">
          <a:xfrm>
            <a:off x="3073400" y="3426192"/>
            <a:ext cx="2336800" cy="815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lnSpc>
                <a:spcPct val="100000"/>
              </a:lnSpc>
              <a:spcBef>
                <a:spcPct val="50000"/>
              </a:spcBef>
              <a:spcAft>
                <a:spcPct val="0"/>
              </a:spcAft>
              <a:buFontTx/>
              <a:buNone/>
            </a:pPr>
            <a:r>
              <a:rPr lang="en-US" sz="2000" b="1" dirty="0">
                <a:solidFill>
                  <a:schemeClr val="bg2"/>
                </a:solidFill>
              </a:rPr>
              <a:t>Application</a:t>
            </a:r>
          </a:p>
          <a:p>
            <a:pPr algn="ctr">
              <a:lnSpc>
                <a:spcPct val="100000"/>
              </a:lnSpc>
              <a:spcBef>
                <a:spcPct val="50000"/>
              </a:spcBef>
              <a:spcAft>
                <a:spcPct val="0"/>
              </a:spcAft>
              <a:buFontTx/>
              <a:buNone/>
            </a:pPr>
            <a:r>
              <a:rPr lang="en-US" b="1" i="1" dirty="0">
                <a:solidFill>
                  <a:schemeClr val="bg2"/>
                </a:solidFill>
              </a:rPr>
              <a:t>(Business function)</a:t>
            </a:r>
          </a:p>
        </p:txBody>
      </p:sp>
      <p:sp>
        <p:nvSpPr>
          <p:cNvPr id="8" name="Text Box 11"/>
          <p:cNvSpPr txBox="1">
            <a:spLocks noChangeArrowheads="1"/>
          </p:cNvSpPr>
          <p:nvPr/>
        </p:nvSpPr>
        <p:spPr bwMode="auto">
          <a:xfrm>
            <a:off x="5803900" y="3710746"/>
            <a:ext cx="2730500" cy="815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lnSpc>
                <a:spcPct val="100000"/>
              </a:lnSpc>
              <a:spcBef>
                <a:spcPct val="50000"/>
              </a:spcBef>
              <a:spcAft>
                <a:spcPct val="0"/>
              </a:spcAft>
              <a:buFontTx/>
              <a:buNone/>
            </a:pPr>
            <a:r>
              <a:rPr lang="en-US" sz="2000" b="1" dirty="0">
                <a:solidFill>
                  <a:schemeClr val="bg2"/>
                </a:solidFill>
              </a:rPr>
              <a:t>Transaction</a:t>
            </a:r>
          </a:p>
          <a:p>
            <a:pPr algn="ctr">
              <a:lnSpc>
                <a:spcPct val="100000"/>
              </a:lnSpc>
              <a:spcBef>
                <a:spcPct val="50000"/>
              </a:spcBef>
              <a:spcAft>
                <a:spcPct val="0"/>
              </a:spcAft>
              <a:buFontTx/>
              <a:buNone/>
            </a:pPr>
            <a:r>
              <a:rPr lang="en-US" b="1" i="1" dirty="0">
                <a:solidFill>
                  <a:schemeClr val="bg2"/>
                </a:solidFill>
              </a:rPr>
              <a:t>(Business activity)</a:t>
            </a:r>
          </a:p>
        </p:txBody>
      </p:sp>
      <p:sp>
        <p:nvSpPr>
          <p:cNvPr id="10" name="Text Box 13"/>
          <p:cNvSpPr txBox="1">
            <a:spLocks noChangeArrowheads="1"/>
          </p:cNvSpPr>
          <p:nvPr/>
        </p:nvSpPr>
        <p:spPr bwMode="auto">
          <a:xfrm>
            <a:off x="558800" y="4347389"/>
            <a:ext cx="1790700"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00000"/>
              </a:lnSpc>
              <a:spcBef>
                <a:spcPct val="50000"/>
              </a:spcBef>
              <a:spcAft>
                <a:spcPct val="0"/>
              </a:spcAft>
              <a:buFontTx/>
              <a:buNone/>
            </a:pPr>
            <a:r>
              <a:rPr lang="en-US" sz="2000" b="1" dirty="0">
                <a:solidFill>
                  <a:schemeClr val="bg2"/>
                </a:solidFill>
              </a:rPr>
              <a:t>Financial Accounting</a:t>
            </a:r>
          </a:p>
        </p:txBody>
      </p:sp>
      <p:sp>
        <p:nvSpPr>
          <p:cNvPr id="11" name="Text Box 14"/>
          <p:cNvSpPr txBox="1">
            <a:spLocks noChangeArrowheads="1"/>
          </p:cNvSpPr>
          <p:nvPr/>
        </p:nvSpPr>
        <p:spPr bwMode="auto">
          <a:xfrm>
            <a:off x="3378200" y="4674275"/>
            <a:ext cx="1511300" cy="203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00000"/>
              </a:lnSpc>
              <a:spcBef>
                <a:spcPct val="50000"/>
              </a:spcBef>
              <a:spcAft>
                <a:spcPct val="0"/>
              </a:spcAft>
              <a:buFontTx/>
              <a:buNone/>
            </a:pPr>
            <a:r>
              <a:rPr lang="en-US" b="1" dirty="0">
                <a:solidFill>
                  <a:schemeClr val="bg2"/>
                </a:solidFill>
              </a:rPr>
              <a:t>General Ledger</a:t>
            </a:r>
          </a:p>
          <a:p>
            <a:pPr>
              <a:lnSpc>
                <a:spcPct val="100000"/>
              </a:lnSpc>
              <a:spcBef>
                <a:spcPct val="50000"/>
              </a:spcBef>
              <a:spcAft>
                <a:spcPct val="0"/>
              </a:spcAft>
              <a:buFontTx/>
              <a:buNone/>
            </a:pPr>
            <a:r>
              <a:rPr lang="en-US" b="1" dirty="0">
                <a:solidFill>
                  <a:schemeClr val="bg2"/>
                </a:solidFill>
              </a:rPr>
              <a:t>Accounts Receivable</a:t>
            </a:r>
          </a:p>
          <a:p>
            <a:pPr>
              <a:lnSpc>
                <a:spcPct val="100000"/>
              </a:lnSpc>
              <a:spcBef>
                <a:spcPct val="50000"/>
              </a:spcBef>
              <a:spcAft>
                <a:spcPct val="0"/>
              </a:spcAft>
              <a:buFontTx/>
              <a:buNone/>
            </a:pPr>
            <a:r>
              <a:rPr lang="en-US" b="1" dirty="0">
                <a:solidFill>
                  <a:schemeClr val="bg2"/>
                </a:solidFill>
              </a:rPr>
              <a:t>Accounts Payable</a:t>
            </a:r>
          </a:p>
        </p:txBody>
      </p:sp>
      <p:sp>
        <p:nvSpPr>
          <p:cNvPr id="12" name="Text Box 15"/>
          <p:cNvSpPr txBox="1">
            <a:spLocks noChangeArrowheads="1"/>
          </p:cNvSpPr>
          <p:nvPr/>
        </p:nvSpPr>
        <p:spPr bwMode="auto">
          <a:xfrm>
            <a:off x="6248400" y="4674275"/>
            <a:ext cx="2349500" cy="1754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00000"/>
              </a:lnSpc>
              <a:spcBef>
                <a:spcPct val="50000"/>
              </a:spcBef>
              <a:spcAft>
                <a:spcPct val="0"/>
              </a:spcAft>
              <a:buFontTx/>
              <a:buNone/>
            </a:pPr>
            <a:r>
              <a:rPr lang="en-US" b="1" dirty="0">
                <a:solidFill>
                  <a:schemeClr val="bg2"/>
                </a:solidFill>
              </a:rPr>
              <a:t>Create Cost Center</a:t>
            </a:r>
          </a:p>
          <a:p>
            <a:pPr>
              <a:lnSpc>
                <a:spcPct val="100000"/>
              </a:lnSpc>
              <a:spcBef>
                <a:spcPct val="50000"/>
              </a:spcBef>
              <a:spcAft>
                <a:spcPct val="0"/>
              </a:spcAft>
              <a:buFontTx/>
              <a:buNone/>
            </a:pPr>
            <a:r>
              <a:rPr lang="en-US" b="1" dirty="0">
                <a:solidFill>
                  <a:schemeClr val="bg2"/>
                </a:solidFill>
              </a:rPr>
              <a:t>Create Cost Element</a:t>
            </a:r>
          </a:p>
          <a:p>
            <a:pPr>
              <a:lnSpc>
                <a:spcPct val="100000"/>
              </a:lnSpc>
              <a:spcBef>
                <a:spcPct val="50000"/>
              </a:spcBef>
              <a:spcAft>
                <a:spcPct val="0"/>
              </a:spcAft>
              <a:buFontTx/>
              <a:buNone/>
            </a:pPr>
            <a:r>
              <a:rPr lang="en-US" b="1" dirty="0">
                <a:solidFill>
                  <a:schemeClr val="bg2"/>
                </a:solidFill>
              </a:rPr>
              <a:t>Edit Commitment Item</a:t>
            </a:r>
          </a:p>
        </p:txBody>
      </p:sp>
      <p:grpSp>
        <p:nvGrpSpPr>
          <p:cNvPr id="45" name="Group 44"/>
          <p:cNvGrpSpPr/>
          <p:nvPr/>
        </p:nvGrpSpPr>
        <p:grpSpPr>
          <a:xfrm>
            <a:off x="2349500" y="4799884"/>
            <a:ext cx="1031356" cy="1398391"/>
            <a:chOff x="2349500" y="4392809"/>
            <a:chExt cx="1031356" cy="1398391"/>
          </a:xfrm>
        </p:grpSpPr>
        <p:cxnSp>
          <p:nvCxnSpPr>
            <p:cNvPr id="23" name="Straight Arrow Connector 22"/>
            <p:cNvCxnSpPr/>
            <p:nvPr/>
          </p:nvCxnSpPr>
          <p:spPr bwMode="auto">
            <a:xfrm>
              <a:off x="2349500" y="4404226"/>
              <a:ext cx="927100" cy="0"/>
            </a:xfrm>
            <a:prstGeom prst="straightConnector1">
              <a:avLst/>
            </a:prstGeom>
            <a:solidFill>
              <a:schemeClr val="accent1"/>
            </a:solidFill>
            <a:ln w="28575" cap="flat" cmpd="sng" algn="ctr">
              <a:solidFill>
                <a:schemeClr val="bg2"/>
              </a:solidFill>
              <a:prstDash val="solid"/>
              <a:round/>
              <a:headEnd type="none" w="med" len="med"/>
              <a:tailEnd type="arrow"/>
            </a:ln>
            <a:effectLst/>
          </p:spPr>
        </p:cxnSp>
        <p:cxnSp>
          <p:nvCxnSpPr>
            <p:cNvPr id="25" name="Elbow Connector 24"/>
            <p:cNvCxnSpPr/>
            <p:nvPr/>
          </p:nvCxnSpPr>
          <p:spPr bwMode="auto">
            <a:xfrm rot="16200000" flipH="1">
              <a:off x="2653255" y="4555262"/>
              <a:ext cx="890053" cy="565148"/>
            </a:xfrm>
            <a:prstGeom prst="bentConnector2">
              <a:avLst/>
            </a:prstGeom>
            <a:solidFill>
              <a:schemeClr val="accent1"/>
            </a:solidFill>
            <a:ln w="28575" cap="flat" cmpd="sng" algn="ctr">
              <a:solidFill>
                <a:schemeClr val="bg2"/>
              </a:solidFill>
              <a:prstDash val="solid"/>
              <a:round/>
              <a:headEnd type="none" w="med" len="med"/>
              <a:tailEnd type="arrow"/>
            </a:ln>
            <a:effectLst/>
          </p:spPr>
        </p:cxnSp>
        <p:cxnSp>
          <p:nvCxnSpPr>
            <p:cNvPr id="42" name="Straight Connector 41"/>
            <p:cNvCxnSpPr/>
            <p:nvPr/>
          </p:nvCxnSpPr>
          <p:spPr bwMode="auto">
            <a:xfrm>
              <a:off x="2813050" y="5282862"/>
              <a:ext cx="2657" cy="508338"/>
            </a:xfrm>
            <a:prstGeom prst="line">
              <a:avLst/>
            </a:prstGeom>
            <a:solidFill>
              <a:schemeClr val="accent1"/>
            </a:solidFill>
            <a:ln w="28575" cap="flat" cmpd="sng" algn="ctr">
              <a:solidFill>
                <a:schemeClr val="bg2"/>
              </a:solidFill>
              <a:prstDash val="solid"/>
              <a:round/>
              <a:headEnd type="none" w="med" len="med"/>
              <a:tailEnd type="none" w="med" len="med"/>
            </a:ln>
            <a:effectLst/>
          </p:spPr>
        </p:cxnSp>
        <p:cxnSp>
          <p:nvCxnSpPr>
            <p:cNvPr id="44" name="Straight Arrow Connector 43"/>
            <p:cNvCxnSpPr/>
            <p:nvPr/>
          </p:nvCxnSpPr>
          <p:spPr bwMode="auto">
            <a:xfrm>
              <a:off x="2813050" y="5791200"/>
              <a:ext cx="565150" cy="0"/>
            </a:xfrm>
            <a:prstGeom prst="straightConnector1">
              <a:avLst/>
            </a:prstGeom>
            <a:solidFill>
              <a:schemeClr val="accent1"/>
            </a:solidFill>
            <a:ln w="28575" cap="flat" cmpd="sng" algn="ctr">
              <a:solidFill>
                <a:schemeClr val="bg2"/>
              </a:solidFill>
              <a:prstDash val="solid"/>
              <a:round/>
              <a:headEnd type="none" w="med" len="med"/>
              <a:tailEnd type="arrow"/>
            </a:ln>
            <a:effectLst/>
          </p:spPr>
        </p:cxnSp>
      </p:grpSp>
      <p:cxnSp>
        <p:nvCxnSpPr>
          <p:cNvPr id="52" name="Straight Arrow Connector 51"/>
          <p:cNvCxnSpPr/>
          <p:nvPr/>
        </p:nvCxnSpPr>
        <p:spPr bwMode="auto">
          <a:xfrm>
            <a:off x="4495800" y="4824949"/>
            <a:ext cx="1752600" cy="0"/>
          </a:xfrm>
          <a:prstGeom prst="straightConnector1">
            <a:avLst/>
          </a:prstGeom>
          <a:solidFill>
            <a:schemeClr val="accent1"/>
          </a:solidFill>
          <a:ln w="28575" cap="flat" cmpd="sng" algn="ctr">
            <a:solidFill>
              <a:schemeClr val="bg2"/>
            </a:solidFill>
            <a:prstDash val="solid"/>
            <a:round/>
            <a:headEnd type="none" w="med" len="med"/>
            <a:tailEnd type="arrow"/>
          </a:ln>
          <a:effectLst/>
        </p:spPr>
      </p:cxnSp>
      <p:cxnSp>
        <p:nvCxnSpPr>
          <p:cNvPr id="54" name="Straight Arrow Connector 53"/>
          <p:cNvCxnSpPr/>
          <p:nvPr/>
        </p:nvCxnSpPr>
        <p:spPr bwMode="auto">
          <a:xfrm>
            <a:off x="5803900" y="5256579"/>
            <a:ext cx="368300" cy="0"/>
          </a:xfrm>
          <a:prstGeom prst="straightConnector1">
            <a:avLst/>
          </a:prstGeom>
          <a:solidFill>
            <a:schemeClr val="accent1"/>
          </a:solidFill>
          <a:ln w="28575" cap="flat" cmpd="sng" algn="ctr">
            <a:solidFill>
              <a:schemeClr val="bg2"/>
            </a:solidFill>
            <a:prstDash val="solid"/>
            <a:round/>
            <a:headEnd type="none" w="med" len="med"/>
            <a:tailEnd type="arrow"/>
          </a:ln>
          <a:effectLst/>
        </p:spPr>
      </p:cxnSp>
      <p:cxnSp>
        <p:nvCxnSpPr>
          <p:cNvPr id="56" name="Straight Arrow Connector 55"/>
          <p:cNvCxnSpPr/>
          <p:nvPr/>
        </p:nvCxnSpPr>
        <p:spPr bwMode="auto">
          <a:xfrm>
            <a:off x="5791200" y="5969675"/>
            <a:ext cx="368300" cy="0"/>
          </a:xfrm>
          <a:prstGeom prst="straightConnector1">
            <a:avLst/>
          </a:prstGeom>
          <a:solidFill>
            <a:schemeClr val="accent1"/>
          </a:solidFill>
          <a:ln w="28575" cap="flat" cmpd="sng" algn="ctr">
            <a:solidFill>
              <a:schemeClr val="bg2"/>
            </a:solidFill>
            <a:prstDash val="solid"/>
            <a:round/>
            <a:headEnd type="none" w="med" len="med"/>
            <a:tailEnd type="arrow"/>
          </a:ln>
          <a:effectLst/>
        </p:spPr>
      </p:cxnSp>
      <p:cxnSp>
        <p:nvCxnSpPr>
          <p:cNvPr id="58" name="Straight Connector 57"/>
          <p:cNvCxnSpPr/>
          <p:nvPr/>
        </p:nvCxnSpPr>
        <p:spPr bwMode="auto">
          <a:xfrm flipV="1">
            <a:off x="5791200" y="4824949"/>
            <a:ext cx="0" cy="1144726"/>
          </a:xfrm>
          <a:prstGeom prst="line">
            <a:avLst/>
          </a:prstGeom>
          <a:solidFill>
            <a:schemeClr val="accent1"/>
          </a:solidFill>
          <a:ln w="28575" cap="flat" cmpd="sng" algn="ctr">
            <a:solidFill>
              <a:schemeClr val="bg2"/>
            </a:solidFill>
            <a:prstDash val="solid"/>
            <a:round/>
            <a:headEnd type="none" w="med" len="med"/>
            <a:tailEnd type="none" w="med" len="med"/>
          </a:ln>
          <a:effectLst/>
        </p:spPr>
      </p:cxnSp>
      <p:sp>
        <p:nvSpPr>
          <p:cNvPr id="59" name="Isosceles Triangle 58"/>
          <p:cNvSpPr/>
          <p:nvPr/>
        </p:nvSpPr>
        <p:spPr bwMode="auto">
          <a:xfrm rot="5400000">
            <a:off x="2241922" y="3334896"/>
            <a:ext cx="1143000" cy="791363"/>
          </a:xfrm>
          <a:prstGeom prst="triangle">
            <a:avLst/>
          </a:prstGeom>
          <a:ln>
            <a:headEnd type="none" w="med" len="med"/>
            <a:tailEnd type="none" w="med" len="med"/>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60" name="Isosceles Triangle 59"/>
          <p:cNvSpPr/>
          <p:nvPr/>
        </p:nvSpPr>
        <p:spPr bwMode="auto">
          <a:xfrm rot="5400000">
            <a:off x="5403850" y="3528619"/>
            <a:ext cx="1143000" cy="791363"/>
          </a:xfrm>
          <a:prstGeom prst="triangl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1391730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Accessing SAP</a:t>
            </a:r>
            <a:endParaRPr lang="en-US" dirty="0"/>
          </a:p>
        </p:txBody>
      </p:sp>
      <p:sp>
        <p:nvSpPr>
          <p:cNvPr id="3" name="Content Placeholder 2"/>
          <p:cNvSpPr>
            <a:spLocks noGrp="1"/>
          </p:cNvSpPr>
          <p:nvPr>
            <p:ph idx="1"/>
          </p:nvPr>
        </p:nvSpPr>
        <p:spPr/>
        <p:txBody>
          <a:bodyPr/>
          <a:lstStyle/>
          <a:p>
            <a:r>
              <a:rPr lang="en-US" dirty="0" smtClean="0"/>
              <a:t>Users will be able to access SAP through various channels based on job function, associated security, and task.</a:t>
            </a:r>
            <a:endParaRPr lang="en-US" dirty="0"/>
          </a:p>
        </p:txBody>
      </p:sp>
      <p:graphicFrame>
        <p:nvGraphicFramePr>
          <p:cNvPr id="5" name="Diagram 4"/>
          <p:cNvGraphicFramePr/>
          <p:nvPr>
            <p:extLst>
              <p:ext uri="{D42A27DB-BD31-4B8C-83A1-F6EECF244321}">
                <p14:modId xmlns:p14="http://schemas.microsoft.com/office/powerpoint/2010/main" val="3069483464"/>
              </p:ext>
            </p:extLst>
          </p:nvPr>
        </p:nvGraphicFramePr>
        <p:xfrm>
          <a:off x="304800" y="1981200"/>
          <a:ext cx="4876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ontent Placeholder 2"/>
          <p:cNvSpPr txBox="1">
            <a:spLocks/>
          </p:cNvSpPr>
          <p:nvPr/>
        </p:nvSpPr>
        <p:spPr bwMode="auto">
          <a:xfrm>
            <a:off x="4953000" y="2209800"/>
            <a:ext cx="3889375" cy="40687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ts val="30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ts val="300"/>
              </a:spcAft>
              <a:buFont typeface="Arial" charset="0"/>
              <a:buChar char="–"/>
              <a:defRPr sz="20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2pPr>
            <a:lvl3pPr marL="1143000" indent="-228600" algn="l" rtl="0" fontAlgn="base">
              <a:spcBef>
                <a:spcPct val="20000"/>
              </a:spcBef>
              <a:spcAft>
                <a:spcPts val="30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3pPr>
            <a:lvl4pPr marL="1600200" indent="-228600" algn="l" rtl="0" fontAlgn="base">
              <a:spcBef>
                <a:spcPct val="20000"/>
              </a:spcBef>
              <a:spcAft>
                <a:spcPts val="300"/>
              </a:spcAft>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4pPr>
            <a:lvl5pPr marL="2057400" indent="-228600" algn="l" rtl="0" fontAlgn="base">
              <a:spcBef>
                <a:spcPct val="20000"/>
              </a:spcBef>
              <a:spcAft>
                <a:spcPts val="30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342900" indent="-342900">
              <a:buFont typeface="Arial" pitchFamily="34" charset="0"/>
              <a:buChar char="•"/>
            </a:pPr>
            <a:r>
              <a:rPr lang="en-US" dirty="0"/>
              <a:t>IC Web – Web-enabled access for customer service representatives</a:t>
            </a:r>
          </a:p>
          <a:p>
            <a:pPr marL="342900" indent="-342900">
              <a:buFont typeface="Arial" pitchFamily="34" charset="0"/>
              <a:buChar char="•"/>
            </a:pPr>
            <a:endParaRPr lang="en-US" dirty="0" smtClean="0"/>
          </a:p>
          <a:p>
            <a:pPr marL="342900" indent="-342900">
              <a:buFont typeface="Arial" pitchFamily="34" charset="0"/>
              <a:buChar char="•"/>
            </a:pPr>
            <a:r>
              <a:rPr lang="en-US" dirty="0" smtClean="0"/>
              <a:t>ECC – Enterprise Central Component</a:t>
            </a:r>
          </a:p>
          <a:p>
            <a:pPr marL="342900" indent="-342900">
              <a:buFont typeface="Arial" pitchFamily="34" charset="0"/>
              <a:buChar char="•"/>
            </a:pPr>
            <a:endParaRPr lang="en-US" dirty="0"/>
          </a:p>
          <a:p>
            <a:pPr marL="342900" indent="-342900">
              <a:buFont typeface="Arial" pitchFamily="34" charset="0"/>
              <a:buChar char="•"/>
            </a:pPr>
            <a:r>
              <a:rPr lang="en-US" dirty="0" smtClean="0"/>
              <a:t>ESS – Employee Self-Service</a:t>
            </a:r>
          </a:p>
          <a:p>
            <a:pPr marL="342900" indent="-342900">
              <a:buFont typeface="Arial" pitchFamily="34" charset="0"/>
              <a:buChar char="•"/>
            </a:pPr>
            <a:endParaRPr lang="en-US" dirty="0"/>
          </a:p>
          <a:p>
            <a:pPr marL="342900" indent="-342900">
              <a:buFont typeface="Arial" pitchFamily="34" charset="0"/>
              <a:buChar char="•"/>
            </a:pPr>
            <a:r>
              <a:rPr lang="en-US" dirty="0" smtClean="0"/>
              <a:t>SRM – Supplier Relationship Management</a:t>
            </a:r>
          </a:p>
          <a:p>
            <a:endParaRPr lang="en-US" dirty="0"/>
          </a:p>
        </p:txBody>
      </p:sp>
    </p:spTree>
    <p:extLst>
      <p:ext uri="{BB962C8B-B14F-4D97-AF65-F5344CB8AC3E}">
        <p14:creationId xmlns:p14="http://schemas.microsoft.com/office/powerpoint/2010/main" val="3949087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Finance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Company</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4"/>
            <a:ext cx="4647569" cy="2131326"/>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1877437"/>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The Company is used to consolidate Company Code information for consolidated financial </a:t>
            </a:r>
            <a:r>
              <a:rPr lang="en-US" sz="1600" dirty="0" smtClean="0">
                <a:solidFill>
                  <a:schemeClr val="accent4">
                    <a:lumMod val="10000"/>
                  </a:schemeClr>
                </a:solidFill>
                <a:latin typeface="Verdana" pitchFamily="34" charset="0"/>
                <a:ea typeface="Verdana" pitchFamily="34" charset="0"/>
                <a:cs typeface="Verdana" pitchFamily="34" charset="0"/>
              </a:rPr>
              <a:t>reporting.</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Company </a:t>
            </a:r>
            <a:r>
              <a:rPr lang="en-US" sz="1600" dirty="0" smtClean="0">
                <a:solidFill>
                  <a:schemeClr val="accent4">
                    <a:lumMod val="10000"/>
                  </a:schemeClr>
                </a:solidFill>
                <a:latin typeface="Verdana" pitchFamily="34" charset="0"/>
                <a:ea typeface="Verdana" pitchFamily="34" charset="0"/>
                <a:cs typeface="Verdana" pitchFamily="34" charset="0"/>
              </a:rPr>
              <a:t>is </a:t>
            </a:r>
            <a:r>
              <a:rPr lang="en-US" sz="1600" dirty="0">
                <a:solidFill>
                  <a:schemeClr val="accent4">
                    <a:lumMod val="10000"/>
                  </a:schemeClr>
                </a:solidFill>
                <a:latin typeface="Verdana" pitchFamily="34" charset="0"/>
                <a:ea typeface="Verdana" pitchFamily="34" charset="0"/>
                <a:cs typeface="Verdana" pitchFamily="34" charset="0"/>
              </a:rPr>
              <a:t>represented by a </a:t>
            </a:r>
            <a:r>
              <a:rPr lang="en-US" sz="1600" dirty="0" smtClean="0">
                <a:solidFill>
                  <a:schemeClr val="accent4">
                    <a:lumMod val="10000"/>
                  </a:schemeClr>
                </a:solidFill>
                <a:latin typeface="Verdana" pitchFamily="34" charset="0"/>
                <a:ea typeface="Verdana" pitchFamily="34" charset="0"/>
                <a:cs typeface="Verdana" pitchFamily="34" charset="0"/>
              </a:rPr>
              <a:t>6 digit alpha-numeric field.</a:t>
            </a: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Company = LW0000</a:t>
            </a:r>
            <a:endParaRPr lang="en-US" sz="1600" dirty="0">
              <a:solidFill>
                <a:schemeClr val="accent4">
                  <a:lumMod val="10000"/>
                </a:schemeClr>
              </a:solidFill>
              <a:latin typeface="Verdana" pitchFamily="34" charset="0"/>
              <a:ea typeface="Verdana" pitchFamily="34" charset="0"/>
              <a:cs typeface="Verdana" pitchFamily="34" charset="0"/>
            </a:endParaRPr>
          </a:p>
        </p:txBody>
      </p:sp>
      <p:sp>
        <p:nvSpPr>
          <p:cNvPr id="14" name="Rectangle 50"/>
          <p:cNvSpPr>
            <a:spLocks noChangeArrowheads="1"/>
          </p:cNvSpPr>
          <p:nvPr/>
        </p:nvSpPr>
        <p:spPr bwMode="auto">
          <a:xfrm>
            <a:off x="11049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Tree>
    <p:extLst>
      <p:ext uri="{BB962C8B-B14F-4D97-AF65-F5344CB8AC3E}">
        <p14:creationId xmlns:p14="http://schemas.microsoft.com/office/powerpoint/2010/main" val="1424272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Finance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Controlling Area</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4"/>
            <a:ext cx="4647569" cy="4718868"/>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4555093"/>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Controlling Area is an organizational hierarchy element to which Cost Centers, Profit Centers and Cost Elements are assigned </a:t>
            </a:r>
            <a:r>
              <a:rPr lang="en-US" sz="1600" dirty="0" smtClean="0">
                <a:solidFill>
                  <a:schemeClr val="accent4">
                    <a:lumMod val="10000"/>
                  </a:schemeClr>
                </a:solidFill>
                <a:latin typeface="Verdana" pitchFamily="34" charset="0"/>
                <a:ea typeface="Verdana" pitchFamily="34" charset="0"/>
                <a:cs typeface="Verdana" pitchFamily="34" charset="0"/>
              </a:rPr>
              <a:t>to.</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All cost accounting components are self-contained within the Controlling </a:t>
            </a:r>
            <a:r>
              <a:rPr lang="en-US" sz="1600" dirty="0" smtClean="0">
                <a:solidFill>
                  <a:schemeClr val="accent4">
                    <a:lumMod val="10000"/>
                  </a:schemeClr>
                </a:solidFill>
                <a:latin typeface="Verdana" pitchFamily="34" charset="0"/>
                <a:ea typeface="Verdana" pitchFamily="34" charset="0"/>
                <a:cs typeface="Verdana" pitchFamily="34" charset="0"/>
              </a:rPr>
              <a:t>Module.</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The Controlling Area </a:t>
            </a:r>
            <a:r>
              <a:rPr lang="en-US" sz="1600" dirty="0" smtClean="0">
                <a:solidFill>
                  <a:schemeClr val="accent4">
                    <a:lumMod val="10000"/>
                  </a:schemeClr>
                </a:solidFill>
                <a:latin typeface="Verdana" pitchFamily="34" charset="0"/>
                <a:ea typeface="Verdana" pitchFamily="34" charset="0"/>
                <a:cs typeface="Verdana" pitchFamily="34" charset="0"/>
              </a:rPr>
              <a:t>also </a:t>
            </a:r>
            <a:r>
              <a:rPr lang="en-US" sz="1600" dirty="0">
                <a:solidFill>
                  <a:schemeClr val="accent4">
                    <a:lumMod val="10000"/>
                  </a:schemeClr>
                </a:solidFill>
                <a:latin typeface="Verdana" pitchFamily="34" charset="0"/>
                <a:ea typeface="Verdana" pitchFamily="34" charset="0"/>
                <a:cs typeface="Verdana" pitchFamily="34" charset="0"/>
              </a:rPr>
              <a:t>houses other cost objects such as </a:t>
            </a:r>
            <a:r>
              <a:rPr lang="en-US" sz="1600" dirty="0" smtClean="0">
                <a:solidFill>
                  <a:schemeClr val="accent4">
                    <a:lumMod val="10000"/>
                  </a:schemeClr>
                </a:solidFill>
                <a:latin typeface="Verdana" pitchFamily="34" charset="0"/>
                <a:ea typeface="Verdana" pitchFamily="34" charset="0"/>
                <a:cs typeface="Verdana" pitchFamily="34" charset="0"/>
              </a:rPr>
              <a:t>Work Breakdown </a:t>
            </a:r>
            <a:r>
              <a:rPr lang="en-US" sz="1600" dirty="0">
                <a:solidFill>
                  <a:schemeClr val="accent4">
                    <a:lumMod val="10000"/>
                  </a:schemeClr>
                </a:solidFill>
                <a:latin typeface="Verdana" pitchFamily="34" charset="0"/>
                <a:ea typeface="Verdana" pitchFamily="34" charset="0"/>
                <a:cs typeface="Verdana" pitchFamily="34" charset="0"/>
              </a:rPr>
              <a:t>Structure (WBS) elements.</a:t>
            </a: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The Controlling Area is a required element to enable cost </a:t>
            </a:r>
            <a:r>
              <a:rPr lang="en-US" sz="1600" dirty="0" smtClean="0">
                <a:solidFill>
                  <a:schemeClr val="accent4">
                    <a:lumMod val="10000"/>
                  </a:schemeClr>
                </a:solidFill>
                <a:latin typeface="Verdana" pitchFamily="34" charset="0"/>
                <a:ea typeface="Verdana" pitchFamily="34" charset="0"/>
                <a:cs typeface="Verdana" pitchFamily="34" charset="0"/>
              </a:rPr>
              <a:t>management.</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Controlling Area is represented by a 4 digit alpha-numeric </a:t>
            </a:r>
            <a:r>
              <a:rPr lang="en-US" sz="1600" dirty="0" smtClean="0">
                <a:solidFill>
                  <a:schemeClr val="accent4">
                    <a:lumMod val="10000"/>
                  </a:schemeClr>
                </a:solidFill>
                <a:latin typeface="Verdana" pitchFamily="34" charset="0"/>
                <a:ea typeface="Verdana" pitchFamily="34" charset="0"/>
                <a:cs typeface="Verdana" pitchFamily="34" charset="0"/>
              </a:rPr>
              <a:t>field.</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Controlling </a:t>
            </a:r>
            <a:r>
              <a:rPr lang="en-US" sz="1600" dirty="0">
                <a:solidFill>
                  <a:schemeClr val="accent4">
                    <a:lumMod val="10000"/>
                  </a:schemeClr>
                </a:solidFill>
                <a:latin typeface="Verdana" pitchFamily="34" charset="0"/>
                <a:ea typeface="Verdana" pitchFamily="34" charset="0"/>
                <a:cs typeface="Verdana" pitchFamily="34" charset="0"/>
              </a:rPr>
              <a:t>Area </a:t>
            </a:r>
            <a:r>
              <a:rPr lang="en-US" sz="1600" dirty="0" smtClean="0">
                <a:solidFill>
                  <a:schemeClr val="accent4">
                    <a:lumMod val="10000"/>
                  </a:schemeClr>
                </a:solidFill>
                <a:latin typeface="Verdana" pitchFamily="34" charset="0"/>
                <a:ea typeface="Verdana" pitchFamily="34" charset="0"/>
                <a:cs typeface="Verdana" pitchFamily="34" charset="0"/>
              </a:rPr>
              <a:t>= </a:t>
            </a:r>
            <a:r>
              <a:rPr lang="en-US" sz="1600" dirty="0">
                <a:solidFill>
                  <a:schemeClr val="accent4">
                    <a:lumMod val="10000"/>
                  </a:schemeClr>
                </a:solidFill>
                <a:latin typeface="Verdana" pitchFamily="34" charset="0"/>
                <a:ea typeface="Verdana" pitchFamily="34" charset="0"/>
                <a:cs typeface="Verdana" pitchFamily="34" charset="0"/>
              </a:rPr>
              <a:t>LW00</a:t>
            </a:r>
          </a:p>
        </p:txBody>
      </p:sp>
      <p:sp>
        <p:nvSpPr>
          <p:cNvPr id="15" name="Rectangle 50"/>
          <p:cNvSpPr>
            <a:spLocks noChangeArrowheads="1"/>
          </p:cNvSpPr>
          <p:nvPr/>
        </p:nvSpPr>
        <p:spPr bwMode="auto">
          <a:xfrm>
            <a:off x="11049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16" name="Rectangle 50"/>
          <p:cNvSpPr>
            <a:spLocks noChangeArrowheads="1"/>
          </p:cNvSpPr>
          <p:nvPr/>
        </p:nvSpPr>
        <p:spPr bwMode="auto">
          <a:xfrm>
            <a:off x="6477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cxnSp>
        <p:nvCxnSpPr>
          <p:cNvPr id="22" name="Straight Connector 21"/>
          <p:cNvCxnSpPr>
            <a:stCxn id="16" idx="0"/>
            <a:endCxn id="15" idx="2"/>
          </p:cNvCxnSpPr>
          <p:nvPr/>
        </p:nvCxnSpPr>
        <p:spPr bwMode="auto">
          <a:xfrm flipV="1">
            <a:off x="16764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1270244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Finance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Chart of Accounts</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3"/>
            <a:ext cx="4647569" cy="3579127"/>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3323987"/>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dirty="0">
                <a:solidFill>
                  <a:schemeClr val="bg2"/>
                </a:solidFill>
              </a:rPr>
              <a:t>Chart of Accounts is the organizational unit (holder) which contains all General Ledger accounts used by the Company Code.</a:t>
            </a:r>
          </a:p>
          <a:p>
            <a:pPr marL="285750" lvl="0" indent="-285750">
              <a:spcBef>
                <a:spcPts val="600"/>
              </a:spcBef>
              <a:spcAft>
                <a:spcPts val="600"/>
              </a:spcAft>
              <a:buFont typeface="Arial" pitchFamily="34" charset="0"/>
              <a:buChar char="•"/>
            </a:pPr>
            <a:r>
              <a:rPr lang="en-US" dirty="0">
                <a:solidFill>
                  <a:schemeClr val="bg2"/>
                </a:solidFill>
              </a:rPr>
              <a:t>Chart of Accounts contains the proprietary  GL </a:t>
            </a:r>
            <a:r>
              <a:rPr lang="en-US" dirty="0" smtClean="0">
                <a:solidFill>
                  <a:schemeClr val="bg2"/>
                </a:solidFill>
              </a:rPr>
              <a:t>Accounts.</a:t>
            </a:r>
            <a:endParaRPr lang="en-US" dirty="0">
              <a:solidFill>
                <a:schemeClr val="bg2"/>
              </a:solidFill>
            </a:endParaRPr>
          </a:p>
          <a:p>
            <a:pPr marL="285750" lvl="0" indent="-285750">
              <a:spcBef>
                <a:spcPts val="600"/>
              </a:spcBef>
              <a:spcAft>
                <a:spcPts val="600"/>
              </a:spcAft>
              <a:buFont typeface="Arial" pitchFamily="34" charset="0"/>
              <a:buChar char="•"/>
            </a:pPr>
            <a:r>
              <a:rPr lang="en-US" dirty="0">
                <a:solidFill>
                  <a:schemeClr val="bg2"/>
                </a:solidFill>
              </a:rPr>
              <a:t>The Chart of Accounts Organizational Unit name is a 4  digit alpha-numeric </a:t>
            </a:r>
            <a:r>
              <a:rPr lang="en-US" dirty="0" smtClean="0">
                <a:solidFill>
                  <a:schemeClr val="bg2"/>
                </a:solidFill>
              </a:rPr>
              <a:t>field.</a:t>
            </a:r>
            <a:endParaRPr lang="en-US" dirty="0">
              <a:solidFill>
                <a:schemeClr val="bg2"/>
              </a:solidFill>
            </a:endParaRPr>
          </a:p>
          <a:p>
            <a:pPr marL="285750" lvl="0" indent="-285750">
              <a:spcBef>
                <a:spcPts val="600"/>
              </a:spcBef>
              <a:spcAft>
                <a:spcPts val="600"/>
              </a:spcAft>
              <a:buFont typeface="Arial" pitchFamily="34" charset="0"/>
              <a:buChar char="•"/>
            </a:pPr>
            <a:r>
              <a:rPr lang="en-US" dirty="0" smtClean="0">
                <a:solidFill>
                  <a:schemeClr val="bg2"/>
                </a:solidFill>
              </a:rPr>
              <a:t>Chart </a:t>
            </a:r>
            <a:r>
              <a:rPr lang="en-US" dirty="0">
                <a:solidFill>
                  <a:schemeClr val="bg2"/>
                </a:solidFill>
              </a:rPr>
              <a:t>of Accounts = LW00</a:t>
            </a:r>
          </a:p>
        </p:txBody>
      </p:sp>
      <p:sp>
        <p:nvSpPr>
          <p:cNvPr id="13" name="Rectangle 50"/>
          <p:cNvSpPr>
            <a:spLocks noChangeArrowheads="1"/>
          </p:cNvSpPr>
          <p:nvPr/>
        </p:nvSpPr>
        <p:spPr bwMode="auto">
          <a:xfrm>
            <a:off x="11049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14" name="Rectangle 50"/>
          <p:cNvSpPr>
            <a:spLocks noChangeArrowheads="1"/>
          </p:cNvSpPr>
          <p:nvPr/>
        </p:nvSpPr>
        <p:spPr bwMode="auto">
          <a:xfrm>
            <a:off x="6477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cxnSp>
        <p:nvCxnSpPr>
          <p:cNvPr id="20" name="Straight Connector 19"/>
          <p:cNvCxnSpPr>
            <a:stCxn id="14" idx="0"/>
            <a:endCxn id="13" idx="2"/>
          </p:cNvCxnSpPr>
          <p:nvPr/>
        </p:nvCxnSpPr>
        <p:spPr bwMode="auto">
          <a:xfrm flipV="1">
            <a:off x="16764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26" name="Rectangle 50"/>
          <p:cNvSpPr>
            <a:spLocks noChangeArrowheads="1"/>
          </p:cNvSpPr>
          <p:nvPr/>
        </p:nvSpPr>
        <p:spPr bwMode="auto">
          <a:xfrm>
            <a:off x="3016155" y="1883392"/>
            <a:ext cx="1022445" cy="685800"/>
          </a:xfrm>
          <a:prstGeom prst="rect">
            <a:avLst/>
          </a:prstGeom>
          <a:ln>
            <a:solidFill>
              <a:schemeClr val="accent6">
                <a:lumMod val="75000"/>
              </a:schemeClr>
            </a:solidFill>
            <a:headEnd/>
            <a:tailEnd/>
          </a:ln>
        </p:spPr>
        <p:style>
          <a:lnRef idx="3">
            <a:schemeClr val="lt1"/>
          </a:lnRef>
          <a:fillRef idx="1">
            <a:schemeClr val="accent2"/>
          </a:fillRef>
          <a:effectRef idx="1">
            <a:schemeClr val="accent2"/>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Chart of Accounts LW00</a:t>
            </a:r>
            <a:endParaRPr lang="en-US" sz="1400" kern="0" noProof="1">
              <a:solidFill>
                <a:schemeClr val="tx1"/>
              </a:solidFill>
              <a:latin typeface="Verdana" pitchFamily="34" charset="0"/>
              <a:ea typeface="Verdana" pitchFamily="34" charset="0"/>
              <a:cs typeface="Verdana" pitchFamily="34" charset="0"/>
            </a:endParaRPr>
          </a:p>
        </p:txBody>
      </p:sp>
      <p:cxnSp>
        <p:nvCxnSpPr>
          <p:cNvPr id="5" name="Straight Connector 4"/>
          <p:cNvCxnSpPr>
            <a:stCxn id="26" idx="1"/>
            <a:endCxn id="14" idx="3"/>
          </p:cNvCxnSpPr>
          <p:nvPr/>
        </p:nvCxnSpPr>
        <p:spPr bwMode="auto">
          <a:xfrm flipH="1" flipV="1">
            <a:off x="2705100" y="2222310"/>
            <a:ext cx="311055" cy="3982"/>
          </a:xfrm>
          <a:prstGeom prst="line">
            <a:avLst/>
          </a:prstGeom>
          <a:solidFill>
            <a:schemeClr val="accent1"/>
          </a:solidFill>
          <a:ln w="9525" cap="flat" cmpd="sng" algn="ctr">
            <a:solidFill>
              <a:schemeClr val="accent6">
                <a:lumMod val="75000"/>
              </a:schemeClr>
            </a:solidFill>
            <a:prstDash val="solid"/>
            <a:round/>
            <a:headEnd type="none" w="med" len="med"/>
            <a:tailEnd type="none" w="med" len="med"/>
          </a:ln>
          <a:effectLst/>
        </p:spPr>
      </p:cxnSp>
    </p:spTree>
    <p:extLst>
      <p:ext uri="{BB962C8B-B14F-4D97-AF65-F5344CB8AC3E}">
        <p14:creationId xmlns:p14="http://schemas.microsoft.com/office/powerpoint/2010/main" val="3373022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Finance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General Ledger Accounts</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3"/>
            <a:ext cx="4647569" cy="4645927"/>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4339650"/>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General Ledger (GL) accounts are the structures that classify debit and credit values for accounting transactions </a:t>
            </a:r>
            <a:r>
              <a:rPr lang="en-US" sz="1600" dirty="0" smtClean="0">
                <a:solidFill>
                  <a:schemeClr val="accent4">
                    <a:lumMod val="10000"/>
                  </a:schemeClr>
                </a:solidFill>
                <a:latin typeface="Verdana" pitchFamily="34" charset="0"/>
                <a:ea typeface="Verdana" pitchFamily="34" charset="0"/>
                <a:cs typeface="Verdana" pitchFamily="34" charset="0"/>
              </a:rPr>
              <a:t>and </a:t>
            </a:r>
            <a:r>
              <a:rPr lang="en-US" sz="1600" dirty="0">
                <a:solidFill>
                  <a:schemeClr val="accent4">
                    <a:lumMod val="10000"/>
                  </a:schemeClr>
                </a:solidFill>
                <a:latin typeface="Verdana" pitchFamily="34" charset="0"/>
                <a:ea typeface="Verdana" pitchFamily="34" charset="0"/>
                <a:cs typeface="Verdana" pitchFamily="34" charset="0"/>
              </a:rPr>
              <a:t>form the basis for creating financial statements </a:t>
            </a: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GL </a:t>
            </a:r>
            <a:r>
              <a:rPr lang="en-US" sz="1600" dirty="0">
                <a:solidFill>
                  <a:schemeClr val="accent4">
                    <a:lumMod val="10000"/>
                  </a:schemeClr>
                </a:solidFill>
                <a:latin typeface="Verdana" pitchFamily="34" charset="0"/>
                <a:ea typeface="Verdana" pitchFamily="34" charset="0"/>
                <a:cs typeface="Verdana" pitchFamily="34" charset="0"/>
              </a:rPr>
              <a:t>accounts </a:t>
            </a:r>
            <a:r>
              <a:rPr lang="en-US" sz="1600" dirty="0" smtClean="0">
                <a:solidFill>
                  <a:schemeClr val="accent4">
                    <a:lumMod val="10000"/>
                  </a:schemeClr>
                </a:solidFill>
                <a:latin typeface="Verdana" pitchFamily="34" charset="0"/>
                <a:ea typeface="Verdana" pitchFamily="34" charset="0"/>
                <a:cs typeface="Verdana" pitchFamily="34" charset="0"/>
              </a:rPr>
              <a:t>represent </a:t>
            </a:r>
            <a:r>
              <a:rPr lang="en-US" sz="1600" dirty="0">
                <a:solidFill>
                  <a:schemeClr val="accent4">
                    <a:lumMod val="10000"/>
                  </a:schemeClr>
                </a:solidFill>
                <a:latin typeface="Verdana" pitchFamily="34" charset="0"/>
                <a:ea typeface="Verdana" pitchFamily="34" charset="0"/>
                <a:cs typeface="Verdana" pitchFamily="34" charset="0"/>
              </a:rPr>
              <a:t>types of financial postings such as Assets, Liabilities, Revenues, and Expenses and are created at the lowest possible level to capture financial information, both for internal and external reporting, analysis and reconciliation. </a:t>
            </a:r>
            <a:endParaRPr lang="en-US" sz="1600" dirty="0" smtClean="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The </a:t>
            </a:r>
            <a:r>
              <a:rPr lang="en-US" sz="1600" dirty="0">
                <a:solidFill>
                  <a:schemeClr val="accent4">
                    <a:lumMod val="10000"/>
                  </a:schemeClr>
                </a:solidFill>
                <a:latin typeface="Verdana" pitchFamily="34" charset="0"/>
                <a:ea typeface="Verdana" pitchFamily="34" charset="0"/>
                <a:cs typeface="Verdana" pitchFamily="34" charset="0"/>
              </a:rPr>
              <a:t>GL Account field is a 10-position numeric </a:t>
            </a:r>
            <a:r>
              <a:rPr lang="en-US" sz="1600" dirty="0" smtClean="0">
                <a:solidFill>
                  <a:schemeClr val="accent4">
                    <a:lumMod val="10000"/>
                  </a:schemeClr>
                </a:solidFill>
                <a:latin typeface="Verdana" pitchFamily="34" charset="0"/>
                <a:ea typeface="Verdana" pitchFamily="34" charset="0"/>
                <a:cs typeface="Verdana" pitchFamily="34" charset="0"/>
              </a:rPr>
              <a:t>field and are </a:t>
            </a:r>
            <a:r>
              <a:rPr lang="en-US" sz="1600" dirty="0">
                <a:solidFill>
                  <a:schemeClr val="accent4">
                    <a:lumMod val="10000"/>
                  </a:schemeClr>
                </a:solidFill>
                <a:latin typeface="Verdana" pitchFamily="34" charset="0"/>
                <a:ea typeface="Verdana" pitchFamily="34" charset="0"/>
                <a:cs typeface="Verdana" pitchFamily="34" charset="0"/>
              </a:rPr>
              <a:t>based on the existing Loudoun Water 6 digit GL accounts and account groupings. </a:t>
            </a:r>
          </a:p>
        </p:txBody>
      </p:sp>
      <p:sp>
        <p:nvSpPr>
          <p:cNvPr id="346" name="Rectangle 177"/>
          <p:cNvSpPr>
            <a:spLocks noChangeArrowheads="1"/>
          </p:cNvSpPr>
          <p:nvPr/>
        </p:nvSpPr>
        <p:spPr bwMode="auto">
          <a:xfrm>
            <a:off x="2717800" y="1752600"/>
            <a:ext cx="1625600" cy="409575"/>
          </a:xfrm>
          <a:prstGeom prst="rect">
            <a:avLst/>
          </a:prstGeom>
          <a:noFill/>
          <a:ln w="9525">
            <a:noFill/>
            <a:miter lim="800000"/>
            <a:headEnd/>
            <a:tailEnd/>
          </a:ln>
        </p:spPr>
        <p:txBody>
          <a:bodyPr/>
          <a:lstStyle/>
          <a:p>
            <a:endParaRPr lang="en-US" sz="1800" b="0">
              <a:latin typeface="Arial" charset="0"/>
            </a:endParaRPr>
          </a:p>
        </p:txBody>
      </p:sp>
      <p:grpSp>
        <p:nvGrpSpPr>
          <p:cNvPr id="2" name="Group 1"/>
          <p:cNvGrpSpPr/>
          <p:nvPr/>
        </p:nvGrpSpPr>
        <p:grpSpPr>
          <a:xfrm>
            <a:off x="241073" y="1464469"/>
            <a:ext cx="3855471" cy="3183731"/>
            <a:chOff x="241073" y="1464469"/>
            <a:chExt cx="3855471" cy="3183731"/>
          </a:xfrm>
        </p:grpSpPr>
        <p:sp>
          <p:nvSpPr>
            <p:cNvPr id="218" name="Rectangle 12"/>
            <p:cNvSpPr>
              <a:spLocks noChangeArrowheads="1"/>
            </p:cNvSpPr>
            <p:nvPr/>
          </p:nvSpPr>
          <p:spPr bwMode="auto">
            <a:xfrm>
              <a:off x="625248" y="2791619"/>
              <a:ext cx="538163" cy="366713"/>
            </a:xfrm>
            <a:prstGeom prst="rect">
              <a:avLst/>
            </a:prstGeom>
            <a:solidFill>
              <a:srgbClr val="CECECE"/>
            </a:solidFill>
            <a:ln w="5">
              <a:solidFill>
                <a:srgbClr val="000000"/>
              </a:solidFill>
              <a:miter lim="800000"/>
              <a:headEnd/>
              <a:tailEnd/>
            </a:ln>
          </p:spPr>
          <p:txBody>
            <a:bodyPr/>
            <a:lstStyle/>
            <a:p>
              <a:endParaRPr lang="en-US" sz="1800" b="0">
                <a:latin typeface="Arial" charset="0"/>
              </a:endParaRPr>
            </a:p>
          </p:txBody>
        </p:sp>
        <p:sp>
          <p:nvSpPr>
            <p:cNvPr id="219" name="Rectangle 13"/>
            <p:cNvSpPr>
              <a:spLocks noChangeArrowheads="1"/>
            </p:cNvSpPr>
            <p:nvPr/>
          </p:nvSpPr>
          <p:spPr bwMode="auto">
            <a:xfrm>
              <a:off x="625248" y="3161506"/>
              <a:ext cx="538163" cy="368300"/>
            </a:xfrm>
            <a:prstGeom prst="rect">
              <a:avLst/>
            </a:prstGeom>
            <a:solidFill>
              <a:srgbClr val="CECECE"/>
            </a:solidFill>
            <a:ln w="5">
              <a:solidFill>
                <a:srgbClr val="000000"/>
              </a:solidFill>
              <a:miter lim="800000"/>
              <a:headEnd/>
              <a:tailEnd/>
            </a:ln>
          </p:spPr>
          <p:txBody>
            <a:bodyPr/>
            <a:lstStyle/>
            <a:p>
              <a:endParaRPr lang="en-US" sz="1800" b="0">
                <a:latin typeface="Arial" charset="0"/>
              </a:endParaRPr>
            </a:p>
          </p:txBody>
        </p:sp>
        <p:sp>
          <p:nvSpPr>
            <p:cNvPr id="220" name="Rectangle 14"/>
            <p:cNvSpPr>
              <a:spLocks noChangeArrowheads="1"/>
            </p:cNvSpPr>
            <p:nvPr/>
          </p:nvSpPr>
          <p:spPr bwMode="auto">
            <a:xfrm>
              <a:off x="625248" y="2428082"/>
              <a:ext cx="538163" cy="366713"/>
            </a:xfrm>
            <a:prstGeom prst="rect">
              <a:avLst/>
            </a:prstGeom>
            <a:solidFill>
              <a:srgbClr val="CECECE"/>
            </a:solidFill>
            <a:ln w="5">
              <a:solidFill>
                <a:srgbClr val="000000"/>
              </a:solidFill>
              <a:miter lim="800000"/>
              <a:headEnd/>
              <a:tailEnd/>
            </a:ln>
          </p:spPr>
          <p:txBody>
            <a:bodyPr/>
            <a:lstStyle/>
            <a:p>
              <a:endParaRPr lang="en-US" sz="1800" b="0">
                <a:latin typeface="Arial" charset="0"/>
              </a:endParaRPr>
            </a:p>
          </p:txBody>
        </p:sp>
        <p:sp>
          <p:nvSpPr>
            <p:cNvPr id="221" name="Rectangle 15"/>
            <p:cNvSpPr>
              <a:spLocks noChangeArrowheads="1"/>
            </p:cNvSpPr>
            <p:nvPr/>
          </p:nvSpPr>
          <p:spPr bwMode="auto">
            <a:xfrm>
              <a:off x="699860" y="2478882"/>
              <a:ext cx="390525" cy="123825"/>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222" name="Rectangle 16"/>
            <p:cNvSpPr>
              <a:spLocks noChangeArrowheads="1"/>
            </p:cNvSpPr>
            <p:nvPr/>
          </p:nvSpPr>
          <p:spPr bwMode="auto">
            <a:xfrm>
              <a:off x="696685" y="2443957"/>
              <a:ext cx="198438" cy="195263"/>
            </a:xfrm>
            <a:prstGeom prst="rect">
              <a:avLst/>
            </a:prstGeom>
            <a:noFill/>
            <a:ln w="9525">
              <a:noFill/>
              <a:miter lim="800000"/>
              <a:headEnd/>
              <a:tailEnd/>
            </a:ln>
          </p:spPr>
          <p:txBody>
            <a:bodyPr/>
            <a:lstStyle/>
            <a:p>
              <a:endParaRPr lang="en-US" sz="1800" b="0">
                <a:latin typeface="Arial" charset="0"/>
              </a:endParaRPr>
            </a:p>
          </p:txBody>
        </p:sp>
        <p:sp>
          <p:nvSpPr>
            <p:cNvPr id="223" name="Rectangle 17"/>
            <p:cNvSpPr>
              <a:spLocks noChangeArrowheads="1"/>
            </p:cNvSpPr>
            <p:nvPr/>
          </p:nvSpPr>
          <p:spPr bwMode="auto">
            <a:xfrm>
              <a:off x="752248" y="2477294"/>
              <a:ext cx="131763" cy="157163"/>
            </a:xfrm>
            <a:prstGeom prst="rect">
              <a:avLst/>
            </a:prstGeom>
            <a:noFill/>
            <a:ln w="9525">
              <a:noFill/>
              <a:miter lim="800000"/>
              <a:headEnd/>
              <a:tailEnd/>
            </a:ln>
          </p:spPr>
          <p:txBody>
            <a:bodyPr wrap="none" lIns="0" tIns="0" rIns="0" bIns="0">
              <a:spAutoFit/>
            </a:bodyPr>
            <a:lstStyle/>
            <a:p>
              <a:r>
                <a:rPr lang="en-US" sz="900" b="0">
                  <a:solidFill>
                    <a:srgbClr val="000000"/>
                  </a:solidFill>
                  <a:latin typeface="Arial" charset="0"/>
                  <a:cs typeface="Arial" charset="0"/>
                </a:rPr>
                <a:t>C</a:t>
              </a:r>
              <a:endParaRPr lang="en-US" sz="1800" b="0">
                <a:latin typeface="Arial" charset="0"/>
                <a:cs typeface="Arial" charset="0"/>
              </a:endParaRPr>
            </a:p>
          </p:txBody>
        </p:sp>
        <p:grpSp>
          <p:nvGrpSpPr>
            <p:cNvPr id="224" name="Group 20"/>
            <p:cNvGrpSpPr>
              <a:grpSpLocks/>
            </p:cNvGrpSpPr>
            <p:nvPr/>
          </p:nvGrpSpPr>
          <p:grpSpPr bwMode="auto">
            <a:xfrm>
              <a:off x="241073" y="1820069"/>
              <a:ext cx="922338" cy="233363"/>
              <a:chOff x="1533" y="1668"/>
              <a:chExt cx="581" cy="147"/>
            </a:xfrm>
          </p:grpSpPr>
          <p:sp>
            <p:nvSpPr>
              <p:cNvPr id="416" name="Freeform 18"/>
              <p:cNvSpPr>
                <a:spLocks/>
              </p:cNvSpPr>
              <p:nvPr/>
            </p:nvSpPr>
            <p:spPr bwMode="auto">
              <a:xfrm>
                <a:off x="1533" y="1668"/>
                <a:ext cx="581" cy="147"/>
              </a:xfrm>
              <a:custGeom>
                <a:avLst/>
                <a:gdLst>
                  <a:gd name="T0" fmla="*/ 581 w 581"/>
                  <a:gd name="T1" fmla="*/ 147 h 147"/>
                  <a:gd name="T2" fmla="*/ 239 w 581"/>
                  <a:gd name="T3" fmla="*/ 147 h 147"/>
                  <a:gd name="T4" fmla="*/ 0 w 581"/>
                  <a:gd name="T5" fmla="*/ 0 h 147"/>
                  <a:gd name="T6" fmla="*/ 273 w 581"/>
                  <a:gd name="T7" fmla="*/ 2 h 147"/>
                  <a:gd name="T8" fmla="*/ 581 w 581"/>
                  <a:gd name="T9" fmla="*/ 147 h 147"/>
                  <a:gd name="T10" fmla="*/ 0 60000 65536"/>
                  <a:gd name="T11" fmla="*/ 0 60000 65536"/>
                  <a:gd name="T12" fmla="*/ 0 60000 65536"/>
                  <a:gd name="T13" fmla="*/ 0 60000 65536"/>
                  <a:gd name="T14" fmla="*/ 0 60000 65536"/>
                  <a:gd name="T15" fmla="*/ 0 w 581"/>
                  <a:gd name="T16" fmla="*/ 0 h 147"/>
                  <a:gd name="T17" fmla="*/ 581 w 581"/>
                  <a:gd name="T18" fmla="*/ 147 h 147"/>
                </a:gdLst>
                <a:ahLst/>
                <a:cxnLst>
                  <a:cxn ang="T10">
                    <a:pos x="T0" y="T1"/>
                  </a:cxn>
                  <a:cxn ang="T11">
                    <a:pos x="T2" y="T3"/>
                  </a:cxn>
                  <a:cxn ang="T12">
                    <a:pos x="T4" y="T5"/>
                  </a:cxn>
                  <a:cxn ang="T13">
                    <a:pos x="T6" y="T7"/>
                  </a:cxn>
                  <a:cxn ang="T14">
                    <a:pos x="T8" y="T9"/>
                  </a:cxn>
                </a:cxnLst>
                <a:rect l="T15" t="T16" r="T17" b="T18"/>
                <a:pathLst>
                  <a:path w="581" h="147">
                    <a:moveTo>
                      <a:pt x="581" y="147"/>
                    </a:moveTo>
                    <a:lnTo>
                      <a:pt x="239" y="147"/>
                    </a:lnTo>
                    <a:lnTo>
                      <a:pt x="0" y="0"/>
                    </a:lnTo>
                    <a:lnTo>
                      <a:pt x="273" y="2"/>
                    </a:lnTo>
                    <a:lnTo>
                      <a:pt x="581" y="147"/>
                    </a:lnTo>
                    <a:close/>
                  </a:path>
                </a:pathLst>
              </a:custGeom>
              <a:solidFill>
                <a:srgbClr val="DADADA"/>
              </a:solidFill>
              <a:ln w="9525">
                <a:noFill/>
                <a:round/>
                <a:headEnd/>
                <a:tailEnd/>
              </a:ln>
            </p:spPr>
            <p:txBody>
              <a:bodyPr/>
              <a:lstStyle/>
              <a:p>
                <a:endParaRPr lang="en-US"/>
              </a:p>
            </p:txBody>
          </p:sp>
          <p:sp>
            <p:nvSpPr>
              <p:cNvPr id="417" name="Freeform 19"/>
              <p:cNvSpPr>
                <a:spLocks/>
              </p:cNvSpPr>
              <p:nvPr/>
            </p:nvSpPr>
            <p:spPr bwMode="auto">
              <a:xfrm>
                <a:off x="1533" y="1668"/>
                <a:ext cx="581" cy="147"/>
              </a:xfrm>
              <a:custGeom>
                <a:avLst/>
                <a:gdLst>
                  <a:gd name="T0" fmla="*/ 581 w 581"/>
                  <a:gd name="T1" fmla="*/ 147 h 147"/>
                  <a:gd name="T2" fmla="*/ 239 w 581"/>
                  <a:gd name="T3" fmla="*/ 147 h 147"/>
                  <a:gd name="T4" fmla="*/ 0 w 581"/>
                  <a:gd name="T5" fmla="*/ 0 h 147"/>
                  <a:gd name="T6" fmla="*/ 273 w 581"/>
                  <a:gd name="T7" fmla="*/ 2 h 147"/>
                  <a:gd name="T8" fmla="*/ 581 w 581"/>
                  <a:gd name="T9" fmla="*/ 147 h 147"/>
                  <a:gd name="T10" fmla="*/ 0 60000 65536"/>
                  <a:gd name="T11" fmla="*/ 0 60000 65536"/>
                  <a:gd name="T12" fmla="*/ 0 60000 65536"/>
                  <a:gd name="T13" fmla="*/ 0 60000 65536"/>
                  <a:gd name="T14" fmla="*/ 0 60000 65536"/>
                  <a:gd name="T15" fmla="*/ 0 w 581"/>
                  <a:gd name="T16" fmla="*/ 0 h 147"/>
                  <a:gd name="T17" fmla="*/ 581 w 581"/>
                  <a:gd name="T18" fmla="*/ 147 h 147"/>
                </a:gdLst>
                <a:ahLst/>
                <a:cxnLst>
                  <a:cxn ang="T10">
                    <a:pos x="T0" y="T1"/>
                  </a:cxn>
                  <a:cxn ang="T11">
                    <a:pos x="T2" y="T3"/>
                  </a:cxn>
                  <a:cxn ang="T12">
                    <a:pos x="T4" y="T5"/>
                  </a:cxn>
                  <a:cxn ang="T13">
                    <a:pos x="T6" y="T7"/>
                  </a:cxn>
                  <a:cxn ang="T14">
                    <a:pos x="T8" y="T9"/>
                  </a:cxn>
                </a:cxnLst>
                <a:rect l="T15" t="T16" r="T17" b="T18"/>
                <a:pathLst>
                  <a:path w="581" h="147">
                    <a:moveTo>
                      <a:pt x="581" y="147"/>
                    </a:moveTo>
                    <a:lnTo>
                      <a:pt x="239" y="147"/>
                    </a:lnTo>
                    <a:lnTo>
                      <a:pt x="0" y="0"/>
                    </a:lnTo>
                    <a:lnTo>
                      <a:pt x="273" y="2"/>
                    </a:lnTo>
                    <a:lnTo>
                      <a:pt x="581" y="147"/>
                    </a:lnTo>
                  </a:path>
                </a:pathLst>
              </a:custGeom>
              <a:noFill/>
              <a:ln w="5">
                <a:solidFill>
                  <a:srgbClr val="000000"/>
                </a:solidFill>
                <a:round/>
                <a:headEnd/>
                <a:tailEnd/>
              </a:ln>
            </p:spPr>
            <p:txBody>
              <a:bodyPr/>
              <a:lstStyle/>
              <a:p>
                <a:endParaRPr lang="en-US"/>
              </a:p>
            </p:txBody>
          </p:sp>
        </p:grpSp>
        <p:grpSp>
          <p:nvGrpSpPr>
            <p:cNvPr id="225" name="Group 23"/>
            <p:cNvGrpSpPr>
              <a:grpSpLocks/>
            </p:cNvGrpSpPr>
            <p:nvPr/>
          </p:nvGrpSpPr>
          <p:grpSpPr bwMode="auto">
            <a:xfrm>
              <a:off x="242660" y="1823244"/>
              <a:ext cx="377825" cy="2819399"/>
              <a:chOff x="1534" y="1670"/>
              <a:chExt cx="238" cy="1776"/>
            </a:xfrm>
          </p:grpSpPr>
          <p:sp>
            <p:nvSpPr>
              <p:cNvPr id="414" name="Freeform 21"/>
              <p:cNvSpPr>
                <a:spLocks/>
              </p:cNvSpPr>
              <p:nvPr/>
            </p:nvSpPr>
            <p:spPr bwMode="auto">
              <a:xfrm>
                <a:off x="1534" y="1670"/>
                <a:ext cx="238" cy="1776"/>
              </a:xfrm>
              <a:custGeom>
                <a:avLst/>
                <a:gdLst>
                  <a:gd name="T0" fmla="*/ 238 w 238"/>
                  <a:gd name="T1" fmla="*/ 1776 h 1776"/>
                  <a:gd name="T2" fmla="*/ 238 w 238"/>
                  <a:gd name="T3" fmla="*/ 144 h 1776"/>
                  <a:gd name="T4" fmla="*/ 0 w 238"/>
                  <a:gd name="T5" fmla="*/ 0 h 1776"/>
                  <a:gd name="T6" fmla="*/ 0 w 238"/>
                  <a:gd name="T7" fmla="*/ 1513 h 1776"/>
                  <a:gd name="T8" fmla="*/ 238 w 238"/>
                  <a:gd name="T9" fmla="*/ 1776 h 1776"/>
                  <a:gd name="T10" fmla="*/ 0 60000 65536"/>
                  <a:gd name="T11" fmla="*/ 0 60000 65536"/>
                  <a:gd name="T12" fmla="*/ 0 60000 65536"/>
                  <a:gd name="T13" fmla="*/ 0 60000 65536"/>
                  <a:gd name="T14" fmla="*/ 0 60000 65536"/>
                  <a:gd name="T15" fmla="*/ 0 w 238"/>
                  <a:gd name="T16" fmla="*/ 0 h 1776"/>
                  <a:gd name="T17" fmla="*/ 238 w 238"/>
                  <a:gd name="T18" fmla="*/ 1776 h 1776"/>
                </a:gdLst>
                <a:ahLst/>
                <a:cxnLst>
                  <a:cxn ang="T10">
                    <a:pos x="T0" y="T1"/>
                  </a:cxn>
                  <a:cxn ang="T11">
                    <a:pos x="T2" y="T3"/>
                  </a:cxn>
                  <a:cxn ang="T12">
                    <a:pos x="T4" y="T5"/>
                  </a:cxn>
                  <a:cxn ang="T13">
                    <a:pos x="T6" y="T7"/>
                  </a:cxn>
                  <a:cxn ang="T14">
                    <a:pos x="T8" y="T9"/>
                  </a:cxn>
                </a:cxnLst>
                <a:rect l="T15" t="T16" r="T17" b="T18"/>
                <a:pathLst>
                  <a:path w="238" h="1776">
                    <a:moveTo>
                      <a:pt x="238" y="1776"/>
                    </a:moveTo>
                    <a:lnTo>
                      <a:pt x="238" y="144"/>
                    </a:lnTo>
                    <a:lnTo>
                      <a:pt x="0" y="0"/>
                    </a:lnTo>
                    <a:lnTo>
                      <a:pt x="0" y="1513"/>
                    </a:lnTo>
                    <a:lnTo>
                      <a:pt x="238" y="1776"/>
                    </a:lnTo>
                    <a:close/>
                  </a:path>
                </a:pathLst>
              </a:custGeom>
              <a:solidFill>
                <a:srgbClr val="919191"/>
              </a:solidFill>
              <a:ln w="9525">
                <a:noFill/>
                <a:round/>
                <a:headEnd/>
                <a:tailEnd/>
              </a:ln>
            </p:spPr>
            <p:txBody>
              <a:bodyPr/>
              <a:lstStyle/>
              <a:p>
                <a:endParaRPr lang="en-US"/>
              </a:p>
            </p:txBody>
          </p:sp>
          <p:sp>
            <p:nvSpPr>
              <p:cNvPr id="415" name="Freeform 22"/>
              <p:cNvSpPr>
                <a:spLocks/>
              </p:cNvSpPr>
              <p:nvPr/>
            </p:nvSpPr>
            <p:spPr bwMode="auto">
              <a:xfrm>
                <a:off x="1534" y="1670"/>
                <a:ext cx="238" cy="1776"/>
              </a:xfrm>
              <a:custGeom>
                <a:avLst/>
                <a:gdLst>
                  <a:gd name="T0" fmla="*/ 238 w 238"/>
                  <a:gd name="T1" fmla="*/ 1776 h 1776"/>
                  <a:gd name="T2" fmla="*/ 238 w 238"/>
                  <a:gd name="T3" fmla="*/ 144 h 1776"/>
                  <a:gd name="T4" fmla="*/ 0 w 238"/>
                  <a:gd name="T5" fmla="*/ 0 h 1776"/>
                  <a:gd name="T6" fmla="*/ 0 w 238"/>
                  <a:gd name="T7" fmla="*/ 1513 h 1776"/>
                  <a:gd name="T8" fmla="*/ 238 w 238"/>
                  <a:gd name="T9" fmla="*/ 1776 h 1776"/>
                  <a:gd name="T10" fmla="*/ 0 60000 65536"/>
                  <a:gd name="T11" fmla="*/ 0 60000 65536"/>
                  <a:gd name="T12" fmla="*/ 0 60000 65536"/>
                  <a:gd name="T13" fmla="*/ 0 60000 65536"/>
                  <a:gd name="T14" fmla="*/ 0 60000 65536"/>
                  <a:gd name="T15" fmla="*/ 0 w 238"/>
                  <a:gd name="T16" fmla="*/ 0 h 1776"/>
                  <a:gd name="T17" fmla="*/ 238 w 238"/>
                  <a:gd name="T18" fmla="*/ 1776 h 1776"/>
                </a:gdLst>
                <a:ahLst/>
                <a:cxnLst>
                  <a:cxn ang="T10">
                    <a:pos x="T0" y="T1"/>
                  </a:cxn>
                  <a:cxn ang="T11">
                    <a:pos x="T2" y="T3"/>
                  </a:cxn>
                  <a:cxn ang="T12">
                    <a:pos x="T4" y="T5"/>
                  </a:cxn>
                  <a:cxn ang="T13">
                    <a:pos x="T6" y="T7"/>
                  </a:cxn>
                  <a:cxn ang="T14">
                    <a:pos x="T8" y="T9"/>
                  </a:cxn>
                </a:cxnLst>
                <a:rect l="T15" t="T16" r="T17" b="T18"/>
                <a:pathLst>
                  <a:path w="238" h="1776">
                    <a:moveTo>
                      <a:pt x="238" y="1776"/>
                    </a:moveTo>
                    <a:lnTo>
                      <a:pt x="238" y="144"/>
                    </a:lnTo>
                    <a:lnTo>
                      <a:pt x="0" y="0"/>
                    </a:lnTo>
                    <a:lnTo>
                      <a:pt x="0" y="1513"/>
                    </a:lnTo>
                    <a:lnTo>
                      <a:pt x="238" y="1776"/>
                    </a:lnTo>
                  </a:path>
                </a:pathLst>
              </a:custGeom>
              <a:noFill/>
              <a:ln w="5">
                <a:solidFill>
                  <a:srgbClr val="000000"/>
                </a:solidFill>
                <a:round/>
                <a:headEnd/>
                <a:tailEnd/>
              </a:ln>
            </p:spPr>
            <p:txBody>
              <a:bodyPr/>
              <a:lstStyle/>
              <a:p>
                <a:endParaRPr lang="en-US"/>
              </a:p>
            </p:txBody>
          </p:sp>
        </p:grpSp>
        <p:sp>
          <p:nvSpPr>
            <p:cNvPr id="226" name="Rectangle 24"/>
            <p:cNvSpPr>
              <a:spLocks noChangeArrowheads="1"/>
            </p:cNvSpPr>
            <p:nvPr/>
          </p:nvSpPr>
          <p:spPr bwMode="auto">
            <a:xfrm>
              <a:off x="625248" y="2058194"/>
              <a:ext cx="538163" cy="368300"/>
            </a:xfrm>
            <a:prstGeom prst="rect">
              <a:avLst/>
            </a:prstGeom>
            <a:solidFill>
              <a:srgbClr val="CECECE"/>
            </a:solidFill>
            <a:ln w="5">
              <a:solidFill>
                <a:srgbClr val="000000"/>
              </a:solidFill>
              <a:miter lim="800000"/>
              <a:headEnd/>
              <a:tailEnd/>
            </a:ln>
          </p:spPr>
          <p:txBody>
            <a:bodyPr/>
            <a:lstStyle/>
            <a:p>
              <a:endParaRPr lang="en-US" sz="1800" b="0">
                <a:latin typeface="Arial" charset="0"/>
              </a:endParaRPr>
            </a:p>
          </p:txBody>
        </p:sp>
        <p:sp>
          <p:nvSpPr>
            <p:cNvPr id="227" name="Rectangle 25"/>
            <p:cNvSpPr>
              <a:spLocks noChangeArrowheads="1"/>
            </p:cNvSpPr>
            <p:nvPr/>
          </p:nvSpPr>
          <p:spPr bwMode="auto">
            <a:xfrm>
              <a:off x="885598" y="2707482"/>
              <a:ext cx="44450" cy="31750"/>
            </a:xfrm>
            <a:prstGeom prst="rect">
              <a:avLst/>
            </a:prstGeom>
            <a:solidFill>
              <a:srgbClr val="000000"/>
            </a:solidFill>
            <a:ln w="9525">
              <a:noFill/>
              <a:miter lim="800000"/>
              <a:headEnd/>
              <a:tailEnd/>
            </a:ln>
          </p:spPr>
          <p:txBody>
            <a:bodyPr/>
            <a:lstStyle/>
            <a:p>
              <a:endParaRPr lang="en-US" sz="1800" b="0">
                <a:latin typeface="Arial" charset="0"/>
              </a:endParaRPr>
            </a:p>
          </p:txBody>
        </p:sp>
        <p:sp>
          <p:nvSpPr>
            <p:cNvPr id="228" name="Line 26"/>
            <p:cNvSpPr>
              <a:spLocks noChangeShapeType="1"/>
            </p:cNvSpPr>
            <p:nvPr/>
          </p:nvSpPr>
          <p:spPr bwMode="auto">
            <a:xfrm>
              <a:off x="868135" y="2543969"/>
              <a:ext cx="80963" cy="1588"/>
            </a:xfrm>
            <a:prstGeom prst="line">
              <a:avLst/>
            </a:prstGeom>
            <a:noFill/>
            <a:ln w="5">
              <a:solidFill>
                <a:srgbClr val="000000"/>
              </a:solidFill>
              <a:round/>
              <a:headEnd/>
              <a:tailEnd/>
            </a:ln>
          </p:spPr>
          <p:txBody>
            <a:bodyPr/>
            <a:lstStyle/>
            <a:p>
              <a:endParaRPr lang="en-US"/>
            </a:p>
          </p:txBody>
        </p:sp>
        <p:sp>
          <p:nvSpPr>
            <p:cNvPr id="229" name="Line 27"/>
            <p:cNvSpPr>
              <a:spLocks noChangeShapeType="1"/>
            </p:cNvSpPr>
            <p:nvPr/>
          </p:nvSpPr>
          <p:spPr bwMode="auto">
            <a:xfrm>
              <a:off x="868135" y="2594769"/>
              <a:ext cx="80963" cy="1588"/>
            </a:xfrm>
            <a:prstGeom prst="line">
              <a:avLst/>
            </a:prstGeom>
            <a:noFill/>
            <a:ln w="5">
              <a:solidFill>
                <a:srgbClr val="000000"/>
              </a:solidFill>
              <a:round/>
              <a:headEnd/>
              <a:tailEnd/>
            </a:ln>
          </p:spPr>
          <p:txBody>
            <a:bodyPr/>
            <a:lstStyle/>
            <a:p>
              <a:endParaRPr lang="en-US"/>
            </a:p>
          </p:txBody>
        </p:sp>
        <p:sp>
          <p:nvSpPr>
            <p:cNvPr id="230" name="Rectangle 28"/>
            <p:cNvSpPr>
              <a:spLocks noChangeArrowheads="1"/>
            </p:cNvSpPr>
            <p:nvPr/>
          </p:nvSpPr>
          <p:spPr bwMode="auto">
            <a:xfrm>
              <a:off x="885598" y="3066256"/>
              <a:ext cx="44450" cy="31750"/>
            </a:xfrm>
            <a:prstGeom prst="rect">
              <a:avLst/>
            </a:prstGeom>
            <a:solidFill>
              <a:srgbClr val="000000"/>
            </a:solidFill>
            <a:ln w="9525">
              <a:noFill/>
              <a:miter lim="800000"/>
              <a:headEnd/>
              <a:tailEnd/>
            </a:ln>
          </p:spPr>
          <p:txBody>
            <a:bodyPr/>
            <a:lstStyle/>
            <a:p>
              <a:endParaRPr lang="en-US" sz="1800" b="0">
                <a:latin typeface="Arial" charset="0"/>
              </a:endParaRPr>
            </a:p>
          </p:txBody>
        </p:sp>
        <p:sp>
          <p:nvSpPr>
            <p:cNvPr id="231" name="Rectangle 29"/>
            <p:cNvSpPr>
              <a:spLocks noChangeArrowheads="1"/>
            </p:cNvSpPr>
            <p:nvPr/>
          </p:nvSpPr>
          <p:spPr bwMode="auto">
            <a:xfrm>
              <a:off x="885598" y="3426618"/>
              <a:ext cx="44450" cy="31750"/>
            </a:xfrm>
            <a:prstGeom prst="rect">
              <a:avLst/>
            </a:prstGeom>
            <a:solidFill>
              <a:srgbClr val="000000"/>
            </a:solidFill>
            <a:ln w="9525">
              <a:noFill/>
              <a:miter lim="800000"/>
              <a:headEnd/>
              <a:tailEnd/>
            </a:ln>
          </p:spPr>
          <p:txBody>
            <a:bodyPr/>
            <a:lstStyle/>
            <a:p>
              <a:endParaRPr lang="en-US" sz="1800" b="0">
                <a:latin typeface="Arial" charset="0"/>
              </a:endParaRPr>
            </a:p>
          </p:txBody>
        </p:sp>
        <p:sp>
          <p:nvSpPr>
            <p:cNvPr id="232" name="Rectangle 30"/>
            <p:cNvSpPr>
              <a:spLocks noChangeArrowheads="1"/>
            </p:cNvSpPr>
            <p:nvPr/>
          </p:nvSpPr>
          <p:spPr bwMode="auto">
            <a:xfrm>
              <a:off x="625248" y="3532981"/>
              <a:ext cx="538163" cy="366713"/>
            </a:xfrm>
            <a:prstGeom prst="rect">
              <a:avLst/>
            </a:prstGeom>
            <a:solidFill>
              <a:srgbClr val="CECECE"/>
            </a:solidFill>
            <a:ln w="5">
              <a:solidFill>
                <a:srgbClr val="000000"/>
              </a:solidFill>
              <a:miter lim="800000"/>
              <a:headEnd/>
              <a:tailEnd/>
            </a:ln>
          </p:spPr>
          <p:txBody>
            <a:bodyPr/>
            <a:lstStyle/>
            <a:p>
              <a:endParaRPr lang="en-US" sz="1800" b="0">
                <a:latin typeface="Arial" charset="0"/>
              </a:endParaRPr>
            </a:p>
          </p:txBody>
        </p:sp>
        <p:sp>
          <p:nvSpPr>
            <p:cNvPr id="233" name="Rectangle 31"/>
            <p:cNvSpPr>
              <a:spLocks noChangeArrowheads="1"/>
            </p:cNvSpPr>
            <p:nvPr/>
          </p:nvSpPr>
          <p:spPr bwMode="auto">
            <a:xfrm>
              <a:off x="885598" y="3798093"/>
              <a:ext cx="44450" cy="33338"/>
            </a:xfrm>
            <a:prstGeom prst="rect">
              <a:avLst/>
            </a:prstGeom>
            <a:solidFill>
              <a:srgbClr val="000000"/>
            </a:solidFill>
            <a:ln w="9525">
              <a:noFill/>
              <a:miter lim="800000"/>
              <a:headEnd/>
              <a:tailEnd/>
            </a:ln>
          </p:spPr>
          <p:txBody>
            <a:bodyPr/>
            <a:lstStyle/>
            <a:p>
              <a:endParaRPr lang="en-US" sz="1800" b="0">
                <a:latin typeface="Arial" charset="0"/>
              </a:endParaRPr>
            </a:p>
          </p:txBody>
        </p:sp>
        <p:sp>
          <p:nvSpPr>
            <p:cNvPr id="234" name="Rectangle 32"/>
            <p:cNvSpPr>
              <a:spLocks noChangeArrowheads="1"/>
            </p:cNvSpPr>
            <p:nvPr/>
          </p:nvSpPr>
          <p:spPr bwMode="auto">
            <a:xfrm>
              <a:off x="625248" y="3906043"/>
              <a:ext cx="538163" cy="365125"/>
            </a:xfrm>
            <a:prstGeom prst="rect">
              <a:avLst/>
            </a:prstGeom>
            <a:solidFill>
              <a:srgbClr val="CECECE"/>
            </a:solidFill>
            <a:ln w="5">
              <a:solidFill>
                <a:srgbClr val="000000"/>
              </a:solidFill>
              <a:miter lim="800000"/>
              <a:headEnd/>
              <a:tailEnd/>
            </a:ln>
          </p:spPr>
          <p:txBody>
            <a:bodyPr/>
            <a:lstStyle/>
            <a:p>
              <a:endParaRPr lang="en-US" sz="1800" b="0">
                <a:latin typeface="Arial" charset="0"/>
              </a:endParaRPr>
            </a:p>
          </p:txBody>
        </p:sp>
        <p:sp>
          <p:nvSpPr>
            <p:cNvPr id="235" name="Rectangle 33"/>
            <p:cNvSpPr>
              <a:spLocks noChangeArrowheads="1"/>
            </p:cNvSpPr>
            <p:nvPr/>
          </p:nvSpPr>
          <p:spPr bwMode="auto">
            <a:xfrm>
              <a:off x="885598" y="4171156"/>
              <a:ext cx="44450" cy="31750"/>
            </a:xfrm>
            <a:prstGeom prst="rect">
              <a:avLst/>
            </a:prstGeom>
            <a:solidFill>
              <a:srgbClr val="000000"/>
            </a:solidFill>
            <a:ln w="9525">
              <a:noFill/>
              <a:miter lim="800000"/>
              <a:headEnd/>
              <a:tailEnd/>
            </a:ln>
          </p:spPr>
          <p:txBody>
            <a:bodyPr/>
            <a:lstStyle/>
            <a:p>
              <a:endParaRPr lang="en-US" sz="1800" b="0">
                <a:latin typeface="Arial" charset="0"/>
              </a:endParaRPr>
            </a:p>
          </p:txBody>
        </p:sp>
        <p:sp>
          <p:nvSpPr>
            <p:cNvPr id="236" name="Rectangle 34"/>
            <p:cNvSpPr>
              <a:spLocks noChangeArrowheads="1"/>
            </p:cNvSpPr>
            <p:nvPr/>
          </p:nvSpPr>
          <p:spPr bwMode="auto">
            <a:xfrm>
              <a:off x="625248" y="4275931"/>
              <a:ext cx="538163" cy="368300"/>
            </a:xfrm>
            <a:prstGeom prst="rect">
              <a:avLst/>
            </a:prstGeom>
            <a:solidFill>
              <a:srgbClr val="CECECE"/>
            </a:solidFill>
            <a:ln w="5">
              <a:solidFill>
                <a:srgbClr val="000000"/>
              </a:solidFill>
              <a:miter lim="800000"/>
              <a:headEnd/>
              <a:tailEnd/>
            </a:ln>
          </p:spPr>
          <p:txBody>
            <a:bodyPr/>
            <a:lstStyle/>
            <a:p>
              <a:endParaRPr lang="en-US" sz="1800" b="0">
                <a:latin typeface="Arial" charset="0"/>
              </a:endParaRPr>
            </a:p>
          </p:txBody>
        </p:sp>
        <p:sp>
          <p:nvSpPr>
            <p:cNvPr id="237" name="Rectangle 35"/>
            <p:cNvSpPr>
              <a:spLocks noChangeArrowheads="1"/>
            </p:cNvSpPr>
            <p:nvPr/>
          </p:nvSpPr>
          <p:spPr bwMode="auto">
            <a:xfrm>
              <a:off x="885598" y="4542631"/>
              <a:ext cx="44450" cy="33338"/>
            </a:xfrm>
            <a:prstGeom prst="rect">
              <a:avLst/>
            </a:prstGeom>
            <a:solidFill>
              <a:srgbClr val="000000"/>
            </a:solidFill>
            <a:ln w="9525">
              <a:noFill/>
              <a:miter lim="800000"/>
              <a:headEnd/>
              <a:tailEnd/>
            </a:ln>
          </p:spPr>
          <p:txBody>
            <a:bodyPr/>
            <a:lstStyle/>
            <a:p>
              <a:endParaRPr lang="en-US" sz="1800" b="0">
                <a:latin typeface="Arial" charset="0"/>
              </a:endParaRPr>
            </a:p>
          </p:txBody>
        </p:sp>
        <p:sp>
          <p:nvSpPr>
            <p:cNvPr id="238" name="Rectangle 36"/>
            <p:cNvSpPr>
              <a:spLocks noChangeArrowheads="1"/>
            </p:cNvSpPr>
            <p:nvPr/>
          </p:nvSpPr>
          <p:spPr bwMode="auto">
            <a:xfrm>
              <a:off x="668110" y="2082007"/>
              <a:ext cx="509588" cy="347663"/>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239" name="Line 37"/>
            <p:cNvSpPr>
              <a:spLocks noChangeShapeType="1"/>
            </p:cNvSpPr>
            <p:nvPr/>
          </p:nvSpPr>
          <p:spPr bwMode="auto">
            <a:xfrm>
              <a:off x="734785" y="2172494"/>
              <a:ext cx="377825" cy="1588"/>
            </a:xfrm>
            <a:prstGeom prst="line">
              <a:avLst/>
            </a:prstGeom>
            <a:noFill/>
            <a:ln w="5">
              <a:solidFill>
                <a:srgbClr val="000000"/>
              </a:solidFill>
              <a:round/>
              <a:headEnd/>
              <a:tailEnd/>
            </a:ln>
          </p:spPr>
          <p:txBody>
            <a:bodyPr/>
            <a:lstStyle/>
            <a:p>
              <a:endParaRPr lang="en-US"/>
            </a:p>
          </p:txBody>
        </p:sp>
        <p:sp>
          <p:nvSpPr>
            <p:cNvPr id="240" name="Line 38"/>
            <p:cNvSpPr>
              <a:spLocks noChangeShapeType="1"/>
            </p:cNvSpPr>
            <p:nvPr/>
          </p:nvSpPr>
          <p:spPr bwMode="auto">
            <a:xfrm>
              <a:off x="734785" y="2223294"/>
              <a:ext cx="377825" cy="1588"/>
            </a:xfrm>
            <a:prstGeom prst="line">
              <a:avLst/>
            </a:prstGeom>
            <a:noFill/>
            <a:ln w="5">
              <a:solidFill>
                <a:srgbClr val="000000"/>
              </a:solidFill>
              <a:round/>
              <a:headEnd/>
              <a:tailEnd/>
            </a:ln>
          </p:spPr>
          <p:txBody>
            <a:bodyPr/>
            <a:lstStyle/>
            <a:p>
              <a:endParaRPr lang="en-US"/>
            </a:p>
          </p:txBody>
        </p:sp>
        <p:sp>
          <p:nvSpPr>
            <p:cNvPr id="241" name="Line 39"/>
            <p:cNvSpPr>
              <a:spLocks noChangeShapeType="1"/>
            </p:cNvSpPr>
            <p:nvPr/>
          </p:nvSpPr>
          <p:spPr bwMode="auto">
            <a:xfrm>
              <a:off x="734785" y="2274094"/>
              <a:ext cx="377825" cy="1588"/>
            </a:xfrm>
            <a:prstGeom prst="line">
              <a:avLst/>
            </a:prstGeom>
            <a:noFill/>
            <a:ln w="5">
              <a:solidFill>
                <a:srgbClr val="000000"/>
              </a:solidFill>
              <a:round/>
              <a:headEnd/>
              <a:tailEnd/>
            </a:ln>
          </p:spPr>
          <p:txBody>
            <a:bodyPr/>
            <a:lstStyle/>
            <a:p>
              <a:endParaRPr lang="en-US"/>
            </a:p>
          </p:txBody>
        </p:sp>
        <p:sp>
          <p:nvSpPr>
            <p:cNvPr id="242" name="Line 40"/>
            <p:cNvSpPr>
              <a:spLocks noChangeShapeType="1"/>
            </p:cNvSpPr>
            <p:nvPr/>
          </p:nvSpPr>
          <p:spPr bwMode="auto">
            <a:xfrm>
              <a:off x="734785" y="2326482"/>
              <a:ext cx="377825" cy="1588"/>
            </a:xfrm>
            <a:prstGeom prst="line">
              <a:avLst/>
            </a:prstGeom>
            <a:noFill/>
            <a:ln w="5">
              <a:solidFill>
                <a:srgbClr val="000000"/>
              </a:solidFill>
              <a:round/>
              <a:headEnd/>
              <a:tailEnd/>
            </a:ln>
          </p:spPr>
          <p:txBody>
            <a:bodyPr/>
            <a:lstStyle/>
            <a:p>
              <a:endParaRPr lang="en-US"/>
            </a:p>
          </p:txBody>
        </p:sp>
        <p:sp>
          <p:nvSpPr>
            <p:cNvPr id="243" name="Line 41"/>
            <p:cNvSpPr>
              <a:spLocks noChangeShapeType="1"/>
            </p:cNvSpPr>
            <p:nvPr/>
          </p:nvSpPr>
          <p:spPr bwMode="auto">
            <a:xfrm>
              <a:off x="734785" y="2120107"/>
              <a:ext cx="377825" cy="1588"/>
            </a:xfrm>
            <a:prstGeom prst="line">
              <a:avLst/>
            </a:prstGeom>
            <a:noFill/>
            <a:ln w="5">
              <a:solidFill>
                <a:srgbClr val="000000"/>
              </a:solidFill>
              <a:round/>
              <a:headEnd/>
              <a:tailEnd/>
            </a:ln>
          </p:spPr>
          <p:txBody>
            <a:bodyPr/>
            <a:lstStyle/>
            <a:p>
              <a:endParaRPr lang="en-US"/>
            </a:p>
          </p:txBody>
        </p:sp>
        <p:sp>
          <p:nvSpPr>
            <p:cNvPr id="244" name="Rectangle 42"/>
            <p:cNvSpPr>
              <a:spLocks noChangeArrowheads="1"/>
            </p:cNvSpPr>
            <p:nvPr/>
          </p:nvSpPr>
          <p:spPr bwMode="auto">
            <a:xfrm>
              <a:off x="714148" y="2113757"/>
              <a:ext cx="509588" cy="350838"/>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245" name="Line 43"/>
            <p:cNvSpPr>
              <a:spLocks noChangeShapeType="1"/>
            </p:cNvSpPr>
            <p:nvPr/>
          </p:nvSpPr>
          <p:spPr bwMode="auto">
            <a:xfrm>
              <a:off x="780823" y="2205832"/>
              <a:ext cx="379413" cy="1588"/>
            </a:xfrm>
            <a:prstGeom prst="line">
              <a:avLst/>
            </a:prstGeom>
            <a:noFill/>
            <a:ln w="5">
              <a:solidFill>
                <a:srgbClr val="000000"/>
              </a:solidFill>
              <a:round/>
              <a:headEnd/>
              <a:tailEnd/>
            </a:ln>
          </p:spPr>
          <p:txBody>
            <a:bodyPr/>
            <a:lstStyle/>
            <a:p>
              <a:endParaRPr lang="en-US"/>
            </a:p>
          </p:txBody>
        </p:sp>
        <p:sp>
          <p:nvSpPr>
            <p:cNvPr id="246" name="Line 44"/>
            <p:cNvSpPr>
              <a:spLocks noChangeShapeType="1"/>
            </p:cNvSpPr>
            <p:nvPr/>
          </p:nvSpPr>
          <p:spPr bwMode="auto">
            <a:xfrm>
              <a:off x="780823" y="2256632"/>
              <a:ext cx="379413" cy="1588"/>
            </a:xfrm>
            <a:prstGeom prst="line">
              <a:avLst/>
            </a:prstGeom>
            <a:noFill/>
            <a:ln w="5">
              <a:solidFill>
                <a:srgbClr val="000000"/>
              </a:solidFill>
              <a:round/>
              <a:headEnd/>
              <a:tailEnd/>
            </a:ln>
          </p:spPr>
          <p:txBody>
            <a:bodyPr/>
            <a:lstStyle/>
            <a:p>
              <a:endParaRPr lang="en-US"/>
            </a:p>
          </p:txBody>
        </p:sp>
        <p:sp>
          <p:nvSpPr>
            <p:cNvPr id="247" name="Line 45"/>
            <p:cNvSpPr>
              <a:spLocks noChangeShapeType="1"/>
            </p:cNvSpPr>
            <p:nvPr/>
          </p:nvSpPr>
          <p:spPr bwMode="auto">
            <a:xfrm>
              <a:off x="780823" y="2305844"/>
              <a:ext cx="379413" cy="1588"/>
            </a:xfrm>
            <a:prstGeom prst="line">
              <a:avLst/>
            </a:prstGeom>
            <a:noFill/>
            <a:ln w="5">
              <a:solidFill>
                <a:srgbClr val="000000"/>
              </a:solidFill>
              <a:round/>
              <a:headEnd/>
              <a:tailEnd/>
            </a:ln>
          </p:spPr>
          <p:txBody>
            <a:bodyPr/>
            <a:lstStyle/>
            <a:p>
              <a:endParaRPr lang="en-US"/>
            </a:p>
          </p:txBody>
        </p:sp>
        <p:sp>
          <p:nvSpPr>
            <p:cNvPr id="248" name="Line 46"/>
            <p:cNvSpPr>
              <a:spLocks noChangeShapeType="1"/>
            </p:cNvSpPr>
            <p:nvPr/>
          </p:nvSpPr>
          <p:spPr bwMode="auto">
            <a:xfrm>
              <a:off x="780823" y="2359819"/>
              <a:ext cx="379413" cy="1588"/>
            </a:xfrm>
            <a:prstGeom prst="line">
              <a:avLst/>
            </a:prstGeom>
            <a:noFill/>
            <a:ln w="5">
              <a:solidFill>
                <a:srgbClr val="000000"/>
              </a:solidFill>
              <a:round/>
              <a:headEnd/>
              <a:tailEnd/>
            </a:ln>
          </p:spPr>
          <p:txBody>
            <a:bodyPr/>
            <a:lstStyle/>
            <a:p>
              <a:endParaRPr lang="en-US"/>
            </a:p>
          </p:txBody>
        </p:sp>
        <p:sp>
          <p:nvSpPr>
            <p:cNvPr id="249" name="Line 47"/>
            <p:cNvSpPr>
              <a:spLocks noChangeShapeType="1"/>
            </p:cNvSpPr>
            <p:nvPr/>
          </p:nvSpPr>
          <p:spPr bwMode="auto">
            <a:xfrm>
              <a:off x="780823" y="2153444"/>
              <a:ext cx="379413" cy="1588"/>
            </a:xfrm>
            <a:prstGeom prst="line">
              <a:avLst/>
            </a:prstGeom>
            <a:noFill/>
            <a:ln w="5">
              <a:solidFill>
                <a:srgbClr val="000000"/>
              </a:solidFill>
              <a:round/>
              <a:headEnd/>
              <a:tailEnd/>
            </a:ln>
          </p:spPr>
          <p:txBody>
            <a:bodyPr/>
            <a:lstStyle/>
            <a:p>
              <a:endParaRPr lang="en-US"/>
            </a:p>
          </p:txBody>
        </p:sp>
        <p:sp>
          <p:nvSpPr>
            <p:cNvPr id="250" name="Rectangle 48"/>
            <p:cNvSpPr>
              <a:spLocks noChangeArrowheads="1"/>
            </p:cNvSpPr>
            <p:nvPr/>
          </p:nvSpPr>
          <p:spPr bwMode="auto">
            <a:xfrm>
              <a:off x="772885" y="2183607"/>
              <a:ext cx="509588" cy="347663"/>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251" name="Line 49"/>
            <p:cNvSpPr>
              <a:spLocks noChangeShapeType="1"/>
            </p:cNvSpPr>
            <p:nvPr/>
          </p:nvSpPr>
          <p:spPr bwMode="auto">
            <a:xfrm>
              <a:off x="839560" y="2272507"/>
              <a:ext cx="379413" cy="1588"/>
            </a:xfrm>
            <a:prstGeom prst="line">
              <a:avLst/>
            </a:prstGeom>
            <a:noFill/>
            <a:ln w="5">
              <a:solidFill>
                <a:srgbClr val="000000"/>
              </a:solidFill>
              <a:round/>
              <a:headEnd/>
              <a:tailEnd/>
            </a:ln>
          </p:spPr>
          <p:txBody>
            <a:bodyPr/>
            <a:lstStyle/>
            <a:p>
              <a:endParaRPr lang="en-US"/>
            </a:p>
          </p:txBody>
        </p:sp>
        <p:sp>
          <p:nvSpPr>
            <p:cNvPr id="252" name="Line 50"/>
            <p:cNvSpPr>
              <a:spLocks noChangeShapeType="1"/>
            </p:cNvSpPr>
            <p:nvPr/>
          </p:nvSpPr>
          <p:spPr bwMode="auto">
            <a:xfrm>
              <a:off x="839560" y="2323307"/>
              <a:ext cx="379413" cy="1588"/>
            </a:xfrm>
            <a:prstGeom prst="line">
              <a:avLst/>
            </a:prstGeom>
            <a:noFill/>
            <a:ln w="5">
              <a:solidFill>
                <a:srgbClr val="000000"/>
              </a:solidFill>
              <a:round/>
              <a:headEnd/>
              <a:tailEnd/>
            </a:ln>
          </p:spPr>
          <p:txBody>
            <a:bodyPr/>
            <a:lstStyle/>
            <a:p>
              <a:endParaRPr lang="en-US"/>
            </a:p>
          </p:txBody>
        </p:sp>
        <p:sp>
          <p:nvSpPr>
            <p:cNvPr id="253" name="Line 51"/>
            <p:cNvSpPr>
              <a:spLocks noChangeShapeType="1"/>
            </p:cNvSpPr>
            <p:nvPr/>
          </p:nvSpPr>
          <p:spPr bwMode="auto">
            <a:xfrm>
              <a:off x="839560" y="2375694"/>
              <a:ext cx="379413" cy="1588"/>
            </a:xfrm>
            <a:prstGeom prst="line">
              <a:avLst/>
            </a:prstGeom>
            <a:noFill/>
            <a:ln w="5">
              <a:solidFill>
                <a:srgbClr val="000000"/>
              </a:solidFill>
              <a:round/>
              <a:headEnd/>
              <a:tailEnd/>
            </a:ln>
          </p:spPr>
          <p:txBody>
            <a:bodyPr/>
            <a:lstStyle/>
            <a:p>
              <a:endParaRPr lang="en-US"/>
            </a:p>
          </p:txBody>
        </p:sp>
        <p:sp>
          <p:nvSpPr>
            <p:cNvPr id="254" name="Line 52"/>
            <p:cNvSpPr>
              <a:spLocks noChangeShapeType="1"/>
            </p:cNvSpPr>
            <p:nvPr/>
          </p:nvSpPr>
          <p:spPr bwMode="auto">
            <a:xfrm>
              <a:off x="839560" y="2426494"/>
              <a:ext cx="379413" cy="1588"/>
            </a:xfrm>
            <a:prstGeom prst="line">
              <a:avLst/>
            </a:prstGeom>
            <a:noFill/>
            <a:ln w="5">
              <a:solidFill>
                <a:srgbClr val="000000"/>
              </a:solidFill>
              <a:round/>
              <a:headEnd/>
              <a:tailEnd/>
            </a:ln>
          </p:spPr>
          <p:txBody>
            <a:bodyPr/>
            <a:lstStyle/>
            <a:p>
              <a:endParaRPr lang="en-US"/>
            </a:p>
          </p:txBody>
        </p:sp>
        <p:sp>
          <p:nvSpPr>
            <p:cNvPr id="255" name="Line 53"/>
            <p:cNvSpPr>
              <a:spLocks noChangeShapeType="1"/>
            </p:cNvSpPr>
            <p:nvPr/>
          </p:nvSpPr>
          <p:spPr bwMode="auto">
            <a:xfrm>
              <a:off x="839560" y="2221707"/>
              <a:ext cx="379413" cy="1588"/>
            </a:xfrm>
            <a:prstGeom prst="line">
              <a:avLst/>
            </a:prstGeom>
            <a:noFill/>
            <a:ln w="5">
              <a:solidFill>
                <a:srgbClr val="000000"/>
              </a:solidFill>
              <a:round/>
              <a:headEnd/>
              <a:tailEnd/>
            </a:ln>
          </p:spPr>
          <p:txBody>
            <a:bodyPr/>
            <a:lstStyle/>
            <a:p>
              <a:endParaRPr lang="en-US"/>
            </a:p>
          </p:txBody>
        </p:sp>
        <p:sp>
          <p:nvSpPr>
            <p:cNvPr id="256" name="Rectangle 54"/>
            <p:cNvSpPr>
              <a:spLocks noChangeArrowheads="1"/>
            </p:cNvSpPr>
            <p:nvPr/>
          </p:nvSpPr>
          <p:spPr bwMode="auto">
            <a:xfrm>
              <a:off x="817335" y="2237582"/>
              <a:ext cx="536575" cy="368300"/>
            </a:xfrm>
            <a:prstGeom prst="rect">
              <a:avLst/>
            </a:prstGeom>
            <a:solidFill>
              <a:srgbClr val="CECECE"/>
            </a:solidFill>
            <a:ln w="5">
              <a:solidFill>
                <a:srgbClr val="000000"/>
              </a:solidFill>
              <a:miter lim="800000"/>
              <a:headEnd/>
              <a:tailEnd/>
            </a:ln>
          </p:spPr>
          <p:txBody>
            <a:bodyPr/>
            <a:lstStyle/>
            <a:p>
              <a:endParaRPr lang="en-US" sz="1800" b="0">
                <a:latin typeface="Arial" charset="0"/>
              </a:endParaRPr>
            </a:p>
          </p:txBody>
        </p:sp>
        <p:sp>
          <p:nvSpPr>
            <p:cNvPr id="257" name="Rectangle 55"/>
            <p:cNvSpPr>
              <a:spLocks noChangeArrowheads="1"/>
            </p:cNvSpPr>
            <p:nvPr/>
          </p:nvSpPr>
          <p:spPr bwMode="auto">
            <a:xfrm>
              <a:off x="1076098" y="2526507"/>
              <a:ext cx="44450" cy="33338"/>
            </a:xfrm>
            <a:prstGeom prst="rect">
              <a:avLst/>
            </a:prstGeom>
            <a:solidFill>
              <a:srgbClr val="000000"/>
            </a:solidFill>
            <a:ln w="9525">
              <a:noFill/>
              <a:miter lim="800000"/>
              <a:headEnd/>
              <a:tailEnd/>
            </a:ln>
          </p:spPr>
          <p:txBody>
            <a:bodyPr/>
            <a:lstStyle/>
            <a:p>
              <a:endParaRPr lang="en-US" sz="1800" b="0">
                <a:latin typeface="Arial" charset="0"/>
              </a:endParaRPr>
            </a:p>
          </p:txBody>
        </p:sp>
        <p:sp>
          <p:nvSpPr>
            <p:cNvPr id="258" name="Freeform 56"/>
            <p:cNvSpPr>
              <a:spLocks/>
            </p:cNvSpPr>
            <p:nvPr/>
          </p:nvSpPr>
          <p:spPr bwMode="auto">
            <a:xfrm>
              <a:off x="620485" y="2272507"/>
              <a:ext cx="195263" cy="333375"/>
            </a:xfrm>
            <a:custGeom>
              <a:avLst/>
              <a:gdLst>
                <a:gd name="T0" fmla="*/ 195263 w 123"/>
                <a:gd name="T1" fmla="*/ 179388 h 210"/>
                <a:gd name="T2" fmla="*/ 0 w 123"/>
                <a:gd name="T3" fmla="*/ 0 h 210"/>
                <a:gd name="T4" fmla="*/ 0 w 123"/>
                <a:gd name="T5" fmla="*/ 153988 h 210"/>
                <a:gd name="T6" fmla="*/ 195263 w 123"/>
                <a:gd name="T7" fmla="*/ 333375 h 210"/>
                <a:gd name="T8" fmla="*/ 195263 w 123"/>
                <a:gd name="T9" fmla="*/ 179388 h 210"/>
                <a:gd name="T10" fmla="*/ 0 60000 65536"/>
                <a:gd name="T11" fmla="*/ 0 60000 65536"/>
                <a:gd name="T12" fmla="*/ 0 60000 65536"/>
                <a:gd name="T13" fmla="*/ 0 60000 65536"/>
                <a:gd name="T14" fmla="*/ 0 60000 65536"/>
                <a:gd name="T15" fmla="*/ 0 w 123"/>
                <a:gd name="T16" fmla="*/ 0 h 210"/>
                <a:gd name="T17" fmla="*/ 123 w 123"/>
                <a:gd name="T18" fmla="*/ 210 h 210"/>
              </a:gdLst>
              <a:ahLst/>
              <a:cxnLst>
                <a:cxn ang="T10">
                  <a:pos x="T0" y="T1"/>
                </a:cxn>
                <a:cxn ang="T11">
                  <a:pos x="T2" y="T3"/>
                </a:cxn>
                <a:cxn ang="T12">
                  <a:pos x="T4" y="T5"/>
                </a:cxn>
                <a:cxn ang="T13">
                  <a:pos x="T6" y="T7"/>
                </a:cxn>
                <a:cxn ang="T14">
                  <a:pos x="T8" y="T9"/>
                </a:cxn>
              </a:cxnLst>
              <a:rect l="T15" t="T16" r="T17" b="T18"/>
              <a:pathLst>
                <a:path w="123" h="210">
                  <a:moveTo>
                    <a:pt x="123" y="113"/>
                  </a:moveTo>
                  <a:lnTo>
                    <a:pt x="0" y="0"/>
                  </a:lnTo>
                  <a:lnTo>
                    <a:pt x="0" y="97"/>
                  </a:lnTo>
                  <a:lnTo>
                    <a:pt x="123" y="210"/>
                  </a:lnTo>
                  <a:lnTo>
                    <a:pt x="123" y="113"/>
                  </a:lnTo>
                  <a:close/>
                </a:path>
              </a:pathLst>
            </a:custGeom>
            <a:solidFill>
              <a:srgbClr val="919191"/>
            </a:solidFill>
            <a:ln w="5">
              <a:solidFill>
                <a:srgbClr val="000000"/>
              </a:solidFill>
              <a:round/>
              <a:headEnd/>
              <a:tailEnd/>
            </a:ln>
          </p:spPr>
          <p:txBody>
            <a:bodyPr/>
            <a:lstStyle/>
            <a:p>
              <a:endParaRPr lang="en-US"/>
            </a:p>
          </p:txBody>
        </p:sp>
        <p:sp>
          <p:nvSpPr>
            <p:cNvPr id="259" name="Rectangle 57"/>
            <p:cNvSpPr>
              <a:spLocks noChangeArrowheads="1"/>
            </p:cNvSpPr>
            <p:nvPr/>
          </p:nvSpPr>
          <p:spPr bwMode="auto">
            <a:xfrm rot="16200000">
              <a:off x="-276452" y="3007518"/>
              <a:ext cx="1520825" cy="277813"/>
            </a:xfrm>
            <a:prstGeom prst="rect">
              <a:avLst/>
            </a:prstGeom>
            <a:noFill/>
            <a:ln w="9525">
              <a:noFill/>
              <a:miter lim="800000"/>
              <a:headEnd/>
              <a:tailEnd/>
            </a:ln>
          </p:spPr>
          <p:txBody>
            <a:bodyPr wrap="none" lIns="0" tIns="0" rIns="0" bIns="0">
              <a:spAutoFit/>
            </a:bodyPr>
            <a:lstStyle/>
            <a:p>
              <a:r>
                <a:rPr lang="en-US" sz="1500">
                  <a:solidFill>
                    <a:srgbClr val="000000"/>
                  </a:solidFill>
                  <a:latin typeface="Arial" charset="0"/>
                  <a:cs typeface="Arial" charset="0"/>
                </a:rPr>
                <a:t>General ledger</a:t>
              </a:r>
              <a:endParaRPr lang="en-US" sz="1800" b="0">
                <a:latin typeface="Arial" charset="0"/>
                <a:cs typeface="Arial" charset="0"/>
              </a:endParaRPr>
            </a:p>
          </p:txBody>
        </p:sp>
        <p:sp>
          <p:nvSpPr>
            <p:cNvPr id="260" name="Rectangle 58"/>
            <p:cNvSpPr>
              <a:spLocks noChangeArrowheads="1"/>
            </p:cNvSpPr>
            <p:nvPr/>
          </p:nvSpPr>
          <p:spPr bwMode="auto">
            <a:xfrm>
              <a:off x="845910" y="2280444"/>
              <a:ext cx="431800" cy="123825"/>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261" name="Rectangle 59"/>
            <p:cNvSpPr>
              <a:spLocks noChangeArrowheads="1"/>
            </p:cNvSpPr>
            <p:nvPr/>
          </p:nvSpPr>
          <p:spPr bwMode="auto">
            <a:xfrm>
              <a:off x="895123" y="2243932"/>
              <a:ext cx="379413" cy="193675"/>
            </a:xfrm>
            <a:prstGeom prst="rect">
              <a:avLst/>
            </a:prstGeom>
            <a:noFill/>
            <a:ln w="9525">
              <a:noFill/>
              <a:miter lim="800000"/>
              <a:headEnd/>
              <a:tailEnd/>
            </a:ln>
          </p:spPr>
          <p:txBody>
            <a:bodyPr/>
            <a:lstStyle/>
            <a:p>
              <a:endParaRPr lang="en-US" sz="1800" b="0">
                <a:latin typeface="Arial" charset="0"/>
              </a:endParaRPr>
            </a:p>
          </p:txBody>
        </p:sp>
        <p:sp>
          <p:nvSpPr>
            <p:cNvPr id="262" name="Rectangle 60"/>
            <p:cNvSpPr>
              <a:spLocks noChangeArrowheads="1"/>
            </p:cNvSpPr>
            <p:nvPr/>
          </p:nvSpPr>
          <p:spPr bwMode="auto">
            <a:xfrm>
              <a:off x="950685" y="2277269"/>
              <a:ext cx="314325" cy="157163"/>
            </a:xfrm>
            <a:prstGeom prst="rect">
              <a:avLst/>
            </a:prstGeom>
            <a:noFill/>
            <a:ln w="9525">
              <a:noFill/>
              <a:miter lim="800000"/>
              <a:headEnd/>
              <a:tailEnd/>
            </a:ln>
          </p:spPr>
          <p:txBody>
            <a:bodyPr wrap="none" lIns="0" tIns="0" rIns="0" bIns="0">
              <a:spAutoFit/>
            </a:bodyPr>
            <a:lstStyle/>
            <a:p>
              <a:r>
                <a:rPr lang="en-US" sz="900" b="0">
                  <a:solidFill>
                    <a:srgbClr val="000000"/>
                  </a:solidFill>
                  <a:latin typeface="Arial" charset="0"/>
                  <a:cs typeface="Arial" charset="0"/>
                </a:rPr>
                <a:t>Cash</a:t>
              </a:r>
              <a:endParaRPr lang="en-US" sz="1800" b="0">
                <a:latin typeface="Arial" charset="0"/>
                <a:cs typeface="Arial" charset="0"/>
              </a:endParaRPr>
            </a:p>
          </p:txBody>
        </p:sp>
        <p:sp>
          <p:nvSpPr>
            <p:cNvPr id="263" name="Rectangle 61"/>
            <p:cNvSpPr>
              <a:spLocks noChangeArrowheads="1"/>
            </p:cNvSpPr>
            <p:nvPr/>
          </p:nvSpPr>
          <p:spPr bwMode="auto">
            <a:xfrm>
              <a:off x="693510" y="2837657"/>
              <a:ext cx="390525" cy="122238"/>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264" name="Rectangle 62"/>
            <p:cNvSpPr>
              <a:spLocks noChangeArrowheads="1"/>
            </p:cNvSpPr>
            <p:nvPr/>
          </p:nvSpPr>
          <p:spPr bwMode="auto">
            <a:xfrm>
              <a:off x="690335" y="2802732"/>
              <a:ext cx="117475" cy="193675"/>
            </a:xfrm>
            <a:prstGeom prst="rect">
              <a:avLst/>
            </a:prstGeom>
            <a:noFill/>
            <a:ln w="9525">
              <a:noFill/>
              <a:miter lim="800000"/>
              <a:headEnd/>
              <a:tailEnd/>
            </a:ln>
          </p:spPr>
          <p:txBody>
            <a:bodyPr/>
            <a:lstStyle/>
            <a:p>
              <a:endParaRPr lang="en-US" sz="1800" b="0">
                <a:latin typeface="Arial" charset="0"/>
              </a:endParaRPr>
            </a:p>
          </p:txBody>
        </p:sp>
        <p:sp>
          <p:nvSpPr>
            <p:cNvPr id="265" name="Rectangle 63"/>
            <p:cNvSpPr>
              <a:spLocks noChangeArrowheads="1"/>
            </p:cNvSpPr>
            <p:nvPr/>
          </p:nvSpPr>
          <p:spPr bwMode="auto">
            <a:xfrm>
              <a:off x="652235" y="3205956"/>
              <a:ext cx="463550" cy="122238"/>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266" name="Rectangle 64"/>
            <p:cNvSpPr>
              <a:spLocks noChangeArrowheads="1"/>
            </p:cNvSpPr>
            <p:nvPr/>
          </p:nvSpPr>
          <p:spPr bwMode="auto">
            <a:xfrm>
              <a:off x="620485" y="3171031"/>
              <a:ext cx="520700" cy="193675"/>
            </a:xfrm>
            <a:prstGeom prst="rect">
              <a:avLst/>
            </a:prstGeom>
            <a:noFill/>
            <a:ln w="9525">
              <a:noFill/>
              <a:miter lim="800000"/>
              <a:headEnd/>
              <a:tailEnd/>
            </a:ln>
          </p:spPr>
          <p:txBody>
            <a:bodyPr/>
            <a:lstStyle/>
            <a:p>
              <a:endParaRPr lang="en-US" sz="1800" b="0">
                <a:latin typeface="Arial" charset="0"/>
              </a:endParaRPr>
            </a:p>
          </p:txBody>
        </p:sp>
        <p:sp>
          <p:nvSpPr>
            <p:cNvPr id="267" name="Rectangle 65"/>
            <p:cNvSpPr>
              <a:spLocks noChangeArrowheads="1"/>
            </p:cNvSpPr>
            <p:nvPr/>
          </p:nvSpPr>
          <p:spPr bwMode="auto">
            <a:xfrm>
              <a:off x="679223" y="3204368"/>
              <a:ext cx="454025" cy="157163"/>
            </a:xfrm>
            <a:prstGeom prst="rect">
              <a:avLst/>
            </a:prstGeom>
            <a:noFill/>
            <a:ln w="9525">
              <a:noFill/>
              <a:miter lim="800000"/>
              <a:headEnd/>
              <a:tailEnd/>
            </a:ln>
          </p:spPr>
          <p:txBody>
            <a:bodyPr wrap="none" lIns="0" tIns="0" rIns="0" bIns="0">
              <a:spAutoFit/>
            </a:bodyPr>
            <a:lstStyle/>
            <a:p>
              <a:r>
                <a:rPr lang="en-US" sz="900" b="0">
                  <a:solidFill>
                    <a:srgbClr val="000000"/>
                  </a:solidFill>
                  <a:latin typeface="Arial" charset="0"/>
                  <a:cs typeface="Arial" charset="0"/>
                </a:rPr>
                <a:t>Material</a:t>
              </a:r>
              <a:endParaRPr lang="en-US" sz="1800" b="0">
                <a:latin typeface="Arial" charset="0"/>
                <a:cs typeface="Arial" charset="0"/>
              </a:endParaRPr>
            </a:p>
          </p:txBody>
        </p:sp>
        <p:sp>
          <p:nvSpPr>
            <p:cNvPr id="268" name="Rectangle 66"/>
            <p:cNvSpPr>
              <a:spLocks noChangeArrowheads="1"/>
            </p:cNvSpPr>
            <p:nvPr/>
          </p:nvSpPr>
          <p:spPr bwMode="auto">
            <a:xfrm>
              <a:off x="701448" y="3583781"/>
              <a:ext cx="390525" cy="123825"/>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269" name="Rectangle 67"/>
            <p:cNvSpPr>
              <a:spLocks noChangeArrowheads="1"/>
            </p:cNvSpPr>
            <p:nvPr/>
          </p:nvSpPr>
          <p:spPr bwMode="auto">
            <a:xfrm>
              <a:off x="745898" y="3548856"/>
              <a:ext cx="288925" cy="195263"/>
            </a:xfrm>
            <a:prstGeom prst="rect">
              <a:avLst/>
            </a:prstGeom>
            <a:noFill/>
            <a:ln w="9525">
              <a:noFill/>
              <a:miter lim="800000"/>
              <a:headEnd/>
              <a:tailEnd/>
            </a:ln>
          </p:spPr>
          <p:txBody>
            <a:bodyPr/>
            <a:lstStyle/>
            <a:p>
              <a:endParaRPr lang="en-US" sz="1800" b="0">
                <a:latin typeface="Arial" charset="0"/>
              </a:endParaRPr>
            </a:p>
          </p:txBody>
        </p:sp>
        <p:sp>
          <p:nvSpPr>
            <p:cNvPr id="270" name="Rectangle 68"/>
            <p:cNvSpPr>
              <a:spLocks noChangeArrowheads="1"/>
            </p:cNvSpPr>
            <p:nvPr/>
          </p:nvSpPr>
          <p:spPr bwMode="auto">
            <a:xfrm>
              <a:off x="803048" y="3582193"/>
              <a:ext cx="220663" cy="157163"/>
            </a:xfrm>
            <a:prstGeom prst="rect">
              <a:avLst/>
            </a:prstGeom>
            <a:noFill/>
            <a:ln w="9525">
              <a:noFill/>
              <a:miter lim="800000"/>
              <a:headEnd/>
              <a:tailEnd/>
            </a:ln>
          </p:spPr>
          <p:txBody>
            <a:bodyPr wrap="none" lIns="0" tIns="0" rIns="0" bIns="0">
              <a:spAutoFit/>
            </a:bodyPr>
            <a:lstStyle/>
            <a:p>
              <a:r>
                <a:rPr lang="en-US" sz="900" b="0">
                  <a:solidFill>
                    <a:srgbClr val="000000"/>
                  </a:solidFill>
                  <a:latin typeface="Arial" charset="0"/>
                  <a:cs typeface="Arial" charset="0"/>
                </a:rPr>
                <a:t>P/L</a:t>
              </a:r>
              <a:endParaRPr lang="en-US" sz="1800" b="0">
                <a:latin typeface="Arial" charset="0"/>
                <a:cs typeface="Arial" charset="0"/>
              </a:endParaRPr>
            </a:p>
          </p:txBody>
        </p:sp>
        <p:sp>
          <p:nvSpPr>
            <p:cNvPr id="271" name="Rectangle 69"/>
            <p:cNvSpPr>
              <a:spLocks noChangeArrowheads="1"/>
            </p:cNvSpPr>
            <p:nvPr/>
          </p:nvSpPr>
          <p:spPr bwMode="auto">
            <a:xfrm>
              <a:off x="652235" y="3945731"/>
              <a:ext cx="452438" cy="123825"/>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272" name="Rectangle 70"/>
            <p:cNvSpPr>
              <a:spLocks noChangeArrowheads="1"/>
            </p:cNvSpPr>
            <p:nvPr/>
          </p:nvSpPr>
          <p:spPr bwMode="auto">
            <a:xfrm>
              <a:off x="704623" y="3909218"/>
              <a:ext cx="361950" cy="195263"/>
            </a:xfrm>
            <a:prstGeom prst="rect">
              <a:avLst/>
            </a:prstGeom>
            <a:noFill/>
            <a:ln w="9525">
              <a:noFill/>
              <a:miter lim="800000"/>
              <a:headEnd/>
              <a:tailEnd/>
            </a:ln>
          </p:spPr>
          <p:txBody>
            <a:bodyPr/>
            <a:lstStyle/>
            <a:p>
              <a:endParaRPr lang="en-US" sz="1800" b="0">
                <a:latin typeface="Arial" charset="0"/>
              </a:endParaRPr>
            </a:p>
          </p:txBody>
        </p:sp>
        <p:sp>
          <p:nvSpPr>
            <p:cNvPr id="273" name="Rectangle 71"/>
            <p:cNvSpPr>
              <a:spLocks noChangeArrowheads="1"/>
            </p:cNvSpPr>
            <p:nvPr/>
          </p:nvSpPr>
          <p:spPr bwMode="auto">
            <a:xfrm>
              <a:off x="760185" y="3942556"/>
              <a:ext cx="265113" cy="157163"/>
            </a:xfrm>
            <a:prstGeom prst="rect">
              <a:avLst/>
            </a:prstGeom>
            <a:noFill/>
            <a:ln w="9525">
              <a:noFill/>
              <a:miter lim="800000"/>
              <a:headEnd/>
              <a:tailEnd/>
            </a:ln>
          </p:spPr>
          <p:txBody>
            <a:bodyPr wrap="none" lIns="0" tIns="0" rIns="0" bIns="0">
              <a:spAutoFit/>
            </a:bodyPr>
            <a:lstStyle/>
            <a:p>
              <a:r>
                <a:rPr lang="en-US" sz="900" b="0">
                  <a:solidFill>
                    <a:srgbClr val="000000"/>
                  </a:solidFill>
                  <a:latin typeface="Arial" charset="0"/>
                  <a:cs typeface="Arial" charset="0"/>
                </a:rPr>
                <a:t>Liab</a:t>
              </a:r>
              <a:endParaRPr lang="en-US" sz="1800" b="0">
                <a:latin typeface="Arial" charset="0"/>
                <a:cs typeface="Arial" charset="0"/>
              </a:endParaRPr>
            </a:p>
          </p:txBody>
        </p:sp>
        <p:sp>
          <p:nvSpPr>
            <p:cNvPr id="274" name="Rectangle 72"/>
            <p:cNvSpPr>
              <a:spLocks noChangeArrowheads="1"/>
            </p:cNvSpPr>
            <p:nvPr/>
          </p:nvSpPr>
          <p:spPr bwMode="auto">
            <a:xfrm>
              <a:off x="976085" y="3942556"/>
              <a:ext cx="82550" cy="157163"/>
            </a:xfrm>
            <a:prstGeom prst="rect">
              <a:avLst/>
            </a:prstGeom>
            <a:noFill/>
            <a:ln w="9525">
              <a:noFill/>
              <a:miter lim="800000"/>
              <a:headEnd/>
              <a:tailEnd/>
            </a:ln>
          </p:spPr>
          <p:txBody>
            <a:bodyPr wrap="none" lIns="0" tIns="0" rIns="0" bIns="0">
              <a:spAutoFit/>
            </a:bodyPr>
            <a:lstStyle/>
            <a:p>
              <a:r>
                <a:rPr lang="en-US" sz="900" b="0">
                  <a:solidFill>
                    <a:srgbClr val="000000"/>
                  </a:solidFill>
                  <a:latin typeface="Arial" charset="0"/>
                  <a:cs typeface="Arial" charset="0"/>
                </a:rPr>
                <a:t>.</a:t>
              </a:r>
              <a:endParaRPr lang="en-US" sz="1800" b="0">
                <a:latin typeface="Arial" charset="0"/>
                <a:cs typeface="Arial" charset="0"/>
              </a:endParaRPr>
            </a:p>
          </p:txBody>
        </p:sp>
        <p:grpSp>
          <p:nvGrpSpPr>
            <p:cNvPr id="275" name="Group 76"/>
            <p:cNvGrpSpPr>
              <a:grpSpLocks/>
            </p:cNvGrpSpPr>
            <p:nvPr/>
          </p:nvGrpSpPr>
          <p:grpSpPr bwMode="auto">
            <a:xfrm>
              <a:off x="691923" y="4288631"/>
              <a:ext cx="395288" cy="193675"/>
              <a:chOff x="1817" y="3223"/>
              <a:chExt cx="249" cy="122"/>
            </a:xfrm>
          </p:grpSpPr>
          <p:sp>
            <p:nvSpPr>
              <p:cNvPr id="411" name="Rectangle 73"/>
              <p:cNvSpPr>
                <a:spLocks noChangeArrowheads="1"/>
              </p:cNvSpPr>
              <p:nvPr/>
            </p:nvSpPr>
            <p:spPr bwMode="auto">
              <a:xfrm>
                <a:off x="1820" y="3244"/>
                <a:ext cx="246" cy="78"/>
              </a:xfrm>
              <a:prstGeom prst="rect">
                <a:avLst/>
              </a:prstGeom>
              <a:solidFill>
                <a:srgbClr val="FFFFFF"/>
              </a:solidFill>
              <a:ln w="5">
                <a:solidFill>
                  <a:srgbClr val="000000"/>
                </a:solidFill>
                <a:miter lim="800000"/>
                <a:headEnd/>
                <a:tailEnd/>
              </a:ln>
            </p:spPr>
            <p:txBody>
              <a:bodyPr/>
              <a:lstStyle/>
              <a:p>
                <a:endParaRPr lang="en-US" sz="1800" b="0">
                  <a:latin typeface="Arial" charset="0"/>
                </a:endParaRPr>
              </a:p>
            </p:txBody>
          </p:sp>
          <p:sp>
            <p:nvSpPr>
              <p:cNvPr id="412" name="Rectangle 74"/>
              <p:cNvSpPr>
                <a:spLocks noChangeArrowheads="1"/>
              </p:cNvSpPr>
              <p:nvPr/>
            </p:nvSpPr>
            <p:spPr bwMode="auto">
              <a:xfrm>
                <a:off x="1817" y="3223"/>
                <a:ext cx="133" cy="122"/>
              </a:xfrm>
              <a:prstGeom prst="rect">
                <a:avLst/>
              </a:prstGeom>
              <a:noFill/>
              <a:ln w="9525">
                <a:noFill/>
                <a:miter lim="800000"/>
                <a:headEnd/>
                <a:tailEnd/>
              </a:ln>
            </p:spPr>
            <p:txBody>
              <a:bodyPr/>
              <a:lstStyle/>
              <a:p>
                <a:endParaRPr lang="en-US" sz="1800" b="0">
                  <a:latin typeface="Arial" charset="0"/>
                </a:endParaRPr>
              </a:p>
            </p:txBody>
          </p:sp>
          <p:sp>
            <p:nvSpPr>
              <p:cNvPr id="413" name="Rectangle 75"/>
              <p:cNvSpPr>
                <a:spLocks noChangeArrowheads="1"/>
              </p:cNvSpPr>
              <p:nvPr/>
            </p:nvSpPr>
            <p:spPr bwMode="auto">
              <a:xfrm>
                <a:off x="1853" y="3243"/>
                <a:ext cx="93" cy="99"/>
              </a:xfrm>
              <a:prstGeom prst="rect">
                <a:avLst/>
              </a:prstGeom>
              <a:noFill/>
              <a:ln w="9525">
                <a:noFill/>
                <a:miter lim="800000"/>
                <a:headEnd/>
                <a:tailEnd/>
              </a:ln>
            </p:spPr>
            <p:txBody>
              <a:bodyPr wrap="none" lIns="0" tIns="0" rIns="0" bIns="0">
                <a:spAutoFit/>
              </a:bodyPr>
              <a:lstStyle/>
              <a:p>
                <a:r>
                  <a:rPr lang="en-US" sz="900" b="0">
                    <a:solidFill>
                      <a:srgbClr val="000000"/>
                    </a:solidFill>
                    <a:latin typeface="Arial" charset="0"/>
                    <a:cs typeface="Arial" charset="0"/>
                  </a:rPr>
                  <a:t>...</a:t>
                </a:r>
                <a:endParaRPr lang="en-US" sz="1800" b="0">
                  <a:latin typeface="Arial" charset="0"/>
                  <a:cs typeface="Arial" charset="0"/>
                </a:endParaRPr>
              </a:p>
            </p:txBody>
          </p:sp>
        </p:grpSp>
        <p:grpSp>
          <p:nvGrpSpPr>
            <p:cNvPr id="276" name="Group 79"/>
            <p:cNvGrpSpPr>
              <a:grpSpLocks/>
            </p:cNvGrpSpPr>
            <p:nvPr/>
          </p:nvGrpSpPr>
          <p:grpSpPr bwMode="auto">
            <a:xfrm>
              <a:off x="950685" y="1854994"/>
              <a:ext cx="211138" cy="261938"/>
              <a:chOff x="1980" y="1690"/>
              <a:chExt cx="133" cy="165"/>
            </a:xfrm>
          </p:grpSpPr>
          <p:sp>
            <p:nvSpPr>
              <p:cNvPr id="409" name="Freeform 77"/>
              <p:cNvSpPr>
                <a:spLocks/>
              </p:cNvSpPr>
              <p:nvPr/>
            </p:nvSpPr>
            <p:spPr bwMode="auto">
              <a:xfrm>
                <a:off x="2001" y="1690"/>
                <a:ext cx="112" cy="125"/>
              </a:xfrm>
              <a:custGeom>
                <a:avLst/>
                <a:gdLst>
                  <a:gd name="T0" fmla="*/ 112 w 112"/>
                  <a:gd name="T1" fmla="*/ 0 h 125"/>
                  <a:gd name="T2" fmla="*/ 111 w 112"/>
                  <a:gd name="T3" fmla="*/ 17 h 125"/>
                  <a:gd name="T4" fmla="*/ 107 w 112"/>
                  <a:gd name="T5" fmla="*/ 29 h 125"/>
                  <a:gd name="T6" fmla="*/ 100 w 112"/>
                  <a:gd name="T7" fmla="*/ 45 h 125"/>
                  <a:gd name="T8" fmla="*/ 93 w 112"/>
                  <a:gd name="T9" fmla="*/ 56 h 125"/>
                  <a:gd name="T10" fmla="*/ 84 w 112"/>
                  <a:gd name="T11" fmla="*/ 66 h 125"/>
                  <a:gd name="T12" fmla="*/ 72 w 112"/>
                  <a:gd name="T13" fmla="*/ 74 h 125"/>
                  <a:gd name="T14" fmla="*/ 62 w 112"/>
                  <a:gd name="T15" fmla="*/ 79 h 125"/>
                  <a:gd name="T16" fmla="*/ 51 w 112"/>
                  <a:gd name="T17" fmla="*/ 80 h 125"/>
                  <a:gd name="T18" fmla="*/ 39 w 112"/>
                  <a:gd name="T19" fmla="*/ 83 h 125"/>
                  <a:gd name="T20" fmla="*/ 28 w 112"/>
                  <a:gd name="T21" fmla="*/ 88 h 125"/>
                  <a:gd name="T22" fmla="*/ 17 w 112"/>
                  <a:gd name="T23" fmla="*/ 96 h 125"/>
                  <a:gd name="T24" fmla="*/ 9 w 112"/>
                  <a:gd name="T25" fmla="*/ 107 h 125"/>
                  <a:gd name="T26" fmla="*/ 1 w 112"/>
                  <a:gd name="T27" fmla="*/ 119 h 125"/>
                  <a:gd name="T28" fmla="*/ 0 w 112"/>
                  <a:gd name="T29" fmla="*/ 125 h 125"/>
                  <a:gd name="T30" fmla="*/ 0 w 112"/>
                  <a:gd name="T31" fmla="*/ 125 h 125"/>
                  <a:gd name="T32" fmla="*/ 0 w 112"/>
                  <a:gd name="T33" fmla="*/ 125 h 1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2"/>
                  <a:gd name="T52" fmla="*/ 0 h 125"/>
                  <a:gd name="T53" fmla="*/ 112 w 112"/>
                  <a:gd name="T54" fmla="*/ 125 h 12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2" h="125">
                    <a:moveTo>
                      <a:pt x="112" y="0"/>
                    </a:moveTo>
                    <a:lnTo>
                      <a:pt x="111" y="17"/>
                    </a:lnTo>
                    <a:lnTo>
                      <a:pt x="107" y="29"/>
                    </a:lnTo>
                    <a:lnTo>
                      <a:pt x="100" y="45"/>
                    </a:lnTo>
                    <a:lnTo>
                      <a:pt x="93" y="56"/>
                    </a:lnTo>
                    <a:lnTo>
                      <a:pt x="84" y="66"/>
                    </a:lnTo>
                    <a:lnTo>
                      <a:pt x="72" y="74"/>
                    </a:lnTo>
                    <a:lnTo>
                      <a:pt x="62" y="79"/>
                    </a:lnTo>
                    <a:lnTo>
                      <a:pt x="51" y="80"/>
                    </a:lnTo>
                    <a:lnTo>
                      <a:pt x="39" y="83"/>
                    </a:lnTo>
                    <a:lnTo>
                      <a:pt x="28" y="88"/>
                    </a:lnTo>
                    <a:lnTo>
                      <a:pt x="17" y="96"/>
                    </a:lnTo>
                    <a:lnTo>
                      <a:pt x="9" y="107"/>
                    </a:lnTo>
                    <a:lnTo>
                      <a:pt x="1" y="119"/>
                    </a:lnTo>
                    <a:lnTo>
                      <a:pt x="0" y="125"/>
                    </a:lnTo>
                  </a:path>
                </a:pathLst>
              </a:custGeom>
              <a:noFill/>
              <a:ln w="5">
                <a:solidFill>
                  <a:srgbClr val="000000"/>
                </a:solidFill>
                <a:round/>
                <a:headEnd/>
                <a:tailEnd/>
              </a:ln>
            </p:spPr>
            <p:txBody>
              <a:bodyPr/>
              <a:lstStyle/>
              <a:p>
                <a:endParaRPr lang="en-US"/>
              </a:p>
            </p:txBody>
          </p:sp>
          <p:sp>
            <p:nvSpPr>
              <p:cNvPr id="410" name="Freeform 78"/>
              <p:cNvSpPr>
                <a:spLocks/>
              </p:cNvSpPr>
              <p:nvPr/>
            </p:nvSpPr>
            <p:spPr bwMode="auto">
              <a:xfrm>
                <a:off x="1980" y="1807"/>
                <a:ext cx="42" cy="48"/>
              </a:xfrm>
              <a:custGeom>
                <a:avLst/>
                <a:gdLst>
                  <a:gd name="T0" fmla="*/ 0 w 42"/>
                  <a:gd name="T1" fmla="*/ 0 h 48"/>
                  <a:gd name="T2" fmla="*/ 12 w 42"/>
                  <a:gd name="T3" fmla="*/ 48 h 48"/>
                  <a:gd name="T4" fmla="*/ 42 w 42"/>
                  <a:gd name="T5" fmla="*/ 9 h 48"/>
                  <a:gd name="T6" fmla="*/ 0 w 42"/>
                  <a:gd name="T7" fmla="*/ 0 h 48"/>
                  <a:gd name="T8" fmla="*/ 0 60000 65536"/>
                  <a:gd name="T9" fmla="*/ 0 60000 65536"/>
                  <a:gd name="T10" fmla="*/ 0 60000 65536"/>
                  <a:gd name="T11" fmla="*/ 0 60000 65536"/>
                  <a:gd name="T12" fmla="*/ 0 w 42"/>
                  <a:gd name="T13" fmla="*/ 0 h 48"/>
                  <a:gd name="T14" fmla="*/ 42 w 42"/>
                  <a:gd name="T15" fmla="*/ 48 h 48"/>
                </a:gdLst>
                <a:ahLst/>
                <a:cxnLst>
                  <a:cxn ang="T8">
                    <a:pos x="T0" y="T1"/>
                  </a:cxn>
                  <a:cxn ang="T9">
                    <a:pos x="T2" y="T3"/>
                  </a:cxn>
                  <a:cxn ang="T10">
                    <a:pos x="T4" y="T5"/>
                  </a:cxn>
                  <a:cxn ang="T11">
                    <a:pos x="T6" y="T7"/>
                  </a:cxn>
                </a:cxnLst>
                <a:rect l="T12" t="T13" r="T14" b="T15"/>
                <a:pathLst>
                  <a:path w="42" h="48">
                    <a:moveTo>
                      <a:pt x="0" y="0"/>
                    </a:moveTo>
                    <a:lnTo>
                      <a:pt x="12" y="48"/>
                    </a:lnTo>
                    <a:lnTo>
                      <a:pt x="42" y="9"/>
                    </a:lnTo>
                    <a:lnTo>
                      <a:pt x="0" y="0"/>
                    </a:lnTo>
                    <a:close/>
                  </a:path>
                </a:pathLst>
              </a:custGeom>
              <a:solidFill>
                <a:srgbClr val="000000"/>
              </a:solidFill>
              <a:ln w="9525">
                <a:noFill/>
                <a:round/>
                <a:headEnd/>
                <a:tailEnd/>
              </a:ln>
            </p:spPr>
            <p:txBody>
              <a:bodyPr/>
              <a:lstStyle/>
              <a:p>
                <a:endParaRPr lang="en-US"/>
              </a:p>
            </p:txBody>
          </p:sp>
        </p:grpSp>
        <p:grpSp>
          <p:nvGrpSpPr>
            <p:cNvPr id="277" name="Group 82"/>
            <p:cNvGrpSpPr>
              <a:grpSpLocks/>
            </p:cNvGrpSpPr>
            <p:nvPr/>
          </p:nvGrpSpPr>
          <p:grpSpPr bwMode="auto">
            <a:xfrm>
              <a:off x="1001485" y="1856582"/>
              <a:ext cx="160338" cy="328613"/>
              <a:chOff x="2012" y="1691"/>
              <a:chExt cx="101" cy="207"/>
            </a:xfrm>
          </p:grpSpPr>
          <p:sp>
            <p:nvSpPr>
              <p:cNvPr id="407" name="Freeform 80"/>
              <p:cNvSpPr>
                <a:spLocks/>
              </p:cNvSpPr>
              <p:nvPr/>
            </p:nvSpPr>
            <p:spPr bwMode="auto">
              <a:xfrm>
                <a:off x="2033" y="1691"/>
                <a:ext cx="80" cy="166"/>
              </a:xfrm>
              <a:custGeom>
                <a:avLst/>
                <a:gdLst>
                  <a:gd name="T0" fmla="*/ 80 w 80"/>
                  <a:gd name="T1" fmla="*/ 0 h 166"/>
                  <a:gd name="T2" fmla="*/ 79 w 80"/>
                  <a:gd name="T3" fmla="*/ 18 h 166"/>
                  <a:gd name="T4" fmla="*/ 76 w 80"/>
                  <a:gd name="T5" fmla="*/ 36 h 166"/>
                  <a:gd name="T6" fmla="*/ 72 w 80"/>
                  <a:gd name="T7" fmla="*/ 55 h 166"/>
                  <a:gd name="T8" fmla="*/ 66 w 80"/>
                  <a:gd name="T9" fmla="*/ 71 h 166"/>
                  <a:gd name="T10" fmla="*/ 61 w 80"/>
                  <a:gd name="T11" fmla="*/ 83 h 166"/>
                  <a:gd name="T12" fmla="*/ 53 w 80"/>
                  <a:gd name="T13" fmla="*/ 93 h 166"/>
                  <a:gd name="T14" fmla="*/ 45 w 80"/>
                  <a:gd name="T15" fmla="*/ 99 h 166"/>
                  <a:gd name="T16" fmla="*/ 38 w 80"/>
                  <a:gd name="T17" fmla="*/ 101 h 166"/>
                  <a:gd name="T18" fmla="*/ 29 w 80"/>
                  <a:gd name="T19" fmla="*/ 105 h 166"/>
                  <a:gd name="T20" fmla="*/ 21 w 80"/>
                  <a:gd name="T21" fmla="*/ 110 h 166"/>
                  <a:gd name="T22" fmla="*/ 15 w 80"/>
                  <a:gd name="T23" fmla="*/ 120 h 166"/>
                  <a:gd name="T24" fmla="*/ 8 w 80"/>
                  <a:gd name="T25" fmla="*/ 134 h 166"/>
                  <a:gd name="T26" fmla="*/ 2 w 80"/>
                  <a:gd name="T27" fmla="*/ 150 h 166"/>
                  <a:gd name="T28" fmla="*/ 0 w 80"/>
                  <a:gd name="T29" fmla="*/ 166 h 166"/>
                  <a:gd name="T30" fmla="*/ 0 w 80"/>
                  <a:gd name="T31" fmla="*/ 166 h 166"/>
                  <a:gd name="T32" fmla="*/ 0 w 80"/>
                  <a:gd name="T33" fmla="*/ 166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166"/>
                  <a:gd name="T53" fmla="*/ 80 w 80"/>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166">
                    <a:moveTo>
                      <a:pt x="80" y="0"/>
                    </a:moveTo>
                    <a:lnTo>
                      <a:pt x="79" y="18"/>
                    </a:lnTo>
                    <a:lnTo>
                      <a:pt x="76" y="36"/>
                    </a:lnTo>
                    <a:lnTo>
                      <a:pt x="72" y="55"/>
                    </a:lnTo>
                    <a:lnTo>
                      <a:pt x="66" y="71"/>
                    </a:lnTo>
                    <a:lnTo>
                      <a:pt x="61" y="83"/>
                    </a:lnTo>
                    <a:lnTo>
                      <a:pt x="53" y="93"/>
                    </a:lnTo>
                    <a:lnTo>
                      <a:pt x="45" y="99"/>
                    </a:lnTo>
                    <a:lnTo>
                      <a:pt x="38" y="101"/>
                    </a:lnTo>
                    <a:lnTo>
                      <a:pt x="29" y="105"/>
                    </a:lnTo>
                    <a:lnTo>
                      <a:pt x="21" y="110"/>
                    </a:lnTo>
                    <a:lnTo>
                      <a:pt x="15" y="120"/>
                    </a:lnTo>
                    <a:lnTo>
                      <a:pt x="8" y="134"/>
                    </a:lnTo>
                    <a:lnTo>
                      <a:pt x="2" y="150"/>
                    </a:lnTo>
                    <a:lnTo>
                      <a:pt x="0" y="166"/>
                    </a:lnTo>
                  </a:path>
                </a:pathLst>
              </a:custGeom>
              <a:noFill/>
              <a:ln w="5">
                <a:solidFill>
                  <a:srgbClr val="000000"/>
                </a:solidFill>
                <a:round/>
                <a:headEnd/>
                <a:tailEnd/>
              </a:ln>
            </p:spPr>
            <p:txBody>
              <a:bodyPr/>
              <a:lstStyle/>
              <a:p>
                <a:endParaRPr lang="en-US"/>
              </a:p>
            </p:txBody>
          </p:sp>
          <p:sp>
            <p:nvSpPr>
              <p:cNvPr id="408" name="Freeform 81"/>
              <p:cNvSpPr>
                <a:spLocks/>
              </p:cNvSpPr>
              <p:nvPr/>
            </p:nvSpPr>
            <p:spPr bwMode="auto">
              <a:xfrm>
                <a:off x="2012" y="1852"/>
                <a:ext cx="43" cy="46"/>
              </a:xfrm>
              <a:custGeom>
                <a:avLst/>
                <a:gdLst>
                  <a:gd name="T0" fmla="*/ 0 w 43"/>
                  <a:gd name="T1" fmla="*/ 0 h 46"/>
                  <a:gd name="T2" fmla="*/ 18 w 43"/>
                  <a:gd name="T3" fmla="*/ 46 h 46"/>
                  <a:gd name="T4" fmla="*/ 43 w 43"/>
                  <a:gd name="T5" fmla="*/ 4 h 46"/>
                  <a:gd name="T6" fmla="*/ 0 w 43"/>
                  <a:gd name="T7" fmla="*/ 0 h 46"/>
                  <a:gd name="T8" fmla="*/ 0 60000 65536"/>
                  <a:gd name="T9" fmla="*/ 0 60000 65536"/>
                  <a:gd name="T10" fmla="*/ 0 60000 65536"/>
                  <a:gd name="T11" fmla="*/ 0 60000 65536"/>
                  <a:gd name="T12" fmla="*/ 0 w 43"/>
                  <a:gd name="T13" fmla="*/ 0 h 46"/>
                  <a:gd name="T14" fmla="*/ 43 w 43"/>
                  <a:gd name="T15" fmla="*/ 46 h 46"/>
                </a:gdLst>
                <a:ahLst/>
                <a:cxnLst>
                  <a:cxn ang="T8">
                    <a:pos x="T0" y="T1"/>
                  </a:cxn>
                  <a:cxn ang="T9">
                    <a:pos x="T2" y="T3"/>
                  </a:cxn>
                  <a:cxn ang="T10">
                    <a:pos x="T4" y="T5"/>
                  </a:cxn>
                  <a:cxn ang="T11">
                    <a:pos x="T6" y="T7"/>
                  </a:cxn>
                </a:cxnLst>
                <a:rect l="T12" t="T13" r="T14" b="T15"/>
                <a:pathLst>
                  <a:path w="43" h="46">
                    <a:moveTo>
                      <a:pt x="0" y="0"/>
                    </a:moveTo>
                    <a:lnTo>
                      <a:pt x="18" y="46"/>
                    </a:lnTo>
                    <a:lnTo>
                      <a:pt x="43" y="4"/>
                    </a:lnTo>
                    <a:lnTo>
                      <a:pt x="0" y="0"/>
                    </a:lnTo>
                    <a:close/>
                  </a:path>
                </a:pathLst>
              </a:custGeom>
              <a:solidFill>
                <a:srgbClr val="000000"/>
              </a:solidFill>
              <a:ln w="9525">
                <a:noFill/>
                <a:round/>
                <a:headEnd/>
                <a:tailEnd/>
              </a:ln>
            </p:spPr>
            <p:txBody>
              <a:bodyPr/>
              <a:lstStyle/>
              <a:p>
                <a:endParaRPr lang="en-US"/>
              </a:p>
            </p:txBody>
          </p:sp>
        </p:grpSp>
        <p:grpSp>
          <p:nvGrpSpPr>
            <p:cNvPr id="278" name="Group 85"/>
            <p:cNvGrpSpPr>
              <a:grpSpLocks/>
            </p:cNvGrpSpPr>
            <p:nvPr/>
          </p:nvGrpSpPr>
          <p:grpSpPr bwMode="auto">
            <a:xfrm>
              <a:off x="922110" y="2010569"/>
              <a:ext cx="76200" cy="73025"/>
              <a:chOff x="1962" y="1788"/>
              <a:chExt cx="48" cy="46"/>
            </a:xfrm>
          </p:grpSpPr>
          <p:sp>
            <p:nvSpPr>
              <p:cNvPr id="405" name="Freeform 83"/>
              <p:cNvSpPr>
                <a:spLocks/>
              </p:cNvSpPr>
              <p:nvPr/>
            </p:nvSpPr>
            <p:spPr bwMode="auto">
              <a:xfrm>
                <a:off x="1962" y="1833"/>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0 h 1"/>
                  <a:gd name="T16" fmla="*/ 0 w 1"/>
                  <a:gd name="T17" fmla="*/ 0 h 1"/>
                  <a:gd name="T18" fmla="*/ 0 w 1"/>
                  <a:gd name="T19" fmla="*/ 0 h 1"/>
                  <a:gd name="T20" fmla="*/ 0 w 1"/>
                  <a:gd name="T21" fmla="*/ 0 h 1"/>
                  <a:gd name="T22" fmla="*/ 0 w 1"/>
                  <a:gd name="T23" fmla="*/ 0 h 1"/>
                  <a:gd name="T24" fmla="*/ 0 w 1"/>
                  <a:gd name="T25" fmla="*/ 0 h 1"/>
                  <a:gd name="T26" fmla="*/ 0 w 1"/>
                  <a:gd name="T27" fmla="*/ 0 h 1"/>
                  <a:gd name="T28" fmla="*/ 0 w 1"/>
                  <a:gd name="T29" fmla="*/ 0 h 1"/>
                  <a:gd name="T30" fmla="*/ 0 w 1"/>
                  <a:gd name="T31" fmla="*/ 0 h 1"/>
                  <a:gd name="T32" fmla="*/ 0 w 1"/>
                  <a:gd name="T33" fmla="*/ 0 h 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
                  <a:gd name="T52" fmla="*/ 0 h 1"/>
                  <a:gd name="T53" fmla="*/ 1 w 1"/>
                  <a:gd name="T54" fmla="*/ 1 h 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 h="1">
                    <a:moveTo>
                      <a:pt x="0" y="0"/>
                    </a:moveTo>
                    <a:lnTo>
                      <a:pt x="0" y="0"/>
                    </a:lnTo>
                  </a:path>
                </a:pathLst>
              </a:custGeom>
              <a:noFill/>
              <a:ln w="5">
                <a:solidFill>
                  <a:srgbClr val="000000"/>
                </a:solidFill>
                <a:round/>
                <a:headEnd/>
                <a:tailEnd/>
              </a:ln>
            </p:spPr>
            <p:txBody>
              <a:bodyPr/>
              <a:lstStyle/>
              <a:p>
                <a:endParaRPr lang="en-US"/>
              </a:p>
            </p:txBody>
          </p:sp>
          <p:sp>
            <p:nvSpPr>
              <p:cNvPr id="406" name="Freeform 84"/>
              <p:cNvSpPr>
                <a:spLocks/>
              </p:cNvSpPr>
              <p:nvPr/>
            </p:nvSpPr>
            <p:spPr bwMode="auto">
              <a:xfrm>
                <a:off x="1964" y="1788"/>
                <a:ext cx="46" cy="46"/>
              </a:xfrm>
              <a:custGeom>
                <a:avLst/>
                <a:gdLst>
                  <a:gd name="T0" fmla="*/ 16 w 46"/>
                  <a:gd name="T1" fmla="*/ 0 h 46"/>
                  <a:gd name="T2" fmla="*/ 0 w 46"/>
                  <a:gd name="T3" fmla="*/ 46 h 46"/>
                  <a:gd name="T4" fmla="*/ 46 w 46"/>
                  <a:gd name="T5" fmla="*/ 32 h 46"/>
                  <a:gd name="T6" fmla="*/ 16 w 46"/>
                  <a:gd name="T7" fmla="*/ 0 h 46"/>
                  <a:gd name="T8" fmla="*/ 0 60000 65536"/>
                  <a:gd name="T9" fmla="*/ 0 60000 65536"/>
                  <a:gd name="T10" fmla="*/ 0 60000 65536"/>
                  <a:gd name="T11" fmla="*/ 0 60000 65536"/>
                  <a:gd name="T12" fmla="*/ 0 w 46"/>
                  <a:gd name="T13" fmla="*/ 0 h 46"/>
                  <a:gd name="T14" fmla="*/ 46 w 46"/>
                  <a:gd name="T15" fmla="*/ 46 h 46"/>
                </a:gdLst>
                <a:ahLst/>
                <a:cxnLst>
                  <a:cxn ang="T8">
                    <a:pos x="T0" y="T1"/>
                  </a:cxn>
                  <a:cxn ang="T9">
                    <a:pos x="T2" y="T3"/>
                  </a:cxn>
                  <a:cxn ang="T10">
                    <a:pos x="T4" y="T5"/>
                  </a:cxn>
                  <a:cxn ang="T11">
                    <a:pos x="T6" y="T7"/>
                  </a:cxn>
                </a:cxnLst>
                <a:rect l="T12" t="T13" r="T14" b="T15"/>
                <a:pathLst>
                  <a:path w="46" h="46">
                    <a:moveTo>
                      <a:pt x="16" y="0"/>
                    </a:moveTo>
                    <a:lnTo>
                      <a:pt x="0" y="46"/>
                    </a:lnTo>
                    <a:lnTo>
                      <a:pt x="46" y="32"/>
                    </a:lnTo>
                    <a:lnTo>
                      <a:pt x="16" y="0"/>
                    </a:lnTo>
                    <a:close/>
                  </a:path>
                </a:pathLst>
              </a:custGeom>
              <a:solidFill>
                <a:srgbClr val="000000"/>
              </a:solidFill>
              <a:ln w="9525">
                <a:noFill/>
                <a:round/>
                <a:headEnd/>
                <a:tailEnd/>
              </a:ln>
            </p:spPr>
            <p:txBody>
              <a:bodyPr/>
              <a:lstStyle/>
              <a:p>
                <a:endParaRPr lang="en-US"/>
              </a:p>
            </p:txBody>
          </p:sp>
        </p:grpSp>
        <p:sp>
          <p:nvSpPr>
            <p:cNvPr id="279" name="Rectangle 86"/>
            <p:cNvSpPr>
              <a:spLocks noChangeArrowheads="1"/>
            </p:cNvSpPr>
            <p:nvPr/>
          </p:nvSpPr>
          <p:spPr bwMode="auto">
            <a:xfrm>
              <a:off x="787173" y="2385219"/>
              <a:ext cx="576263" cy="138113"/>
            </a:xfrm>
            <a:prstGeom prst="rect">
              <a:avLst/>
            </a:prstGeom>
            <a:noFill/>
            <a:ln w="9525">
              <a:noFill/>
              <a:miter lim="800000"/>
              <a:headEnd/>
              <a:tailEnd/>
            </a:ln>
          </p:spPr>
          <p:txBody>
            <a:bodyPr/>
            <a:lstStyle/>
            <a:p>
              <a:endParaRPr lang="en-US" sz="1800" b="0">
                <a:latin typeface="Arial" charset="0"/>
              </a:endParaRPr>
            </a:p>
          </p:txBody>
        </p:sp>
        <p:sp>
          <p:nvSpPr>
            <p:cNvPr id="280" name="Rectangle 87"/>
            <p:cNvSpPr>
              <a:spLocks noChangeArrowheads="1"/>
            </p:cNvSpPr>
            <p:nvPr/>
          </p:nvSpPr>
          <p:spPr bwMode="auto">
            <a:xfrm>
              <a:off x="845910" y="2418557"/>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000000</a:t>
              </a:r>
              <a:endParaRPr lang="en-US" sz="1800" b="0">
                <a:latin typeface="Arial" charset="0"/>
                <a:cs typeface="Arial" charset="0"/>
              </a:endParaRPr>
            </a:p>
          </p:txBody>
        </p:sp>
        <p:sp>
          <p:nvSpPr>
            <p:cNvPr id="281" name="Rectangle 88"/>
            <p:cNvSpPr>
              <a:spLocks noChangeArrowheads="1"/>
            </p:cNvSpPr>
            <p:nvPr/>
          </p:nvSpPr>
          <p:spPr bwMode="auto">
            <a:xfrm>
              <a:off x="1064985" y="2418557"/>
              <a:ext cx="603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a:t>
              </a:r>
              <a:endParaRPr lang="en-US" sz="1800" b="0">
                <a:latin typeface="Arial" charset="0"/>
                <a:cs typeface="Arial" charset="0"/>
              </a:endParaRPr>
            </a:p>
          </p:txBody>
        </p:sp>
        <p:sp>
          <p:nvSpPr>
            <p:cNvPr id="282" name="Rectangle 89"/>
            <p:cNvSpPr>
              <a:spLocks noChangeArrowheads="1"/>
            </p:cNvSpPr>
            <p:nvPr/>
          </p:nvSpPr>
          <p:spPr bwMode="auto">
            <a:xfrm>
              <a:off x="1087210" y="2418557"/>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099999</a:t>
              </a:r>
              <a:endParaRPr lang="en-US" sz="1800" b="0">
                <a:latin typeface="Arial" charset="0"/>
                <a:cs typeface="Arial" charset="0"/>
              </a:endParaRPr>
            </a:p>
          </p:txBody>
        </p:sp>
        <p:sp>
          <p:nvSpPr>
            <p:cNvPr id="283" name="Rectangle 90"/>
            <p:cNvSpPr>
              <a:spLocks noChangeArrowheads="1"/>
            </p:cNvSpPr>
            <p:nvPr/>
          </p:nvSpPr>
          <p:spPr bwMode="auto">
            <a:xfrm>
              <a:off x="595085" y="2575719"/>
              <a:ext cx="576263" cy="138113"/>
            </a:xfrm>
            <a:prstGeom prst="rect">
              <a:avLst/>
            </a:prstGeom>
            <a:noFill/>
            <a:ln w="9525">
              <a:noFill/>
              <a:miter lim="800000"/>
              <a:headEnd/>
              <a:tailEnd/>
            </a:ln>
          </p:spPr>
          <p:txBody>
            <a:bodyPr/>
            <a:lstStyle/>
            <a:p>
              <a:endParaRPr lang="en-US" sz="1800" b="0">
                <a:latin typeface="Arial" charset="0"/>
              </a:endParaRPr>
            </a:p>
          </p:txBody>
        </p:sp>
        <p:sp>
          <p:nvSpPr>
            <p:cNvPr id="284" name="Rectangle 91"/>
            <p:cNvSpPr>
              <a:spLocks noChangeArrowheads="1"/>
            </p:cNvSpPr>
            <p:nvPr/>
          </p:nvSpPr>
          <p:spPr bwMode="auto">
            <a:xfrm>
              <a:off x="653823" y="2607469"/>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100000</a:t>
              </a:r>
              <a:endParaRPr lang="en-US" sz="1800" b="0">
                <a:latin typeface="Arial" charset="0"/>
                <a:cs typeface="Arial" charset="0"/>
              </a:endParaRPr>
            </a:p>
          </p:txBody>
        </p:sp>
        <p:sp>
          <p:nvSpPr>
            <p:cNvPr id="285" name="Rectangle 92"/>
            <p:cNvSpPr>
              <a:spLocks noChangeArrowheads="1"/>
            </p:cNvSpPr>
            <p:nvPr/>
          </p:nvSpPr>
          <p:spPr bwMode="auto">
            <a:xfrm>
              <a:off x="872898" y="2607469"/>
              <a:ext cx="603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a:t>
              </a:r>
              <a:endParaRPr lang="en-US" sz="1800" b="0">
                <a:latin typeface="Arial" charset="0"/>
                <a:cs typeface="Arial" charset="0"/>
              </a:endParaRPr>
            </a:p>
          </p:txBody>
        </p:sp>
        <p:sp>
          <p:nvSpPr>
            <p:cNvPr id="286" name="Rectangle 93"/>
            <p:cNvSpPr>
              <a:spLocks noChangeArrowheads="1"/>
            </p:cNvSpPr>
            <p:nvPr/>
          </p:nvSpPr>
          <p:spPr bwMode="auto">
            <a:xfrm>
              <a:off x="895123" y="2607469"/>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199999</a:t>
              </a:r>
              <a:endParaRPr lang="en-US" sz="1800" b="0">
                <a:latin typeface="Arial" charset="0"/>
                <a:cs typeface="Arial" charset="0"/>
              </a:endParaRPr>
            </a:p>
          </p:txBody>
        </p:sp>
        <p:sp>
          <p:nvSpPr>
            <p:cNvPr id="287" name="Rectangle 94"/>
            <p:cNvSpPr>
              <a:spLocks noChangeArrowheads="1"/>
            </p:cNvSpPr>
            <p:nvPr/>
          </p:nvSpPr>
          <p:spPr bwMode="auto">
            <a:xfrm>
              <a:off x="596673" y="2942432"/>
              <a:ext cx="576263" cy="138113"/>
            </a:xfrm>
            <a:prstGeom prst="rect">
              <a:avLst/>
            </a:prstGeom>
            <a:noFill/>
            <a:ln w="9525">
              <a:noFill/>
              <a:miter lim="800000"/>
              <a:headEnd/>
              <a:tailEnd/>
            </a:ln>
          </p:spPr>
          <p:txBody>
            <a:bodyPr/>
            <a:lstStyle/>
            <a:p>
              <a:endParaRPr lang="en-US" sz="1800" b="0">
                <a:latin typeface="Arial" charset="0"/>
              </a:endParaRPr>
            </a:p>
          </p:txBody>
        </p:sp>
        <p:sp>
          <p:nvSpPr>
            <p:cNvPr id="288" name="Rectangle 95"/>
            <p:cNvSpPr>
              <a:spLocks noChangeArrowheads="1"/>
            </p:cNvSpPr>
            <p:nvPr/>
          </p:nvSpPr>
          <p:spPr bwMode="auto">
            <a:xfrm>
              <a:off x="655410" y="2974182"/>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200000</a:t>
              </a:r>
              <a:endParaRPr lang="en-US" sz="1800" b="0">
                <a:latin typeface="Arial" charset="0"/>
                <a:cs typeface="Arial" charset="0"/>
              </a:endParaRPr>
            </a:p>
          </p:txBody>
        </p:sp>
        <p:sp>
          <p:nvSpPr>
            <p:cNvPr id="289" name="Rectangle 96"/>
            <p:cNvSpPr>
              <a:spLocks noChangeArrowheads="1"/>
            </p:cNvSpPr>
            <p:nvPr/>
          </p:nvSpPr>
          <p:spPr bwMode="auto">
            <a:xfrm>
              <a:off x="874485" y="2974182"/>
              <a:ext cx="603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a:t>
              </a:r>
              <a:endParaRPr lang="en-US" sz="1800" b="0">
                <a:latin typeface="Arial" charset="0"/>
                <a:cs typeface="Arial" charset="0"/>
              </a:endParaRPr>
            </a:p>
          </p:txBody>
        </p:sp>
        <p:sp>
          <p:nvSpPr>
            <p:cNvPr id="290" name="Rectangle 97"/>
            <p:cNvSpPr>
              <a:spLocks noChangeArrowheads="1"/>
            </p:cNvSpPr>
            <p:nvPr/>
          </p:nvSpPr>
          <p:spPr bwMode="auto">
            <a:xfrm>
              <a:off x="896710" y="2974182"/>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299999</a:t>
              </a:r>
              <a:endParaRPr lang="en-US" sz="1800" b="0">
                <a:latin typeface="Arial" charset="0"/>
                <a:cs typeface="Arial" charset="0"/>
              </a:endParaRPr>
            </a:p>
          </p:txBody>
        </p:sp>
        <p:sp>
          <p:nvSpPr>
            <p:cNvPr id="291" name="Rectangle 98"/>
            <p:cNvSpPr>
              <a:spLocks noChangeArrowheads="1"/>
            </p:cNvSpPr>
            <p:nvPr/>
          </p:nvSpPr>
          <p:spPr bwMode="auto">
            <a:xfrm>
              <a:off x="595085" y="3304381"/>
              <a:ext cx="576263" cy="138113"/>
            </a:xfrm>
            <a:prstGeom prst="rect">
              <a:avLst/>
            </a:prstGeom>
            <a:noFill/>
            <a:ln w="9525">
              <a:noFill/>
              <a:miter lim="800000"/>
              <a:headEnd/>
              <a:tailEnd/>
            </a:ln>
          </p:spPr>
          <p:txBody>
            <a:bodyPr/>
            <a:lstStyle/>
            <a:p>
              <a:endParaRPr lang="en-US" sz="1800" b="0">
                <a:latin typeface="Arial" charset="0"/>
              </a:endParaRPr>
            </a:p>
          </p:txBody>
        </p:sp>
        <p:sp>
          <p:nvSpPr>
            <p:cNvPr id="292" name="Rectangle 99"/>
            <p:cNvSpPr>
              <a:spLocks noChangeArrowheads="1"/>
            </p:cNvSpPr>
            <p:nvPr/>
          </p:nvSpPr>
          <p:spPr bwMode="auto">
            <a:xfrm>
              <a:off x="653823" y="3336131"/>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300000</a:t>
              </a:r>
              <a:endParaRPr lang="en-US" sz="1800" b="0">
                <a:latin typeface="Arial" charset="0"/>
                <a:cs typeface="Arial" charset="0"/>
              </a:endParaRPr>
            </a:p>
          </p:txBody>
        </p:sp>
        <p:sp>
          <p:nvSpPr>
            <p:cNvPr id="293" name="Rectangle 100"/>
            <p:cNvSpPr>
              <a:spLocks noChangeArrowheads="1"/>
            </p:cNvSpPr>
            <p:nvPr/>
          </p:nvSpPr>
          <p:spPr bwMode="auto">
            <a:xfrm>
              <a:off x="872898" y="3336131"/>
              <a:ext cx="603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a:t>
              </a:r>
              <a:endParaRPr lang="en-US" sz="1800" b="0">
                <a:latin typeface="Arial" charset="0"/>
                <a:cs typeface="Arial" charset="0"/>
              </a:endParaRPr>
            </a:p>
          </p:txBody>
        </p:sp>
        <p:sp>
          <p:nvSpPr>
            <p:cNvPr id="294" name="Rectangle 101"/>
            <p:cNvSpPr>
              <a:spLocks noChangeArrowheads="1"/>
            </p:cNvSpPr>
            <p:nvPr/>
          </p:nvSpPr>
          <p:spPr bwMode="auto">
            <a:xfrm>
              <a:off x="895123" y="3336131"/>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399999</a:t>
              </a:r>
              <a:endParaRPr lang="en-US" sz="1800" b="0">
                <a:latin typeface="Arial" charset="0"/>
                <a:cs typeface="Arial" charset="0"/>
              </a:endParaRPr>
            </a:p>
          </p:txBody>
        </p:sp>
        <p:sp>
          <p:nvSpPr>
            <p:cNvPr id="295" name="Rectangle 102"/>
            <p:cNvSpPr>
              <a:spLocks noChangeArrowheads="1"/>
            </p:cNvSpPr>
            <p:nvPr/>
          </p:nvSpPr>
          <p:spPr bwMode="auto">
            <a:xfrm>
              <a:off x="595085" y="3672681"/>
              <a:ext cx="576263" cy="138113"/>
            </a:xfrm>
            <a:prstGeom prst="rect">
              <a:avLst/>
            </a:prstGeom>
            <a:noFill/>
            <a:ln w="9525">
              <a:noFill/>
              <a:miter lim="800000"/>
              <a:headEnd/>
              <a:tailEnd/>
            </a:ln>
          </p:spPr>
          <p:txBody>
            <a:bodyPr/>
            <a:lstStyle/>
            <a:p>
              <a:endParaRPr lang="en-US" sz="1800" b="0">
                <a:latin typeface="Arial" charset="0"/>
              </a:endParaRPr>
            </a:p>
          </p:txBody>
        </p:sp>
        <p:sp>
          <p:nvSpPr>
            <p:cNvPr id="296" name="Rectangle 103"/>
            <p:cNvSpPr>
              <a:spLocks noChangeArrowheads="1"/>
            </p:cNvSpPr>
            <p:nvPr/>
          </p:nvSpPr>
          <p:spPr bwMode="auto">
            <a:xfrm>
              <a:off x="653823" y="3704431"/>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400000</a:t>
              </a:r>
              <a:endParaRPr lang="en-US" sz="1800" b="0">
                <a:latin typeface="Arial" charset="0"/>
                <a:cs typeface="Arial" charset="0"/>
              </a:endParaRPr>
            </a:p>
          </p:txBody>
        </p:sp>
        <p:sp>
          <p:nvSpPr>
            <p:cNvPr id="297" name="Rectangle 104"/>
            <p:cNvSpPr>
              <a:spLocks noChangeArrowheads="1"/>
            </p:cNvSpPr>
            <p:nvPr/>
          </p:nvSpPr>
          <p:spPr bwMode="auto">
            <a:xfrm>
              <a:off x="872898" y="3704431"/>
              <a:ext cx="603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a:t>
              </a:r>
              <a:endParaRPr lang="en-US" sz="1800" b="0">
                <a:latin typeface="Arial" charset="0"/>
                <a:cs typeface="Arial" charset="0"/>
              </a:endParaRPr>
            </a:p>
          </p:txBody>
        </p:sp>
        <p:sp>
          <p:nvSpPr>
            <p:cNvPr id="298" name="Rectangle 105"/>
            <p:cNvSpPr>
              <a:spLocks noChangeArrowheads="1"/>
            </p:cNvSpPr>
            <p:nvPr/>
          </p:nvSpPr>
          <p:spPr bwMode="auto">
            <a:xfrm>
              <a:off x="895123" y="3704431"/>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499999</a:t>
              </a:r>
              <a:endParaRPr lang="en-US" sz="1800" b="0">
                <a:latin typeface="Arial" charset="0"/>
                <a:cs typeface="Arial" charset="0"/>
              </a:endParaRPr>
            </a:p>
          </p:txBody>
        </p:sp>
        <p:sp>
          <p:nvSpPr>
            <p:cNvPr id="299" name="Rectangle 106"/>
            <p:cNvSpPr>
              <a:spLocks noChangeArrowheads="1"/>
            </p:cNvSpPr>
            <p:nvPr/>
          </p:nvSpPr>
          <p:spPr bwMode="auto">
            <a:xfrm>
              <a:off x="590323" y="4047331"/>
              <a:ext cx="577850" cy="134938"/>
            </a:xfrm>
            <a:prstGeom prst="rect">
              <a:avLst/>
            </a:prstGeom>
            <a:noFill/>
            <a:ln w="9525">
              <a:noFill/>
              <a:miter lim="800000"/>
              <a:headEnd/>
              <a:tailEnd/>
            </a:ln>
          </p:spPr>
          <p:txBody>
            <a:bodyPr/>
            <a:lstStyle/>
            <a:p>
              <a:endParaRPr lang="en-US" sz="1800" b="0">
                <a:latin typeface="Arial" charset="0"/>
              </a:endParaRPr>
            </a:p>
          </p:txBody>
        </p:sp>
        <p:sp>
          <p:nvSpPr>
            <p:cNvPr id="300" name="Rectangle 107"/>
            <p:cNvSpPr>
              <a:spLocks noChangeArrowheads="1"/>
            </p:cNvSpPr>
            <p:nvPr/>
          </p:nvSpPr>
          <p:spPr bwMode="auto">
            <a:xfrm>
              <a:off x="649060" y="4077493"/>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500000</a:t>
              </a:r>
              <a:endParaRPr lang="en-US" sz="1800" b="0">
                <a:latin typeface="Arial" charset="0"/>
                <a:cs typeface="Arial" charset="0"/>
              </a:endParaRPr>
            </a:p>
          </p:txBody>
        </p:sp>
        <p:sp>
          <p:nvSpPr>
            <p:cNvPr id="301" name="Rectangle 108"/>
            <p:cNvSpPr>
              <a:spLocks noChangeArrowheads="1"/>
            </p:cNvSpPr>
            <p:nvPr/>
          </p:nvSpPr>
          <p:spPr bwMode="auto">
            <a:xfrm>
              <a:off x="868135" y="4077493"/>
              <a:ext cx="603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a:t>
              </a:r>
              <a:endParaRPr lang="en-US" sz="1800" b="0">
                <a:latin typeface="Arial" charset="0"/>
                <a:cs typeface="Arial" charset="0"/>
              </a:endParaRPr>
            </a:p>
          </p:txBody>
        </p:sp>
        <p:sp>
          <p:nvSpPr>
            <p:cNvPr id="302" name="Rectangle 109"/>
            <p:cNvSpPr>
              <a:spLocks noChangeArrowheads="1"/>
            </p:cNvSpPr>
            <p:nvPr/>
          </p:nvSpPr>
          <p:spPr bwMode="auto">
            <a:xfrm>
              <a:off x="890360" y="4077493"/>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599999</a:t>
              </a:r>
              <a:endParaRPr lang="en-US" sz="1800" b="0">
                <a:latin typeface="Arial" charset="0"/>
                <a:cs typeface="Arial" charset="0"/>
              </a:endParaRPr>
            </a:p>
          </p:txBody>
        </p:sp>
        <p:sp>
          <p:nvSpPr>
            <p:cNvPr id="303" name="Rectangle 110"/>
            <p:cNvSpPr>
              <a:spLocks noChangeArrowheads="1"/>
            </p:cNvSpPr>
            <p:nvPr/>
          </p:nvSpPr>
          <p:spPr bwMode="auto">
            <a:xfrm>
              <a:off x="598260" y="4423568"/>
              <a:ext cx="577850" cy="136525"/>
            </a:xfrm>
            <a:prstGeom prst="rect">
              <a:avLst/>
            </a:prstGeom>
            <a:noFill/>
            <a:ln w="9525">
              <a:noFill/>
              <a:miter lim="800000"/>
              <a:headEnd/>
              <a:tailEnd/>
            </a:ln>
          </p:spPr>
          <p:txBody>
            <a:bodyPr/>
            <a:lstStyle/>
            <a:p>
              <a:endParaRPr lang="en-US" sz="1800" b="0">
                <a:latin typeface="Arial" charset="0"/>
              </a:endParaRPr>
            </a:p>
          </p:txBody>
        </p:sp>
        <p:sp>
          <p:nvSpPr>
            <p:cNvPr id="304" name="Rectangle 111"/>
            <p:cNvSpPr>
              <a:spLocks noChangeArrowheads="1"/>
            </p:cNvSpPr>
            <p:nvPr/>
          </p:nvSpPr>
          <p:spPr bwMode="auto">
            <a:xfrm>
              <a:off x="656998" y="4453731"/>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600000</a:t>
              </a:r>
              <a:endParaRPr lang="en-US" sz="1800" b="0">
                <a:latin typeface="Arial" charset="0"/>
                <a:cs typeface="Arial" charset="0"/>
              </a:endParaRPr>
            </a:p>
          </p:txBody>
        </p:sp>
        <p:sp>
          <p:nvSpPr>
            <p:cNvPr id="305" name="Rectangle 112"/>
            <p:cNvSpPr>
              <a:spLocks noChangeArrowheads="1"/>
            </p:cNvSpPr>
            <p:nvPr/>
          </p:nvSpPr>
          <p:spPr bwMode="auto">
            <a:xfrm>
              <a:off x="876073" y="4453731"/>
              <a:ext cx="603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a:t>
              </a:r>
              <a:endParaRPr lang="en-US" sz="1800" b="0">
                <a:latin typeface="Arial" charset="0"/>
                <a:cs typeface="Arial" charset="0"/>
              </a:endParaRPr>
            </a:p>
          </p:txBody>
        </p:sp>
        <p:sp>
          <p:nvSpPr>
            <p:cNvPr id="306" name="Rectangle 113"/>
            <p:cNvSpPr>
              <a:spLocks noChangeArrowheads="1"/>
            </p:cNvSpPr>
            <p:nvPr/>
          </p:nvSpPr>
          <p:spPr bwMode="auto">
            <a:xfrm>
              <a:off x="898298" y="4453731"/>
              <a:ext cx="288925" cy="104775"/>
            </a:xfrm>
            <a:prstGeom prst="rect">
              <a:avLst/>
            </a:prstGeom>
            <a:noFill/>
            <a:ln w="9525">
              <a:noFill/>
              <a:miter lim="800000"/>
              <a:headEnd/>
              <a:tailEnd/>
            </a:ln>
          </p:spPr>
          <p:txBody>
            <a:bodyPr wrap="none" lIns="0" tIns="0" rIns="0" bIns="0">
              <a:spAutoFit/>
            </a:bodyPr>
            <a:lstStyle/>
            <a:p>
              <a:r>
                <a:rPr lang="en-US" sz="500" b="0">
                  <a:solidFill>
                    <a:srgbClr val="000000"/>
                  </a:solidFill>
                  <a:latin typeface="Arial" charset="0"/>
                  <a:cs typeface="Arial" charset="0"/>
                </a:rPr>
                <a:t>699999</a:t>
              </a:r>
              <a:endParaRPr lang="en-US" sz="1800" b="0">
                <a:latin typeface="Arial" charset="0"/>
                <a:cs typeface="Arial" charset="0"/>
              </a:endParaRPr>
            </a:p>
          </p:txBody>
        </p:sp>
        <p:sp>
          <p:nvSpPr>
            <p:cNvPr id="307" name="Rectangle 114"/>
            <p:cNvSpPr>
              <a:spLocks noChangeArrowheads="1"/>
            </p:cNvSpPr>
            <p:nvPr/>
          </p:nvSpPr>
          <p:spPr bwMode="auto">
            <a:xfrm>
              <a:off x="715735" y="1464469"/>
              <a:ext cx="757238" cy="409575"/>
            </a:xfrm>
            <a:prstGeom prst="rect">
              <a:avLst/>
            </a:prstGeom>
            <a:noFill/>
            <a:ln w="9525">
              <a:noFill/>
              <a:miter lim="800000"/>
              <a:headEnd/>
              <a:tailEnd/>
            </a:ln>
          </p:spPr>
          <p:txBody>
            <a:bodyPr/>
            <a:lstStyle/>
            <a:p>
              <a:endParaRPr lang="en-US" sz="1800" b="0">
                <a:latin typeface="Arial" charset="0"/>
              </a:endParaRPr>
            </a:p>
          </p:txBody>
        </p:sp>
        <p:sp>
          <p:nvSpPr>
            <p:cNvPr id="308" name="Rectangle 115"/>
            <p:cNvSpPr>
              <a:spLocks noChangeArrowheads="1"/>
            </p:cNvSpPr>
            <p:nvPr/>
          </p:nvSpPr>
          <p:spPr bwMode="auto">
            <a:xfrm>
              <a:off x="774473" y="1497807"/>
              <a:ext cx="446088" cy="214313"/>
            </a:xfrm>
            <a:prstGeom prst="rect">
              <a:avLst/>
            </a:prstGeom>
            <a:noFill/>
            <a:ln w="9525">
              <a:noFill/>
              <a:miter lim="800000"/>
              <a:headEnd/>
              <a:tailEnd/>
            </a:ln>
          </p:spPr>
          <p:txBody>
            <a:bodyPr wrap="none" lIns="0" tIns="0" rIns="0" bIns="0">
              <a:spAutoFit/>
            </a:bodyPr>
            <a:lstStyle/>
            <a:p>
              <a:r>
                <a:rPr lang="en-US" sz="1200">
                  <a:solidFill>
                    <a:srgbClr val="000000"/>
                  </a:solidFill>
                  <a:latin typeface="Arial" charset="0"/>
                  <a:cs typeface="Arial" charset="0"/>
                </a:rPr>
                <a:t>Cash</a:t>
              </a:r>
              <a:endParaRPr lang="en-US" sz="1800" b="0">
                <a:latin typeface="Arial" charset="0"/>
                <a:cs typeface="Arial" charset="0"/>
              </a:endParaRPr>
            </a:p>
          </p:txBody>
        </p:sp>
        <p:sp>
          <p:nvSpPr>
            <p:cNvPr id="309" name="Rectangle 116"/>
            <p:cNvSpPr>
              <a:spLocks noChangeArrowheads="1"/>
            </p:cNvSpPr>
            <p:nvPr/>
          </p:nvSpPr>
          <p:spPr bwMode="auto">
            <a:xfrm>
              <a:off x="774473" y="1674019"/>
              <a:ext cx="742950" cy="214313"/>
            </a:xfrm>
            <a:prstGeom prst="rect">
              <a:avLst/>
            </a:prstGeom>
            <a:noFill/>
            <a:ln w="9525">
              <a:noFill/>
              <a:miter lim="800000"/>
              <a:headEnd/>
              <a:tailEnd/>
            </a:ln>
          </p:spPr>
          <p:txBody>
            <a:bodyPr wrap="none" lIns="0" tIns="0" rIns="0" bIns="0">
              <a:spAutoFit/>
            </a:bodyPr>
            <a:lstStyle/>
            <a:p>
              <a:r>
                <a:rPr lang="en-US" sz="1200">
                  <a:solidFill>
                    <a:srgbClr val="000000"/>
                  </a:solidFill>
                  <a:latin typeface="Arial" charset="0"/>
                  <a:cs typeface="Arial" charset="0"/>
                </a:rPr>
                <a:t>accounts</a:t>
              </a:r>
              <a:endParaRPr lang="en-US" sz="1800" b="0">
                <a:latin typeface="Arial" charset="0"/>
                <a:cs typeface="Arial" charset="0"/>
              </a:endParaRPr>
            </a:p>
          </p:txBody>
        </p:sp>
        <p:sp>
          <p:nvSpPr>
            <p:cNvPr id="310" name="Rectangle 117"/>
            <p:cNvSpPr>
              <a:spLocks noChangeArrowheads="1"/>
            </p:cNvSpPr>
            <p:nvPr/>
          </p:nvSpPr>
          <p:spPr bwMode="auto">
            <a:xfrm>
              <a:off x="1101498" y="4356100"/>
              <a:ext cx="1468438" cy="292100"/>
            </a:xfrm>
            <a:prstGeom prst="rect">
              <a:avLst/>
            </a:prstGeom>
            <a:noFill/>
            <a:ln w="9525">
              <a:noFill/>
              <a:miter lim="800000"/>
              <a:headEnd/>
              <a:tailEnd/>
            </a:ln>
          </p:spPr>
          <p:txBody>
            <a:bodyPr/>
            <a:lstStyle/>
            <a:p>
              <a:endParaRPr lang="en-US" sz="1800" b="0">
                <a:latin typeface="Arial" charset="0"/>
              </a:endParaRPr>
            </a:p>
          </p:txBody>
        </p:sp>
        <p:sp>
          <p:nvSpPr>
            <p:cNvPr id="311" name="Rectangle 118"/>
            <p:cNvSpPr>
              <a:spLocks noChangeArrowheads="1"/>
            </p:cNvSpPr>
            <p:nvPr/>
          </p:nvSpPr>
          <p:spPr bwMode="auto">
            <a:xfrm>
              <a:off x="1376135" y="4016374"/>
              <a:ext cx="1365251" cy="461665"/>
            </a:xfrm>
            <a:prstGeom prst="rect">
              <a:avLst/>
            </a:prstGeom>
            <a:noFill/>
            <a:ln w="9525">
              <a:noFill/>
              <a:miter lim="800000"/>
              <a:headEnd/>
              <a:tailEnd/>
            </a:ln>
          </p:spPr>
          <p:txBody>
            <a:bodyPr wrap="square" lIns="0" tIns="0" rIns="0" bIns="0">
              <a:spAutoFit/>
            </a:bodyPr>
            <a:lstStyle/>
            <a:p>
              <a:pPr algn="ctr"/>
              <a:r>
                <a:rPr lang="en-US" sz="1500" b="0" dirty="0">
                  <a:solidFill>
                    <a:srgbClr val="000000"/>
                  </a:solidFill>
                  <a:latin typeface="Arial" charset="0"/>
                  <a:cs typeface="Arial" charset="0"/>
                </a:rPr>
                <a:t>Account </a:t>
              </a:r>
              <a:endParaRPr lang="en-US" sz="1500" b="0" dirty="0" smtClean="0">
                <a:solidFill>
                  <a:srgbClr val="000000"/>
                </a:solidFill>
                <a:latin typeface="Arial" charset="0"/>
                <a:cs typeface="Arial" charset="0"/>
              </a:endParaRPr>
            </a:p>
            <a:p>
              <a:pPr algn="ctr"/>
              <a:r>
                <a:rPr lang="en-US" sz="1500" b="0" dirty="0" smtClean="0">
                  <a:solidFill>
                    <a:srgbClr val="000000"/>
                  </a:solidFill>
                  <a:latin typeface="Arial" charset="0"/>
                  <a:cs typeface="Arial" charset="0"/>
                </a:rPr>
                <a:t>groups</a:t>
              </a:r>
              <a:endParaRPr lang="en-US" sz="1800" b="0" dirty="0">
                <a:latin typeface="Arial" charset="0"/>
                <a:cs typeface="Arial" charset="0"/>
              </a:endParaRPr>
            </a:p>
          </p:txBody>
        </p:sp>
        <p:grpSp>
          <p:nvGrpSpPr>
            <p:cNvPr id="312" name="Group 121"/>
            <p:cNvGrpSpPr>
              <a:grpSpLocks/>
            </p:cNvGrpSpPr>
            <p:nvPr/>
          </p:nvGrpSpPr>
          <p:grpSpPr bwMode="auto">
            <a:xfrm>
              <a:off x="3963988" y="3644105"/>
              <a:ext cx="85725" cy="134938"/>
              <a:chOff x="4613" y="2898"/>
              <a:chExt cx="54" cy="85"/>
            </a:xfrm>
          </p:grpSpPr>
          <p:sp>
            <p:nvSpPr>
              <p:cNvPr id="403" name="Freeform 119"/>
              <p:cNvSpPr>
                <a:spLocks/>
              </p:cNvSpPr>
              <p:nvPr/>
            </p:nvSpPr>
            <p:spPr bwMode="auto">
              <a:xfrm>
                <a:off x="4613" y="2898"/>
                <a:ext cx="54" cy="85"/>
              </a:xfrm>
              <a:custGeom>
                <a:avLst/>
                <a:gdLst>
                  <a:gd name="T0" fmla="*/ 54 w 54"/>
                  <a:gd name="T1" fmla="*/ 74 h 85"/>
                  <a:gd name="T2" fmla="*/ 54 w 54"/>
                  <a:gd name="T3" fmla="*/ 0 h 85"/>
                  <a:gd name="T4" fmla="*/ 0 w 54"/>
                  <a:gd name="T5" fmla="*/ 0 h 85"/>
                  <a:gd name="T6" fmla="*/ 0 w 54"/>
                  <a:gd name="T7" fmla="*/ 85 h 85"/>
                  <a:gd name="T8" fmla="*/ 54 w 54"/>
                  <a:gd name="T9" fmla="*/ 74 h 85"/>
                  <a:gd name="T10" fmla="*/ 0 60000 65536"/>
                  <a:gd name="T11" fmla="*/ 0 60000 65536"/>
                  <a:gd name="T12" fmla="*/ 0 60000 65536"/>
                  <a:gd name="T13" fmla="*/ 0 60000 65536"/>
                  <a:gd name="T14" fmla="*/ 0 60000 65536"/>
                  <a:gd name="T15" fmla="*/ 0 w 54"/>
                  <a:gd name="T16" fmla="*/ 0 h 85"/>
                  <a:gd name="T17" fmla="*/ 54 w 54"/>
                  <a:gd name="T18" fmla="*/ 85 h 85"/>
                </a:gdLst>
                <a:ahLst/>
                <a:cxnLst>
                  <a:cxn ang="T10">
                    <a:pos x="T0" y="T1"/>
                  </a:cxn>
                  <a:cxn ang="T11">
                    <a:pos x="T2" y="T3"/>
                  </a:cxn>
                  <a:cxn ang="T12">
                    <a:pos x="T4" y="T5"/>
                  </a:cxn>
                  <a:cxn ang="T13">
                    <a:pos x="T6" y="T7"/>
                  </a:cxn>
                  <a:cxn ang="T14">
                    <a:pos x="T8" y="T9"/>
                  </a:cxn>
                </a:cxnLst>
                <a:rect l="T15" t="T16" r="T17" b="T18"/>
                <a:pathLst>
                  <a:path w="54" h="85">
                    <a:moveTo>
                      <a:pt x="54" y="74"/>
                    </a:moveTo>
                    <a:lnTo>
                      <a:pt x="54" y="0"/>
                    </a:lnTo>
                    <a:lnTo>
                      <a:pt x="0" y="0"/>
                    </a:lnTo>
                    <a:lnTo>
                      <a:pt x="0" y="85"/>
                    </a:lnTo>
                    <a:lnTo>
                      <a:pt x="54" y="74"/>
                    </a:lnTo>
                    <a:close/>
                  </a:path>
                </a:pathLst>
              </a:custGeom>
              <a:solidFill>
                <a:srgbClr val="66FF99"/>
              </a:solidFill>
              <a:ln w="9525">
                <a:noFill/>
                <a:round/>
                <a:headEnd/>
                <a:tailEnd/>
              </a:ln>
            </p:spPr>
            <p:txBody>
              <a:bodyPr/>
              <a:lstStyle/>
              <a:p>
                <a:endParaRPr lang="en-US"/>
              </a:p>
            </p:txBody>
          </p:sp>
          <p:sp>
            <p:nvSpPr>
              <p:cNvPr id="404" name="Freeform 120"/>
              <p:cNvSpPr>
                <a:spLocks/>
              </p:cNvSpPr>
              <p:nvPr/>
            </p:nvSpPr>
            <p:spPr bwMode="auto">
              <a:xfrm>
                <a:off x="4613" y="2898"/>
                <a:ext cx="54" cy="85"/>
              </a:xfrm>
              <a:custGeom>
                <a:avLst/>
                <a:gdLst>
                  <a:gd name="T0" fmla="*/ 54 w 54"/>
                  <a:gd name="T1" fmla="*/ 74 h 85"/>
                  <a:gd name="T2" fmla="*/ 54 w 54"/>
                  <a:gd name="T3" fmla="*/ 0 h 85"/>
                  <a:gd name="T4" fmla="*/ 0 w 54"/>
                  <a:gd name="T5" fmla="*/ 0 h 85"/>
                  <a:gd name="T6" fmla="*/ 0 w 54"/>
                  <a:gd name="T7" fmla="*/ 85 h 85"/>
                  <a:gd name="T8" fmla="*/ 54 w 54"/>
                  <a:gd name="T9" fmla="*/ 74 h 85"/>
                  <a:gd name="T10" fmla="*/ 0 60000 65536"/>
                  <a:gd name="T11" fmla="*/ 0 60000 65536"/>
                  <a:gd name="T12" fmla="*/ 0 60000 65536"/>
                  <a:gd name="T13" fmla="*/ 0 60000 65536"/>
                  <a:gd name="T14" fmla="*/ 0 60000 65536"/>
                  <a:gd name="T15" fmla="*/ 0 w 54"/>
                  <a:gd name="T16" fmla="*/ 0 h 85"/>
                  <a:gd name="T17" fmla="*/ 54 w 54"/>
                  <a:gd name="T18" fmla="*/ 85 h 85"/>
                </a:gdLst>
                <a:ahLst/>
                <a:cxnLst>
                  <a:cxn ang="T10">
                    <a:pos x="T0" y="T1"/>
                  </a:cxn>
                  <a:cxn ang="T11">
                    <a:pos x="T2" y="T3"/>
                  </a:cxn>
                  <a:cxn ang="T12">
                    <a:pos x="T4" y="T5"/>
                  </a:cxn>
                  <a:cxn ang="T13">
                    <a:pos x="T6" y="T7"/>
                  </a:cxn>
                  <a:cxn ang="T14">
                    <a:pos x="T8" y="T9"/>
                  </a:cxn>
                </a:cxnLst>
                <a:rect l="T15" t="T16" r="T17" b="T18"/>
                <a:pathLst>
                  <a:path w="54" h="85">
                    <a:moveTo>
                      <a:pt x="54" y="74"/>
                    </a:moveTo>
                    <a:lnTo>
                      <a:pt x="54" y="0"/>
                    </a:lnTo>
                    <a:lnTo>
                      <a:pt x="0" y="0"/>
                    </a:lnTo>
                    <a:lnTo>
                      <a:pt x="0" y="85"/>
                    </a:lnTo>
                    <a:lnTo>
                      <a:pt x="54" y="74"/>
                    </a:lnTo>
                  </a:path>
                </a:pathLst>
              </a:custGeom>
              <a:noFill/>
              <a:ln w="5">
                <a:solidFill>
                  <a:srgbClr val="000000"/>
                </a:solidFill>
                <a:round/>
                <a:headEnd/>
                <a:tailEnd/>
              </a:ln>
            </p:spPr>
            <p:txBody>
              <a:bodyPr/>
              <a:lstStyle/>
              <a:p>
                <a:endParaRPr lang="en-US"/>
              </a:p>
            </p:txBody>
          </p:sp>
        </p:grpSp>
        <p:grpSp>
          <p:nvGrpSpPr>
            <p:cNvPr id="313" name="Group 124"/>
            <p:cNvGrpSpPr>
              <a:grpSpLocks/>
            </p:cNvGrpSpPr>
            <p:nvPr/>
          </p:nvGrpSpPr>
          <p:grpSpPr bwMode="auto">
            <a:xfrm>
              <a:off x="3114675" y="3623468"/>
              <a:ext cx="887413" cy="368300"/>
              <a:chOff x="4078" y="2885"/>
              <a:chExt cx="559" cy="232"/>
            </a:xfrm>
          </p:grpSpPr>
          <p:sp>
            <p:nvSpPr>
              <p:cNvPr id="401" name="Freeform 122"/>
              <p:cNvSpPr>
                <a:spLocks/>
              </p:cNvSpPr>
              <p:nvPr/>
            </p:nvSpPr>
            <p:spPr bwMode="auto">
              <a:xfrm>
                <a:off x="4078" y="2885"/>
                <a:ext cx="559" cy="232"/>
              </a:xfrm>
              <a:custGeom>
                <a:avLst/>
                <a:gdLst>
                  <a:gd name="T0" fmla="*/ 0 w 559"/>
                  <a:gd name="T1" fmla="*/ 85 h 232"/>
                  <a:gd name="T2" fmla="*/ 15 w 559"/>
                  <a:gd name="T3" fmla="*/ 14 h 232"/>
                  <a:gd name="T4" fmla="*/ 30 w 559"/>
                  <a:gd name="T5" fmla="*/ 1 h 232"/>
                  <a:gd name="T6" fmla="*/ 47 w 559"/>
                  <a:gd name="T7" fmla="*/ 0 h 232"/>
                  <a:gd name="T8" fmla="*/ 443 w 559"/>
                  <a:gd name="T9" fmla="*/ 0 h 232"/>
                  <a:gd name="T10" fmla="*/ 451 w 559"/>
                  <a:gd name="T11" fmla="*/ 0 h 232"/>
                  <a:gd name="T12" fmla="*/ 521 w 559"/>
                  <a:gd name="T13" fmla="*/ 0 h 232"/>
                  <a:gd name="T14" fmla="*/ 529 w 559"/>
                  <a:gd name="T15" fmla="*/ 7 h 232"/>
                  <a:gd name="T16" fmla="*/ 547 w 559"/>
                  <a:gd name="T17" fmla="*/ 7 h 232"/>
                  <a:gd name="T18" fmla="*/ 554 w 559"/>
                  <a:gd name="T19" fmla="*/ 16 h 232"/>
                  <a:gd name="T20" fmla="*/ 559 w 559"/>
                  <a:gd name="T21" fmla="*/ 201 h 232"/>
                  <a:gd name="T22" fmla="*/ 445 w 559"/>
                  <a:gd name="T23" fmla="*/ 232 h 232"/>
                  <a:gd name="T24" fmla="*/ 445 w 559"/>
                  <a:gd name="T25" fmla="*/ 83 h 232"/>
                  <a:gd name="T26" fmla="*/ 0 w 559"/>
                  <a:gd name="T27" fmla="*/ 85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2"/>
                  <a:gd name="T44" fmla="*/ 559 w 559"/>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2">
                    <a:moveTo>
                      <a:pt x="0" y="85"/>
                    </a:moveTo>
                    <a:lnTo>
                      <a:pt x="15" y="14"/>
                    </a:lnTo>
                    <a:lnTo>
                      <a:pt x="30" y="1"/>
                    </a:lnTo>
                    <a:lnTo>
                      <a:pt x="47" y="0"/>
                    </a:lnTo>
                    <a:lnTo>
                      <a:pt x="443" y="0"/>
                    </a:lnTo>
                    <a:lnTo>
                      <a:pt x="451" y="0"/>
                    </a:lnTo>
                    <a:lnTo>
                      <a:pt x="521" y="0"/>
                    </a:lnTo>
                    <a:lnTo>
                      <a:pt x="529" y="7"/>
                    </a:lnTo>
                    <a:lnTo>
                      <a:pt x="547" y="7"/>
                    </a:lnTo>
                    <a:lnTo>
                      <a:pt x="554" y="16"/>
                    </a:lnTo>
                    <a:lnTo>
                      <a:pt x="559" y="201"/>
                    </a:lnTo>
                    <a:lnTo>
                      <a:pt x="445" y="232"/>
                    </a:lnTo>
                    <a:lnTo>
                      <a:pt x="445" y="83"/>
                    </a:lnTo>
                    <a:lnTo>
                      <a:pt x="0" y="85"/>
                    </a:lnTo>
                    <a:close/>
                  </a:path>
                </a:pathLst>
              </a:custGeom>
              <a:solidFill>
                <a:srgbClr val="FF9933"/>
              </a:solidFill>
              <a:ln w="9525">
                <a:noFill/>
                <a:round/>
                <a:headEnd/>
                <a:tailEnd/>
              </a:ln>
            </p:spPr>
            <p:txBody>
              <a:bodyPr/>
              <a:lstStyle/>
              <a:p>
                <a:endParaRPr lang="en-US"/>
              </a:p>
            </p:txBody>
          </p:sp>
          <p:sp>
            <p:nvSpPr>
              <p:cNvPr id="402" name="Freeform 123"/>
              <p:cNvSpPr>
                <a:spLocks/>
              </p:cNvSpPr>
              <p:nvPr/>
            </p:nvSpPr>
            <p:spPr bwMode="auto">
              <a:xfrm>
                <a:off x="4078" y="2885"/>
                <a:ext cx="559" cy="232"/>
              </a:xfrm>
              <a:custGeom>
                <a:avLst/>
                <a:gdLst>
                  <a:gd name="T0" fmla="*/ 0 w 559"/>
                  <a:gd name="T1" fmla="*/ 85 h 232"/>
                  <a:gd name="T2" fmla="*/ 15 w 559"/>
                  <a:gd name="T3" fmla="*/ 14 h 232"/>
                  <a:gd name="T4" fmla="*/ 30 w 559"/>
                  <a:gd name="T5" fmla="*/ 1 h 232"/>
                  <a:gd name="T6" fmla="*/ 47 w 559"/>
                  <a:gd name="T7" fmla="*/ 0 h 232"/>
                  <a:gd name="T8" fmla="*/ 443 w 559"/>
                  <a:gd name="T9" fmla="*/ 0 h 232"/>
                  <a:gd name="T10" fmla="*/ 451 w 559"/>
                  <a:gd name="T11" fmla="*/ 0 h 232"/>
                  <a:gd name="T12" fmla="*/ 521 w 559"/>
                  <a:gd name="T13" fmla="*/ 0 h 232"/>
                  <a:gd name="T14" fmla="*/ 529 w 559"/>
                  <a:gd name="T15" fmla="*/ 7 h 232"/>
                  <a:gd name="T16" fmla="*/ 547 w 559"/>
                  <a:gd name="T17" fmla="*/ 7 h 232"/>
                  <a:gd name="T18" fmla="*/ 554 w 559"/>
                  <a:gd name="T19" fmla="*/ 16 h 232"/>
                  <a:gd name="T20" fmla="*/ 559 w 559"/>
                  <a:gd name="T21" fmla="*/ 201 h 232"/>
                  <a:gd name="T22" fmla="*/ 445 w 559"/>
                  <a:gd name="T23" fmla="*/ 232 h 232"/>
                  <a:gd name="T24" fmla="*/ 445 w 559"/>
                  <a:gd name="T25" fmla="*/ 83 h 232"/>
                  <a:gd name="T26" fmla="*/ 0 w 559"/>
                  <a:gd name="T27" fmla="*/ 85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2"/>
                  <a:gd name="T44" fmla="*/ 559 w 559"/>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2">
                    <a:moveTo>
                      <a:pt x="0" y="85"/>
                    </a:moveTo>
                    <a:lnTo>
                      <a:pt x="15" y="14"/>
                    </a:lnTo>
                    <a:lnTo>
                      <a:pt x="30" y="1"/>
                    </a:lnTo>
                    <a:lnTo>
                      <a:pt x="47" y="0"/>
                    </a:lnTo>
                    <a:lnTo>
                      <a:pt x="443" y="0"/>
                    </a:lnTo>
                    <a:lnTo>
                      <a:pt x="451" y="0"/>
                    </a:lnTo>
                    <a:lnTo>
                      <a:pt x="521" y="0"/>
                    </a:lnTo>
                    <a:lnTo>
                      <a:pt x="529" y="7"/>
                    </a:lnTo>
                    <a:lnTo>
                      <a:pt x="547" y="7"/>
                    </a:lnTo>
                    <a:lnTo>
                      <a:pt x="554" y="16"/>
                    </a:lnTo>
                    <a:lnTo>
                      <a:pt x="559" y="201"/>
                    </a:lnTo>
                    <a:lnTo>
                      <a:pt x="445" y="232"/>
                    </a:lnTo>
                    <a:lnTo>
                      <a:pt x="445" y="83"/>
                    </a:lnTo>
                    <a:lnTo>
                      <a:pt x="0" y="85"/>
                    </a:lnTo>
                  </a:path>
                </a:pathLst>
              </a:custGeom>
              <a:noFill/>
              <a:ln w="5">
                <a:solidFill>
                  <a:srgbClr val="000000"/>
                </a:solidFill>
                <a:round/>
                <a:headEnd/>
                <a:tailEnd/>
              </a:ln>
            </p:spPr>
            <p:txBody>
              <a:bodyPr/>
              <a:lstStyle/>
              <a:p>
                <a:endParaRPr lang="en-US"/>
              </a:p>
            </p:txBody>
          </p:sp>
        </p:grpSp>
        <p:grpSp>
          <p:nvGrpSpPr>
            <p:cNvPr id="314" name="Group 127"/>
            <p:cNvGrpSpPr>
              <a:grpSpLocks/>
            </p:cNvGrpSpPr>
            <p:nvPr/>
          </p:nvGrpSpPr>
          <p:grpSpPr bwMode="auto">
            <a:xfrm>
              <a:off x="3070225" y="3640930"/>
              <a:ext cx="887413" cy="368300"/>
              <a:chOff x="4050" y="2896"/>
              <a:chExt cx="559" cy="232"/>
            </a:xfrm>
          </p:grpSpPr>
          <p:sp>
            <p:nvSpPr>
              <p:cNvPr id="399" name="Freeform 125"/>
              <p:cNvSpPr>
                <a:spLocks/>
              </p:cNvSpPr>
              <p:nvPr/>
            </p:nvSpPr>
            <p:spPr bwMode="auto">
              <a:xfrm>
                <a:off x="4050" y="2896"/>
                <a:ext cx="559" cy="232"/>
              </a:xfrm>
              <a:custGeom>
                <a:avLst/>
                <a:gdLst>
                  <a:gd name="T0" fmla="*/ 0 w 559"/>
                  <a:gd name="T1" fmla="*/ 86 h 232"/>
                  <a:gd name="T2" fmla="*/ 14 w 559"/>
                  <a:gd name="T3" fmla="*/ 14 h 232"/>
                  <a:gd name="T4" fmla="*/ 29 w 559"/>
                  <a:gd name="T5" fmla="*/ 2 h 232"/>
                  <a:gd name="T6" fmla="*/ 47 w 559"/>
                  <a:gd name="T7" fmla="*/ 0 h 232"/>
                  <a:gd name="T8" fmla="*/ 442 w 559"/>
                  <a:gd name="T9" fmla="*/ 0 h 232"/>
                  <a:gd name="T10" fmla="*/ 450 w 559"/>
                  <a:gd name="T11" fmla="*/ 0 h 232"/>
                  <a:gd name="T12" fmla="*/ 521 w 559"/>
                  <a:gd name="T13" fmla="*/ 0 h 232"/>
                  <a:gd name="T14" fmla="*/ 529 w 559"/>
                  <a:gd name="T15" fmla="*/ 8 h 232"/>
                  <a:gd name="T16" fmla="*/ 545 w 559"/>
                  <a:gd name="T17" fmla="*/ 8 h 232"/>
                  <a:gd name="T18" fmla="*/ 553 w 559"/>
                  <a:gd name="T19" fmla="*/ 17 h 232"/>
                  <a:gd name="T20" fmla="*/ 559 w 559"/>
                  <a:gd name="T21" fmla="*/ 202 h 232"/>
                  <a:gd name="T22" fmla="*/ 445 w 559"/>
                  <a:gd name="T23" fmla="*/ 232 h 232"/>
                  <a:gd name="T24" fmla="*/ 445 w 559"/>
                  <a:gd name="T25" fmla="*/ 83 h 232"/>
                  <a:gd name="T26" fmla="*/ 0 w 559"/>
                  <a:gd name="T27" fmla="*/ 86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2"/>
                  <a:gd name="T44" fmla="*/ 559 w 559"/>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2">
                    <a:moveTo>
                      <a:pt x="0" y="86"/>
                    </a:moveTo>
                    <a:lnTo>
                      <a:pt x="14" y="14"/>
                    </a:lnTo>
                    <a:lnTo>
                      <a:pt x="29" y="2"/>
                    </a:lnTo>
                    <a:lnTo>
                      <a:pt x="47" y="0"/>
                    </a:lnTo>
                    <a:lnTo>
                      <a:pt x="442" y="0"/>
                    </a:lnTo>
                    <a:lnTo>
                      <a:pt x="450" y="0"/>
                    </a:lnTo>
                    <a:lnTo>
                      <a:pt x="521" y="0"/>
                    </a:lnTo>
                    <a:lnTo>
                      <a:pt x="529" y="8"/>
                    </a:lnTo>
                    <a:lnTo>
                      <a:pt x="545" y="8"/>
                    </a:lnTo>
                    <a:lnTo>
                      <a:pt x="553" y="17"/>
                    </a:lnTo>
                    <a:lnTo>
                      <a:pt x="559" y="202"/>
                    </a:lnTo>
                    <a:lnTo>
                      <a:pt x="445" y="232"/>
                    </a:lnTo>
                    <a:lnTo>
                      <a:pt x="445" y="83"/>
                    </a:lnTo>
                    <a:lnTo>
                      <a:pt x="0" y="86"/>
                    </a:lnTo>
                    <a:close/>
                  </a:path>
                </a:pathLst>
              </a:custGeom>
              <a:solidFill>
                <a:srgbClr val="FF9933"/>
              </a:solidFill>
              <a:ln w="9525">
                <a:noFill/>
                <a:round/>
                <a:headEnd/>
                <a:tailEnd/>
              </a:ln>
            </p:spPr>
            <p:txBody>
              <a:bodyPr/>
              <a:lstStyle/>
              <a:p>
                <a:endParaRPr lang="en-US"/>
              </a:p>
            </p:txBody>
          </p:sp>
          <p:sp>
            <p:nvSpPr>
              <p:cNvPr id="400" name="Freeform 126"/>
              <p:cNvSpPr>
                <a:spLocks/>
              </p:cNvSpPr>
              <p:nvPr/>
            </p:nvSpPr>
            <p:spPr bwMode="auto">
              <a:xfrm>
                <a:off x="4050" y="2896"/>
                <a:ext cx="559" cy="232"/>
              </a:xfrm>
              <a:custGeom>
                <a:avLst/>
                <a:gdLst>
                  <a:gd name="T0" fmla="*/ 0 w 559"/>
                  <a:gd name="T1" fmla="*/ 86 h 232"/>
                  <a:gd name="T2" fmla="*/ 14 w 559"/>
                  <a:gd name="T3" fmla="*/ 14 h 232"/>
                  <a:gd name="T4" fmla="*/ 29 w 559"/>
                  <a:gd name="T5" fmla="*/ 2 h 232"/>
                  <a:gd name="T6" fmla="*/ 47 w 559"/>
                  <a:gd name="T7" fmla="*/ 0 h 232"/>
                  <a:gd name="T8" fmla="*/ 442 w 559"/>
                  <a:gd name="T9" fmla="*/ 0 h 232"/>
                  <a:gd name="T10" fmla="*/ 450 w 559"/>
                  <a:gd name="T11" fmla="*/ 0 h 232"/>
                  <a:gd name="T12" fmla="*/ 521 w 559"/>
                  <a:gd name="T13" fmla="*/ 0 h 232"/>
                  <a:gd name="T14" fmla="*/ 529 w 559"/>
                  <a:gd name="T15" fmla="*/ 8 h 232"/>
                  <a:gd name="T16" fmla="*/ 545 w 559"/>
                  <a:gd name="T17" fmla="*/ 8 h 232"/>
                  <a:gd name="T18" fmla="*/ 553 w 559"/>
                  <a:gd name="T19" fmla="*/ 17 h 232"/>
                  <a:gd name="T20" fmla="*/ 559 w 559"/>
                  <a:gd name="T21" fmla="*/ 202 h 232"/>
                  <a:gd name="T22" fmla="*/ 445 w 559"/>
                  <a:gd name="T23" fmla="*/ 232 h 232"/>
                  <a:gd name="T24" fmla="*/ 445 w 559"/>
                  <a:gd name="T25" fmla="*/ 83 h 232"/>
                  <a:gd name="T26" fmla="*/ 0 w 559"/>
                  <a:gd name="T27" fmla="*/ 86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2"/>
                  <a:gd name="T44" fmla="*/ 559 w 559"/>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2">
                    <a:moveTo>
                      <a:pt x="0" y="86"/>
                    </a:moveTo>
                    <a:lnTo>
                      <a:pt x="14" y="14"/>
                    </a:lnTo>
                    <a:lnTo>
                      <a:pt x="29" y="2"/>
                    </a:lnTo>
                    <a:lnTo>
                      <a:pt x="47" y="0"/>
                    </a:lnTo>
                    <a:lnTo>
                      <a:pt x="442" y="0"/>
                    </a:lnTo>
                    <a:lnTo>
                      <a:pt x="450" y="0"/>
                    </a:lnTo>
                    <a:lnTo>
                      <a:pt x="521" y="0"/>
                    </a:lnTo>
                    <a:lnTo>
                      <a:pt x="529" y="8"/>
                    </a:lnTo>
                    <a:lnTo>
                      <a:pt x="545" y="8"/>
                    </a:lnTo>
                    <a:lnTo>
                      <a:pt x="553" y="17"/>
                    </a:lnTo>
                    <a:lnTo>
                      <a:pt x="559" y="202"/>
                    </a:lnTo>
                    <a:lnTo>
                      <a:pt x="445" y="232"/>
                    </a:lnTo>
                    <a:lnTo>
                      <a:pt x="445" y="83"/>
                    </a:lnTo>
                    <a:lnTo>
                      <a:pt x="0" y="86"/>
                    </a:lnTo>
                  </a:path>
                </a:pathLst>
              </a:custGeom>
              <a:noFill/>
              <a:ln w="5">
                <a:solidFill>
                  <a:srgbClr val="000000"/>
                </a:solidFill>
                <a:round/>
                <a:headEnd/>
                <a:tailEnd/>
              </a:ln>
            </p:spPr>
            <p:txBody>
              <a:bodyPr/>
              <a:lstStyle/>
              <a:p>
                <a:endParaRPr lang="en-US"/>
              </a:p>
            </p:txBody>
          </p:sp>
        </p:grpSp>
        <p:grpSp>
          <p:nvGrpSpPr>
            <p:cNvPr id="315" name="Group 130"/>
            <p:cNvGrpSpPr>
              <a:grpSpLocks/>
            </p:cNvGrpSpPr>
            <p:nvPr/>
          </p:nvGrpSpPr>
          <p:grpSpPr bwMode="auto">
            <a:xfrm>
              <a:off x="3022600" y="3659980"/>
              <a:ext cx="889000" cy="368300"/>
              <a:chOff x="4020" y="2908"/>
              <a:chExt cx="560" cy="232"/>
            </a:xfrm>
          </p:grpSpPr>
          <p:sp>
            <p:nvSpPr>
              <p:cNvPr id="397" name="Freeform 128"/>
              <p:cNvSpPr>
                <a:spLocks/>
              </p:cNvSpPr>
              <p:nvPr/>
            </p:nvSpPr>
            <p:spPr bwMode="auto">
              <a:xfrm>
                <a:off x="4020" y="2908"/>
                <a:ext cx="560" cy="232"/>
              </a:xfrm>
              <a:custGeom>
                <a:avLst/>
                <a:gdLst>
                  <a:gd name="T0" fmla="*/ 0 w 560"/>
                  <a:gd name="T1" fmla="*/ 85 h 232"/>
                  <a:gd name="T2" fmla="*/ 16 w 560"/>
                  <a:gd name="T3" fmla="*/ 14 h 232"/>
                  <a:gd name="T4" fmla="*/ 31 w 560"/>
                  <a:gd name="T5" fmla="*/ 1 h 232"/>
                  <a:gd name="T6" fmla="*/ 47 w 560"/>
                  <a:gd name="T7" fmla="*/ 0 h 232"/>
                  <a:gd name="T8" fmla="*/ 444 w 560"/>
                  <a:gd name="T9" fmla="*/ 0 h 232"/>
                  <a:gd name="T10" fmla="*/ 452 w 560"/>
                  <a:gd name="T11" fmla="*/ 0 h 232"/>
                  <a:gd name="T12" fmla="*/ 522 w 560"/>
                  <a:gd name="T13" fmla="*/ 0 h 232"/>
                  <a:gd name="T14" fmla="*/ 529 w 560"/>
                  <a:gd name="T15" fmla="*/ 7 h 232"/>
                  <a:gd name="T16" fmla="*/ 547 w 560"/>
                  <a:gd name="T17" fmla="*/ 7 h 232"/>
                  <a:gd name="T18" fmla="*/ 555 w 560"/>
                  <a:gd name="T19" fmla="*/ 16 h 232"/>
                  <a:gd name="T20" fmla="*/ 560 w 560"/>
                  <a:gd name="T21" fmla="*/ 201 h 232"/>
                  <a:gd name="T22" fmla="*/ 445 w 560"/>
                  <a:gd name="T23" fmla="*/ 232 h 232"/>
                  <a:gd name="T24" fmla="*/ 445 w 560"/>
                  <a:gd name="T25" fmla="*/ 83 h 232"/>
                  <a:gd name="T26" fmla="*/ 0 w 560"/>
                  <a:gd name="T27" fmla="*/ 85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0"/>
                  <a:gd name="T43" fmla="*/ 0 h 232"/>
                  <a:gd name="T44" fmla="*/ 560 w 560"/>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0" h="232">
                    <a:moveTo>
                      <a:pt x="0" y="85"/>
                    </a:moveTo>
                    <a:lnTo>
                      <a:pt x="16" y="14"/>
                    </a:lnTo>
                    <a:lnTo>
                      <a:pt x="31" y="1"/>
                    </a:lnTo>
                    <a:lnTo>
                      <a:pt x="47" y="0"/>
                    </a:lnTo>
                    <a:lnTo>
                      <a:pt x="444" y="0"/>
                    </a:lnTo>
                    <a:lnTo>
                      <a:pt x="452" y="0"/>
                    </a:lnTo>
                    <a:lnTo>
                      <a:pt x="522" y="0"/>
                    </a:lnTo>
                    <a:lnTo>
                      <a:pt x="529" y="7"/>
                    </a:lnTo>
                    <a:lnTo>
                      <a:pt x="547" y="7"/>
                    </a:lnTo>
                    <a:lnTo>
                      <a:pt x="555" y="16"/>
                    </a:lnTo>
                    <a:lnTo>
                      <a:pt x="560" y="201"/>
                    </a:lnTo>
                    <a:lnTo>
                      <a:pt x="445" y="232"/>
                    </a:lnTo>
                    <a:lnTo>
                      <a:pt x="445" y="83"/>
                    </a:lnTo>
                    <a:lnTo>
                      <a:pt x="0" y="85"/>
                    </a:lnTo>
                    <a:close/>
                  </a:path>
                </a:pathLst>
              </a:custGeom>
              <a:solidFill>
                <a:srgbClr val="FFFF66"/>
              </a:solidFill>
              <a:ln w="9525">
                <a:noFill/>
                <a:round/>
                <a:headEnd/>
                <a:tailEnd/>
              </a:ln>
            </p:spPr>
            <p:txBody>
              <a:bodyPr/>
              <a:lstStyle/>
              <a:p>
                <a:endParaRPr lang="en-US"/>
              </a:p>
            </p:txBody>
          </p:sp>
          <p:sp>
            <p:nvSpPr>
              <p:cNvPr id="398" name="Freeform 129"/>
              <p:cNvSpPr>
                <a:spLocks/>
              </p:cNvSpPr>
              <p:nvPr/>
            </p:nvSpPr>
            <p:spPr bwMode="auto">
              <a:xfrm>
                <a:off x="4020" y="2908"/>
                <a:ext cx="560" cy="232"/>
              </a:xfrm>
              <a:custGeom>
                <a:avLst/>
                <a:gdLst>
                  <a:gd name="T0" fmla="*/ 0 w 560"/>
                  <a:gd name="T1" fmla="*/ 85 h 232"/>
                  <a:gd name="T2" fmla="*/ 16 w 560"/>
                  <a:gd name="T3" fmla="*/ 14 h 232"/>
                  <a:gd name="T4" fmla="*/ 31 w 560"/>
                  <a:gd name="T5" fmla="*/ 1 h 232"/>
                  <a:gd name="T6" fmla="*/ 47 w 560"/>
                  <a:gd name="T7" fmla="*/ 0 h 232"/>
                  <a:gd name="T8" fmla="*/ 444 w 560"/>
                  <a:gd name="T9" fmla="*/ 0 h 232"/>
                  <a:gd name="T10" fmla="*/ 452 w 560"/>
                  <a:gd name="T11" fmla="*/ 0 h 232"/>
                  <a:gd name="T12" fmla="*/ 522 w 560"/>
                  <a:gd name="T13" fmla="*/ 0 h 232"/>
                  <a:gd name="T14" fmla="*/ 529 w 560"/>
                  <a:gd name="T15" fmla="*/ 7 h 232"/>
                  <a:gd name="T16" fmla="*/ 547 w 560"/>
                  <a:gd name="T17" fmla="*/ 7 h 232"/>
                  <a:gd name="T18" fmla="*/ 555 w 560"/>
                  <a:gd name="T19" fmla="*/ 16 h 232"/>
                  <a:gd name="T20" fmla="*/ 560 w 560"/>
                  <a:gd name="T21" fmla="*/ 201 h 232"/>
                  <a:gd name="T22" fmla="*/ 445 w 560"/>
                  <a:gd name="T23" fmla="*/ 232 h 232"/>
                  <a:gd name="T24" fmla="*/ 445 w 560"/>
                  <a:gd name="T25" fmla="*/ 83 h 232"/>
                  <a:gd name="T26" fmla="*/ 0 w 560"/>
                  <a:gd name="T27" fmla="*/ 85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0"/>
                  <a:gd name="T43" fmla="*/ 0 h 232"/>
                  <a:gd name="T44" fmla="*/ 560 w 560"/>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0" h="232">
                    <a:moveTo>
                      <a:pt x="0" y="85"/>
                    </a:moveTo>
                    <a:lnTo>
                      <a:pt x="16" y="14"/>
                    </a:lnTo>
                    <a:lnTo>
                      <a:pt x="31" y="1"/>
                    </a:lnTo>
                    <a:lnTo>
                      <a:pt x="47" y="0"/>
                    </a:lnTo>
                    <a:lnTo>
                      <a:pt x="444" y="0"/>
                    </a:lnTo>
                    <a:lnTo>
                      <a:pt x="452" y="0"/>
                    </a:lnTo>
                    <a:lnTo>
                      <a:pt x="522" y="0"/>
                    </a:lnTo>
                    <a:lnTo>
                      <a:pt x="529" y="7"/>
                    </a:lnTo>
                    <a:lnTo>
                      <a:pt x="547" y="7"/>
                    </a:lnTo>
                    <a:lnTo>
                      <a:pt x="555" y="16"/>
                    </a:lnTo>
                    <a:lnTo>
                      <a:pt x="560" y="201"/>
                    </a:lnTo>
                    <a:lnTo>
                      <a:pt x="445" y="232"/>
                    </a:lnTo>
                    <a:lnTo>
                      <a:pt x="445" y="83"/>
                    </a:lnTo>
                    <a:lnTo>
                      <a:pt x="0" y="85"/>
                    </a:lnTo>
                  </a:path>
                </a:pathLst>
              </a:custGeom>
              <a:noFill/>
              <a:ln w="5">
                <a:solidFill>
                  <a:srgbClr val="000000"/>
                </a:solidFill>
                <a:round/>
                <a:headEnd/>
                <a:tailEnd/>
              </a:ln>
            </p:spPr>
            <p:txBody>
              <a:bodyPr/>
              <a:lstStyle/>
              <a:p>
                <a:endParaRPr lang="en-US"/>
              </a:p>
            </p:txBody>
          </p:sp>
        </p:grpSp>
        <p:grpSp>
          <p:nvGrpSpPr>
            <p:cNvPr id="316" name="Group 133"/>
            <p:cNvGrpSpPr>
              <a:grpSpLocks/>
            </p:cNvGrpSpPr>
            <p:nvPr/>
          </p:nvGrpSpPr>
          <p:grpSpPr bwMode="auto">
            <a:xfrm>
              <a:off x="2971800" y="3677443"/>
              <a:ext cx="889000" cy="368300"/>
              <a:chOff x="3988" y="2919"/>
              <a:chExt cx="560" cy="232"/>
            </a:xfrm>
          </p:grpSpPr>
          <p:sp>
            <p:nvSpPr>
              <p:cNvPr id="395" name="Freeform 131"/>
              <p:cNvSpPr>
                <a:spLocks/>
              </p:cNvSpPr>
              <p:nvPr/>
            </p:nvSpPr>
            <p:spPr bwMode="auto">
              <a:xfrm>
                <a:off x="3988" y="2919"/>
                <a:ext cx="560" cy="232"/>
              </a:xfrm>
              <a:custGeom>
                <a:avLst/>
                <a:gdLst>
                  <a:gd name="T0" fmla="*/ 0 w 560"/>
                  <a:gd name="T1" fmla="*/ 86 h 232"/>
                  <a:gd name="T2" fmla="*/ 14 w 560"/>
                  <a:gd name="T3" fmla="*/ 14 h 232"/>
                  <a:gd name="T4" fmla="*/ 30 w 560"/>
                  <a:gd name="T5" fmla="*/ 2 h 232"/>
                  <a:gd name="T6" fmla="*/ 48 w 560"/>
                  <a:gd name="T7" fmla="*/ 0 h 232"/>
                  <a:gd name="T8" fmla="*/ 443 w 560"/>
                  <a:gd name="T9" fmla="*/ 0 h 232"/>
                  <a:gd name="T10" fmla="*/ 450 w 560"/>
                  <a:gd name="T11" fmla="*/ 0 h 232"/>
                  <a:gd name="T12" fmla="*/ 522 w 560"/>
                  <a:gd name="T13" fmla="*/ 0 h 232"/>
                  <a:gd name="T14" fmla="*/ 529 w 560"/>
                  <a:gd name="T15" fmla="*/ 8 h 232"/>
                  <a:gd name="T16" fmla="*/ 546 w 560"/>
                  <a:gd name="T17" fmla="*/ 8 h 232"/>
                  <a:gd name="T18" fmla="*/ 554 w 560"/>
                  <a:gd name="T19" fmla="*/ 17 h 232"/>
                  <a:gd name="T20" fmla="*/ 560 w 560"/>
                  <a:gd name="T21" fmla="*/ 202 h 232"/>
                  <a:gd name="T22" fmla="*/ 445 w 560"/>
                  <a:gd name="T23" fmla="*/ 232 h 232"/>
                  <a:gd name="T24" fmla="*/ 445 w 560"/>
                  <a:gd name="T25" fmla="*/ 83 h 232"/>
                  <a:gd name="T26" fmla="*/ 0 w 560"/>
                  <a:gd name="T27" fmla="*/ 86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0"/>
                  <a:gd name="T43" fmla="*/ 0 h 232"/>
                  <a:gd name="T44" fmla="*/ 560 w 560"/>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0" h="232">
                    <a:moveTo>
                      <a:pt x="0" y="86"/>
                    </a:moveTo>
                    <a:lnTo>
                      <a:pt x="14" y="14"/>
                    </a:lnTo>
                    <a:lnTo>
                      <a:pt x="30" y="2"/>
                    </a:lnTo>
                    <a:lnTo>
                      <a:pt x="48" y="0"/>
                    </a:lnTo>
                    <a:lnTo>
                      <a:pt x="443" y="0"/>
                    </a:lnTo>
                    <a:lnTo>
                      <a:pt x="450" y="0"/>
                    </a:lnTo>
                    <a:lnTo>
                      <a:pt x="522" y="0"/>
                    </a:lnTo>
                    <a:lnTo>
                      <a:pt x="529" y="8"/>
                    </a:lnTo>
                    <a:lnTo>
                      <a:pt x="546" y="8"/>
                    </a:lnTo>
                    <a:lnTo>
                      <a:pt x="554" y="17"/>
                    </a:lnTo>
                    <a:lnTo>
                      <a:pt x="560" y="202"/>
                    </a:lnTo>
                    <a:lnTo>
                      <a:pt x="445" y="232"/>
                    </a:lnTo>
                    <a:lnTo>
                      <a:pt x="445" y="83"/>
                    </a:lnTo>
                    <a:lnTo>
                      <a:pt x="0" y="86"/>
                    </a:lnTo>
                    <a:close/>
                  </a:path>
                </a:pathLst>
              </a:custGeom>
              <a:solidFill>
                <a:srgbClr val="FFFF66"/>
              </a:solidFill>
              <a:ln w="9525">
                <a:noFill/>
                <a:round/>
                <a:headEnd/>
                <a:tailEnd/>
              </a:ln>
            </p:spPr>
            <p:txBody>
              <a:bodyPr/>
              <a:lstStyle/>
              <a:p>
                <a:endParaRPr lang="en-US"/>
              </a:p>
            </p:txBody>
          </p:sp>
          <p:sp>
            <p:nvSpPr>
              <p:cNvPr id="396" name="Freeform 132"/>
              <p:cNvSpPr>
                <a:spLocks/>
              </p:cNvSpPr>
              <p:nvPr/>
            </p:nvSpPr>
            <p:spPr bwMode="auto">
              <a:xfrm>
                <a:off x="3988" y="2919"/>
                <a:ext cx="560" cy="232"/>
              </a:xfrm>
              <a:custGeom>
                <a:avLst/>
                <a:gdLst>
                  <a:gd name="T0" fmla="*/ 0 w 560"/>
                  <a:gd name="T1" fmla="*/ 86 h 232"/>
                  <a:gd name="T2" fmla="*/ 14 w 560"/>
                  <a:gd name="T3" fmla="*/ 14 h 232"/>
                  <a:gd name="T4" fmla="*/ 30 w 560"/>
                  <a:gd name="T5" fmla="*/ 2 h 232"/>
                  <a:gd name="T6" fmla="*/ 48 w 560"/>
                  <a:gd name="T7" fmla="*/ 0 h 232"/>
                  <a:gd name="T8" fmla="*/ 443 w 560"/>
                  <a:gd name="T9" fmla="*/ 0 h 232"/>
                  <a:gd name="T10" fmla="*/ 450 w 560"/>
                  <a:gd name="T11" fmla="*/ 0 h 232"/>
                  <a:gd name="T12" fmla="*/ 522 w 560"/>
                  <a:gd name="T13" fmla="*/ 0 h 232"/>
                  <a:gd name="T14" fmla="*/ 529 w 560"/>
                  <a:gd name="T15" fmla="*/ 8 h 232"/>
                  <a:gd name="T16" fmla="*/ 546 w 560"/>
                  <a:gd name="T17" fmla="*/ 8 h 232"/>
                  <a:gd name="T18" fmla="*/ 554 w 560"/>
                  <a:gd name="T19" fmla="*/ 17 h 232"/>
                  <a:gd name="T20" fmla="*/ 560 w 560"/>
                  <a:gd name="T21" fmla="*/ 202 h 232"/>
                  <a:gd name="T22" fmla="*/ 445 w 560"/>
                  <a:gd name="T23" fmla="*/ 232 h 232"/>
                  <a:gd name="T24" fmla="*/ 445 w 560"/>
                  <a:gd name="T25" fmla="*/ 83 h 232"/>
                  <a:gd name="T26" fmla="*/ 0 w 560"/>
                  <a:gd name="T27" fmla="*/ 86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0"/>
                  <a:gd name="T43" fmla="*/ 0 h 232"/>
                  <a:gd name="T44" fmla="*/ 560 w 560"/>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0" h="232">
                    <a:moveTo>
                      <a:pt x="0" y="86"/>
                    </a:moveTo>
                    <a:lnTo>
                      <a:pt x="14" y="14"/>
                    </a:lnTo>
                    <a:lnTo>
                      <a:pt x="30" y="2"/>
                    </a:lnTo>
                    <a:lnTo>
                      <a:pt x="48" y="0"/>
                    </a:lnTo>
                    <a:lnTo>
                      <a:pt x="443" y="0"/>
                    </a:lnTo>
                    <a:lnTo>
                      <a:pt x="450" y="0"/>
                    </a:lnTo>
                    <a:lnTo>
                      <a:pt x="522" y="0"/>
                    </a:lnTo>
                    <a:lnTo>
                      <a:pt x="529" y="8"/>
                    </a:lnTo>
                    <a:lnTo>
                      <a:pt x="546" y="8"/>
                    </a:lnTo>
                    <a:lnTo>
                      <a:pt x="554" y="17"/>
                    </a:lnTo>
                    <a:lnTo>
                      <a:pt x="560" y="202"/>
                    </a:lnTo>
                    <a:lnTo>
                      <a:pt x="445" y="232"/>
                    </a:lnTo>
                    <a:lnTo>
                      <a:pt x="445" y="83"/>
                    </a:lnTo>
                    <a:lnTo>
                      <a:pt x="0" y="86"/>
                    </a:lnTo>
                  </a:path>
                </a:pathLst>
              </a:custGeom>
              <a:noFill/>
              <a:ln w="5">
                <a:solidFill>
                  <a:srgbClr val="000000"/>
                </a:solidFill>
                <a:round/>
                <a:headEnd/>
                <a:tailEnd/>
              </a:ln>
            </p:spPr>
            <p:txBody>
              <a:bodyPr/>
              <a:lstStyle/>
              <a:p>
                <a:endParaRPr lang="en-US"/>
              </a:p>
            </p:txBody>
          </p:sp>
        </p:grpSp>
        <p:grpSp>
          <p:nvGrpSpPr>
            <p:cNvPr id="317" name="Group 136"/>
            <p:cNvGrpSpPr>
              <a:grpSpLocks/>
            </p:cNvGrpSpPr>
            <p:nvPr/>
          </p:nvGrpSpPr>
          <p:grpSpPr bwMode="auto">
            <a:xfrm>
              <a:off x="2917825" y="3513930"/>
              <a:ext cx="889000" cy="368300"/>
              <a:chOff x="3954" y="2816"/>
              <a:chExt cx="560" cy="232"/>
            </a:xfrm>
          </p:grpSpPr>
          <p:sp>
            <p:nvSpPr>
              <p:cNvPr id="393" name="Freeform 134"/>
              <p:cNvSpPr>
                <a:spLocks/>
              </p:cNvSpPr>
              <p:nvPr/>
            </p:nvSpPr>
            <p:spPr bwMode="auto">
              <a:xfrm>
                <a:off x="3954" y="2816"/>
                <a:ext cx="560" cy="232"/>
              </a:xfrm>
              <a:custGeom>
                <a:avLst/>
                <a:gdLst>
                  <a:gd name="T0" fmla="*/ 0 w 560"/>
                  <a:gd name="T1" fmla="*/ 85 h 232"/>
                  <a:gd name="T2" fmla="*/ 14 w 560"/>
                  <a:gd name="T3" fmla="*/ 14 h 232"/>
                  <a:gd name="T4" fmla="*/ 29 w 560"/>
                  <a:gd name="T5" fmla="*/ 1 h 232"/>
                  <a:gd name="T6" fmla="*/ 47 w 560"/>
                  <a:gd name="T7" fmla="*/ 0 h 232"/>
                  <a:gd name="T8" fmla="*/ 442 w 560"/>
                  <a:gd name="T9" fmla="*/ 0 h 232"/>
                  <a:gd name="T10" fmla="*/ 450 w 560"/>
                  <a:gd name="T11" fmla="*/ 0 h 232"/>
                  <a:gd name="T12" fmla="*/ 521 w 560"/>
                  <a:gd name="T13" fmla="*/ 0 h 232"/>
                  <a:gd name="T14" fmla="*/ 529 w 560"/>
                  <a:gd name="T15" fmla="*/ 8 h 232"/>
                  <a:gd name="T16" fmla="*/ 546 w 560"/>
                  <a:gd name="T17" fmla="*/ 8 h 232"/>
                  <a:gd name="T18" fmla="*/ 553 w 560"/>
                  <a:gd name="T19" fmla="*/ 17 h 232"/>
                  <a:gd name="T20" fmla="*/ 560 w 560"/>
                  <a:gd name="T21" fmla="*/ 201 h 232"/>
                  <a:gd name="T22" fmla="*/ 445 w 560"/>
                  <a:gd name="T23" fmla="*/ 232 h 232"/>
                  <a:gd name="T24" fmla="*/ 445 w 560"/>
                  <a:gd name="T25" fmla="*/ 83 h 232"/>
                  <a:gd name="T26" fmla="*/ 0 w 560"/>
                  <a:gd name="T27" fmla="*/ 85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0"/>
                  <a:gd name="T43" fmla="*/ 0 h 232"/>
                  <a:gd name="T44" fmla="*/ 560 w 560"/>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0" h="232">
                    <a:moveTo>
                      <a:pt x="0" y="85"/>
                    </a:moveTo>
                    <a:lnTo>
                      <a:pt x="14" y="14"/>
                    </a:lnTo>
                    <a:lnTo>
                      <a:pt x="29" y="1"/>
                    </a:lnTo>
                    <a:lnTo>
                      <a:pt x="47" y="0"/>
                    </a:lnTo>
                    <a:lnTo>
                      <a:pt x="442" y="0"/>
                    </a:lnTo>
                    <a:lnTo>
                      <a:pt x="450" y="0"/>
                    </a:lnTo>
                    <a:lnTo>
                      <a:pt x="521" y="0"/>
                    </a:lnTo>
                    <a:lnTo>
                      <a:pt x="529" y="8"/>
                    </a:lnTo>
                    <a:lnTo>
                      <a:pt x="546" y="8"/>
                    </a:lnTo>
                    <a:lnTo>
                      <a:pt x="553" y="17"/>
                    </a:lnTo>
                    <a:lnTo>
                      <a:pt x="560" y="201"/>
                    </a:lnTo>
                    <a:lnTo>
                      <a:pt x="445" y="232"/>
                    </a:lnTo>
                    <a:lnTo>
                      <a:pt x="445" y="83"/>
                    </a:lnTo>
                    <a:lnTo>
                      <a:pt x="0" y="85"/>
                    </a:lnTo>
                    <a:close/>
                  </a:path>
                </a:pathLst>
              </a:custGeom>
              <a:solidFill>
                <a:srgbClr val="FFFFCC"/>
              </a:solidFill>
              <a:ln w="9525">
                <a:noFill/>
                <a:round/>
                <a:headEnd/>
                <a:tailEnd/>
              </a:ln>
            </p:spPr>
            <p:txBody>
              <a:bodyPr/>
              <a:lstStyle/>
              <a:p>
                <a:endParaRPr lang="en-US"/>
              </a:p>
            </p:txBody>
          </p:sp>
          <p:sp>
            <p:nvSpPr>
              <p:cNvPr id="394" name="Freeform 135"/>
              <p:cNvSpPr>
                <a:spLocks/>
              </p:cNvSpPr>
              <p:nvPr/>
            </p:nvSpPr>
            <p:spPr bwMode="auto">
              <a:xfrm>
                <a:off x="3954" y="2816"/>
                <a:ext cx="560" cy="232"/>
              </a:xfrm>
              <a:custGeom>
                <a:avLst/>
                <a:gdLst>
                  <a:gd name="T0" fmla="*/ 0 w 560"/>
                  <a:gd name="T1" fmla="*/ 85 h 232"/>
                  <a:gd name="T2" fmla="*/ 14 w 560"/>
                  <a:gd name="T3" fmla="*/ 14 h 232"/>
                  <a:gd name="T4" fmla="*/ 29 w 560"/>
                  <a:gd name="T5" fmla="*/ 1 h 232"/>
                  <a:gd name="T6" fmla="*/ 47 w 560"/>
                  <a:gd name="T7" fmla="*/ 0 h 232"/>
                  <a:gd name="T8" fmla="*/ 442 w 560"/>
                  <a:gd name="T9" fmla="*/ 0 h 232"/>
                  <a:gd name="T10" fmla="*/ 450 w 560"/>
                  <a:gd name="T11" fmla="*/ 0 h 232"/>
                  <a:gd name="T12" fmla="*/ 521 w 560"/>
                  <a:gd name="T13" fmla="*/ 0 h 232"/>
                  <a:gd name="T14" fmla="*/ 529 w 560"/>
                  <a:gd name="T15" fmla="*/ 8 h 232"/>
                  <a:gd name="T16" fmla="*/ 546 w 560"/>
                  <a:gd name="T17" fmla="*/ 8 h 232"/>
                  <a:gd name="T18" fmla="*/ 553 w 560"/>
                  <a:gd name="T19" fmla="*/ 17 h 232"/>
                  <a:gd name="T20" fmla="*/ 560 w 560"/>
                  <a:gd name="T21" fmla="*/ 201 h 232"/>
                  <a:gd name="T22" fmla="*/ 445 w 560"/>
                  <a:gd name="T23" fmla="*/ 232 h 232"/>
                  <a:gd name="T24" fmla="*/ 445 w 560"/>
                  <a:gd name="T25" fmla="*/ 83 h 232"/>
                  <a:gd name="T26" fmla="*/ 0 w 560"/>
                  <a:gd name="T27" fmla="*/ 85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0"/>
                  <a:gd name="T43" fmla="*/ 0 h 232"/>
                  <a:gd name="T44" fmla="*/ 560 w 560"/>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0" h="232">
                    <a:moveTo>
                      <a:pt x="0" y="85"/>
                    </a:moveTo>
                    <a:lnTo>
                      <a:pt x="14" y="14"/>
                    </a:lnTo>
                    <a:lnTo>
                      <a:pt x="29" y="1"/>
                    </a:lnTo>
                    <a:lnTo>
                      <a:pt x="47" y="0"/>
                    </a:lnTo>
                    <a:lnTo>
                      <a:pt x="442" y="0"/>
                    </a:lnTo>
                    <a:lnTo>
                      <a:pt x="450" y="0"/>
                    </a:lnTo>
                    <a:lnTo>
                      <a:pt x="521" y="0"/>
                    </a:lnTo>
                    <a:lnTo>
                      <a:pt x="529" y="8"/>
                    </a:lnTo>
                    <a:lnTo>
                      <a:pt x="546" y="8"/>
                    </a:lnTo>
                    <a:lnTo>
                      <a:pt x="553" y="17"/>
                    </a:lnTo>
                    <a:lnTo>
                      <a:pt x="560" y="201"/>
                    </a:lnTo>
                    <a:lnTo>
                      <a:pt x="445" y="232"/>
                    </a:lnTo>
                    <a:lnTo>
                      <a:pt x="445" y="83"/>
                    </a:lnTo>
                    <a:lnTo>
                      <a:pt x="0" y="85"/>
                    </a:lnTo>
                  </a:path>
                </a:pathLst>
              </a:custGeom>
              <a:noFill/>
              <a:ln w="5">
                <a:solidFill>
                  <a:srgbClr val="000000"/>
                </a:solidFill>
                <a:round/>
                <a:headEnd/>
                <a:tailEnd/>
              </a:ln>
            </p:spPr>
            <p:txBody>
              <a:bodyPr/>
              <a:lstStyle/>
              <a:p>
                <a:endParaRPr lang="en-US"/>
              </a:p>
            </p:txBody>
          </p:sp>
        </p:grpSp>
        <p:grpSp>
          <p:nvGrpSpPr>
            <p:cNvPr id="318" name="Group 139"/>
            <p:cNvGrpSpPr>
              <a:grpSpLocks/>
            </p:cNvGrpSpPr>
            <p:nvPr/>
          </p:nvGrpSpPr>
          <p:grpSpPr bwMode="auto">
            <a:xfrm>
              <a:off x="2857500" y="3544093"/>
              <a:ext cx="887413" cy="368300"/>
              <a:chOff x="3916" y="2835"/>
              <a:chExt cx="559" cy="232"/>
            </a:xfrm>
          </p:grpSpPr>
          <p:sp>
            <p:nvSpPr>
              <p:cNvPr id="391" name="Freeform 137"/>
              <p:cNvSpPr>
                <a:spLocks/>
              </p:cNvSpPr>
              <p:nvPr/>
            </p:nvSpPr>
            <p:spPr bwMode="auto">
              <a:xfrm>
                <a:off x="3916" y="2835"/>
                <a:ext cx="559" cy="232"/>
              </a:xfrm>
              <a:custGeom>
                <a:avLst/>
                <a:gdLst>
                  <a:gd name="T0" fmla="*/ 0 w 559"/>
                  <a:gd name="T1" fmla="*/ 86 h 232"/>
                  <a:gd name="T2" fmla="*/ 15 w 559"/>
                  <a:gd name="T3" fmla="*/ 14 h 232"/>
                  <a:gd name="T4" fmla="*/ 30 w 559"/>
                  <a:gd name="T5" fmla="*/ 1 h 232"/>
                  <a:gd name="T6" fmla="*/ 47 w 559"/>
                  <a:gd name="T7" fmla="*/ 0 h 232"/>
                  <a:gd name="T8" fmla="*/ 443 w 559"/>
                  <a:gd name="T9" fmla="*/ 0 h 232"/>
                  <a:gd name="T10" fmla="*/ 451 w 559"/>
                  <a:gd name="T11" fmla="*/ 0 h 232"/>
                  <a:gd name="T12" fmla="*/ 521 w 559"/>
                  <a:gd name="T13" fmla="*/ 0 h 232"/>
                  <a:gd name="T14" fmla="*/ 529 w 559"/>
                  <a:gd name="T15" fmla="*/ 8 h 232"/>
                  <a:gd name="T16" fmla="*/ 547 w 559"/>
                  <a:gd name="T17" fmla="*/ 8 h 232"/>
                  <a:gd name="T18" fmla="*/ 554 w 559"/>
                  <a:gd name="T19" fmla="*/ 17 h 232"/>
                  <a:gd name="T20" fmla="*/ 559 w 559"/>
                  <a:gd name="T21" fmla="*/ 202 h 232"/>
                  <a:gd name="T22" fmla="*/ 445 w 559"/>
                  <a:gd name="T23" fmla="*/ 232 h 232"/>
                  <a:gd name="T24" fmla="*/ 445 w 559"/>
                  <a:gd name="T25" fmla="*/ 83 h 232"/>
                  <a:gd name="T26" fmla="*/ 0 w 559"/>
                  <a:gd name="T27" fmla="*/ 86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2"/>
                  <a:gd name="T44" fmla="*/ 559 w 559"/>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2">
                    <a:moveTo>
                      <a:pt x="0" y="86"/>
                    </a:moveTo>
                    <a:lnTo>
                      <a:pt x="15" y="14"/>
                    </a:lnTo>
                    <a:lnTo>
                      <a:pt x="30" y="1"/>
                    </a:lnTo>
                    <a:lnTo>
                      <a:pt x="47" y="0"/>
                    </a:lnTo>
                    <a:lnTo>
                      <a:pt x="443" y="0"/>
                    </a:lnTo>
                    <a:lnTo>
                      <a:pt x="451" y="0"/>
                    </a:lnTo>
                    <a:lnTo>
                      <a:pt x="521" y="0"/>
                    </a:lnTo>
                    <a:lnTo>
                      <a:pt x="529" y="8"/>
                    </a:lnTo>
                    <a:lnTo>
                      <a:pt x="547" y="8"/>
                    </a:lnTo>
                    <a:lnTo>
                      <a:pt x="554" y="17"/>
                    </a:lnTo>
                    <a:lnTo>
                      <a:pt x="559" y="202"/>
                    </a:lnTo>
                    <a:lnTo>
                      <a:pt x="445" y="232"/>
                    </a:lnTo>
                    <a:lnTo>
                      <a:pt x="445" y="83"/>
                    </a:lnTo>
                    <a:lnTo>
                      <a:pt x="0" y="86"/>
                    </a:lnTo>
                    <a:close/>
                  </a:path>
                </a:pathLst>
              </a:custGeom>
              <a:solidFill>
                <a:srgbClr val="FFFFCC"/>
              </a:solidFill>
              <a:ln w="9525">
                <a:noFill/>
                <a:round/>
                <a:headEnd/>
                <a:tailEnd/>
              </a:ln>
            </p:spPr>
            <p:txBody>
              <a:bodyPr/>
              <a:lstStyle/>
              <a:p>
                <a:endParaRPr lang="en-US"/>
              </a:p>
            </p:txBody>
          </p:sp>
          <p:sp>
            <p:nvSpPr>
              <p:cNvPr id="392" name="Freeform 138"/>
              <p:cNvSpPr>
                <a:spLocks/>
              </p:cNvSpPr>
              <p:nvPr/>
            </p:nvSpPr>
            <p:spPr bwMode="auto">
              <a:xfrm>
                <a:off x="3916" y="2835"/>
                <a:ext cx="559" cy="232"/>
              </a:xfrm>
              <a:custGeom>
                <a:avLst/>
                <a:gdLst>
                  <a:gd name="T0" fmla="*/ 0 w 559"/>
                  <a:gd name="T1" fmla="*/ 86 h 232"/>
                  <a:gd name="T2" fmla="*/ 15 w 559"/>
                  <a:gd name="T3" fmla="*/ 14 h 232"/>
                  <a:gd name="T4" fmla="*/ 30 w 559"/>
                  <a:gd name="T5" fmla="*/ 1 h 232"/>
                  <a:gd name="T6" fmla="*/ 47 w 559"/>
                  <a:gd name="T7" fmla="*/ 0 h 232"/>
                  <a:gd name="T8" fmla="*/ 443 w 559"/>
                  <a:gd name="T9" fmla="*/ 0 h 232"/>
                  <a:gd name="T10" fmla="*/ 451 w 559"/>
                  <a:gd name="T11" fmla="*/ 0 h 232"/>
                  <a:gd name="T12" fmla="*/ 521 w 559"/>
                  <a:gd name="T13" fmla="*/ 0 h 232"/>
                  <a:gd name="T14" fmla="*/ 529 w 559"/>
                  <a:gd name="T15" fmla="*/ 8 h 232"/>
                  <a:gd name="T16" fmla="*/ 547 w 559"/>
                  <a:gd name="T17" fmla="*/ 8 h 232"/>
                  <a:gd name="T18" fmla="*/ 554 w 559"/>
                  <a:gd name="T19" fmla="*/ 17 h 232"/>
                  <a:gd name="T20" fmla="*/ 559 w 559"/>
                  <a:gd name="T21" fmla="*/ 202 h 232"/>
                  <a:gd name="T22" fmla="*/ 445 w 559"/>
                  <a:gd name="T23" fmla="*/ 232 h 232"/>
                  <a:gd name="T24" fmla="*/ 445 w 559"/>
                  <a:gd name="T25" fmla="*/ 83 h 232"/>
                  <a:gd name="T26" fmla="*/ 0 w 559"/>
                  <a:gd name="T27" fmla="*/ 86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2"/>
                  <a:gd name="T44" fmla="*/ 559 w 559"/>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2">
                    <a:moveTo>
                      <a:pt x="0" y="86"/>
                    </a:moveTo>
                    <a:lnTo>
                      <a:pt x="15" y="14"/>
                    </a:lnTo>
                    <a:lnTo>
                      <a:pt x="30" y="1"/>
                    </a:lnTo>
                    <a:lnTo>
                      <a:pt x="47" y="0"/>
                    </a:lnTo>
                    <a:lnTo>
                      <a:pt x="443" y="0"/>
                    </a:lnTo>
                    <a:lnTo>
                      <a:pt x="451" y="0"/>
                    </a:lnTo>
                    <a:lnTo>
                      <a:pt x="521" y="0"/>
                    </a:lnTo>
                    <a:lnTo>
                      <a:pt x="529" y="8"/>
                    </a:lnTo>
                    <a:lnTo>
                      <a:pt x="547" y="8"/>
                    </a:lnTo>
                    <a:lnTo>
                      <a:pt x="554" y="17"/>
                    </a:lnTo>
                    <a:lnTo>
                      <a:pt x="559" y="202"/>
                    </a:lnTo>
                    <a:lnTo>
                      <a:pt x="445" y="232"/>
                    </a:lnTo>
                    <a:lnTo>
                      <a:pt x="445" y="83"/>
                    </a:lnTo>
                    <a:lnTo>
                      <a:pt x="0" y="86"/>
                    </a:lnTo>
                  </a:path>
                </a:pathLst>
              </a:custGeom>
              <a:noFill/>
              <a:ln w="5">
                <a:solidFill>
                  <a:srgbClr val="000000"/>
                </a:solidFill>
                <a:round/>
                <a:headEnd/>
                <a:tailEnd/>
              </a:ln>
            </p:spPr>
            <p:txBody>
              <a:bodyPr/>
              <a:lstStyle/>
              <a:p>
                <a:endParaRPr lang="en-US"/>
              </a:p>
            </p:txBody>
          </p:sp>
        </p:grpSp>
        <p:sp>
          <p:nvSpPr>
            <p:cNvPr id="319" name="Rectangle 140"/>
            <p:cNvSpPr>
              <a:spLocks noChangeArrowheads="1"/>
            </p:cNvSpPr>
            <p:nvPr/>
          </p:nvSpPr>
          <p:spPr bwMode="auto">
            <a:xfrm>
              <a:off x="2881313" y="3536155"/>
              <a:ext cx="679450" cy="166688"/>
            </a:xfrm>
            <a:prstGeom prst="rect">
              <a:avLst/>
            </a:prstGeom>
            <a:noFill/>
            <a:ln w="9525">
              <a:noFill/>
              <a:miter lim="800000"/>
              <a:headEnd/>
              <a:tailEnd/>
            </a:ln>
          </p:spPr>
          <p:txBody>
            <a:bodyPr/>
            <a:lstStyle/>
            <a:p>
              <a:endParaRPr lang="en-US" sz="1800" b="0">
                <a:latin typeface="Arial" charset="0"/>
              </a:endParaRPr>
            </a:p>
          </p:txBody>
        </p:sp>
        <p:grpSp>
          <p:nvGrpSpPr>
            <p:cNvPr id="320" name="Group 143"/>
            <p:cNvGrpSpPr>
              <a:grpSpLocks/>
            </p:cNvGrpSpPr>
            <p:nvPr/>
          </p:nvGrpSpPr>
          <p:grpSpPr bwMode="auto">
            <a:xfrm>
              <a:off x="2805113" y="3691730"/>
              <a:ext cx="887413" cy="369888"/>
              <a:chOff x="3883" y="2928"/>
              <a:chExt cx="559" cy="233"/>
            </a:xfrm>
          </p:grpSpPr>
          <p:sp>
            <p:nvSpPr>
              <p:cNvPr id="389" name="Freeform 141"/>
              <p:cNvSpPr>
                <a:spLocks/>
              </p:cNvSpPr>
              <p:nvPr/>
            </p:nvSpPr>
            <p:spPr bwMode="auto">
              <a:xfrm>
                <a:off x="3883" y="2928"/>
                <a:ext cx="559" cy="233"/>
              </a:xfrm>
              <a:custGeom>
                <a:avLst/>
                <a:gdLst>
                  <a:gd name="T0" fmla="*/ 0 w 559"/>
                  <a:gd name="T1" fmla="*/ 86 h 233"/>
                  <a:gd name="T2" fmla="*/ 15 w 559"/>
                  <a:gd name="T3" fmla="*/ 15 h 233"/>
                  <a:gd name="T4" fmla="*/ 30 w 559"/>
                  <a:gd name="T5" fmla="*/ 1 h 233"/>
                  <a:gd name="T6" fmla="*/ 47 w 559"/>
                  <a:gd name="T7" fmla="*/ 0 h 233"/>
                  <a:gd name="T8" fmla="*/ 443 w 559"/>
                  <a:gd name="T9" fmla="*/ 0 h 233"/>
                  <a:gd name="T10" fmla="*/ 451 w 559"/>
                  <a:gd name="T11" fmla="*/ 0 h 233"/>
                  <a:gd name="T12" fmla="*/ 521 w 559"/>
                  <a:gd name="T13" fmla="*/ 0 h 233"/>
                  <a:gd name="T14" fmla="*/ 529 w 559"/>
                  <a:gd name="T15" fmla="*/ 8 h 233"/>
                  <a:gd name="T16" fmla="*/ 547 w 559"/>
                  <a:gd name="T17" fmla="*/ 8 h 233"/>
                  <a:gd name="T18" fmla="*/ 554 w 559"/>
                  <a:gd name="T19" fmla="*/ 17 h 233"/>
                  <a:gd name="T20" fmla="*/ 559 w 559"/>
                  <a:gd name="T21" fmla="*/ 203 h 233"/>
                  <a:gd name="T22" fmla="*/ 445 w 559"/>
                  <a:gd name="T23" fmla="*/ 233 h 233"/>
                  <a:gd name="T24" fmla="*/ 445 w 559"/>
                  <a:gd name="T25" fmla="*/ 84 h 233"/>
                  <a:gd name="T26" fmla="*/ 0 w 559"/>
                  <a:gd name="T27" fmla="*/ 86 h 2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3"/>
                  <a:gd name="T44" fmla="*/ 559 w 559"/>
                  <a:gd name="T45" fmla="*/ 233 h 23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3">
                    <a:moveTo>
                      <a:pt x="0" y="86"/>
                    </a:moveTo>
                    <a:lnTo>
                      <a:pt x="15" y="15"/>
                    </a:lnTo>
                    <a:lnTo>
                      <a:pt x="30" y="1"/>
                    </a:lnTo>
                    <a:lnTo>
                      <a:pt x="47" y="0"/>
                    </a:lnTo>
                    <a:lnTo>
                      <a:pt x="443" y="0"/>
                    </a:lnTo>
                    <a:lnTo>
                      <a:pt x="451" y="0"/>
                    </a:lnTo>
                    <a:lnTo>
                      <a:pt x="521" y="0"/>
                    </a:lnTo>
                    <a:lnTo>
                      <a:pt x="529" y="8"/>
                    </a:lnTo>
                    <a:lnTo>
                      <a:pt x="547" y="8"/>
                    </a:lnTo>
                    <a:lnTo>
                      <a:pt x="554" y="17"/>
                    </a:lnTo>
                    <a:lnTo>
                      <a:pt x="559" y="203"/>
                    </a:lnTo>
                    <a:lnTo>
                      <a:pt x="445" y="233"/>
                    </a:lnTo>
                    <a:lnTo>
                      <a:pt x="445" y="84"/>
                    </a:lnTo>
                    <a:lnTo>
                      <a:pt x="0" y="86"/>
                    </a:lnTo>
                    <a:close/>
                  </a:path>
                </a:pathLst>
              </a:custGeom>
              <a:solidFill>
                <a:srgbClr val="FFCC00"/>
              </a:solidFill>
              <a:ln w="9525">
                <a:noFill/>
                <a:round/>
                <a:headEnd/>
                <a:tailEnd/>
              </a:ln>
            </p:spPr>
            <p:txBody>
              <a:bodyPr/>
              <a:lstStyle/>
              <a:p>
                <a:endParaRPr lang="en-US"/>
              </a:p>
            </p:txBody>
          </p:sp>
          <p:sp>
            <p:nvSpPr>
              <p:cNvPr id="390" name="Freeform 142"/>
              <p:cNvSpPr>
                <a:spLocks/>
              </p:cNvSpPr>
              <p:nvPr/>
            </p:nvSpPr>
            <p:spPr bwMode="auto">
              <a:xfrm>
                <a:off x="3883" y="2928"/>
                <a:ext cx="559" cy="233"/>
              </a:xfrm>
              <a:custGeom>
                <a:avLst/>
                <a:gdLst>
                  <a:gd name="T0" fmla="*/ 0 w 559"/>
                  <a:gd name="T1" fmla="*/ 86 h 233"/>
                  <a:gd name="T2" fmla="*/ 15 w 559"/>
                  <a:gd name="T3" fmla="*/ 15 h 233"/>
                  <a:gd name="T4" fmla="*/ 30 w 559"/>
                  <a:gd name="T5" fmla="*/ 1 h 233"/>
                  <a:gd name="T6" fmla="*/ 47 w 559"/>
                  <a:gd name="T7" fmla="*/ 0 h 233"/>
                  <a:gd name="T8" fmla="*/ 443 w 559"/>
                  <a:gd name="T9" fmla="*/ 0 h 233"/>
                  <a:gd name="T10" fmla="*/ 451 w 559"/>
                  <a:gd name="T11" fmla="*/ 0 h 233"/>
                  <a:gd name="T12" fmla="*/ 521 w 559"/>
                  <a:gd name="T13" fmla="*/ 0 h 233"/>
                  <a:gd name="T14" fmla="*/ 529 w 559"/>
                  <a:gd name="T15" fmla="*/ 8 h 233"/>
                  <a:gd name="T16" fmla="*/ 547 w 559"/>
                  <a:gd name="T17" fmla="*/ 8 h 233"/>
                  <a:gd name="T18" fmla="*/ 554 w 559"/>
                  <a:gd name="T19" fmla="*/ 17 h 233"/>
                  <a:gd name="T20" fmla="*/ 559 w 559"/>
                  <a:gd name="T21" fmla="*/ 203 h 233"/>
                  <a:gd name="T22" fmla="*/ 445 w 559"/>
                  <a:gd name="T23" fmla="*/ 233 h 233"/>
                  <a:gd name="T24" fmla="*/ 445 w 559"/>
                  <a:gd name="T25" fmla="*/ 84 h 233"/>
                  <a:gd name="T26" fmla="*/ 0 w 559"/>
                  <a:gd name="T27" fmla="*/ 86 h 2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3"/>
                  <a:gd name="T44" fmla="*/ 559 w 559"/>
                  <a:gd name="T45" fmla="*/ 233 h 23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3">
                    <a:moveTo>
                      <a:pt x="0" y="86"/>
                    </a:moveTo>
                    <a:lnTo>
                      <a:pt x="15" y="15"/>
                    </a:lnTo>
                    <a:lnTo>
                      <a:pt x="30" y="1"/>
                    </a:lnTo>
                    <a:lnTo>
                      <a:pt x="47" y="0"/>
                    </a:lnTo>
                    <a:lnTo>
                      <a:pt x="443" y="0"/>
                    </a:lnTo>
                    <a:lnTo>
                      <a:pt x="451" y="0"/>
                    </a:lnTo>
                    <a:lnTo>
                      <a:pt x="521" y="0"/>
                    </a:lnTo>
                    <a:lnTo>
                      <a:pt x="529" y="8"/>
                    </a:lnTo>
                    <a:lnTo>
                      <a:pt x="547" y="8"/>
                    </a:lnTo>
                    <a:lnTo>
                      <a:pt x="554" y="17"/>
                    </a:lnTo>
                    <a:lnTo>
                      <a:pt x="559" y="203"/>
                    </a:lnTo>
                    <a:lnTo>
                      <a:pt x="445" y="233"/>
                    </a:lnTo>
                    <a:lnTo>
                      <a:pt x="445" y="84"/>
                    </a:lnTo>
                    <a:lnTo>
                      <a:pt x="0" y="86"/>
                    </a:lnTo>
                  </a:path>
                </a:pathLst>
              </a:custGeom>
              <a:noFill/>
              <a:ln w="5">
                <a:solidFill>
                  <a:srgbClr val="000000"/>
                </a:solidFill>
                <a:round/>
                <a:headEnd/>
                <a:tailEnd/>
              </a:ln>
            </p:spPr>
            <p:txBody>
              <a:bodyPr/>
              <a:lstStyle/>
              <a:p>
                <a:endParaRPr lang="en-US"/>
              </a:p>
            </p:txBody>
          </p:sp>
        </p:grpSp>
        <p:grpSp>
          <p:nvGrpSpPr>
            <p:cNvPr id="321" name="Group 146"/>
            <p:cNvGrpSpPr>
              <a:grpSpLocks/>
            </p:cNvGrpSpPr>
            <p:nvPr/>
          </p:nvGrpSpPr>
          <p:grpSpPr bwMode="auto">
            <a:xfrm>
              <a:off x="2740025" y="3728243"/>
              <a:ext cx="887413" cy="369888"/>
              <a:chOff x="3842" y="2951"/>
              <a:chExt cx="559" cy="233"/>
            </a:xfrm>
          </p:grpSpPr>
          <p:sp>
            <p:nvSpPr>
              <p:cNvPr id="387" name="Freeform 144"/>
              <p:cNvSpPr>
                <a:spLocks/>
              </p:cNvSpPr>
              <p:nvPr/>
            </p:nvSpPr>
            <p:spPr bwMode="auto">
              <a:xfrm>
                <a:off x="3842" y="2951"/>
                <a:ext cx="559" cy="233"/>
              </a:xfrm>
              <a:custGeom>
                <a:avLst/>
                <a:gdLst>
                  <a:gd name="T0" fmla="*/ 0 w 559"/>
                  <a:gd name="T1" fmla="*/ 86 h 233"/>
                  <a:gd name="T2" fmla="*/ 14 w 559"/>
                  <a:gd name="T3" fmla="*/ 15 h 233"/>
                  <a:gd name="T4" fmla="*/ 29 w 559"/>
                  <a:gd name="T5" fmla="*/ 1 h 233"/>
                  <a:gd name="T6" fmla="*/ 47 w 559"/>
                  <a:gd name="T7" fmla="*/ 0 h 233"/>
                  <a:gd name="T8" fmla="*/ 442 w 559"/>
                  <a:gd name="T9" fmla="*/ 0 h 233"/>
                  <a:gd name="T10" fmla="*/ 450 w 559"/>
                  <a:gd name="T11" fmla="*/ 0 h 233"/>
                  <a:gd name="T12" fmla="*/ 521 w 559"/>
                  <a:gd name="T13" fmla="*/ 0 h 233"/>
                  <a:gd name="T14" fmla="*/ 529 w 559"/>
                  <a:gd name="T15" fmla="*/ 8 h 233"/>
                  <a:gd name="T16" fmla="*/ 545 w 559"/>
                  <a:gd name="T17" fmla="*/ 8 h 233"/>
                  <a:gd name="T18" fmla="*/ 553 w 559"/>
                  <a:gd name="T19" fmla="*/ 17 h 233"/>
                  <a:gd name="T20" fmla="*/ 559 w 559"/>
                  <a:gd name="T21" fmla="*/ 203 h 233"/>
                  <a:gd name="T22" fmla="*/ 445 w 559"/>
                  <a:gd name="T23" fmla="*/ 233 h 233"/>
                  <a:gd name="T24" fmla="*/ 445 w 559"/>
                  <a:gd name="T25" fmla="*/ 84 h 233"/>
                  <a:gd name="T26" fmla="*/ 0 w 559"/>
                  <a:gd name="T27" fmla="*/ 86 h 2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3"/>
                  <a:gd name="T44" fmla="*/ 559 w 559"/>
                  <a:gd name="T45" fmla="*/ 233 h 23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3">
                    <a:moveTo>
                      <a:pt x="0" y="86"/>
                    </a:moveTo>
                    <a:lnTo>
                      <a:pt x="14" y="15"/>
                    </a:lnTo>
                    <a:lnTo>
                      <a:pt x="29" y="1"/>
                    </a:lnTo>
                    <a:lnTo>
                      <a:pt x="47" y="0"/>
                    </a:lnTo>
                    <a:lnTo>
                      <a:pt x="442" y="0"/>
                    </a:lnTo>
                    <a:lnTo>
                      <a:pt x="450" y="0"/>
                    </a:lnTo>
                    <a:lnTo>
                      <a:pt x="521" y="0"/>
                    </a:lnTo>
                    <a:lnTo>
                      <a:pt x="529" y="8"/>
                    </a:lnTo>
                    <a:lnTo>
                      <a:pt x="545" y="8"/>
                    </a:lnTo>
                    <a:lnTo>
                      <a:pt x="553" y="17"/>
                    </a:lnTo>
                    <a:lnTo>
                      <a:pt x="559" y="203"/>
                    </a:lnTo>
                    <a:lnTo>
                      <a:pt x="445" y="233"/>
                    </a:lnTo>
                    <a:lnTo>
                      <a:pt x="445" y="84"/>
                    </a:lnTo>
                    <a:lnTo>
                      <a:pt x="0" y="86"/>
                    </a:lnTo>
                    <a:close/>
                  </a:path>
                </a:pathLst>
              </a:custGeom>
              <a:solidFill>
                <a:srgbClr val="FFCC00"/>
              </a:solidFill>
              <a:ln w="9525">
                <a:noFill/>
                <a:round/>
                <a:headEnd/>
                <a:tailEnd/>
              </a:ln>
            </p:spPr>
            <p:txBody>
              <a:bodyPr/>
              <a:lstStyle/>
              <a:p>
                <a:endParaRPr lang="en-US"/>
              </a:p>
            </p:txBody>
          </p:sp>
          <p:sp>
            <p:nvSpPr>
              <p:cNvPr id="388" name="Freeform 145"/>
              <p:cNvSpPr>
                <a:spLocks/>
              </p:cNvSpPr>
              <p:nvPr/>
            </p:nvSpPr>
            <p:spPr bwMode="auto">
              <a:xfrm>
                <a:off x="3842" y="2951"/>
                <a:ext cx="559" cy="233"/>
              </a:xfrm>
              <a:custGeom>
                <a:avLst/>
                <a:gdLst>
                  <a:gd name="T0" fmla="*/ 0 w 559"/>
                  <a:gd name="T1" fmla="*/ 86 h 233"/>
                  <a:gd name="T2" fmla="*/ 14 w 559"/>
                  <a:gd name="T3" fmla="*/ 15 h 233"/>
                  <a:gd name="T4" fmla="*/ 29 w 559"/>
                  <a:gd name="T5" fmla="*/ 1 h 233"/>
                  <a:gd name="T6" fmla="*/ 47 w 559"/>
                  <a:gd name="T7" fmla="*/ 0 h 233"/>
                  <a:gd name="T8" fmla="*/ 442 w 559"/>
                  <a:gd name="T9" fmla="*/ 0 h 233"/>
                  <a:gd name="T10" fmla="*/ 450 w 559"/>
                  <a:gd name="T11" fmla="*/ 0 h 233"/>
                  <a:gd name="T12" fmla="*/ 521 w 559"/>
                  <a:gd name="T13" fmla="*/ 0 h 233"/>
                  <a:gd name="T14" fmla="*/ 529 w 559"/>
                  <a:gd name="T15" fmla="*/ 8 h 233"/>
                  <a:gd name="T16" fmla="*/ 545 w 559"/>
                  <a:gd name="T17" fmla="*/ 8 h 233"/>
                  <a:gd name="T18" fmla="*/ 553 w 559"/>
                  <a:gd name="T19" fmla="*/ 17 h 233"/>
                  <a:gd name="T20" fmla="*/ 559 w 559"/>
                  <a:gd name="T21" fmla="*/ 203 h 233"/>
                  <a:gd name="T22" fmla="*/ 445 w 559"/>
                  <a:gd name="T23" fmla="*/ 233 h 233"/>
                  <a:gd name="T24" fmla="*/ 445 w 559"/>
                  <a:gd name="T25" fmla="*/ 84 h 233"/>
                  <a:gd name="T26" fmla="*/ 0 w 559"/>
                  <a:gd name="T27" fmla="*/ 86 h 2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9"/>
                  <a:gd name="T43" fmla="*/ 0 h 233"/>
                  <a:gd name="T44" fmla="*/ 559 w 559"/>
                  <a:gd name="T45" fmla="*/ 233 h 23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9" h="233">
                    <a:moveTo>
                      <a:pt x="0" y="86"/>
                    </a:moveTo>
                    <a:lnTo>
                      <a:pt x="14" y="15"/>
                    </a:lnTo>
                    <a:lnTo>
                      <a:pt x="29" y="1"/>
                    </a:lnTo>
                    <a:lnTo>
                      <a:pt x="47" y="0"/>
                    </a:lnTo>
                    <a:lnTo>
                      <a:pt x="442" y="0"/>
                    </a:lnTo>
                    <a:lnTo>
                      <a:pt x="450" y="0"/>
                    </a:lnTo>
                    <a:lnTo>
                      <a:pt x="521" y="0"/>
                    </a:lnTo>
                    <a:lnTo>
                      <a:pt x="529" y="8"/>
                    </a:lnTo>
                    <a:lnTo>
                      <a:pt x="545" y="8"/>
                    </a:lnTo>
                    <a:lnTo>
                      <a:pt x="553" y="17"/>
                    </a:lnTo>
                    <a:lnTo>
                      <a:pt x="559" y="203"/>
                    </a:lnTo>
                    <a:lnTo>
                      <a:pt x="445" y="233"/>
                    </a:lnTo>
                    <a:lnTo>
                      <a:pt x="445" y="84"/>
                    </a:lnTo>
                    <a:lnTo>
                      <a:pt x="0" y="86"/>
                    </a:lnTo>
                  </a:path>
                </a:pathLst>
              </a:custGeom>
              <a:noFill/>
              <a:ln w="5">
                <a:solidFill>
                  <a:srgbClr val="000000"/>
                </a:solidFill>
                <a:round/>
                <a:headEnd/>
                <a:tailEnd/>
              </a:ln>
            </p:spPr>
            <p:txBody>
              <a:bodyPr/>
              <a:lstStyle/>
              <a:p>
                <a:endParaRPr lang="en-US"/>
              </a:p>
            </p:txBody>
          </p:sp>
        </p:grpSp>
        <p:sp>
          <p:nvSpPr>
            <p:cNvPr id="322" name="Rectangle 147"/>
            <p:cNvSpPr>
              <a:spLocks noChangeArrowheads="1"/>
            </p:cNvSpPr>
            <p:nvPr/>
          </p:nvSpPr>
          <p:spPr bwMode="auto">
            <a:xfrm>
              <a:off x="2735263" y="3674268"/>
              <a:ext cx="814388" cy="596900"/>
            </a:xfrm>
            <a:prstGeom prst="rect">
              <a:avLst/>
            </a:prstGeom>
            <a:solidFill>
              <a:srgbClr val="66FF99"/>
            </a:solidFill>
            <a:ln w="5">
              <a:solidFill>
                <a:srgbClr val="000000"/>
              </a:solidFill>
              <a:miter lim="800000"/>
              <a:headEnd/>
              <a:tailEnd/>
            </a:ln>
          </p:spPr>
          <p:txBody>
            <a:bodyPr/>
            <a:lstStyle/>
            <a:p>
              <a:endParaRPr lang="en-US" sz="1800" b="0">
                <a:latin typeface="Arial" charset="0"/>
              </a:endParaRPr>
            </a:p>
          </p:txBody>
        </p:sp>
        <p:sp>
          <p:nvSpPr>
            <p:cNvPr id="323" name="Rectangle 148"/>
            <p:cNvSpPr>
              <a:spLocks noChangeArrowheads="1"/>
            </p:cNvSpPr>
            <p:nvPr/>
          </p:nvSpPr>
          <p:spPr bwMode="auto">
            <a:xfrm>
              <a:off x="2822575" y="3721893"/>
              <a:ext cx="630238" cy="173038"/>
            </a:xfrm>
            <a:prstGeom prst="rect">
              <a:avLst/>
            </a:prstGeom>
            <a:solidFill>
              <a:srgbClr val="CCFFFF"/>
            </a:solidFill>
            <a:ln w="5">
              <a:solidFill>
                <a:srgbClr val="000000"/>
              </a:solidFill>
              <a:miter lim="800000"/>
              <a:headEnd/>
              <a:tailEnd/>
            </a:ln>
          </p:spPr>
          <p:txBody>
            <a:bodyPr/>
            <a:lstStyle/>
            <a:p>
              <a:endParaRPr lang="en-US" sz="1800" b="0">
                <a:latin typeface="Arial" charset="0"/>
              </a:endParaRPr>
            </a:p>
          </p:txBody>
        </p:sp>
        <p:sp>
          <p:nvSpPr>
            <p:cNvPr id="324" name="Line 149"/>
            <p:cNvSpPr>
              <a:spLocks noChangeShapeType="1"/>
            </p:cNvSpPr>
            <p:nvPr/>
          </p:nvSpPr>
          <p:spPr bwMode="auto">
            <a:xfrm>
              <a:off x="2776538" y="3691730"/>
              <a:ext cx="735013" cy="1588"/>
            </a:xfrm>
            <a:prstGeom prst="line">
              <a:avLst/>
            </a:prstGeom>
            <a:noFill/>
            <a:ln w="5">
              <a:solidFill>
                <a:srgbClr val="000000"/>
              </a:solidFill>
              <a:round/>
              <a:headEnd/>
              <a:tailEnd/>
            </a:ln>
          </p:spPr>
          <p:txBody>
            <a:bodyPr/>
            <a:lstStyle/>
            <a:p>
              <a:endParaRPr lang="en-US"/>
            </a:p>
          </p:txBody>
        </p:sp>
        <p:grpSp>
          <p:nvGrpSpPr>
            <p:cNvPr id="325" name="Group 152"/>
            <p:cNvGrpSpPr>
              <a:grpSpLocks/>
            </p:cNvGrpSpPr>
            <p:nvPr/>
          </p:nvGrpSpPr>
          <p:grpSpPr bwMode="auto">
            <a:xfrm>
              <a:off x="3544888" y="3758405"/>
              <a:ext cx="504825" cy="498475"/>
              <a:chOff x="4349" y="2970"/>
              <a:chExt cx="318" cy="314"/>
            </a:xfrm>
          </p:grpSpPr>
          <p:sp>
            <p:nvSpPr>
              <p:cNvPr id="385" name="Freeform 150"/>
              <p:cNvSpPr>
                <a:spLocks/>
              </p:cNvSpPr>
              <p:nvPr/>
            </p:nvSpPr>
            <p:spPr bwMode="auto">
              <a:xfrm>
                <a:off x="4349" y="2970"/>
                <a:ext cx="318" cy="314"/>
              </a:xfrm>
              <a:custGeom>
                <a:avLst/>
                <a:gdLst>
                  <a:gd name="T0" fmla="*/ 0 w 318"/>
                  <a:gd name="T1" fmla="*/ 86 h 314"/>
                  <a:gd name="T2" fmla="*/ 0 w 318"/>
                  <a:gd name="T3" fmla="*/ 314 h 314"/>
                  <a:gd name="T4" fmla="*/ 318 w 318"/>
                  <a:gd name="T5" fmla="*/ 185 h 314"/>
                  <a:gd name="T6" fmla="*/ 318 w 318"/>
                  <a:gd name="T7" fmla="*/ 0 h 314"/>
                  <a:gd name="T8" fmla="*/ 0 w 318"/>
                  <a:gd name="T9" fmla="*/ 86 h 314"/>
                  <a:gd name="T10" fmla="*/ 0 60000 65536"/>
                  <a:gd name="T11" fmla="*/ 0 60000 65536"/>
                  <a:gd name="T12" fmla="*/ 0 60000 65536"/>
                  <a:gd name="T13" fmla="*/ 0 60000 65536"/>
                  <a:gd name="T14" fmla="*/ 0 60000 65536"/>
                  <a:gd name="T15" fmla="*/ 0 w 318"/>
                  <a:gd name="T16" fmla="*/ 0 h 314"/>
                  <a:gd name="T17" fmla="*/ 318 w 318"/>
                  <a:gd name="T18" fmla="*/ 314 h 314"/>
                </a:gdLst>
                <a:ahLst/>
                <a:cxnLst>
                  <a:cxn ang="T10">
                    <a:pos x="T0" y="T1"/>
                  </a:cxn>
                  <a:cxn ang="T11">
                    <a:pos x="T2" y="T3"/>
                  </a:cxn>
                  <a:cxn ang="T12">
                    <a:pos x="T4" y="T5"/>
                  </a:cxn>
                  <a:cxn ang="T13">
                    <a:pos x="T6" y="T7"/>
                  </a:cxn>
                  <a:cxn ang="T14">
                    <a:pos x="T8" y="T9"/>
                  </a:cxn>
                </a:cxnLst>
                <a:rect l="T15" t="T16" r="T17" b="T18"/>
                <a:pathLst>
                  <a:path w="318" h="314">
                    <a:moveTo>
                      <a:pt x="0" y="86"/>
                    </a:moveTo>
                    <a:lnTo>
                      <a:pt x="0" y="314"/>
                    </a:lnTo>
                    <a:lnTo>
                      <a:pt x="318" y="185"/>
                    </a:lnTo>
                    <a:lnTo>
                      <a:pt x="318" y="0"/>
                    </a:lnTo>
                    <a:lnTo>
                      <a:pt x="0" y="86"/>
                    </a:lnTo>
                    <a:close/>
                  </a:path>
                </a:pathLst>
              </a:custGeom>
              <a:solidFill>
                <a:srgbClr val="66FF99"/>
              </a:solidFill>
              <a:ln w="9525">
                <a:noFill/>
                <a:round/>
                <a:headEnd/>
                <a:tailEnd/>
              </a:ln>
            </p:spPr>
            <p:txBody>
              <a:bodyPr/>
              <a:lstStyle/>
              <a:p>
                <a:endParaRPr lang="en-US"/>
              </a:p>
            </p:txBody>
          </p:sp>
          <p:sp>
            <p:nvSpPr>
              <p:cNvPr id="386" name="Freeform 151"/>
              <p:cNvSpPr>
                <a:spLocks/>
              </p:cNvSpPr>
              <p:nvPr/>
            </p:nvSpPr>
            <p:spPr bwMode="auto">
              <a:xfrm>
                <a:off x="4349" y="2970"/>
                <a:ext cx="318" cy="314"/>
              </a:xfrm>
              <a:custGeom>
                <a:avLst/>
                <a:gdLst>
                  <a:gd name="T0" fmla="*/ 0 w 318"/>
                  <a:gd name="T1" fmla="*/ 86 h 314"/>
                  <a:gd name="T2" fmla="*/ 0 w 318"/>
                  <a:gd name="T3" fmla="*/ 314 h 314"/>
                  <a:gd name="T4" fmla="*/ 318 w 318"/>
                  <a:gd name="T5" fmla="*/ 185 h 314"/>
                  <a:gd name="T6" fmla="*/ 318 w 318"/>
                  <a:gd name="T7" fmla="*/ 0 h 314"/>
                  <a:gd name="T8" fmla="*/ 0 w 318"/>
                  <a:gd name="T9" fmla="*/ 86 h 314"/>
                  <a:gd name="T10" fmla="*/ 0 60000 65536"/>
                  <a:gd name="T11" fmla="*/ 0 60000 65536"/>
                  <a:gd name="T12" fmla="*/ 0 60000 65536"/>
                  <a:gd name="T13" fmla="*/ 0 60000 65536"/>
                  <a:gd name="T14" fmla="*/ 0 60000 65536"/>
                  <a:gd name="T15" fmla="*/ 0 w 318"/>
                  <a:gd name="T16" fmla="*/ 0 h 314"/>
                  <a:gd name="T17" fmla="*/ 318 w 318"/>
                  <a:gd name="T18" fmla="*/ 314 h 314"/>
                </a:gdLst>
                <a:ahLst/>
                <a:cxnLst>
                  <a:cxn ang="T10">
                    <a:pos x="T0" y="T1"/>
                  </a:cxn>
                  <a:cxn ang="T11">
                    <a:pos x="T2" y="T3"/>
                  </a:cxn>
                  <a:cxn ang="T12">
                    <a:pos x="T4" y="T5"/>
                  </a:cxn>
                  <a:cxn ang="T13">
                    <a:pos x="T6" y="T7"/>
                  </a:cxn>
                  <a:cxn ang="T14">
                    <a:pos x="T8" y="T9"/>
                  </a:cxn>
                </a:cxnLst>
                <a:rect l="T15" t="T16" r="T17" b="T18"/>
                <a:pathLst>
                  <a:path w="318" h="314">
                    <a:moveTo>
                      <a:pt x="0" y="86"/>
                    </a:moveTo>
                    <a:lnTo>
                      <a:pt x="0" y="314"/>
                    </a:lnTo>
                    <a:lnTo>
                      <a:pt x="318" y="185"/>
                    </a:lnTo>
                    <a:lnTo>
                      <a:pt x="318" y="0"/>
                    </a:lnTo>
                    <a:lnTo>
                      <a:pt x="0" y="86"/>
                    </a:lnTo>
                  </a:path>
                </a:pathLst>
              </a:custGeom>
              <a:noFill/>
              <a:ln w="5">
                <a:solidFill>
                  <a:srgbClr val="000000"/>
                </a:solidFill>
                <a:round/>
                <a:headEnd/>
                <a:tailEnd/>
              </a:ln>
            </p:spPr>
            <p:txBody>
              <a:bodyPr/>
              <a:lstStyle/>
              <a:p>
                <a:endParaRPr lang="en-US"/>
              </a:p>
            </p:txBody>
          </p:sp>
        </p:grpSp>
        <p:sp>
          <p:nvSpPr>
            <p:cNvPr id="326" name="Line 153"/>
            <p:cNvSpPr>
              <a:spLocks noChangeShapeType="1"/>
            </p:cNvSpPr>
            <p:nvPr/>
          </p:nvSpPr>
          <p:spPr bwMode="auto">
            <a:xfrm flipV="1">
              <a:off x="3573463" y="4007643"/>
              <a:ext cx="454025" cy="168275"/>
            </a:xfrm>
            <a:prstGeom prst="line">
              <a:avLst/>
            </a:prstGeom>
            <a:noFill/>
            <a:ln w="5">
              <a:solidFill>
                <a:srgbClr val="000000"/>
              </a:solidFill>
              <a:round/>
              <a:headEnd/>
              <a:tailEnd/>
            </a:ln>
          </p:spPr>
          <p:txBody>
            <a:bodyPr/>
            <a:lstStyle/>
            <a:p>
              <a:endParaRPr lang="en-US"/>
            </a:p>
          </p:txBody>
        </p:sp>
        <p:sp>
          <p:nvSpPr>
            <p:cNvPr id="327" name="Line 154"/>
            <p:cNvSpPr>
              <a:spLocks noChangeShapeType="1"/>
            </p:cNvSpPr>
            <p:nvPr/>
          </p:nvSpPr>
          <p:spPr bwMode="auto">
            <a:xfrm flipV="1">
              <a:off x="3571875" y="4028280"/>
              <a:ext cx="457200" cy="192088"/>
            </a:xfrm>
            <a:prstGeom prst="line">
              <a:avLst/>
            </a:prstGeom>
            <a:noFill/>
            <a:ln w="5">
              <a:solidFill>
                <a:srgbClr val="000000"/>
              </a:solidFill>
              <a:round/>
              <a:headEnd/>
              <a:tailEnd/>
            </a:ln>
          </p:spPr>
          <p:txBody>
            <a:bodyPr/>
            <a:lstStyle/>
            <a:p>
              <a:endParaRPr lang="en-US"/>
            </a:p>
          </p:txBody>
        </p:sp>
        <p:sp>
          <p:nvSpPr>
            <p:cNvPr id="328" name="Rectangle 155"/>
            <p:cNvSpPr>
              <a:spLocks noChangeArrowheads="1"/>
            </p:cNvSpPr>
            <p:nvPr/>
          </p:nvSpPr>
          <p:spPr bwMode="auto">
            <a:xfrm>
              <a:off x="2874963" y="4080668"/>
              <a:ext cx="38100" cy="36513"/>
            </a:xfrm>
            <a:prstGeom prst="rect">
              <a:avLst/>
            </a:prstGeom>
            <a:solidFill>
              <a:srgbClr val="CCFFFF"/>
            </a:solidFill>
            <a:ln w="5">
              <a:solidFill>
                <a:srgbClr val="000000"/>
              </a:solidFill>
              <a:miter lim="800000"/>
              <a:headEnd/>
              <a:tailEnd/>
            </a:ln>
          </p:spPr>
          <p:txBody>
            <a:bodyPr/>
            <a:lstStyle/>
            <a:p>
              <a:endParaRPr lang="en-US" sz="1800" b="0">
                <a:latin typeface="Arial" charset="0"/>
              </a:endParaRPr>
            </a:p>
          </p:txBody>
        </p:sp>
        <p:grpSp>
          <p:nvGrpSpPr>
            <p:cNvPr id="329" name="Group 158"/>
            <p:cNvGrpSpPr>
              <a:grpSpLocks/>
            </p:cNvGrpSpPr>
            <p:nvPr/>
          </p:nvGrpSpPr>
          <p:grpSpPr bwMode="auto">
            <a:xfrm>
              <a:off x="2952750" y="4118768"/>
              <a:ext cx="377825" cy="55563"/>
              <a:chOff x="3976" y="3197"/>
              <a:chExt cx="238" cy="35"/>
            </a:xfrm>
          </p:grpSpPr>
          <p:sp>
            <p:nvSpPr>
              <p:cNvPr id="383" name="Freeform 156"/>
              <p:cNvSpPr>
                <a:spLocks/>
              </p:cNvSpPr>
              <p:nvPr/>
            </p:nvSpPr>
            <p:spPr bwMode="auto">
              <a:xfrm>
                <a:off x="3976" y="3197"/>
                <a:ext cx="238" cy="35"/>
              </a:xfrm>
              <a:custGeom>
                <a:avLst/>
                <a:gdLst>
                  <a:gd name="T0" fmla="*/ 0 w 238"/>
                  <a:gd name="T1" fmla="*/ 0 h 35"/>
                  <a:gd name="T2" fmla="*/ 0 w 238"/>
                  <a:gd name="T3" fmla="*/ 24 h 35"/>
                  <a:gd name="T4" fmla="*/ 3 w 238"/>
                  <a:gd name="T5" fmla="*/ 32 h 35"/>
                  <a:gd name="T6" fmla="*/ 17 w 238"/>
                  <a:gd name="T7" fmla="*/ 35 h 35"/>
                  <a:gd name="T8" fmla="*/ 187 w 238"/>
                  <a:gd name="T9" fmla="*/ 35 h 35"/>
                  <a:gd name="T10" fmla="*/ 199 w 238"/>
                  <a:gd name="T11" fmla="*/ 32 h 35"/>
                  <a:gd name="T12" fmla="*/ 210 w 238"/>
                  <a:gd name="T13" fmla="*/ 27 h 35"/>
                  <a:gd name="T14" fmla="*/ 238 w 238"/>
                  <a:gd name="T15" fmla="*/ 0 h 35"/>
                  <a:gd name="T16" fmla="*/ 213 w 238"/>
                  <a:gd name="T17" fmla="*/ 0 h 35"/>
                  <a:gd name="T18" fmla="*/ 197 w 238"/>
                  <a:gd name="T19" fmla="*/ 21 h 35"/>
                  <a:gd name="T20" fmla="*/ 191 w 238"/>
                  <a:gd name="T21" fmla="*/ 24 h 35"/>
                  <a:gd name="T22" fmla="*/ 20 w 238"/>
                  <a:gd name="T23" fmla="*/ 24 h 35"/>
                  <a:gd name="T24" fmla="*/ 15 w 238"/>
                  <a:gd name="T25" fmla="*/ 21 h 35"/>
                  <a:gd name="T26" fmla="*/ 12 w 238"/>
                  <a:gd name="T27" fmla="*/ 14 h 35"/>
                  <a:gd name="T28" fmla="*/ 12 w 238"/>
                  <a:gd name="T29" fmla="*/ 0 h 35"/>
                  <a:gd name="T30" fmla="*/ 0 w 238"/>
                  <a:gd name="T31" fmla="*/ 0 h 3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8"/>
                  <a:gd name="T49" fmla="*/ 0 h 35"/>
                  <a:gd name="T50" fmla="*/ 238 w 238"/>
                  <a:gd name="T51" fmla="*/ 35 h 3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8" h="35">
                    <a:moveTo>
                      <a:pt x="0" y="0"/>
                    </a:moveTo>
                    <a:lnTo>
                      <a:pt x="0" y="24"/>
                    </a:lnTo>
                    <a:lnTo>
                      <a:pt x="3" y="32"/>
                    </a:lnTo>
                    <a:lnTo>
                      <a:pt x="17" y="35"/>
                    </a:lnTo>
                    <a:lnTo>
                      <a:pt x="187" y="35"/>
                    </a:lnTo>
                    <a:lnTo>
                      <a:pt x="199" y="32"/>
                    </a:lnTo>
                    <a:lnTo>
                      <a:pt x="210" y="27"/>
                    </a:lnTo>
                    <a:lnTo>
                      <a:pt x="238" y="0"/>
                    </a:lnTo>
                    <a:lnTo>
                      <a:pt x="213" y="0"/>
                    </a:lnTo>
                    <a:lnTo>
                      <a:pt x="197" y="21"/>
                    </a:lnTo>
                    <a:lnTo>
                      <a:pt x="191" y="24"/>
                    </a:lnTo>
                    <a:lnTo>
                      <a:pt x="20" y="24"/>
                    </a:lnTo>
                    <a:lnTo>
                      <a:pt x="15" y="21"/>
                    </a:lnTo>
                    <a:lnTo>
                      <a:pt x="12" y="14"/>
                    </a:lnTo>
                    <a:lnTo>
                      <a:pt x="12" y="0"/>
                    </a:lnTo>
                    <a:lnTo>
                      <a:pt x="0" y="0"/>
                    </a:lnTo>
                    <a:close/>
                  </a:path>
                </a:pathLst>
              </a:custGeom>
              <a:solidFill>
                <a:srgbClr val="000000"/>
              </a:solidFill>
              <a:ln w="9525">
                <a:noFill/>
                <a:round/>
                <a:headEnd/>
                <a:tailEnd/>
              </a:ln>
            </p:spPr>
            <p:txBody>
              <a:bodyPr/>
              <a:lstStyle/>
              <a:p>
                <a:endParaRPr lang="en-US"/>
              </a:p>
            </p:txBody>
          </p:sp>
          <p:sp>
            <p:nvSpPr>
              <p:cNvPr id="384" name="Freeform 157"/>
              <p:cNvSpPr>
                <a:spLocks/>
              </p:cNvSpPr>
              <p:nvPr/>
            </p:nvSpPr>
            <p:spPr bwMode="auto">
              <a:xfrm>
                <a:off x="3976" y="3197"/>
                <a:ext cx="238" cy="35"/>
              </a:xfrm>
              <a:custGeom>
                <a:avLst/>
                <a:gdLst>
                  <a:gd name="T0" fmla="*/ 0 w 238"/>
                  <a:gd name="T1" fmla="*/ 0 h 35"/>
                  <a:gd name="T2" fmla="*/ 0 w 238"/>
                  <a:gd name="T3" fmla="*/ 24 h 35"/>
                  <a:gd name="T4" fmla="*/ 3 w 238"/>
                  <a:gd name="T5" fmla="*/ 32 h 35"/>
                  <a:gd name="T6" fmla="*/ 17 w 238"/>
                  <a:gd name="T7" fmla="*/ 35 h 35"/>
                  <a:gd name="T8" fmla="*/ 187 w 238"/>
                  <a:gd name="T9" fmla="*/ 35 h 35"/>
                  <a:gd name="T10" fmla="*/ 199 w 238"/>
                  <a:gd name="T11" fmla="*/ 32 h 35"/>
                  <a:gd name="T12" fmla="*/ 210 w 238"/>
                  <a:gd name="T13" fmla="*/ 27 h 35"/>
                  <a:gd name="T14" fmla="*/ 238 w 238"/>
                  <a:gd name="T15" fmla="*/ 0 h 35"/>
                  <a:gd name="T16" fmla="*/ 213 w 238"/>
                  <a:gd name="T17" fmla="*/ 0 h 35"/>
                  <a:gd name="T18" fmla="*/ 197 w 238"/>
                  <a:gd name="T19" fmla="*/ 21 h 35"/>
                  <a:gd name="T20" fmla="*/ 191 w 238"/>
                  <a:gd name="T21" fmla="*/ 24 h 35"/>
                  <a:gd name="T22" fmla="*/ 20 w 238"/>
                  <a:gd name="T23" fmla="*/ 24 h 35"/>
                  <a:gd name="T24" fmla="*/ 15 w 238"/>
                  <a:gd name="T25" fmla="*/ 21 h 35"/>
                  <a:gd name="T26" fmla="*/ 12 w 238"/>
                  <a:gd name="T27" fmla="*/ 14 h 35"/>
                  <a:gd name="T28" fmla="*/ 12 w 238"/>
                  <a:gd name="T29" fmla="*/ 0 h 35"/>
                  <a:gd name="T30" fmla="*/ 0 w 238"/>
                  <a:gd name="T31" fmla="*/ 0 h 3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8"/>
                  <a:gd name="T49" fmla="*/ 0 h 35"/>
                  <a:gd name="T50" fmla="*/ 238 w 238"/>
                  <a:gd name="T51" fmla="*/ 35 h 3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8" h="35">
                    <a:moveTo>
                      <a:pt x="0" y="0"/>
                    </a:moveTo>
                    <a:lnTo>
                      <a:pt x="0" y="24"/>
                    </a:lnTo>
                    <a:lnTo>
                      <a:pt x="3" y="32"/>
                    </a:lnTo>
                    <a:lnTo>
                      <a:pt x="17" y="35"/>
                    </a:lnTo>
                    <a:lnTo>
                      <a:pt x="187" y="35"/>
                    </a:lnTo>
                    <a:lnTo>
                      <a:pt x="199" y="32"/>
                    </a:lnTo>
                    <a:lnTo>
                      <a:pt x="210" y="27"/>
                    </a:lnTo>
                    <a:lnTo>
                      <a:pt x="238" y="0"/>
                    </a:lnTo>
                    <a:lnTo>
                      <a:pt x="213" y="0"/>
                    </a:lnTo>
                    <a:lnTo>
                      <a:pt x="197" y="21"/>
                    </a:lnTo>
                    <a:lnTo>
                      <a:pt x="191" y="24"/>
                    </a:lnTo>
                    <a:lnTo>
                      <a:pt x="20" y="24"/>
                    </a:lnTo>
                    <a:lnTo>
                      <a:pt x="15" y="21"/>
                    </a:lnTo>
                    <a:lnTo>
                      <a:pt x="12" y="14"/>
                    </a:lnTo>
                    <a:lnTo>
                      <a:pt x="12" y="0"/>
                    </a:lnTo>
                    <a:lnTo>
                      <a:pt x="0" y="0"/>
                    </a:lnTo>
                  </a:path>
                </a:pathLst>
              </a:custGeom>
              <a:noFill/>
              <a:ln w="5">
                <a:solidFill>
                  <a:srgbClr val="000000"/>
                </a:solidFill>
                <a:round/>
                <a:headEnd/>
                <a:tailEnd/>
              </a:ln>
            </p:spPr>
            <p:txBody>
              <a:bodyPr/>
              <a:lstStyle/>
              <a:p>
                <a:endParaRPr lang="en-US"/>
              </a:p>
            </p:txBody>
          </p:sp>
        </p:grpSp>
        <p:sp>
          <p:nvSpPr>
            <p:cNvPr id="330" name="Rectangle 159"/>
            <p:cNvSpPr>
              <a:spLocks noChangeArrowheads="1"/>
            </p:cNvSpPr>
            <p:nvPr/>
          </p:nvSpPr>
          <p:spPr bwMode="auto">
            <a:xfrm>
              <a:off x="2957513" y="4080668"/>
              <a:ext cx="371475" cy="36513"/>
            </a:xfrm>
            <a:prstGeom prst="rect">
              <a:avLst/>
            </a:prstGeom>
            <a:solidFill>
              <a:srgbClr val="CCFFFF"/>
            </a:solidFill>
            <a:ln w="5">
              <a:solidFill>
                <a:srgbClr val="000000"/>
              </a:solidFill>
              <a:miter lim="800000"/>
              <a:headEnd/>
              <a:tailEnd/>
            </a:ln>
          </p:spPr>
          <p:txBody>
            <a:bodyPr/>
            <a:lstStyle/>
            <a:p>
              <a:endParaRPr lang="en-US" sz="1800" b="0">
                <a:latin typeface="Arial" charset="0"/>
              </a:endParaRPr>
            </a:p>
          </p:txBody>
        </p:sp>
        <p:grpSp>
          <p:nvGrpSpPr>
            <p:cNvPr id="331" name="Group 162"/>
            <p:cNvGrpSpPr>
              <a:grpSpLocks/>
            </p:cNvGrpSpPr>
            <p:nvPr/>
          </p:nvGrpSpPr>
          <p:grpSpPr bwMode="auto">
            <a:xfrm>
              <a:off x="2860675" y="4118768"/>
              <a:ext cx="55563" cy="20638"/>
              <a:chOff x="3918" y="3197"/>
              <a:chExt cx="35" cy="13"/>
            </a:xfrm>
          </p:grpSpPr>
          <p:sp>
            <p:nvSpPr>
              <p:cNvPr id="381" name="Freeform 160"/>
              <p:cNvSpPr>
                <a:spLocks/>
              </p:cNvSpPr>
              <p:nvPr/>
            </p:nvSpPr>
            <p:spPr bwMode="auto">
              <a:xfrm>
                <a:off x="3918" y="3197"/>
                <a:ext cx="35" cy="13"/>
              </a:xfrm>
              <a:custGeom>
                <a:avLst/>
                <a:gdLst>
                  <a:gd name="T0" fmla="*/ 5 w 35"/>
                  <a:gd name="T1" fmla="*/ 0 h 13"/>
                  <a:gd name="T2" fmla="*/ 0 w 35"/>
                  <a:gd name="T3" fmla="*/ 13 h 13"/>
                  <a:gd name="T4" fmla="*/ 26 w 35"/>
                  <a:gd name="T5" fmla="*/ 13 h 13"/>
                  <a:gd name="T6" fmla="*/ 35 w 35"/>
                  <a:gd name="T7" fmla="*/ 0 h 13"/>
                  <a:gd name="T8" fmla="*/ 5 w 35"/>
                  <a:gd name="T9" fmla="*/ 0 h 13"/>
                  <a:gd name="T10" fmla="*/ 0 60000 65536"/>
                  <a:gd name="T11" fmla="*/ 0 60000 65536"/>
                  <a:gd name="T12" fmla="*/ 0 60000 65536"/>
                  <a:gd name="T13" fmla="*/ 0 60000 65536"/>
                  <a:gd name="T14" fmla="*/ 0 60000 65536"/>
                  <a:gd name="T15" fmla="*/ 0 w 35"/>
                  <a:gd name="T16" fmla="*/ 0 h 13"/>
                  <a:gd name="T17" fmla="*/ 35 w 35"/>
                  <a:gd name="T18" fmla="*/ 13 h 13"/>
                </a:gdLst>
                <a:ahLst/>
                <a:cxnLst>
                  <a:cxn ang="T10">
                    <a:pos x="T0" y="T1"/>
                  </a:cxn>
                  <a:cxn ang="T11">
                    <a:pos x="T2" y="T3"/>
                  </a:cxn>
                  <a:cxn ang="T12">
                    <a:pos x="T4" y="T5"/>
                  </a:cxn>
                  <a:cxn ang="T13">
                    <a:pos x="T6" y="T7"/>
                  </a:cxn>
                  <a:cxn ang="T14">
                    <a:pos x="T8" y="T9"/>
                  </a:cxn>
                </a:cxnLst>
                <a:rect l="T15" t="T16" r="T17" b="T18"/>
                <a:pathLst>
                  <a:path w="35" h="13">
                    <a:moveTo>
                      <a:pt x="5" y="0"/>
                    </a:moveTo>
                    <a:lnTo>
                      <a:pt x="0" y="13"/>
                    </a:lnTo>
                    <a:lnTo>
                      <a:pt x="26" y="13"/>
                    </a:lnTo>
                    <a:lnTo>
                      <a:pt x="35" y="0"/>
                    </a:lnTo>
                    <a:lnTo>
                      <a:pt x="5" y="0"/>
                    </a:lnTo>
                    <a:close/>
                  </a:path>
                </a:pathLst>
              </a:custGeom>
              <a:solidFill>
                <a:srgbClr val="000000"/>
              </a:solidFill>
              <a:ln w="9525">
                <a:noFill/>
                <a:round/>
                <a:headEnd/>
                <a:tailEnd/>
              </a:ln>
            </p:spPr>
            <p:txBody>
              <a:bodyPr/>
              <a:lstStyle/>
              <a:p>
                <a:endParaRPr lang="en-US"/>
              </a:p>
            </p:txBody>
          </p:sp>
          <p:sp>
            <p:nvSpPr>
              <p:cNvPr id="382" name="Freeform 161"/>
              <p:cNvSpPr>
                <a:spLocks/>
              </p:cNvSpPr>
              <p:nvPr/>
            </p:nvSpPr>
            <p:spPr bwMode="auto">
              <a:xfrm>
                <a:off x="3918" y="3197"/>
                <a:ext cx="35" cy="13"/>
              </a:xfrm>
              <a:custGeom>
                <a:avLst/>
                <a:gdLst>
                  <a:gd name="T0" fmla="*/ 5 w 35"/>
                  <a:gd name="T1" fmla="*/ 0 h 13"/>
                  <a:gd name="T2" fmla="*/ 0 w 35"/>
                  <a:gd name="T3" fmla="*/ 13 h 13"/>
                  <a:gd name="T4" fmla="*/ 26 w 35"/>
                  <a:gd name="T5" fmla="*/ 13 h 13"/>
                  <a:gd name="T6" fmla="*/ 35 w 35"/>
                  <a:gd name="T7" fmla="*/ 0 h 13"/>
                  <a:gd name="T8" fmla="*/ 5 w 35"/>
                  <a:gd name="T9" fmla="*/ 0 h 13"/>
                  <a:gd name="T10" fmla="*/ 0 60000 65536"/>
                  <a:gd name="T11" fmla="*/ 0 60000 65536"/>
                  <a:gd name="T12" fmla="*/ 0 60000 65536"/>
                  <a:gd name="T13" fmla="*/ 0 60000 65536"/>
                  <a:gd name="T14" fmla="*/ 0 60000 65536"/>
                  <a:gd name="T15" fmla="*/ 0 w 35"/>
                  <a:gd name="T16" fmla="*/ 0 h 13"/>
                  <a:gd name="T17" fmla="*/ 35 w 35"/>
                  <a:gd name="T18" fmla="*/ 13 h 13"/>
                </a:gdLst>
                <a:ahLst/>
                <a:cxnLst>
                  <a:cxn ang="T10">
                    <a:pos x="T0" y="T1"/>
                  </a:cxn>
                  <a:cxn ang="T11">
                    <a:pos x="T2" y="T3"/>
                  </a:cxn>
                  <a:cxn ang="T12">
                    <a:pos x="T4" y="T5"/>
                  </a:cxn>
                  <a:cxn ang="T13">
                    <a:pos x="T6" y="T7"/>
                  </a:cxn>
                  <a:cxn ang="T14">
                    <a:pos x="T8" y="T9"/>
                  </a:cxn>
                </a:cxnLst>
                <a:rect l="T15" t="T16" r="T17" b="T18"/>
                <a:pathLst>
                  <a:path w="35" h="13">
                    <a:moveTo>
                      <a:pt x="5" y="0"/>
                    </a:moveTo>
                    <a:lnTo>
                      <a:pt x="0" y="13"/>
                    </a:lnTo>
                    <a:lnTo>
                      <a:pt x="26" y="13"/>
                    </a:lnTo>
                    <a:lnTo>
                      <a:pt x="35" y="0"/>
                    </a:lnTo>
                    <a:lnTo>
                      <a:pt x="5" y="0"/>
                    </a:lnTo>
                  </a:path>
                </a:pathLst>
              </a:custGeom>
              <a:noFill/>
              <a:ln w="5">
                <a:solidFill>
                  <a:srgbClr val="000000"/>
                </a:solidFill>
                <a:round/>
                <a:headEnd/>
                <a:tailEnd/>
              </a:ln>
            </p:spPr>
            <p:txBody>
              <a:bodyPr/>
              <a:lstStyle/>
              <a:p>
                <a:endParaRPr lang="en-US"/>
              </a:p>
            </p:txBody>
          </p:sp>
        </p:grpSp>
        <p:sp>
          <p:nvSpPr>
            <p:cNvPr id="332" name="Rectangle 163"/>
            <p:cNvSpPr>
              <a:spLocks noChangeArrowheads="1"/>
            </p:cNvSpPr>
            <p:nvPr/>
          </p:nvSpPr>
          <p:spPr bwMode="auto">
            <a:xfrm>
              <a:off x="2830513" y="3698080"/>
              <a:ext cx="633413" cy="214313"/>
            </a:xfrm>
            <a:prstGeom prst="rect">
              <a:avLst/>
            </a:prstGeom>
            <a:noFill/>
            <a:ln w="9525">
              <a:noFill/>
              <a:miter lim="800000"/>
              <a:headEnd/>
              <a:tailEnd/>
            </a:ln>
          </p:spPr>
          <p:txBody>
            <a:bodyPr/>
            <a:lstStyle/>
            <a:p>
              <a:endParaRPr lang="en-US" sz="1800" b="0">
                <a:latin typeface="Arial" charset="0"/>
              </a:endParaRPr>
            </a:p>
          </p:txBody>
        </p:sp>
        <p:sp>
          <p:nvSpPr>
            <p:cNvPr id="333" name="Rectangle 164"/>
            <p:cNvSpPr>
              <a:spLocks noChangeArrowheads="1"/>
            </p:cNvSpPr>
            <p:nvPr/>
          </p:nvSpPr>
          <p:spPr bwMode="auto">
            <a:xfrm>
              <a:off x="2989263" y="3729830"/>
              <a:ext cx="406400" cy="193675"/>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cs typeface="Arial" charset="0"/>
                </a:rPr>
                <a:t>Cash</a:t>
              </a:r>
              <a:endParaRPr lang="en-US" sz="1800" b="0">
                <a:latin typeface="Arial" charset="0"/>
                <a:cs typeface="Arial" charset="0"/>
              </a:endParaRPr>
            </a:p>
          </p:txBody>
        </p:sp>
        <p:sp>
          <p:nvSpPr>
            <p:cNvPr id="334" name="Rectangle 165"/>
            <p:cNvSpPr>
              <a:spLocks noChangeArrowheads="1"/>
            </p:cNvSpPr>
            <p:nvPr/>
          </p:nvSpPr>
          <p:spPr bwMode="auto">
            <a:xfrm>
              <a:off x="2859088" y="3528218"/>
              <a:ext cx="730250" cy="155575"/>
            </a:xfrm>
            <a:prstGeom prst="rect">
              <a:avLst/>
            </a:prstGeom>
            <a:noFill/>
            <a:ln w="9525">
              <a:noFill/>
              <a:miter lim="800000"/>
              <a:headEnd/>
              <a:tailEnd/>
            </a:ln>
          </p:spPr>
          <p:txBody>
            <a:bodyPr/>
            <a:lstStyle/>
            <a:p>
              <a:endParaRPr lang="en-US" sz="1800" b="0">
                <a:latin typeface="Arial" charset="0"/>
              </a:endParaRPr>
            </a:p>
          </p:txBody>
        </p:sp>
        <p:sp>
          <p:nvSpPr>
            <p:cNvPr id="335" name="Rectangle 166"/>
            <p:cNvSpPr>
              <a:spLocks noChangeArrowheads="1"/>
            </p:cNvSpPr>
            <p:nvPr/>
          </p:nvSpPr>
          <p:spPr bwMode="auto">
            <a:xfrm>
              <a:off x="2916238" y="3559968"/>
              <a:ext cx="712788" cy="125413"/>
            </a:xfrm>
            <a:prstGeom prst="rect">
              <a:avLst/>
            </a:prstGeom>
            <a:noFill/>
            <a:ln w="9525">
              <a:noFill/>
              <a:miter lim="800000"/>
              <a:headEnd/>
              <a:tailEnd/>
            </a:ln>
          </p:spPr>
          <p:txBody>
            <a:bodyPr wrap="none" lIns="0" tIns="0" rIns="0" bIns="0">
              <a:spAutoFit/>
            </a:bodyPr>
            <a:lstStyle/>
            <a:p>
              <a:r>
                <a:rPr lang="en-US" sz="600">
                  <a:solidFill>
                    <a:srgbClr val="000000"/>
                  </a:solidFill>
                  <a:latin typeface="Arial" charset="0"/>
                  <a:cs typeface="Arial" charset="0"/>
                </a:rPr>
                <a:t>Account 001111</a:t>
              </a:r>
              <a:endParaRPr lang="en-US" sz="1800" b="0">
                <a:latin typeface="Arial" charset="0"/>
                <a:cs typeface="Arial" charset="0"/>
              </a:endParaRPr>
            </a:p>
          </p:txBody>
        </p:sp>
        <p:sp>
          <p:nvSpPr>
            <p:cNvPr id="336" name="Rectangle 167"/>
            <p:cNvSpPr>
              <a:spLocks noChangeArrowheads="1"/>
            </p:cNvSpPr>
            <p:nvPr/>
          </p:nvSpPr>
          <p:spPr bwMode="auto">
            <a:xfrm>
              <a:off x="2741613" y="3894930"/>
              <a:ext cx="793750" cy="176213"/>
            </a:xfrm>
            <a:prstGeom prst="rect">
              <a:avLst/>
            </a:prstGeom>
            <a:noFill/>
            <a:ln w="9525">
              <a:noFill/>
              <a:miter lim="800000"/>
              <a:headEnd/>
              <a:tailEnd/>
            </a:ln>
          </p:spPr>
          <p:txBody>
            <a:bodyPr/>
            <a:lstStyle/>
            <a:p>
              <a:endParaRPr lang="en-US" sz="1800" b="0">
                <a:latin typeface="Arial" charset="0"/>
              </a:endParaRPr>
            </a:p>
          </p:txBody>
        </p:sp>
        <p:sp>
          <p:nvSpPr>
            <p:cNvPr id="337" name="Rectangle 168"/>
            <p:cNvSpPr>
              <a:spLocks noChangeArrowheads="1"/>
            </p:cNvSpPr>
            <p:nvPr/>
          </p:nvSpPr>
          <p:spPr bwMode="auto">
            <a:xfrm>
              <a:off x="2800350" y="3926680"/>
              <a:ext cx="384175" cy="138113"/>
            </a:xfrm>
            <a:prstGeom prst="rect">
              <a:avLst/>
            </a:prstGeom>
            <a:noFill/>
            <a:ln w="9525">
              <a:noFill/>
              <a:miter lim="800000"/>
              <a:headEnd/>
              <a:tailEnd/>
            </a:ln>
          </p:spPr>
          <p:txBody>
            <a:bodyPr wrap="none" lIns="0" tIns="0" rIns="0" bIns="0">
              <a:spAutoFit/>
            </a:bodyPr>
            <a:lstStyle/>
            <a:p>
              <a:r>
                <a:rPr lang="en-US" sz="800" b="0">
                  <a:solidFill>
                    <a:srgbClr val="000000"/>
                  </a:solidFill>
                  <a:latin typeface="Arial" charset="0"/>
                  <a:cs typeface="Arial" charset="0"/>
                </a:rPr>
                <a:t>000000</a:t>
              </a:r>
              <a:endParaRPr lang="en-US" sz="1800" b="0">
                <a:latin typeface="Arial" charset="0"/>
                <a:cs typeface="Arial" charset="0"/>
              </a:endParaRPr>
            </a:p>
          </p:txBody>
        </p:sp>
        <p:sp>
          <p:nvSpPr>
            <p:cNvPr id="338" name="Rectangle 169"/>
            <p:cNvSpPr>
              <a:spLocks noChangeArrowheads="1"/>
            </p:cNvSpPr>
            <p:nvPr/>
          </p:nvSpPr>
          <p:spPr bwMode="auto">
            <a:xfrm>
              <a:off x="3124200" y="3926680"/>
              <a:ext cx="79375" cy="138113"/>
            </a:xfrm>
            <a:prstGeom prst="rect">
              <a:avLst/>
            </a:prstGeom>
            <a:noFill/>
            <a:ln w="9525">
              <a:noFill/>
              <a:miter lim="800000"/>
              <a:headEnd/>
              <a:tailEnd/>
            </a:ln>
          </p:spPr>
          <p:txBody>
            <a:bodyPr wrap="none" lIns="0" tIns="0" rIns="0" bIns="0">
              <a:spAutoFit/>
            </a:bodyPr>
            <a:lstStyle/>
            <a:p>
              <a:r>
                <a:rPr lang="en-US" sz="800" b="0">
                  <a:solidFill>
                    <a:srgbClr val="000000"/>
                  </a:solidFill>
                  <a:latin typeface="Arial" charset="0"/>
                  <a:cs typeface="Arial" charset="0"/>
                </a:rPr>
                <a:t>-</a:t>
              </a:r>
              <a:endParaRPr lang="en-US" sz="1800" b="0">
                <a:latin typeface="Arial" charset="0"/>
                <a:cs typeface="Arial" charset="0"/>
              </a:endParaRPr>
            </a:p>
          </p:txBody>
        </p:sp>
        <p:sp>
          <p:nvSpPr>
            <p:cNvPr id="339" name="Rectangle 170"/>
            <p:cNvSpPr>
              <a:spLocks noChangeArrowheads="1"/>
            </p:cNvSpPr>
            <p:nvPr/>
          </p:nvSpPr>
          <p:spPr bwMode="auto">
            <a:xfrm>
              <a:off x="3155950" y="3926680"/>
              <a:ext cx="384175" cy="138113"/>
            </a:xfrm>
            <a:prstGeom prst="rect">
              <a:avLst/>
            </a:prstGeom>
            <a:noFill/>
            <a:ln w="9525">
              <a:noFill/>
              <a:miter lim="800000"/>
              <a:headEnd/>
              <a:tailEnd/>
            </a:ln>
          </p:spPr>
          <p:txBody>
            <a:bodyPr wrap="none" lIns="0" tIns="0" rIns="0" bIns="0">
              <a:spAutoFit/>
            </a:bodyPr>
            <a:lstStyle/>
            <a:p>
              <a:r>
                <a:rPr lang="en-US" sz="800" b="0">
                  <a:solidFill>
                    <a:srgbClr val="000000"/>
                  </a:solidFill>
                  <a:latin typeface="Arial" charset="0"/>
                  <a:cs typeface="Arial" charset="0"/>
                </a:rPr>
                <a:t>099999</a:t>
              </a:r>
              <a:endParaRPr lang="en-US" sz="1800" b="0">
                <a:latin typeface="Arial" charset="0"/>
                <a:cs typeface="Arial" charset="0"/>
              </a:endParaRPr>
            </a:p>
          </p:txBody>
        </p:sp>
        <p:sp>
          <p:nvSpPr>
            <p:cNvPr id="340" name="Rectangle 171"/>
            <p:cNvSpPr>
              <a:spLocks noChangeArrowheads="1"/>
            </p:cNvSpPr>
            <p:nvPr/>
          </p:nvSpPr>
          <p:spPr bwMode="auto">
            <a:xfrm rot="20640000">
              <a:off x="3602038" y="3821905"/>
              <a:ext cx="411163" cy="138113"/>
            </a:xfrm>
            <a:prstGeom prst="rect">
              <a:avLst/>
            </a:prstGeom>
            <a:noFill/>
            <a:ln w="9525">
              <a:noFill/>
              <a:miter lim="800000"/>
              <a:headEnd/>
              <a:tailEnd/>
            </a:ln>
          </p:spPr>
          <p:txBody>
            <a:bodyPr wrap="none" lIns="0" tIns="0" rIns="0" bIns="0">
              <a:spAutoFit/>
            </a:bodyPr>
            <a:lstStyle/>
            <a:p>
              <a:r>
                <a:rPr lang="en-US" sz="800" b="0">
                  <a:solidFill>
                    <a:srgbClr val="000000"/>
                  </a:solidFill>
                  <a:latin typeface="Arial" charset="0"/>
                  <a:cs typeface="Arial" charset="0"/>
                </a:rPr>
                <a:t>Account</a:t>
              </a:r>
              <a:endParaRPr lang="en-US" sz="1800" b="0">
                <a:latin typeface="Arial" charset="0"/>
                <a:cs typeface="Arial" charset="0"/>
              </a:endParaRPr>
            </a:p>
          </p:txBody>
        </p:sp>
        <p:sp>
          <p:nvSpPr>
            <p:cNvPr id="341" name="Rectangle 172"/>
            <p:cNvSpPr>
              <a:spLocks noChangeArrowheads="1"/>
            </p:cNvSpPr>
            <p:nvPr/>
          </p:nvSpPr>
          <p:spPr bwMode="auto">
            <a:xfrm rot="20640000">
              <a:off x="3635375" y="3947318"/>
              <a:ext cx="306388" cy="138113"/>
            </a:xfrm>
            <a:prstGeom prst="rect">
              <a:avLst/>
            </a:prstGeom>
            <a:noFill/>
            <a:ln w="9525">
              <a:noFill/>
              <a:miter lim="800000"/>
              <a:headEnd/>
              <a:tailEnd/>
            </a:ln>
          </p:spPr>
          <p:txBody>
            <a:bodyPr wrap="none" lIns="0" tIns="0" rIns="0" bIns="0">
              <a:spAutoFit/>
            </a:bodyPr>
            <a:lstStyle/>
            <a:p>
              <a:r>
                <a:rPr lang="en-US" sz="800" b="0">
                  <a:solidFill>
                    <a:srgbClr val="000000"/>
                  </a:solidFill>
                  <a:latin typeface="Arial" charset="0"/>
                  <a:cs typeface="Arial" charset="0"/>
                </a:rPr>
                <a:t>group</a:t>
              </a:r>
              <a:endParaRPr lang="en-US" sz="1800" b="0">
                <a:latin typeface="Arial" charset="0"/>
                <a:cs typeface="Arial" charset="0"/>
              </a:endParaRPr>
            </a:p>
          </p:txBody>
        </p:sp>
        <p:sp>
          <p:nvSpPr>
            <p:cNvPr id="342" name="Rectangle 173"/>
            <p:cNvSpPr>
              <a:spLocks noChangeArrowheads="1"/>
            </p:cNvSpPr>
            <p:nvPr/>
          </p:nvSpPr>
          <p:spPr bwMode="auto">
            <a:xfrm>
              <a:off x="1954212" y="2732881"/>
              <a:ext cx="1350963" cy="587375"/>
            </a:xfrm>
            <a:prstGeom prst="rect">
              <a:avLst/>
            </a:prstGeom>
            <a:noFill/>
            <a:ln w="9525">
              <a:noFill/>
              <a:miter lim="800000"/>
              <a:headEnd/>
              <a:tailEnd/>
            </a:ln>
          </p:spPr>
          <p:txBody>
            <a:bodyPr/>
            <a:lstStyle/>
            <a:p>
              <a:endParaRPr lang="en-US" sz="1800" b="0">
                <a:latin typeface="Arial" charset="0"/>
              </a:endParaRPr>
            </a:p>
          </p:txBody>
        </p:sp>
        <p:sp>
          <p:nvSpPr>
            <p:cNvPr id="343" name="Rectangle 174"/>
            <p:cNvSpPr>
              <a:spLocks noChangeArrowheads="1"/>
            </p:cNvSpPr>
            <p:nvPr/>
          </p:nvSpPr>
          <p:spPr bwMode="auto">
            <a:xfrm>
              <a:off x="1981200" y="2770981"/>
              <a:ext cx="1317625" cy="200025"/>
            </a:xfrm>
            <a:prstGeom prst="rect">
              <a:avLst/>
            </a:prstGeom>
            <a:noFill/>
            <a:ln w="9525">
              <a:noFill/>
              <a:miter lim="800000"/>
              <a:headEnd/>
              <a:tailEnd/>
            </a:ln>
          </p:spPr>
          <p:txBody>
            <a:bodyPr wrap="none" lIns="0" tIns="0" rIns="0" bIns="0">
              <a:spAutoFit/>
            </a:bodyPr>
            <a:lstStyle/>
            <a:p>
              <a:r>
                <a:rPr lang="en-US" sz="1200" b="0">
                  <a:solidFill>
                    <a:srgbClr val="000000"/>
                  </a:solidFill>
                  <a:latin typeface="Arial" charset="0"/>
                  <a:cs typeface="Arial" charset="0"/>
                </a:rPr>
                <a:t>Account definition </a:t>
              </a:r>
              <a:endParaRPr lang="en-US" sz="1800" b="0">
                <a:latin typeface="Arial" charset="0"/>
                <a:cs typeface="Arial" charset="0"/>
              </a:endParaRPr>
            </a:p>
          </p:txBody>
        </p:sp>
        <p:sp>
          <p:nvSpPr>
            <p:cNvPr id="344" name="Rectangle 175"/>
            <p:cNvSpPr>
              <a:spLocks noChangeArrowheads="1"/>
            </p:cNvSpPr>
            <p:nvPr/>
          </p:nvSpPr>
          <p:spPr bwMode="auto">
            <a:xfrm>
              <a:off x="2235200" y="2947193"/>
              <a:ext cx="781050" cy="200025"/>
            </a:xfrm>
            <a:prstGeom prst="rect">
              <a:avLst/>
            </a:prstGeom>
            <a:noFill/>
            <a:ln w="9525">
              <a:noFill/>
              <a:miter lim="800000"/>
              <a:headEnd/>
              <a:tailEnd/>
            </a:ln>
          </p:spPr>
          <p:txBody>
            <a:bodyPr wrap="none" lIns="0" tIns="0" rIns="0" bIns="0">
              <a:spAutoFit/>
            </a:bodyPr>
            <a:lstStyle/>
            <a:p>
              <a:r>
                <a:rPr lang="en-US" sz="1200" b="0">
                  <a:solidFill>
                    <a:srgbClr val="000000"/>
                  </a:solidFill>
                  <a:latin typeface="Arial" charset="0"/>
                  <a:cs typeface="Arial" charset="0"/>
                </a:rPr>
                <a:t>in chart of </a:t>
              </a:r>
              <a:endParaRPr lang="en-US" sz="1800" b="0">
                <a:latin typeface="Arial" charset="0"/>
                <a:cs typeface="Arial" charset="0"/>
              </a:endParaRPr>
            </a:p>
          </p:txBody>
        </p:sp>
        <p:sp>
          <p:nvSpPr>
            <p:cNvPr id="345" name="Rectangle 176"/>
            <p:cNvSpPr>
              <a:spLocks noChangeArrowheads="1"/>
            </p:cNvSpPr>
            <p:nvPr/>
          </p:nvSpPr>
          <p:spPr bwMode="auto">
            <a:xfrm>
              <a:off x="2265363" y="3120230"/>
              <a:ext cx="679450" cy="200025"/>
            </a:xfrm>
            <a:prstGeom prst="rect">
              <a:avLst/>
            </a:prstGeom>
            <a:noFill/>
            <a:ln w="9525">
              <a:noFill/>
              <a:miter lim="800000"/>
              <a:headEnd/>
              <a:tailEnd/>
            </a:ln>
          </p:spPr>
          <p:txBody>
            <a:bodyPr wrap="none" lIns="0" tIns="0" rIns="0" bIns="0">
              <a:spAutoFit/>
            </a:bodyPr>
            <a:lstStyle/>
            <a:p>
              <a:r>
                <a:rPr lang="en-US" sz="1200" b="0">
                  <a:solidFill>
                    <a:srgbClr val="000000"/>
                  </a:solidFill>
                  <a:latin typeface="Arial" charset="0"/>
                  <a:cs typeface="Arial" charset="0"/>
                </a:rPr>
                <a:t>accounts</a:t>
              </a:r>
              <a:endParaRPr lang="en-US" sz="1800" b="0">
                <a:latin typeface="Arial" charset="0"/>
                <a:cs typeface="Arial" charset="0"/>
              </a:endParaRPr>
            </a:p>
          </p:txBody>
        </p:sp>
        <p:sp>
          <p:nvSpPr>
            <p:cNvPr id="347" name="Rectangle 178"/>
            <p:cNvSpPr>
              <a:spLocks noChangeArrowheads="1"/>
            </p:cNvSpPr>
            <p:nvPr/>
          </p:nvSpPr>
          <p:spPr bwMode="auto">
            <a:xfrm>
              <a:off x="2448719" y="2189163"/>
              <a:ext cx="1647825" cy="200025"/>
            </a:xfrm>
            <a:prstGeom prst="rect">
              <a:avLst/>
            </a:prstGeom>
            <a:noFill/>
            <a:ln w="9525">
              <a:noFill/>
              <a:miter lim="800000"/>
              <a:headEnd/>
              <a:tailEnd/>
            </a:ln>
          </p:spPr>
          <p:txBody>
            <a:bodyPr wrap="none" lIns="0" tIns="0" rIns="0" bIns="0">
              <a:spAutoFit/>
            </a:bodyPr>
            <a:lstStyle/>
            <a:p>
              <a:r>
                <a:rPr lang="en-US" sz="1200" b="0" dirty="0">
                  <a:solidFill>
                    <a:srgbClr val="000000"/>
                  </a:solidFill>
                  <a:latin typeface="Arial" charset="0"/>
                  <a:cs typeface="Arial" charset="0"/>
                </a:rPr>
                <a:t>Company code specific</a:t>
              </a:r>
              <a:endParaRPr lang="en-US" sz="1800" b="0" dirty="0">
                <a:latin typeface="Arial" charset="0"/>
                <a:cs typeface="Arial" charset="0"/>
              </a:endParaRPr>
            </a:p>
          </p:txBody>
        </p:sp>
        <p:sp>
          <p:nvSpPr>
            <p:cNvPr id="348" name="Rectangle 179"/>
            <p:cNvSpPr>
              <a:spLocks noChangeArrowheads="1"/>
            </p:cNvSpPr>
            <p:nvPr/>
          </p:nvSpPr>
          <p:spPr bwMode="auto">
            <a:xfrm>
              <a:off x="3278188" y="2364581"/>
              <a:ext cx="595313" cy="200025"/>
            </a:xfrm>
            <a:prstGeom prst="rect">
              <a:avLst/>
            </a:prstGeom>
            <a:noFill/>
            <a:ln w="9525">
              <a:noFill/>
              <a:miter lim="800000"/>
              <a:headEnd/>
              <a:tailEnd/>
            </a:ln>
          </p:spPr>
          <p:txBody>
            <a:bodyPr wrap="none" lIns="0" tIns="0" rIns="0" bIns="0">
              <a:spAutoFit/>
            </a:bodyPr>
            <a:lstStyle/>
            <a:p>
              <a:r>
                <a:rPr lang="en-US" sz="1200" b="0">
                  <a:solidFill>
                    <a:srgbClr val="000000"/>
                  </a:solidFill>
                  <a:latin typeface="Arial" charset="0"/>
                  <a:cs typeface="Arial" charset="0"/>
                </a:rPr>
                <a:t>settings</a:t>
              </a:r>
              <a:endParaRPr lang="en-US" sz="1800" b="0">
                <a:latin typeface="Arial" charset="0"/>
                <a:cs typeface="Arial" charset="0"/>
              </a:endParaRPr>
            </a:p>
          </p:txBody>
        </p:sp>
        <p:grpSp>
          <p:nvGrpSpPr>
            <p:cNvPr id="349" name="Group 182"/>
            <p:cNvGrpSpPr>
              <a:grpSpLocks/>
            </p:cNvGrpSpPr>
            <p:nvPr/>
          </p:nvGrpSpPr>
          <p:grpSpPr bwMode="auto">
            <a:xfrm>
              <a:off x="2557463" y="3315493"/>
              <a:ext cx="301625" cy="314325"/>
              <a:chOff x="3727" y="2691"/>
              <a:chExt cx="190" cy="198"/>
            </a:xfrm>
          </p:grpSpPr>
          <p:sp>
            <p:nvSpPr>
              <p:cNvPr id="379" name="Freeform 180"/>
              <p:cNvSpPr>
                <a:spLocks/>
              </p:cNvSpPr>
              <p:nvPr/>
            </p:nvSpPr>
            <p:spPr bwMode="auto">
              <a:xfrm>
                <a:off x="3727" y="2691"/>
                <a:ext cx="147" cy="175"/>
              </a:xfrm>
              <a:custGeom>
                <a:avLst/>
                <a:gdLst>
                  <a:gd name="T0" fmla="*/ 0 w 147"/>
                  <a:gd name="T1" fmla="*/ 0 h 175"/>
                  <a:gd name="T2" fmla="*/ 1 w 147"/>
                  <a:gd name="T3" fmla="*/ 14 h 175"/>
                  <a:gd name="T4" fmla="*/ 3 w 147"/>
                  <a:gd name="T5" fmla="*/ 28 h 175"/>
                  <a:gd name="T6" fmla="*/ 6 w 147"/>
                  <a:gd name="T7" fmla="*/ 42 h 175"/>
                  <a:gd name="T8" fmla="*/ 11 w 147"/>
                  <a:gd name="T9" fmla="*/ 56 h 175"/>
                  <a:gd name="T10" fmla="*/ 25 w 147"/>
                  <a:gd name="T11" fmla="*/ 83 h 175"/>
                  <a:gd name="T12" fmla="*/ 43 w 147"/>
                  <a:gd name="T13" fmla="*/ 108 h 175"/>
                  <a:gd name="T14" fmla="*/ 65 w 147"/>
                  <a:gd name="T15" fmla="*/ 130 h 175"/>
                  <a:gd name="T16" fmla="*/ 91 w 147"/>
                  <a:gd name="T17" fmla="*/ 149 h 175"/>
                  <a:gd name="T18" fmla="*/ 117 w 147"/>
                  <a:gd name="T19" fmla="*/ 164 h 175"/>
                  <a:gd name="T20" fmla="*/ 133 w 147"/>
                  <a:gd name="T21" fmla="*/ 170 h 175"/>
                  <a:gd name="T22" fmla="*/ 147 w 147"/>
                  <a:gd name="T23" fmla="*/ 175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7"/>
                  <a:gd name="T37" fmla="*/ 0 h 175"/>
                  <a:gd name="T38" fmla="*/ 147 w 147"/>
                  <a:gd name="T39" fmla="*/ 175 h 1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7" h="175">
                    <a:moveTo>
                      <a:pt x="0" y="0"/>
                    </a:moveTo>
                    <a:lnTo>
                      <a:pt x="1" y="14"/>
                    </a:lnTo>
                    <a:lnTo>
                      <a:pt x="3" y="28"/>
                    </a:lnTo>
                    <a:lnTo>
                      <a:pt x="6" y="42"/>
                    </a:lnTo>
                    <a:lnTo>
                      <a:pt x="11" y="56"/>
                    </a:lnTo>
                    <a:lnTo>
                      <a:pt x="25" y="83"/>
                    </a:lnTo>
                    <a:lnTo>
                      <a:pt x="43" y="108"/>
                    </a:lnTo>
                    <a:lnTo>
                      <a:pt x="65" y="130"/>
                    </a:lnTo>
                    <a:lnTo>
                      <a:pt x="91" y="149"/>
                    </a:lnTo>
                    <a:lnTo>
                      <a:pt x="117" y="164"/>
                    </a:lnTo>
                    <a:lnTo>
                      <a:pt x="133" y="170"/>
                    </a:lnTo>
                    <a:lnTo>
                      <a:pt x="147" y="175"/>
                    </a:lnTo>
                  </a:path>
                </a:pathLst>
              </a:custGeom>
              <a:noFill/>
              <a:ln w="5">
                <a:solidFill>
                  <a:srgbClr val="000000"/>
                </a:solidFill>
                <a:round/>
                <a:headEnd/>
                <a:tailEnd/>
              </a:ln>
            </p:spPr>
            <p:txBody>
              <a:bodyPr/>
              <a:lstStyle/>
              <a:p>
                <a:endParaRPr lang="en-US"/>
              </a:p>
            </p:txBody>
          </p:sp>
          <p:sp>
            <p:nvSpPr>
              <p:cNvPr id="380" name="Freeform 181"/>
              <p:cNvSpPr>
                <a:spLocks/>
              </p:cNvSpPr>
              <p:nvPr/>
            </p:nvSpPr>
            <p:spPr bwMode="auto">
              <a:xfrm>
                <a:off x="3871" y="2847"/>
                <a:ext cx="46" cy="42"/>
              </a:xfrm>
              <a:custGeom>
                <a:avLst/>
                <a:gdLst>
                  <a:gd name="T0" fmla="*/ 0 w 46"/>
                  <a:gd name="T1" fmla="*/ 42 h 42"/>
                  <a:gd name="T2" fmla="*/ 46 w 46"/>
                  <a:gd name="T3" fmla="*/ 25 h 42"/>
                  <a:gd name="T4" fmla="*/ 5 w 46"/>
                  <a:gd name="T5" fmla="*/ 0 h 42"/>
                  <a:gd name="T6" fmla="*/ 0 w 46"/>
                  <a:gd name="T7" fmla="*/ 42 h 42"/>
                  <a:gd name="T8" fmla="*/ 0 60000 65536"/>
                  <a:gd name="T9" fmla="*/ 0 60000 65536"/>
                  <a:gd name="T10" fmla="*/ 0 60000 65536"/>
                  <a:gd name="T11" fmla="*/ 0 60000 65536"/>
                  <a:gd name="T12" fmla="*/ 0 w 46"/>
                  <a:gd name="T13" fmla="*/ 0 h 42"/>
                  <a:gd name="T14" fmla="*/ 46 w 46"/>
                  <a:gd name="T15" fmla="*/ 42 h 42"/>
                </a:gdLst>
                <a:ahLst/>
                <a:cxnLst>
                  <a:cxn ang="T8">
                    <a:pos x="T0" y="T1"/>
                  </a:cxn>
                  <a:cxn ang="T9">
                    <a:pos x="T2" y="T3"/>
                  </a:cxn>
                  <a:cxn ang="T10">
                    <a:pos x="T4" y="T5"/>
                  </a:cxn>
                  <a:cxn ang="T11">
                    <a:pos x="T6" y="T7"/>
                  </a:cxn>
                </a:cxnLst>
                <a:rect l="T12" t="T13" r="T14" b="T15"/>
                <a:pathLst>
                  <a:path w="46" h="42">
                    <a:moveTo>
                      <a:pt x="0" y="42"/>
                    </a:moveTo>
                    <a:lnTo>
                      <a:pt x="46" y="25"/>
                    </a:lnTo>
                    <a:lnTo>
                      <a:pt x="5" y="0"/>
                    </a:lnTo>
                    <a:lnTo>
                      <a:pt x="0" y="42"/>
                    </a:lnTo>
                    <a:close/>
                  </a:path>
                </a:pathLst>
              </a:custGeom>
              <a:solidFill>
                <a:srgbClr val="000000"/>
              </a:solidFill>
              <a:ln w="9525">
                <a:noFill/>
                <a:round/>
                <a:headEnd/>
                <a:tailEnd/>
              </a:ln>
            </p:spPr>
            <p:txBody>
              <a:bodyPr/>
              <a:lstStyle/>
              <a:p>
                <a:endParaRPr lang="en-US"/>
              </a:p>
            </p:txBody>
          </p:sp>
        </p:grpSp>
        <p:sp>
          <p:nvSpPr>
            <p:cNvPr id="350" name="Rectangle 183"/>
            <p:cNvSpPr>
              <a:spLocks noChangeArrowheads="1"/>
            </p:cNvSpPr>
            <p:nvPr/>
          </p:nvSpPr>
          <p:spPr bwMode="auto">
            <a:xfrm>
              <a:off x="656998" y="2802732"/>
              <a:ext cx="452438" cy="196850"/>
            </a:xfrm>
            <a:prstGeom prst="rect">
              <a:avLst/>
            </a:prstGeom>
            <a:noFill/>
            <a:ln w="9525">
              <a:noFill/>
              <a:miter lim="800000"/>
              <a:headEnd/>
              <a:tailEnd/>
            </a:ln>
          </p:spPr>
          <p:txBody>
            <a:bodyPr/>
            <a:lstStyle/>
            <a:p>
              <a:endParaRPr lang="en-US" sz="1800" b="0">
                <a:latin typeface="Arial" charset="0"/>
              </a:endParaRPr>
            </a:p>
          </p:txBody>
        </p:sp>
        <p:sp>
          <p:nvSpPr>
            <p:cNvPr id="351" name="Rectangle 184"/>
            <p:cNvSpPr>
              <a:spLocks noChangeArrowheads="1"/>
            </p:cNvSpPr>
            <p:nvPr/>
          </p:nvSpPr>
          <p:spPr bwMode="auto">
            <a:xfrm>
              <a:off x="741135" y="2836069"/>
              <a:ext cx="333375" cy="157163"/>
            </a:xfrm>
            <a:prstGeom prst="rect">
              <a:avLst/>
            </a:prstGeom>
            <a:noFill/>
            <a:ln w="9525">
              <a:noFill/>
              <a:miter lim="800000"/>
              <a:headEnd/>
              <a:tailEnd/>
            </a:ln>
          </p:spPr>
          <p:txBody>
            <a:bodyPr wrap="none" lIns="0" tIns="0" rIns="0" bIns="0">
              <a:spAutoFit/>
            </a:bodyPr>
            <a:lstStyle/>
            <a:p>
              <a:r>
                <a:rPr lang="en-US" sz="900" b="0">
                  <a:solidFill>
                    <a:srgbClr val="000000"/>
                  </a:solidFill>
                  <a:latin typeface="Arial" charset="0"/>
                  <a:cs typeface="Arial" charset="0"/>
                </a:rPr>
                <a:t>Asset</a:t>
              </a:r>
              <a:endParaRPr lang="en-US" sz="1800" b="0">
                <a:latin typeface="Arial" charset="0"/>
                <a:cs typeface="Arial" charset="0"/>
              </a:endParaRPr>
            </a:p>
          </p:txBody>
        </p:sp>
        <p:grpSp>
          <p:nvGrpSpPr>
            <p:cNvPr id="352" name="Group 187"/>
            <p:cNvGrpSpPr>
              <a:grpSpLocks/>
            </p:cNvGrpSpPr>
            <p:nvPr/>
          </p:nvGrpSpPr>
          <p:grpSpPr bwMode="auto">
            <a:xfrm>
              <a:off x="1744435" y="3655609"/>
              <a:ext cx="949115" cy="434916"/>
              <a:chOff x="3412" y="2833"/>
              <a:chExt cx="482" cy="187"/>
            </a:xfrm>
          </p:grpSpPr>
          <p:sp>
            <p:nvSpPr>
              <p:cNvPr id="377" name="Freeform 185"/>
              <p:cNvSpPr>
                <a:spLocks/>
              </p:cNvSpPr>
              <p:nvPr/>
            </p:nvSpPr>
            <p:spPr bwMode="auto">
              <a:xfrm>
                <a:off x="3412" y="2833"/>
                <a:ext cx="442" cy="165"/>
              </a:xfrm>
              <a:custGeom>
                <a:avLst/>
                <a:gdLst>
                  <a:gd name="T0" fmla="*/ 0 w 442"/>
                  <a:gd name="T1" fmla="*/ 0 h 165"/>
                  <a:gd name="T2" fmla="*/ 43 w 442"/>
                  <a:gd name="T3" fmla="*/ 2 h 165"/>
                  <a:gd name="T4" fmla="*/ 84 w 442"/>
                  <a:gd name="T5" fmla="*/ 6 h 165"/>
                  <a:gd name="T6" fmla="*/ 125 w 442"/>
                  <a:gd name="T7" fmla="*/ 15 h 165"/>
                  <a:gd name="T8" fmla="*/ 161 w 442"/>
                  <a:gd name="T9" fmla="*/ 25 h 165"/>
                  <a:gd name="T10" fmla="*/ 194 w 442"/>
                  <a:gd name="T11" fmla="*/ 38 h 165"/>
                  <a:gd name="T12" fmla="*/ 218 w 442"/>
                  <a:gd name="T13" fmla="*/ 51 h 165"/>
                  <a:gd name="T14" fmla="*/ 235 w 442"/>
                  <a:gd name="T15" fmla="*/ 66 h 165"/>
                  <a:gd name="T16" fmla="*/ 238 w 442"/>
                  <a:gd name="T17" fmla="*/ 82 h 165"/>
                  <a:gd name="T18" fmla="*/ 242 w 442"/>
                  <a:gd name="T19" fmla="*/ 98 h 165"/>
                  <a:gd name="T20" fmla="*/ 259 w 442"/>
                  <a:gd name="T21" fmla="*/ 114 h 165"/>
                  <a:gd name="T22" fmla="*/ 283 w 442"/>
                  <a:gd name="T23" fmla="*/ 130 h 165"/>
                  <a:gd name="T24" fmla="*/ 315 w 442"/>
                  <a:gd name="T25" fmla="*/ 142 h 165"/>
                  <a:gd name="T26" fmla="*/ 352 w 442"/>
                  <a:gd name="T27" fmla="*/ 153 h 165"/>
                  <a:gd name="T28" fmla="*/ 393 w 442"/>
                  <a:gd name="T29" fmla="*/ 161 h 165"/>
                  <a:gd name="T30" fmla="*/ 437 w 442"/>
                  <a:gd name="T31" fmla="*/ 165 h 165"/>
                  <a:gd name="T32" fmla="*/ 442 w 442"/>
                  <a:gd name="T33" fmla="*/ 165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2"/>
                  <a:gd name="T52" fmla="*/ 0 h 165"/>
                  <a:gd name="T53" fmla="*/ 442 w 442"/>
                  <a:gd name="T54" fmla="*/ 165 h 1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2" h="165">
                    <a:moveTo>
                      <a:pt x="0" y="0"/>
                    </a:moveTo>
                    <a:lnTo>
                      <a:pt x="43" y="2"/>
                    </a:lnTo>
                    <a:lnTo>
                      <a:pt x="84" y="6"/>
                    </a:lnTo>
                    <a:lnTo>
                      <a:pt x="125" y="15"/>
                    </a:lnTo>
                    <a:lnTo>
                      <a:pt x="161" y="25"/>
                    </a:lnTo>
                    <a:lnTo>
                      <a:pt x="194" y="38"/>
                    </a:lnTo>
                    <a:lnTo>
                      <a:pt x="218" y="51"/>
                    </a:lnTo>
                    <a:lnTo>
                      <a:pt x="235" y="66"/>
                    </a:lnTo>
                    <a:lnTo>
                      <a:pt x="238" y="82"/>
                    </a:lnTo>
                    <a:lnTo>
                      <a:pt x="242" y="98"/>
                    </a:lnTo>
                    <a:lnTo>
                      <a:pt x="259" y="114"/>
                    </a:lnTo>
                    <a:lnTo>
                      <a:pt x="283" y="130"/>
                    </a:lnTo>
                    <a:lnTo>
                      <a:pt x="315" y="142"/>
                    </a:lnTo>
                    <a:lnTo>
                      <a:pt x="352" y="153"/>
                    </a:lnTo>
                    <a:lnTo>
                      <a:pt x="393" y="161"/>
                    </a:lnTo>
                    <a:lnTo>
                      <a:pt x="437" y="165"/>
                    </a:lnTo>
                    <a:lnTo>
                      <a:pt x="442" y="165"/>
                    </a:lnTo>
                  </a:path>
                </a:pathLst>
              </a:custGeom>
              <a:noFill/>
              <a:ln w="5">
                <a:solidFill>
                  <a:srgbClr val="000000"/>
                </a:solidFill>
                <a:round/>
                <a:headEnd/>
                <a:tailEnd/>
              </a:ln>
            </p:spPr>
            <p:txBody>
              <a:bodyPr/>
              <a:lstStyle/>
              <a:p>
                <a:endParaRPr lang="en-US"/>
              </a:p>
            </p:txBody>
          </p:sp>
          <p:sp>
            <p:nvSpPr>
              <p:cNvPr id="378" name="Freeform 186"/>
              <p:cNvSpPr>
                <a:spLocks/>
              </p:cNvSpPr>
              <p:nvPr/>
            </p:nvSpPr>
            <p:spPr bwMode="auto">
              <a:xfrm>
                <a:off x="3851" y="2977"/>
                <a:ext cx="43" cy="43"/>
              </a:xfrm>
              <a:custGeom>
                <a:avLst/>
                <a:gdLst>
                  <a:gd name="T0" fmla="*/ 0 w 43"/>
                  <a:gd name="T1" fmla="*/ 43 h 43"/>
                  <a:gd name="T2" fmla="*/ 43 w 43"/>
                  <a:gd name="T3" fmla="*/ 25 h 43"/>
                  <a:gd name="T4" fmla="*/ 2 w 43"/>
                  <a:gd name="T5" fmla="*/ 0 h 43"/>
                  <a:gd name="T6" fmla="*/ 0 w 43"/>
                  <a:gd name="T7" fmla="*/ 43 h 43"/>
                  <a:gd name="T8" fmla="*/ 0 60000 65536"/>
                  <a:gd name="T9" fmla="*/ 0 60000 65536"/>
                  <a:gd name="T10" fmla="*/ 0 60000 65536"/>
                  <a:gd name="T11" fmla="*/ 0 60000 65536"/>
                  <a:gd name="T12" fmla="*/ 0 w 43"/>
                  <a:gd name="T13" fmla="*/ 0 h 43"/>
                  <a:gd name="T14" fmla="*/ 43 w 43"/>
                  <a:gd name="T15" fmla="*/ 43 h 43"/>
                </a:gdLst>
                <a:ahLst/>
                <a:cxnLst>
                  <a:cxn ang="T8">
                    <a:pos x="T0" y="T1"/>
                  </a:cxn>
                  <a:cxn ang="T9">
                    <a:pos x="T2" y="T3"/>
                  </a:cxn>
                  <a:cxn ang="T10">
                    <a:pos x="T4" y="T5"/>
                  </a:cxn>
                  <a:cxn ang="T11">
                    <a:pos x="T6" y="T7"/>
                  </a:cxn>
                </a:cxnLst>
                <a:rect l="T12" t="T13" r="T14" b="T15"/>
                <a:pathLst>
                  <a:path w="43" h="43">
                    <a:moveTo>
                      <a:pt x="0" y="43"/>
                    </a:moveTo>
                    <a:lnTo>
                      <a:pt x="43" y="25"/>
                    </a:lnTo>
                    <a:lnTo>
                      <a:pt x="2" y="0"/>
                    </a:lnTo>
                    <a:lnTo>
                      <a:pt x="0" y="43"/>
                    </a:lnTo>
                    <a:close/>
                  </a:path>
                </a:pathLst>
              </a:custGeom>
              <a:solidFill>
                <a:srgbClr val="000000"/>
              </a:solidFill>
              <a:ln w="9525">
                <a:noFill/>
                <a:round/>
                <a:headEnd/>
                <a:tailEnd/>
              </a:ln>
            </p:spPr>
            <p:txBody>
              <a:bodyPr/>
              <a:lstStyle/>
              <a:p>
                <a:endParaRPr lang="en-US"/>
              </a:p>
            </p:txBody>
          </p:sp>
        </p:grpSp>
        <p:grpSp>
          <p:nvGrpSpPr>
            <p:cNvPr id="353" name="Group 190"/>
            <p:cNvGrpSpPr>
              <a:grpSpLocks/>
            </p:cNvGrpSpPr>
            <p:nvPr/>
          </p:nvGrpSpPr>
          <p:grpSpPr bwMode="auto">
            <a:xfrm>
              <a:off x="1087210" y="3663156"/>
              <a:ext cx="658813" cy="744538"/>
              <a:chOff x="2066" y="2829"/>
              <a:chExt cx="415" cy="469"/>
            </a:xfrm>
          </p:grpSpPr>
          <p:sp>
            <p:nvSpPr>
              <p:cNvPr id="375" name="Freeform 188"/>
              <p:cNvSpPr>
                <a:spLocks/>
              </p:cNvSpPr>
              <p:nvPr/>
            </p:nvSpPr>
            <p:spPr bwMode="auto">
              <a:xfrm>
                <a:off x="2105" y="2829"/>
                <a:ext cx="376" cy="447"/>
              </a:xfrm>
              <a:custGeom>
                <a:avLst/>
                <a:gdLst>
                  <a:gd name="T0" fmla="*/ 376 w 376"/>
                  <a:gd name="T1" fmla="*/ 0 h 447"/>
                  <a:gd name="T2" fmla="*/ 357 w 376"/>
                  <a:gd name="T3" fmla="*/ 1 h 447"/>
                  <a:gd name="T4" fmla="*/ 337 w 376"/>
                  <a:gd name="T5" fmla="*/ 5 h 447"/>
                  <a:gd name="T6" fmla="*/ 318 w 376"/>
                  <a:gd name="T7" fmla="*/ 10 h 447"/>
                  <a:gd name="T8" fmla="*/ 300 w 376"/>
                  <a:gd name="T9" fmla="*/ 19 h 447"/>
                  <a:gd name="T10" fmla="*/ 282 w 376"/>
                  <a:gd name="T11" fmla="*/ 29 h 447"/>
                  <a:gd name="T12" fmla="*/ 264 w 376"/>
                  <a:gd name="T13" fmla="*/ 41 h 447"/>
                  <a:gd name="T14" fmla="*/ 248 w 376"/>
                  <a:gd name="T15" fmla="*/ 55 h 447"/>
                  <a:gd name="T16" fmla="*/ 232 w 376"/>
                  <a:gd name="T17" fmla="*/ 70 h 447"/>
                  <a:gd name="T18" fmla="*/ 218 w 376"/>
                  <a:gd name="T19" fmla="*/ 86 h 447"/>
                  <a:gd name="T20" fmla="*/ 205 w 376"/>
                  <a:gd name="T21" fmla="*/ 104 h 447"/>
                  <a:gd name="T22" fmla="*/ 195 w 376"/>
                  <a:gd name="T23" fmla="*/ 123 h 447"/>
                  <a:gd name="T24" fmla="*/ 185 w 376"/>
                  <a:gd name="T25" fmla="*/ 144 h 447"/>
                  <a:gd name="T26" fmla="*/ 177 w 376"/>
                  <a:gd name="T27" fmla="*/ 163 h 447"/>
                  <a:gd name="T28" fmla="*/ 172 w 376"/>
                  <a:gd name="T29" fmla="*/ 185 h 447"/>
                  <a:gd name="T30" fmla="*/ 168 w 376"/>
                  <a:gd name="T31" fmla="*/ 205 h 447"/>
                  <a:gd name="T32" fmla="*/ 167 w 376"/>
                  <a:gd name="T33" fmla="*/ 227 h 447"/>
                  <a:gd name="T34" fmla="*/ 166 w 376"/>
                  <a:gd name="T35" fmla="*/ 245 h 447"/>
                  <a:gd name="T36" fmla="*/ 163 w 376"/>
                  <a:gd name="T37" fmla="*/ 264 h 447"/>
                  <a:gd name="T38" fmla="*/ 160 w 376"/>
                  <a:gd name="T39" fmla="*/ 281 h 447"/>
                  <a:gd name="T40" fmla="*/ 153 w 376"/>
                  <a:gd name="T41" fmla="*/ 299 h 447"/>
                  <a:gd name="T42" fmla="*/ 147 w 376"/>
                  <a:gd name="T43" fmla="*/ 316 h 447"/>
                  <a:gd name="T44" fmla="*/ 138 w 376"/>
                  <a:gd name="T45" fmla="*/ 334 h 447"/>
                  <a:gd name="T46" fmla="*/ 116 w 376"/>
                  <a:gd name="T47" fmla="*/ 364 h 447"/>
                  <a:gd name="T48" fmla="*/ 92 w 376"/>
                  <a:gd name="T49" fmla="*/ 392 h 447"/>
                  <a:gd name="T50" fmla="*/ 78 w 376"/>
                  <a:gd name="T51" fmla="*/ 405 h 447"/>
                  <a:gd name="T52" fmla="*/ 64 w 376"/>
                  <a:gd name="T53" fmla="*/ 417 h 447"/>
                  <a:gd name="T54" fmla="*/ 49 w 376"/>
                  <a:gd name="T55" fmla="*/ 427 h 447"/>
                  <a:gd name="T56" fmla="*/ 32 w 376"/>
                  <a:gd name="T57" fmla="*/ 434 h 447"/>
                  <a:gd name="T58" fmla="*/ 17 w 376"/>
                  <a:gd name="T59" fmla="*/ 442 h 447"/>
                  <a:gd name="T60" fmla="*/ 0 w 376"/>
                  <a:gd name="T61" fmla="*/ 447 h 44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76"/>
                  <a:gd name="T94" fmla="*/ 0 h 447"/>
                  <a:gd name="T95" fmla="*/ 376 w 376"/>
                  <a:gd name="T96" fmla="*/ 447 h 44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76" h="447">
                    <a:moveTo>
                      <a:pt x="376" y="0"/>
                    </a:moveTo>
                    <a:lnTo>
                      <a:pt x="357" y="1"/>
                    </a:lnTo>
                    <a:lnTo>
                      <a:pt x="337" y="5"/>
                    </a:lnTo>
                    <a:lnTo>
                      <a:pt x="318" y="10"/>
                    </a:lnTo>
                    <a:lnTo>
                      <a:pt x="300" y="19"/>
                    </a:lnTo>
                    <a:lnTo>
                      <a:pt x="282" y="29"/>
                    </a:lnTo>
                    <a:lnTo>
                      <a:pt x="264" y="41"/>
                    </a:lnTo>
                    <a:lnTo>
                      <a:pt x="248" y="55"/>
                    </a:lnTo>
                    <a:lnTo>
                      <a:pt x="232" y="70"/>
                    </a:lnTo>
                    <a:lnTo>
                      <a:pt x="218" y="86"/>
                    </a:lnTo>
                    <a:lnTo>
                      <a:pt x="205" y="104"/>
                    </a:lnTo>
                    <a:lnTo>
                      <a:pt x="195" y="123"/>
                    </a:lnTo>
                    <a:lnTo>
                      <a:pt x="185" y="144"/>
                    </a:lnTo>
                    <a:lnTo>
                      <a:pt x="177" y="163"/>
                    </a:lnTo>
                    <a:lnTo>
                      <a:pt x="172" y="185"/>
                    </a:lnTo>
                    <a:lnTo>
                      <a:pt x="168" y="205"/>
                    </a:lnTo>
                    <a:lnTo>
                      <a:pt x="167" y="227"/>
                    </a:lnTo>
                    <a:lnTo>
                      <a:pt x="166" y="245"/>
                    </a:lnTo>
                    <a:lnTo>
                      <a:pt x="163" y="264"/>
                    </a:lnTo>
                    <a:lnTo>
                      <a:pt x="160" y="281"/>
                    </a:lnTo>
                    <a:lnTo>
                      <a:pt x="153" y="299"/>
                    </a:lnTo>
                    <a:lnTo>
                      <a:pt x="147" y="316"/>
                    </a:lnTo>
                    <a:lnTo>
                      <a:pt x="138" y="334"/>
                    </a:lnTo>
                    <a:lnTo>
                      <a:pt x="116" y="364"/>
                    </a:lnTo>
                    <a:lnTo>
                      <a:pt x="92" y="392"/>
                    </a:lnTo>
                    <a:lnTo>
                      <a:pt x="78" y="405"/>
                    </a:lnTo>
                    <a:lnTo>
                      <a:pt x="64" y="417"/>
                    </a:lnTo>
                    <a:lnTo>
                      <a:pt x="49" y="427"/>
                    </a:lnTo>
                    <a:lnTo>
                      <a:pt x="32" y="434"/>
                    </a:lnTo>
                    <a:lnTo>
                      <a:pt x="17" y="442"/>
                    </a:lnTo>
                    <a:lnTo>
                      <a:pt x="0" y="447"/>
                    </a:lnTo>
                  </a:path>
                </a:pathLst>
              </a:custGeom>
              <a:noFill/>
              <a:ln w="5">
                <a:solidFill>
                  <a:srgbClr val="000000"/>
                </a:solidFill>
                <a:round/>
                <a:headEnd/>
                <a:tailEnd/>
              </a:ln>
            </p:spPr>
            <p:txBody>
              <a:bodyPr/>
              <a:lstStyle/>
              <a:p>
                <a:endParaRPr lang="en-US"/>
              </a:p>
            </p:txBody>
          </p:sp>
          <p:sp>
            <p:nvSpPr>
              <p:cNvPr id="376" name="Freeform 189"/>
              <p:cNvSpPr>
                <a:spLocks/>
              </p:cNvSpPr>
              <p:nvPr/>
            </p:nvSpPr>
            <p:spPr bwMode="auto">
              <a:xfrm>
                <a:off x="2066" y="3255"/>
                <a:ext cx="46" cy="43"/>
              </a:xfrm>
              <a:custGeom>
                <a:avLst/>
                <a:gdLst>
                  <a:gd name="T0" fmla="*/ 38 w 46"/>
                  <a:gd name="T1" fmla="*/ 0 h 43"/>
                  <a:gd name="T2" fmla="*/ 0 w 46"/>
                  <a:gd name="T3" fmla="*/ 28 h 43"/>
                  <a:gd name="T4" fmla="*/ 46 w 46"/>
                  <a:gd name="T5" fmla="*/ 43 h 43"/>
                  <a:gd name="T6" fmla="*/ 38 w 46"/>
                  <a:gd name="T7" fmla="*/ 0 h 43"/>
                  <a:gd name="T8" fmla="*/ 0 60000 65536"/>
                  <a:gd name="T9" fmla="*/ 0 60000 65536"/>
                  <a:gd name="T10" fmla="*/ 0 60000 65536"/>
                  <a:gd name="T11" fmla="*/ 0 60000 65536"/>
                  <a:gd name="T12" fmla="*/ 0 w 46"/>
                  <a:gd name="T13" fmla="*/ 0 h 43"/>
                  <a:gd name="T14" fmla="*/ 46 w 46"/>
                  <a:gd name="T15" fmla="*/ 43 h 43"/>
                </a:gdLst>
                <a:ahLst/>
                <a:cxnLst>
                  <a:cxn ang="T8">
                    <a:pos x="T0" y="T1"/>
                  </a:cxn>
                  <a:cxn ang="T9">
                    <a:pos x="T2" y="T3"/>
                  </a:cxn>
                  <a:cxn ang="T10">
                    <a:pos x="T4" y="T5"/>
                  </a:cxn>
                  <a:cxn ang="T11">
                    <a:pos x="T6" y="T7"/>
                  </a:cxn>
                </a:cxnLst>
                <a:rect l="T12" t="T13" r="T14" b="T15"/>
                <a:pathLst>
                  <a:path w="46" h="43">
                    <a:moveTo>
                      <a:pt x="38" y="0"/>
                    </a:moveTo>
                    <a:lnTo>
                      <a:pt x="0" y="28"/>
                    </a:lnTo>
                    <a:lnTo>
                      <a:pt x="46" y="43"/>
                    </a:lnTo>
                    <a:lnTo>
                      <a:pt x="38" y="0"/>
                    </a:lnTo>
                    <a:close/>
                  </a:path>
                </a:pathLst>
              </a:custGeom>
              <a:solidFill>
                <a:srgbClr val="000000"/>
              </a:solidFill>
              <a:ln w="9525">
                <a:noFill/>
                <a:round/>
                <a:headEnd/>
                <a:tailEnd/>
              </a:ln>
            </p:spPr>
            <p:txBody>
              <a:bodyPr/>
              <a:lstStyle/>
              <a:p>
                <a:endParaRPr lang="en-US"/>
              </a:p>
            </p:txBody>
          </p:sp>
        </p:grpSp>
        <p:grpSp>
          <p:nvGrpSpPr>
            <p:cNvPr id="354" name="Group 193"/>
            <p:cNvGrpSpPr>
              <a:grpSpLocks/>
            </p:cNvGrpSpPr>
            <p:nvPr/>
          </p:nvGrpSpPr>
          <p:grpSpPr bwMode="auto">
            <a:xfrm>
              <a:off x="1103085" y="3663156"/>
              <a:ext cx="641350" cy="371475"/>
              <a:chOff x="2076" y="2829"/>
              <a:chExt cx="404" cy="234"/>
            </a:xfrm>
          </p:grpSpPr>
          <p:sp>
            <p:nvSpPr>
              <p:cNvPr id="373" name="Freeform 191"/>
              <p:cNvSpPr>
                <a:spLocks/>
              </p:cNvSpPr>
              <p:nvPr/>
            </p:nvSpPr>
            <p:spPr bwMode="auto">
              <a:xfrm>
                <a:off x="2118" y="2829"/>
                <a:ext cx="362" cy="211"/>
              </a:xfrm>
              <a:custGeom>
                <a:avLst/>
                <a:gdLst>
                  <a:gd name="T0" fmla="*/ 362 w 362"/>
                  <a:gd name="T1" fmla="*/ 0 h 211"/>
                  <a:gd name="T2" fmla="*/ 343 w 362"/>
                  <a:gd name="T3" fmla="*/ 0 h 211"/>
                  <a:gd name="T4" fmla="*/ 325 w 362"/>
                  <a:gd name="T5" fmla="*/ 2 h 211"/>
                  <a:gd name="T6" fmla="*/ 288 w 362"/>
                  <a:gd name="T7" fmla="*/ 9 h 211"/>
                  <a:gd name="T8" fmla="*/ 254 w 362"/>
                  <a:gd name="T9" fmla="*/ 19 h 211"/>
                  <a:gd name="T10" fmla="*/ 223 w 362"/>
                  <a:gd name="T11" fmla="*/ 33 h 211"/>
                  <a:gd name="T12" fmla="*/ 210 w 362"/>
                  <a:gd name="T13" fmla="*/ 41 h 211"/>
                  <a:gd name="T14" fmla="*/ 198 w 362"/>
                  <a:gd name="T15" fmla="*/ 49 h 211"/>
                  <a:gd name="T16" fmla="*/ 187 w 362"/>
                  <a:gd name="T17" fmla="*/ 58 h 211"/>
                  <a:gd name="T18" fmla="*/ 178 w 362"/>
                  <a:gd name="T19" fmla="*/ 67 h 211"/>
                  <a:gd name="T20" fmla="*/ 171 w 362"/>
                  <a:gd name="T21" fmla="*/ 77 h 211"/>
                  <a:gd name="T22" fmla="*/ 166 w 362"/>
                  <a:gd name="T23" fmla="*/ 86 h 211"/>
                  <a:gd name="T24" fmla="*/ 162 w 362"/>
                  <a:gd name="T25" fmla="*/ 97 h 211"/>
                  <a:gd name="T26" fmla="*/ 161 w 362"/>
                  <a:gd name="T27" fmla="*/ 107 h 211"/>
                  <a:gd name="T28" fmla="*/ 159 w 362"/>
                  <a:gd name="T29" fmla="*/ 116 h 211"/>
                  <a:gd name="T30" fmla="*/ 157 w 362"/>
                  <a:gd name="T31" fmla="*/ 125 h 211"/>
                  <a:gd name="T32" fmla="*/ 153 w 362"/>
                  <a:gd name="T33" fmla="*/ 132 h 211"/>
                  <a:gd name="T34" fmla="*/ 148 w 362"/>
                  <a:gd name="T35" fmla="*/ 141 h 211"/>
                  <a:gd name="T36" fmla="*/ 140 w 362"/>
                  <a:gd name="T37" fmla="*/ 149 h 211"/>
                  <a:gd name="T38" fmla="*/ 133 w 362"/>
                  <a:gd name="T39" fmla="*/ 157 h 211"/>
                  <a:gd name="T40" fmla="*/ 112 w 362"/>
                  <a:gd name="T41" fmla="*/ 172 h 211"/>
                  <a:gd name="T42" fmla="*/ 88 w 362"/>
                  <a:gd name="T43" fmla="*/ 186 h 211"/>
                  <a:gd name="T44" fmla="*/ 61 w 362"/>
                  <a:gd name="T45" fmla="*/ 196 h 211"/>
                  <a:gd name="T46" fmla="*/ 32 w 362"/>
                  <a:gd name="T47" fmla="*/ 205 h 211"/>
                  <a:gd name="T48" fmla="*/ 0 w 362"/>
                  <a:gd name="T49" fmla="*/ 211 h 2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62"/>
                  <a:gd name="T76" fmla="*/ 0 h 211"/>
                  <a:gd name="T77" fmla="*/ 362 w 362"/>
                  <a:gd name="T78" fmla="*/ 211 h 21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62" h="211">
                    <a:moveTo>
                      <a:pt x="362" y="0"/>
                    </a:moveTo>
                    <a:lnTo>
                      <a:pt x="343" y="0"/>
                    </a:lnTo>
                    <a:lnTo>
                      <a:pt x="325" y="2"/>
                    </a:lnTo>
                    <a:lnTo>
                      <a:pt x="288" y="9"/>
                    </a:lnTo>
                    <a:lnTo>
                      <a:pt x="254" y="19"/>
                    </a:lnTo>
                    <a:lnTo>
                      <a:pt x="223" y="33"/>
                    </a:lnTo>
                    <a:lnTo>
                      <a:pt x="210" y="41"/>
                    </a:lnTo>
                    <a:lnTo>
                      <a:pt x="198" y="49"/>
                    </a:lnTo>
                    <a:lnTo>
                      <a:pt x="187" y="58"/>
                    </a:lnTo>
                    <a:lnTo>
                      <a:pt x="178" y="67"/>
                    </a:lnTo>
                    <a:lnTo>
                      <a:pt x="171" y="77"/>
                    </a:lnTo>
                    <a:lnTo>
                      <a:pt x="166" y="86"/>
                    </a:lnTo>
                    <a:lnTo>
                      <a:pt x="162" y="97"/>
                    </a:lnTo>
                    <a:lnTo>
                      <a:pt x="161" y="107"/>
                    </a:lnTo>
                    <a:lnTo>
                      <a:pt x="159" y="116"/>
                    </a:lnTo>
                    <a:lnTo>
                      <a:pt x="157" y="125"/>
                    </a:lnTo>
                    <a:lnTo>
                      <a:pt x="153" y="132"/>
                    </a:lnTo>
                    <a:lnTo>
                      <a:pt x="148" y="141"/>
                    </a:lnTo>
                    <a:lnTo>
                      <a:pt x="140" y="149"/>
                    </a:lnTo>
                    <a:lnTo>
                      <a:pt x="133" y="157"/>
                    </a:lnTo>
                    <a:lnTo>
                      <a:pt x="112" y="172"/>
                    </a:lnTo>
                    <a:lnTo>
                      <a:pt x="88" y="186"/>
                    </a:lnTo>
                    <a:lnTo>
                      <a:pt x="61" y="196"/>
                    </a:lnTo>
                    <a:lnTo>
                      <a:pt x="32" y="205"/>
                    </a:lnTo>
                    <a:lnTo>
                      <a:pt x="0" y="211"/>
                    </a:lnTo>
                  </a:path>
                </a:pathLst>
              </a:custGeom>
              <a:noFill/>
              <a:ln w="5">
                <a:solidFill>
                  <a:srgbClr val="000000"/>
                </a:solidFill>
                <a:round/>
                <a:headEnd/>
                <a:tailEnd/>
              </a:ln>
            </p:spPr>
            <p:txBody>
              <a:bodyPr/>
              <a:lstStyle/>
              <a:p>
                <a:endParaRPr lang="en-US"/>
              </a:p>
            </p:txBody>
          </p:sp>
          <p:sp>
            <p:nvSpPr>
              <p:cNvPr id="374" name="Freeform 192"/>
              <p:cNvSpPr>
                <a:spLocks/>
              </p:cNvSpPr>
              <p:nvPr/>
            </p:nvSpPr>
            <p:spPr bwMode="auto">
              <a:xfrm>
                <a:off x="2076" y="3020"/>
                <a:ext cx="44" cy="43"/>
              </a:xfrm>
              <a:custGeom>
                <a:avLst/>
                <a:gdLst>
                  <a:gd name="T0" fmla="*/ 42 w 44"/>
                  <a:gd name="T1" fmla="*/ 0 h 43"/>
                  <a:gd name="T2" fmla="*/ 0 w 44"/>
                  <a:gd name="T3" fmla="*/ 25 h 43"/>
                  <a:gd name="T4" fmla="*/ 44 w 44"/>
                  <a:gd name="T5" fmla="*/ 43 h 43"/>
                  <a:gd name="T6" fmla="*/ 42 w 44"/>
                  <a:gd name="T7" fmla="*/ 0 h 43"/>
                  <a:gd name="T8" fmla="*/ 0 60000 65536"/>
                  <a:gd name="T9" fmla="*/ 0 60000 65536"/>
                  <a:gd name="T10" fmla="*/ 0 60000 65536"/>
                  <a:gd name="T11" fmla="*/ 0 60000 65536"/>
                  <a:gd name="T12" fmla="*/ 0 w 44"/>
                  <a:gd name="T13" fmla="*/ 0 h 43"/>
                  <a:gd name="T14" fmla="*/ 44 w 44"/>
                  <a:gd name="T15" fmla="*/ 43 h 43"/>
                </a:gdLst>
                <a:ahLst/>
                <a:cxnLst>
                  <a:cxn ang="T8">
                    <a:pos x="T0" y="T1"/>
                  </a:cxn>
                  <a:cxn ang="T9">
                    <a:pos x="T2" y="T3"/>
                  </a:cxn>
                  <a:cxn ang="T10">
                    <a:pos x="T4" y="T5"/>
                  </a:cxn>
                  <a:cxn ang="T11">
                    <a:pos x="T6" y="T7"/>
                  </a:cxn>
                </a:cxnLst>
                <a:rect l="T12" t="T13" r="T14" b="T15"/>
                <a:pathLst>
                  <a:path w="44" h="43">
                    <a:moveTo>
                      <a:pt x="42" y="0"/>
                    </a:moveTo>
                    <a:lnTo>
                      <a:pt x="0" y="25"/>
                    </a:lnTo>
                    <a:lnTo>
                      <a:pt x="44" y="43"/>
                    </a:lnTo>
                    <a:lnTo>
                      <a:pt x="42" y="0"/>
                    </a:lnTo>
                    <a:close/>
                  </a:path>
                </a:pathLst>
              </a:custGeom>
              <a:solidFill>
                <a:srgbClr val="000000"/>
              </a:solidFill>
              <a:ln w="9525">
                <a:noFill/>
                <a:round/>
                <a:headEnd/>
                <a:tailEnd/>
              </a:ln>
            </p:spPr>
            <p:txBody>
              <a:bodyPr/>
              <a:lstStyle/>
              <a:p>
                <a:endParaRPr lang="en-US"/>
              </a:p>
            </p:txBody>
          </p:sp>
        </p:grpSp>
        <p:grpSp>
          <p:nvGrpSpPr>
            <p:cNvPr id="355" name="Group 196"/>
            <p:cNvGrpSpPr>
              <a:grpSpLocks/>
            </p:cNvGrpSpPr>
            <p:nvPr/>
          </p:nvGrpSpPr>
          <p:grpSpPr bwMode="auto">
            <a:xfrm>
              <a:off x="1090385" y="3612356"/>
              <a:ext cx="654050" cy="66675"/>
              <a:chOff x="2068" y="2797"/>
              <a:chExt cx="412" cy="42"/>
            </a:xfrm>
          </p:grpSpPr>
          <p:sp>
            <p:nvSpPr>
              <p:cNvPr id="371" name="Freeform 194"/>
              <p:cNvSpPr>
                <a:spLocks/>
              </p:cNvSpPr>
              <p:nvPr/>
            </p:nvSpPr>
            <p:spPr bwMode="auto">
              <a:xfrm>
                <a:off x="2109" y="2817"/>
                <a:ext cx="371" cy="10"/>
              </a:xfrm>
              <a:custGeom>
                <a:avLst/>
                <a:gdLst>
                  <a:gd name="T0" fmla="*/ 371 w 371"/>
                  <a:gd name="T1" fmla="*/ 10 h 10"/>
                  <a:gd name="T2" fmla="*/ 333 w 371"/>
                  <a:gd name="T3" fmla="*/ 10 h 10"/>
                  <a:gd name="T4" fmla="*/ 296 w 371"/>
                  <a:gd name="T5" fmla="*/ 10 h 10"/>
                  <a:gd name="T6" fmla="*/ 260 w 371"/>
                  <a:gd name="T7" fmla="*/ 9 h 10"/>
                  <a:gd name="T8" fmla="*/ 230 w 371"/>
                  <a:gd name="T9" fmla="*/ 9 h 10"/>
                  <a:gd name="T10" fmla="*/ 215 w 371"/>
                  <a:gd name="T11" fmla="*/ 8 h 10"/>
                  <a:gd name="T12" fmla="*/ 203 w 371"/>
                  <a:gd name="T13" fmla="*/ 8 h 10"/>
                  <a:gd name="T14" fmla="*/ 191 w 371"/>
                  <a:gd name="T15" fmla="*/ 8 h 10"/>
                  <a:gd name="T16" fmla="*/ 182 w 371"/>
                  <a:gd name="T17" fmla="*/ 8 h 10"/>
                  <a:gd name="T18" fmla="*/ 175 w 371"/>
                  <a:gd name="T19" fmla="*/ 7 h 10"/>
                  <a:gd name="T20" fmla="*/ 170 w 371"/>
                  <a:gd name="T21" fmla="*/ 7 h 10"/>
                  <a:gd name="T22" fmla="*/ 166 w 371"/>
                  <a:gd name="T23" fmla="*/ 5 h 10"/>
                  <a:gd name="T24" fmla="*/ 164 w 371"/>
                  <a:gd name="T25" fmla="*/ 5 h 10"/>
                  <a:gd name="T26" fmla="*/ 163 w 371"/>
                  <a:gd name="T27" fmla="*/ 5 h 10"/>
                  <a:gd name="T28" fmla="*/ 161 w 371"/>
                  <a:gd name="T29" fmla="*/ 4 h 10"/>
                  <a:gd name="T30" fmla="*/ 157 w 371"/>
                  <a:gd name="T31" fmla="*/ 4 h 10"/>
                  <a:gd name="T32" fmla="*/ 152 w 371"/>
                  <a:gd name="T33" fmla="*/ 4 h 10"/>
                  <a:gd name="T34" fmla="*/ 144 w 371"/>
                  <a:gd name="T35" fmla="*/ 3 h 10"/>
                  <a:gd name="T36" fmla="*/ 135 w 371"/>
                  <a:gd name="T37" fmla="*/ 3 h 10"/>
                  <a:gd name="T38" fmla="*/ 115 w 371"/>
                  <a:gd name="T39" fmla="*/ 2 h 10"/>
                  <a:gd name="T40" fmla="*/ 91 w 371"/>
                  <a:gd name="T41" fmla="*/ 2 h 10"/>
                  <a:gd name="T42" fmla="*/ 62 w 371"/>
                  <a:gd name="T43" fmla="*/ 0 h 10"/>
                  <a:gd name="T44" fmla="*/ 32 w 371"/>
                  <a:gd name="T45" fmla="*/ 0 h 10"/>
                  <a:gd name="T46" fmla="*/ 0 w 371"/>
                  <a:gd name="T47" fmla="*/ 0 h 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71"/>
                  <a:gd name="T73" fmla="*/ 0 h 10"/>
                  <a:gd name="T74" fmla="*/ 371 w 371"/>
                  <a:gd name="T75" fmla="*/ 10 h 1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71" h="10">
                    <a:moveTo>
                      <a:pt x="371" y="10"/>
                    </a:moveTo>
                    <a:lnTo>
                      <a:pt x="333" y="10"/>
                    </a:lnTo>
                    <a:lnTo>
                      <a:pt x="296" y="10"/>
                    </a:lnTo>
                    <a:lnTo>
                      <a:pt x="260" y="9"/>
                    </a:lnTo>
                    <a:lnTo>
                      <a:pt x="230" y="9"/>
                    </a:lnTo>
                    <a:lnTo>
                      <a:pt x="215" y="8"/>
                    </a:lnTo>
                    <a:lnTo>
                      <a:pt x="203" y="8"/>
                    </a:lnTo>
                    <a:lnTo>
                      <a:pt x="191" y="8"/>
                    </a:lnTo>
                    <a:lnTo>
                      <a:pt x="182" y="8"/>
                    </a:lnTo>
                    <a:lnTo>
                      <a:pt x="175" y="7"/>
                    </a:lnTo>
                    <a:lnTo>
                      <a:pt x="170" y="7"/>
                    </a:lnTo>
                    <a:lnTo>
                      <a:pt x="166" y="5"/>
                    </a:lnTo>
                    <a:lnTo>
                      <a:pt x="164" y="5"/>
                    </a:lnTo>
                    <a:lnTo>
                      <a:pt x="163" y="5"/>
                    </a:lnTo>
                    <a:lnTo>
                      <a:pt x="161" y="4"/>
                    </a:lnTo>
                    <a:lnTo>
                      <a:pt x="157" y="4"/>
                    </a:lnTo>
                    <a:lnTo>
                      <a:pt x="152" y="4"/>
                    </a:lnTo>
                    <a:lnTo>
                      <a:pt x="144" y="3"/>
                    </a:lnTo>
                    <a:lnTo>
                      <a:pt x="135" y="3"/>
                    </a:lnTo>
                    <a:lnTo>
                      <a:pt x="115" y="2"/>
                    </a:lnTo>
                    <a:lnTo>
                      <a:pt x="91" y="2"/>
                    </a:lnTo>
                    <a:lnTo>
                      <a:pt x="62" y="0"/>
                    </a:lnTo>
                    <a:lnTo>
                      <a:pt x="32" y="0"/>
                    </a:lnTo>
                    <a:lnTo>
                      <a:pt x="0" y="0"/>
                    </a:lnTo>
                  </a:path>
                </a:pathLst>
              </a:custGeom>
              <a:noFill/>
              <a:ln w="5">
                <a:solidFill>
                  <a:srgbClr val="000000"/>
                </a:solidFill>
                <a:round/>
                <a:headEnd/>
                <a:tailEnd/>
              </a:ln>
            </p:spPr>
            <p:txBody>
              <a:bodyPr/>
              <a:lstStyle/>
              <a:p>
                <a:endParaRPr lang="en-US"/>
              </a:p>
            </p:txBody>
          </p:sp>
          <p:sp>
            <p:nvSpPr>
              <p:cNvPr id="372" name="Freeform 195"/>
              <p:cNvSpPr>
                <a:spLocks/>
              </p:cNvSpPr>
              <p:nvPr/>
            </p:nvSpPr>
            <p:spPr bwMode="auto">
              <a:xfrm>
                <a:off x="2068" y="2797"/>
                <a:ext cx="42" cy="42"/>
              </a:xfrm>
              <a:custGeom>
                <a:avLst/>
                <a:gdLst>
                  <a:gd name="T0" fmla="*/ 42 w 42"/>
                  <a:gd name="T1" fmla="*/ 0 h 42"/>
                  <a:gd name="T2" fmla="*/ 0 w 42"/>
                  <a:gd name="T3" fmla="*/ 22 h 42"/>
                  <a:gd name="T4" fmla="*/ 42 w 42"/>
                  <a:gd name="T5" fmla="*/ 42 h 42"/>
                  <a:gd name="T6" fmla="*/ 42 w 42"/>
                  <a:gd name="T7" fmla="*/ 0 h 42"/>
                  <a:gd name="T8" fmla="*/ 0 60000 65536"/>
                  <a:gd name="T9" fmla="*/ 0 60000 65536"/>
                  <a:gd name="T10" fmla="*/ 0 60000 65536"/>
                  <a:gd name="T11" fmla="*/ 0 60000 65536"/>
                  <a:gd name="T12" fmla="*/ 0 w 42"/>
                  <a:gd name="T13" fmla="*/ 0 h 42"/>
                  <a:gd name="T14" fmla="*/ 42 w 42"/>
                  <a:gd name="T15" fmla="*/ 42 h 42"/>
                </a:gdLst>
                <a:ahLst/>
                <a:cxnLst>
                  <a:cxn ang="T8">
                    <a:pos x="T0" y="T1"/>
                  </a:cxn>
                  <a:cxn ang="T9">
                    <a:pos x="T2" y="T3"/>
                  </a:cxn>
                  <a:cxn ang="T10">
                    <a:pos x="T4" y="T5"/>
                  </a:cxn>
                  <a:cxn ang="T11">
                    <a:pos x="T6" y="T7"/>
                  </a:cxn>
                </a:cxnLst>
                <a:rect l="T12" t="T13" r="T14" b="T15"/>
                <a:pathLst>
                  <a:path w="42" h="42">
                    <a:moveTo>
                      <a:pt x="42" y="0"/>
                    </a:moveTo>
                    <a:lnTo>
                      <a:pt x="0" y="22"/>
                    </a:lnTo>
                    <a:lnTo>
                      <a:pt x="42" y="42"/>
                    </a:lnTo>
                    <a:lnTo>
                      <a:pt x="42" y="0"/>
                    </a:lnTo>
                    <a:close/>
                  </a:path>
                </a:pathLst>
              </a:custGeom>
              <a:solidFill>
                <a:srgbClr val="000000"/>
              </a:solidFill>
              <a:ln w="9525">
                <a:noFill/>
                <a:round/>
                <a:headEnd/>
                <a:tailEnd/>
              </a:ln>
            </p:spPr>
            <p:txBody>
              <a:bodyPr/>
              <a:lstStyle/>
              <a:p>
                <a:endParaRPr lang="en-US"/>
              </a:p>
            </p:txBody>
          </p:sp>
        </p:grpSp>
        <p:grpSp>
          <p:nvGrpSpPr>
            <p:cNvPr id="356" name="Group 199"/>
            <p:cNvGrpSpPr>
              <a:grpSpLocks/>
            </p:cNvGrpSpPr>
            <p:nvPr/>
          </p:nvGrpSpPr>
          <p:grpSpPr bwMode="auto">
            <a:xfrm>
              <a:off x="1111023" y="3239293"/>
              <a:ext cx="633413" cy="420688"/>
              <a:chOff x="2081" y="2562"/>
              <a:chExt cx="399" cy="265"/>
            </a:xfrm>
          </p:grpSpPr>
          <p:sp>
            <p:nvSpPr>
              <p:cNvPr id="369" name="Freeform 197"/>
              <p:cNvSpPr>
                <a:spLocks/>
              </p:cNvSpPr>
              <p:nvPr/>
            </p:nvSpPr>
            <p:spPr bwMode="auto">
              <a:xfrm>
                <a:off x="2123" y="2581"/>
                <a:ext cx="357" cy="246"/>
              </a:xfrm>
              <a:custGeom>
                <a:avLst/>
                <a:gdLst>
                  <a:gd name="T0" fmla="*/ 357 w 357"/>
                  <a:gd name="T1" fmla="*/ 246 h 246"/>
                  <a:gd name="T2" fmla="*/ 338 w 357"/>
                  <a:gd name="T3" fmla="*/ 245 h 246"/>
                  <a:gd name="T4" fmla="*/ 320 w 357"/>
                  <a:gd name="T5" fmla="*/ 244 h 246"/>
                  <a:gd name="T6" fmla="*/ 284 w 357"/>
                  <a:gd name="T7" fmla="*/ 236 h 246"/>
                  <a:gd name="T8" fmla="*/ 250 w 357"/>
                  <a:gd name="T9" fmla="*/ 223 h 246"/>
                  <a:gd name="T10" fmla="*/ 221 w 357"/>
                  <a:gd name="T11" fmla="*/ 208 h 246"/>
                  <a:gd name="T12" fmla="*/ 207 w 357"/>
                  <a:gd name="T13" fmla="*/ 199 h 246"/>
                  <a:gd name="T14" fmla="*/ 195 w 357"/>
                  <a:gd name="T15" fmla="*/ 189 h 246"/>
                  <a:gd name="T16" fmla="*/ 185 w 357"/>
                  <a:gd name="T17" fmla="*/ 179 h 246"/>
                  <a:gd name="T18" fmla="*/ 175 w 357"/>
                  <a:gd name="T19" fmla="*/ 169 h 246"/>
                  <a:gd name="T20" fmla="*/ 168 w 357"/>
                  <a:gd name="T21" fmla="*/ 157 h 246"/>
                  <a:gd name="T22" fmla="*/ 163 w 357"/>
                  <a:gd name="T23" fmla="*/ 146 h 246"/>
                  <a:gd name="T24" fmla="*/ 159 w 357"/>
                  <a:gd name="T25" fmla="*/ 134 h 246"/>
                  <a:gd name="T26" fmla="*/ 158 w 357"/>
                  <a:gd name="T27" fmla="*/ 123 h 246"/>
                  <a:gd name="T28" fmla="*/ 157 w 357"/>
                  <a:gd name="T29" fmla="*/ 113 h 246"/>
                  <a:gd name="T30" fmla="*/ 154 w 357"/>
                  <a:gd name="T31" fmla="*/ 102 h 246"/>
                  <a:gd name="T32" fmla="*/ 150 w 357"/>
                  <a:gd name="T33" fmla="*/ 92 h 246"/>
                  <a:gd name="T34" fmla="*/ 145 w 357"/>
                  <a:gd name="T35" fmla="*/ 82 h 246"/>
                  <a:gd name="T36" fmla="*/ 139 w 357"/>
                  <a:gd name="T37" fmla="*/ 73 h 246"/>
                  <a:gd name="T38" fmla="*/ 130 w 357"/>
                  <a:gd name="T39" fmla="*/ 64 h 246"/>
                  <a:gd name="T40" fmla="*/ 111 w 357"/>
                  <a:gd name="T41" fmla="*/ 46 h 246"/>
                  <a:gd name="T42" fmla="*/ 87 w 357"/>
                  <a:gd name="T43" fmla="*/ 31 h 246"/>
                  <a:gd name="T44" fmla="*/ 60 w 357"/>
                  <a:gd name="T45" fmla="*/ 18 h 246"/>
                  <a:gd name="T46" fmla="*/ 31 w 357"/>
                  <a:gd name="T47" fmla="*/ 8 h 246"/>
                  <a:gd name="T48" fmla="*/ 0 w 357"/>
                  <a:gd name="T49" fmla="*/ 0 h 2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7"/>
                  <a:gd name="T76" fmla="*/ 0 h 246"/>
                  <a:gd name="T77" fmla="*/ 357 w 357"/>
                  <a:gd name="T78" fmla="*/ 246 h 2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7" h="246">
                    <a:moveTo>
                      <a:pt x="357" y="246"/>
                    </a:moveTo>
                    <a:lnTo>
                      <a:pt x="338" y="245"/>
                    </a:lnTo>
                    <a:lnTo>
                      <a:pt x="320" y="244"/>
                    </a:lnTo>
                    <a:lnTo>
                      <a:pt x="284" y="236"/>
                    </a:lnTo>
                    <a:lnTo>
                      <a:pt x="250" y="223"/>
                    </a:lnTo>
                    <a:lnTo>
                      <a:pt x="221" y="208"/>
                    </a:lnTo>
                    <a:lnTo>
                      <a:pt x="207" y="199"/>
                    </a:lnTo>
                    <a:lnTo>
                      <a:pt x="195" y="189"/>
                    </a:lnTo>
                    <a:lnTo>
                      <a:pt x="185" y="179"/>
                    </a:lnTo>
                    <a:lnTo>
                      <a:pt x="175" y="169"/>
                    </a:lnTo>
                    <a:lnTo>
                      <a:pt x="168" y="157"/>
                    </a:lnTo>
                    <a:lnTo>
                      <a:pt x="163" y="146"/>
                    </a:lnTo>
                    <a:lnTo>
                      <a:pt x="159" y="134"/>
                    </a:lnTo>
                    <a:lnTo>
                      <a:pt x="158" y="123"/>
                    </a:lnTo>
                    <a:lnTo>
                      <a:pt x="157" y="113"/>
                    </a:lnTo>
                    <a:lnTo>
                      <a:pt x="154" y="102"/>
                    </a:lnTo>
                    <a:lnTo>
                      <a:pt x="150" y="92"/>
                    </a:lnTo>
                    <a:lnTo>
                      <a:pt x="145" y="82"/>
                    </a:lnTo>
                    <a:lnTo>
                      <a:pt x="139" y="73"/>
                    </a:lnTo>
                    <a:lnTo>
                      <a:pt x="130" y="64"/>
                    </a:lnTo>
                    <a:lnTo>
                      <a:pt x="111" y="46"/>
                    </a:lnTo>
                    <a:lnTo>
                      <a:pt x="87" y="31"/>
                    </a:lnTo>
                    <a:lnTo>
                      <a:pt x="60" y="18"/>
                    </a:lnTo>
                    <a:lnTo>
                      <a:pt x="31" y="8"/>
                    </a:lnTo>
                    <a:lnTo>
                      <a:pt x="0" y="0"/>
                    </a:lnTo>
                  </a:path>
                </a:pathLst>
              </a:custGeom>
              <a:noFill/>
              <a:ln w="5">
                <a:solidFill>
                  <a:srgbClr val="000000"/>
                </a:solidFill>
                <a:round/>
                <a:headEnd/>
                <a:tailEnd/>
              </a:ln>
            </p:spPr>
            <p:txBody>
              <a:bodyPr/>
              <a:lstStyle/>
              <a:p>
                <a:endParaRPr lang="en-US"/>
              </a:p>
            </p:txBody>
          </p:sp>
          <p:sp>
            <p:nvSpPr>
              <p:cNvPr id="370" name="Freeform 198"/>
              <p:cNvSpPr>
                <a:spLocks/>
              </p:cNvSpPr>
              <p:nvPr/>
            </p:nvSpPr>
            <p:spPr bwMode="auto">
              <a:xfrm>
                <a:off x="2081" y="2562"/>
                <a:ext cx="46" cy="44"/>
              </a:xfrm>
              <a:custGeom>
                <a:avLst/>
                <a:gdLst>
                  <a:gd name="T0" fmla="*/ 46 w 46"/>
                  <a:gd name="T1" fmla="*/ 0 h 44"/>
                  <a:gd name="T2" fmla="*/ 0 w 46"/>
                  <a:gd name="T3" fmla="*/ 17 h 44"/>
                  <a:gd name="T4" fmla="*/ 42 w 46"/>
                  <a:gd name="T5" fmla="*/ 44 h 44"/>
                  <a:gd name="T6" fmla="*/ 46 w 46"/>
                  <a:gd name="T7" fmla="*/ 0 h 44"/>
                  <a:gd name="T8" fmla="*/ 0 60000 65536"/>
                  <a:gd name="T9" fmla="*/ 0 60000 65536"/>
                  <a:gd name="T10" fmla="*/ 0 60000 65536"/>
                  <a:gd name="T11" fmla="*/ 0 60000 65536"/>
                  <a:gd name="T12" fmla="*/ 0 w 46"/>
                  <a:gd name="T13" fmla="*/ 0 h 44"/>
                  <a:gd name="T14" fmla="*/ 46 w 46"/>
                  <a:gd name="T15" fmla="*/ 44 h 44"/>
                </a:gdLst>
                <a:ahLst/>
                <a:cxnLst>
                  <a:cxn ang="T8">
                    <a:pos x="T0" y="T1"/>
                  </a:cxn>
                  <a:cxn ang="T9">
                    <a:pos x="T2" y="T3"/>
                  </a:cxn>
                  <a:cxn ang="T10">
                    <a:pos x="T4" y="T5"/>
                  </a:cxn>
                  <a:cxn ang="T11">
                    <a:pos x="T6" y="T7"/>
                  </a:cxn>
                </a:cxnLst>
                <a:rect l="T12" t="T13" r="T14" b="T15"/>
                <a:pathLst>
                  <a:path w="46" h="44">
                    <a:moveTo>
                      <a:pt x="46" y="0"/>
                    </a:moveTo>
                    <a:lnTo>
                      <a:pt x="0" y="17"/>
                    </a:lnTo>
                    <a:lnTo>
                      <a:pt x="42" y="44"/>
                    </a:lnTo>
                    <a:lnTo>
                      <a:pt x="46" y="0"/>
                    </a:lnTo>
                    <a:close/>
                  </a:path>
                </a:pathLst>
              </a:custGeom>
              <a:solidFill>
                <a:srgbClr val="000000"/>
              </a:solidFill>
              <a:ln w="9525">
                <a:noFill/>
                <a:round/>
                <a:headEnd/>
                <a:tailEnd/>
              </a:ln>
            </p:spPr>
            <p:txBody>
              <a:bodyPr/>
              <a:lstStyle/>
              <a:p>
                <a:endParaRPr lang="en-US"/>
              </a:p>
            </p:txBody>
          </p:sp>
        </p:grpSp>
        <p:grpSp>
          <p:nvGrpSpPr>
            <p:cNvPr id="357" name="Group 202"/>
            <p:cNvGrpSpPr>
              <a:grpSpLocks/>
            </p:cNvGrpSpPr>
            <p:nvPr/>
          </p:nvGrpSpPr>
          <p:grpSpPr bwMode="auto">
            <a:xfrm>
              <a:off x="1082448" y="2875757"/>
              <a:ext cx="663575" cy="784225"/>
              <a:chOff x="2063" y="2333"/>
              <a:chExt cx="418" cy="494"/>
            </a:xfrm>
          </p:grpSpPr>
          <p:sp>
            <p:nvSpPr>
              <p:cNvPr id="367" name="Freeform 200"/>
              <p:cNvSpPr>
                <a:spLocks/>
              </p:cNvSpPr>
              <p:nvPr/>
            </p:nvSpPr>
            <p:spPr bwMode="auto">
              <a:xfrm>
                <a:off x="2103" y="2352"/>
                <a:ext cx="378" cy="475"/>
              </a:xfrm>
              <a:custGeom>
                <a:avLst/>
                <a:gdLst>
                  <a:gd name="T0" fmla="*/ 378 w 378"/>
                  <a:gd name="T1" fmla="*/ 475 h 475"/>
                  <a:gd name="T2" fmla="*/ 359 w 378"/>
                  <a:gd name="T3" fmla="*/ 474 h 475"/>
                  <a:gd name="T4" fmla="*/ 339 w 378"/>
                  <a:gd name="T5" fmla="*/ 470 h 475"/>
                  <a:gd name="T6" fmla="*/ 320 w 378"/>
                  <a:gd name="T7" fmla="*/ 464 h 475"/>
                  <a:gd name="T8" fmla="*/ 302 w 378"/>
                  <a:gd name="T9" fmla="*/ 455 h 475"/>
                  <a:gd name="T10" fmla="*/ 284 w 378"/>
                  <a:gd name="T11" fmla="*/ 444 h 475"/>
                  <a:gd name="T12" fmla="*/ 266 w 378"/>
                  <a:gd name="T13" fmla="*/ 431 h 475"/>
                  <a:gd name="T14" fmla="*/ 250 w 378"/>
                  <a:gd name="T15" fmla="*/ 417 h 475"/>
                  <a:gd name="T16" fmla="*/ 234 w 378"/>
                  <a:gd name="T17" fmla="*/ 400 h 475"/>
                  <a:gd name="T18" fmla="*/ 220 w 378"/>
                  <a:gd name="T19" fmla="*/ 384 h 475"/>
                  <a:gd name="T20" fmla="*/ 207 w 378"/>
                  <a:gd name="T21" fmla="*/ 365 h 475"/>
                  <a:gd name="T22" fmla="*/ 196 w 378"/>
                  <a:gd name="T23" fmla="*/ 344 h 475"/>
                  <a:gd name="T24" fmla="*/ 187 w 378"/>
                  <a:gd name="T25" fmla="*/ 324 h 475"/>
                  <a:gd name="T26" fmla="*/ 179 w 378"/>
                  <a:gd name="T27" fmla="*/ 302 h 475"/>
                  <a:gd name="T28" fmla="*/ 173 w 378"/>
                  <a:gd name="T29" fmla="*/ 280 h 475"/>
                  <a:gd name="T30" fmla="*/ 169 w 378"/>
                  <a:gd name="T31" fmla="*/ 259 h 475"/>
                  <a:gd name="T32" fmla="*/ 168 w 378"/>
                  <a:gd name="T33" fmla="*/ 236 h 475"/>
                  <a:gd name="T34" fmla="*/ 167 w 378"/>
                  <a:gd name="T35" fmla="*/ 215 h 475"/>
                  <a:gd name="T36" fmla="*/ 164 w 378"/>
                  <a:gd name="T37" fmla="*/ 196 h 475"/>
                  <a:gd name="T38" fmla="*/ 160 w 378"/>
                  <a:gd name="T39" fmla="*/ 177 h 475"/>
                  <a:gd name="T40" fmla="*/ 154 w 378"/>
                  <a:gd name="T41" fmla="*/ 158 h 475"/>
                  <a:gd name="T42" fmla="*/ 148 w 378"/>
                  <a:gd name="T43" fmla="*/ 139 h 475"/>
                  <a:gd name="T44" fmla="*/ 139 w 378"/>
                  <a:gd name="T45" fmla="*/ 121 h 475"/>
                  <a:gd name="T46" fmla="*/ 117 w 378"/>
                  <a:gd name="T47" fmla="*/ 88 h 475"/>
                  <a:gd name="T48" fmla="*/ 93 w 378"/>
                  <a:gd name="T49" fmla="*/ 57 h 475"/>
                  <a:gd name="T50" fmla="*/ 79 w 378"/>
                  <a:gd name="T51" fmla="*/ 44 h 475"/>
                  <a:gd name="T52" fmla="*/ 63 w 378"/>
                  <a:gd name="T53" fmla="*/ 33 h 475"/>
                  <a:gd name="T54" fmla="*/ 48 w 378"/>
                  <a:gd name="T55" fmla="*/ 22 h 475"/>
                  <a:gd name="T56" fmla="*/ 33 w 378"/>
                  <a:gd name="T57" fmla="*/ 13 h 475"/>
                  <a:gd name="T58" fmla="*/ 16 w 378"/>
                  <a:gd name="T59" fmla="*/ 5 h 475"/>
                  <a:gd name="T60" fmla="*/ 0 w 378"/>
                  <a:gd name="T61" fmla="*/ 0 h 47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78"/>
                  <a:gd name="T94" fmla="*/ 0 h 475"/>
                  <a:gd name="T95" fmla="*/ 378 w 378"/>
                  <a:gd name="T96" fmla="*/ 475 h 47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78" h="475">
                    <a:moveTo>
                      <a:pt x="378" y="475"/>
                    </a:moveTo>
                    <a:lnTo>
                      <a:pt x="359" y="474"/>
                    </a:lnTo>
                    <a:lnTo>
                      <a:pt x="339" y="470"/>
                    </a:lnTo>
                    <a:lnTo>
                      <a:pt x="320" y="464"/>
                    </a:lnTo>
                    <a:lnTo>
                      <a:pt x="302" y="455"/>
                    </a:lnTo>
                    <a:lnTo>
                      <a:pt x="284" y="444"/>
                    </a:lnTo>
                    <a:lnTo>
                      <a:pt x="266" y="431"/>
                    </a:lnTo>
                    <a:lnTo>
                      <a:pt x="250" y="417"/>
                    </a:lnTo>
                    <a:lnTo>
                      <a:pt x="234" y="400"/>
                    </a:lnTo>
                    <a:lnTo>
                      <a:pt x="220" y="384"/>
                    </a:lnTo>
                    <a:lnTo>
                      <a:pt x="207" y="365"/>
                    </a:lnTo>
                    <a:lnTo>
                      <a:pt x="196" y="344"/>
                    </a:lnTo>
                    <a:lnTo>
                      <a:pt x="187" y="324"/>
                    </a:lnTo>
                    <a:lnTo>
                      <a:pt x="179" y="302"/>
                    </a:lnTo>
                    <a:lnTo>
                      <a:pt x="173" y="280"/>
                    </a:lnTo>
                    <a:lnTo>
                      <a:pt x="169" y="259"/>
                    </a:lnTo>
                    <a:lnTo>
                      <a:pt x="168" y="236"/>
                    </a:lnTo>
                    <a:lnTo>
                      <a:pt x="167" y="215"/>
                    </a:lnTo>
                    <a:lnTo>
                      <a:pt x="164" y="196"/>
                    </a:lnTo>
                    <a:lnTo>
                      <a:pt x="160" y="177"/>
                    </a:lnTo>
                    <a:lnTo>
                      <a:pt x="154" y="158"/>
                    </a:lnTo>
                    <a:lnTo>
                      <a:pt x="148" y="139"/>
                    </a:lnTo>
                    <a:lnTo>
                      <a:pt x="139" y="121"/>
                    </a:lnTo>
                    <a:lnTo>
                      <a:pt x="117" y="88"/>
                    </a:lnTo>
                    <a:lnTo>
                      <a:pt x="93" y="57"/>
                    </a:lnTo>
                    <a:lnTo>
                      <a:pt x="79" y="44"/>
                    </a:lnTo>
                    <a:lnTo>
                      <a:pt x="63" y="33"/>
                    </a:lnTo>
                    <a:lnTo>
                      <a:pt x="48" y="22"/>
                    </a:lnTo>
                    <a:lnTo>
                      <a:pt x="33" y="13"/>
                    </a:lnTo>
                    <a:lnTo>
                      <a:pt x="16" y="5"/>
                    </a:lnTo>
                    <a:lnTo>
                      <a:pt x="0" y="0"/>
                    </a:lnTo>
                  </a:path>
                </a:pathLst>
              </a:custGeom>
              <a:noFill/>
              <a:ln w="5">
                <a:solidFill>
                  <a:srgbClr val="000000"/>
                </a:solidFill>
                <a:round/>
                <a:headEnd/>
                <a:tailEnd/>
              </a:ln>
            </p:spPr>
            <p:txBody>
              <a:bodyPr/>
              <a:lstStyle/>
              <a:p>
                <a:endParaRPr lang="en-US"/>
              </a:p>
            </p:txBody>
          </p:sp>
          <p:sp>
            <p:nvSpPr>
              <p:cNvPr id="368" name="Freeform 201"/>
              <p:cNvSpPr>
                <a:spLocks/>
              </p:cNvSpPr>
              <p:nvPr/>
            </p:nvSpPr>
            <p:spPr bwMode="auto">
              <a:xfrm>
                <a:off x="2063" y="2333"/>
                <a:ext cx="46" cy="43"/>
              </a:xfrm>
              <a:custGeom>
                <a:avLst/>
                <a:gdLst>
                  <a:gd name="T0" fmla="*/ 46 w 46"/>
                  <a:gd name="T1" fmla="*/ 0 h 43"/>
                  <a:gd name="T2" fmla="*/ 0 w 46"/>
                  <a:gd name="T3" fmla="*/ 14 h 43"/>
                  <a:gd name="T4" fmla="*/ 38 w 46"/>
                  <a:gd name="T5" fmla="*/ 43 h 43"/>
                  <a:gd name="T6" fmla="*/ 46 w 46"/>
                  <a:gd name="T7" fmla="*/ 0 h 43"/>
                  <a:gd name="T8" fmla="*/ 0 60000 65536"/>
                  <a:gd name="T9" fmla="*/ 0 60000 65536"/>
                  <a:gd name="T10" fmla="*/ 0 60000 65536"/>
                  <a:gd name="T11" fmla="*/ 0 60000 65536"/>
                  <a:gd name="T12" fmla="*/ 0 w 46"/>
                  <a:gd name="T13" fmla="*/ 0 h 43"/>
                  <a:gd name="T14" fmla="*/ 46 w 46"/>
                  <a:gd name="T15" fmla="*/ 43 h 43"/>
                </a:gdLst>
                <a:ahLst/>
                <a:cxnLst>
                  <a:cxn ang="T8">
                    <a:pos x="T0" y="T1"/>
                  </a:cxn>
                  <a:cxn ang="T9">
                    <a:pos x="T2" y="T3"/>
                  </a:cxn>
                  <a:cxn ang="T10">
                    <a:pos x="T4" y="T5"/>
                  </a:cxn>
                  <a:cxn ang="T11">
                    <a:pos x="T6" y="T7"/>
                  </a:cxn>
                </a:cxnLst>
                <a:rect l="T12" t="T13" r="T14" b="T15"/>
                <a:pathLst>
                  <a:path w="46" h="43">
                    <a:moveTo>
                      <a:pt x="46" y="0"/>
                    </a:moveTo>
                    <a:lnTo>
                      <a:pt x="0" y="14"/>
                    </a:lnTo>
                    <a:lnTo>
                      <a:pt x="38" y="43"/>
                    </a:lnTo>
                    <a:lnTo>
                      <a:pt x="46" y="0"/>
                    </a:lnTo>
                    <a:close/>
                  </a:path>
                </a:pathLst>
              </a:custGeom>
              <a:solidFill>
                <a:srgbClr val="000000"/>
              </a:solidFill>
              <a:ln w="9525">
                <a:noFill/>
                <a:round/>
                <a:headEnd/>
                <a:tailEnd/>
              </a:ln>
            </p:spPr>
            <p:txBody>
              <a:bodyPr/>
              <a:lstStyle/>
              <a:p>
                <a:endParaRPr lang="en-US"/>
              </a:p>
            </p:txBody>
          </p:sp>
        </p:grpSp>
        <p:grpSp>
          <p:nvGrpSpPr>
            <p:cNvPr id="358" name="Group 205"/>
            <p:cNvGrpSpPr>
              <a:grpSpLocks/>
            </p:cNvGrpSpPr>
            <p:nvPr/>
          </p:nvGrpSpPr>
          <p:grpSpPr bwMode="auto">
            <a:xfrm>
              <a:off x="1272948" y="2337594"/>
              <a:ext cx="473075" cy="1322388"/>
              <a:chOff x="2183" y="1994"/>
              <a:chExt cx="298" cy="833"/>
            </a:xfrm>
          </p:grpSpPr>
          <p:sp>
            <p:nvSpPr>
              <p:cNvPr id="365" name="Freeform 203"/>
              <p:cNvSpPr>
                <a:spLocks/>
              </p:cNvSpPr>
              <p:nvPr/>
            </p:nvSpPr>
            <p:spPr bwMode="auto">
              <a:xfrm>
                <a:off x="2221" y="2011"/>
                <a:ext cx="260" cy="816"/>
              </a:xfrm>
              <a:custGeom>
                <a:avLst/>
                <a:gdLst>
                  <a:gd name="T0" fmla="*/ 260 w 260"/>
                  <a:gd name="T1" fmla="*/ 816 h 816"/>
                  <a:gd name="T2" fmla="*/ 246 w 260"/>
                  <a:gd name="T3" fmla="*/ 814 h 816"/>
                  <a:gd name="T4" fmla="*/ 232 w 260"/>
                  <a:gd name="T5" fmla="*/ 808 h 816"/>
                  <a:gd name="T6" fmla="*/ 218 w 260"/>
                  <a:gd name="T7" fmla="*/ 796 h 816"/>
                  <a:gd name="T8" fmla="*/ 205 w 260"/>
                  <a:gd name="T9" fmla="*/ 781 h 816"/>
                  <a:gd name="T10" fmla="*/ 193 w 260"/>
                  <a:gd name="T11" fmla="*/ 762 h 816"/>
                  <a:gd name="T12" fmla="*/ 180 w 260"/>
                  <a:gd name="T13" fmla="*/ 740 h 816"/>
                  <a:gd name="T14" fmla="*/ 169 w 260"/>
                  <a:gd name="T15" fmla="*/ 714 h 816"/>
                  <a:gd name="T16" fmla="*/ 157 w 260"/>
                  <a:gd name="T17" fmla="*/ 686 h 816"/>
                  <a:gd name="T18" fmla="*/ 148 w 260"/>
                  <a:gd name="T19" fmla="*/ 656 h 816"/>
                  <a:gd name="T20" fmla="*/ 138 w 260"/>
                  <a:gd name="T21" fmla="*/ 624 h 816"/>
                  <a:gd name="T22" fmla="*/ 130 w 260"/>
                  <a:gd name="T23" fmla="*/ 589 h 816"/>
                  <a:gd name="T24" fmla="*/ 124 w 260"/>
                  <a:gd name="T25" fmla="*/ 554 h 816"/>
                  <a:gd name="T26" fmla="*/ 119 w 260"/>
                  <a:gd name="T27" fmla="*/ 517 h 816"/>
                  <a:gd name="T28" fmla="*/ 115 w 260"/>
                  <a:gd name="T29" fmla="*/ 479 h 816"/>
                  <a:gd name="T30" fmla="*/ 112 w 260"/>
                  <a:gd name="T31" fmla="*/ 440 h 816"/>
                  <a:gd name="T32" fmla="*/ 111 w 260"/>
                  <a:gd name="T33" fmla="*/ 401 h 816"/>
                  <a:gd name="T34" fmla="*/ 109 w 260"/>
                  <a:gd name="T35" fmla="*/ 337 h 816"/>
                  <a:gd name="T36" fmla="*/ 102 w 260"/>
                  <a:gd name="T37" fmla="*/ 273 h 816"/>
                  <a:gd name="T38" fmla="*/ 92 w 260"/>
                  <a:gd name="T39" fmla="*/ 213 h 816"/>
                  <a:gd name="T40" fmla="*/ 86 w 260"/>
                  <a:gd name="T41" fmla="*/ 184 h 816"/>
                  <a:gd name="T42" fmla="*/ 78 w 260"/>
                  <a:gd name="T43" fmla="*/ 157 h 816"/>
                  <a:gd name="T44" fmla="*/ 70 w 260"/>
                  <a:gd name="T45" fmla="*/ 130 h 816"/>
                  <a:gd name="T46" fmla="*/ 61 w 260"/>
                  <a:gd name="T47" fmla="*/ 106 h 816"/>
                  <a:gd name="T48" fmla="*/ 52 w 260"/>
                  <a:gd name="T49" fmla="*/ 83 h 816"/>
                  <a:gd name="T50" fmla="*/ 42 w 260"/>
                  <a:gd name="T51" fmla="*/ 62 h 816"/>
                  <a:gd name="T52" fmla="*/ 33 w 260"/>
                  <a:gd name="T53" fmla="*/ 43 h 816"/>
                  <a:gd name="T54" fmla="*/ 22 w 260"/>
                  <a:gd name="T55" fmla="*/ 26 h 816"/>
                  <a:gd name="T56" fmla="*/ 12 w 260"/>
                  <a:gd name="T57" fmla="*/ 12 h 816"/>
                  <a:gd name="T58" fmla="*/ 0 w 260"/>
                  <a:gd name="T59" fmla="*/ 0 h 81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60"/>
                  <a:gd name="T91" fmla="*/ 0 h 816"/>
                  <a:gd name="T92" fmla="*/ 260 w 260"/>
                  <a:gd name="T93" fmla="*/ 816 h 81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60" h="816">
                    <a:moveTo>
                      <a:pt x="260" y="816"/>
                    </a:moveTo>
                    <a:lnTo>
                      <a:pt x="246" y="814"/>
                    </a:lnTo>
                    <a:lnTo>
                      <a:pt x="232" y="808"/>
                    </a:lnTo>
                    <a:lnTo>
                      <a:pt x="218" y="796"/>
                    </a:lnTo>
                    <a:lnTo>
                      <a:pt x="205" y="781"/>
                    </a:lnTo>
                    <a:lnTo>
                      <a:pt x="193" y="762"/>
                    </a:lnTo>
                    <a:lnTo>
                      <a:pt x="180" y="740"/>
                    </a:lnTo>
                    <a:lnTo>
                      <a:pt x="169" y="714"/>
                    </a:lnTo>
                    <a:lnTo>
                      <a:pt x="157" y="686"/>
                    </a:lnTo>
                    <a:lnTo>
                      <a:pt x="148" y="656"/>
                    </a:lnTo>
                    <a:lnTo>
                      <a:pt x="138" y="624"/>
                    </a:lnTo>
                    <a:lnTo>
                      <a:pt x="130" y="589"/>
                    </a:lnTo>
                    <a:lnTo>
                      <a:pt x="124" y="554"/>
                    </a:lnTo>
                    <a:lnTo>
                      <a:pt x="119" y="517"/>
                    </a:lnTo>
                    <a:lnTo>
                      <a:pt x="115" y="479"/>
                    </a:lnTo>
                    <a:lnTo>
                      <a:pt x="112" y="440"/>
                    </a:lnTo>
                    <a:lnTo>
                      <a:pt x="111" y="401"/>
                    </a:lnTo>
                    <a:lnTo>
                      <a:pt x="109" y="337"/>
                    </a:lnTo>
                    <a:lnTo>
                      <a:pt x="102" y="273"/>
                    </a:lnTo>
                    <a:lnTo>
                      <a:pt x="92" y="213"/>
                    </a:lnTo>
                    <a:lnTo>
                      <a:pt x="86" y="184"/>
                    </a:lnTo>
                    <a:lnTo>
                      <a:pt x="78" y="157"/>
                    </a:lnTo>
                    <a:lnTo>
                      <a:pt x="70" y="130"/>
                    </a:lnTo>
                    <a:lnTo>
                      <a:pt x="61" y="106"/>
                    </a:lnTo>
                    <a:lnTo>
                      <a:pt x="52" y="83"/>
                    </a:lnTo>
                    <a:lnTo>
                      <a:pt x="42" y="62"/>
                    </a:lnTo>
                    <a:lnTo>
                      <a:pt x="33" y="43"/>
                    </a:lnTo>
                    <a:lnTo>
                      <a:pt x="22" y="26"/>
                    </a:lnTo>
                    <a:lnTo>
                      <a:pt x="12" y="12"/>
                    </a:lnTo>
                    <a:lnTo>
                      <a:pt x="0" y="0"/>
                    </a:lnTo>
                  </a:path>
                </a:pathLst>
              </a:custGeom>
              <a:noFill/>
              <a:ln w="5">
                <a:solidFill>
                  <a:srgbClr val="000000"/>
                </a:solidFill>
                <a:round/>
                <a:headEnd/>
                <a:tailEnd/>
              </a:ln>
            </p:spPr>
            <p:txBody>
              <a:bodyPr/>
              <a:lstStyle/>
              <a:p>
                <a:endParaRPr lang="en-US"/>
              </a:p>
            </p:txBody>
          </p:sp>
          <p:sp>
            <p:nvSpPr>
              <p:cNvPr id="366" name="Freeform 204"/>
              <p:cNvSpPr>
                <a:spLocks/>
              </p:cNvSpPr>
              <p:nvPr/>
            </p:nvSpPr>
            <p:spPr bwMode="auto">
              <a:xfrm>
                <a:off x="2183" y="1994"/>
                <a:ext cx="48" cy="39"/>
              </a:xfrm>
              <a:custGeom>
                <a:avLst/>
                <a:gdLst>
                  <a:gd name="T0" fmla="*/ 48 w 48"/>
                  <a:gd name="T1" fmla="*/ 0 h 39"/>
                  <a:gd name="T2" fmla="*/ 0 w 48"/>
                  <a:gd name="T3" fmla="*/ 1 h 39"/>
                  <a:gd name="T4" fmla="*/ 31 w 48"/>
                  <a:gd name="T5" fmla="*/ 39 h 39"/>
                  <a:gd name="T6" fmla="*/ 48 w 48"/>
                  <a:gd name="T7" fmla="*/ 0 h 39"/>
                  <a:gd name="T8" fmla="*/ 0 60000 65536"/>
                  <a:gd name="T9" fmla="*/ 0 60000 65536"/>
                  <a:gd name="T10" fmla="*/ 0 60000 65536"/>
                  <a:gd name="T11" fmla="*/ 0 60000 65536"/>
                  <a:gd name="T12" fmla="*/ 0 w 48"/>
                  <a:gd name="T13" fmla="*/ 0 h 39"/>
                  <a:gd name="T14" fmla="*/ 48 w 48"/>
                  <a:gd name="T15" fmla="*/ 39 h 39"/>
                </a:gdLst>
                <a:ahLst/>
                <a:cxnLst>
                  <a:cxn ang="T8">
                    <a:pos x="T0" y="T1"/>
                  </a:cxn>
                  <a:cxn ang="T9">
                    <a:pos x="T2" y="T3"/>
                  </a:cxn>
                  <a:cxn ang="T10">
                    <a:pos x="T4" y="T5"/>
                  </a:cxn>
                  <a:cxn ang="T11">
                    <a:pos x="T6" y="T7"/>
                  </a:cxn>
                </a:cxnLst>
                <a:rect l="T12" t="T13" r="T14" b="T15"/>
                <a:pathLst>
                  <a:path w="48" h="39">
                    <a:moveTo>
                      <a:pt x="48" y="0"/>
                    </a:moveTo>
                    <a:lnTo>
                      <a:pt x="0" y="1"/>
                    </a:lnTo>
                    <a:lnTo>
                      <a:pt x="31" y="39"/>
                    </a:lnTo>
                    <a:lnTo>
                      <a:pt x="48" y="0"/>
                    </a:lnTo>
                    <a:close/>
                  </a:path>
                </a:pathLst>
              </a:custGeom>
              <a:solidFill>
                <a:srgbClr val="000000"/>
              </a:solidFill>
              <a:ln w="9525">
                <a:noFill/>
                <a:round/>
                <a:headEnd/>
                <a:tailEnd/>
              </a:ln>
            </p:spPr>
            <p:txBody>
              <a:bodyPr/>
              <a:lstStyle/>
              <a:p>
                <a:endParaRPr lang="en-US"/>
              </a:p>
            </p:txBody>
          </p:sp>
        </p:grpSp>
        <p:grpSp>
          <p:nvGrpSpPr>
            <p:cNvPr id="359" name="Group 208"/>
            <p:cNvGrpSpPr>
              <a:grpSpLocks/>
            </p:cNvGrpSpPr>
            <p:nvPr/>
          </p:nvGrpSpPr>
          <p:grpSpPr bwMode="auto">
            <a:xfrm>
              <a:off x="1168173" y="2628107"/>
              <a:ext cx="577850" cy="1031875"/>
              <a:chOff x="2117" y="2177"/>
              <a:chExt cx="364" cy="650"/>
            </a:xfrm>
          </p:grpSpPr>
          <p:sp>
            <p:nvSpPr>
              <p:cNvPr id="363" name="Freeform 206"/>
              <p:cNvSpPr>
                <a:spLocks/>
              </p:cNvSpPr>
              <p:nvPr/>
            </p:nvSpPr>
            <p:spPr bwMode="auto">
              <a:xfrm>
                <a:off x="2159" y="2196"/>
                <a:ext cx="322" cy="631"/>
              </a:xfrm>
              <a:custGeom>
                <a:avLst/>
                <a:gdLst>
                  <a:gd name="T0" fmla="*/ 322 w 322"/>
                  <a:gd name="T1" fmla="*/ 631 h 631"/>
                  <a:gd name="T2" fmla="*/ 306 w 322"/>
                  <a:gd name="T3" fmla="*/ 630 h 631"/>
                  <a:gd name="T4" fmla="*/ 288 w 322"/>
                  <a:gd name="T5" fmla="*/ 624 h 631"/>
                  <a:gd name="T6" fmla="*/ 271 w 322"/>
                  <a:gd name="T7" fmla="*/ 616 h 631"/>
                  <a:gd name="T8" fmla="*/ 255 w 322"/>
                  <a:gd name="T9" fmla="*/ 605 h 631"/>
                  <a:gd name="T10" fmla="*/ 239 w 322"/>
                  <a:gd name="T11" fmla="*/ 589 h 631"/>
                  <a:gd name="T12" fmla="*/ 224 w 322"/>
                  <a:gd name="T13" fmla="*/ 573 h 631"/>
                  <a:gd name="T14" fmla="*/ 210 w 322"/>
                  <a:gd name="T15" fmla="*/ 554 h 631"/>
                  <a:gd name="T16" fmla="*/ 197 w 322"/>
                  <a:gd name="T17" fmla="*/ 532 h 631"/>
                  <a:gd name="T18" fmla="*/ 185 w 322"/>
                  <a:gd name="T19" fmla="*/ 508 h 631"/>
                  <a:gd name="T20" fmla="*/ 173 w 322"/>
                  <a:gd name="T21" fmla="*/ 484 h 631"/>
                  <a:gd name="T22" fmla="*/ 164 w 322"/>
                  <a:gd name="T23" fmla="*/ 457 h 631"/>
                  <a:gd name="T24" fmla="*/ 155 w 322"/>
                  <a:gd name="T25" fmla="*/ 429 h 631"/>
                  <a:gd name="T26" fmla="*/ 149 w 322"/>
                  <a:gd name="T27" fmla="*/ 401 h 631"/>
                  <a:gd name="T28" fmla="*/ 144 w 322"/>
                  <a:gd name="T29" fmla="*/ 371 h 631"/>
                  <a:gd name="T30" fmla="*/ 141 w 322"/>
                  <a:gd name="T31" fmla="*/ 342 h 631"/>
                  <a:gd name="T32" fmla="*/ 140 w 322"/>
                  <a:gd name="T33" fmla="*/ 311 h 631"/>
                  <a:gd name="T34" fmla="*/ 139 w 322"/>
                  <a:gd name="T35" fmla="*/ 286 h 631"/>
                  <a:gd name="T36" fmla="*/ 137 w 322"/>
                  <a:gd name="T37" fmla="*/ 260 h 631"/>
                  <a:gd name="T38" fmla="*/ 134 w 322"/>
                  <a:gd name="T39" fmla="*/ 235 h 631"/>
                  <a:gd name="T40" fmla="*/ 129 w 322"/>
                  <a:gd name="T41" fmla="*/ 211 h 631"/>
                  <a:gd name="T42" fmla="*/ 116 w 322"/>
                  <a:gd name="T43" fmla="*/ 164 h 631"/>
                  <a:gd name="T44" fmla="*/ 98 w 322"/>
                  <a:gd name="T45" fmla="*/ 120 h 631"/>
                  <a:gd name="T46" fmla="*/ 88 w 322"/>
                  <a:gd name="T47" fmla="*/ 100 h 631"/>
                  <a:gd name="T48" fmla="*/ 78 w 322"/>
                  <a:gd name="T49" fmla="*/ 81 h 631"/>
                  <a:gd name="T50" fmla="*/ 66 w 322"/>
                  <a:gd name="T51" fmla="*/ 63 h 631"/>
                  <a:gd name="T52" fmla="*/ 53 w 322"/>
                  <a:gd name="T53" fmla="*/ 46 h 631"/>
                  <a:gd name="T54" fmla="*/ 41 w 322"/>
                  <a:gd name="T55" fmla="*/ 32 h 631"/>
                  <a:gd name="T56" fmla="*/ 28 w 322"/>
                  <a:gd name="T57" fmla="*/ 19 h 631"/>
                  <a:gd name="T58" fmla="*/ 14 w 322"/>
                  <a:gd name="T59" fmla="*/ 9 h 631"/>
                  <a:gd name="T60" fmla="*/ 0 w 322"/>
                  <a:gd name="T61" fmla="*/ 0 h 63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22"/>
                  <a:gd name="T94" fmla="*/ 0 h 631"/>
                  <a:gd name="T95" fmla="*/ 322 w 322"/>
                  <a:gd name="T96" fmla="*/ 631 h 63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22" h="631">
                    <a:moveTo>
                      <a:pt x="322" y="631"/>
                    </a:moveTo>
                    <a:lnTo>
                      <a:pt x="306" y="630"/>
                    </a:lnTo>
                    <a:lnTo>
                      <a:pt x="288" y="624"/>
                    </a:lnTo>
                    <a:lnTo>
                      <a:pt x="271" y="616"/>
                    </a:lnTo>
                    <a:lnTo>
                      <a:pt x="255" y="605"/>
                    </a:lnTo>
                    <a:lnTo>
                      <a:pt x="239" y="589"/>
                    </a:lnTo>
                    <a:lnTo>
                      <a:pt x="224" y="573"/>
                    </a:lnTo>
                    <a:lnTo>
                      <a:pt x="210" y="554"/>
                    </a:lnTo>
                    <a:lnTo>
                      <a:pt x="197" y="532"/>
                    </a:lnTo>
                    <a:lnTo>
                      <a:pt x="185" y="508"/>
                    </a:lnTo>
                    <a:lnTo>
                      <a:pt x="173" y="484"/>
                    </a:lnTo>
                    <a:lnTo>
                      <a:pt x="164" y="457"/>
                    </a:lnTo>
                    <a:lnTo>
                      <a:pt x="155" y="429"/>
                    </a:lnTo>
                    <a:lnTo>
                      <a:pt x="149" y="401"/>
                    </a:lnTo>
                    <a:lnTo>
                      <a:pt x="144" y="371"/>
                    </a:lnTo>
                    <a:lnTo>
                      <a:pt x="141" y="342"/>
                    </a:lnTo>
                    <a:lnTo>
                      <a:pt x="140" y="311"/>
                    </a:lnTo>
                    <a:lnTo>
                      <a:pt x="139" y="286"/>
                    </a:lnTo>
                    <a:lnTo>
                      <a:pt x="137" y="260"/>
                    </a:lnTo>
                    <a:lnTo>
                      <a:pt x="134" y="235"/>
                    </a:lnTo>
                    <a:lnTo>
                      <a:pt x="129" y="211"/>
                    </a:lnTo>
                    <a:lnTo>
                      <a:pt x="116" y="164"/>
                    </a:lnTo>
                    <a:lnTo>
                      <a:pt x="98" y="120"/>
                    </a:lnTo>
                    <a:lnTo>
                      <a:pt x="88" y="100"/>
                    </a:lnTo>
                    <a:lnTo>
                      <a:pt x="78" y="81"/>
                    </a:lnTo>
                    <a:lnTo>
                      <a:pt x="66" y="63"/>
                    </a:lnTo>
                    <a:lnTo>
                      <a:pt x="53" y="46"/>
                    </a:lnTo>
                    <a:lnTo>
                      <a:pt x="41" y="32"/>
                    </a:lnTo>
                    <a:lnTo>
                      <a:pt x="28" y="19"/>
                    </a:lnTo>
                    <a:lnTo>
                      <a:pt x="14" y="9"/>
                    </a:lnTo>
                    <a:lnTo>
                      <a:pt x="0" y="0"/>
                    </a:lnTo>
                  </a:path>
                </a:pathLst>
              </a:custGeom>
              <a:noFill/>
              <a:ln w="5">
                <a:solidFill>
                  <a:srgbClr val="000000"/>
                </a:solidFill>
                <a:round/>
                <a:headEnd/>
                <a:tailEnd/>
              </a:ln>
            </p:spPr>
            <p:txBody>
              <a:bodyPr/>
              <a:lstStyle/>
              <a:p>
                <a:endParaRPr lang="en-US"/>
              </a:p>
            </p:txBody>
          </p:sp>
          <p:sp>
            <p:nvSpPr>
              <p:cNvPr id="364" name="Freeform 207"/>
              <p:cNvSpPr>
                <a:spLocks/>
              </p:cNvSpPr>
              <p:nvPr/>
            </p:nvSpPr>
            <p:spPr bwMode="auto">
              <a:xfrm>
                <a:off x="2117" y="2177"/>
                <a:ext cx="48" cy="42"/>
              </a:xfrm>
              <a:custGeom>
                <a:avLst/>
                <a:gdLst>
                  <a:gd name="T0" fmla="*/ 48 w 48"/>
                  <a:gd name="T1" fmla="*/ 0 h 42"/>
                  <a:gd name="T2" fmla="*/ 0 w 48"/>
                  <a:gd name="T3" fmla="*/ 9 h 42"/>
                  <a:gd name="T4" fmla="*/ 37 w 48"/>
                  <a:gd name="T5" fmla="*/ 42 h 42"/>
                  <a:gd name="T6" fmla="*/ 48 w 48"/>
                  <a:gd name="T7" fmla="*/ 0 h 42"/>
                  <a:gd name="T8" fmla="*/ 0 60000 65536"/>
                  <a:gd name="T9" fmla="*/ 0 60000 65536"/>
                  <a:gd name="T10" fmla="*/ 0 60000 65536"/>
                  <a:gd name="T11" fmla="*/ 0 60000 65536"/>
                  <a:gd name="T12" fmla="*/ 0 w 48"/>
                  <a:gd name="T13" fmla="*/ 0 h 42"/>
                  <a:gd name="T14" fmla="*/ 48 w 48"/>
                  <a:gd name="T15" fmla="*/ 42 h 42"/>
                </a:gdLst>
                <a:ahLst/>
                <a:cxnLst>
                  <a:cxn ang="T8">
                    <a:pos x="T0" y="T1"/>
                  </a:cxn>
                  <a:cxn ang="T9">
                    <a:pos x="T2" y="T3"/>
                  </a:cxn>
                  <a:cxn ang="T10">
                    <a:pos x="T4" y="T5"/>
                  </a:cxn>
                  <a:cxn ang="T11">
                    <a:pos x="T6" y="T7"/>
                  </a:cxn>
                </a:cxnLst>
                <a:rect l="T12" t="T13" r="T14" b="T15"/>
                <a:pathLst>
                  <a:path w="48" h="42">
                    <a:moveTo>
                      <a:pt x="48" y="0"/>
                    </a:moveTo>
                    <a:lnTo>
                      <a:pt x="0" y="9"/>
                    </a:lnTo>
                    <a:lnTo>
                      <a:pt x="37" y="42"/>
                    </a:lnTo>
                    <a:lnTo>
                      <a:pt x="48" y="0"/>
                    </a:lnTo>
                    <a:close/>
                  </a:path>
                </a:pathLst>
              </a:custGeom>
              <a:solidFill>
                <a:srgbClr val="000000"/>
              </a:solidFill>
              <a:ln w="9525">
                <a:noFill/>
                <a:round/>
                <a:headEnd/>
                <a:tailEnd/>
              </a:ln>
            </p:spPr>
            <p:txBody>
              <a:bodyPr/>
              <a:lstStyle/>
              <a:p>
                <a:endParaRPr lang="en-US"/>
              </a:p>
            </p:txBody>
          </p:sp>
        </p:grpSp>
        <p:grpSp>
          <p:nvGrpSpPr>
            <p:cNvPr id="360" name="Group 211"/>
            <p:cNvGrpSpPr>
              <a:grpSpLocks/>
            </p:cNvGrpSpPr>
            <p:nvPr/>
          </p:nvGrpSpPr>
          <p:grpSpPr bwMode="auto">
            <a:xfrm>
              <a:off x="3529013" y="2558256"/>
              <a:ext cx="425450" cy="971550"/>
              <a:chOff x="4339" y="2214"/>
              <a:chExt cx="268" cy="612"/>
            </a:xfrm>
          </p:grpSpPr>
          <p:sp>
            <p:nvSpPr>
              <p:cNvPr id="361" name="Freeform 209"/>
              <p:cNvSpPr>
                <a:spLocks/>
              </p:cNvSpPr>
              <p:nvPr/>
            </p:nvSpPr>
            <p:spPr bwMode="auto">
              <a:xfrm>
                <a:off x="4339" y="2214"/>
                <a:ext cx="268" cy="590"/>
              </a:xfrm>
              <a:custGeom>
                <a:avLst/>
                <a:gdLst>
                  <a:gd name="T0" fmla="*/ 0 w 268"/>
                  <a:gd name="T1" fmla="*/ 0 h 590"/>
                  <a:gd name="T2" fmla="*/ 1 w 268"/>
                  <a:gd name="T3" fmla="*/ 28 h 590"/>
                  <a:gd name="T4" fmla="*/ 3 w 268"/>
                  <a:gd name="T5" fmla="*/ 56 h 590"/>
                  <a:gd name="T6" fmla="*/ 6 w 268"/>
                  <a:gd name="T7" fmla="*/ 84 h 590"/>
                  <a:gd name="T8" fmla="*/ 11 w 268"/>
                  <a:gd name="T9" fmla="*/ 111 h 590"/>
                  <a:gd name="T10" fmla="*/ 18 w 268"/>
                  <a:gd name="T11" fmla="*/ 137 h 590"/>
                  <a:gd name="T12" fmla="*/ 24 w 268"/>
                  <a:gd name="T13" fmla="*/ 162 h 590"/>
                  <a:gd name="T14" fmla="*/ 33 w 268"/>
                  <a:gd name="T15" fmla="*/ 185 h 590"/>
                  <a:gd name="T16" fmla="*/ 42 w 268"/>
                  <a:gd name="T17" fmla="*/ 207 h 590"/>
                  <a:gd name="T18" fmla="*/ 51 w 268"/>
                  <a:gd name="T19" fmla="*/ 227 h 590"/>
                  <a:gd name="T20" fmla="*/ 62 w 268"/>
                  <a:gd name="T21" fmla="*/ 245 h 590"/>
                  <a:gd name="T22" fmla="*/ 73 w 268"/>
                  <a:gd name="T23" fmla="*/ 262 h 590"/>
                  <a:gd name="T24" fmla="*/ 84 w 268"/>
                  <a:gd name="T25" fmla="*/ 276 h 590"/>
                  <a:gd name="T26" fmla="*/ 97 w 268"/>
                  <a:gd name="T27" fmla="*/ 286 h 590"/>
                  <a:gd name="T28" fmla="*/ 108 w 268"/>
                  <a:gd name="T29" fmla="*/ 295 h 590"/>
                  <a:gd name="T30" fmla="*/ 121 w 268"/>
                  <a:gd name="T31" fmla="*/ 300 h 590"/>
                  <a:gd name="T32" fmla="*/ 134 w 268"/>
                  <a:gd name="T33" fmla="*/ 301 h 590"/>
                  <a:gd name="T34" fmla="*/ 147 w 268"/>
                  <a:gd name="T35" fmla="*/ 302 h 590"/>
                  <a:gd name="T36" fmla="*/ 158 w 268"/>
                  <a:gd name="T37" fmla="*/ 305 h 590"/>
                  <a:gd name="T38" fmla="*/ 171 w 268"/>
                  <a:gd name="T39" fmla="*/ 309 h 590"/>
                  <a:gd name="T40" fmla="*/ 182 w 268"/>
                  <a:gd name="T41" fmla="*/ 314 h 590"/>
                  <a:gd name="T42" fmla="*/ 194 w 268"/>
                  <a:gd name="T43" fmla="*/ 320 h 590"/>
                  <a:gd name="T44" fmla="*/ 205 w 268"/>
                  <a:gd name="T45" fmla="*/ 328 h 590"/>
                  <a:gd name="T46" fmla="*/ 226 w 268"/>
                  <a:gd name="T47" fmla="*/ 347 h 590"/>
                  <a:gd name="T48" fmla="*/ 244 w 268"/>
                  <a:gd name="T49" fmla="*/ 370 h 590"/>
                  <a:gd name="T50" fmla="*/ 256 w 268"/>
                  <a:gd name="T51" fmla="*/ 395 h 590"/>
                  <a:gd name="T52" fmla="*/ 261 w 268"/>
                  <a:gd name="T53" fmla="*/ 408 h 590"/>
                  <a:gd name="T54" fmla="*/ 265 w 268"/>
                  <a:gd name="T55" fmla="*/ 422 h 590"/>
                  <a:gd name="T56" fmla="*/ 266 w 268"/>
                  <a:gd name="T57" fmla="*/ 436 h 590"/>
                  <a:gd name="T58" fmla="*/ 268 w 268"/>
                  <a:gd name="T59" fmla="*/ 450 h 590"/>
                  <a:gd name="T60" fmla="*/ 266 w 268"/>
                  <a:gd name="T61" fmla="*/ 472 h 590"/>
                  <a:gd name="T62" fmla="*/ 260 w 268"/>
                  <a:gd name="T63" fmla="*/ 494 h 590"/>
                  <a:gd name="T64" fmla="*/ 252 w 268"/>
                  <a:gd name="T65" fmla="*/ 514 h 590"/>
                  <a:gd name="T66" fmla="*/ 241 w 268"/>
                  <a:gd name="T67" fmla="*/ 534 h 590"/>
                  <a:gd name="T68" fmla="*/ 228 w 268"/>
                  <a:gd name="T69" fmla="*/ 551 h 590"/>
                  <a:gd name="T70" fmla="*/ 213 w 268"/>
                  <a:gd name="T71" fmla="*/ 568 h 590"/>
                  <a:gd name="T72" fmla="*/ 196 w 268"/>
                  <a:gd name="T73" fmla="*/ 580 h 590"/>
                  <a:gd name="T74" fmla="*/ 178 w 268"/>
                  <a:gd name="T75" fmla="*/ 590 h 5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68"/>
                  <a:gd name="T115" fmla="*/ 0 h 590"/>
                  <a:gd name="T116" fmla="*/ 268 w 268"/>
                  <a:gd name="T117" fmla="*/ 590 h 5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68" h="590">
                    <a:moveTo>
                      <a:pt x="0" y="0"/>
                    </a:moveTo>
                    <a:lnTo>
                      <a:pt x="1" y="28"/>
                    </a:lnTo>
                    <a:lnTo>
                      <a:pt x="3" y="56"/>
                    </a:lnTo>
                    <a:lnTo>
                      <a:pt x="6" y="84"/>
                    </a:lnTo>
                    <a:lnTo>
                      <a:pt x="11" y="111"/>
                    </a:lnTo>
                    <a:lnTo>
                      <a:pt x="18" y="137"/>
                    </a:lnTo>
                    <a:lnTo>
                      <a:pt x="24" y="162"/>
                    </a:lnTo>
                    <a:lnTo>
                      <a:pt x="33" y="185"/>
                    </a:lnTo>
                    <a:lnTo>
                      <a:pt x="42" y="207"/>
                    </a:lnTo>
                    <a:lnTo>
                      <a:pt x="51" y="227"/>
                    </a:lnTo>
                    <a:lnTo>
                      <a:pt x="62" y="245"/>
                    </a:lnTo>
                    <a:lnTo>
                      <a:pt x="73" y="262"/>
                    </a:lnTo>
                    <a:lnTo>
                      <a:pt x="84" y="276"/>
                    </a:lnTo>
                    <a:lnTo>
                      <a:pt x="97" y="286"/>
                    </a:lnTo>
                    <a:lnTo>
                      <a:pt x="108" y="295"/>
                    </a:lnTo>
                    <a:lnTo>
                      <a:pt x="121" y="300"/>
                    </a:lnTo>
                    <a:lnTo>
                      <a:pt x="134" y="301"/>
                    </a:lnTo>
                    <a:lnTo>
                      <a:pt x="147" y="302"/>
                    </a:lnTo>
                    <a:lnTo>
                      <a:pt x="158" y="305"/>
                    </a:lnTo>
                    <a:lnTo>
                      <a:pt x="171" y="309"/>
                    </a:lnTo>
                    <a:lnTo>
                      <a:pt x="182" y="314"/>
                    </a:lnTo>
                    <a:lnTo>
                      <a:pt x="194" y="320"/>
                    </a:lnTo>
                    <a:lnTo>
                      <a:pt x="205" y="328"/>
                    </a:lnTo>
                    <a:lnTo>
                      <a:pt x="226" y="347"/>
                    </a:lnTo>
                    <a:lnTo>
                      <a:pt x="244" y="370"/>
                    </a:lnTo>
                    <a:lnTo>
                      <a:pt x="256" y="395"/>
                    </a:lnTo>
                    <a:lnTo>
                      <a:pt x="261" y="408"/>
                    </a:lnTo>
                    <a:lnTo>
                      <a:pt x="265" y="422"/>
                    </a:lnTo>
                    <a:lnTo>
                      <a:pt x="266" y="436"/>
                    </a:lnTo>
                    <a:lnTo>
                      <a:pt x="268" y="450"/>
                    </a:lnTo>
                    <a:lnTo>
                      <a:pt x="266" y="472"/>
                    </a:lnTo>
                    <a:lnTo>
                      <a:pt x="260" y="494"/>
                    </a:lnTo>
                    <a:lnTo>
                      <a:pt x="252" y="514"/>
                    </a:lnTo>
                    <a:lnTo>
                      <a:pt x="241" y="534"/>
                    </a:lnTo>
                    <a:lnTo>
                      <a:pt x="228" y="551"/>
                    </a:lnTo>
                    <a:lnTo>
                      <a:pt x="213" y="568"/>
                    </a:lnTo>
                    <a:lnTo>
                      <a:pt x="196" y="580"/>
                    </a:lnTo>
                    <a:lnTo>
                      <a:pt x="178" y="590"/>
                    </a:lnTo>
                  </a:path>
                </a:pathLst>
              </a:custGeom>
              <a:noFill/>
              <a:ln w="5">
                <a:solidFill>
                  <a:srgbClr val="000000"/>
                </a:solidFill>
                <a:round/>
                <a:headEnd/>
                <a:tailEnd/>
              </a:ln>
            </p:spPr>
            <p:txBody>
              <a:bodyPr/>
              <a:lstStyle/>
              <a:p>
                <a:endParaRPr lang="en-US"/>
              </a:p>
            </p:txBody>
          </p:sp>
          <p:sp>
            <p:nvSpPr>
              <p:cNvPr id="362" name="Freeform 210"/>
              <p:cNvSpPr>
                <a:spLocks/>
              </p:cNvSpPr>
              <p:nvPr/>
            </p:nvSpPr>
            <p:spPr bwMode="auto">
              <a:xfrm>
                <a:off x="4475" y="2784"/>
                <a:ext cx="49" cy="42"/>
              </a:xfrm>
              <a:custGeom>
                <a:avLst/>
                <a:gdLst>
                  <a:gd name="T0" fmla="*/ 39 w 49"/>
                  <a:gd name="T1" fmla="*/ 0 h 42"/>
                  <a:gd name="T2" fmla="*/ 0 w 49"/>
                  <a:gd name="T3" fmla="*/ 32 h 42"/>
                  <a:gd name="T4" fmla="*/ 49 w 49"/>
                  <a:gd name="T5" fmla="*/ 42 h 42"/>
                  <a:gd name="T6" fmla="*/ 39 w 49"/>
                  <a:gd name="T7" fmla="*/ 0 h 42"/>
                  <a:gd name="T8" fmla="*/ 0 60000 65536"/>
                  <a:gd name="T9" fmla="*/ 0 60000 65536"/>
                  <a:gd name="T10" fmla="*/ 0 60000 65536"/>
                  <a:gd name="T11" fmla="*/ 0 60000 65536"/>
                  <a:gd name="T12" fmla="*/ 0 w 49"/>
                  <a:gd name="T13" fmla="*/ 0 h 42"/>
                  <a:gd name="T14" fmla="*/ 49 w 49"/>
                  <a:gd name="T15" fmla="*/ 42 h 42"/>
                </a:gdLst>
                <a:ahLst/>
                <a:cxnLst>
                  <a:cxn ang="T8">
                    <a:pos x="T0" y="T1"/>
                  </a:cxn>
                  <a:cxn ang="T9">
                    <a:pos x="T2" y="T3"/>
                  </a:cxn>
                  <a:cxn ang="T10">
                    <a:pos x="T4" y="T5"/>
                  </a:cxn>
                  <a:cxn ang="T11">
                    <a:pos x="T6" y="T7"/>
                  </a:cxn>
                </a:cxnLst>
                <a:rect l="T12" t="T13" r="T14" b="T15"/>
                <a:pathLst>
                  <a:path w="49" h="42">
                    <a:moveTo>
                      <a:pt x="39" y="0"/>
                    </a:moveTo>
                    <a:lnTo>
                      <a:pt x="0" y="32"/>
                    </a:lnTo>
                    <a:lnTo>
                      <a:pt x="49" y="42"/>
                    </a:lnTo>
                    <a:lnTo>
                      <a:pt x="39" y="0"/>
                    </a:lnTo>
                    <a:close/>
                  </a:path>
                </a:pathLst>
              </a:custGeom>
              <a:solidFill>
                <a:srgbClr val="000000"/>
              </a:solidFill>
              <a:ln w="9525">
                <a:noFill/>
                <a:round/>
                <a:headEnd/>
                <a:tailEnd/>
              </a:ln>
            </p:spPr>
            <p:txBody>
              <a:bodyPr/>
              <a:lstStyle/>
              <a:p>
                <a:endParaRPr lang="en-US"/>
              </a:p>
            </p:txBody>
          </p:sp>
        </p:grpSp>
      </p:grpSp>
    </p:spTree>
    <p:extLst>
      <p:ext uri="{BB962C8B-B14F-4D97-AF65-F5344CB8AC3E}">
        <p14:creationId xmlns:p14="http://schemas.microsoft.com/office/powerpoint/2010/main" val="37257461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Finance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Company Code</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3"/>
            <a:ext cx="4647569" cy="3960127"/>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3662541"/>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The Company Code is an organizational unit where financial statements are </a:t>
            </a:r>
            <a:r>
              <a:rPr lang="en-US" sz="1600" dirty="0" smtClean="0">
                <a:solidFill>
                  <a:schemeClr val="accent4">
                    <a:lumMod val="10000"/>
                  </a:schemeClr>
                </a:solidFill>
                <a:latin typeface="Verdana" pitchFamily="34" charset="0"/>
                <a:ea typeface="Verdana" pitchFamily="34" charset="0"/>
                <a:cs typeface="Verdana" pitchFamily="34" charset="0"/>
              </a:rPr>
              <a:t>generated.</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It is the organizational unit for which a complete self-balancing set of accounts can be maintained for purposes of external legal </a:t>
            </a:r>
            <a:r>
              <a:rPr lang="en-US" sz="1600" dirty="0" smtClean="0">
                <a:solidFill>
                  <a:schemeClr val="accent4">
                    <a:lumMod val="10000"/>
                  </a:schemeClr>
                </a:solidFill>
                <a:latin typeface="Verdana" pitchFamily="34" charset="0"/>
                <a:ea typeface="Verdana" pitchFamily="34" charset="0"/>
                <a:cs typeface="Verdana" pitchFamily="34" charset="0"/>
              </a:rPr>
              <a:t>reporting.</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A company code can, for example, be a company or </a:t>
            </a:r>
            <a:r>
              <a:rPr lang="en-US" sz="1600" dirty="0" smtClean="0">
                <a:solidFill>
                  <a:schemeClr val="accent4">
                    <a:lumMod val="10000"/>
                  </a:schemeClr>
                </a:solidFill>
                <a:latin typeface="Verdana" pitchFamily="34" charset="0"/>
                <a:ea typeface="Verdana" pitchFamily="34" charset="0"/>
                <a:cs typeface="Verdana" pitchFamily="34" charset="0"/>
              </a:rPr>
              <a:t>subsidiary.</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Company Code is represented by a 4 digit alpha-numeric </a:t>
            </a:r>
            <a:r>
              <a:rPr lang="en-US" sz="1600" dirty="0" smtClean="0">
                <a:solidFill>
                  <a:schemeClr val="accent4">
                    <a:lumMod val="10000"/>
                  </a:schemeClr>
                </a:solidFill>
                <a:latin typeface="Verdana" pitchFamily="34" charset="0"/>
                <a:ea typeface="Verdana" pitchFamily="34" charset="0"/>
                <a:cs typeface="Verdana" pitchFamily="34" charset="0"/>
              </a:rPr>
              <a:t>field.</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Company </a:t>
            </a:r>
            <a:r>
              <a:rPr lang="en-US" sz="1600" dirty="0">
                <a:solidFill>
                  <a:schemeClr val="accent4">
                    <a:lumMod val="10000"/>
                  </a:schemeClr>
                </a:solidFill>
                <a:latin typeface="Verdana" pitchFamily="34" charset="0"/>
                <a:ea typeface="Verdana" pitchFamily="34" charset="0"/>
                <a:cs typeface="Verdana" pitchFamily="34" charset="0"/>
              </a:rPr>
              <a:t>Code = LW00</a:t>
            </a:r>
          </a:p>
        </p:txBody>
      </p:sp>
      <p:sp>
        <p:nvSpPr>
          <p:cNvPr id="22" name="Rectangle 50"/>
          <p:cNvSpPr>
            <a:spLocks noChangeArrowheads="1"/>
          </p:cNvSpPr>
          <p:nvPr/>
        </p:nvSpPr>
        <p:spPr bwMode="auto">
          <a:xfrm>
            <a:off x="11049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23" name="Rectangle 50"/>
          <p:cNvSpPr>
            <a:spLocks noChangeArrowheads="1"/>
          </p:cNvSpPr>
          <p:nvPr/>
        </p:nvSpPr>
        <p:spPr bwMode="auto">
          <a:xfrm>
            <a:off x="6477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24" name="Rectangle 50"/>
          <p:cNvSpPr>
            <a:spLocks noChangeArrowheads="1"/>
          </p:cNvSpPr>
          <p:nvPr/>
        </p:nvSpPr>
        <p:spPr bwMode="auto">
          <a:xfrm>
            <a:off x="647700" y="2768220"/>
            <a:ext cx="2057400" cy="58458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Company Code</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cxnSp>
        <p:nvCxnSpPr>
          <p:cNvPr id="28" name="Straight Connector 27"/>
          <p:cNvCxnSpPr>
            <a:stCxn id="24" idx="0"/>
            <a:endCxn id="23" idx="2"/>
          </p:cNvCxnSpPr>
          <p:nvPr/>
        </p:nvCxnSpPr>
        <p:spPr bwMode="auto">
          <a:xfrm flipV="1">
            <a:off x="1676400" y="2514600"/>
            <a:ext cx="0" cy="2536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29" name="Straight Connector 28"/>
          <p:cNvCxnSpPr>
            <a:stCxn id="23" idx="0"/>
            <a:endCxn id="22" idx="2"/>
          </p:cNvCxnSpPr>
          <p:nvPr/>
        </p:nvCxnSpPr>
        <p:spPr bwMode="auto">
          <a:xfrm flipV="1">
            <a:off x="16764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35" name="Rectangle 50"/>
          <p:cNvSpPr>
            <a:spLocks noChangeArrowheads="1"/>
          </p:cNvSpPr>
          <p:nvPr/>
        </p:nvSpPr>
        <p:spPr bwMode="auto">
          <a:xfrm>
            <a:off x="3016155" y="1883392"/>
            <a:ext cx="1022445" cy="685800"/>
          </a:xfrm>
          <a:prstGeom prst="rect">
            <a:avLst/>
          </a:prstGeom>
          <a:ln>
            <a:solidFill>
              <a:schemeClr val="accent6">
                <a:lumMod val="75000"/>
              </a:schemeClr>
            </a:solidFill>
            <a:headEnd/>
            <a:tailEnd/>
          </a:ln>
        </p:spPr>
        <p:style>
          <a:lnRef idx="3">
            <a:schemeClr val="lt1"/>
          </a:lnRef>
          <a:fillRef idx="1">
            <a:schemeClr val="accent2"/>
          </a:fillRef>
          <a:effectRef idx="1">
            <a:schemeClr val="accent2"/>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Chart of Accounts LW00</a:t>
            </a:r>
            <a:endParaRPr lang="en-US" sz="1400" kern="0" noProof="1">
              <a:solidFill>
                <a:schemeClr val="tx1"/>
              </a:solidFill>
              <a:latin typeface="Verdana" pitchFamily="34" charset="0"/>
              <a:ea typeface="Verdana" pitchFamily="34" charset="0"/>
              <a:cs typeface="Verdana" pitchFamily="34" charset="0"/>
            </a:endParaRPr>
          </a:p>
        </p:txBody>
      </p:sp>
      <p:cxnSp>
        <p:nvCxnSpPr>
          <p:cNvPr id="36" name="Straight Connector 35"/>
          <p:cNvCxnSpPr>
            <a:stCxn id="35" idx="1"/>
            <a:endCxn id="23" idx="3"/>
          </p:cNvCxnSpPr>
          <p:nvPr/>
        </p:nvCxnSpPr>
        <p:spPr bwMode="auto">
          <a:xfrm flipH="1" flipV="1">
            <a:off x="2705100" y="2222310"/>
            <a:ext cx="311055" cy="3982"/>
          </a:xfrm>
          <a:prstGeom prst="line">
            <a:avLst/>
          </a:prstGeom>
          <a:solidFill>
            <a:schemeClr val="accent1"/>
          </a:solidFill>
          <a:ln w="9525" cap="flat" cmpd="sng" algn="ctr">
            <a:solidFill>
              <a:schemeClr val="accent6">
                <a:lumMod val="75000"/>
              </a:schemeClr>
            </a:solidFill>
            <a:prstDash val="solid"/>
            <a:round/>
            <a:headEnd type="none" w="med" len="med"/>
            <a:tailEnd type="none" w="med" len="med"/>
          </a:ln>
          <a:effectLst/>
        </p:spPr>
      </p:cxnSp>
    </p:spTree>
    <p:extLst>
      <p:ext uri="{BB962C8B-B14F-4D97-AF65-F5344CB8AC3E}">
        <p14:creationId xmlns:p14="http://schemas.microsoft.com/office/powerpoint/2010/main" val="7569892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Finance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Profit Center</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3"/>
            <a:ext cx="4647569" cy="2625988"/>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2462213"/>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A profit center is a management oriented organizational unit used for internal controlling </a:t>
            </a:r>
            <a:r>
              <a:rPr lang="en-US" sz="1600" dirty="0" smtClean="0">
                <a:solidFill>
                  <a:schemeClr val="accent4">
                    <a:lumMod val="10000"/>
                  </a:schemeClr>
                </a:solidFill>
                <a:latin typeface="Verdana" pitchFamily="34" charset="0"/>
                <a:ea typeface="Verdana" pitchFamily="34" charset="0"/>
                <a:cs typeface="Verdana" pitchFamily="34" charset="0"/>
              </a:rPr>
              <a:t>purposes.</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Dividing the company up into profit centers allows one to analyze areas of responsibility and to delegate responsibility to decentralized units, thus treating them as “companies within the company</a:t>
            </a:r>
            <a:r>
              <a:rPr lang="en-US" sz="1600" dirty="0" smtClean="0">
                <a:solidFill>
                  <a:schemeClr val="accent4">
                    <a:lumMod val="10000"/>
                  </a:schemeClr>
                </a:solidFill>
                <a:latin typeface="Verdana" pitchFamily="34" charset="0"/>
                <a:ea typeface="Verdana" pitchFamily="34" charset="0"/>
                <a:cs typeface="Verdana" pitchFamily="34" charset="0"/>
              </a:rPr>
              <a:t>”.</a:t>
            </a:r>
            <a:endParaRPr lang="en-US" sz="1600" dirty="0">
              <a:solidFill>
                <a:schemeClr val="accent4">
                  <a:lumMod val="10000"/>
                </a:schemeClr>
              </a:solidFill>
              <a:latin typeface="Verdana" pitchFamily="34" charset="0"/>
              <a:ea typeface="Verdana" pitchFamily="34" charset="0"/>
              <a:cs typeface="Verdana" pitchFamily="34" charset="0"/>
            </a:endParaRPr>
          </a:p>
        </p:txBody>
      </p:sp>
      <p:sp>
        <p:nvSpPr>
          <p:cNvPr id="55" name="Rectangle 50"/>
          <p:cNvSpPr>
            <a:spLocks noChangeArrowheads="1"/>
          </p:cNvSpPr>
          <p:nvPr/>
        </p:nvSpPr>
        <p:spPr bwMode="auto">
          <a:xfrm>
            <a:off x="11049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56" name="Rectangle 50"/>
          <p:cNvSpPr>
            <a:spLocks noChangeArrowheads="1"/>
          </p:cNvSpPr>
          <p:nvPr/>
        </p:nvSpPr>
        <p:spPr bwMode="auto">
          <a:xfrm>
            <a:off x="6477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57" name="Rectangle 50"/>
          <p:cNvSpPr>
            <a:spLocks noChangeArrowheads="1"/>
          </p:cNvSpPr>
          <p:nvPr/>
        </p:nvSpPr>
        <p:spPr bwMode="auto">
          <a:xfrm>
            <a:off x="647700" y="2768220"/>
            <a:ext cx="2057400" cy="58458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Company Code</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59" name="Rectangle 50"/>
          <p:cNvSpPr>
            <a:spLocks noChangeArrowheads="1"/>
          </p:cNvSpPr>
          <p:nvPr/>
        </p:nvSpPr>
        <p:spPr bwMode="auto">
          <a:xfrm>
            <a:off x="609600" y="3733800"/>
            <a:ext cx="838200" cy="6858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anchor="ctr"/>
          <a:lstStyle/>
          <a:p>
            <a:pPr indent="-342900" algn="ctr" eaLnBrk="1" fontAlgn="auto" hangingPunct="1">
              <a:spcBef>
                <a:spcPts val="0"/>
              </a:spcBef>
              <a:spcAft>
                <a:spcPts val="0"/>
              </a:spcAft>
            </a:pPr>
            <a:r>
              <a:rPr lang="en-US" sz="1400" kern="0" noProof="1">
                <a:solidFill>
                  <a:srgbClr val="FFFFFF"/>
                </a:solidFill>
                <a:latin typeface="Verdana" pitchFamily="34" charset="0"/>
                <a:ea typeface="Verdana" pitchFamily="34" charset="0"/>
                <a:cs typeface="Verdana" pitchFamily="34" charset="0"/>
              </a:rPr>
              <a:t>Profit Center</a:t>
            </a:r>
          </a:p>
        </p:txBody>
      </p:sp>
      <p:cxnSp>
        <p:nvCxnSpPr>
          <p:cNvPr id="61" name="Straight Connector 60"/>
          <p:cNvCxnSpPr>
            <a:stCxn id="57" idx="0"/>
            <a:endCxn id="56" idx="2"/>
          </p:cNvCxnSpPr>
          <p:nvPr/>
        </p:nvCxnSpPr>
        <p:spPr bwMode="auto">
          <a:xfrm flipV="1">
            <a:off x="1676400" y="2514600"/>
            <a:ext cx="0" cy="2536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62" name="Straight Connector 61"/>
          <p:cNvCxnSpPr>
            <a:stCxn id="56" idx="0"/>
            <a:endCxn id="55" idx="2"/>
          </p:cNvCxnSpPr>
          <p:nvPr/>
        </p:nvCxnSpPr>
        <p:spPr bwMode="auto">
          <a:xfrm flipV="1">
            <a:off x="16764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66" name="Straight Connector 65"/>
          <p:cNvCxnSpPr>
            <a:stCxn id="59" idx="0"/>
            <a:endCxn id="57" idx="2"/>
          </p:cNvCxnSpPr>
          <p:nvPr/>
        </p:nvCxnSpPr>
        <p:spPr bwMode="auto">
          <a:xfrm flipV="1">
            <a:off x="1028700" y="3352800"/>
            <a:ext cx="647700" cy="38100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68" name="Rectangle 50"/>
          <p:cNvSpPr>
            <a:spLocks noChangeArrowheads="1"/>
          </p:cNvSpPr>
          <p:nvPr/>
        </p:nvSpPr>
        <p:spPr bwMode="auto">
          <a:xfrm>
            <a:off x="3016155" y="1883392"/>
            <a:ext cx="1022445" cy="685800"/>
          </a:xfrm>
          <a:prstGeom prst="rect">
            <a:avLst/>
          </a:prstGeom>
          <a:ln>
            <a:solidFill>
              <a:schemeClr val="accent6">
                <a:lumMod val="75000"/>
              </a:schemeClr>
            </a:solidFill>
            <a:headEnd/>
            <a:tailEnd/>
          </a:ln>
        </p:spPr>
        <p:style>
          <a:lnRef idx="3">
            <a:schemeClr val="lt1"/>
          </a:lnRef>
          <a:fillRef idx="1">
            <a:schemeClr val="accent2"/>
          </a:fillRef>
          <a:effectRef idx="1">
            <a:schemeClr val="accent2"/>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Chart of Accounts LW00</a:t>
            </a:r>
            <a:endParaRPr lang="en-US" sz="1400" kern="0" noProof="1">
              <a:solidFill>
                <a:schemeClr val="tx1"/>
              </a:solidFill>
              <a:latin typeface="Verdana" pitchFamily="34" charset="0"/>
              <a:ea typeface="Verdana" pitchFamily="34" charset="0"/>
              <a:cs typeface="Verdana" pitchFamily="34" charset="0"/>
            </a:endParaRPr>
          </a:p>
        </p:txBody>
      </p:sp>
      <p:cxnSp>
        <p:nvCxnSpPr>
          <p:cNvPr id="69" name="Straight Connector 68"/>
          <p:cNvCxnSpPr>
            <a:stCxn id="68" idx="1"/>
            <a:endCxn id="56" idx="3"/>
          </p:cNvCxnSpPr>
          <p:nvPr/>
        </p:nvCxnSpPr>
        <p:spPr bwMode="auto">
          <a:xfrm flipH="1" flipV="1">
            <a:off x="2705100" y="2222310"/>
            <a:ext cx="311055" cy="3982"/>
          </a:xfrm>
          <a:prstGeom prst="line">
            <a:avLst/>
          </a:prstGeom>
          <a:solidFill>
            <a:schemeClr val="accent1"/>
          </a:solidFill>
          <a:ln w="9525" cap="flat" cmpd="sng" algn="ctr">
            <a:solidFill>
              <a:schemeClr val="accent6">
                <a:lumMod val="75000"/>
              </a:schemeClr>
            </a:solidFill>
            <a:prstDash val="solid"/>
            <a:round/>
            <a:headEnd type="none" w="med" len="med"/>
            <a:tailEnd type="none" w="med" len="med"/>
          </a:ln>
          <a:effectLst/>
        </p:spPr>
      </p:cxnSp>
    </p:spTree>
    <p:extLst>
      <p:ext uri="{BB962C8B-B14F-4D97-AF65-F5344CB8AC3E}">
        <p14:creationId xmlns:p14="http://schemas.microsoft.com/office/powerpoint/2010/main" val="3002861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Finance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Cost Center</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3"/>
            <a:ext cx="4647569" cy="1902727"/>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1723549"/>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The Cost Center Structure is used to represent the organization levels at which each </a:t>
            </a:r>
            <a:r>
              <a:rPr lang="en-US" sz="1600" dirty="0" smtClean="0">
                <a:solidFill>
                  <a:schemeClr val="accent4">
                    <a:lumMod val="10000"/>
                  </a:schemeClr>
                </a:solidFill>
                <a:latin typeface="Verdana" pitchFamily="34" charset="0"/>
                <a:ea typeface="Verdana" pitchFamily="34" charset="0"/>
                <a:cs typeface="Verdana" pitchFamily="34" charset="0"/>
              </a:rPr>
              <a:t>Department tracks </a:t>
            </a:r>
            <a:r>
              <a:rPr lang="en-US" sz="1600" dirty="0">
                <a:solidFill>
                  <a:schemeClr val="accent4">
                    <a:lumMod val="10000"/>
                  </a:schemeClr>
                </a:solidFill>
                <a:latin typeface="Verdana" pitchFamily="34" charset="0"/>
                <a:ea typeface="Verdana" pitchFamily="34" charset="0"/>
                <a:cs typeface="Verdana" pitchFamily="34" charset="0"/>
              </a:rPr>
              <a:t>spending or collects </a:t>
            </a:r>
            <a:r>
              <a:rPr lang="en-US" sz="1600" dirty="0" smtClean="0">
                <a:solidFill>
                  <a:schemeClr val="accent4">
                    <a:lumMod val="10000"/>
                  </a:schemeClr>
                </a:solidFill>
                <a:latin typeface="Verdana" pitchFamily="34" charset="0"/>
                <a:ea typeface="Verdana" pitchFamily="34" charset="0"/>
                <a:cs typeface="Verdana" pitchFamily="34" charset="0"/>
              </a:rPr>
              <a:t>costs.</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It is the lowest level at which costs can be allocated in an </a:t>
            </a:r>
            <a:r>
              <a:rPr lang="en-US" sz="1600" dirty="0" smtClean="0">
                <a:solidFill>
                  <a:schemeClr val="accent4">
                    <a:lumMod val="10000"/>
                  </a:schemeClr>
                </a:solidFill>
                <a:latin typeface="Verdana" pitchFamily="34" charset="0"/>
                <a:ea typeface="Verdana" pitchFamily="34" charset="0"/>
                <a:cs typeface="Verdana" pitchFamily="34" charset="0"/>
              </a:rPr>
              <a:t>organization.</a:t>
            </a:r>
            <a:endParaRPr lang="en-US" sz="1600" dirty="0">
              <a:solidFill>
                <a:schemeClr val="accent4">
                  <a:lumMod val="10000"/>
                </a:schemeClr>
              </a:solidFill>
              <a:latin typeface="Verdana" pitchFamily="34" charset="0"/>
              <a:ea typeface="Verdana" pitchFamily="34" charset="0"/>
              <a:cs typeface="Verdana" pitchFamily="34" charset="0"/>
            </a:endParaRPr>
          </a:p>
        </p:txBody>
      </p:sp>
      <p:sp>
        <p:nvSpPr>
          <p:cNvPr id="30" name="Rectangle 50"/>
          <p:cNvSpPr>
            <a:spLocks noChangeArrowheads="1"/>
          </p:cNvSpPr>
          <p:nvPr/>
        </p:nvSpPr>
        <p:spPr bwMode="auto">
          <a:xfrm>
            <a:off x="11049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31" name="Rectangle 50"/>
          <p:cNvSpPr>
            <a:spLocks noChangeArrowheads="1"/>
          </p:cNvSpPr>
          <p:nvPr/>
        </p:nvSpPr>
        <p:spPr bwMode="auto">
          <a:xfrm>
            <a:off x="6477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32" name="Rectangle 50"/>
          <p:cNvSpPr>
            <a:spLocks noChangeArrowheads="1"/>
          </p:cNvSpPr>
          <p:nvPr/>
        </p:nvSpPr>
        <p:spPr bwMode="auto">
          <a:xfrm>
            <a:off x="647700" y="2768220"/>
            <a:ext cx="2057400" cy="58458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Company Code</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35" name="Rectangle 50"/>
          <p:cNvSpPr>
            <a:spLocks noChangeArrowheads="1"/>
          </p:cNvSpPr>
          <p:nvPr/>
        </p:nvSpPr>
        <p:spPr bwMode="auto">
          <a:xfrm>
            <a:off x="609600" y="3733800"/>
            <a:ext cx="838200" cy="6858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anchor="ctr"/>
          <a:lstStyle/>
          <a:p>
            <a:pPr indent="-342900" algn="ctr" eaLnBrk="1" fontAlgn="auto" hangingPunct="1">
              <a:spcBef>
                <a:spcPts val="0"/>
              </a:spcBef>
              <a:spcAft>
                <a:spcPts val="0"/>
              </a:spcAft>
            </a:pPr>
            <a:r>
              <a:rPr lang="en-US" sz="1400" kern="0" noProof="1">
                <a:solidFill>
                  <a:srgbClr val="FFFFFF"/>
                </a:solidFill>
                <a:latin typeface="Verdana" pitchFamily="34" charset="0"/>
                <a:ea typeface="Verdana" pitchFamily="34" charset="0"/>
                <a:cs typeface="Verdana" pitchFamily="34" charset="0"/>
              </a:rPr>
              <a:t>Profit Center</a:t>
            </a:r>
          </a:p>
        </p:txBody>
      </p:sp>
      <p:sp>
        <p:nvSpPr>
          <p:cNvPr id="37" name="Rectangle 50"/>
          <p:cNvSpPr>
            <a:spLocks noChangeArrowheads="1"/>
          </p:cNvSpPr>
          <p:nvPr/>
        </p:nvSpPr>
        <p:spPr bwMode="auto">
          <a:xfrm>
            <a:off x="2286000" y="3733800"/>
            <a:ext cx="838200" cy="685800"/>
          </a:xfrm>
          <a:prstGeom prst="rect">
            <a:avLst/>
          </a:prstGeom>
          <a:ln>
            <a:headEnd/>
            <a:tailEnd/>
          </a:ln>
        </p:spPr>
        <p:style>
          <a:lnRef idx="0">
            <a:schemeClr val="dk1"/>
          </a:lnRef>
          <a:fillRef idx="3">
            <a:schemeClr val="dk1"/>
          </a:fillRef>
          <a:effectRef idx="3">
            <a:schemeClr val="dk1"/>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Cost </a:t>
            </a:r>
            <a:r>
              <a:rPr lang="en-US" sz="1400" kern="0" noProof="1">
                <a:solidFill>
                  <a:schemeClr val="tx1"/>
                </a:solidFill>
                <a:latin typeface="Verdana" pitchFamily="34" charset="0"/>
                <a:ea typeface="Verdana" pitchFamily="34" charset="0"/>
                <a:cs typeface="Verdana" pitchFamily="34" charset="0"/>
              </a:rPr>
              <a:t>Center</a:t>
            </a:r>
          </a:p>
        </p:txBody>
      </p:sp>
      <p:cxnSp>
        <p:nvCxnSpPr>
          <p:cNvPr id="39" name="Straight Connector 38"/>
          <p:cNvCxnSpPr>
            <a:stCxn id="32" idx="0"/>
            <a:endCxn id="31" idx="2"/>
          </p:cNvCxnSpPr>
          <p:nvPr/>
        </p:nvCxnSpPr>
        <p:spPr bwMode="auto">
          <a:xfrm flipV="1">
            <a:off x="1676400" y="2514600"/>
            <a:ext cx="0" cy="2536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40" name="Straight Connector 39"/>
          <p:cNvCxnSpPr>
            <a:stCxn id="31" idx="0"/>
            <a:endCxn id="30" idx="2"/>
          </p:cNvCxnSpPr>
          <p:nvPr/>
        </p:nvCxnSpPr>
        <p:spPr bwMode="auto">
          <a:xfrm flipV="1">
            <a:off x="16764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41" name="Rectangle 50"/>
          <p:cNvSpPr>
            <a:spLocks noChangeArrowheads="1"/>
          </p:cNvSpPr>
          <p:nvPr/>
        </p:nvSpPr>
        <p:spPr bwMode="auto">
          <a:xfrm>
            <a:off x="609600" y="4640239"/>
            <a:ext cx="838200" cy="685800"/>
          </a:xfrm>
          <a:prstGeom prst="rect">
            <a:avLst/>
          </a:prstGeom>
          <a:ln>
            <a:headEnd/>
            <a:tailEnd/>
          </a:ln>
        </p:spPr>
        <p:style>
          <a:lnRef idx="0">
            <a:schemeClr val="dk1"/>
          </a:lnRef>
          <a:fillRef idx="3">
            <a:schemeClr val="dk1"/>
          </a:fillRef>
          <a:effectRef idx="3">
            <a:schemeClr val="dk1"/>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Cost </a:t>
            </a:r>
            <a:r>
              <a:rPr lang="en-US" sz="1400" kern="0" noProof="1">
                <a:solidFill>
                  <a:schemeClr val="tx1"/>
                </a:solidFill>
                <a:latin typeface="Verdana" pitchFamily="34" charset="0"/>
                <a:ea typeface="Verdana" pitchFamily="34" charset="0"/>
                <a:cs typeface="Verdana" pitchFamily="34" charset="0"/>
              </a:rPr>
              <a:t>Center</a:t>
            </a:r>
          </a:p>
        </p:txBody>
      </p:sp>
      <p:cxnSp>
        <p:nvCxnSpPr>
          <p:cNvPr id="42" name="Straight Connector 41"/>
          <p:cNvCxnSpPr>
            <a:stCxn id="41" idx="0"/>
            <a:endCxn id="35" idx="2"/>
          </p:cNvCxnSpPr>
          <p:nvPr/>
        </p:nvCxnSpPr>
        <p:spPr bwMode="auto">
          <a:xfrm flipV="1">
            <a:off x="1028700" y="4419600"/>
            <a:ext cx="0" cy="220639"/>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44" name="Straight Connector 43"/>
          <p:cNvCxnSpPr>
            <a:stCxn id="35" idx="0"/>
            <a:endCxn id="32" idx="2"/>
          </p:cNvCxnSpPr>
          <p:nvPr/>
        </p:nvCxnSpPr>
        <p:spPr bwMode="auto">
          <a:xfrm flipV="1">
            <a:off x="1028700" y="3352800"/>
            <a:ext cx="647700" cy="38100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45" name="Straight Connector 44"/>
          <p:cNvCxnSpPr>
            <a:stCxn id="37" idx="0"/>
            <a:endCxn id="32" idx="2"/>
          </p:cNvCxnSpPr>
          <p:nvPr/>
        </p:nvCxnSpPr>
        <p:spPr bwMode="auto">
          <a:xfrm flipH="1" flipV="1">
            <a:off x="1676400" y="3352800"/>
            <a:ext cx="1028700" cy="38100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46" name="Rectangle 50"/>
          <p:cNvSpPr>
            <a:spLocks noChangeArrowheads="1"/>
          </p:cNvSpPr>
          <p:nvPr/>
        </p:nvSpPr>
        <p:spPr bwMode="auto">
          <a:xfrm>
            <a:off x="3016155" y="1883392"/>
            <a:ext cx="1022445" cy="685800"/>
          </a:xfrm>
          <a:prstGeom prst="rect">
            <a:avLst/>
          </a:prstGeom>
          <a:ln>
            <a:solidFill>
              <a:schemeClr val="accent6">
                <a:lumMod val="75000"/>
              </a:schemeClr>
            </a:solidFill>
            <a:headEnd/>
            <a:tailEnd/>
          </a:ln>
        </p:spPr>
        <p:style>
          <a:lnRef idx="3">
            <a:schemeClr val="lt1"/>
          </a:lnRef>
          <a:fillRef idx="1">
            <a:schemeClr val="accent2"/>
          </a:fillRef>
          <a:effectRef idx="1">
            <a:schemeClr val="accent2"/>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Chart of Accounts LW00</a:t>
            </a:r>
            <a:endParaRPr lang="en-US" sz="1400" kern="0" noProof="1">
              <a:solidFill>
                <a:schemeClr val="tx1"/>
              </a:solidFill>
              <a:latin typeface="Verdana" pitchFamily="34" charset="0"/>
              <a:ea typeface="Verdana" pitchFamily="34" charset="0"/>
              <a:cs typeface="Verdana" pitchFamily="34" charset="0"/>
            </a:endParaRPr>
          </a:p>
        </p:txBody>
      </p:sp>
      <p:cxnSp>
        <p:nvCxnSpPr>
          <p:cNvPr id="47" name="Straight Connector 46"/>
          <p:cNvCxnSpPr>
            <a:stCxn id="46" idx="1"/>
            <a:endCxn id="31" idx="3"/>
          </p:cNvCxnSpPr>
          <p:nvPr/>
        </p:nvCxnSpPr>
        <p:spPr bwMode="auto">
          <a:xfrm flipH="1" flipV="1">
            <a:off x="2705100" y="2222310"/>
            <a:ext cx="311055" cy="3982"/>
          </a:xfrm>
          <a:prstGeom prst="line">
            <a:avLst/>
          </a:prstGeom>
          <a:solidFill>
            <a:schemeClr val="accent1"/>
          </a:solidFill>
          <a:ln w="9525" cap="flat" cmpd="sng" algn="ctr">
            <a:solidFill>
              <a:schemeClr val="accent6">
                <a:lumMod val="75000"/>
              </a:schemeClr>
            </a:solidFill>
            <a:prstDash val="solid"/>
            <a:round/>
            <a:headEnd type="none" w="med" len="med"/>
            <a:tailEnd type="none" w="med" len="med"/>
          </a:ln>
          <a:effectLst/>
        </p:spPr>
      </p:cxnSp>
    </p:spTree>
    <p:extLst>
      <p:ext uri="{BB962C8B-B14F-4D97-AF65-F5344CB8AC3E}">
        <p14:creationId xmlns:p14="http://schemas.microsoft.com/office/powerpoint/2010/main" val="1119586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Financial Reporting</a:t>
            </a:r>
            <a:endParaRPr lang="en-US" dirty="0"/>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19</a:t>
            </a:fld>
            <a:endParaRPr lang="en-US" alt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687754484"/>
              </p:ext>
            </p:extLst>
          </p:nvPr>
        </p:nvGraphicFramePr>
        <p:xfrm>
          <a:off x="228600" y="1981200"/>
          <a:ext cx="8537574" cy="4191000"/>
        </p:xfrm>
        <a:graphic>
          <a:graphicData uri="http://schemas.openxmlformats.org/drawingml/2006/table">
            <a:tbl>
              <a:tblPr bandRow="1">
                <a:tableStyleId>{22838BEF-8BB2-4498-84A7-C5851F593DF1}</a:tableStyleId>
              </a:tblPr>
              <a:tblGrid>
                <a:gridCol w="2057400"/>
                <a:gridCol w="3124200"/>
                <a:gridCol w="3355974"/>
              </a:tblGrid>
              <a:tr h="370840">
                <a:tc>
                  <a:txBody>
                    <a:bodyPr/>
                    <a:lstStyle/>
                    <a:p>
                      <a:pPr algn="l"/>
                      <a:r>
                        <a:rPr lang="en-US" sz="1600" b="1" dirty="0" smtClean="0">
                          <a:solidFill>
                            <a:schemeClr val="tx1"/>
                          </a:solidFill>
                          <a:latin typeface="Verdana" pitchFamily="34" charset="0"/>
                          <a:ea typeface="Verdana" pitchFamily="34" charset="0"/>
                          <a:cs typeface="Verdana" pitchFamily="34" charset="0"/>
                        </a:rPr>
                        <a:t>Characteristics</a:t>
                      </a:r>
                      <a:endParaRPr lang="en-US" sz="1600" b="1" dirty="0">
                        <a:solidFill>
                          <a:schemeClr val="tx1"/>
                        </a:solidFill>
                        <a:latin typeface="Verdana" pitchFamily="34" charset="0"/>
                        <a:ea typeface="Verdana" pitchFamily="34" charset="0"/>
                        <a:cs typeface="Verdana" pitchFamily="34" charset="0"/>
                      </a:endParaRPr>
                    </a:p>
                  </a:txBody>
                  <a:tcPr anchor="ctr">
                    <a:solidFill>
                      <a:schemeClr val="accent1"/>
                    </a:solidFill>
                  </a:tcPr>
                </a:tc>
                <a:tc>
                  <a:txBody>
                    <a:bodyPr/>
                    <a:lstStyle/>
                    <a:p>
                      <a:pPr marL="0" indent="0" algn="ctr">
                        <a:buFont typeface="Arial" pitchFamily="34" charset="0"/>
                        <a:buNone/>
                      </a:pPr>
                      <a:r>
                        <a:rPr lang="en-US" sz="1600" b="1" dirty="0" smtClean="0">
                          <a:solidFill>
                            <a:schemeClr val="tx1"/>
                          </a:solidFill>
                          <a:latin typeface="Verdana" pitchFamily="34" charset="0"/>
                          <a:ea typeface="Verdana" pitchFamily="34" charset="0"/>
                          <a:cs typeface="Verdana" pitchFamily="34" charset="0"/>
                        </a:rPr>
                        <a:t>Financial Accounting</a:t>
                      </a:r>
                      <a:endParaRPr lang="en-US" sz="1600" b="1" dirty="0">
                        <a:solidFill>
                          <a:schemeClr val="tx1"/>
                        </a:solidFill>
                        <a:latin typeface="Verdana" pitchFamily="34" charset="0"/>
                        <a:ea typeface="Verdana" pitchFamily="34" charset="0"/>
                        <a:cs typeface="Verdana" pitchFamily="34" charset="0"/>
                      </a:endParaRPr>
                    </a:p>
                  </a:txBody>
                  <a:tcPr>
                    <a:solidFill>
                      <a:schemeClr val="accent1"/>
                    </a:solidFill>
                  </a:tcPr>
                </a:tc>
                <a:tc>
                  <a:txBody>
                    <a:bodyPr/>
                    <a:lstStyle/>
                    <a:p>
                      <a:pPr marL="0" indent="0" algn="ctr">
                        <a:buFont typeface="Arial" pitchFamily="34" charset="0"/>
                        <a:buNone/>
                      </a:pPr>
                      <a:r>
                        <a:rPr lang="en-US" sz="1600" b="1" dirty="0" smtClean="0">
                          <a:solidFill>
                            <a:schemeClr val="tx1"/>
                          </a:solidFill>
                          <a:latin typeface="Verdana" pitchFamily="34" charset="0"/>
                          <a:ea typeface="Verdana" pitchFamily="34" charset="0"/>
                          <a:cs typeface="Verdana" pitchFamily="34" charset="0"/>
                        </a:rPr>
                        <a:t>Controlling</a:t>
                      </a:r>
                      <a:endParaRPr lang="en-US" sz="1600" b="1" dirty="0">
                        <a:solidFill>
                          <a:schemeClr val="tx1"/>
                        </a:solidFill>
                        <a:latin typeface="Verdana" pitchFamily="34" charset="0"/>
                        <a:ea typeface="Verdana" pitchFamily="34" charset="0"/>
                        <a:cs typeface="Verdana" pitchFamily="34" charset="0"/>
                      </a:endParaRPr>
                    </a:p>
                  </a:txBody>
                  <a:tcPr>
                    <a:solidFill>
                      <a:schemeClr val="accent1"/>
                    </a:solidFill>
                  </a:tcPr>
                </a:tc>
              </a:tr>
              <a:tr h="695960">
                <a:tc>
                  <a:txBody>
                    <a:bodyPr/>
                    <a:lstStyle/>
                    <a:p>
                      <a:pPr algn="l"/>
                      <a:r>
                        <a:rPr lang="en-US" sz="1600" b="1" dirty="0" smtClean="0">
                          <a:solidFill>
                            <a:schemeClr val="tx1"/>
                          </a:solidFill>
                          <a:latin typeface="Verdana" pitchFamily="34" charset="0"/>
                          <a:ea typeface="Verdana" pitchFamily="34" charset="0"/>
                          <a:cs typeface="Verdana" pitchFamily="34" charset="0"/>
                        </a:rPr>
                        <a:t>Type of Information</a:t>
                      </a:r>
                      <a:endParaRPr lang="en-US" sz="1600" b="1" dirty="0">
                        <a:solidFill>
                          <a:schemeClr val="tx1"/>
                        </a:solidFill>
                        <a:latin typeface="Verdana" pitchFamily="34" charset="0"/>
                        <a:ea typeface="Verdana" pitchFamily="34" charset="0"/>
                        <a:cs typeface="Verdana" pitchFamily="34" charset="0"/>
                      </a:endParaRPr>
                    </a:p>
                  </a:txBody>
                  <a:tcPr anchor="ctr">
                    <a:solidFill>
                      <a:schemeClr val="accent1"/>
                    </a:solidFill>
                  </a:tcPr>
                </a:tc>
                <a:tc>
                  <a:txBody>
                    <a:bodyPr/>
                    <a:lstStyle/>
                    <a:p>
                      <a:pPr marL="285750" indent="-285750">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Financial Information</a:t>
                      </a:r>
                      <a:endParaRPr lang="en-US" sz="1600" dirty="0">
                        <a:solidFill>
                          <a:schemeClr val="accent4">
                            <a:lumMod val="10000"/>
                          </a:schemeClr>
                        </a:solidFill>
                        <a:latin typeface="Verdana" pitchFamily="34" charset="0"/>
                        <a:ea typeface="Verdana" pitchFamily="34" charset="0"/>
                        <a:cs typeface="Verdana" pitchFamily="34" charset="0"/>
                      </a:endParaRPr>
                    </a:p>
                  </a:txBody>
                  <a:tcPr>
                    <a:noFill/>
                  </a:tcPr>
                </a:tc>
                <a:tc>
                  <a:txBody>
                    <a:bodyPr/>
                    <a:lstStyle/>
                    <a:p>
                      <a:pPr marL="285750" indent="-285750">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Cost and Profitability</a:t>
                      </a:r>
                      <a:endParaRPr lang="en-US" sz="1600" dirty="0">
                        <a:solidFill>
                          <a:schemeClr val="accent4">
                            <a:lumMod val="10000"/>
                          </a:schemeClr>
                        </a:solidFill>
                        <a:latin typeface="Verdana" pitchFamily="34" charset="0"/>
                        <a:ea typeface="Verdana" pitchFamily="34" charset="0"/>
                        <a:cs typeface="Verdana" pitchFamily="34" charset="0"/>
                      </a:endParaRPr>
                    </a:p>
                  </a:txBody>
                  <a:tcPr>
                    <a:noFill/>
                  </a:tcPr>
                </a:tc>
              </a:tr>
              <a:tr h="457200">
                <a:tc>
                  <a:txBody>
                    <a:bodyPr/>
                    <a:lstStyle/>
                    <a:p>
                      <a:pPr algn="l"/>
                      <a:r>
                        <a:rPr lang="en-US" sz="1600" b="1" dirty="0" smtClean="0">
                          <a:solidFill>
                            <a:schemeClr val="tx1"/>
                          </a:solidFill>
                          <a:latin typeface="Verdana" pitchFamily="34" charset="0"/>
                          <a:ea typeface="Verdana" pitchFamily="34" charset="0"/>
                          <a:cs typeface="Verdana" pitchFamily="34" charset="0"/>
                        </a:rPr>
                        <a:t>Usage</a:t>
                      </a:r>
                      <a:endParaRPr lang="en-US" sz="1600" b="1" dirty="0">
                        <a:solidFill>
                          <a:schemeClr val="tx1"/>
                        </a:solidFill>
                        <a:latin typeface="Verdana" pitchFamily="34" charset="0"/>
                        <a:ea typeface="Verdana" pitchFamily="34" charset="0"/>
                        <a:cs typeface="Verdana" pitchFamily="34" charset="0"/>
                      </a:endParaRPr>
                    </a:p>
                  </a:txBody>
                  <a:tcPr anchor="ctr">
                    <a:solidFill>
                      <a:schemeClr val="accent1"/>
                    </a:solidFill>
                  </a:tcPr>
                </a:tc>
                <a:tc>
                  <a:txBody>
                    <a:bodyPr/>
                    <a:lstStyle/>
                    <a:p>
                      <a:pPr marL="285750" indent="-285750">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External Usage</a:t>
                      </a:r>
                      <a:endParaRPr lang="en-US" sz="1600" dirty="0">
                        <a:solidFill>
                          <a:schemeClr val="accent4">
                            <a:lumMod val="10000"/>
                          </a:schemeClr>
                        </a:solidFill>
                        <a:latin typeface="Verdana" pitchFamily="34" charset="0"/>
                        <a:ea typeface="Verdana" pitchFamily="34" charset="0"/>
                        <a:cs typeface="Verdana" pitchFamily="34" charset="0"/>
                      </a:endParaRPr>
                    </a:p>
                  </a:txBody>
                  <a:tcPr>
                    <a:noFill/>
                  </a:tcPr>
                </a:tc>
                <a:tc>
                  <a:txBody>
                    <a:bodyPr/>
                    <a:lstStyle/>
                    <a:p>
                      <a:pPr marL="285750" indent="-285750">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Internal Usage</a:t>
                      </a:r>
                      <a:endParaRPr lang="en-US" sz="1600" dirty="0">
                        <a:solidFill>
                          <a:schemeClr val="accent4">
                            <a:lumMod val="10000"/>
                          </a:schemeClr>
                        </a:solidFill>
                        <a:latin typeface="Verdana" pitchFamily="34" charset="0"/>
                        <a:ea typeface="Verdana" pitchFamily="34" charset="0"/>
                        <a:cs typeface="Verdana" pitchFamily="34" charset="0"/>
                      </a:endParaRPr>
                    </a:p>
                  </a:txBody>
                  <a:tcPr>
                    <a:noFill/>
                  </a:tcPr>
                </a:tc>
              </a:tr>
              <a:tr h="685800">
                <a:tc>
                  <a:txBody>
                    <a:bodyPr/>
                    <a:lstStyle/>
                    <a:p>
                      <a:pPr algn="l"/>
                      <a:r>
                        <a:rPr lang="en-US" sz="1600" b="1" dirty="0" smtClean="0">
                          <a:solidFill>
                            <a:schemeClr val="tx1"/>
                          </a:solidFill>
                          <a:latin typeface="Verdana" pitchFamily="34" charset="0"/>
                          <a:ea typeface="Verdana" pitchFamily="34" charset="0"/>
                          <a:cs typeface="Verdana" pitchFamily="34" charset="0"/>
                        </a:rPr>
                        <a:t>Scope</a:t>
                      </a:r>
                      <a:endParaRPr lang="en-US" sz="1600" b="1" dirty="0">
                        <a:solidFill>
                          <a:schemeClr val="tx1"/>
                        </a:solidFill>
                        <a:latin typeface="Verdana" pitchFamily="34" charset="0"/>
                        <a:ea typeface="Verdana" pitchFamily="34" charset="0"/>
                        <a:cs typeface="Verdana" pitchFamily="34" charset="0"/>
                      </a:endParaRPr>
                    </a:p>
                  </a:txBody>
                  <a:tcPr anchor="ctr">
                    <a:solidFill>
                      <a:schemeClr val="accent1"/>
                    </a:solidFill>
                  </a:tcPr>
                </a:tc>
                <a:tc>
                  <a:txBody>
                    <a:bodyPr/>
                    <a:lstStyle/>
                    <a:p>
                      <a:pPr marL="285750" indent="-285750">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Legal</a:t>
                      </a:r>
                      <a:r>
                        <a:rPr lang="en-US" sz="1600" baseline="0" dirty="0" smtClean="0">
                          <a:solidFill>
                            <a:schemeClr val="accent4">
                              <a:lumMod val="10000"/>
                            </a:schemeClr>
                          </a:solidFill>
                          <a:latin typeface="Verdana" pitchFamily="34" charset="0"/>
                          <a:ea typeface="Verdana" pitchFamily="34" charset="0"/>
                          <a:cs typeface="Verdana" pitchFamily="34" charset="0"/>
                        </a:rPr>
                        <a:t> Entity as a total</a:t>
                      </a:r>
                      <a:endParaRPr lang="en-US" sz="1600" dirty="0">
                        <a:solidFill>
                          <a:schemeClr val="accent4">
                            <a:lumMod val="10000"/>
                          </a:schemeClr>
                        </a:solidFill>
                        <a:latin typeface="Verdana" pitchFamily="34" charset="0"/>
                        <a:ea typeface="Verdana" pitchFamily="34" charset="0"/>
                        <a:cs typeface="Verdana" pitchFamily="34" charset="0"/>
                      </a:endParaRPr>
                    </a:p>
                  </a:txBody>
                  <a:tcPr>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600" b="0" i="0" u="none" strike="noStrike" kern="0" cap="none" spc="0" normalizeH="0" baseline="0" noProof="0" dirty="0" smtClean="0">
                          <a:ln>
                            <a:noFill/>
                          </a:ln>
                          <a:solidFill>
                            <a:sysClr val="windowText" lastClr="000000"/>
                          </a:solidFill>
                          <a:effectLst/>
                          <a:uLnTx/>
                          <a:uFillTx/>
                          <a:latin typeface="Verdana" pitchFamily="34" charset="0"/>
                          <a:ea typeface="Verdana" pitchFamily="34" charset="0"/>
                          <a:cs typeface="Verdana" pitchFamily="34" charset="0"/>
                        </a:rPr>
                        <a:t>Different internal areas of responsibility</a:t>
                      </a:r>
                    </a:p>
                  </a:txBody>
                  <a:tcPr>
                    <a:noFill/>
                  </a:tcPr>
                </a:tc>
              </a:tr>
              <a:tr h="914400">
                <a:tc>
                  <a:txBody>
                    <a:bodyPr/>
                    <a:lstStyle/>
                    <a:p>
                      <a:pPr algn="l"/>
                      <a:r>
                        <a:rPr lang="en-US" sz="1600" b="1" dirty="0" smtClean="0">
                          <a:solidFill>
                            <a:schemeClr val="tx1"/>
                          </a:solidFill>
                          <a:latin typeface="Verdana" pitchFamily="34" charset="0"/>
                          <a:ea typeface="Verdana" pitchFamily="34" charset="0"/>
                          <a:cs typeface="Verdana" pitchFamily="34" charset="0"/>
                        </a:rPr>
                        <a:t>Interest Groups</a:t>
                      </a:r>
                      <a:endParaRPr lang="en-US" sz="1600" b="1" dirty="0">
                        <a:solidFill>
                          <a:schemeClr val="tx1"/>
                        </a:solidFill>
                        <a:latin typeface="Verdana" pitchFamily="34" charset="0"/>
                        <a:ea typeface="Verdana" pitchFamily="34" charset="0"/>
                        <a:cs typeface="Verdana" pitchFamily="34" charset="0"/>
                      </a:endParaRPr>
                    </a:p>
                  </a:txBody>
                  <a:tcPr anchor="ctr">
                    <a:solidFill>
                      <a:schemeClr val="accent1"/>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600" b="0" i="0" u="none" strike="noStrike" kern="0" cap="none" spc="0" normalizeH="0" baseline="0" noProof="0" dirty="0" smtClean="0">
                          <a:ln>
                            <a:noFill/>
                          </a:ln>
                          <a:solidFill>
                            <a:sysClr val="windowText" lastClr="000000"/>
                          </a:solidFill>
                          <a:effectLst/>
                          <a:uLnTx/>
                          <a:uFillTx/>
                          <a:latin typeface="Verdana" pitchFamily="34" charset="0"/>
                          <a:ea typeface="Verdana" pitchFamily="34" charset="0"/>
                          <a:cs typeface="Verdana" pitchFamily="34" charset="0"/>
                        </a:rPr>
                        <a:t>Main interest group: CFO, financial institutions, auditors, tax authorities</a:t>
                      </a:r>
                    </a:p>
                  </a:txBody>
                  <a:tcPr>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600" b="0" i="0" u="none" strike="noStrike" kern="0" cap="none" spc="0" normalizeH="0" baseline="0" noProof="0" dirty="0" smtClean="0">
                          <a:ln>
                            <a:noFill/>
                          </a:ln>
                          <a:solidFill>
                            <a:srgbClr val="000000"/>
                          </a:solidFill>
                          <a:effectLst/>
                          <a:uLnTx/>
                          <a:uFillTx/>
                          <a:latin typeface="Verdana" pitchFamily="34" charset="0"/>
                          <a:ea typeface="Verdana" pitchFamily="34" charset="0"/>
                          <a:cs typeface="Verdana" pitchFamily="34" charset="0"/>
                        </a:rPr>
                        <a:t>Main interest group: Management</a:t>
                      </a:r>
                    </a:p>
                  </a:txBody>
                  <a:tcPr>
                    <a:noFill/>
                  </a:tcPr>
                </a:tc>
              </a:tr>
              <a:tr h="370840">
                <a:tc>
                  <a:txBody>
                    <a:bodyPr/>
                    <a:lstStyle/>
                    <a:p>
                      <a:pPr algn="l"/>
                      <a:r>
                        <a:rPr lang="en-US" sz="1600" b="1" dirty="0" smtClean="0">
                          <a:solidFill>
                            <a:schemeClr val="tx1"/>
                          </a:solidFill>
                          <a:latin typeface="Verdana" pitchFamily="34" charset="0"/>
                          <a:ea typeface="Verdana" pitchFamily="34" charset="0"/>
                          <a:cs typeface="Verdana" pitchFamily="34" charset="0"/>
                        </a:rPr>
                        <a:t>Provided Tools</a:t>
                      </a:r>
                      <a:endParaRPr lang="en-US" sz="1600" b="1" dirty="0">
                        <a:solidFill>
                          <a:schemeClr val="tx1"/>
                        </a:solidFill>
                        <a:latin typeface="Verdana" pitchFamily="34" charset="0"/>
                        <a:ea typeface="Verdana" pitchFamily="34" charset="0"/>
                        <a:cs typeface="Verdana" pitchFamily="34" charset="0"/>
                      </a:endParaRPr>
                    </a:p>
                  </a:txBody>
                  <a:tcPr anchor="ctr">
                    <a:solidFill>
                      <a:schemeClr val="accent1"/>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600" b="0" i="0" u="none" strike="noStrike" kern="0" cap="none" spc="0" normalizeH="0" baseline="0" noProof="0" dirty="0" smtClean="0">
                          <a:ln>
                            <a:noFill/>
                          </a:ln>
                          <a:solidFill>
                            <a:srgbClr val="000000"/>
                          </a:solidFill>
                          <a:effectLst/>
                          <a:uLnTx/>
                          <a:uFillTx/>
                          <a:latin typeface="Verdana" pitchFamily="34" charset="0"/>
                          <a:ea typeface="Verdana" pitchFamily="34" charset="0"/>
                          <a:cs typeface="Verdana" pitchFamily="34" charset="0"/>
                        </a:rPr>
                        <a:t>Provides tools for financial reports (P&amp;L, Balance Sheet), Account Analysis</a:t>
                      </a:r>
                    </a:p>
                  </a:txBody>
                  <a:tcPr>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600" b="0" i="0" u="none" strike="noStrike" kern="0" cap="none" spc="0" normalizeH="0" baseline="0" noProof="0" dirty="0" smtClean="0">
                          <a:ln>
                            <a:noFill/>
                          </a:ln>
                          <a:solidFill>
                            <a:srgbClr val="000000"/>
                          </a:solidFill>
                          <a:effectLst/>
                          <a:uLnTx/>
                          <a:uFillTx/>
                          <a:latin typeface="Verdana" pitchFamily="34" charset="0"/>
                          <a:ea typeface="Verdana" pitchFamily="34" charset="0"/>
                          <a:cs typeface="Verdana" pitchFamily="34" charset="0"/>
                        </a:rPr>
                        <a:t>Provides tools for Budgeting/Planning, Reports for Plan Actual Comparisons</a:t>
                      </a:r>
                    </a:p>
                  </a:txBody>
                  <a:tcPr>
                    <a:noFill/>
                  </a:tcPr>
                </a:tc>
              </a:tr>
            </a:tbl>
          </a:graphicData>
        </a:graphic>
      </p:graphicFrame>
      <p:sp>
        <p:nvSpPr>
          <p:cNvPr id="8" name="TextBox 7"/>
          <p:cNvSpPr txBox="1"/>
          <p:nvPr/>
        </p:nvSpPr>
        <p:spPr>
          <a:xfrm>
            <a:off x="304800" y="990600"/>
            <a:ext cx="8534400" cy="707886"/>
          </a:xfrm>
          <a:prstGeom prst="rect">
            <a:avLst/>
          </a:prstGeom>
          <a:noFill/>
        </p:spPr>
        <p:txBody>
          <a:bodyPr wrap="square" rtlCol="0">
            <a:spAutoFit/>
          </a:bodyPr>
          <a:lstStyle/>
          <a:p>
            <a:r>
              <a:rPr lang="en-US" sz="2000" dirty="0" smtClean="0">
                <a:solidFill>
                  <a:schemeClr val="accent4">
                    <a:lumMod val="10000"/>
                  </a:schemeClr>
                </a:solidFill>
                <a:latin typeface="Verdana" pitchFamily="34" charset="0"/>
                <a:ea typeface="Verdana" pitchFamily="34" charset="0"/>
                <a:cs typeface="Verdana" pitchFamily="34" charset="0"/>
              </a:rPr>
              <a:t>The Controlling module addresses the internal accounting requirements of the organization.</a:t>
            </a:r>
            <a:endParaRPr lang="en-US" sz="2000" dirty="0">
              <a:solidFill>
                <a:schemeClr val="accent4">
                  <a:lumMod val="10000"/>
                </a:schemeClr>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1849456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Cost Elements</a:t>
            </a:r>
            <a:endParaRPr lang="en-US" dirty="0"/>
          </a:p>
        </p:txBody>
      </p:sp>
      <p:sp>
        <p:nvSpPr>
          <p:cNvPr id="11" name="Rectangle 6"/>
          <p:cNvSpPr>
            <a:spLocks noChangeArrowheads="1"/>
          </p:cNvSpPr>
          <p:nvPr/>
        </p:nvSpPr>
        <p:spPr bwMode="gray">
          <a:xfrm>
            <a:off x="4914900" y="1251612"/>
            <a:ext cx="3886200" cy="2482187"/>
          </a:xfrm>
          <a:prstGeom prst="rect">
            <a:avLst/>
          </a:prstGeom>
          <a:ln>
            <a:headEnd/>
            <a:tailEn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lIns="45720" rIns="45720"/>
          <a:lstStyle/>
          <a:p>
            <a:pPr marL="231775" indent="-177800" eaLnBrk="0" hangingPunct="0">
              <a:spcBef>
                <a:spcPts val="600"/>
              </a:spcBef>
              <a:spcAft>
                <a:spcPts val="600"/>
              </a:spcAft>
              <a:buClr>
                <a:srgbClr val="FF9900"/>
              </a:buClr>
              <a:buFont typeface="Wingdings" pitchFamily="2" charset="2"/>
              <a:buNone/>
            </a:pPr>
            <a:r>
              <a:rPr lang="en-US" b="1" dirty="0">
                <a:solidFill>
                  <a:srgbClr val="000000"/>
                </a:solidFill>
                <a:latin typeface="Verdana" pitchFamily="34" charset="0"/>
                <a:ea typeface="Verdana" pitchFamily="34" charset="0"/>
                <a:cs typeface="Verdana" pitchFamily="34" charset="0"/>
              </a:rPr>
              <a:t>Primary Cost Elements: </a:t>
            </a:r>
          </a:p>
          <a:p>
            <a:pPr marL="393700" indent="-285750" eaLnBrk="0" hangingPunct="0">
              <a:spcBef>
                <a:spcPts val="600"/>
              </a:spcBef>
              <a:spcAft>
                <a:spcPts val="600"/>
              </a:spcAft>
              <a:buFont typeface="Arial" pitchFamily="34" charset="0"/>
              <a:buChar char="•"/>
            </a:pPr>
            <a:r>
              <a:rPr lang="en-US" sz="1600" b="0" dirty="0">
                <a:solidFill>
                  <a:srgbClr val="000000"/>
                </a:solidFill>
                <a:latin typeface="Verdana" pitchFamily="34" charset="0"/>
                <a:ea typeface="Verdana" pitchFamily="34" charset="0"/>
                <a:cs typeface="Verdana" pitchFamily="34" charset="0"/>
              </a:rPr>
              <a:t>Represent costs which originate in FI from equivalent accounts (direct cost</a:t>
            </a:r>
            <a:r>
              <a:rPr lang="en-US" sz="1600" b="0" dirty="0" smtClean="0">
                <a:solidFill>
                  <a:srgbClr val="000000"/>
                </a:solidFill>
                <a:latin typeface="Verdana" pitchFamily="34" charset="0"/>
                <a:ea typeface="Verdana" pitchFamily="34" charset="0"/>
                <a:cs typeface="Verdana" pitchFamily="34" charset="0"/>
              </a:rPr>
              <a:t>).</a:t>
            </a:r>
            <a:endParaRPr lang="en-US" sz="1600" b="0" dirty="0">
              <a:solidFill>
                <a:srgbClr val="000000"/>
              </a:solidFill>
              <a:latin typeface="Verdana" pitchFamily="34" charset="0"/>
              <a:ea typeface="Verdana" pitchFamily="34" charset="0"/>
              <a:cs typeface="Verdana" pitchFamily="34" charset="0"/>
            </a:endParaRPr>
          </a:p>
          <a:p>
            <a:pPr marL="393700" indent="-285750" eaLnBrk="0" hangingPunct="0">
              <a:spcBef>
                <a:spcPts val="600"/>
              </a:spcBef>
              <a:spcAft>
                <a:spcPts val="600"/>
              </a:spcAft>
              <a:buFont typeface="Arial" pitchFamily="34" charset="0"/>
              <a:buChar char="•"/>
            </a:pPr>
            <a:r>
              <a:rPr lang="en-US" sz="1600" b="0" dirty="0">
                <a:solidFill>
                  <a:srgbClr val="000000"/>
                </a:solidFill>
                <a:latin typeface="Verdana" pitchFamily="34" charset="0"/>
                <a:ea typeface="Verdana" pitchFamily="34" charset="0"/>
                <a:cs typeface="Verdana" pitchFamily="34" charset="0"/>
              </a:rPr>
              <a:t>Are income statement accounts that will be used for management reporting within </a:t>
            </a:r>
            <a:r>
              <a:rPr lang="en-US" sz="1600" b="0" dirty="0" smtClean="0">
                <a:solidFill>
                  <a:srgbClr val="000000"/>
                </a:solidFill>
                <a:latin typeface="Verdana" pitchFamily="34" charset="0"/>
                <a:ea typeface="Verdana" pitchFamily="34" charset="0"/>
                <a:cs typeface="Verdana" pitchFamily="34" charset="0"/>
              </a:rPr>
              <a:t>Controlling.</a:t>
            </a:r>
            <a:endParaRPr lang="en-US" sz="1600" b="0" dirty="0">
              <a:solidFill>
                <a:srgbClr val="000000"/>
              </a:solidFill>
              <a:latin typeface="Verdana" pitchFamily="34" charset="0"/>
              <a:ea typeface="Verdana" pitchFamily="34" charset="0"/>
              <a:cs typeface="Verdana" pitchFamily="34" charset="0"/>
            </a:endParaRPr>
          </a:p>
        </p:txBody>
      </p:sp>
      <p:sp>
        <p:nvSpPr>
          <p:cNvPr id="12" name="Rectangle 6"/>
          <p:cNvSpPr>
            <a:spLocks noChangeArrowheads="1"/>
          </p:cNvSpPr>
          <p:nvPr/>
        </p:nvSpPr>
        <p:spPr bwMode="gray">
          <a:xfrm>
            <a:off x="4914900" y="4203700"/>
            <a:ext cx="3886200" cy="2273300"/>
          </a:xfrm>
          <a:prstGeom prst="rect">
            <a:avLst/>
          </a:prstGeom>
          <a:ln>
            <a:headEnd/>
            <a:tailEn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lIns="45720" rIns="45720"/>
          <a:lstStyle/>
          <a:p>
            <a:pPr marL="177800" indent="-123825">
              <a:spcBef>
                <a:spcPts val="600"/>
              </a:spcBef>
              <a:spcAft>
                <a:spcPts val="600"/>
              </a:spcAft>
              <a:buClr>
                <a:srgbClr val="FF9900"/>
              </a:buClr>
              <a:buFont typeface="Wingdings" pitchFamily="2" charset="2"/>
              <a:buNone/>
            </a:pPr>
            <a:r>
              <a:rPr lang="en-US" b="1" dirty="0">
                <a:solidFill>
                  <a:srgbClr val="000000"/>
                </a:solidFill>
                <a:latin typeface="Verdana" pitchFamily="34" charset="0"/>
                <a:ea typeface="Verdana" pitchFamily="34" charset="0"/>
                <a:cs typeface="Verdana" pitchFamily="34" charset="0"/>
              </a:rPr>
              <a:t>Secondary Cost Elements: </a:t>
            </a:r>
          </a:p>
          <a:p>
            <a:pPr marL="393700" indent="-285750">
              <a:spcBef>
                <a:spcPts val="600"/>
              </a:spcBef>
              <a:spcAft>
                <a:spcPts val="600"/>
              </a:spcAft>
              <a:buFont typeface="Arial" pitchFamily="34" charset="0"/>
              <a:buChar char="•"/>
            </a:pPr>
            <a:r>
              <a:rPr lang="en-US" sz="1600" dirty="0">
                <a:solidFill>
                  <a:srgbClr val="000000"/>
                </a:solidFill>
                <a:latin typeface="Verdana" pitchFamily="34" charset="0"/>
                <a:ea typeface="Verdana" pitchFamily="34" charset="0"/>
                <a:cs typeface="Verdana" pitchFamily="34" charset="0"/>
              </a:rPr>
              <a:t>Represent internal allocation (no equivalent accounts exist in FI</a:t>
            </a:r>
            <a:r>
              <a:rPr lang="en-US" sz="1600" dirty="0" smtClean="0">
                <a:solidFill>
                  <a:srgbClr val="000000"/>
                </a:solidFill>
                <a:latin typeface="Verdana" pitchFamily="34" charset="0"/>
                <a:ea typeface="Verdana" pitchFamily="34" charset="0"/>
                <a:cs typeface="Verdana" pitchFamily="34" charset="0"/>
              </a:rPr>
              <a:t>).</a:t>
            </a:r>
            <a:endParaRPr lang="en-US" sz="1600" dirty="0">
              <a:solidFill>
                <a:srgbClr val="000000"/>
              </a:solidFill>
              <a:latin typeface="Verdana" pitchFamily="34" charset="0"/>
              <a:ea typeface="Verdana" pitchFamily="34" charset="0"/>
              <a:cs typeface="Verdana" pitchFamily="34" charset="0"/>
            </a:endParaRPr>
          </a:p>
          <a:p>
            <a:pPr marL="393700" indent="-285750">
              <a:spcBef>
                <a:spcPts val="600"/>
              </a:spcBef>
              <a:spcAft>
                <a:spcPts val="600"/>
              </a:spcAft>
              <a:buFont typeface="Arial" pitchFamily="34" charset="0"/>
              <a:buChar char="•"/>
            </a:pPr>
            <a:r>
              <a:rPr lang="en-US" sz="1600" dirty="0">
                <a:solidFill>
                  <a:srgbClr val="000000"/>
                </a:solidFill>
                <a:latin typeface="Verdana" pitchFamily="34" charset="0"/>
                <a:ea typeface="Verdana" pitchFamily="34" charset="0"/>
                <a:cs typeface="Verdana" pitchFamily="34" charset="0"/>
              </a:rPr>
              <a:t>Portray internal value </a:t>
            </a:r>
            <a:r>
              <a:rPr lang="en-US" sz="1600" dirty="0" smtClean="0">
                <a:solidFill>
                  <a:srgbClr val="000000"/>
                </a:solidFill>
                <a:latin typeface="Verdana" pitchFamily="34" charset="0"/>
                <a:ea typeface="Verdana" pitchFamily="34" charset="0"/>
                <a:cs typeface="Verdana" pitchFamily="34" charset="0"/>
              </a:rPr>
              <a:t>flows.</a:t>
            </a:r>
            <a:endParaRPr lang="en-US" sz="1600" dirty="0">
              <a:solidFill>
                <a:srgbClr val="000000"/>
              </a:solidFill>
              <a:latin typeface="Verdana" pitchFamily="34" charset="0"/>
              <a:ea typeface="Verdana" pitchFamily="34" charset="0"/>
              <a:cs typeface="Verdana" pitchFamily="34" charset="0"/>
            </a:endParaRPr>
          </a:p>
          <a:p>
            <a:pPr marL="393700" indent="-285750">
              <a:spcBef>
                <a:spcPts val="600"/>
              </a:spcBef>
              <a:spcAft>
                <a:spcPts val="600"/>
              </a:spcAft>
              <a:buFont typeface="Arial" pitchFamily="34" charset="0"/>
              <a:buChar char="•"/>
            </a:pPr>
            <a:r>
              <a:rPr lang="en-US" sz="1600" dirty="0">
                <a:solidFill>
                  <a:srgbClr val="000000"/>
                </a:solidFill>
                <a:latin typeface="Verdana" pitchFamily="34" charset="0"/>
                <a:ea typeface="Verdana" pitchFamily="34" charset="0"/>
                <a:cs typeface="Verdana" pitchFamily="34" charset="0"/>
              </a:rPr>
              <a:t>Can only be administered and booked in </a:t>
            </a:r>
            <a:r>
              <a:rPr lang="en-US" sz="1600" dirty="0" smtClean="0">
                <a:solidFill>
                  <a:srgbClr val="000000"/>
                </a:solidFill>
                <a:latin typeface="Verdana" pitchFamily="34" charset="0"/>
                <a:ea typeface="Verdana" pitchFamily="34" charset="0"/>
                <a:cs typeface="Verdana" pitchFamily="34" charset="0"/>
              </a:rPr>
              <a:t>CO.</a:t>
            </a:r>
            <a:endParaRPr lang="en-US" sz="1600" dirty="0">
              <a:solidFill>
                <a:srgbClr val="000000"/>
              </a:solidFill>
              <a:latin typeface="Verdana" pitchFamily="34" charset="0"/>
              <a:ea typeface="Verdana" pitchFamily="34" charset="0"/>
              <a:cs typeface="Verdana" pitchFamily="34" charset="0"/>
            </a:endParaRPr>
          </a:p>
        </p:txBody>
      </p:sp>
      <p:sp>
        <p:nvSpPr>
          <p:cNvPr id="13" name="Rectangle 50"/>
          <p:cNvSpPr>
            <a:spLocks noChangeArrowheads="1"/>
          </p:cNvSpPr>
          <p:nvPr/>
        </p:nvSpPr>
        <p:spPr bwMode="auto">
          <a:xfrm>
            <a:off x="11049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14" name="Rectangle 50"/>
          <p:cNvSpPr>
            <a:spLocks noChangeArrowheads="1"/>
          </p:cNvSpPr>
          <p:nvPr/>
        </p:nvSpPr>
        <p:spPr bwMode="auto">
          <a:xfrm>
            <a:off x="6477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15" name="Rectangle 50"/>
          <p:cNvSpPr>
            <a:spLocks noChangeArrowheads="1"/>
          </p:cNvSpPr>
          <p:nvPr/>
        </p:nvSpPr>
        <p:spPr bwMode="auto">
          <a:xfrm>
            <a:off x="647700" y="2768220"/>
            <a:ext cx="2057400" cy="58458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Company Code</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17" name="Rectangle 50"/>
          <p:cNvSpPr>
            <a:spLocks noChangeArrowheads="1"/>
          </p:cNvSpPr>
          <p:nvPr/>
        </p:nvSpPr>
        <p:spPr bwMode="auto">
          <a:xfrm>
            <a:off x="609600" y="3733800"/>
            <a:ext cx="838200" cy="6858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anchor="ctr"/>
          <a:lstStyle/>
          <a:p>
            <a:pPr indent="-342900" algn="ctr" eaLnBrk="1" fontAlgn="auto" hangingPunct="1">
              <a:spcBef>
                <a:spcPts val="0"/>
              </a:spcBef>
              <a:spcAft>
                <a:spcPts val="0"/>
              </a:spcAft>
            </a:pPr>
            <a:r>
              <a:rPr lang="en-US" sz="1400" kern="0" noProof="1">
                <a:solidFill>
                  <a:srgbClr val="FFFFFF"/>
                </a:solidFill>
                <a:latin typeface="Verdana" pitchFamily="34" charset="0"/>
                <a:ea typeface="Verdana" pitchFamily="34" charset="0"/>
                <a:cs typeface="Verdana" pitchFamily="34" charset="0"/>
              </a:rPr>
              <a:t>Profit Center</a:t>
            </a:r>
          </a:p>
        </p:txBody>
      </p:sp>
      <p:sp>
        <p:nvSpPr>
          <p:cNvPr id="18" name="Rectangle 50"/>
          <p:cNvSpPr>
            <a:spLocks noChangeArrowheads="1"/>
          </p:cNvSpPr>
          <p:nvPr/>
        </p:nvSpPr>
        <p:spPr bwMode="auto">
          <a:xfrm>
            <a:off x="2286000" y="3733800"/>
            <a:ext cx="838200" cy="685800"/>
          </a:xfrm>
          <a:prstGeom prst="rect">
            <a:avLst/>
          </a:prstGeom>
          <a:ln>
            <a:headEnd/>
            <a:tailEnd/>
          </a:ln>
        </p:spPr>
        <p:style>
          <a:lnRef idx="0">
            <a:schemeClr val="dk1"/>
          </a:lnRef>
          <a:fillRef idx="3">
            <a:schemeClr val="dk1"/>
          </a:fillRef>
          <a:effectRef idx="3">
            <a:schemeClr val="dk1"/>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Cost </a:t>
            </a:r>
            <a:r>
              <a:rPr lang="en-US" sz="1400" kern="0" noProof="1">
                <a:solidFill>
                  <a:schemeClr val="tx1"/>
                </a:solidFill>
                <a:latin typeface="Verdana" pitchFamily="34" charset="0"/>
                <a:ea typeface="Verdana" pitchFamily="34" charset="0"/>
                <a:cs typeface="Verdana" pitchFamily="34" charset="0"/>
              </a:rPr>
              <a:t>Center</a:t>
            </a:r>
          </a:p>
        </p:txBody>
      </p:sp>
      <p:cxnSp>
        <p:nvCxnSpPr>
          <p:cNvPr id="19" name="Straight Connector 18"/>
          <p:cNvCxnSpPr>
            <a:stCxn id="15" idx="0"/>
            <a:endCxn id="14" idx="2"/>
          </p:cNvCxnSpPr>
          <p:nvPr/>
        </p:nvCxnSpPr>
        <p:spPr bwMode="auto">
          <a:xfrm flipV="1">
            <a:off x="1676400" y="2514600"/>
            <a:ext cx="0" cy="2536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20" name="Straight Connector 19"/>
          <p:cNvCxnSpPr>
            <a:stCxn id="14" idx="0"/>
            <a:endCxn id="13" idx="2"/>
          </p:cNvCxnSpPr>
          <p:nvPr/>
        </p:nvCxnSpPr>
        <p:spPr bwMode="auto">
          <a:xfrm flipV="1">
            <a:off x="16764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21" name="Rectangle 50"/>
          <p:cNvSpPr>
            <a:spLocks noChangeArrowheads="1"/>
          </p:cNvSpPr>
          <p:nvPr/>
        </p:nvSpPr>
        <p:spPr bwMode="auto">
          <a:xfrm>
            <a:off x="609600" y="4640239"/>
            <a:ext cx="838200" cy="685800"/>
          </a:xfrm>
          <a:prstGeom prst="rect">
            <a:avLst/>
          </a:prstGeom>
          <a:ln>
            <a:headEnd/>
            <a:tailEnd/>
          </a:ln>
        </p:spPr>
        <p:style>
          <a:lnRef idx="0">
            <a:schemeClr val="dk1"/>
          </a:lnRef>
          <a:fillRef idx="3">
            <a:schemeClr val="dk1"/>
          </a:fillRef>
          <a:effectRef idx="3">
            <a:schemeClr val="dk1"/>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Cost </a:t>
            </a:r>
            <a:r>
              <a:rPr lang="en-US" sz="1400" kern="0" noProof="1">
                <a:solidFill>
                  <a:schemeClr val="tx1"/>
                </a:solidFill>
                <a:latin typeface="Verdana" pitchFamily="34" charset="0"/>
                <a:ea typeface="Verdana" pitchFamily="34" charset="0"/>
                <a:cs typeface="Verdana" pitchFamily="34" charset="0"/>
              </a:rPr>
              <a:t>Center</a:t>
            </a:r>
          </a:p>
        </p:txBody>
      </p:sp>
      <p:cxnSp>
        <p:nvCxnSpPr>
          <p:cNvPr id="22" name="Straight Connector 21"/>
          <p:cNvCxnSpPr>
            <a:stCxn id="21" idx="0"/>
            <a:endCxn id="17" idx="2"/>
          </p:cNvCxnSpPr>
          <p:nvPr/>
        </p:nvCxnSpPr>
        <p:spPr bwMode="auto">
          <a:xfrm flipV="1">
            <a:off x="1028700" y="4419600"/>
            <a:ext cx="0" cy="220639"/>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24" name="Straight Connector 23"/>
          <p:cNvCxnSpPr>
            <a:stCxn id="17" idx="0"/>
            <a:endCxn id="15" idx="2"/>
          </p:cNvCxnSpPr>
          <p:nvPr/>
        </p:nvCxnSpPr>
        <p:spPr bwMode="auto">
          <a:xfrm flipV="1">
            <a:off x="1028700" y="3352800"/>
            <a:ext cx="647700" cy="38100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25" name="Straight Connector 24"/>
          <p:cNvCxnSpPr>
            <a:stCxn id="18" idx="0"/>
            <a:endCxn id="15" idx="2"/>
          </p:cNvCxnSpPr>
          <p:nvPr/>
        </p:nvCxnSpPr>
        <p:spPr bwMode="auto">
          <a:xfrm flipH="1" flipV="1">
            <a:off x="1676400" y="3352800"/>
            <a:ext cx="1028700" cy="38100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26" name="Rectangle 50"/>
          <p:cNvSpPr>
            <a:spLocks noChangeArrowheads="1"/>
          </p:cNvSpPr>
          <p:nvPr/>
        </p:nvSpPr>
        <p:spPr bwMode="auto">
          <a:xfrm>
            <a:off x="3016155" y="1883392"/>
            <a:ext cx="1022445" cy="685800"/>
          </a:xfrm>
          <a:prstGeom prst="rect">
            <a:avLst/>
          </a:prstGeom>
          <a:ln>
            <a:solidFill>
              <a:schemeClr val="accent6">
                <a:lumMod val="75000"/>
              </a:schemeClr>
            </a:solidFill>
            <a:headEnd/>
            <a:tailEnd/>
          </a:ln>
        </p:spPr>
        <p:style>
          <a:lnRef idx="3">
            <a:schemeClr val="lt1"/>
          </a:lnRef>
          <a:fillRef idx="1">
            <a:schemeClr val="accent2"/>
          </a:fillRef>
          <a:effectRef idx="1">
            <a:schemeClr val="accent2"/>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Chart of Accounts LW00</a:t>
            </a:r>
            <a:endParaRPr lang="en-US" sz="1400" kern="0" noProof="1">
              <a:solidFill>
                <a:schemeClr val="tx1"/>
              </a:solidFill>
              <a:latin typeface="Verdana" pitchFamily="34" charset="0"/>
              <a:ea typeface="Verdana" pitchFamily="34" charset="0"/>
              <a:cs typeface="Verdana" pitchFamily="34" charset="0"/>
            </a:endParaRPr>
          </a:p>
        </p:txBody>
      </p:sp>
      <p:cxnSp>
        <p:nvCxnSpPr>
          <p:cNvPr id="27" name="Straight Connector 26"/>
          <p:cNvCxnSpPr>
            <a:stCxn id="26" idx="1"/>
            <a:endCxn id="14" idx="3"/>
          </p:cNvCxnSpPr>
          <p:nvPr/>
        </p:nvCxnSpPr>
        <p:spPr bwMode="auto">
          <a:xfrm flipH="1" flipV="1">
            <a:off x="2705100" y="2222310"/>
            <a:ext cx="311055" cy="3982"/>
          </a:xfrm>
          <a:prstGeom prst="line">
            <a:avLst/>
          </a:prstGeom>
          <a:solidFill>
            <a:schemeClr val="accent1"/>
          </a:solidFill>
          <a:ln w="9525" cap="flat" cmpd="sng" algn="ctr">
            <a:solidFill>
              <a:schemeClr val="accent6">
                <a:lumMod val="75000"/>
              </a:schemeClr>
            </a:solidFill>
            <a:prstDash val="solid"/>
            <a:round/>
            <a:headEnd type="none" w="med" len="med"/>
            <a:tailEnd type="none" w="med" len="med"/>
          </a:ln>
          <a:effectLst/>
        </p:spPr>
      </p:cxnSp>
      <p:sp>
        <p:nvSpPr>
          <p:cNvPr id="28" name="Rectangle 27"/>
          <p:cNvSpPr/>
          <p:nvPr/>
        </p:nvSpPr>
        <p:spPr bwMode="auto">
          <a:xfrm>
            <a:off x="2900290" y="4529918"/>
            <a:ext cx="1254173" cy="346881"/>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accent4">
                    <a:lumMod val="10000"/>
                  </a:schemeClr>
                </a:solidFill>
                <a:effectLst/>
                <a:latin typeface="Verdana" pitchFamily="34" charset="0"/>
                <a:ea typeface="Verdana" pitchFamily="34" charset="0"/>
                <a:cs typeface="Verdana" pitchFamily="34" charset="0"/>
              </a:rPr>
              <a:t>Cost Element</a:t>
            </a:r>
          </a:p>
        </p:txBody>
      </p:sp>
      <p:sp>
        <p:nvSpPr>
          <p:cNvPr id="29" name="Rectangle 28"/>
          <p:cNvSpPr/>
          <p:nvPr/>
        </p:nvSpPr>
        <p:spPr bwMode="auto">
          <a:xfrm>
            <a:off x="2900290" y="4987119"/>
            <a:ext cx="1254173" cy="346881"/>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accent4">
                    <a:lumMod val="10000"/>
                  </a:schemeClr>
                </a:solidFill>
                <a:effectLst/>
                <a:latin typeface="Verdana" pitchFamily="34" charset="0"/>
                <a:ea typeface="Verdana" pitchFamily="34" charset="0"/>
                <a:cs typeface="Verdana" pitchFamily="34" charset="0"/>
              </a:rPr>
              <a:t>Cost Element</a:t>
            </a:r>
          </a:p>
        </p:txBody>
      </p:sp>
      <p:cxnSp>
        <p:nvCxnSpPr>
          <p:cNvPr id="36" name="Elbow Connector 35"/>
          <p:cNvCxnSpPr>
            <a:endCxn id="29" idx="1"/>
          </p:cNvCxnSpPr>
          <p:nvPr/>
        </p:nvCxnSpPr>
        <p:spPr bwMode="auto">
          <a:xfrm rot="16200000" flipH="1">
            <a:off x="2432215" y="4692485"/>
            <a:ext cx="740960" cy="195190"/>
          </a:xfrm>
          <a:prstGeom prst="bentConnector2">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cxnSp>
        <p:nvCxnSpPr>
          <p:cNvPr id="38" name="Elbow Connector 37"/>
          <p:cNvCxnSpPr>
            <a:endCxn id="28" idx="1"/>
          </p:cNvCxnSpPr>
          <p:nvPr/>
        </p:nvCxnSpPr>
        <p:spPr bwMode="auto">
          <a:xfrm rot="16200000" flipH="1">
            <a:off x="2660816" y="4463884"/>
            <a:ext cx="283759" cy="195190"/>
          </a:xfrm>
          <a:prstGeom prst="bentConnector2">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sp>
        <p:nvSpPr>
          <p:cNvPr id="40" name="Rectangle 39"/>
          <p:cNvSpPr/>
          <p:nvPr/>
        </p:nvSpPr>
        <p:spPr bwMode="auto">
          <a:xfrm>
            <a:off x="1352550" y="5638800"/>
            <a:ext cx="1254173" cy="346881"/>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accent4">
                    <a:lumMod val="10000"/>
                  </a:schemeClr>
                </a:solidFill>
                <a:effectLst/>
                <a:latin typeface="Verdana" pitchFamily="34" charset="0"/>
                <a:ea typeface="Verdana" pitchFamily="34" charset="0"/>
                <a:cs typeface="Verdana" pitchFamily="34" charset="0"/>
              </a:rPr>
              <a:t>Cost Element</a:t>
            </a:r>
          </a:p>
        </p:txBody>
      </p:sp>
      <p:cxnSp>
        <p:nvCxnSpPr>
          <p:cNvPr id="53" name="Elbow Connector 52"/>
          <p:cNvCxnSpPr>
            <a:stCxn id="21" idx="2"/>
            <a:endCxn id="40" idx="1"/>
          </p:cNvCxnSpPr>
          <p:nvPr/>
        </p:nvCxnSpPr>
        <p:spPr bwMode="auto">
          <a:xfrm rot="16200000" flipH="1">
            <a:off x="947524" y="5407215"/>
            <a:ext cx="486202" cy="323850"/>
          </a:xfrm>
          <a:prstGeom prst="bentConnector2">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spTree>
    <p:extLst>
      <p:ext uri="{BB962C8B-B14F-4D97-AF65-F5344CB8AC3E}">
        <p14:creationId xmlns:p14="http://schemas.microsoft.com/office/powerpoint/2010/main" val="2241982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Activity Types</a:t>
            </a:r>
            <a:endParaRPr lang="en-US" dirty="0"/>
          </a:p>
        </p:txBody>
      </p:sp>
      <p:sp>
        <p:nvSpPr>
          <p:cNvPr id="11" name="Rectangle 6"/>
          <p:cNvSpPr>
            <a:spLocks noChangeArrowheads="1"/>
          </p:cNvSpPr>
          <p:nvPr/>
        </p:nvSpPr>
        <p:spPr bwMode="gray">
          <a:xfrm>
            <a:off x="4914900" y="1251611"/>
            <a:ext cx="3886200" cy="2634589"/>
          </a:xfrm>
          <a:prstGeom prst="rect">
            <a:avLst/>
          </a:prstGeom>
          <a:ln>
            <a:headEnd/>
            <a:tailEn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lIns="45720" rIns="45720"/>
          <a:lstStyle/>
          <a:p>
            <a:pPr marL="177800" indent="-177800">
              <a:spcBef>
                <a:spcPts val="600"/>
              </a:spcBef>
              <a:spcAft>
                <a:spcPts val="600"/>
              </a:spcAft>
              <a:buClr>
                <a:srgbClr val="FF9900"/>
              </a:buClr>
            </a:pPr>
            <a:r>
              <a:rPr lang="en-US" b="1" dirty="0">
                <a:solidFill>
                  <a:srgbClr val="000000"/>
                </a:solidFill>
                <a:latin typeface="Verdana" pitchFamily="34" charset="0"/>
                <a:ea typeface="Verdana" pitchFamily="34" charset="0"/>
                <a:cs typeface="Verdana" pitchFamily="34" charset="0"/>
              </a:rPr>
              <a:t>Activity-related Cost Center: </a:t>
            </a:r>
          </a:p>
          <a:p>
            <a:pPr marL="177800" indent="-177800">
              <a:spcBef>
                <a:spcPts val="600"/>
              </a:spcBef>
              <a:spcAft>
                <a:spcPts val="600"/>
              </a:spcAft>
              <a:buFontTx/>
              <a:buChar char="•"/>
            </a:pPr>
            <a:r>
              <a:rPr lang="en-US" sz="1600" dirty="0">
                <a:solidFill>
                  <a:srgbClr val="000000"/>
                </a:solidFill>
                <a:latin typeface="Verdana" pitchFamily="34" charset="0"/>
                <a:ea typeface="Verdana" pitchFamily="34" charset="0"/>
                <a:cs typeface="Verdana" pitchFamily="34" charset="0"/>
              </a:rPr>
              <a:t>These Cost Centers have a clear measurable output.</a:t>
            </a:r>
          </a:p>
          <a:p>
            <a:pPr marL="177800" indent="-177800">
              <a:spcBef>
                <a:spcPts val="600"/>
              </a:spcBef>
              <a:spcAft>
                <a:spcPts val="600"/>
              </a:spcAft>
              <a:buFontTx/>
              <a:buChar char="•"/>
            </a:pPr>
            <a:r>
              <a:rPr lang="en-US" sz="1600" dirty="0">
                <a:solidFill>
                  <a:srgbClr val="000000"/>
                </a:solidFill>
                <a:latin typeface="Verdana" pitchFamily="34" charset="0"/>
                <a:ea typeface="Verdana" pitchFamily="34" charset="0"/>
                <a:cs typeface="Verdana" pitchFamily="34" charset="0"/>
              </a:rPr>
              <a:t>Planning and allocation of actual costs should be based on Activity Types. </a:t>
            </a:r>
          </a:p>
          <a:p>
            <a:pPr marL="177800" indent="-177800">
              <a:spcBef>
                <a:spcPts val="600"/>
              </a:spcBef>
              <a:spcAft>
                <a:spcPts val="600"/>
              </a:spcAft>
              <a:buFontTx/>
              <a:buChar char="•"/>
            </a:pPr>
            <a:r>
              <a:rPr lang="en-US" sz="1600" dirty="0">
                <a:solidFill>
                  <a:srgbClr val="000000"/>
                </a:solidFill>
                <a:latin typeface="Verdana" pitchFamily="34" charset="0"/>
                <a:ea typeface="Verdana" pitchFamily="34" charset="0"/>
                <a:cs typeface="Verdana" pitchFamily="34" charset="0"/>
              </a:rPr>
              <a:t>One cost center can have several activity types</a:t>
            </a:r>
            <a:r>
              <a:rPr lang="en-US" sz="1600" dirty="0" smtClean="0">
                <a:solidFill>
                  <a:srgbClr val="000000"/>
                </a:solidFill>
                <a:latin typeface="Verdana" pitchFamily="34" charset="0"/>
                <a:ea typeface="Verdana" pitchFamily="34" charset="0"/>
                <a:cs typeface="Verdana" pitchFamily="34" charset="0"/>
              </a:rPr>
              <a:t>.</a:t>
            </a:r>
          </a:p>
        </p:txBody>
      </p:sp>
      <p:sp>
        <p:nvSpPr>
          <p:cNvPr id="33" name="Rectangle 6"/>
          <p:cNvSpPr>
            <a:spLocks noChangeArrowheads="1"/>
          </p:cNvSpPr>
          <p:nvPr/>
        </p:nvSpPr>
        <p:spPr bwMode="gray">
          <a:xfrm>
            <a:off x="4914900" y="4203700"/>
            <a:ext cx="3886200" cy="2273300"/>
          </a:xfrm>
          <a:prstGeom prst="rect">
            <a:avLst/>
          </a:prstGeom>
          <a:ln>
            <a:headEnd/>
            <a:tailEnd/>
          </a:ln>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lIns="45720" rIns="45720"/>
          <a:lstStyle/>
          <a:p>
            <a:pPr marL="177800" indent="-123825">
              <a:spcBef>
                <a:spcPts val="600"/>
              </a:spcBef>
              <a:spcAft>
                <a:spcPts val="600"/>
              </a:spcAft>
              <a:buClr>
                <a:srgbClr val="FF9900"/>
              </a:buClr>
              <a:buFont typeface="Wingdings" pitchFamily="2" charset="2"/>
              <a:buNone/>
            </a:pPr>
            <a:r>
              <a:rPr lang="en-US" b="1" dirty="0" smtClean="0">
                <a:solidFill>
                  <a:srgbClr val="000000"/>
                </a:solidFill>
                <a:latin typeface="Verdana" pitchFamily="34" charset="0"/>
                <a:ea typeface="Verdana" pitchFamily="34" charset="0"/>
                <a:cs typeface="Verdana" pitchFamily="34" charset="0"/>
              </a:rPr>
              <a:t>Activity Types:</a:t>
            </a:r>
            <a:endParaRPr lang="en-US" b="1" dirty="0">
              <a:solidFill>
                <a:srgbClr val="000000"/>
              </a:solidFill>
              <a:latin typeface="Verdana" pitchFamily="34" charset="0"/>
              <a:ea typeface="Verdana" pitchFamily="34" charset="0"/>
              <a:cs typeface="Verdana" pitchFamily="34" charset="0"/>
            </a:endParaRPr>
          </a:p>
          <a:p>
            <a:pPr marL="177800" indent="-177800">
              <a:spcBef>
                <a:spcPts val="600"/>
              </a:spcBef>
              <a:spcAft>
                <a:spcPts val="600"/>
              </a:spcAft>
              <a:buFontTx/>
              <a:buChar char="•"/>
            </a:pPr>
            <a:r>
              <a:rPr lang="en-US" sz="1600" dirty="0">
                <a:solidFill>
                  <a:srgbClr val="000000"/>
                </a:solidFill>
                <a:latin typeface="Verdana" pitchFamily="34" charset="0"/>
                <a:ea typeface="Verdana" pitchFamily="34" charset="0"/>
                <a:cs typeface="Verdana" pitchFamily="34" charset="0"/>
              </a:rPr>
              <a:t>Allocates activities from Land Development, Capital Programs, Utility Systems Maintenance, Inspections and Field Services to Water and Wastewater related cost centers.</a:t>
            </a:r>
          </a:p>
        </p:txBody>
      </p:sp>
      <p:grpSp>
        <p:nvGrpSpPr>
          <p:cNvPr id="2" name="Group 1"/>
          <p:cNvGrpSpPr/>
          <p:nvPr/>
        </p:nvGrpSpPr>
        <p:grpSpPr>
          <a:xfrm>
            <a:off x="609600" y="1066800"/>
            <a:ext cx="3544863" cy="5410200"/>
            <a:chOff x="609600" y="1066800"/>
            <a:chExt cx="3544863" cy="5410200"/>
          </a:xfrm>
        </p:grpSpPr>
        <p:sp>
          <p:nvSpPr>
            <p:cNvPr id="13" name="Rectangle 50"/>
            <p:cNvSpPr>
              <a:spLocks noChangeArrowheads="1"/>
            </p:cNvSpPr>
            <p:nvPr/>
          </p:nvSpPr>
          <p:spPr bwMode="auto">
            <a:xfrm>
              <a:off x="11049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14" name="Rectangle 50"/>
            <p:cNvSpPr>
              <a:spLocks noChangeArrowheads="1"/>
            </p:cNvSpPr>
            <p:nvPr/>
          </p:nvSpPr>
          <p:spPr bwMode="auto">
            <a:xfrm>
              <a:off x="6477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15" name="Rectangle 50"/>
            <p:cNvSpPr>
              <a:spLocks noChangeArrowheads="1"/>
            </p:cNvSpPr>
            <p:nvPr/>
          </p:nvSpPr>
          <p:spPr bwMode="auto">
            <a:xfrm>
              <a:off x="647700" y="2768220"/>
              <a:ext cx="2057400" cy="58458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Company Code</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17" name="Rectangle 50"/>
            <p:cNvSpPr>
              <a:spLocks noChangeArrowheads="1"/>
            </p:cNvSpPr>
            <p:nvPr/>
          </p:nvSpPr>
          <p:spPr bwMode="auto">
            <a:xfrm>
              <a:off x="609600" y="3733800"/>
              <a:ext cx="838200" cy="6858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anchor="ctr"/>
            <a:lstStyle/>
            <a:p>
              <a:pPr indent="-342900" algn="ctr" eaLnBrk="1" fontAlgn="auto" hangingPunct="1">
                <a:spcBef>
                  <a:spcPts val="0"/>
                </a:spcBef>
                <a:spcAft>
                  <a:spcPts val="0"/>
                </a:spcAft>
              </a:pPr>
              <a:r>
                <a:rPr lang="en-US" sz="1400" kern="0" noProof="1">
                  <a:solidFill>
                    <a:srgbClr val="FFFFFF"/>
                  </a:solidFill>
                  <a:latin typeface="Verdana" pitchFamily="34" charset="0"/>
                  <a:ea typeface="Verdana" pitchFamily="34" charset="0"/>
                  <a:cs typeface="Verdana" pitchFamily="34" charset="0"/>
                </a:rPr>
                <a:t>Profit Center</a:t>
              </a:r>
            </a:p>
          </p:txBody>
        </p:sp>
        <p:sp>
          <p:nvSpPr>
            <p:cNvPr id="18" name="Rectangle 50"/>
            <p:cNvSpPr>
              <a:spLocks noChangeArrowheads="1"/>
            </p:cNvSpPr>
            <p:nvPr/>
          </p:nvSpPr>
          <p:spPr bwMode="auto">
            <a:xfrm>
              <a:off x="2286000" y="3733800"/>
              <a:ext cx="838200" cy="685800"/>
            </a:xfrm>
            <a:prstGeom prst="rect">
              <a:avLst/>
            </a:prstGeom>
            <a:ln>
              <a:headEnd/>
              <a:tailEnd/>
            </a:ln>
          </p:spPr>
          <p:style>
            <a:lnRef idx="0">
              <a:schemeClr val="dk1"/>
            </a:lnRef>
            <a:fillRef idx="3">
              <a:schemeClr val="dk1"/>
            </a:fillRef>
            <a:effectRef idx="3">
              <a:schemeClr val="dk1"/>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Cost </a:t>
              </a:r>
              <a:r>
                <a:rPr lang="en-US" sz="1400" kern="0" noProof="1">
                  <a:solidFill>
                    <a:schemeClr val="tx1"/>
                  </a:solidFill>
                  <a:latin typeface="Verdana" pitchFamily="34" charset="0"/>
                  <a:ea typeface="Verdana" pitchFamily="34" charset="0"/>
                  <a:cs typeface="Verdana" pitchFamily="34" charset="0"/>
                </a:rPr>
                <a:t>Center</a:t>
              </a:r>
            </a:p>
          </p:txBody>
        </p:sp>
        <p:cxnSp>
          <p:nvCxnSpPr>
            <p:cNvPr id="19" name="Straight Connector 18"/>
            <p:cNvCxnSpPr>
              <a:stCxn id="15" idx="0"/>
              <a:endCxn id="14" idx="2"/>
            </p:cNvCxnSpPr>
            <p:nvPr/>
          </p:nvCxnSpPr>
          <p:spPr bwMode="auto">
            <a:xfrm flipV="1">
              <a:off x="1676400" y="2514600"/>
              <a:ext cx="0" cy="2536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20" name="Straight Connector 19"/>
            <p:cNvCxnSpPr>
              <a:stCxn id="14" idx="0"/>
              <a:endCxn id="13" idx="2"/>
            </p:cNvCxnSpPr>
            <p:nvPr/>
          </p:nvCxnSpPr>
          <p:spPr bwMode="auto">
            <a:xfrm flipV="1">
              <a:off x="16764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21" name="Rectangle 50"/>
            <p:cNvSpPr>
              <a:spLocks noChangeArrowheads="1"/>
            </p:cNvSpPr>
            <p:nvPr/>
          </p:nvSpPr>
          <p:spPr bwMode="auto">
            <a:xfrm>
              <a:off x="609600" y="4640239"/>
              <a:ext cx="838200" cy="685800"/>
            </a:xfrm>
            <a:prstGeom prst="rect">
              <a:avLst/>
            </a:prstGeom>
            <a:ln>
              <a:headEnd/>
              <a:tailEnd/>
            </a:ln>
          </p:spPr>
          <p:style>
            <a:lnRef idx="0">
              <a:schemeClr val="dk1"/>
            </a:lnRef>
            <a:fillRef idx="3">
              <a:schemeClr val="dk1"/>
            </a:fillRef>
            <a:effectRef idx="3">
              <a:schemeClr val="dk1"/>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Cost </a:t>
              </a:r>
              <a:r>
                <a:rPr lang="en-US" sz="1400" kern="0" noProof="1">
                  <a:solidFill>
                    <a:schemeClr val="tx1"/>
                  </a:solidFill>
                  <a:latin typeface="Verdana" pitchFamily="34" charset="0"/>
                  <a:ea typeface="Verdana" pitchFamily="34" charset="0"/>
                  <a:cs typeface="Verdana" pitchFamily="34" charset="0"/>
                </a:rPr>
                <a:t>Center</a:t>
              </a:r>
            </a:p>
          </p:txBody>
        </p:sp>
        <p:cxnSp>
          <p:nvCxnSpPr>
            <p:cNvPr id="22" name="Straight Connector 21"/>
            <p:cNvCxnSpPr>
              <a:stCxn id="21" idx="0"/>
              <a:endCxn id="17" idx="2"/>
            </p:cNvCxnSpPr>
            <p:nvPr/>
          </p:nvCxnSpPr>
          <p:spPr bwMode="auto">
            <a:xfrm flipV="1">
              <a:off x="1028700" y="4419600"/>
              <a:ext cx="0" cy="220639"/>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24" name="Straight Connector 23"/>
            <p:cNvCxnSpPr>
              <a:stCxn id="17" idx="0"/>
              <a:endCxn id="15" idx="2"/>
            </p:cNvCxnSpPr>
            <p:nvPr/>
          </p:nvCxnSpPr>
          <p:spPr bwMode="auto">
            <a:xfrm flipV="1">
              <a:off x="1028700" y="3352800"/>
              <a:ext cx="647700" cy="38100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25" name="Straight Connector 24"/>
            <p:cNvCxnSpPr>
              <a:stCxn id="18" idx="0"/>
              <a:endCxn id="15" idx="2"/>
            </p:cNvCxnSpPr>
            <p:nvPr/>
          </p:nvCxnSpPr>
          <p:spPr bwMode="auto">
            <a:xfrm flipH="1" flipV="1">
              <a:off x="1676400" y="3352800"/>
              <a:ext cx="1028700" cy="38100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26" name="Rectangle 50"/>
            <p:cNvSpPr>
              <a:spLocks noChangeArrowheads="1"/>
            </p:cNvSpPr>
            <p:nvPr/>
          </p:nvSpPr>
          <p:spPr bwMode="auto">
            <a:xfrm>
              <a:off x="3016155" y="1883392"/>
              <a:ext cx="1022445" cy="685800"/>
            </a:xfrm>
            <a:prstGeom prst="rect">
              <a:avLst/>
            </a:prstGeom>
            <a:ln>
              <a:solidFill>
                <a:schemeClr val="accent6">
                  <a:lumMod val="75000"/>
                </a:schemeClr>
              </a:solidFill>
              <a:headEnd/>
              <a:tailEnd/>
            </a:ln>
          </p:spPr>
          <p:style>
            <a:lnRef idx="3">
              <a:schemeClr val="lt1"/>
            </a:lnRef>
            <a:fillRef idx="1">
              <a:schemeClr val="accent2"/>
            </a:fillRef>
            <a:effectRef idx="1">
              <a:schemeClr val="accent2"/>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chemeClr val="tx1"/>
                  </a:solidFill>
                  <a:latin typeface="Verdana" pitchFamily="34" charset="0"/>
                  <a:ea typeface="Verdana" pitchFamily="34" charset="0"/>
                  <a:cs typeface="Verdana" pitchFamily="34" charset="0"/>
                </a:rPr>
                <a:t>Chart of Accounts LW00</a:t>
              </a:r>
              <a:endParaRPr lang="en-US" sz="1400" kern="0" noProof="1">
                <a:solidFill>
                  <a:schemeClr val="tx1"/>
                </a:solidFill>
                <a:latin typeface="Verdana" pitchFamily="34" charset="0"/>
                <a:ea typeface="Verdana" pitchFamily="34" charset="0"/>
                <a:cs typeface="Verdana" pitchFamily="34" charset="0"/>
              </a:endParaRPr>
            </a:p>
          </p:txBody>
        </p:sp>
        <p:cxnSp>
          <p:nvCxnSpPr>
            <p:cNvPr id="27" name="Straight Connector 26"/>
            <p:cNvCxnSpPr>
              <a:stCxn id="26" idx="1"/>
              <a:endCxn id="14" idx="3"/>
            </p:cNvCxnSpPr>
            <p:nvPr/>
          </p:nvCxnSpPr>
          <p:spPr bwMode="auto">
            <a:xfrm flipH="1" flipV="1">
              <a:off x="2705100" y="2222310"/>
              <a:ext cx="311055" cy="3982"/>
            </a:xfrm>
            <a:prstGeom prst="line">
              <a:avLst/>
            </a:prstGeom>
            <a:solidFill>
              <a:schemeClr val="accent1"/>
            </a:solidFill>
            <a:ln w="9525" cap="flat" cmpd="sng" algn="ctr">
              <a:solidFill>
                <a:schemeClr val="accent6">
                  <a:lumMod val="75000"/>
                </a:schemeClr>
              </a:solidFill>
              <a:prstDash val="solid"/>
              <a:round/>
              <a:headEnd type="none" w="med" len="med"/>
              <a:tailEnd type="none" w="med" len="med"/>
            </a:ln>
            <a:effectLst/>
          </p:spPr>
        </p:cxnSp>
        <p:sp>
          <p:nvSpPr>
            <p:cNvPr id="28" name="Rectangle 27"/>
            <p:cNvSpPr/>
            <p:nvPr/>
          </p:nvSpPr>
          <p:spPr bwMode="auto">
            <a:xfrm>
              <a:off x="2900290" y="4529918"/>
              <a:ext cx="1254173" cy="346881"/>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accent4">
                      <a:lumMod val="10000"/>
                    </a:schemeClr>
                  </a:solidFill>
                  <a:effectLst/>
                  <a:latin typeface="Verdana" pitchFamily="34" charset="0"/>
                  <a:ea typeface="Verdana" pitchFamily="34" charset="0"/>
                  <a:cs typeface="Verdana" pitchFamily="34" charset="0"/>
                </a:rPr>
                <a:t>Cost Element</a:t>
              </a:r>
            </a:p>
          </p:txBody>
        </p:sp>
        <p:sp>
          <p:nvSpPr>
            <p:cNvPr id="29" name="Rectangle 28"/>
            <p:cNvSpPr/>
            <p:nvPr/>
          </p:nvSpPr>
          <p:spPr bwMode="auto">
            <a:xfrm>
              <a:off x="2900290" y="4987119"/>
              <a:ext cx="1254173" cy="346881"/>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accent4">
                      <a:lumMod val="10000"/>
                    </a:schemeClr>
                  </a:solidFill>
                  <a:effectLst/>
                  <a:latin typeface="Verdana" pitchFamily="34" charset="0"/>
                  <a:ea typeface="Verdana" pitchFamily="34" charset="0"/>
                  <a:cs typeface="Verdana" pitchFamily="34" charset="0"/>
                </a:rPr>
                <a:t>Cost Element</a:t>
              </a:r>
            </a:p>
          </p:txBody>
        </p:sp>
        <p:cxnSp>
          <p:nvCxnSpPr>
            <p:cNvPr id="36" name="Elbow Connector 35"/>
            <p:cNvCxnSpPr>
              <a:endCxn id="29" idx="1"/>
            </p:cNvCxnSpPr>
            <p:nvPr/>
          </p:nvCxnSpPr>
          <p:spPr bwMode="auto">
            <a:xfrm rot="16200000" flipH="1">
              <a:off x="2432215" y="4692485"/>
              <a:ext cx="740960" cy="195190"/>
            </a:xfrm>
            <a:prstGeom prst="bentConnector2">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cxnSp>
          <p:nvCxnSpPr>
            <p:cNvPr id="38" name="Elbow Connector 37"/>
            <p:cNvCxnSpPr>
              <a:endCxn id="28" idx="1"/>
            </p:cNvCxnSpPr>
            <p:nvPr/>
          </p:nvCxnSpPr>
          <p:spPr bwMode="auto">
            <a:xfrm rot="16200000" flipH="1">
              <a:off x="2660816" y="4463884"/>
              <a:ext cx="283759" cy="195190"/>
            </a:xfrm>
            <a:prstGeom prst="bentConnector2">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sp>
          <p:nvSpPr>
            <p:cNvPr id="31" name="Rectangle 30"/>
            <p:cNvSpPr/>
            <p:nvPr/>
          </p:nvSpPr>
          <p:spPr bwMode="auto">
            <a:xfrm>
              <a:off x="2900289" y="5459102"/>
              <a:ext cx="1254173" cy="346881"/>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accent4">
                      <a:lumMod val="10000"/>
                    </a:schemeClr>
                  </a:solidFill>
                  <a:effectLst/>
                  <a:latin typeface="Verdana" pitchFamily="34" charset="0"/>
                  <a:ea typeface="Verdana" pitchFamily="34" charset="0"/>
                  <a:cs typeface="Verdana" pitchFamily="34" charset="0"/>
                </a:rPr>
                <a:t>Activity Type</a:t>
              </a:r>
            </a:p>
          </p:txBody>
        </p:sp>
        <p:cxnSp>
          <p:nvCxnSpPr>
            <p:cNvPr id="32" name="Elbow Connector 31"/>
            <p:cNvCxnSpPr/>
            <p:nvPr/>
          </p:nvCxnSpPr>
          <p:spPr bwMode="auto">
            <a:xfrm rot="16200000" flipH="1">
              <a:off x="2203900" y="4920800"/>
              <a:ext cx="1197591" cy="195190"/>
            </a:xfrm>
            <a:prstGeom prst="bentConnector2">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sp>
          <p:nvSpPr>
            <p:cNvPr id="35" name="Rectangle 34"/>
            <p:cNvSpPr/>
            <p:nvPr/>
          </p:nvSpPr>
          <p:spPr bwMode="auto">
            <a:xfrm>
              <a:off x="1352550" y="5638800"/>
              <a:ext cx="1254173" cy="346881"/>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accent4">
                      <a:lumMod val="10000"/>
                    </a:schemeClr>
                  </a:solidFill>
                  <a:effectLst/>
                  <a:latin typeface="Verdana" pitchFamily="34" charset="0"/>
                  <a:ea typeface="Verdana" pitchFamily="34" charset="0"/>
                  <a:cs typeface="Verdana" pitchFamily="34" charset="0"/>
                </a:rPr>
                <a:t>Cost Element</a:t>
              </a:r>
            </a:p>
          </p:txBody>
        </p:sp>
        <p:cxnSp>
          <p:nvCxnSpPr>
            <p:cNvPr id="37" name="Elbow Connector 36"/>
            <p:cNvCxnSpPr>
              <a:endCxn id="35" idx="1"/>
            </p:cNvCxnSpPr>
            <p:nvPr/>
          </p:nvCxnSpPr>
          <p:spPr bwMode="auto">
            <a:xfrm rot="16200000" flipH="1">
              <a:off x="947524" y="5407215"/>
              <a:ext cx="486202" cy="323850"/>
            </a:xfrm>
            <a:prstGeom prst="bentConnector2">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sp>
          <p:nvSpPr>
            <p:cNvPr id="39" name="Rectangle 38"/>
            <p:cNvSpPr/>
            <p:nvPr/>
          </p:nvSpPr>
          <p:spPr bwMode="auto">
            <a:xfrm>
              <a:off x="1357952" y="6130119"/>
              <a:ext cx="1254173" cy="346881"/>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accent4">
                      <a:lumMod val="10000"/>
                    </a:schemeClr>
                  </a:solidFill>
                  <a:effectLst/>
                  <a:latin typeface="Verdana" pitchFamily="34" charset="0"/>
                  <a:ea typeface="Verdana" pitchFamily="34" charset="0"/>
                  <a:cs typeface="Verdana" pitchFamily="34" charset="0"/>
                </a:rPr>
                <a:t>Activity</a:t>
              </a:r>
              <a:r>
                <a:rPr kumimoji="0" lang="en-US" sz="1200" b="0" i="0" u="none" strike="noStrike" cap="none" normalizeH="0" dirty="0" smtClean="0">
                  <a:ln>
                    <a:noFill/>
                  </a:ln>
                  <a:solidFill>
                    <a:schemeClr val="accent4">
                      <a:lumMod val="10000"/>
                    </a:schemeClr>
                  </a:solidFill>
                  <a:effectLst/>
                  <a:latin typeface="Verdana" pitchFamily="34" charset="0"/>
                  <a:ea typeface="Verdana" pitchFamily="34" charset="0"/>
                  <a:cs typeface="Verdana" pitchFamily="34" charset="0"/>
                </a:rPr>
                <a:t> Type</a:t>
              </a:r>
              <a:endParaRPr kumimoji="0" lang="en-US" sz="1200" b="0" i="0" u="none" strike="noStrike" cap="none" normalizeH="0" baseline="0" dirty="0" smtClean="0">
                <a:ln>
                  <a:noFill/>
                </a:ln>
                <a:solidFill>
                  <a:schemeClr val="accent4">
                    <a:lumMod val="10000"/>
                  </a:schemeClr>
                </a:solidFill>
                <a:effectLst/>
                <a:latin typeface="Verdana" pitchFamily="34" charset="0"/>
                <a:ea typeface="Verdana" pitchFamily="34" charset="0"/>
                <a:cs typeface="Verdana" pitchFamily="34" charset="0"/>
              </a:endParaRPr>
            </a:p>
          </p:txBody>
        </p:sp>
        <p:cxnSp>
          <p:nvCxnSpPr>
            <p:cNvPr id="4" name="Elbow Connector 3"/>
            <p:cNvCxnSpPr>
              <a:stCxn id="21" idx="2"/>
              <a:endCxn id="39" idx="1"/>
            </p:cNvCxnSpPr>
            <p:nvPr/>
          </p:nvCxnSpPr>
          <p:spPr bwMode="auto">
            <a:xfrm rot="16200000" flipH="1">
              <a:off x="704566" y="5650173"/>
              <a:ext cx="977521" cy="329252"/>
            </a:xfrm>
            <a:prstGeom prst="bentConnector2">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grpSp>
    </p:spTree>
    <p:extLst>
      <p:ext uri="{BB962C8B-B14F-4D97-AF65-F5344CB8AC3E}">
        <p14:creationId xmlns:p14="http://schemas.microsoft.com/office/powerpoint/2010/main" val="35264577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Organization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Plant</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3"/>
            <a:ext cx="4647569" cy="2664727"/>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2369880"/>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Plant is an organizational unit serving to subdivide an enterprise according to production, procurement, maintenance, and materials planning </a:t>
            </a:r>
            <a:r>
              <a:rPr lang="en-US" sz="1600" dirty="0" smtClean="0">
                <a:solidFill>
                  <a:schemeClr val="accent4">
                    <a:lumMod val="10000"/>
                  </a:schemeClr>
                </a:solidFill>
                <a:latin typeface="Verdana" pitchFamily="34" charset="0"/>
                <a:ea typeface="Verdana" pitchFamily="34" charset="0"/>
                <a:cs typeface="Verdana" pitchFamily="34" charset="0"/>
              </a:rPr>
              <a:t>aspects.</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Plant is a place where either materials are produced or goods and services are </a:t>
            </a:r>
            <a:r>
              <a:rPr lang="en-US" sz="1600" dirty="0" smtClean="0">
                <a:solidFill>
                  <a:schemeClr val="accent4">
                    <a:lumMod val="10000"/>
                  </a:schemeClr>
                </a:solidFill>
                <a:latin typeface="Verdana" pitchFamily="34" charset="0"/>
                <a:ea typeface="Verdana" pitchFamily="34" charset="0"/>
                <a:cs typeface="Verdana" pitchFamily="34" charset="0"/>
              </a:rPr>
              <a:t>provided.</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Plant = </a:t>
            </a:r>
            <a:r>
              <a:rPr lang="en-US" sz="1600" dirty="0">
                <a:solidFill>
                  <a:schemeClr val="accent4">
                    <a:lumMod val="10000"/>
                  </a:schemeClr>
                </a:solidFill>
                <a:latin typeface="Verdana" pitchFamily="34" charset="0"/>
                <a:ea typeface="Verdana" pitchFamily="34" charset="0"/>
                <a:cs typeface="Verdana" pitchFamily="34" charset="0"/>
              </a:rPr>
              <a:t>PL00 – Loudoun Water Plant</a:t>
            </a:r>
          </a:p>
        </p:txBody>
      </p:sp>
      <p:sp>
        <p:nvSpPr>
          <p:cNvPr id="38" name="Rectangle 50"/>
          <p:cNvSpPr>
            <a:spLocks noChangeArrowheads="1"/>
          </p:cNvSpPr>
          <p:nvPr/>
        </p:nvSpPr>
        <p:spPr bwMode="auto">
          <a:xfrm>
            <a:off x="14097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39" name="Rectangle 50"/>
          <p:cNvSpPr>
            <a:spLocks noChangeArrowheads="1"/>
          </p:cNvSpPr>
          <p:nvPr/>
        </p:nvSpPr>
        <p:spPr bwMode="auto">
          <a:xfrm>
            <a:off x="9525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40" name="Rectangle 50"/>
          <p:cNvSpPr>
            <a:spLocks noChangeArrowheads="1"/>
          </p:cNvSpPr>
          <p:nvPr/>
        </p:nvSpPr>
        <p:spPr bwMode="auto">
          <a:xfrm>
            <a:off x="952500" y="2768220"/>
            <a:ext cx="2057400" cy="58458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Company Code</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41" name="Rectangle 50"/>
          <p:cNvSpPr>
            <a:spLocks noChangeArrowheads="1"/>
          </p:cNvSpPr>
          <p:nvPr/>
        </p:nvSpPr>
        <p:spPr bwMode="auto">
          <a:xfrm>
            <a:off x="304800" y="3733800"/>
            <a:ext cx="838200" cy="685800"/>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Plant</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PL00</a:t>
            </a:r>
            <a:endParaRPr lang="en-US" sz="1400" kern="0" noProof="1">
              <a:solidFill>
                <a:sysClr val="window" lastClr="FFFFFF"/>
              </a:solidFill>
              <a:latin typeface="Verdana" pitchFamily="34" charset="0"/>
              <a:ea typeface="Verdana" pitchFamily="34" charset="0"/>
              <a:cs typeface="Verdana" pitchFamily="34" charset="0"/>
            </a:endParaRPr>
          </a:p>
        </p:txBody>
      </p:sp>
      <p:cxnSp>
        <p:nvCxnSpPr>
          <p:cNvPr id="42" name="Straight Connector 41"/>
          <p:cNvCxnSpPr>
            <a:stCxn id="40" idx="0"/>
            <a:endCxn id="39" idx="2"/>
          </p:cNvCxnSpPr>
          <p:nvPr/>
        </p:nvCxnSpPr>
        <p:spPr bwMode="auto">
          <a:xfrm flipV="1">
            <a:off x="1981200" y="2514600"/>
            <a:ext cx="0" cy="2536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43" name="Straight Connector 42"/>
          <p:cNvCxnSpPr>
            <a:stCxn id="39" idx="0"/>
            <a:endCxn id="38" idx="2"/>
          </p:cNvCxnSpPr>
          <p:nvPr/>
        </p:nvCxnSpPr>
        <p:spPr bwMode="auto">
          <a:xfrm flipV="1">
            <a:off x="19812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44" name="Straight Connector 43"/>
          <p:cNvCxnSpPr>
            <a:stCxn id="41" idx="0"/>
          </p:cNvCxnSpPr>
          <p:nvPr/>
        </p:nvCxnSpPr>
        <p:spPr bwMode="auto">
          <a:xfrm flipV="1">
            <a:off x="723900" y="3352800"/>
            <a:ext cx="1257300" cy="38100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50" name="Rectangle 49"/>
          <p:cNvSpPr/>
          <p:nvPr/>
        </p:nvSpPr>
        <p:spPr bwMode="auto">
          <a:xfrm>
            <a:off x="619125" y="4650474"/>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Functional Location</a:t>
            </a:r>
          </a:p>
        </p:txBody>
      </p:sp>
      <p:sp>
        <p:nvSpPr>
          <p:cNvPr id="51" name="Rectangle 50"/>
          <p:cNvSpPr/>
          <p:nvPr/>
        </p:nvSpPr>
        <p:spPr bwMode="auto">
          <a:xfrm>
            <a:off x="609600" y="5106537"/>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Equipment</a:t>
            </a:r>
          </a:p>
        </p:txBody>
      </p:sp>
      <p:sp>
        <p:nvSpPr>
          <p:cNvPr id="52" name="Rectangle 51"/>
          <p:cNvSpPr/>
          <p:nvPr/>
        </p:nvSpPr>
        <p:spPr bwMode="auto">
          <a:xfrm>
            <a:off x="619125" y="5563737"/>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Work Centers</a:t>
            </a:r>
          </a:p>
        </p:txBody>
      </p:sp>
      <p:sp>
        <p:nvSpPr>
          <p:cNvPr id="53" name="Rectangle 52"/>
          <p:cNvSpPr/>
          <p:nvPr/>
        </p:nvSpPr>
        <p:spPr bwMode="auto">
          <a:xfrm>
            <a:off x="609600" y="6019800"/>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Catalogs</a:t>
            </a:r>
          </a:p>
        </p:txBody>
      </p:sp>
      <p:sp>
        <p:nvSpPr>
          <p:cNvPr id="54" name="Rectangle 53"/>
          <p:cNvSpPr/>
          <p:nvPr/>
        </p:nvSpPr>
        <p:spPr bwMode="auto">
          <a:xfrm>
            <a:off x="2524125" y="4649337"/>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BOMs</a:t>
            </a:r>
          </a:p>
        </p:txBody>
      </p:sp>
      <p:sp>
        <p:nvSpPr>
          <p:cNvPr id="55" name="Rectangle 54"/>
          <p:cNvSpPr/>
          <p:nvPr/>
        </p:nvSpPr>
        <p:spPr bwMode="auto">
          <a:xfrm>
            <a:off x="2514600" y="5105400"/>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Maintenance Plans</a:t>
            </a:r>
          </a:p>
        </p:txBody>
      </p:sp>
      <p:sp>
        <p:nvSpPr>
          <p:cNvPr id="56" name="Rectangle 55"/>
          <p:cNvSpPr/>
          <p:nvPr/>
        </p:nvSpPr>
        <p:spPr bwMode="auto">
          <a:xfrm>
            <a:off x="2524125" y="5562600"/>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Task Lists</a:t>
            </a:r>
          </a:p>
        </p:txBody>
      </p:sp>
      <p:sp>
        <p:nvSpPr>
          <p:cNvPr id="57" name="Rectangle 56"/>
          <p:cNvSpPr/>
          <p:nvPr/>
        </p:nvSpPr>
        <p:spPr bwMode="auto">
          <a:xfrm>
            <a:off x="2514600" y="6018663"/>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Activity Types</a:t>
            </a:r>
          </a:p>
        </p:txBody>
      </p:sp>
      <p:sp>
        <p:nvSpPr>
          <p:cNvPr id="2" name="Right Brace 1"/>
          <p:cNvSpPr/>
          <p:nvPr/>
        </p:nvSpPr>
        <p:spPr bwMode="auto">
          <a:xfrm>
            <a:off x="4316224" y="4572001"/>
            <a:ext cx="712976" cy="1905000"/>
          </a:xfrm>
          <a:prstGeom prst="rightBrace">
            <a:avLst/>
          </a:prstGeom>
          <a:noFill/>
          <a:ln w="9525" cap="flat" cmpd="sng" algn="ctr">
            <a:solidFill>
              <a:schemeClr val="accent4">
                <a:lumMod val="2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3" name="TextBox 2"/>
          <p:cNvSpPr txBox="1"/>
          <p:nvPr/>
        </p:nvSpPr>
        <p:spPr>
          <a:xfrm>
            <a:off x="5105400" y="5347648"/>
            <a:ext cx="1752600" cy="369332"/>
          </a:xfrm>
          <a:prstGeom prst="rect">
            <a:avLst/>
          </a:prstGeom>
          <a:noFill/>
        </p:spPr>
        <p:txBody>
          <a:bodyPr wrap="square" rtlCol="0">
            <a:spAutoFit/>
          </a:bodyPr>
          <a:lstStyle/>
          <a:p>
            <a:r>
              <a:rPr lang="en-US" dirty="0" smtClean="0">
                <a:solidFill>
                  <a:schemeClr val="accent4">
                    <a:lumMod val="10000"/>
                  </a:schemeClr>
                </a:solidFill>
                <a:latin typeface="Verdana" pitchFamily="34" charset="0"/>
                <a:ea typeface="Verdana" pitchFamily="34" charset="0"/>
                <a:cs typeface="Verdana" pitchFamily="34" charset="0"/>
              </a:rPr>
              <a:t>Master Data</a:t>
            </a:r>
            <a:endParaRPr lang="en-US" dirty="0">
              <a:solidFill>
                <a:schemeClr val="accent4">
                  <a:lumMod val="10000"/>
                </a:schemeClr>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360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Organization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Purchasing Organization</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3"/>
            <a:ext cx="4647569" cy="3960127"/>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4154984"/>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A Purchasing Organization procures materials and services, negotiates conditions of purchase with vendors, and bears responsibility for such transactions.  </a:t>
            </a:r>
            <a:endParaRPr lang="en-US" sz="1600" dirty="0" smtClean="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As </a:t>
            </a:r>
            <a:r>
              <a:rPr lang="en-US" sz="1600" dirty="0">
                <a:solidFill>
                  <a:schemeClr val="accent4">
                    <a:lumMod val="10000"/>
                  </a:schemeClr>
                </a:solidFill>
                <a:latin typeface="Verdana" pitchFamily="34" charset="0"/>
                <a:ea typeface="Verdana" pitchFamily="34" charset="0"/>
                <a:cs typeface="Verdana" pitchFamily="34" charset="0"/>
              </a:rPr>
              <a:t>a principle, every company code will have independent Purchasing Organizations for logistics costs. </a:t>
            </a: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A </a:t>
            </a:r>
            <a:r>
              <a:rPr lang="en-US" sz="1600" dirty="0">
                <a:solidFill>
                  <a:schemeClr val="accent4">
                    <a:lumMod val="10000"/>
                  </a:schemeClr>
                </a:solidFill>
                <a:latin typeface="Verdana" pitchFamily="34" charset="0"/>
                <a:ea typeface="Verdana" pitchFamily="34" charset="0"/>
                <a:cs typeface="Verdana" pitchFamily="34" charset="0"/>
              </a:rPr>
              <a:t>Purchasing Organization is responsible for the purchasing activities of just one company code. </a:t>
            </a:r>
            <a:endParaRPr lang="en-US" sz="1600" dirty="0" smtClean="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Purchasing </a:t>
            </a:r>
            <a:r>
              <a:rPr lang="en-US" sz="1600" dirty="0">
                <a:solidFill>
                  <a:schemeClr val="accent4">
                    <a:lumMod val="10000"/>
                  </a:schemeClr>
                </a:solidFill>
                <a:latin typeface="Verdana" pitchFamily="34" charset="0"/>
                <a:ea typeface="Verdana" pitchFamily="34" charset="0"/>
                <a:cs typeface="Verdana" pitchFamily="34" charset="0"/>
              </a:rPr>
              <a:t>Organization </a:t>
            </a:r>
            <a:r>
              <a:rPr lang="en-US" sz="1600" dirty="0" smtClean="0">
                <a:solidFill>
                  <a:schemeClr val="accent4">
                    <a:lumMod val="10000"/>
                  </a:schemeClr>
                </a:solidFill>
                <a:latin typeface="Verdana" pitchFamily="34" charset="0"/>
                <a:ea typeface="Verdana" pitchFamily="34" charset="0"/>
                <a:cs typeface="Verdana" pitchFamily="34" charset="0"/>
              </a:rPr>
              <a:t>= </a:t>
            </a:r>
            <a:r>
              <a:rPr lang="en-US" sz="1600" dirty="0">
                <a:solidFill>
                  <a:schemeClr val="accent4">
                    <a:lumMod val="10000"/>
                  </a:schemeClr>
                </a:solidFill>
                <a:latin typeface="Verdana" pitchFamily="34" charset="0"/>
                <a:ea typeface="Verdana" pitchFamily="34" charset="0"/>
                <a:cs typeface="Verdana" pitchFamily="34" charset="0"/>
              </a:rPr>
              <a:t>LW00 – Loudoun Purchasing Organization</a:t>
            </a:r>
            <a:r>
              <a:rPr lang="en-US" sz="1600" b="1" dirty="0">
                <a:solidFill>
                  <a:schemeClr val="accent4">
                    <a:lumMod val="10000"/>
                  </a:schemeClr>
                </a:solidFill>
                <a:latin typeface="Verdana" pitchFamily="34" charset="0"/>
                <a:ea typeface="Verdana" pitchFamily="34" charset="0"/>
                <a:cs typeface="Verdana" pitchFamily="34" charset="0"/>
              </a:rPr>
              <a:t> </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endParaRPr lang="en-US" sz="1600" dirty="0">
              <a:solidFill>
                <a:schemeClr val="accent4">
                  <a:lumMod val="10000"/>
                </a:schemeClr>
              </a:solidFill>
              <a:latin typeface="Verdana" pitchFamily="34" charset="0"/>
              <a:ea typeface="Verdana" pitchFamily="34" charset="0"/>
              <a:cs typeface="Verdana" pitchFamily="34" charset="0"/>
            </a:endParaRPr>
          </a:p>
        </p:txBody>
      </p:sp>
      <p:sp>
        <p:nvSpPr>
          <p:cNvPr id="23" name="Rectangle 50"/>
          <p:cNvSpPr>
            <a:spLocks noChangeArrowheads="1"/>
          </p:cNvSpPr>
          <p:nvPr/>
        </p:nvSpPr>
        <p:spPr bwMode="auto">
          <a:xfrm>
            <a:off x="14097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24" name="Rectangle 50"/>
          <p:cNvSpPr>
            <a:spLocks noChangeArrowheads="1"/>
          </p:cNvSpPr>
          <p:nvPr/>
        </p:nvSpPr>
        <p:spPr bwMode="auto">
          <a:xfrm>
            <a:off x="9525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25" name="Rectangle 50"/>
          <p:cNvSpPr>
            <a:spLocks noChangeArrowheads="1"/>
          </p:cNvSpPr>
          <p:nvPr/>
        </p:nvSpPr>
        <p:spPr bwMode="auto">
          <a:xfrm>
            <a:off x="952500" y="2768220"/>
            <a:ext cx="2057400" cy="58458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Company Code</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26" name="Rectangle 50"/>
          <p:cNvSpPr>
            <a:spLocks noChangeArrowheads="1"/>
          </p:cNvSpPr>
          <p:nvPr/>
        </p:nvSpPr>
        <p:spPr bwMode="auto">
          <a:xfrm>
            <a:off x="304800" y="3733800"/>
            <a:ext cx="838200" cy="685800"/>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Plant</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PL00</a:t>
            </a:r>
            <a:endParaRPr lang="en-US" sz="1400" kern="0" noProof="1">
              <a:solidFill>
                <a:sysClr val="window" lastClr="FFFFFF"/>
              </a:solidFill>
              <a:latin typeface="Verdana" pitchFamily="34" charset="0"/>
              <a:ea typeface="Verdana" pitchFamily="34" charset="0"/>
              <a:cs typeface="Verdana" pitchFamily="34" charset="0"/>
            </a:endParaRPr>
          </a:p>
        </p:txBody>
      </p:sp>
      <p:cxnSp>
        <p:nvCxnSpPr>
          <p:cNvPr id="29" name="Straight Connector 28"/>
          <p:cNvCxnSpPr>
            <a:stCxn id="25" idx="0"/>
            <a:endCxn id="24" idx="2"/>
          </p:cNvCxnSpPr>
          <p:nvPr/>
        </p:nvCxnSpPr>
        <p:spPr bwMode="auto">
          <a:xfrm flipV="1">
            <a:off x="1981200" y="2514600"/>
            <a:ext cx="0" cy="2536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30" name="Straight Connector 29"/>
          <p:cNvCxnSpPr>
            <a:stCxn id="24" idx="0"/>
            <a:endCxn id="23" idx="2"/>
          </p:cNvCxnSpPr>
          <p:nvPr/>
        </p:nvCxnSpPr>
        <p:spPr bwMode="auto">
          <a:xfrm flipV="1">
            <a:off x="19812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33" name="Straight Connector 32"/>
          <p:cNvCxnSpPr>
            <a:stCxn id="26" idx="0"/>
          </p:cNvCxnSpPr>
          <p:nvPr/>
        </p:nvCxnSpPr>
        <p:spPr bwMode="auto">
          <a:xfrm flipV="1">
            <a:off x="723900" y="3352800"/>
            <a:ext cx="1257300" cy="381000"/>
          </a:xfrm>
          <a:prstGeom prst="line">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sp>
        <p:nvSpPr>
          <p:cNvPr id="15" name="Rectangle 50"/>
          <p:cNvSpPr>
            <a:spLocks noChangeArrowheads="1"/>
          </p:cNvSpPr>
          <p:nvPr/>
        </p:nvSpPr>
        <p:spPr bwMode="auto">
          <a:xfrm>
            <a:off x="1281753" y="3745174"/>
            <a:ext cx="1398896" cy="685800"/>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Purchasing Organization</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cxnSp>
        <p:nvCxnSpPr>
          <p:cNvPr id="3" name="Straight Connector 2"/>
          <p:cNvCxnSpPr>
            <a:stCxn id="15" idx="0"/>
            <a:endCxn id="25" idx="2"/>
          </p:cNvCxnSpPr>
          <p:nvPr/>
        </p:nvCxnSpPr>
        <p:spPr bwMode="auto">
          <a:xfrm flipH="1" flipV="1">
            <a:off x="1981200" y="3352800"/>
            <a:ext cx="1" cy="392374"/>
          </a:xfrm>
          <a:prstGeom prst="line">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sp>
        <p:nvSpPr>
          <p:cNvPr id="18" name="Rectangle 17"/>
          <p:cNvSpPr/>
          <p:nvPr/>
        </p:nvSpPr>
        <p:spPr bwMode="auto">
          <a:xfrm>
            <a:off x="2133600" y="4610100"/>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Material Master</a:t>
            </a:r>
          </a:p>
        </p:txBody>
      </p:sp>
      <p:sp>
        <p:nvSpPr>
          <p:cNvPr id="28" name="Rectangle 27"/>
          <p:cNvSpPr/>
          <p:nvPr/>
        </p:nvSpPr>
        <p:spPr bwMode="auto">
          <a:xfrm>
            <a:off x="2133600" y="5105400"/>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Vendor Master</a:t>
            </a:r>
          </a:p>
        </p:txBody>
      </p:sp>
      <p:sp>
        <p:nvSpPr>
          <p:cNvPr id="31" name="Right Brace 30"/>
          <p:cNvSpPr/>
          <p:nvPr/>
        </p:nvSpPr>
        <p:spPr bwMode="auto">
          <a:xfrm rot="5400000">
            <a:off x="2653412" y="4745949"/>
            <a:ext cx="712976" cy="1905000"/>
          </a:xfrm>
          <a:prstGeom prst="rightBrace">
            <a:avLst/>
          </a:prstGeom>
          <a:noFill/>
          <a:ln w="9525" cap="flat" cmpd="sng" algn="ctr">
            <a:solidFill>
              <a:schemeClr val="accent4">
                <a:lumMod val="2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32" name="TextBox 31"/>
          <p:cNvSpPr txBox="1"/>
          <p:nvPr/>
        </p:nvSpPr>
        <p:spPr>
          <a:xfrm>
            <a:off x="2133600" y="6031468"/>
            <a:ext cx="1752600" cy="369332"/>
          </a:xfrm>
          <a:prstGeom prst="rect">
            <a:avLst/>
          </a:prstGeom>
          <a:noFill/>
        </p:spPr>
        <p:txBody>
          <a:bodyPr wrap="square" rtlCol="0">
            <a:spAutoFit/>
          </a:bodyPr>
          <a:lstStyle/>
          <a:p>
            <a:r>
              <a:rPr lang="en-US" dirty="0" smtClean="0">
                <a:solidFill>
                  <a:schemeClr val="accent4">
                    <a:lumMod val="10000"/>
                  </a:schemeClr>
                </a:solidFill>
                <a:latin typeface="Verdana" pitchFamily="34" charset="0"/>
                <a:ea typeface="Verdana" pitchFamily="34" charset="0"/>
                <a:cs typeface="Verdana" pitchFamily="34" charset="0"/>
              </a:rPr>
              <a:t>Master Data</a:t>
            </a:r>
            <a:endParaRPr lang="en-US" dirty="0">
              <a:solidFill>
                <a:schemeClr val="accent4">
                  <a:lumMod val="10000"/>
                </a:schemeClr>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712773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 of Loudoun Water Organization Structure</a:t>
            </a:r>
            <a:endParaRPr lang="en-US" dirty="0"/>
          </a:p>
        </p:txBody>
      </p:sp>
      <p:sp>
        <p:nvSpPr>
          <p:cNvPr id="7" name="Rectangle 6"/>
          <p:cNvSpPr/>
          <p:nvPr/>
        </p:nvSpPr>
        <p:spPr>
          <a:xfrm>
            <a:off x="4267831" y="990600"/>
            <a:ext cx="4647569"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000" dirty="0" smtClean="0">
                <a:latin typeface="Verdana" pitchFamily="34" charset="0"/>
                <a:ea typeface="Verdana" pitchFamily="34" charset="0"/>
                <a:cs typeface="Verdana" pitchFamily="34" charset="0"/>
              </a:rPr>
              <a:t>Sales Organization</a:t>
            </a:r>
            <a:endParaRPr lang="en-US" sz="2000" dirty="0">
              <a:latin typeface="Verdana" pitchFamily="34" charset="0"/>
              <a:ea typeface="Verdana" pitchFamily="34" charset="0"/>
              <a:cs typeface="Verdana" pitchFamily="34" charset="0"/>
            </a:endParaRPr>
          </a:p>
        </p:txBody>
      </p:sp>
      <p:sp>
        <p:nvSpPr>
          <p:cNvPr id="8" name="Rectangle 7"/>
          <p:cNvSpPr/>
          <p:nvPr/>
        </p:nvSpPr>
        <p:spPr>
          <a:xfrm>
            <a:off x="4267831" y="1450073"/>
            <a:ext cx="4647569" cy="3121927"/>
          </a:xfrm>
          <a:prstGeom prst="rect">
            <a:avLst/>
          </a:prstGeom>
          <a:noFill/>
        </p:spPr>
        <p:style>
          <a:lnRef idx="1">
            <a:schemeClr val="accent5"/>
          </a:lnRef>
          <a:fillRef idx="3">
            <a:schemeClr val="accent5"/>
          </a:fillRef>
          <a:effectRef idx="2">
            <a:schemeClr val="accent5"/>
          </a:effectRef>
          <a:fontRef idx="minor">
            <a:schemeClr val="lt1"/>
          </a:fontRef>
        </p:style>
        <p:txBody>
          <a:bodyPr rtlCol="0" anchor="ctr"/>
          <a:lstStyle/>
          <a:p>
            <a:endParaRPr lang="en-US" dirty="0"/>
          </a:p>
        </p:txBody>
      </p:sp>
      <p:sp>
        <p:nvSpPr>
          <p:cNvPr id="9" name="Rectangle 8"/>
          <p:cNvSpPr/>
          <p:nvPr/>
        </p:nvSpPr>
        <p:spPr>
          <a:xfrm>
            <a:off x="4316224" y="1613848"/>
            <a:ext cx="4583097" cy="2862322"/>
          </a:xfrm>
          <a:prstGeom prst="rect">
            <a:avLst/>
          </a:prstGeom>
        </p:spPr>
        <p:txBody>
          <a:bodyPr wrap="square">
            <a:spAutoFit/>
          </a:bodyPr>
          <a:lstStyle/>
          <a:p>
            <a:pPr marL="285750" lvl="0" indent="-285750">
              <a:spcBef>
                <a:spcPts val="600"/>
              </a:spcBef>
              <a:spcAft>
                <a:spcPts val="600"/>
              </a:spcAft>
              <a:buFont typeface="Arial" pitchFamily="34" charset="0"/>
              <a:buChar char="•"/>
            </a:pPr>
            <a:r>
              <a:rPr lang="en-US" sz="1600" dirty="0">
                <a:solidFill>
                  <a:schemeClr val="accent4">
                    <a:lumMod val="10000"/>
                  </a:schemeClr>
                </a:solidFill>
                <a:latin typeface="Verdana" pitchFamily="34" charset="0"/>
                <a:ea typeface="Verdana" pitchFamily="34" charset="0"/>
                <a:cs typeface="Verdana" pitchFamily="34" charset="0"/>
              </a:rPr>
              <a:t>A Sales Organization is responsible for the sale of certain products or services. Responsibility of a sales organization may include legal liability for products and customer claims. </a:t>
            </a:r>
            <a:endParaRPr lang="en-US" sz="1600" dirty="0" smtClean="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Sales </a:t>
            </a:r>
            <a:r>
              <a:rPr lang="en-US" sz="1600" dirty="0">
                <a:solidFill>
                  <a:schemeClr val="accent4">
                    <a:lumMod val="10000"/>
                  </a:schemeClr>
                </a:solidFill>
                <a:latin typeface="Verdana" pitchFamily="34" charset="0"/>
                <a:ea typeface="Verdana" pitchFamily="34" charset="0"/>
                <a:cs typeface="Verdana" pitchFamily="34" charset="0"/>
              </a:rPr>
              <a:t>organizations are primarily used to drive customer segmentation for reporting </a:t>
            </a:r>
            <a:r>
              <a:rPr lang="en-US" sz="1600">
                <a:solidFill>
                  <a:schemeClr val="accent4">
                    <a:lumMod val="10000"/>
                  </a:schemeClr>
                </a:solidFill>
                <a:latin typeface="Verdana" pitchFamily="34" charset="0"/>
                <a:ea typeface="Verdana" pitchFamily="34" charset="0"/>
                <a:cs typeface="Verdana" pitchFamily="34" charset="0"/>
              </a:rPr>
              <a:t>and </a:t>
            </a:r>
            <a:r>
              <a:rPr lang="en-US" sz="1600" smtClean="0">
                <a:solidFill>
                  <a:schemeClr val="accent4">
                    <a:lumMod val="10000"/>
                  </a:schemeClr>
                </a:solidFill>
                <a:latin typeface="Verdana" pitchFamily="34" charset="0"/>
                <a:ea typeface="Verdana" pitchFamily="34" charset="0"/>
                <a:cs typeface="Verdana" pitchFamily="34" charset="0"/>
              </a:rPr>
              <a:t>pricing.</a:t>
            </a:r>
            <a:endParaRPr lang="en-US" sz="1600" dirty="0">
              <a:solidFill>
                <a:schemeClr val="accent4">
                  <a:lumMod val="10000"/>
                </a:schemeClr>
              </a:solidFill>
              <a:latin typeface="Verdana" pitchFamily="34" charset="0"/>
              <a:ea typeface="Verdana" pitchFamily="34" charset="0"/>
              <a:cs typeface="Verdana" pitchFamily="34" charset="0"/>
            </a:endParaRPr>
          </a:p>
          <a:p>
            <a:pPr marL="285750" lvl="0" indent="-285750">
              <a:spcBef>
                <a:spcPts val="600"/>
              </a:spcBef>
              <a:spcAft>
                <a:spcPts val="600"/>
              </a:spcAft>
              <a:buFont typeface="Arial" pitchFamily="34" charset="0"/>
              <a:buChar char="•"/>
            </a:pPr>
            <a:r>
              <a:rPr lang="en-US" sz="1600" dirty="0" smtClean="0">
                <a:solidFill>
                  <a:schemeClr val="accent4">
                    <a:lumMod val="10000"/>
                  </a:schemeClr>
                </a:solidFill>
                <a:latin typeface="Verdana" pitchFamily="34" charset="0"/>
                <a:ea typeface="Verdana" pitchFamily="34" charset="0"/>
                <a:cs typeface="Verdana" pitchFamily="34" charset="0"/>
              </a:rPr>
              <a:t>Sales </a:t>
            </a:r>
            <a:r>
              <a:rPr lang="en-US" sz="1600" dirty="0">
                <a:solidFill>
                  <a:schemeClr val="accent4">
                    <a:lumMod val="10000"/>
                  </a:schemeClr>
                </a:solidFill>
                <a:latin typeface="Verdana" pitchFamily="34" charset="0"/>
                <a:ea typeface="Verdana" pitchFamily="34" charset="0"/>
                <a:cs typeface="Verdana" pitchFamily="34" charset="0"/>
              </a:rPr>
              <a:t>Organization LW00  –  Loudoun Sales Organization</a:t>
            </a:r>
            <a:r>
              <a:rPr lang="en-US" sz="1600" b="1" dirty="0">
                <a:solidFill>
                  <a:schemeClr val="accent4">
                    <a:lumMod val="10000"/>
                  </a:schemeClr>
                </a:solidFill>
                <a:latin typeface="Verdana" pitchFamily="34" charset="0"/>
                <a:ea typeface="Verdana" pitchFamily="34" charset="0"/>
                <a:cs typeface="Verdana" pitchFamily="34" charset="0"/>
              </a:rPr>
              <a:t> </a:t>
            </a:r>
            <a:endParaRPr lang="en-US" sz="1600" dirty="0">
              <a:solidFill>
                <a:schemeClr val="accent4">
                  <a:lumMod val="10000"/>
                </a:schemeClr>
              </a:solidFill>
              <a:latin typeface="Verdana" pitchFamily="34" charset="0"/>
              <a:ea typeface="Verdana" pitchFamily="34" charset="0"/>
              <a:cs typeface="Verdana" pitchFamily="34" charset="0"/>
            </a:endParaRPr>
          </a:p>
        </p:txBody>
      </p:sp>
      <p:grpSp>
        <p:nvGrpSpPr>
          <p:cNvPr id="2" name="Group 1"/>
          <p:cNvGrpSpPr/>
          <p:nvPr/>
        </p:nvGrpSpPr>
        <p:grpSpPr>
          <a:xfrm>
            <a:off x="304800" y="1066800"/>
            <a:ext cx="3886200" cy="3380096"/>
            <a:chOff x="304800" y="1066800"/>
            <a:chExt cx="3886200" cy="3380096"/>
          </a:xfrm>
        </p:grpSpPr>
        <p:sp>
          <p:nvSpPr>
            <p:cNvPr id="23" name="Rectangle 50"/>
            <p:cNvSpPr>
              <a:spLocks noChangeArrowheads="1"/>
            </p:cNvSpPr>
            <p:nvPr/>
          </p:nvSpPr>
          <p:spPr bwMode="auto">
            <a:xfrm>
              <a:off x="1409701" y="1066800"/>
              <a:ext cx="1142999" cy="6858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Company</a:t>
              </a:r>
            </a:p>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LW0000</a:t>
              </a:r>
            </a:p>
          </p:txBody>
        </p:sp>
        <p:sp>
          <p:nvSpPr>
            <p:cNvPr id="24" name="Rectangle 50"/>
            <p:cNvSpPr>
              <a:spLocks noChangeArrowheads="1"/>
            </p:cNvSpPr>
            <p:nvPr/>
          </p:nvSpPr>
          <p:spPr bwMode="auto">
            <a:xfrm>
              <a:off x="952500" y="1930020"/>
              <a:ext cx="2057400" cy="58458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Controlling Area</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25" name="Rectangle 50"/>
            <p:cNvSpPr>
              <a:spLocks noChangeArrowheads="1"/>
            </p:cNvSpPr>
            <p:nvPr/>
          </p:nvSpPr>
          <p:spPr bwMode="auto">
            <a:xfrm>
              <a:off x="952500" y="2768220"/>
              <a:ext cx="2057400" cy="58458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Company Code</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sp>
          <p:nvSpPr>
            <p:cNvPr id="26" name="Rectangle 50"/>
            <p:cNvSpPr>
              <a:spLocks noChangeArrowheads="1"/>
            </p:cNvSpPr>
            <p:nvPr/>
          </p:nvSpPr>
          <p:spPr bwMode="auto">
            <a:xfrm>
              <a:off x="304800" y="3733800"/>
              <a:ext cx="838200" cy="685800"/>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a:solidFill>
                    <a:sysClr val="window" lastClr="FFFFFF"/>
                  </a:solidFill>
                  <a:latin typeface="Verdana" pitchFamily="34" charset="0"/>
                  <a:ea typeface="Verdana" pitchFamily="34" charset="0"/>
                  <a:cs typeface="Verdana" pitchFamily="34" charset="0"/>
                </a:rPr>
                <a:t>Plant</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PL00</a:t>
              </a:r>
              <a:endParaRPr lang="en-US" sz="1400" kern="0" noProof="1">
                <a:solidFill>
                  <a:sysClr val="window" lastClr="FFFFFF"/>
                </a:solidFill>
                <a:latin typeface="Verdana" pitchFamily="34" charset="0"/>
                <a:ea typeface="Verdana" pitchFamily="34" charset="0"/>
                <a:cs typeface="Verdana" pitchFamily="34" charset="0"/>
              </a:endParaRPr>
            </a:p>
          </p:txBody>
        </p:sp>
        <p:cxnSp>
          <p:nvCxnSpPr>
            <p:cNvPr id="29" name="Straight Connector 28"/>
            <p:cNvCxnSpPr>
              <a:stCxn id="25" idx="0"/>
              <a:endCxn id="24" idx="2"/>
            </p:cNvCxnSpPr>
            <p:nvPr/>
          </p:nvCxnSpPr>
          <p:spPr bwMode="auto">
            <a:xfrm flipV="1">
              <a:off x="1981200" y="2514600"/>
              <a:ext cx="0" cy="2536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30" name="Straight Connector 29"/>
            <p:cNvCxnSpPr>
              <a:stCxn id="24" idx="0"/>
              <a:endCxn id="23" idx="2"/>
            </p:cNvCxnSpPr>
            <p:nvPr/>
          </p:nvCxnSpPr>
          <p:spPr bwMode="auto">
            <a:xfrm flipV="1">
              <a:off x="1981200" y="1752600"/>
              <a:ext cx="1" cy="17742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cxnSp>
          <p:nvCxnSpPr>
            <p:cNvPr id="33" name="Straight Connector 32"/>
            <p:cNvCxnSpPr>
              <a:stCxn id="26" idx="0"/>
            </p:cNvCxnSpPr>
            <p:nvPr/>
          </p:nvCxnSpPr>
          <p:spPr bwMode="auto">
            <a:xfrm flipV="1">
              <a:off x="723900" y="3352800"/>
              <a:ext cx="1257300" cy="381000"/>
            </a:xfrm>
            <a:prstGeom prst="line">
              <a:avLst/>
            </a:prstGeom>
            <a:solidFill>
              <a:schemeClr val="accent1"/>
            </a:solidFill>
            <a:ln w="9525" cap="flat" cmpd="sng" algn="ctr">
              <a:solidFill>
                <a:schemeClr val="accent3">
                  <a:lumMod val="50000"/>
                </a:schemeClr>
              </a:solidFill>
              <a:prstDash val="solid"/>
              <a:round/>
              <a:headEnd type="none" w="med" len="med"/>
              <a:tailEnd type="none" w="med" len="med"/>
            </a:ln>
            <a:effectLst/>
          </p:spPr>
        </p:cxnSp>
        <p:sp>
          <p:nvSpPr>
            <p:cNvPr id="18" name="Rectangle 50"/>
            <p:cNvSpPr>
              <a:spLocks noChangeArrowheads="1"/>
            </p:cNvSpPr>
            <p:nvPr/>
          </p:nvSpPr>
          <p:spPr bwMode="auto">
            <a:xfrm>
              <a:off x="1281753" y="3745174"/>
              <a:ext cx="1398896" cy="685800"/>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Purchasing Organization</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cxnSp>
          <p:nvCxnSpPr>
            <p:cNvPr id="19" name="Straight Connector 18"/>
            <p:cNvCxnSpPr>
              <a:stCxn id="18" idx="0"/>
            </p:cNvCxnSpPr>
            <p:nvPr/>
          </p:nvCxnSpPr>
          <p:spPr bwMode="auto">
            <a:xfrm flipH="1" flipV="1">
              <a:off x="1981200" y="3352800"/>
              <a:ext cx="1" cy="392374"/>
            </a:xfrm>
            <a:prstGeom prst="line">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sp>
          <p:nvSpPr>
            <p:cNvPr id="20" name="Rectangle 50"/>
            <p:cNvSpPr>
              <a:spLocks noChangeArrowheads="1"/>
            </p:cNvSpPr>
            <p:nvPr/>
          </p:nvSpPr>
          <p:spPr bwMode="auto">
            <a:xfrm>
              <a:off x="2792104" y="3761096"/>
              <a:ext cx="1398896" cy="685800"/>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Sales Organization</a:t>
              </a:r>
            </a:p>
            <a:p>
              <a:pPr indent="-342900" algn="ctr" eaLnBrk="1" fontAlgn="auto" hangingPunct="1">
                <a:spcBef>
                  <a:spcPts val="0"/>
                </a:spcBef>
                <a:spcAft>
                  <a:spcPts val="0"/>
                </a:spcAft>
              </a:pPr>
              <a:r>
                <a:rPr lang="en-US" sz="1400" kern="0" noProof="1" smtClean="0">
                  <a:solidFill>
                    <a:sysClr val="window" lastClr="FFFFFF"/>
                  </a:solidFill>
                  <a:latin typeface="Verdana" pitchFamily="34" charset="0"/>
                  <a:ea typeface="Verdana" pitchFamily="34" charset="0"/>
                  <a:cs typeface="Verdana" pitchFamily="34" charset="0"/>
                </a:rPr>
                <a:t>LW00</a:t>
              </a:r>
              <a:endParaRPr lang="en-US" sz="1400" kern="0" noProof="1">
                <a:solidFill>
                  <a:sysClr val="window" lastClr="FFFFFF"/>
                </a:solidFill>
                <a:latin typeface="Verdana" pitchFamily="34" charset="0"/>
                <a:ea typeface="Verdana" pitchFamily="34" charset="0"/>
                <a:cs typeface="Verdana" pitchFamily="34" charset="0"/>
              </a:endParaRPr>
            </a:p>
          </p:txBody>
        </p:sp>
        <p:cxnSp>
          <p:nvCxnSpPr>
            <p:cNvPr id="5" name="Straight Connector 4"/>
            <p:cNvCxnSpPr>
              <a:stCxn id="20" idx="0"/>
            </p:cNvCxnSpPr>
            <p:nvPr/>
          </p:nvCxnSpPr>
          <p:spPr bwMode="auto">
            <a:xfrm flipH="1" flipV="1">
              <a:off x="1981200" y="3352800"/>
              <a:ext cx="1510352" cy="408296"/>
            </a:xfrm>
            <a:prstGeom prst="line">
              <a:avLst/>
            </a:prstGeom>
            <a:solidFill>
              <a:schemeClr val="accent1"/>
            </a:solidFill>
            <a:ln w="9525" cap="flat" cmpd="sng" algn="ctr">
              <a:solidFill>
                <a:schemeClr val="accent4">
                  <a:lumMod val="25000"/>
                </a:schemeClr>
              </a:solidFill>
              <a:prstDash val="solid"/>
              <a:round/>
              <a:headEnd type="none" w="med" len="med"/>
              <a:tailEnd type="none" w="med" len="med"/>
            </a:ln>
            <a:effectLst/>
          </p:spPr>
        </p:cxnSp>
      </p:grpSp>
      <p:sp>
        <p:nvSpPr>
          <p:cNvPr id="22" name="Right Brace 21"/>
          <p:cNvSpPr/>
          <p:nvPr/>
        </p:nvSpPr>
        <p:spPr bwMode="auto">
          <a:xfrm>
            <a:off x="4316224" y="4648200"/>
            <a:ext cx="712976" cy="2057400"/>
          </a:xfrm>
          <a:prstGeom prst="rightBrace">
            <a:avLst/>
          </a:prstGeom>
          <a:noFill/>
          <a:ln w="9525" cap="flat" cmpd="sng" algn="ctr">
            <a:solidFill>
              <a:schemeClr val="accent4">
                <a:lumMod val="2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7" name="TextBox 26"/>
          <p:cNvSpPr txBox="1"/>
          <p:nvPr/>
        </p:nvSpPr>
        <p:spPr>
          <a:xfrm>
            <a:off x="5105400" y="5498068"/>
            <a:ext cx="1752600" cy="369332"/>
          </a:xfrm>
          <a:prstGeom prst="rect">
            <a:avLst/>
          </a:prstGeom>
          <a:noFill/>
        </p:spPr>
        <p:txBody>
          <a:bodyPr wrap="square" rtlCol="0">
            <a:spAutoFit/>
          </a:bodyPr>
          <a:lstStyle/>
          <a:p>
            <a:r>
              <a:rPr lang="en-US" dirty="0" smtClean="0">
                <a:solidFill>
                  <a:schemeClr val="accent4">
                    <a:lumMod val="10000"/>
                  </a:schemeClr>
                </a:solidFill>
                <a:latin typeface="Verdana" pitchFamily="34" charset="0"/>
                <a:ea typeface="Verdana" pitchFamily="34" charset="0"/>
                <a:cs typeface="Verdana" pitchFamily="34" charset="0"/>
              </a:rPr>
              <a:t>Master Data</a:t>
            </a:r>
            <a:endParaRPr lang="en-US" dirty="0">
              <a:solidFill>
                <a:schemeClr val="accent4">
                  <a:lumMod val="10000"/>
                </a:schemeClr>
              </a:solidFill>
              <a:latin typeface="Verdana" pitchFamily="34" charset="0"/>
              <a:ea typeface="Verdana" pitchFamily="34" charset="0"/>
              <a:cs typeface="Verdana" pitchFamily="34" charset="0"/>
            </a:endParaRPr>
          </a:p>
        </p:txBody>
      </p:sp>
      <p:sp>
        <p:nvSpPr>
          <p:cNvPr id="32" name="Rectangle 31"/>
          <p:cNvSpPr/>
          <p:nvPr/>
        </p:nvSpPr>
        <p:spPr bwMode="auto">
          <a:xfrm>
            <a:off x="2524125" y="4649337"/>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Customer</a:t>
            </a:r>
          </a:p>
        </p:txBody>
      </p:sp>
      <p:sp>
        <p:nvSpPr>
          <p:cNvPr id="34" name="Rectangle 33"/>
          <p:cNvSpPr/>
          <p:nvPr/>
        </p:nvSpPr>
        <p:spPr bwMode="auto">
          <a:xfrm>
            <a:off x="2514600" y="5105400"/>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Materials</a:t>
            </a:r>
          </a:p>
        </p:txBody>
      </p:sp>
      <p:sp>
        <p:nvSpPr>
          <p:cNvPr id="35" name="Rectangle 34"/>
          <p:cNvSpPr/>
          <p:nvPr/>
        </p:nvSpPr>
        <p:spPr bwMode="auto">
          <a:xfrm>
            <a:off x="2524125" y="5562600"/>
            <a:ext cx="1752600" cy="381000"/>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Customer Info Records</a:t>
            </a:r>
          </a:p>
        </p:txBody>
      </p:sp>
      <p:sp>
        <p:nvSpPr>
          <p:cNvPr id="36" name="Rectangle 35"/>
          <p:cNvSpPr/>
          <p:nvPr/>
        </p:nvSpPr>
        <p:spPr bwMode="auto">
          <a:xfrm>
            <a:off x="2514600" y="6018662"/>
            <a:ext cx="1752600" cy="686938"/>
          </a:xfrm>
          <a:prstGeom prst="rect">
            <a:avLst/>
          </a:prstGeom>
          <a:solidFill>
            <a:srgbClr val="CC33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rPr>
              <a:t>Pricing Conditions</a:t>
            </a:r>
            <a:r>
              <a:rPr kumimoji="0" lang="en-US" sz="1400" b="0" i="0" u="none" strike="noStrike" cap="none" normalizeH="0" dirty="0" smtClean="0">
                <a:ln>
                  <a:noFill/>
                </a:ln>
                <a:solidFill>
                  <a:schemeClr val="tx1"/>
                </a:solidFill>
                <a:effectLst/>
                <a:latin typeface="Verdana" pitchFamily="34" charset="0"/>
                <a:ea typeface="Verdana" pitchFamily="34" charset="0"/>
                <a:cs typeface="Verdana" pitchFamily="34" charset="0"/>
              </a:rPr>
              <a:t> Output</a:t>
            </a:r>
            <a:endParaRPr kumimoji="0" lang="en-US" sz="1400" b="0" i="0" u="none" strike="noStrike" cap="none" normalizeH="0" baseline="0" dirty="0" smtClean="0">
              <a:ln>
                <a:noFill/>
              </a:ln>
              <a:solidFill>
                <a:schemeClr val="tx1"/>
              </a:solidFill>
              <a:effectLst/>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557685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 in SAP</a:t>
            </a:r>
            <a:endParaRPr lang="en-US" dirty="0"/>
          </a:p>
        </p:txBody>
      </p:sp>
      <p:grpSp>
        <p:nvGrpSpPr>
          <p:cNvPr id="4" name="Gruppe 4"/>
          <p:cNvGrpSpPr>
            <a:grpSpLocks/>
          </p:cNvGrpSpPr>
          <p:nvPr/>
        </p:nvGrpSpPr>
        <p:grpSpPr bwMode="auto">
          <a:xfrm>
            <a:off x="704850" y="1066800"/>
            <a:ext cx="3486150" cy="5548376"/>
            <a:chOff x="4819650" y="4317692"/>
            <a:chExt cx="3905250" cy="5429424"/>
          </a:xfrm>
        </p:grpSpPr>
        <p:sp>
          <p:nvSpPr>
            <p:cNvPr id="5" name="Rektangel med enkelt afrundet hjørne 5"/>
            <p:cNvSpPr/>
            <p:nvPr/>
          </p:nvSpPr>
          <p:spPr>
            <a:xfrm rot="10800000" flipH="1">
              <a:off x="4819650" y="4743929"/>
              <a:ext cx="3903472" cy="5003187"/>
            </a:xfrm>
            <a:prstGeom prst="round1Rect">
              <a:avLst>
                <a:gd name="adj" fmla="val 11921"/>
              </a:avLst>
            </a:prstGeom>
            <a:solidFill>
              <a:schemeClr val="tx1"/>
            </a:solidFill>
            <a:ln w="3175" cap="flat" cmpd="sng" algn="ctr">
              <a:solidFill>
                <a:schemeClr val="bg1">
                  <a:lumMod val="75000"/>
                </a:schemeClr>
              </a:solidFill>
              <a:prstDash val="solid"/>
            </a:ln>
            <a:effectLst>
              <a:outerShdw blurRad="50800" dist="38100" dir="2700000" algn="tl" rotWithShape="0">
                <a:prstClr val="black">
                  <a:alpha val="40000"/>
                </a:prstClr>
              </a:outerShdw>
            </a:effectLst>
          </p:spPr>
          <p:txBody>
            <a:bodyPr anchor="ctr"/>
            <a:lstStyle/>
            <a:p>
              <a:pPr algn="ctr" fontAlgn="auto">
                <a:spcBef>
                  <a:spcPts val="0"/>
                </a:spcBef>
                <a:spcAft>
                  <a:spcPts val="0"/>
                </a:spcAft>
                <a:defRPr/>
              </a:pPr>
              <a:endParaRPr lang="da-DK" kern="0">
                <a:solidFill>
                  <a:sysClr val="window" lastClr="FFFFFF"/>
                </a:solidFill>
                <a:latin typeface="Verdana" pitchFamily="34" charset="0"/>
                <a:ea typeface="Verdana" pitchFamily="34" charset="0"/>
                <a:cs typeface="Verdana" pitchFamily="34" charset="0"/>
              </a:endParaRPr>
            </a:p>
          </p:txBody>
        </p:sp>
        <p:sp>
          <p:nvSpPr>
            <p:cNvPr id="6" name="Rektangel 6"/>
            <p:cNvSpPr/>
            <p:nvPr/>
          </p:nvSpPr>
          <p:spPr>
            <a:xfrm>
              <a:off x="4819650" y="4317692"/>
              <a:ext cx="3905250" cy="464332"/>
            </a:xfrm>
            <a:prstGeom prst="rect">
              <a:avLst/>
            </a:prstGeom>
            <a:gradFill flip="none" rotWithShape="1">
              <a:gsLst>
                <a:gs pos="0">
                  <a:schemeClr val="accent3">
                    <a:shade val="30000"/>
                    <a:satMod val="115000"/>
                  </a:schemeClr>
                </a:gs>
                <a:gs pos="50000">
                  <a:schemeClr val="accent3">
                    <a:shade val="67500"/>
                    <a:satMod val="115000"/>
                  </a:schemeClr>
                </a:gs>
                <a:gs pos="100000">
                  <a:schemeClr val="accent3">
                    <a:shade val="100000"/>
                    <a:satMod val="115000"/>
                  </a:schemeClr>
                </a:gs>
              </a:gsLst>
              <a:lin ang="16200000" scaled="1"/>
              <a:tileRect/>
            </a:gra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da-DK" sz="2000" b="1" kern="0" dirty="0" smtClean="0">
                  <a:solidFill>
                    <a:sysClr val="window" lastClr="FFFFFF"/>
                  </a:solidFill>
                  <a:latin typeface="Verdana" pitchFamily="34" charset="0"/>
                  <a:ea typeface="Verdana" pitchFamily="34" charset="0"/>
                  <a:cs typeface="Verdana" pitchFamily="34" charset="0"/>
                </a:rPr>
                <a:t>Master Data</a:t>
              </a:r>
              <a:endParaRPr lang="da-DK" sz="2000" b="1" kern="0" dirty="0">
                <a:solidFill>
                  <a:sysClr val="window" lastClr="FFFFFF"/>
                </a:solidFill>
                <a:latin typeface="Verdana" pitchFamily="34" charset="0"/>
                <a:ea typeface="Verdana" pitchFamily="34" charset="0"/>
                <a:cs typeface="Verdana" pitchFamily="34" charset="0"/>
              </a:endParaRPr>
            </a:p>
          </p:txBody>
        </p:sp>
      </p:grpSp>
      <p:sp>
        <p:nvSpPr>
          <p:cNvPr id="7" name="Rektangel 7"/>
          <p:cNvSpPr/>
          <p:nvPr/>
        </p:nvSpPr>
        <p:spPr bwMode="auto">
          <a:xfrm>
            <a:off x="704849" y="1592262"/>
            <a:ext cx="3486151" cy="5022914"/>
          </a:xfrm>
          <a:prstGeom prst="rect">
            <a:avLst/>
          </a:prstGeom>
        </p:spPr>
        <p:txBody>
          <a:bodyPr wrap="square">
            <a:spAutoFit/>
          </a:bodyPr>
          <a:lstStyle/>
          <a:p>
            <a:pPr marL="231775" lvl="1" indent="-231775">
              <a:spcBef>
                <a:spcPct val="20000"/>
              </a:spcBef>
              <a:buClr>
                <a:srgbClr val="004B91"/>
              </a:buClr>
              <a:buFont typeface="Arial" pitchFamily="34" charset="0"/>
              <a:buChar char="•"/>
            </a:pPr>
            <a:r>
              <a:rPr lang="en-US" dirty="0">
                <a:solidFill>
                  <a:srgbClr val="000000"/>
                </a:solidFill>
                <a:latin typeface="Verdana" pitchFamily="34" charset="0"/>
                <a:ea typeface="Verdana" pitchFamily="34" charset="0"/>
                <a:cs typeface="Verdana" pitchFamily="34" charset="0"/>
              </a:rPr>
              <a:t>Information that is stored on a long-term basis in the system</a:t>
            </a:r>
          </a:p>
          <a:p>
            <a:pPr marL="231775" lvl="1" indent="-231775">
              <a:spcBef>
                <a:spcPct val="20000"/>
              </a:spcBef>
              <a:buClr>
                <a:srgbClr val="004B91"/>
              </a:buClr>
              <a:buFont typeface="Arial" pitchFamily="34" charset="0"/>
              <a:buChar char="•"/>
            </a:pPr>
            <a:r>
              <a:rPr lang="en-US" dirty="0">
                <a:solidFill>
                  <a:srgbClr val="000000"/>
                </a:solidFill>
                <a:latin typeface="Verdana" pitchFamily="34" charset="0"/>
                <a:ea typeface="Verdana" pitchFamily="34" charset="0"/>
                <a:cs typeface="Verdana" pitchFamily="34" charset="0"/>
              </a:rPr>
              <a:t>Data that remains the same over a long period of time</a:t>
            </a:r>
          </a:p>
          <a:p>
            <a:pPr marL="231775" lvl="1" indent="-231775">
              <a:spcBef>
                <a:spcPct val="20000"/>
              </a:spcBef>
              <a:buClr>
                <a:srgbClr val="004B91"/>
              </a:buClr>
              <a:buFont typeface="Arial" pitchFamily="34" charset="0"/>
              <a:buChar char="•"/>
            </a:pPr>
            <a:r>
              <a:rPr lang="en-US" dirty="0">
                <a:solidFill>
                  <a:srgbClr val="000000"/>
                </a:solidFill>
                <a:latin typeface="Verdana" pitchFamily="34" charset="0"/>
                <a:ea typeface="Verdana" pitchFamily="34" charset="0"/>
                <a:cs typeface="Verdana" pitchFamily="34" charset="0"/>
              </a:rPr>
              <a:t>Information that is needed often and in the same form</a:t>
            </a:r>
          </a:p>
          <a:p>
            <a:pPr marL="231775" lvl="1" indent="-231775">
              <a:spcBef>
                <a:spcPct val="20000"/>
              </a:spcBef>
              <a:buClr>
                <a:srgbClr val="004B91"/>
              </a:buClr>
              <a:buFont typeface="Arial" pitchFamily="34" charset="0"/>
              <a:buChar char="•"/>
            </a:pPr>
            <a:r>
              <a:rPr lang="en-US" dirty="0">
                <a:solidFill>
                  <a:srgbClr val="000000"/>
                </a:solidFill>
                <a:latin typeface="Verdana" pitchFamily="34" charset="0"/>
                <a:ea typeface="Verdana" pitchFamily="34" charset="0"/>
                <a:cs typeface="Verdana" pitchFamily="34" charset="0"/>
              </a:rPr>
              <a:t>Information that can be incorporated into individual transactions thereby    eliminating repeated data entry</a:t>
            </a:r>
          </a:p>
          <a:p>
            <a:pPr marL="231775" lvl="2" indent="-231775">
              <a:spcBef>
                <a:spcPct val="20000"/>
              </a:spcBef>
              <a:buClr>
                <a:srgbClr val="004B91"/>
              </a:buClr>
              <a:buFont typeface="Arial" pitchFamily="34" charset="0"/>
              <a:buChar char="•"/>
            </a:pPr>
            <a:r>
              <a:rPr lang="en-US" dirty="0">
                <a:solidFill>
                  <a:srgbClr val="000000"/>
                </a:solidFill>
                <a:latin typeface="Verdana" pitchFamily="34" charset="0"/>
                <a:ea typeface="Verdana" pitchFamily="34" charset="0"/>
                <a:cs typeface="Verdana" pitchFamily="34" charset="0"/>
              </a:rPr>
              <a:t>Example</a:t>
            </a:r>
            <a:r>
              <a:rPr lang="en-US" dirty="0" smtClean="0">
                <a:solidFill>
                  <a:srgbClr val="000000"/>
                </a:solidFill>
                <a:latin typeface="Verdana" pitchFamily="34" charset="0"/>
                <a:ea typeface="Verdana" pitchFamily="34" charset="0"/>
                <a:cs typeface="Verdana" pitchFamily="34" charset="0"/>
              </a:rPr>
              <a:t>: </a:t>
            </a:r>
            <a:r>
              <a:rPr lang="en-US" b="1" dirty="0" smtClean="0">
                <a:solidFill>
                  <a:srgbClr val="C00000"/>
                </a:solidFill>
                <a:latin typeface="Verdana" pitchFamily="34" charset="0"/>
                <a:ea typeface="Verdana" pitchFamily="34" charset="0"/>
                <a:cs typeface="Verdana" pitchFamily="34" charset="0"/>
              </a:rPr>
              <a:t>Customer Master</a:t>
            </a:r>
            <a:r>
              <a:rPr lang="en-US" dirty="0" smtClean="0">
                <a:solidFill>
                  <a:srgbClr val="000000"/>
                </a:solidFill>
                <a:latin typeface="Verdana" pitchFamily="34" charset="0"/>
                <a:ea typeface="Verdana" pitchFamily="34" charset="0"/>
                <a:cs typeface="Verdana" pitchFamily="34" charset="0"/>
              </a:rPr>
              <a:t>, </a:t>
            </a:r>
            <a:r>
              <a:rPr lang="en-US" b="1" dirty="0" smtClean="0">
                <a:solidFill>
                  <a:srgbClr val="C00000"/>
                </a:solidFill>
                <a:latin typeface="Verdana" pitchFamily="34" charset="0"/>
                <a:ea typeface="Verdana" pitchFamily="34" charset="0"/>
                <a:cs typeface="Verdana" pitchFamily="34" charset="0"/>
              </a:rPr>
              <a:t>Vendor Master</a:t>
            </a:r>
            <a:r>
              <a:rPr lang="en-US" dirty="0" smtClean="0">
                <a:solidFill>
                  <a:srgbClr val="000000"/>
                </a:solidFill>
                <a:latin typeface="Verdana" pitchFamily="34" charset="0"/>
                <a:ea typeface="Verdana" pitchFamily="34" charset="0"/>
                <a:cs typeface="Verdana" pitchFamily="34" charset="0"/>
              </a:rPr>
              <a:t>, </a:t>
            </a:r>
            <a:r>
              <a:rPr lang="en-US" b="1" dirty="0" smtClean="0">
                <a:solidFill>
                  <a:srgbClr val="C00000"/>
                </a:solidFill>
                <a:latin typeface="Verdana" pitchFamily="34" charset="0"/>
                <a:ea typeface="Verdana" pitchFamily="34" charset="0"/>
                <a:cs typeface="Verdana" pitchFamily="34" charset="0"/>
              </a:rPr>
              <a:t>Material Master</a:t>
            </a:r>
            <a:endParaRPr lang="da-DK" b="1" dirty="0">
              <a:solidFill>
                <a:srgbClr val="C00000"/>
              </a:solidFill>
              <a:latin typeface="Verdana" pitchFamily="34" charset="0"/>
              <a:ea typeface="Verdana" pitchFamily="34" charset="0"/>
              <a:cs typeface="Verdana" pitchFamily="34" charset="0"/>
            </a:endParaRPr>
          </a:p>
        </p:txBody>
      </p:sp>
      <p:grpSp>
        <p:nvGrpSpPr>
          <p:cNvPr id="8" name="Gruppe 4"/>
          <p:cNvGrpSpPr>
            <a:grpSpLocks/>
          </p:cNvGrpSpPr>
          <p:nvPr/>
        </p:nvGrpSpPr>
        <p:grpSpPr bwMode="auto">
          <a:xfrm>
            <a:off x="4972050" y="1066800"/>
            <a:ext cx="3486150" cy="5548376"/>
            <a:chOff x="4819650" y="4317692"/>
            <a:chExt cx="3905250" cy="5429424"/>
          </a:xfrm>
        </p:grpSpPr>
        <p:sp>
          <p:nvSpPr>
            <p:cNvPr id="9" name="Rektangel med enkelt afrundet hjørne 5"/>
            <p:cNvSpPr/>
            <p:nvPr/>
          </p:nvSpPr>
          <p:spPr>
            <a:xfrm rot="10800000" flipH="1">
              <a:off x="4819650" y="4743929"/>
              <a:ext cx="3903472" cy="5003187"/>
            </a:xfrm>
            <a:prstGeom prst="round1Rect">
              <a:avLst>
                <a:gd name="adj" fmla="val 11921"/>
              </a:avLst>
            </a:prstGeom>
            <a:solidFill>
              <a:schemeClr val="tx1"/>
            </a:solidFill>
            <a:ln w="3175" cap="flat" cmpd="sng" algn="ctr">
              <a:solidFill>
                <a:schemeClr val="bg1">
                  <a:lumMod val="75000"/>
                </a:schemeClr>
              </a:solidFill>
              <a:prstDash val="solid"/>
            </a:ln>
            <a:effectLst>
              <a:outerShdw blurRad="50800" dist="38100" dir="2700000" algn="tl" rotWithShape="0">
                <a:prstClr val="black">
                  <a:alpha val="40000"/>
                </a:prstClr>
              </a:outerShdw>
            </a:effectLst>
          </p:spPr>
          <p:txBody>
            <a:bodyPr anchor="ctr"/>
            <a:lstStyle/>
            <a:p>
              <a:pPr algn="ctr" fontAlgn="auto">
                <a:spcBef>
                  <a:spcPts val="0"/>
                </a:spcBef>
                <a:spcAft>
                  <a:spcPts val="0"/>
                </a:spcAft>
                <a:defRPr/>
              </a:pPr>
              <a:endParaRPr lang="da-DK" kern="0">
                <a:solidFill>
                  <a:sysClr val="window" lastClr="FFFFFF"/>
                </a:solidFill>
                <a:latin typeface="Verdana" pitchFamily="34" charset="0"/>
                <a:ea typeface="Verdana" pitchFamily="34" charset="0"/>
                <a:cs typeface="Verdana" pitchFamily="34" charset="0"/>
              </a:endParaRPr>
            </a:p>
          </p:txBody>
        </p:sp>
        <p:sp>
          <p:nvSpPr>
            <p:cNvPr id="10" name="Rektangel 6"/>
            <p:cNvSpPr/>
            <p:nvPr/>
          </p:nvSpPr>
          <p:spPr>
            <a:xfrm>
              <a:off x="4819650" y="4317692"/>
              <a:ext cx="3905250" cy="464332"/>
            </a:xfrm>
            <a:prstGeom prst="rect">
              <a:avLst/>
            </a:prstGeom>
            <a:gradFill flip="none" rotWithShape="1">
              <a:gsLst>
                <a:gs pos="0">
                  <a:schemeClr val="accent3">
                    <a:shade val="30000"/>
                    <a:satMod val="115000"/>
                  </a:schemeClr>
                </a:gs>
                <a:gs pos="50000">
                  <a:schemeClr val="accent3">
                    <a:shade val="67500"/>
                    <a:satMod val="115000"/>
                  </a:schemeClr>
                </a:gs>
                <a:gs pos="100000">
                  <a:schemeClr val="accent3">
                    <a:shade val="100000"/>
                    <a:satMod val="115000"/>
                  </a:schemeClr>
                </a:gs>
              </a:gsLst>
              <a:lin ang="16200000" scaled="1"/>
              <a:tileRect/>
            </a:gra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da-DK" sz="2000" b="1" kern="0" dirty="0" smtClean="0">
                  <a:solidFill>
                    <a:sysClr val="window" lastClr="FFFFFF"/>
                  </a:solidFill>
                  <a:latin typeface="Verdana" pitchFamily="34" charset="0"/>
                  <a:ea typeface="Verdana" pitchFamily="34" charset="0"/>
                  <a:cs typeface="Verdana" pitchFamily="34" charset="0"/>
                </a:rPr>
                <a:t>Organizational Data</a:t>
              </a:r>
              <a:endParaRPr lang="da-DK" sz="2000" b="1" kern="0" dirty="0">
                <a:solidFill>
                  <a:sysClr val="window" lastClr="FFFFFF"/>
                </a:solidFill>
                <a:latin typeface="Verdana" pitchFamily="34" charset="0"/>
                <a:ea typeface="Verdana" pitchFamily="34" charset="0"/>
                <a:cs typeface="Verdana" pitchFamily="34" charset="0"/>
              </a:endParaRPr>
            </a:p>
          </p:txBody>
        </p:sp>
      </p:grpSp>
      <p:sp>
        <p:nvSpPr>
          <p:cNvPr id="11" name="Rektangel 7"/>
          <p:cNvSpPr/>
          <p:nvPr/>
        </p:nvSpPr>
        <p:spPr bwMode="auto">
          <a:xfrm>
            <a:off x="4972049" y="1592262"/>
            <a:ext cx="3486151" cy="2751522"/>
          </a:xfrm>
          <a:prstGeom prst="rect">
            <a:avLst/>
          </a:prstGeom>
        </p:spPr>
        <p:txBody>
          <a:bodyPr wrap="square">
            <a:spAutoFit/>
          </a:bodyPr>
          <a:lstStyle/>
          <a:p>
            <a:pPr marL="231775" lvl="1" indent="-231775">
              <a:spcBef>
                <a:spcPct val="20000"/>
              </a:spcBef>
              <a:buClr>
                <a:srgbClr val="004B91"/>
              </a:buClr>
              <a:buFont typeface="Arial" pitchFamily="34" charset="0"/>
              <a:buChar char="•"/>
            </a:pPr>
            <a:r>
              <a:rPr lang="en-US" dirty="0">
                <a:solidFill>
                  <a:srgbClr val="000000"/>
                </a:solidFill>
                <a:latin typeface="Verdana" pitchFamily="34" charset="0"/>
                <a:ea typeface="Verdana" pitchFamily="34" charset="0"/>
                <a:cs typeface="Verdana" pitchFamily="34" charset="0"/>
              </a:rPr>
              <a:t>Organizational units that can be used in more than one type of application</a:t>
            </a:r>
          </a:p>
          <a:p>
            <a:pPr marL="231775" lvl="1" indent="-231775">
              <a:spcBef>
                <a:spcPct val="20000"/>
              </a:spcBef>
              <a:buClr>
                <a:srgbClr val="004B91"/>
              </a:buClr>
              <a:buFont typeface="Arial" pitchFamily="34" charset="0"/>
              <a:buChar char="•"/>
            </a:pPr>
            <a:r>
              <a:rPr lang="en-US" dirty="0">
                <a:solidFill>
                  <a:srgbClr val="000000"/>
                </a:solidFill>
                <a:latin typeface="Verdana" pitchFamily="34" charset="0"/>
                <a:ea typeface="Verdana" pitchFamily="34" charset="0"/>
                <a:cs typeface="Verdana" pitchFamily="34" charset="0"/>
              </a:rPr>
              <a:t>Example</a:t>
            </a:r>
            <a:r>
              <a:rPr lang="en-US" dirty="0" smtClean="0">
                <a:solidFill>
                  <a:srgbClr val="000000"/>
                </a:solidFill>
                <a:latin typeface="Verdana" pitchFamily="34" charset="0"/>
                <a:ea typeface="Verdana" pitchFamily="34" charset="0"/>
                <a:cs typeface="Verdana" pitchFamily="34" charset="0"/>
              </a:rPr>
              <a:t>: </a:t>
            </a:r>
            <a:r>
              <a:rPr lang="en-US" b="1" dirty="0" smtClean="0">
                <a:solidFill>
                  <a:srgbClr val="C00000"/>
                </a:solidFill>
                <a:latin typeface="Verdana" pitchFamily="34" charset="0"/>
                <a:ea typeface="Verdana" pitchFamily="34" charset="0"/>
                <a:cs typeface="Verdana" pitchFamily="34" charset="0"/>
              </a:rPr>
              <a:t>Plants</a:t>
            </a:r>
          </a:p>
          <a:p>
            <a:pPr marL="231775" lvl="1" indent="-231775">
              <a:spcBef>
                <a:spcPct val="20000"/>
              </a:spcBef>
              <a:buClr>
                <a:srgbClr val="004B91"/>
              </a:buClr>
              <a:buFont typeface="Arial" pitchFamily="34" charset="0"/>
              <a:buChar char="•"/>
            </a:pPr>
            <a:r>
              <a:rPr lang="en-US" dirty="0" smtClean="0">
                <a:solidFill>
                  <a:srgbClr val="000000"/>
                </a:solidFill>
                <a:latin typeface="Verdana" pitchFamily="34" charset="0"/>
                <a:ea typeface="Verdana" pitchFamily="34" charset="0"/>
                <a:cs typeface="Verdana" pitchFamily="34" charset="0"/>
              </a:rPr>
              <a:t>Organizational units that can be used in only one type of application</a:t>
            </a:r>
          </a:p>
          <a:p>
            <a:pPr marL="231775" lvl="1" indent="-231775">
              <a:spcBef>
                <a:spcPct val="20000"/>
              </a:spcBef>
              <a:buClr>
                <a:srgbClr val="004B91"/>
              </a:buClr>
              <a:buFont typeface="Arial" pitchFamily="34" charset="0"/>
              <a:buChar char="•"/>
            </a:pPr>
            <a:r>
              <a:rPr lang="en-US" dirty="0" smtClean="0">
                <a:solidFill>
                  <a:srgbClr val="000000"/>
                </a:solidFill>
                <a:latin typeface="Verdana" pitchFamily="34" charset="0"/>
                <a:ea typeface="Verdana" pitchFamily="34" charset="0"/>
                <a:cs typeface="Verdana" pitchFamily="34" charset="0"/>
              </a:rPr>
              <a:t>Example: </a:t>
            </a:r>
            <a:r>
              <a:rPr lang="en-US" b="1" dirty="0" smtClean="0">
                <a:solidFill>
                  <a:srgbClr val="C00000"/>
                </a:solidFill>
                <a:latin typeface="Verdana" pitchFamily="34" charset="0"/>
                <a:ea typeface="Verdana" pitchFamily="34" charset="0"/>
                <a:cs typeface="Verdana" pitchFamily="34" charset="0"/>
              </a:rPr>
              <a:t>Sales Organizations</a:t>
            </a:r>
            <a:endParaRPr lang="en-US" b="1" dirty="0">
              <a:solidFill>
                <a:srgbClr val="C00000"/>
              </a:solidFill>
              <a:latin typeface="Verdana" pitchFamily="34" charset="0"/>
              <a:ea typeface="Verdana" pitchFamily="34" charset="0"/>
              <a:cs typeface="Verdana" pitchFamily="34" charset="0"/>
              <a:hlinkClick r:id="" action="ppaction://noaction"/>
            </a:endParaRPr>
          </a:p>
        </p:txBody>
      </p:sp>
    </p:spTree>
    <p:extLst>
      <p:ext uri="{BB962C8B-B14F-4D97-AF65-F5344CB8AC3E}">
        <p14:creationId xmlns:p14="http://schemas.microsoft.com/office/powerpoint/2010/main" val="26720151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Master Data</a:t>
            </a:r>
            <a:endParaRPr lang="en-US" dirty="0"/>
          </a:p>
        </p:txBody>
      </p:sp>
      <p:sp>
        <p:nvSpPr>
          <p:cNvPr id="3" name="Content Placeholder 2"/>
          <p:cNvSpPr>
            <a:spLocks noGrp="1"/>
          </p:cNvSpPr>
          <p:nvPr>
            <p:ph idx="1"/>
          </p:nvPr>
        </p:nvSpPr>
        <p:spPr/>
        <p:txBody>
          <a:bodyPr/>
          <a:lstStyle/>
          <a:p>
            <a:r>
              <a:rPr lang="en-US" dirty="0" smtClean="0"/>
              <a:t>Master data is one of the building blocks for any transaction. For example, when creating a purchase order, certain vendor information must be entered in the purchase order, such as:</a:t>
            </a:r>
          </a:p>
          <a:p>
            <a:pPr marL="342900" indent="-342900">
              <a:buFont typeface="Arial" pitchFamily="34" charset="0"/>
              <a:buChar char="•"/>
            </a:pPr>
            <a:r>
              <a:rPr lang="en-US" dirty="0" smtClean="0"/>
              <a:t>Vendor name</a:t>
            </a:r>
          </a:p>
          <a:p>
            <a:pPr marL="342900" indent="-342900">
              <a:buFont typeface="Arial" pitchFamily="34" charset="0"/>
              <a:buChar char="•"/>
            </a:pPr>
            <a:r>
              <a:rPr lang="en-US" dirty="0" smtClean="0"/>
              <a:t>Vendor address</a:t>
            </a:r>
            <a:endParaRPr lang="en-US" dirty="0"/>
          </a:p>
        </p:txBody>
      </p:sp>
      <p:sp>
        <p:nvSpPr>
          <p:cNvPr id="44" name="AutoShape 17"/>
          <p:cNvSpPr>
            <a:spLocks noChangeArrowheads="1"/>
          </p:cNvSpPr>
          <p:nvPr/>
        </p:nvSpPr>
        <p:spPr bwMode="auto">
          <a:xfrm>
            <a:off x="4191000" y="3987800"/>
            <a:ext cx="1384300" cy="1117600"/>
          </a:xfrm>
          <a:prstGeom prst="rightArrow">
            <a:avLst>
              <a:gd name="adj1" fmla="val 50000"/>
              <a:gd name="adj2" fmla="val 30966"/>
            </a:avLst>
          </a:prstGeom>
          <a:solidFill>
            <a:schemeClr val="accent5">
              <a:lumMod val="50000"/>
            </a:schemeClr>
          </a:solidFill>
          <a:ln>
            <a:headEnd/>
            <a:tailEnd/>
          </a:ln>
        </p:spPr>
        <p:style>
          <a:lnRef idx="0">
            <a:schemeClr val="accent1"/>
          </a:lnRef>
          <a:fillRef idx="3">
            <a:schemeClr val="accent1"/>
          </a:fillRef>
          <a:effectRef idx="3">
            <a:schemeClr val="accent1"/>
          </a:effectRef>
          <a:fontRef idx="minor">
            <a:schemeClr val="lt1"/>
          </a:fontRef>
        </p:style>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5" name="Rectangle 5"/>
          <p:cNvSpPr>
            <a:spLocks noChangeArrowheads="1"/>
          </p:cNvSpPr>
          <p:nvPr/>
        </p:nvSpPr>
        <p:spPr bwMode="auto">
          <a:xfrm>
            <a:off x="5651500" y="3835400"/>
            <a:ext cx="2235200" cy="2565400"/>
          </a:xfrm>
          <a:prstGeom prst="rect">
            <a:avLst/>
          </a:prstGeom>
          <a:solidFill>
            <a:srgbClr val="EAEAEA"/>
          </a:solidFill>
          <a:ln>
            <a:noFill/>
          </a:ln>
          <a:effectLst>
            <a:innerShdw blurRad="63500" dist="50800" dir="2700000">
              <a:prstClr val="black">
                <a:alpha val="50000"/>
              </a:prstClr>
            </a:inn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6" name="Text Box 6"/>
          <p:cNvSpPr txBox="1">
            <a:spLocks noChangeArrowheads="1"/>
          </p:cNvSpPr>
          <p:nvPr/>
        </p:nvSpPr>
        <p:spPr bwMode="auto">
          <a:xfrm>
            <a:off x="5600700" y="4013200"/>
            <a:ext cx="2260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sng" strike="noStrike" kern="0" cap="none" spc="0" normalizeH="0" baseline="0" noProof="0" smtClean="0">
                <a:ln>
                  <a:noFill/>
                </a:ln>
                <a:solidFill>
                  <a:srgbClr val="002E62"/>
                </a:solidFill>
                <a:effectLst/>
                <a:uLnTx/>
                <a:uFillTx/>
              </a:rPr>
              <a:t>Purchase Order</a:t>
            </a:r>
          </a:p>
        </p:txBody>
      </p:sp>
      <p:sp>
        <p:nvSpPr>
          <p:cNvPr id="47" name="Text Box 7"/>
          <p:cNvSpPr txBox="1">
            <a:spLocks noChangeArrowheads="1"/>
          </p:cNvSpPr>
          <p:nvPr/>
        </p:nvSpPr>
        <p:spPr bwMode="auto">
          <a:xfrm>
            <a:off x="5715000" y="4419600"/>
            <a:ext cx="15875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none" strike="noStrike" kern="0" cap="none" spc="0" normalizeH="0" baseline="0" noProof="0" smtClean="0">
                <a:ln>
                  <a:noFill/>
                </a:ln>
                <a:solidFill>
                  <a:srgbClr val="002E62"/>
                </a:solidFill>
                <a:effectLst/>
                <a:uLnTx/>
                <a:uFillTx/>
              </a:rPr>
              <a:t>Office Express</a:t>
            </a:r>
          </a:p>
        </p:txBody>
      </p:sp>
      <p:sp>
        <p:nvSpPr>
          <p:cNvPr id="48" name="Text Box 8"/>
          <p:cNvSpPr txBox="1">
            <a:spLocks noChangeArrowheads="1"/>
          </p:cNvSpPr>
          <p:nvPr/>
        </p:nvSpPr>
        <p:spPr bwMode="auto">
          <a:xfrm>
            <a:off x="5765800" y="5029200"/>
            <a:ext cx="5969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sng" strike="noStrike" kern="0" cap="none" spc="0" normalizeH="0" baseline="0" noProof="0" smtClean="0">
                <a:ln>
                  <a:noFill/>
                </a:ln>
                <a:solidFill>
                  <a:srgbClr val="002E62"/>
                </a:solidFill>
                <a:effectLst/>
                <a:uLnTx/>
                <a:uFillTx/>
              </a:rPr>
              <a:t>Item</a:t>
            </a:r>
          </a:p>
        </p:txBody>
      </p:sp>
      <p:sp>
        <p:nvSpPr>
          <p:cNvPr id="49" name="Text Box 9"/>
          <p:cNvSpPr txBox="1">
            <a:spLocks noChangeArrowheads="1"/>
          </p:cNvSpPr>
          <p:nvPr/>
        </p:nvSpPr>
        <p:spPr bwMode="auto">
          <a:xfrm>
            <a:off x="6388100" y="5029200"/>
            <a:ext cx="7874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sng" strike="noStrike" kern="0" cap="none" spc="0" normalizeH="0" baseline="0" noProof="0" smtClean="0">
                <a:ln>
                  <a:noFill/>
                </a:ln>
                <a:solidFill>
                  <a:srgbClr val="002E62"/>
                </a:solidFill>
                <a:effectLst/>
                <a:uLnTx/>
                <a:uFillTx/>
              </a:rPr>
              <a:t>Material</a:t>
            </a:r>
          </a:p>
        </p:txBody>
      </p:sp>
      <p:sp>
        <p:nvSpPr>
          <p:cNvPr id="50" name="Text Box 10"/>
          <p:cNvSpPr txBox="1">
            <a:spLocks noChangeArrowheads="1"/>
          </p:cNvSpPr>
          <p:nvPr/>
        </p:nvSpPr>
        <p:spPr bwMode="auto">
          <a:xfrm>
            <a:off x="7289800" y="5029200"/>
            <a:ext cx="5969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sng" strike="noStrike" kern="0" cap="none" spc="0" normalizeH="0" baseline="0" noProof="0" smtClean="0">
                <a:ln>
                  <a:noFill/>
                </a:ln>
                <a:solidFill>
                  <a:srgbClr val="002E62"/>
                </a:solidFill>
                <a:effectLst/>
                <a:uLnTx/>
                <a:uFillTx/>
              </a:rPr>
              <a:t>Qty</a:t>
            </a:r>
          </a:p>
        </p:txBody>
      </p:sp>
      <p:sp>
        <p:nvSpPr>
          <p:cNvPr id="51" name="Text Box 11"/>
          <p:cNvSpPr txBox="1">
            <a:spLocks noChangeArrowheads="1"/>
          </p:cNvSpPr>
          <p:nvPr/>
        </p:nvSpPr>
        <p:spPr bwMode="auto">
          <a:xfrm>
            <a:off x="5791200" y="5345113"/>
            <a:ext cx="3937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10</a:t>
            </a:r>
          </a:p>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20</a:t>
            </a:r>
          </a:p>
        </p:txBody>
      </p:sp>
      <p:sp>
        <p:nvSpPr>
          <p:cNvPr id="52" name="Text Box 13"/>
          <p:cNvSpPr txBox="1">
            <a:spLocks noChangeArrowheads="1"/>
          </p:cNvSpPr>
          <p:nvPr/>
        </p:nvSpPr>
        <p:spPr bwMode="auto">
          <a:xfrm>
            <a:off x="7353300" y="5345113"/>
            <a:ext cx="3937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1</a:t>
            </a:r>
          </a:p>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5</a:t>
            </a:r>
          </a:p>
        </p:txBody>
      </p:sp>
      <p:sp>
        <p:nvSpPr>
          <p:cNvPr id="53" name="Text Box 18"/>
          <p:cNvSpPr txBox="1">
            <a:spLocks noChangeArrowheads="1"/>
          </p:cNvSpPr>
          <p:nvPr/>
        </p:nvSpPr>
        <p:spPr bwMode="auto">
          <a:xfrm>
            <a:off x="4279900" y="4292600"/>
            <a:ext cx="9652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none" strike="noStrike" kern="0" cap="none" spc="0" normalizeH="0" baseline="0" noProof="0" dirty="0" smtClean="0">
                <a:ln>
                  <a:noFill/>
                </a:ln>
                <a:effectLst/>
                <a:uLnTx/>
                <a:uFillTx/>
              </a:rPr>
              <a:t>Vendor Master</a:t>
            </a:r>
          </a:p>
        </p:txBody>
      </p:sp>
      <p:sp>
        <p:nvSpPr>
          <p:cNvPr id="54" name="AutoShape 19"/>
          <p:cNvSpPr>
            <a:spLocks noChangeArrowheads="1"/>
          </p:cNvSpPr>
          <p:nvPr/>
        </p:nvSpPr>
        <p:spPr bwMode="auto">
          <a:xfrm>
            <a:off x="4191000" y="5156200"/>
            <a:ext cx="1384300" cy="1117600"/>
          </a:xfrm>
          <a:prstGeom prst="rightArrow">
            <a:avLst>
              <a:gd name="adj1" fmla="val 50000"/>
              <a:gd name="adj2" fmla="val 30966"/>
            </a:avLst>
          </a:prstGeom>
          <a:solidFill>
            <a:schemeClr val="accent5">
              <a:lumMod val="50000"/>
            </a:schemeClr>
          </a:solidFill>
          <a:ln>
            <a:headEnd/>
            <a:tailEnd/>
          </a:ln>
        </p:spPr>
        <p:style>
          <a:lnRef idx="0">
            <a:schemeClr val="accent1"/>
          </a:lnRef>
          <a:fillRef idx="3">
            <a:schemeClr val="accent1"/>
          </a:fillRef>
          <a:effectRef idx="3">
            <a:schemeClr val="accent1"/>
          </a:effectRef>
          <a:fontRef idx="minor">
            <a:schemeClr val="lt1"/>
          </a:fontRef>
        </p:style>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55" name="Text Box 20"/>
          <p:cNvSpPr txBox="1">
            <a:spLocks noChangeArrowheads="1"/>
          </p:cNvSpPr>
          <p:nvPr/>
        </p:nvSpPr>
        <p:spPr bwMode="auto">
          <a:xfrm>
            <a:off x="4279900" y="5461000"/>
            <a:ext cx="9652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none" strike="noStrike" kern="0" cap="none" spc="0" normalizeH="0" baseline="0" noProof="0" dirty="0" smtClean="0">
                <a:ln>
                  <a:noFill/>
                </a:ln>
                <a:effectLst/>
                <a:uLnTx/>
                <a:uFillTx/>
              </a:rPr>
              <a:t>Material Master</a:t>
            </a:r>
          </a:p>
        </p:txBody>
      </p:sp>
      <p:sp>
        <p:nvSpPr>
          <p:cNvPr id="56" name="Text Box 12"/>
          <p:cNvSpPr txBox="1">
            <a:spLocks noChangeArrowheads="1"/>
          </p:cNvSpPr>
          <p:nvPr/>
        </p:nvSpPr>
        <p:spPr bwMode="auto">
          <a:xfrm>
            <a:off x="6413500" y="5345113"/>
            <a:ext cx="7239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XXXXX</a:t>
            </a:r>
          </a:p>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XXXXX</a:t>
            </a:r>
          </a:p>
        </p:txBody>
      </p:sp>
    </p:spTree>
    <p:extLst>
      <p:ext uri="{BB962C8B-B14F-4D97-AF65-F5344CB8AC3E}">
        <p14:creationId xmlns:p14="http://schemas.microsoft.com/office/powerpoint/2010/main" val="37170916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Data</a:t>
            </a:r>
            <a:endParaRPr lang="en-US" dirty="0"/>
          </a:p>
        </p:txBody>
      </p:sp>
      <p:sp>
        <p:nvSpPr>
          <p:cNvPr id="3" name="Content Placeholder 2"/>
          <p:cNvSpPr>
            <a:spLocks noGrp="1"/>
          </p:cNvSpPr>
          <p:nvPr>
            <p:ph idx="1"/>
          </p:nvPr>
        </p:nvSpPr>
        <p:spPr/>
        <p:txBody>
          <a:bodyPr/>
          <a:lstStyle/>
          <a:p>
            <a:r>
              <a:rPr lang="en-US" dirty="0" smtClean="0"/>
              <a:t>Organizational data is another building block for any transaction. Some types of organizational data include:</a:t>
            </a:r>
          </a:p>
          <a:p>
            <a:pPr marL="342900" indent="-342900">
              <a:buFont typeface="Arial" pitchFamily="34" charset="0"/>
              <a:buChar char="•"/>
            </a:pPr>
            <a:r>
              <a:rPr lang="en-US" dirty="0" smtClean="0"/>
              <a:t>Company Code</a:t>
            </a:r>
          </a:p>
          <a:p>
            <a:pPr marL="342900" indent="-342900">
              <a:buFont typeface="Arial" pitchFamily="34" charset="0"/>
              <a:buChar char="•"/>
            </a:pPr>
            <a:r>
              <a:rPr lang="en-US" dirty="0" smtClean="0"/>
              <a:t>Purchasing Organization</a:t>
            </a:r>
          </a:p>
          <a:p>
            <a:pPr marL="342900" indent="-342900">
              <a:buFont typeface="Arial" pitchFamily="34" charset="0"/>
              <a:buChar char="•"/>
            </a:pPr>
            <a:r>
              <a:rPr lang="en-US" dirty="0" smtClean="0"/>
              <a:t>Purchasing Group</a:t>
            </a:r>
          </a:p>
          <a:p>
            <a:endParaRPr lang="en-US" dirty="0" smtClean="0"/>
          </a:p>
        </p:txBody>
      </p:sp>
      <p:sp>
        <p:nvSpPr>
          <p:cNvPr id="4" name="AutoShape 17"/>
          <p:cNvSpPr>
            <a:spLocks noChangeArrowheads="1"/>
          </p:cNvSpPr>
          <p:nvPr/>
        </p:nvSpPr>
        <p:spPr bwMode="auto">
          <a:xfrm>
            <a:off x="4191000" y="3987800"/>
            <a:ext cx="1384300" cy="1117600"/>
          </a:xfrm>
          <a:prstGeom prst="rightArrow">
            <a:avLst>
              <a:gd name="adj1" fmla="val 50000"/>
              <a:gd name="adj2" fmla="val 30966"/>
            </a:avLst>
          </a:prstGeom>
          <a:solidFill>
            <a:schemeClr val="accent5">
              <a:lumMod val="50000"/>
            </a:schemeClr>
          </a:solidFill>
          <a:ln>
            <a:headEnd/>
            <a:tailEnd/>
          </a:ln>
        </p:spPr>
        <p:style>
          <a:lnRef idx="0">
            <a:schemeClr val="accent1"/>
          </a:lnRef>
          <a:fillRef idx="3">
            <a:schemeClr val="accent1"/>
          </a:fillRef>
          <a:effectRef idx="3">
            <a:schemeClr val="accent1"/>
          </a:effectRef>
          <a:fontRef idx="minor">
            <a:schemeClr val="lt1"/>
          </a:fontRef>
        </p:style>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5" name="Rectangle 5"/>
          <p:cNvSpPr>
            <a:spLocks noChangeArrowheads="1"/>
          </p:cNvSpPr>
          <p:nvPr/>
        </p:nvSpPr>
        <p:spPr bwMode="auto">
          <a:xfrm>
            <a:off x="5651500" y="3835400"/>
            <a:ext cx="2235200" cy="2565400"/>
          </a:xfrm>
          <a:prstGeom prst="rect">
            <a:avLst/>
          </a:prstGeom>
          <a:solidFill>
            <a:srgbClr val="EAEAEA"/>
          </a:solidFill>
          <a:ln>
            <a:noFill/>
          </a:ln>
          <a:effectLst>
            <a:innerShdw blurRad="63500" dist="50800" dir="2700000">
              <a:prstClr val="black">
                <a:alpha val="50000"/>
              </a:prstClr>
            </a:inn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6" name="Text Box 6"/>
          <p:cNvSpPr txBox="1">
            <a:spLocks noChangeArrowheads="1"/>
          </p:cNvSpPr>
          <p:nvPr/>
        </p:nvSpPr>
        <p:spPr bwMode="auto">
          <a:xfrm>
            <a:off x="5600700" y="4013200"/>
            <a:ext cx="2260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sng" strike="noStrike" kern="0" cap="none" spc="0" normalizeH="0" baseline="0" noProof="0" smtClean="0">
                <a:ln>
                  <a:noFill/>
                </a:ln>
                <a:solidFill>
                  <a:srgbClr val="002E62"/>
                </a:solidFill>
                <a:effectLst/>
                <a:uLnTx/>
                <a:uFillTx/>
              </a:rPr>
              <a:t>Purchase Order</a:t>
            </a:r>
          </a:p>
        </p:txBody>
      </p:sp>
      <p:sp>
        <p:nvSpPr>
          <p:cNvPr id="7" name="Text Box 7"/>
          <p:cNvSpPr txBox="1">
            <a:spLocks noChangeArrowheads="1"/>
          </p:cNvSpPr>
          <p:nvPr/>
        </p:nvSpPr>
        <p:spPr bwMode="auto">
          <a:xfrm>
            <a:off x="5715000" y="4419600"/>
            <a:ext cx="15875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none" strike="noStrike" kern="0" cap="none" spc="0" normalizeH="0" baseline="0" noProof="0" smtClean="0">
                <a:ln>
                  <a:noFill/>
                </a:ln>
                <a:solidFill>
                  <a:srgbClr val="002E62"/>
                </a:solidFill>
                <a:effectLst/>
                <a:uLnTx/>
                <a:uFillTx/>
              </a:rPr>
              <a:t>Office Express</a:t>
            </a:r>
          </a:p>
        </p:txBody>
      </p:sp>
      <p:sp>
        <p:nvSpPr>
          <p:cNvPr id="8" name="Text Box 8"/>
          <p:cNvSpPr txBox="1">
            <a:spLocks noChangeArrowheads="1"/>
          </p:cNvSpPr>
          <p:nvPr/>
        </p:nvSpPr>
        <p:spPr bwMode="auto">
          <a:xfrm>
            <a:off x="5765800" y="5029200"/>
            <a:ext cx="5969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sng" strike="noStrike" kern="0" cap="none" spc="0" normalizeH="0" baseline="0" noProof="0" smtClean="0">
                <a:ln>
                  <a:noFill/>
                </a:ln>
                <a:solidFill>
                  <a:srgbClr val="002E62"/>
                </a:solidFill>
                <a:effectLst/>
                <a:uLnTx/>
                <a:uFillTx/>
              </a:rPr>
              <a:t>Item</a:t>
            </a:r>
          </a:p>
        </p:txBody>
      </p:sp>
      <p:sp>
        <p:nvSpPr>
          <p:cNvPr id="9" name="Text Box 9"/>
          <p:cNvSpPr txBox="1">
            <a:spLocks noChangeArrowheads="1"/>
          </p:cNvSpPr>
          <p:nvPr/>
        </p:nvSpPr>
        <p:spPr bwMode="auto">
          <a:xfrm>
            <a:off x="6388100" y="5029200"/>
            <a:ext cx="7874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sng" strike="noStrike" kern="0" cap="none" spc="0" normalizeH="0" baseline="0" noProof="0" smtClean="0">
                <a:ln>
                  <a:noFill/>
                </a:ln>
                <a:solidFill>
                  <a:srgbClr val="002E62"/>
                </a:solidFill>
                <a:effectLst/>
                <a:uLnTx/>
                <a:uFillTx/>
              </a:rPr>
              <a:t>Material</a:t>
            </a:r>
          </a:p>
        </p:txBody>
      </p:sp>
      <p:sp>
        <p:nvSpPr>
          <p:cNvPr id="10" name="Text Box 10"/>
          <p:cNvSpPr txBox="1">
            <a:spLocks noChangeArrowheads="1"/>
          </p:cNvSpPr>
          <p:nvPr/>
        </p:nvSpPr>
        <p:spPr bwMode="auto">
          <a:xfrm>
            <a:off x="7289800" y="5029200"/>
            <a:ext cx="5969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sng" strike="noStrike" kern="0" cap="none" spc="0" normalizeH="0" baseline="0" noProof="0" smtClean="0">
                <a:ln>
                  <a:noFill/>
                </a:ln>
                <a:solidFill>
                  <a:srgbClr val="002E62"/>
                </a:solidFill>
                <a:effectLst/>
                <a:uLnTx/>
                <a:uFillTx/>
              </a:rPr>
              <a:t>Qty</a:t>
            </a:r>
          </a:p>
        </p:txBody>
      </p:sp>
      <p:sp>
        <p:nvSpPr>
          <p:cNvPr id="11" name="Text Box 11"/>
          <p:cNvSpPr txBox="1">
            <a:spLocks noChangeArrowheads="1"/>
          </p:cNvSpPr>
          <p:nvPr/>
        </p:nvSpPr>
        <p:spPr bwMode="auto">
          <a:xfrm>
            <a:off x="5791200" y="5345113"/>
            <a:ext cx="3937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10</a:t>
            </a:r>
          </a:p>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20</a:t>
            </a:r>
          </a:p>
        </p:txBody>
      </p:sp>
      <p:sp>
        <p:nvSpPr>
          <p:cNvPr id="12" name="Text Box 13"/>
          <p:cNvSpPr txBox="1">
            <a:spLocks noChangeArrowheads="1"/>
          </p:cNvSpPr>
          <p:nvPr/>
        </p:nvSpPr>
        <p:spPr bwMode="auto">
          <a:xfrm>
            <a:off x="7353300" y="5345113"/>
            <a:ext cx="3937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1</a:t>
            </a:r>
          </a:p>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5</a:t>
            </a:r>
          </a:p>
        </p:txBody>
      </p:sp>
      <p:sp>
        <p:nvSpPr>
          <p:cNvPr id="13" name="Text Box 18"/>
          <p:cNvSpPr txBox="1">
            <a:spLocks noChangeArrowheads="1"/>
          </p:cNvSpPr>
          <p:nvPr/>
        </p:nvSpPr>
        <p:spPr bwMode="auto">
          <a:xfrm>
            <a:off x="4279900" y="4292600"/>
            <a:ext cx="9652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none" strike="noStrike" kern="0" cap="none" spc="0" normalizeH="0" baseline="0" noProof="0" dirty="0" smtClean="0">
                <a:ln>
                  <a:noFill/>
                </a:ln>
                <a:effectLst/>
                <a:uLnTx/>
                <a:uFillTx/>
              </a:rPr>
              <a:t>Vendor Master</a:t>
            </a:r>
          </a:p>
        </p:txBody>
      </p:sp>
      <p:sp>
        <p:nvSpPr>
          <p:cNvPr id="14" name="AutoShape 19"/>
          <p:cNvSpPr>
            <a:spLocks noChangeArrowheads="1"/>
          </p:cNvSpPr>
          <p:nvPr/>
        </p:nvSpPr>
        <p:spPr bwMode="auto">
          <a:xfrm>
            <a:off x="4191000" y="5156200"/>
            <a:ext cx="1384300" cy="1117600"/>
          </a:xfrm>
          <a:prstGeom prst="rightArrow">
            <a:avLst>
              <a:gd name="adj1" fmla="val 50000"/>
              <a:gd name="adj2" fmla="val 30966"/>
            </a:avLst>
          </a:prstGeom>
          <a:solidFill>
            <a:schemeClr val="accent5">
              <a:lumMod val="50000"/>
            </a:schemeClr>
          </a:solidFill>
          <a:ln>
            <a:headEnd/>
            <a:tailEnd/>
          </a:ln>
        </p:spPr>
        <p:style>
          <a:lnRef idx="0">
            <a:schemeClr val="accent1"/>
          </a:lnRef>
          <a:fillRef idx="3">
            <a:schemeClr val="accent1"/>
          </a:fillRef>
          <a:effectRef idx="3">
            <a:schemeClr val="accent1"/>
          </a:effectRef>
          <a:fontRef idx="minor">
            <a:schemeClr val="lt1"/>
          </a:fontRef>
        </p:style>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5" name="Text Box 20"/>
          <p:cNvSpPr txBox="1">
            <a:spLocks noChangeArrowheads="1"/>
          </p:cNvSpPr>
          <p:nvPr/>
        </p:nvSpPr>
        <p:spPr bwMode="auto">
          <a:xfrm>
            <a:off x="4279900" y="5461000"/>
            <a:ext cx="9652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none" strike="noStrike" kern="0" cap="none" spc="0" normalizeH="0" baseline="0" noProof="0" dirty="0" smtClean="0">
                <a:ln>
                  <a:noFill/>
                </a:ln>
                <a:effectLst/>
                <a:uLnTx/>
                <a:uFillTx/>
              </a:rPr>
              <a:t>Material Master</a:t>
            </a:r>
          </a:p>
        </p:txBody>
      </p:sp>
      <p:sp>
        <p:nvSpPr>
          <p:cNvPr id="16" name="Text Box 12"/>
          <p:cNvSpPr txBox="1">
            <a:spLocks noChangeArrowheads="1"/>
          </p:cNvSpPr>
          <p:nvPr/>
        </p:nvSpPr>
        <p:spPr bwMode="auto">
          <a:xfrm>
            <a:off x="6413500" y="5345113"/>
            <a:ext cx="7239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XXXXX</a:t>
            </a:r>
          </a:p>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XXXXX</a:t>
            </a:r>
          </a:p>
        </p:txBody>
      </p:sp>
      <p:sp>
        <p:nvSpPr>
          <p:cNvPr id="17" name="Oval 16"/>
          <p:cNvSpPr/>
          <p:nvPr/>
        </p:nvSpPr>
        <p:spPr bwMode="auto">
          <a:xfrm>
            <a:off x="5663252" y="1866900"/>
            <a:ext cx="2159000" cy="838200"/>
          </a:xfrm>
          <a:prstGeom prst="ellipse">
            <a:avLst/>
          </a:prstGeom>
          <a:solidFill>
            <a:schemeClr val="accent5">
              <a:lumMod val="5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pitchFamily="34" charset="0"/>
                <a:ea typeface="Verdana" pitchFamily="34" charset="0"/>
                <a:cs typeface="Arial" pitchFamily="34" charset="0"/>
              </a:rPr>
              <a:t>Company Code</a:t>
            </a:r>
          </a:p>
        </p:txBody>
      </p:sp>
      <p:sp>
        <p:nvSpPr>
          <p:cNvPr id="18" name="Oval 17"/>
          <p:cNvSpPr/>
          <p:nvPr/>
        </p:nvSpPr>
        <p:spPr bwMode="auto">
          <a:xfrm>
            <a:off x="4511343" y="2682922"/>
            <a:ext cx="2159000" cy="838200"/>
          </a:xfrm>
          <a:prstGeom prst="ellipse">
            <a:avLst/>
          </a:prstGeom>
          <a:solidFill>
            <a:schemeClr val="accent5">
              <a:lumMod val="5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pitchFamily="34" charset="0"/>
                <a:ea typeface="Verdana" pitchFamily="34" charset="0"/>
                <a:cs typeface="Arial" pitchFamily="34" charset="0"/>
              </a:rPr>
              <a:t>Purchasing Organization</a:t>
            </a:r>
          </a:p>
        </p:txBody>
      </p:sp>
      <p:sp>
        <p:nvSpPr>
          <p:cNvPr id="19" name="Oval 18"/>
          <p:cNvSpPr/>
          <p:nvPr/>
        </p:nvSpPr>
        <p:spPr bwMode="auto">
          <a:xfrm>
            <a:off x="6794500" y="2682922"/>
            <a:ext cx="2159000" cy="838200"/>
          </a:xfrm>
          <a:prstGeom prst="ellipse">
            <a:avLst/>
          </a:prstGeom>
          <a:solidFill>
            <a:schemeClr val="accent5">
              <a:lumMod val="5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pitchFamily="34" charset="0"/>
                <a:ea typeface="Verdana" pitchFamily="34" charset="0"/>
                <a:cs typeface="Arial" pitchFamily="34" charset="0"/>
              </a:rPr>
              <a:t>Purchasing</a:t>
            </a:r>
            <a:r>
              <a:rPr kumimoji="0" lang="en-US" sz="1400" b="1" i="0" u="none" strike="noStrike" cap="none" normalizeH="0" dirty="0" smtClean="0">
                <a:ln>
                  <a:noFill/>
                </a:ln>
                <a:solidFill>
                  <a:schemeClr val="tx1"/>
                </a:solidFill>
                <a:effectLst/>
                <a:latin typeface="Arial" pitchFamily="34" charset="0"/>
                <a:ea typeface="Verdana" pitchFamily="34" charset="0"/>
                <a:cs typeface="Arial" pitchFamily="34" charset="0"/>
              </a:rPr>
              <a:t> Group</a:t>
            </a:r>
            <a:endParaRPr kumimoji="0" lang="en-US" sz="1400" b="1" i="0" u="none" strike="noStrike" cap="none" normalizeH="0" baseline="0" dirty="0" smtClean="0">
              <a:ln>
                <a:noFill/>
              </a:ln>
              <a:solidFill>
                <a:schemeClr val="tx1"/>
              </a:solidFill>
              <a:effectLst/>
              <a:latin typeface="Arial" pitchFamily="34" charset="0"/>
              <a:ea typeface="Verdana" pitchFamily="34" charset="0"/>
              <a:cs typeface="Arial" pitchFamily="34" charset="0"/>
            </a:endParaRPr>
          </a:p>
        </p:txBody>
      </p:sp>
      <p:sp>
        <p:nvSpPr>
          <p:cNvPr id="20" name="Isosceles Triangle 19"/>
          <p:cNvSpPr/>
          <p:nvPr/>
        </p:nvSpPr>
        <p:spPr bwMode="auto">
          <a:xfrm rot="10800000">
            <a:off x="6419850" y="3419522"/>
            <a:ext cx="628650" cy="314278"/>
          </a:xfrm>
          <a:prstGeom prst="triangle">
            <a:avLst/>
          </a:prstGeom>
          <a:gradFill flip="none" rotWithShape="1">
            <a:gsLst>
              <a:gs pos="0">
                <a:schemeClr val="accent5">
                  <a:lumMod val="50000"/>
                  <a:tint val="66000"/>
                  <a:satMod val="160000"/>
                </a:schemeClr>
              </a:gs>
              <a:gs pos="50000">
                <a:schemeClr val="accent5">
                  <a:lumMod val="50000"/>
                  <a:tint val="44500"/>
                  <a:satMod val="160000"/>
                </a:schemeClr>
              </a:gs>
              <a:gs pos="100000">
                <a:schemeClr val="accent5">
                  <a:lumMod val="50000"/>
                  <a:tint val="23500"/>
                  <a:satMod val="160000"/>
                </a:scheme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5519731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Transactional Data</a:t>
            </a:r>
            <a:endParaRPr lang="en-US" dirty="0"/>
          </a:p>
        </p:txBody>
      </p:sp>
      <p:sp>
        <p:nvSpPr>
          <p:cNvPr id="3" name="Content Placeholder 2"/>
          <p:cNvSpPr>
            <a:spLocks noGrp="1"/>
          </p:cNvSpPr>
          <p:nvPr>
            <p:ph idx="1"/>
          </p:nvPr>
        </p:nvSpPr>
        <p:spPr/>
        <p:txBody>
          <a:bodyPr/>
          <a:lstStyle/>
          <a:p>
            <a:r>
              <a:rPr lang="en-US" dirty="0" smtClean="0"/>
              <a:t>When a transaction is processed in SAP, transactional data is generated and stored as a document number.</a:t>
            </a:r>
          </a:p>
        </p:txBody>
      </p:sp>
      <p:sp>
        <p:nvSpPr>
          <p:cNvPr id="4" name="AutoShape 17"/>
          <p:cNvSpPr>
            <a:spLocks noChangeArrowheads="1"/>
          </p:cNvSpPr>
          <p:nvPr/>
        </p:nvSpPr>
        <p:spPr bwMode="auto">
          <a:xfrm>
            <a:off x="1676400" y="3987800"/>
            <a:ext cx="1384300" cy="1117600"/>
          </a:xfrm>
          <a:prstGeom prst="rightArrow">
            <a:avLst>
              <a:gd name="adj1" fmla="val 50000"/>
              <a:gd name="adj2" fmla="val 30966"/>
            </a:avLst>
          </a:prstGeom>
          <a:solidFill>
            <a:schemeClr val="accent5">
              <a:lumMod val="50000"/>
            </a:schemeClr>
          </a:solidFill>
          <a:ln>
            <a:headEnd/>
            <a:tailEnd/>
          </a:ln>
        </p:spPr>
        <p:style>
          <a:lnRef idx="0">
            <a:schemeClr val="accent1"/>
          </a:lnRef>
          <a:fillRef idx="3">
            <a:schemeClr val="accent1"/>
          </a:fillRef>
          <a:effectRef idx="3">
            <a:schemeClr val="accent1"/>
          </a:effectRef>
          <a:fontRef idx="minor">
            <a:schemeClr val="lt1"/>
          </a:fontRef>
        </p:style>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5" name="Rectangle 5"/>
          <p:cNvSpPr>
            <a:spLocks noChangeArrowheads="1"/>
          </p:cNvSpPr>
          <p:nvPr/>
        </p:nvSpPr>
        <p:spPr bwMode="auto">
          <a:xfrm>
            <a:off x="3136900" y="3835400"/>
            <a:ext cx="2235200" cy="2565400"/>
          </a:xfrm>
          <a:prstGeom prst="rect">
            <a:avLst/>
          </a:prstGeom>
          <a:solidFill>
            <a:srgbClr val="EAEAEA"/>
          </a:solidFill>
          <a:ln>
            <a:noFill/>
          </a:ln>
          <a:effectLst>
            <a:innerShdw blurRad="63500" dist="50800" dir="2700000">
              <a:prstClr val="black">
                <a:alpha val="50000"/>
              </a:prstClr>
            </a:inn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6" name="Text Box 6"/>
          <p:cNvSpPr txBox="1">
            <a:spLocks noChangeArrowheads="1"/>
          </p:cNvSpPr>
          <p:nvPr/>
        </p:nvSpPr>
        <p:spPr bwMode="auto">
          <a:xfrm>
            <a:off x="3086100" y="4013200"/>
            <a:ext cx="2260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sng" strike="noStrike" kern="0" cap="none" spc="0" normalizeH="0" baseline="0" noProof="0" smtClean="0">
                <a:ln>
                  <a:noFill/>
                </a:ln>
                <a:solidFill>
                  <a:srgbClr val="002E62"/>
                </a:solidFill>
                <a:effectLst/>
                <a:uLnTx/>
                <a:uFillTx/>
              </a:rPr>
              <a:t>Purchase Order</a:t>
            </a:r>
          </a:p>
        </p:txBody>
      </p:sp>
      <p:sp>
        <p:nvSpPr>
          <p:cNvPr id="7" name="Text Box 7"/>
          <p:cNvSpPr txBox="1">
            <a:spLocks noChangeArrowheads="1"/>
          </p:cNvSpPr>
          <p:nvPr/>
        </p:nvSpPr>
        <p:spPr bwMode="auto">
          <a:xfrm>
            <a:off x="3200400" y="4419600"/>
            <a:ext cx="15875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none" strike="noStrike" kern="0" cap="none" spc="0" normalizeH="0" baseline="0" noProof="0" smtClean="0">
                <a:ln>
                  <a:noFill/>
                </a:ln>
                <a:solidFill>
                  <a:srgbClr val="002E62"/>
                </a:solidFill>
                <a:effectLst/>
                <a:uLnTx/>
                <a:uFillTx/>
              </a:rPr>
              <a:t>Office Express</a:t>
            </a:r>
          </a:p>
        </p:txBody>
      </p:sp>
      <p:sp>
        <p:nvSpPr>
          <p:cNvPr id="8" name="Text Box 8"/>
          <p:cNvSpPr txBox="1">
            <a:spLocks noChangeArrowheads="1"/>
          </p:cNvSpPr>
          <p:nvPr/>
        </p:nvSpPr>
        <p:spPr bwMode="auto">
          <a:xfrm>
            <a:off x="3251200" y="5029200"/>
            <a:ext cx="5969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sng" strike="noStrike" kern="0" cap="none" spc="0" normalizeH="0" baseline="0" noProof="0" smtClean="0">
                <a:ln>
                  <a:noFill/>
                </a:ln>
                <a:solidFill>
                  <a:srgbClr val="002E62"/>
                </a:solidFill>
                <a:effectLst/>
                <a:uLnTx/>
                <a:uFillTx/>
              </a:rPr>
              <a:t>Item</a:t>
            </a:r>
          </a:p>
        </p:txBody>
      </p:sp>
      <p:sp>
        <p:nvSpPr>
          <p:cNvPr id="9" name="Text Box 9"/>
          <p:cNvSpPr txBox="1">
            <a:spLocks noChangeArrowheads="1"/>
          </p:cNvSpPr>
          <p:nvPr/>
        </p:nvSpPr>
        <p:spPr bwMode="auto">
          <a:xfrm>
            <a:off x="3873500" y="5029200"/>
            <a:ext cx="7874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sng" strike="noStrike" kern="0" cap="none" spc="0" normalizeH="0" baseline="0" noProof="0" smtClean="0">
                <a:ln>
                  <a:noFill/>
                </a:ln>
                <a:solidFill>
                  <a:srgbClr val="002E62"/>
                </a:solidFill>
                <a:effectLst/>
                <a:uLnTx/>
                <a:uFillTx/>
              </a:rPr>
              <a:t>Material</a:t>
            </a:r>
          </a:p>
        </p:txBody>
      </p:sp>
      <p:sp>
        <p:nvSpPr>
          <p:cNvPr id="10" name="Text Box 10"/>
          <p:cNvSpPr txBox="1">
            <a:spLocks noChangeArrowheads="1"/>
          </p:cNvSpPr>
          <p:nvPr/>
        </p:nvSpPr>
        <p:spPr bwMode="auto">
          <a:xfrm>
            <a:off x="4775200" y="5029200"/>
            <a:ext cx="5969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1" i="0" u="sng" strike="noStrike" kern="0" cap="none" spc="0" normalizeH="0" baseline="0" noProof="0" smtClean="0">
                <a:ln>
                  <a:noFill/>
                </a:ln>
                <a:solidFill>
                  <a:srgbClr val="002E62"/>
                </a:solidFill>
                <a:effectLst/>
                <a:uLnTx/>
                <a:uFillTx/>
              </a:rPr>
              <a:t>Qty</a:t>
            </a:r>
          </a:p>
        </p:txBody>
      </p:sp>
      <p:sp>
        <p:nvSpPr>
          <p:cNvPr id="11" name="Text Box 11"/>
          <p:cNvSpPr txBox="1">
            <a:spLocks noChangeArrowheads="1"/>
          </p:cNvSpPr>
          <p:nvPr/>
        </p:nvSpPr>
        <p:spPr bwMode="auto">
          <a:xfrm>
            <a:off x="3276600" y="5345113"/>
            <a:ext cx="3937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10</a:t>
            </a:r>
          </a:p>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20</a:t>
            </a:r>
          </a:p>
        </p:txBody>
      </p:sp>
      <p:sp>
        <p:nvSpPr>
          <p:cNvPr id="12" name="Text Box 13"/>
          <p:cNvSpPr txBox="1">
            <a:spLocks noChangeArrowheads="1"/>
          </p:cNvSpPr>
          <p:nvPr/>
        </p:nvSpPr>
        <p:spPr bwMode="auto">
          <a:xfrm>
            <a:off x="4838700" y="5345113"/>
            <a:ext cx="3937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1</a:t>
            </a:r>
          </a:p>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5</a:t>
            </a:r>
          </a:p>
        </p:txBody>
      </p:sp>
      <p:sp>
        <p:nvSpPr>
          <p:cNvPr id="13" name="Text Box 18"/>
          <p:cNvSpPr txBox="1">
            <a:spLocks noChangeArrowheads="1"/>
          </p:cNvSpPr>
          <p:nvPr/>
        </p:nvSpPr>
        <p:spPr bwMode="auto">
          <a:xfrm>
            <a:off x="1765300" y="4292600"/>
            <a:ext cx="9652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none" strike="noStrike" kern="0" cap="none" spc="0" normalizeH="0" baseline="0" noProof="0" dirty="0" smtClean="0">
                <a:ln>
                  <a:noFill/>
                </a:ln>
                <a:effectLst/>
                <a:uLnTx/>
                <a:uFillTx/>
              </a:rPr>
              <a:t>Vendor Master</a:t>
            </a:r>
          </a:p>
        </p:txBody>
      </p:sp>
      <p:sp>
        <p:nvSpPr>
          <p:cNvPr id="14" name="AutoShape 19"/>
          <p:cNvSpPr>
            <a:spLocks noChangeArrowheads="1"/>
          </p:cNvSpPr>
          <p:nvPr/>
        </p:nvSpPr>
        <p:spPr bwMode="auto">
          <a:xfrm>
            <a:off x="1676400" y="5156200"/>
            <a:ext cx="1384300" cy="1117600"/>
          </a:xfrm>
          <a:prstGeom prst="rightArrow">
            <a:avLst>
              <a:gd name="adj1" fmla="val 50000"/>
              <a:gd name="adj2" fmla="val 30966"/>
            </a:avLst>
          </a:prstGeom>
          <a:solidFill>
            <a:schemeClr val="accent5">
              <a:lumMod val="50000"/>
            </a:schemeClr>
          </a:solidFill>
          <a:ln>
            <a:headEnd/>
            <a:tailEnd/>
          </a:ln>
        </p:spPr>
        <p:style>
          <a:lnRef idx="0">
            <a:schemeClr val="accent1"/>
          </a:lnRef>
          <a:fillRef idx="3">
            <a:schemeClr val="accent1"/>
          </a:fillRef>
          <a:effectRef idx="3">
            <a:schemeClr val="accent1"/>
          </a:effectRef>
          <a:fontRef idx="minor">
            <a:schemeClr val="lt1"/>
          </a:fontRef>
        </p:style>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5" name="Text Box 20"/>
          <p:cNvSpPr txBox="1">
            <a:spLocks noChangeArrowheads="1"/>
          </p:cNvSpPr>
          <p:nvPr/>
        </p:nvSpPr>
        <p:spPr bwMode="auto">
          <a:xfrm>
            <a:off x="1765300" y="5461000"/>
            <a:ext cx="9652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none" strike="noStrike" kern="0" cap="none" spc="0" normalizeH="0" baseline="0" noProof="0" dirty="0" smtClean="0">
                <a:ln>
                  <a:noFill/>
                </a:ln>
                <a:effectLst/>
                <a:uLnTx/>
                <a:uFillTx/>
              </a:rPr>
              <a:t>Material Master</a:t>
            </a:r>
          </a:p>
        </p:txBody>
      </p:sp>
      <p:sp>
        <p:nvSpPr>
          <p:cNvPr id="16" name="Text Box 12"/>
          <p:cNvSpPr txBox="1">
            <a:spLocks noChangeArrowheads="1"/>
          </p:cNvSpPr>
          <p:nvPr/>
        </p:nvSpPr>
        <p:spPr bwMode="auto">
          <a:xfrm>
            <a:off x="3898900" y="5345113"/>
            <a:ext cx="7239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XXXXX</a:t>
            </a:r>
          </a:p>
          <a:p>
            <a:pPr marL="0" marR="0" lvl="0" indent="0" defTabSz="914400" eaLnBrk="1" fontAlgn="auto"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smtClean="0">
                <a:ln>
                  <a:noFill/>
                </a:ln>
                <a:solidFill>
                  <a:srgbClr val="002E62"/>
                </a:solidFill>
                <a:effectLst/>
                <a:uLnTx/>
                <a:uFillTx/>
              </a:rPr>
              <a:t>XXXXX</a:t>
            </a:r>
          </a:p>
        </p:txBody>
      </p:sp>
      <p:sp>
        <p:nvSpPr>
          <p:cNvPr id="17" name="Oval 16"/>
          <p:cNvSpPr/>
          <p:nvPr/>
        </p:nvSpPr>
        <p:spPr bwMode="auto">
          <a:xfrm>
            <a:off x="3148652" y="1866900"/>
            <a:ext cx="2159000" cy="838200"/>
          </a:xfrm>
          <a:prstGeom prst="ellipse">
            <a:avLst/>
          </a:prstGeom>
          <a:solidFill>
            <a:schemeClr val="accent5">
              <a:lumMod val="5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pitchFamily="34" charset="0"/>
                <a:ea typeface="Verdana" pitchFamily="34" charset="0"/>
                <a:cs typeface="Arial" pitchFamily="34" charset="0"/>
              </a:rPr>
              <a:t>Company Code</a:t>
            </a:r>
          </a:p>
        </p:txBody>
      </p:sp>
      <p:sp>
        <p:nvSpPr>
          <p:cNvPr id="18" name="Oval 17"/>
          <p:cNvSpPr/>
          <p:nvPr/>
        </p:nvSpPr>
        <p:spPr bwMode="auto">
          <a:xfrm>
            <a:off x="1996743" y="2682922"/>
            <a:ext cx="2159000" cy="838200"/>
          </a:xfrm>
          <a:prstGeom prst="ellipse">
            <a:avLst/>
          </a:prstGeom>
          <a:solidFill>
            <a:schemeClr val="accent5">
              <a:lumMod val="5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pitchFamily="34" charset="0"/>
                <a:ea typeface="Verdana" pitchFamily="34" charset="0"/>
                <a:cs typeface="Arial" pitchFamily="34" charset="0"/>
              </a:rPr>
              <a:t>Purchasing Organization</a:t>
            </a:r>
          </a:p>
        </p:txBody>
      </p:sp>
      <p:sp>
        <p:nvSpPr>
          <p:cNvPr id="19" name="Oval 18"/>
          <p:cNvSpPr/>
          <p:nvPr/>
        </p:nvSpPr>
        <p:spPr bwMode="auto">
          <a:xfrm>
            <a:off x="4279900" y="2682922"/>
            <a:ext cx="2159000" cy="838200"/>
          </a:xfrm>
          <a:prstGeom prst="ellipse">
            <a:avLst/>
          </a:prstGeom>
          <a:solidFill>
            <a:schemeClr val="accent5">
              <a:lumMod val="5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pitchFamily="34" charset="0"/>
                <a:ea typeface="Verdana" pitchFamily="34" charset="0"/>
                <a:cs typeface="Arial" pitchFamily="34" charset="0"/>
              </a:rPr>
              <a:t>Purchasing</a:t>
            </a:r>
            <a:r>
              <a:rPr kumimoji="0" lang="en-US" sz="1400" b="1" i="0" u="none" strike="noStrike" cap="none" normalizeH="0" dirty="0" smtClean="0">
                <a:ln>
                  <a:noFill/>
                </a:ln>
                <a:solidFill>
                  <a:schemeClr val="tx1"/>
                </a:solidFill>
                <a:effectLst/>
                <a:latin typeface="Arial" pitchFamily="34" charset="0"/>
                <a:ea typeface="Verdana" pitchFamily="34" charset="0"/>
                <a:cs typeface="Arial" pitchFamily="34" charset="0"/>
              </a:rPr>
              <a:t> Group</a:t>
            </a:r>
            <a:endParaRPr kumimoji="0" lang="en-US" sz="1400" b="1" i="0" u="none" strike="noStrike" cap="none" normalizeH="0" baseline="0" dirty="0" smtClean="0">
              <a:ln>
                <a:noFill/>
              </a:ln>
              <a:solidFill>
                <a:schemeClr val="tx1"/>
              </a:solidFill>
              <a:effectLst/>
              <a:latin typeface="Arial" pitchFamily="34" charset="0"/>
              <a:ea typeface="Verdana" pitchFamily="34" charset="0"/>
              <a:cs typeface="Arial" pitchFamily="34" charset="0"/>
            </a:endParaRPr>
          </a:p>
        </p:txBody>
      </p:sp>
      <p:sp>
        <p:nvSpPr>
          <p:cNvPr id="20" name="Isosceles Triangle 19"/>
          <p:cNvSpPr/>
          <p:nvPr/>
        </p:nvSpPr>
        <p:spPr bwMode="auto">
          <a:xfrm rot="10800000">
            <a:off x="3905250" y="3419522"/>
            <a:ext cx="628650" cy="314278"/>
          </a:xfrm>
          <a:prstGeom prst="triangle">
            <a:avLst/>
          </a:prstGeom>
          <a:gradFill flip="none" rotWithShape="1">
            <a:gsLst>
              <a:gs pos="0">
                <a:schemeClr val="accent5">
                  <a:lumMod val="50000"/>
                  <a:tint val="66000"/>
                  <a:satMod val="160000"/>
                </a:schemeClr>
              </a:gs>
              <a:gs pos="50000">
                <a:schemeClr val="accent5">
                  <a:lumMod val="50000"/>
                  <a:tint val="44500"/>
                  <a:satMod val="160000"/>
                </a:schemeClr>
              </a:gs>
              <a:gs pos="100000">
                <a:schemeClr val="accent5">
                  <a:lumMod val="50000"/>
                  <a:tint val="23500"/>
                  <a:satMod val="160000"/>
                </a:schemeClr>
              </a:gs>
            </a:gsLst>
            <a:lin ang="16200000" scaled="1"/>
            <a:tileRect/>
          </a:gradFill>
          <a:ln w="9525" cap="flat" cmpd="sng" algn="ctr">
            <a:solidFill>
              <a:srgbClr val="004B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3" name="AutoShape 29"/>
          <p:cNvSpPr>
            <a:spLocks noChangeArrowheads="1"/>
          </p:cNvSpPr>
          <p:nvPr/>
        </p:nvSpPr>
        <p:spPr bwMode="auto">
          <a:xfrm>
            <a:off x="6832600" y="3987800"/>
            <a:ext cx="1689100" cy="1701800"/>
          </a:xfrm>
          <a:prstGeom prst="foldedCorner">
            <a:avLst>
              <a:gd name="adj" fmla="val 12500"/>
            </a:avLst>
          </a:prstGeom>
          <a:solidFill>
            <a:srgbClr val="EAEAEA"/>
          </a:solidFill>
          <a:ln w="12700">
            <a:solidFill>
              <a:srgbClr val="1E479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5" name="Text Box 30"/>
          <p:cNvSpPr txBox="1">
            <a:spLocks noChangeArrowheads="1"/>
          </p:cNvSpPr>
          <p:nvPr/>
        </p:nvSpPr>
        <p:spPr bwMode="auto">
          <a:xfrm>
            <a:off x="6870700" y="4140200"/>
            <a:ext cx="162560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ct val="0"/>
              </a:spcAft>
              <a:buClrTx/>
              <a:buSzTx/>
              <a:buFontTx/>
              <a:buNone/>
              <a:tabLst/>
              <a:defRPr/>
            </a:pPr>
            <a:r>
              <a:rPr kumimoji="0" lang="en-US" sz="1400" b="1" i="0" u="none" strike="noStrike" kern="0" cap="none" spc="0" normalizeH="0" baseline="0" noProof="0" dirty="0" smtClean="0">
                <a:ln>
                  <a:noFill/>
                </a:ln>
                <a:solidFill>
                  <a:srgbClr val="002E62"/>
                </a:solidFill>
                <a:effectLst/>
                <a:uLnTx/>
                <a:uFillTx/>
              </a:rPr>
              <a:t>Purchase Order 800000012</a:t>
            </a:r>
          </a:p>
        </p:txBody>
      </p:sp>
      <p:cxnSp>
        <p:nvCxnSpPr>
          <p:cNvPr id="27" name="Straight Arrow Connector 26"/>
          <p:cNvCxnSpPr/>
          <p:nvPr/>
        </p:nvCxnSpPr>
        <p:spPr bwMode="auto">
          <a:xfrm>
            <a:off x="5562600" y="4838700"/>
            <a:ext cx="1143000" cy="0"/>
          </a:xfrm>
          <a:prstGeom prst="straightConnector1">
            <a:avLst/>
          </a:prstGeom>
          <a:solidFill>
            <a:schemeClr val="accent1"/>
          </a:solidFill>
          <a:ln w="76200" cap="flat" cmpd="sng" algn="ctr">
            <a:solidFill>
              <a:srgbClr val="004B91"/>
            </a:solidFill>
            <a:prstDash val="solid"/>
            <a:round/>
            <a:headEnd type="none" w="med" len="med"/>
            <a:tailEnd type="arrow"/>
          </a:ln>
          <a:effectLst/>
        </p:spPr>
      </p:cxnSp>
    </p:spTree>
    <p:extLst>
      <p:ext uri="{BB962C8B-B14F-4D97-AF65-F5344CB8AC3E}">
        <p14:creationId xmlns:p14="http://schemas.microsoft.com/office/powerpoint/2010/main" val="2013780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Security</a:t>
            </a:r>
            <a:endParaRPr lang="en-US" dirty="0"/>
          </a:p>
        </p:txBody>
      </p:sp>
      <p:sp>
        <p:nvSpPr>
          <p:cNvPr id="3" name="Content Placeholder 2"/>
          <p:cNvSpPr>
            <a:spLocks noGrp="1"/>
          </p:cNvSpPr>
          <p:nvPr>
            <p:ph idx="1"/>
          </p:nvPr>
        </p:nvSpPr>
        <p:spPr>
          <a:xfrm>
            <a:off x="304800" y="971550"/>
            <a:ext cx="8537575" cy="762000"/>
          </a:xfrm>
        </p:spPr>
        <p:txBody>
          <a:bodyPr/>
          <a:lstStyle/>
          <a:p>
            <a:r>
              <a:rPr lang="en-US" sz="1400" b="1" u="sng" dirty="0" smtClean="0">
                <a:solidFill>
                  <a:schemeClr val="bg2"/>
                </a:solidFill>
              </a:rPr>
              <a:t>People</a:t>
            </a:r>
            <a:r>
              <a:rPr lang="en-US" sz="1400" dirty="0" smtClean="0">
                <a:solidFill>
                  <a:schemeClr val="bg2"/>
                </a:solidFill>
              </a:rPr>
              <a:t> perform</a:t>
            </a:r>
            <a:r>
              <a:rPr lang="en-US" sz="1400" b="1" i="1" dirty="0" smtClean="0">
                <a:solidFill>
                  <a:schemeClr val="bg2"/>
                </a:solidFill>
              </a:rPr>
              <a:t> Roles </a:t>
            </a:r>
            <a:r>
              <a:rPr lang="en-US" sz="1400" dirty="0" smtClean="0">
                <a:solidFill>
                  <a:schemeClr val="bg2"/>
                </a:solidFill>
              </a:rPr>
              <a:t>to participate in </a:t>
            </a:r>
            <a:r>
              <a:rPr lang="en-US" sz="1400" b="1" i="1" dirty="0" smtClean="0">
                <a:solidFill>
                  <a:schemeClr val="bg2"/>
                </a:solidFill>
              </a:rPr>
              <a:t>Business Scenarios </a:t>
            </a:r>
            <a:r>
              <a:rPr lang="en-US" sz="1400" dirty="0" smtClean="0">
                <a:solidFill>
                  <a:schemeClr val="bg2"/>
                </a:solidFill>
              </a:rPr>
              <a:t>implemented by </a:t>
            </a:r>
            <a:r>
              <a:rPr lang="en-US" sz="1400" b="1" i="1" dirty="0" smtClean="0">
                <a:solidFill>
                  <a:schemeClr val="bg2"/>
                </a:solidFill>
              </a:rPr>
              <a:t>Components</a:t>
            </a:r>
            <a:endParaRPr lang="en-US" sz="1400" b="1" i="1" dirty="0">
              <a:solidFill>
                <a:schemeClr val="bg2"/>
              </a:solidFill>
            </a:endParaRPr>
          </a:p>
          <a:p>
            <a:endParaRPr lang="en-US" dirty="0"/>
          </a:p>
        </p:txBody>
      </p:sp>
      <p:grpSp>
        <p:nvGrpSpPr>
          <p:cNvPr id="27" name="Group 26"/>
          <p:cNvGrpSpPr/>
          <p:nvPr/>
        </p:nvGrpSpPr>
        <p:grpSpPr>
          <a:xfrm>
            <a:off x="609600" y="1447800"/>
            <a:ext cx="7924800" cy="4326642"/>
            <a:chOff x="609600" y="1282700"/>
            <a:chExt cx="7924800" cy="4326642"/>
          </a:xfrm>
        </p:grpSpPr>
        <p:sp>
          <p:nvSpPr>
            <p:cNvPr id="28" name="Rectangle 10"/>
            <p:cNvSpPr>
              <a:spLocks noChangeArrowheads="1"/>
            </p:cNvSpPr>
            <p:nvPr/>
          </p:nvSpPr>
          <p:spPr bwMode="auto">
            <a:xfrm>
              <a:off x="3975100" y="1473200"/>
              <a:ext cx="2159000" cy="4114800"/>
            </a:xfrm>
            <a:prstGeom prst="rect">
              <a:avLst/>
            </a:prstGeom>
            <a:solidFill>
              <a:srgbClr val="FFD98D"/>
            </a:solidFill>
            <a:ln w="9525">
              <a:solidFill>
                <a:srgbClr val="F4B237"/>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pic>
          <p:nvPicPr>
            <p:cNvPr id="30" name="Content Placeholder 29" descr="j0402195"/>
            <p:cNvPicPr>
              <a:picLocks noGrp="1" noChangeAspect="1" noChangeArrowheads="1"/>
            </p:cNvPicPr>
            <p:nvPr>
              <p:ph sz="quarter" idx="2"/>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3213100"/>
              <a:ext cx="903288" cy="1128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 name="AutoShape 5"/>
            <p:cNvSpPr>
              <a:spLocks noChangeArrowheads="1"/>
            </p:cNvSpPr>
            <p:nvPr/>
          </p:nvSpPr>
          <p:spPr bwMode="auto">
            <a:xfrm>
              <a:off x="711200" y="1282700"/>
              <a:ext cx="622300" cy="546100"/>
            </a:xfrm>
            <a:prstGeom prst="downArrow">
              <a:avLst>
                <a:gd name="adj1" fmla="val 50000"/>
                <a:gd name="adj2" fmla="val 25000"/>
              </a:avLst>
            </a:prstGeom>
            <a:gradFill rotWithShape="1">
              <a:gsLst>
                <a:gs pos="0">
                  <a:srgbClr val="8AC4E9"/>
                </a:gs>
                <a:gs pos="100000">
                  <a:srgbClr val="8AC4E9">
                    <a:gamma/>
                    <a:shade val="46275"/>
                    <a:invGamma/>
                  </a:srgb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2" name="AutoShape 7"/>
            <p:cNvSpPr>
              <a:spLocks noChangeArrowheads="1"/>
            </p:cNvSpPr>
            <p:nvPr/>
          </p:nvSpPr>
          <p:spPr bwMode="auto">
            <a:xfrm>
              <a:off x="2082800" y="1282700"/>
              <a:ext cx="622300" cy="546100"/>
            </a:xfrm>
            <a:prstGeom prst="downArrow">
              <a:avLst>
                <a:gd name="adj1" fmla="val 50000"/>
                <a:gd name="adj2" fmla="val 25000"/>
              </a:avLst>
            </a:prstGeom>
            <a:gradFill rotWithShape="1">
              <a:gsLst>
                <a:gs pos="0">
                  <a:srgbClr val="8AC4E9"/>
                </a:gs>
                <a:gs pos="100000">
                  <a:srgbClr val="8AC4E9">
                    <a:gamma/>
                    <a:shade val="46275"/>
                    <a:invGamma/>
                  </a:srgb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3" name="AutoShape 8"/>
            <p:cNvSpPr>
              <a:spLocks noChangeArrowheads="1"/>
            </p:cNvSpPr>
            <p:nvPr/>
          </p:nvSpPr>
          <p:spPr bwMode="auto">
            <a:xfrm>
              <a:off x="5359400" y="1282700"/>
              <a:ext cx="622300" cy="546100"/>
            </a:xfrm>
            <a:prstGeom prst="downArrow">
              <a:avLst>
                <a:gd name="adj1" fmla="val 50000"/>
                <a:gd name="adj2" fmla="val 25000"/>
              </a:avLst>
            </a:prstGeom>
            <a:gradFill rotWithShape="1">
              <a:gsLst>
                <a:gs pos="0">
                  <a:srgbClr val="8AC4E9"/>
                </a:gs>
                <a:gs pos="100000">
                  <a:srgbClr val="8AC4E9">
                    <a:gamma/>
                    <a:shade val="46275"/>
                    <a:invGamma/>
                  </a:srgb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4" name="AutoShape 9"/>
            <p:cNvSpPr>
              <a:spLocks noChangeArrowheads="1"/>
            </p:cNvSpPr>
            <p:nvPr/>
          </p:nvSpPr>
          <p:spPr bwMode="auto">
            <a:xfrm>
              <a:off x="7569200" y="1295400"/>
              <a:ext cx="622300" cy="546100"/>
            </a:xfrm>
            <a:prstGeom prst="downArrow">
              <a:avLst>
                <a:gd name="adj1" fmla="val 50000"/>
                <a:gd name="adj2" fmla="val 25000"/>
              </a:avLst>
            </a:prstGeom>
            <a:gradFill rotWithShape="1">
              <a:gsLst>
                <a:gs pos="0">
                  <a:srgbClr val="8AC4E9"/>
                </a:gs>
                <a:gs pos="100000">
                  <a:srgbClr val="8AC4E9">
                    <a:gamma/>
                    <a:shade val="46275"/>
                    <a:invGamma/>
                  </a:srgb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5" name="Text Box 11"/>
            <p:cNvSpPr txBox="1">
              <a:spLocks noChangeArrowheads="1"/>
            </p:cNvSpPr>
            <p:nvPr/>
          </p:nvSpPr>
          <p:spPr bwMode="auto">
            <a:xfrm>
              <a:off x="1955800" y="1979613"/>
              <a:ext cx="1231900"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Requester</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653">
                      <a:lumMod val="75000"/>
                      <a:lumOff val="25000"/>
                    </a:srgbClr>
                  </a:solidFill>
                  <a:effectLst/>
                  <a:uLnTx/>
                  <a:uFillTx/>
                </a:rPr>
                <a:t>Approver</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653">
                      <a:lumMod val="75000"/>
                      <a:lumOff val="25000"/>
                    </a:srgbClr>
                  </a:solidFill>
                  <a:effectLst/>
                  <a:uLnTx/>
                  <a:uFillTx/>
                </a:rPr>
                <a:t>Buyer</a:t>
              </a:r>
            </a:p>
          </p:txBody>
        </p:sp>
        <p:sp>
          <p:nvSpPr>
            <p:cNvPr id="36" name="Text Box 12"/>
            <p:cNvSpPr txBox="1">
              <a:spLocks noChangeArrowheads="1"/>
            </p:cNvSpPr>
            <p:nvPr/>
          </p:nvSpPr>
          <p:spPr bwMode="auto">
            <a:xfrm>
              <a:off x="1955800" y="3249613"/>
              <a:ext cx="1231900"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653">
                      <a:lumMod val="75000"/>
                      <a:lumOff val="25000"/>
                    </a:srgbClr>
                  </a:solidFill>
                  <a:effectLst/>
                  <a:uLnTx/>
                  <a:uFillTx/>
                </a:rPr>
                <a:t>Requester</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Approver</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653">
                      <a:lumMod val="75000"/>
                      <a:lumOff val="25000"/>
                    </a:srgbClr>
                  </a:solidFill>
                  <a:effectLst/>
                  <a:uLnTx/>
                  <a:uFillTx/>
                </a:rPr>
                <a:t>Buyer</a:t>
              </a:r>
            </a:p>
          </p:txBody>
        </p:sp>
        <p:sp>
          <p:nvSpPr>
            <p:cNvPr id="37" name="Text Box 13"/>
            <p:cNvSpPr txBox="1">
              <a:spLocks noChangeArrowheads="1"/>
            </p:cNvSpPr>
            <p:nvPr/>
          </p:nvSpPr>
          <p:spPr bwMode="auto">
            <a:xfrm>
              <a:off x="1955800" y="4557713"/>
              <a:ext cx="1231900"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653">
                      <a:lumMod val="75000"/>
                      <a:lumOff val="25000"/>
                    </a:srgbClr>
                  </a:solidFill>
                  <a:effectLst/>
                  <a:uLnTx/>
                  <a:uFillTx/>
                </a:rPr>
                <a:t>Requester</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653">
                      <a:lumMod val="75000"/>
                      <a:lumOff val="25000"/>
                    </a:srgbClr>
                  </a:solidFill>
                  <a:effectLst/>
                  <a:uLnTx/>
                  <a:uFillTx/>
                </a:rPr>
                <a:t>Approver</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Buyer</a:t>
              </a:r>
              <a:endParaRPr kumimoji="0" lang="en-US" sz="1400" b="1" i="0" u="none" strike="noStrike" kern="0" cap="none" spc="0" normalizeH="0" baseline="0" noProof="0" dirty="0" smtClean="0">
                <a:ln>
                  <a:noFill/>
                </a:ln>
                <a:solidFill>
                  <a:srgbClr val="B2C5E0"/>
                </a:solidFill>
                <a:effectLst/>
                <a:uLnTx/>
                <a:uFillTx/>
              </a:endParaRPr>
            </a:p>
          </p:txBody>
        </p:sp>
        <p:sp>
          <p:nvSpPr>
            <p:cNvPr id="38" name="Line 15"/>
            <p:cNvSpPr>
              <a:spLocks noChangeShapeType="1"/>
            </p:cNvSpPr>
            <p:nvPr/>
          </p:nvSpPr>
          <p:spPr bwMode="auto">
            <a:xfrm>
              <a:off x="3098800" y="2133600"/>
              <a:ext cx="1104900" cy="0"/>
            </a:xfrm>
            <a:prstGeom prst="line">
              <a:avLst/>
            </a:prstGeom>
            <a:noFill/>
            <a:ln w="28575">
              <a:solidFill>
                <a:srgbClr val="002E6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9" name="Line 16"/>
            <p:cNvSpPr>
              <a:spLocks noChangeShapeType="1"/>
            </p:cNvSpPr>
            <p:nvPr/>
          </p:nvSpPr>
          <p:spPr bwMode="auto">
            <a:xfrm>
              <a:off x="3060700" y="3746500"/>
              <a:ext cx="1104900" cy="0"/>
            </a:xfrm>
            <a:prstGeom prst="line">
              <a:avLst/>
            </a:prstGeom>
            <a:noFill/>
            <a:ln w="28575">
              <a:solidFill>
                <a:srgbClr val="002E6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0" name="Line 17"/>
            <p:cNvSpPr>
              <a:spLocks noChangeShapeType="1"/>
            </p:cNvSpPr>
            <p:nvPr/>
          </p:nvSpPr>
          <p:spPr bwMode="auto">
            <a:xfrm>
              <a:off x="3073400" y="5219700"/>
              <a:ext cx="1104900" cy="0"/>
            </a:xfrm>
            <a:prstGeom prst="line">
              <a:avLst/>
            </a:prstGeom>
            <a:noFill/>
            <a:ln w="28575">
              <a:solidFill>
                <a:srgbClr val="002E6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1" name="Text Box 18"/>
            <p:cNvSpPr txBox="1">
              <a:spLocks noChangeArrowheads="1"/>
            </p:cNvSpPr>
            <p:nvPr/>
          </p:nvSpPr>
          <p:spPr bwMode="auto">
            <a:xfrm>
              <a:off x="4356100" y="1943100"/>
              <a:ext cx="1270000"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400" b="0" i="0" u="none" strike="noStrike" kern="0" cap="none" spc="0" normalizeH="0" baseline="0" noProof="0" smtClean="0">
                  <a:ln>
                    <a:noFill/>
                  </a:ln>
                  <a:solidFill>
                    <a:srgbClr val="002E62"/>
                  </a:solidFill>
                  <a:effectLst/>
                  <a:uLnTx/>
                  <a:uFillTx/>
                </a:rPr>
                <a:t>Create Purchase Requisition</a:t>
              </a:r>
            </a:p>
          </p:txBody>
        </p:sp>
        <p:sp>
          <p:nvSpPr>
            <p:cNvPr id="42" name="Text Box 19"/>
            <p:cNvSpPr txBox="1">
              <a:spLocks noChangeArrowheads="1"/>
            </p:cNvSpPr>
            <p:nvPr/>
          </p:nvSpPr>
          <p:spPr bwMode="auto">
            <a:xfrm>
              <a:off x="4343400" y="3454400"/>
              <a:ext cx="1270000"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400" b="0" i="0" u="none" strike="noStrike" kern="0" cap="none" spc="0" normalizeH="0" baseline="0" noProof="0" smtClean="0">
                  <a:ln>
                    <a:noFill/>
                  </a:ln>
                  <a:solidFill>
                    <a:srgbClr val="002E62"/>
                  </a:solidFill>
                  <a:effectLst/>
                  <a:uLnTx/>
                  <a:uFillTx/>
                </a:rPr>
                <a:t>Approve Purchase Requisition</a:t>
              </a:r>
            </a:p>
          </p:txBody>
        </p:sp>
        <p:sp>
          <p:nvSpPr>
            <p:cNvPr id="43" name="Text Box 20"/>
            <p:cNvSpPr txBox="1">
              <a:spLocks noChangeArrowheads="1"/>
            </p:cNvSpPr>
            <p:nvPr/>
          </p:nvSpPr>
          <p:spPr bwMode="auto">
            <a:xfrm>
              <a:off x="4356100" y="4811236"/>
              <a:ext cx="1270000" cy="7386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400" b="0" i="0" u="none" strike="noStrike" kern="0" cap="none" spc="0" normalizeH="0" baseline="0" noProof="0" dirty="0" smtClean="0">
                  <a:ln>
                    <a:noFill/>
                  </a:ln>
                  <a:solidFill>
                    <a:srgbClr val="002E62"/>
                  </a:solidFill>
                  <a:effectLst/>
                  <a:uLnTx/>
                  <a:uFillTx/>
                </a:rPr>
                <a:t>Source and Execute Purchase</a:t>
              </a:r>
            </a:p>
          </p:txBody>
        </p:sp>
        <p:sp>
          <p:nvSpPr>
            <p:cNvPr id="44" name="Line 21"/>
            <p:cNvSpPr>
              <a:spLocks noChangeShapeType="1"/>
            </p:cNvSpPr>
            <p:nvPr/>
          </p:nvSpPr>
          <p:spPr bwMode="auto">
            <a:xfrm>
              <a:off x="5664200" y="1943100"/>
              <a:ext cx="0" cy="3340100"/>
            </a:xfrm>
            <a:prstGeom prst="line">
              <a:avLst/>
            </a:prstGeom>
            <a:noFill/>
            <a:ln w="38100">
              <a:solidFill>
                <a:srgbClr val="002E6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5" name="Text Box 22"/>
            <p:cNvSpPr txBox="1">
              <a:spLocks noChangeArrowheads="1"/>
            </p:cNvSpPr>
            <p:nvPr/>
          </p:nvSpPr>
          <p:spPr bwMode="auto">
            <a:xfrm rot="5400000">
              <a:off x="4978400" y="3606800"/>
              <a:ext cx="17145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None/>
                <a:tabLst/>
                <a:defRPr/>
              </a:pPr>
              <a:r>
                <a:rPr kumimoji="0" lang="en-US" sz="1600" b="1" i="0" u="none" strike="noStrike" kern="0" cap="none" spc="0" normalizeH="0" baseline="0" noProof="0" dirty="0" smtClean="0">
                  <a:ln>
                    <a:noFill/>
                  </a:ln>
                  <a:solidFill>
                    <a:srgbClr val="002E62"/>
                  </a:solidFill>
                  <a:effectLst/>
                  <a:uLnTx/>
                  <a:uFillTx/>
                </a:rPr>
                <a:t>Procurement</a:t>
              </a:r>
            </a:p>
          </p:txBody>
        </p:sp>
        <p:sp>
          <p:nvSpPr>
            <p:cNvPr id="46" name="Text Box 23"/>
            <p:cNvSpPr txBox="1">
              <a:spLocks noChangeArrowheads="1"/>
            </p:cNvSpPr>
            <p:nvPr/>
          </p:nvSpPr>
          <p:spPr bwMode="auto">
            <a:xfrm>
              <a:off x="7289800" y="2006600"/>
              <a:ext cx="1244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SRM</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SAP ECC</a:t>
              </a:r>
            </a:p>
          </p:txBody>
        </p:sp>
        <p:sp>
          <p:nvSpPr>
            <p:cNvPr id="47" name="Text Box 24"/>
            <p:cNvSpPr txBox="1">
              <a:spLocks noChangeArrowheads="1"/>
            </p:cNvSpPr>
            <p:nvPr/>
          </p:nvSpPr>
          <p:spPr bwMode="auto">
            <a:xfrm>
              <a:off x="7277100" y="3098800"/>
              <a:ext cx="1244600" cy="1277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SRM</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SAP BI</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SAP ECC</a:t>
              </a:r>
            </a:p>
            <a:p>
              <a:pPr marL="0" marR="0" lvl="0" indent="0" defTabSz="914400" eaLnBrk="1" fontAlgn="auto" latinLnBrk="0" hangingPunct="1">
                <a:lnSpc>
                  <a:spcPct val="100000"/>
                </a:lnSpc>
                <a:spcBef>
                  <a:spcPct val="50000"/>
                </a:spcBef>
                <a:spcAft>
                  <a:spcPct val="0"/>
                </a:spcAft>
                <a:buClrTx/>
                <a:buSzTx/>
                <a:buFontTx/>
                <a:buChar char="•"/>
                <a:tabLst/>
                <a:defRPr/>
              </a:pPr>
              <a:endParaRPr kumimoji="0" lang="en-US" sz="1400" b="1" i="0" u="none" strike="noStrike" kern="0" cap="none" spc="0" normalizeH="0" baseline="0" noProof="0" dirty="0" smtClean="0">
                <a:ln>
                  <a:noFill/>
                </a:ln>
                <a:solidFill>
                  <a:srgbClr val="002E62"/>
                </a:solidFill>
                <a:effectLst/>
                <a:uLnTx/>
                <a:uFillTx/>
              </a:endParaRPr>
            </a:p>
          </p:txBody>
        </p:sp>
        <p:sp>
          <p:nvSpPr>
            <p:cNvPr id="48" name="Text Box 25"/>
            <p:cNvSpPr txBox="1">
              <a:spLocks noChangeArrowheads="1"/>
            </p:cNvSpPr>
            <p:nvPr/>
          </p:nvSpPr>
          <p:spPr bwMode="auto">
            <a:xfrm>
              <a:off x="7277100" y="4978400"/>
              <a:ext cx="1244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SRM</a:t>
              </a:r>
            </a:p>
            <a:p>
              <a:pPr marL="0" marR="0" lvl="0" indent="0" defTabSz="914400" eaLnBrk="1" fontAlgn="auto" latinLnBrk="0" hangingPunct="1">
                <a:lnSpc>
                  <a:spcPct val="100000"/>
                </a:lnSpc>
                <a:spcBef>
                  <a:spcPct val="50000"/>
                </a:spcBef>
                <a:spcAft>
                  <a:spcPct val="0"/>
                </a:spcAft>
                <a:buClrTx/>
                <a:buSzTx/>
                <a:buFontTx/>
                <a:buChar char="•"/>
                <a:tabLst/>
                <a:defRPr/>
              </a:pPr>
              <a:r>
                <a:rPr kumimoji="0" lang="en-US" sz="1400" b="1" i="0" u="none" strike="noStrike" kern="0" cap="none" spc="0" normalizeH="0" baseline="0" noProof="0" dirty="0" smtClean="0">
                  <a:ln>
                    <a:noFill/>
                  </a:ln>
                  <a:solidFill>
                    <a:srgbClr val="002E62"/>
                  </a:solidFill>
                  <a:effectLst/>
                  <a:uLnTx/>
                  <a:uFillTx/>
                </a:rPr>
                <a:t>SAP BI</a:t>
              </a:r>
            </a:p>
          </p:txBody>
        </p:sp>
      </p:grpSp>
      <p:pic>
        <p:nvPicPr>
          <p:cNvPr id="4103" name="Picture 7" descr="C:\Users\lBrendemuehl\AppData\Local\Microsoft\Windows\Temporary Internet Files\Content.IE5\RSK87P6U\MP900442769[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8493" y="2167642"/>
            <a:ext cx="1267714" cy="84863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C:\Users\lBrendemuehl\AppData\Local\Microsoft\Windows\Temporary Internet Files\Content.IE5\67LIMEFO\MP900178366[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3525" y="4723431"/>
            <a:ext cx="1517650" cy="1011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815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Financial Accounting provides financial information for _______ usage while Controlling provides cost and profitability information for ________ usage.</a:t>
            </a:r>
          </a:p>
          <a:p>
            <a:pPr marL="457200" lvl="0" indent="-457200">
              <a:buFont typeface="+mj-lt"/>
              <a:buAutoNum type="arabicPeriod"/>
            </a:pPr>
            <a:r>
              <a:rPr lang="en-US" kern="1200" dirty="0" smtClean="0">
                <a:solidFill>
                  <a:schemeClr val="bg2"/>
                </a:solidFill>
              </a:rPr>
              <a:t>True or False: Business </a:t>
            </a:r>
            <a:r>
              <a:rPr lang="en-US" kern="1200" dirty="0">
                <a:solidFill>
                  <a:schemeClr val="bg2"/>
                </a:solidFill>
              </a:rPr>
              <a:t>functions within a module are organized into </a:t>
            </a:r>
            <a:r>
              <a:rPr lang="en-US" b="1" kern="1200" dirty="0">
                <a:solidFill>
                  <a:schemeClr val="bg2"/>
                </a:solidFill>
              </a:rPr>
              <a:t>applications</a:t>
            </a:r>
            <a:r>
              <a:rPr lang="en-US" kern="1200" dirty="0">
                <a:solidFill>
                  <a:schemeClr val="bg2"/>
                </a:solidFill>
              </a:rPr>
              <a:t>. </a:t>
            </a:r>
            <a:endParaRPr lang="en-US" kern="1200" dirty="0" smtClean="0">
              <a:solidFill>
                <a:schemeClr val="bg2"/>
              </a:solidFill>
            </a:endParaRPr>
          </a:p>
          <a:p>
            <a:pPr marL="457200" lvl="0" indent="-457200">
              <a:buFont typeface="+mj-lt"/>
              <a:buAutoNum type="arabicPeriod"/>
            </a:pPr>
            <a:r>
              <a:rPr lang="en-US" kern="1200" dirty="0" smtClean="0">
                <a:solidFill>
                  <a:schemeClr val="bg2"/>
                </a:solidFill>
              </a:rPr>
              <a:t>What is a General Ledger (G/L) account?</a:t>
            </a:r>
            <a:endParaRPr lang="en-US" kern="1200" dirty="0">
              <a:solidFill>
                <a:schemeClr val="bg2"/>
              </a:solidFill>
            </a:endParaRPr>
          </a:p>
          <a:p>
            <a:pPr marL="457200" indent="-457200">
              <a:buFont typeface="+mj-lt"/>
              <a:buAutoNum type="arabicPeriod"/>
            </a:pP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30</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17948490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Box 4"/>
          <p:cNvSpPr txBox="1">
            <a:spLocks noChangeArrowheads="1"/>
          </p:cNvSpPr>
          <p:nvPr/>
        </p:nvSpPr>
        <p:spPr bwMode="auto">
          <a:xfrm>
            <a:off x="2084388" y="5597525"/>
            <a:ext cx="7288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dirty="0"/>
              <a:t>What other questions do you have?</a:t>
            </a:r>
          </a:p>
        </p:txBody>
      </p:sp>
      <p:pic>
        <p:nvPicPr>
          <p:cNvPr id="7" name="Picture 3" descr="C:\Users\namudaliar\Documents\Narayanan\Ball Corp\Images\shutterstock_49142218.jpg"/>
          <p:cNvPicPr>
            <a:picLocks noChangeAspect="1" noChangeArrowheads="1"/>
          </p:cNvPicPr>
          <p:nvPr/>
        </p:nvPicPr>
        <p:blipFill>
          <a:blip r:embed="rId2" cstate="print"/>
          <a:srcRect/>
          <a:stretch>
            <a:fillRect/>
          </a:stretch>
        </p:blipFill>
        <p:spPr bwMode="auto">
          <a:xfrm>
            <a:off x="2069686" y="1268361"/>
            <a:ext cx="5045669" cy="4420215"/>
          </a:xfrm>
          <a:prstGeom prst="rect">
            <a:avLst/>
          </a:prstGeom>
          <a:noFill/>
        </p:spPr>
      </p:pic>
      <p:sp>
        <p:nvSpPr>
          <p:cNvPr id="5"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4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Questions</a:t>
            </a:r>
            <a:endParaRPr lang="en-US" dirty="0"/>
          </a:p>
        </p:txBody>
      </p:sp>
    </p:spTree>
    <p:extLst>
      <p:ext uri="{BB962C8B-B14F-4D97-AF65-F5344CB8AC3E}">
        <p14:creationId xmlns:p14="http://schemas.microsoft.com/office/powerpoint/2010/main" val="32531887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276945" y="3465542"/>
            <a:ext cx="3780503" cy="2835377"/>
          </a:xfrm>
          <a:prstGeom prst="rect">
            <a:avLst/>
          </a:prstGeom>
          <a:noFill/>
        </p:spPr>
      </p:pic>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smtClean="0"/>
              <a:t>Having completed this </a:t>
            </a:r>
            <a:r>
              <a:rPr lang="en-US" dirty="0"/>
              <a:t>module, you should be able to:</a:t>
            </a:r>
          </a:p>
          <a:p>
            <a:pPr marL="342900" indent="-342900">
              <a:buFont typeface="Arial" pitchFamily="34" charset="0"/>
              <a:buChar char="•"/>
            </a:pPr>
            <a:r>
              <a:rPr lang="en-US" dirty="0"/>
              <a:t>Describe the organizational module and financial structure of Loudoun Water</a:t>
            </a:r>
          </a:p>
          <a:p>
            <a:pPr marL="342900" indent="-342900">
              <a:buFont typeface="Arial" pitchFamily="34" charset="0"/>
              <a:buChar char="•"/>
            </a:pPr>
            <a:r>
              <a:rPr lang="en-US" dirty="0"/>
              <a:t>Describe what SAP modules, applications and transactions are</a:t>
            </a:r>
          </a:p>
          <a:p>
            <a:pPr marL="342900" indent="-342900">
              <a:buFont typeface="Arial" pitchFamily="34" charset="0"/>
              <a:buChar char="•"/>
            </a:pPr>
            <a:r>
              <a:rPr lang="en-US" dirty="0"/>
              <a:t>Describe the Organizational view in SAP</a:t>
            </a:r>
          </a:p>
          <a:p>
            <a:pPr marL="342900" indent="-342900">
              <a:buFont typeface="Arial" pitchFamily="34" charset="0"/>
              <a:buChar char="•"/>
            </a:pPr>
            <a:r>
              <a:rPr lang="en-US" dirty="0"/>
              <a:t>Explain the difference between Finance and Controlling reporting</a:t>
            </a:r>
          </a:p>
          <a:p>
            <a:pPr marL="342900" indent="-342900">
              <a:buFont typeface="Arial" pitchFamily="34" charset="0"/>
              <a:buChar char="•"/>
            </a:pPr>
            <a:r>
              <a:rPr lang="en-US" dirty="0"/>
              <a:t>Explain how SAP manages data</a:t>
            </a:r>
          </a:p>
          <a:p>
            <a:pPr marL="342900" indent="-342900">
              <a:buFont typeface="Arial" pitchFamily="34" charset="0"/>
              <a:buChar char="•"/>
            </a:pPr>
            <a:r>
              <a:rPr lang="en-US" dirty="0"/>
              <a:t>Describe the types of data used in SAP</a:t>
            </a:r>
          </a:p>
          <a:p>
            <a:endParaRPr lang="en-US" dirty="0" smtClean="0"/>
          </a:p>
          <a:p>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32</a:t>
            </a:fld>
            <a:endParaRPr lang="en-US" dirty="0">
              <a:solidFill>
                <a:schemeClr val="bg2"/>
              </a:solidFill>
            </a:endParaRPr>
          </a:p>
        </p:txBody>
      </p:sp>
    </p:spTree>
    <p:extLst>
      <p:ext uri="{BB962C8B-B14F-4D97-AF65-F5344CB8AC3E}">
        <p14:creationId xmlns:p14="http://schemas.microsoft.com/office/powerpoint/2010/main" val="967332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SAP Screen</a:t>
            </a:r>
            <a:endParaRPr lang="en-US" dirty="0"/>
          </a:p>
        </p:txBody>
      </p:sp>
      <p:sp>
        <p:nvSpPr>
          <p:cNvPr id="3" name="Text Placeholder 2"/>
          <p:cNvSpPr>
            <a:spLocks noGrp="1"/>
          </p:cNvSpPr>
          <p:nvPr>
            <p:ph type="body" idx="1"/>
          </p:nvPr>
        </p:nvSpPr>
        <p:spPr/>
        <p:txBody>
          <a:bodyPr/>
          <a:lstStyle/>
          <a:p>
            <a:r>
              <a:rPr lang="en-US" dirty="0" smtClean="0"/>
              <a:t>Module 2</a:t>
            </a:r>
            <a:endParaRPr lang="en-US" dirty="0"/>
          </a:p>
        </p:txBody>
      </p:sp>
    </p:spTree>
    <p:extLst>
      <p:ext uri="{BB962C8B-B14F-4D97-AF65-F5344CB8AC3E}">
        <p14:creationId xmlns:p14="http://schemas.microsoft.com/office/powerpoint/2010/main" val="5950532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4" name="Content Placeholder 3"/>
          <p:cNvSpPr>
            <a:spLocks noGrp="1"/>
          </p:cNvSpPr>
          <p:nvPr>
            <p:ph idx="1"/>
          </p:nvPr>
        </p:nvSpPr>
        <p:spPr/>
        <p:txBody>
          <a:bodyPr/>
          <a:lstStyle/>
          <a:p>
            <a:r>
              <a:rPr lang="en-US" dirty="0" smtClean="0"/>
              <a:t>Upon completion of this module, you should be able to:</a:t>
            </a:r>
          </a:p>
          <a:p>
            <a:pPr marL="342900" indent="-342900">
              <a:buFont typeface="Arial" pitchFamily="34" charset="0"/>
              <a:buChar char="•"/>
            </a:pPr>
            <a:r>
              <a:rPr lang="en-US" dirty="0" smtClean="0"/>
              <a:t>Log on to SAP ECC</a:t>
            </a:r>
          </a:p>
          <a:p>
            <a:pPr marL="342900" indent="-342900">
              <a:buFont typeface="Arial" pitchFamily="34" charset="0"/>
              <a:buChar char="•"/>
            </a:pPr>
            <a:r>
              <a:rPr lang="en-US" dirty="0" smtClean="0"/>
              <a:t>Recognize typical ECC screen features</a:t>
            </a:r>
          </a:p>
          <a:p>
            <a:pPr marL="342900" indent="-342900">
              <a:buFont typeface="Arial" pitchFamily="34" charset="0"/>
              <a:buChar char="•"/>
            </a:pPr>
            <a:r>
              <a:rPr lang="en-US" dirty="0" smtClean="0"/>
              <a:t>Recognize standard SAP buttons and icons</a:t>
            </a:r>
          </a:p>
          <a:p>
            <a:pPr marL="342900" indent="-342900">
              <a:buFont typeface="Arial" pitchFamily="34" charset="0"/>
              <a:buChar char="•"/>
            </a:pPr>
            <a:r>
              <a:rPr lang="en-US" dirty="0" smtClean="0"/>
              <a:t>Differentiate between the SAP content menus</a:t>
            </a:r>
          </a:p>
          <a:p>
            <a:pPr marL="342900" indent="-342900">
              <a:buFont typeface="Arial" pitchFamily="34" charset="0"/>
              <a:buChar char="•"/>
            </a:pPr>
            <a:r>
              <a:rPr lang="en-US" dirty="0" smtClean="0"/>
              <a:t>List and use the navigation methods to initiate a transaction in the SAP ECC system</a:t>
            </a:r>
          </a:p>
          <a:p>
            <a:pPr marL="342900" indent="-342900">
              <a:buFont typeface="Arial" pitchFamily="34" charset="0"/>
              <a:buChar char="•"/>
            </a:pPr>
            <a:r>
              <a:rPr lang="en-US" dirty="0" smtClean="0"/>
              <a:t>Create and organize a Favorites folder</a:t>
            </a:r>
            <a:endParaRPr lang="en-US" dirty="0"/>
          </a:p>
        </p:txBody>
      </p:sp>
      <p:pic>
        <p:nvPicPr>
          <p:cNvPr id="5" name="Picture 2" descr="C:\Users\namudaliar\Documents\Narayanan\Ball Corp\Images\shutterstock_54581515.jpg"/>
          <p:cNvPicPr>
            <a:picLocks noChangeAspect="1" noChangeArrowheads="1"/>
          </p:cNvPicPr>
          <p:nvPr/>
        </p:nvPicPr>
        <p:blipFill>
          <a:blip r:embed="rId3" cstate="print"/>
          <a:srcRect/>
          <a:stretch>
            <a:fillRect/>
          </a:stretch>
        </p:blipFill>
        <p:spPr bwMode="auto">
          <a:xfrm>
            <a:off x="6651519" y="3733800"/>
            <a:ext cx="2286000" cy="3048000"/>
          </a:xfrm>
          <a:prstGeom prst="rect">
            <a:avLst/>
          </a:prstGeom>
          <a:noFill/>
        </p:spPr>
      </p:pic>
    </p:spTree>
    <p:extLst>
      <p:ext uri="{BB962C8B-B14F-4D97-AF65-F5344CB8AC3E}">
        <p14:creationId xmlns:p14="http://schemas.microsoft.com/office/powerpoint/2010/main" val="706938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362200"/>
            <a:ext cx="4724399" cy="146361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ular Callout 10"/>
          <p:cNvSpPr/>
          <p:nvPr/>
        </p:nvSpPr>
        <p:spPr bwMode="auto">
          <a:xfrm>
            <a:off x="4876801" y="3079221"/>
            <a:ext cx="3948396" cy="2288196"/>
          </a:xfrm>
          <a:prstGeom prst="wedgeRectCallout">
            <a:avLst>
              <a:gd name="adj1" fmla="val -81338"/>
              <a:gd name="adj2" fmla="val -46561"/>
            </a:avLst>
          </a:prstGeom>
          <a:solidFill>
            <a:schemeClr val="tx1">
              <a:lumMod val="95000"/>
            </a:schemeClr>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6" name="Title 5"/>
          <p:cNvSpPr>
            <a:spLocks noGrp="1"/>
          </p:cNvSpPr>
          <p:nvPr>
            <p:ph type="title"/>
          </p:nvPr>
        </p:nvSpPr>
        <p:spPr/>
        <p:txBody>
          <a:bodyPr/>
          <a:lstStyle/>
          <a:p>
            <a:r>
              <a:rPr lang="en-US" dirty="0" smtClean="0"/>
              <a:t>Log On to SAP</a:t>
            </a:r>
            <a:endParaRPr lang="en-US" dirty="0"/>
          </a:p>
        </p:txBody>
      </p:sp>
      <p:sp>
        <p:nvSpPr>
          <p:cNvPr id="7" name="Content Placeholder 6"/>
          <p:cNvSpPr>
            <a:spLocks noGrp="1"/>
          </p:cNvSpPr>
          <p:nvPr>
            <p:ph idx="1"/>
          </p:nvPr>
        </p:nvSpPr>
        <p:spPr>
          <a:xfrm>
            <a:off x="301625" y="990601"/>
            <a:ext cx="8537575" cy="762000"/>
          </a:xfrm>
        </p:spPr>
        <p:txBody>
          <a:bodyPr/>
          <a:lstStyle/>
          <a:p>
            <a:r>
              <a:rPr lang="en-US" dirty="0" smtClean="0"/>
              <a:t>An SAP environment is a completely self-contained version of the SAP database, designated for a specific purpose.</a:t>
            </a:r>
            <a:endParaRPr 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Curved Right Arrow 8"/>
          <p:cNvSpPr/>
          <p:nvPr/>
        </p:nvSpPr>
        <p:spPr bwMode="auto">
          <a:xfrm rot="18988758">
            <a:off x="1267217" y="2500040"/>
            <a:ext cx="797346" cy="2112344"/>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pic>
        <p:nvPicPr>
          <p:cNvPr id="8" name="Picture 7"/>
          <p:cNvPicPr/>
          <p:nvPr/>
        </p:nvPicPr>
        <p:blipFill rotWithShape="1">
          <a:blip r:embed="rId4" cstate="print">
            <a:extLst>
              <a:ext uri="{28A0092B-C50C-407E-A947-70E740481C1C}">
                <a14:useLocalDpi xmlns:a14="http://schemas.microsoft.com/office/drawing/2010/main" val="0"/>
              </a:ext>
            </a:extLst>
          </a:blip>
          <a:srcRect l="66822" t="44442" r="8894" b="8839"/>
          <a:stretch/>
        </p:blipFill>
        <p:spPr bwMode="auto">
          <a:xfrm>
            <a:off x="467712" y="2109950"/>
            <a:ext cx="1198179" cy="1166650"/>
          </a:xfrm>
          <a:prstGeom prst="rect">
            <a:avLst/>
          </a:prstGeom>
          <a:noFill/>
          <a:ln>
            <a:noFill/>
          </a:ln>
          <a:effectLst/>
          <a:extLst/>
        </p:spPr>
      </p:pic>
      <p:sp>
        <p:nvSpPr>
          <p:cNvPr id="10" name="Rectangle 9"/>
          <p:cNvSpPr/>
          <p:nvPr/>
        </p:nvSpPr>
        <p:spPr bwMode="auto">
          <a:xfrm>
            <a:off x="457199" y="5486400"/>
            <a:ext cx="8367997" cy="990600"/>
          </a:xfrm>
          <a:prstGeom prst="rect">
            <a:avLst/>
          </a:prstGeom>
          <a:solidFill>
            <a:srgbClr val="002E62"/>
          </a:solidFill>
          <a:ln w="1905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ctr"/>
            <a:r>
              <a:rPr lang="en-US" b="1" dirty="0">
                <a:latin typeface="Verdana" pitchFamily="34" charset="0"/>
                <a:ea typeface="Verdana" pitchFamily="34" charset="0"/>
                <a:cs typeface="Verdana" pitchFamily="34" charset="0"/>
              </a:rPr>
              <a:t>SAP ECC is a client system. Each user session only accesses data on the client that you selected when you logged on</a:t>
            </a:r>
            <a:r>
              <a:rPr lang="en-US" dirty="0"/>
              <a:t>.</a:t>
            </a:r>
          </a:p>
        </p:txBody>
      </p:sp>
      <p:pic>
        <p:nvPicPr>
          <p:cNvPr id="3076" name="Picture 4"/>
          <p:cNvPicPr>
            <a:picLocks noChangeAspect="1" noChangeArrowheads="1"/>
          </p:cNvPicPr>
          <p:nvPr/>
        </p:nvPicPr>
        <p:blipFill rotWithShape="1">
          <a:blip r:embed="rId5">
            <a:extLst>
              <a:ext uri="{28A0092B-C50C-407E-A947-70E740481C1C}">
                <a14:useLocalDpi xmlns:a14="http://schemas.microsoft.com/office/drawing/2010/main" val="0"/>
              </a:ext>
            </a:extLst>
          </a:blip>
          <a:srcRect b="5063"/>
          <a:stretch/>
        </p:blipFill>
        <p:spPr bwMode="auto">
          <a:xfrm>
            <a:off x="4952891" y="3134949"/>
            <a:ext cx="3807478" cy="211943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941888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Resetting the Password</a:t>
            </a:r>
            <a:endParaRPr lang="en-US" dirty="0"/>
          </a:p>
        </p:txBody>
      </p:sp>
      <p:sp>
        <p:nvSpPr>
          <p:cNvPr id="8" name="Content Placeholder 7"/>
          <p:cNvSpPr>
            <a:spLocks noGrp="1"/>
          </p:cNvSpPr>
          <p:nvPr>
            <p:ph idx="1"/>
          </p:nvPr>
        </p:nvSpPr>
        <p:spPr>
          <a:xfrm>
            <a:off x="301625" y="990601"/>
            <a:ext cx="8537575" cy="609600"/>
          </a:xfrm>
        </p:spPr>
        <p:txBody>
          <a:bodyPr/>
          <a:lstStyle/>
          <a:p>
            <a:r>
              <a:rPr lang="en-US" dirty="0" smtClean="0"/>
              <a:t>The first time you log onto SAP, you will be prompted to change your password. Upon successful authentication of your logon credentials, the SAP Easy Access screen will appear and you will have successfully entered SAP.</a:t>
            </a:r>
            <a:endParaRPr 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Curved Right Arrow 8"/>
          <p:cNvSpPr/>
          <p:nvPr/>
        </p:nvSpPr>
        <p:spPr bwMode="auto">
          <a:xfrm rot="17907721">
            <a:off x="3612244" y="3970469"/>
            <a:ext cx="797346" cy="2899495"/>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pic>
        <p:nvPicPr>
          <p:cNvPr id="10"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5063"/>
          <a:stretch/>
        </p:blipFill>
        <p:spPr bwMode="auto">
          <a:xfrm>
            <a:off x="914400" y="2833561"/>
            <a:ext cx="3807478" cy="211943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395777"/>
            <a:ext cx="3224717" cy="2755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71634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Log on to SAP</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SAP GUI &gt; Training Client</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37</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Screen Features</a:t>
            </a:r>
            <a:endParaRPr lang="en-US" dirty="0"/>
          </a:p>
        </p:txBody>
      </p:sp>
      <p:sp>
        <p:nvSpPr>
          <p:cNvPr id="5" name="Content Placeholder 4"/>
          <p:cNvSpPr>
            <a:spLocks noGrp="1"/>
          </p:cNvSpPr>
          <p:nvPr>
            <p:ph idx="1"/>
          </p:nvPr>
        </p:nvSpPr>
        <p:spPr>
          <a:xfrm>
            <a:off x="301625" y="990601"/>
            <a:ext cx="8537575" cy="533399"/>
          </a:xfrm>
        </p:spPr>
        <p:txBody>
          <a:bodyPr/>
          <a:lstStyle/>
          <a:p>
            <a:r>
              <a:rPr lang="en-US" dirty="0" smtClean="0"/>
              <a:t>A typical SAP screen has seven main areas:</a:t>
            </a:r>
            <a:endParaRPr lang="en-US" dirty="0"/>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967277" y="1616800"/>
            <a:ext cx="5948123" cy="4707800"/>
          </a:xfrm>
          <a:prstGeom prst="rect">
            <a:avLst/>
          </a:prstGeom>
          <a:ln>
            <a:noFill/>
          </a:ln>
          <a:effectLst>
            <a:outerShdw blurRad="292100" dist="139700" dir="2700000" algn="tl" rotWithShape="0">
              <a:srgbClr val="333333">
                <a:alpha val="65000"/>
              </a:srgbClr>
            </a:outerShdw>
          </a:effectLst>
        </p:spPr>
      </p:pic>
      <p:sp>
        <p:nvSpPr>
          <p:cNvPr id="7" name="TextBox 6"/>
          <p:cNvSpPr txBox="1"/>
          <p:nvPr/>
        </p:nvSpPr>
        <p:spPr>
          <a:xfrm>
            <a:off x="152400" y="1459468"/>
            <a:ext cx="2156026"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Screen Header</a:t>
            </a:r>
            <a:endParaRPr lang="en-US" sz="1700" b="1" dirty="0">
              <a:solidFill>
                <a:srgbClr val="000000"/>
              </a:solidFill>
              <a:latin typeface="Verdana" pitchFamily="34" charset="0"/>
              <a:ea typeface="Verdana" pitchFamily="34" charset="0"/>
              <a:cs typeface="Verdana" pitchFamily="34" charset="0"/>
            </a:endParaRPr>
          </a:p>
        </p:txBody>
      </p:sp>
      <p:sp>
        <p:nvSpPr>
          <p:cNvPr id="8" name="TextBox 7"/>
          <p:cNvSpPr txBox="1"/>
          <p:nvPr/>
        </p:nvSpPr>
        <p:spPr>
          <a:xfrm>
            <a:off x="152400" y="1676400"/>
            <a:ext cx="2156026"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Menu Bar</a:t>
            </a:r>
            <a:endParaRPr lang="en-US" sz="1700" b="1" dirty="0">
              <a:solidFill>
                <a:srgbClr val="000000"/>
              </a:solidFill>
              <a:latin typeface="Verdana" pitchFamily="34" charset="0"/>
              <a:ea typeface="Verdana" pitchFamily="34" charset="0"/>
              <a:cs typeface="Verdana" pitchFamily="34" charset="0"/>
            </a:endParaRPr>
          </a:p>
        </p:txBody>
      </p:sp>
      <p:sp>
        <p:nvSpPr>
          <p:cNvPr id="9" name="TextBox 8"/>
          <p:cNvSpPr txBox="1"/>
          <p:nvPr/>
        </p:nvSpPr>
        <p:spPr>
          <a:xfrm>
            <a:off x="152400" y="1905000"/>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Standard Toolbar</a:t>
            </a:r>
            <a:endParaRPr lang="en-US" sz="1700" b="1" dirty="0">
              <a:solidFill>
                <a:srgbClr val="000000"/>
              </a:solidFill>
              <a:latin typeface="Verdana" pitchFamily="34" charset="0"/>
              <a:ea typeface="Verdana" pitchFamily="34" charset="0"/>
              <a:cs typeface="Verdana" pitchFamily="34" charset="0"/>
            </a:endParaRPr>
          </a:p>
        </p:txBody>
      </p:sp>
      <p:sp>
        <p:nvSpPr>
          <p:cNvPr id="10" name="TextBox 9"/>
          <p:cNvSpPr txBox="1"/>
          <p:nvPr/>
        </p:nvSpPr>
        <p:spPr>
          <a:xfrm>
            <a:off x="152400" y="2145268"/>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Title Bar</a:t>
            </a:r>
            <a:endParaRPr lang="en-US" sz="1700" b="1" dirty="0">
              <a:solidFill>
                <a:srgbClr val="000000"/>
              </a:solidFill>
              <a:latin typeface="Verdana" pitchFamily="34" charset="0"/>
              <a:ea typeface="Verdana" pitchFamily="34" charset="0"/>
              <a:cs typeface="Verdana" pitchFamily="34" charset="0"/>
            </a:endParaRPr>
          </a:p>
        </p:txBody>
      </p:sp>
      <p:sp>
        <p:nvSpPr>
          <p:cNvPr id="11" name="TextBox 10"/>
          <p:cNvSpPr txBox="1"/>
          <p:nvPr/>
        </p:nvSpPr>
        <p:spPr>
          <a:xfrm>
            <a:off x="152400" y="2450068"/>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Navigation Toolbar</a:t>
            </a:r>
            <a:endParaRPr lang="en-US" sz="1700" b="1" dirty="0">
              <a:solidFill>
                <a:srgbClr val="000000"/>
              </a:solidFill>
              <a:latin typeface="Verdana" pitchFamily="34" charset="0"/>
              <a:ea typeface="Verdana" pitchFamily="34" charset="0"/>
              <a:cs typeface="Verdana" pitchFamily="34" charset="0"/>
            </a:endParaRPr>
          </a:p>
        </p:txBody>
      </p:sp>
      <p:cxnSp>
        <p:nvCxnSpPr>
          <p:cNvPr id="13" name="Straight Arrow Connector 12"/>
          <p:cNvCxnSpPr/>
          <p:nvPr/>
        </p:nvCxnSpPr>
        <p:spPr bwMode="auto">
          <a:xfrm>
            <a:off x="1600200" y="2329934"/>
            <a:ext cx="12192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cxnSp>
        <p:nvCxnSpPr>
          <p:cNvPr id="14" name="Straight Arrow Connector 13"/>
          <p:cNvCxnSpPr/>
          <p:nvPr/>
        </p:nvCxnSpPr>
        <p:spPr bwMode="auto">
          <a:xfrm>
            <a:off x="2590800" y="2098344"/>
            <a:ext cx="2286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cxnSp>
        <p:nvCxnSpPr>
          <p:cNvPr id="17" name="Straight Arrow Connector 16"/>
          <p:cNvCxnSpPr/>
          <p:nvPr/>
        </p:nvCxnSpPr>
        <p:spPr bwMode="auto">
          <a:xfrm>
            <a:off x="1600200" y="1864056"/>
            <a:ext cx="12192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cxnSp>
        <p:nvCxnSpPr>
          <p:cNvPr id="18" name="Straight Arrow Connector 17"/>
          <p:cNvCxnSpPr/>
          <p:nvPr/>
        </p:nvCxnSpPr>
        <p:spPr bwMode="auto">
          <a:xfrm>
            <a:off x="2209800" y="1676400"/>
            <a:ext cx="6096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cxnSp>
        <p:nvCxnSpPr>
          <p:cNvPr id="20" name="Straight Arrow Connector 19"/>
          <p:cNvCxnSpPr/>
          <p:nvPr/>
        </p:nvCxnSpPr>
        <p:spPr bwMode="auto">
          <a:xfrm>
            <a:off x="2590800" y="2667000"/>
            <a:ext cx="2286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sp>
        <p:nvSpPr>
          <p:cNvPr id="21" name="TextBox 20"/>
          <p:cNvSpPr txBox="1"/>
          <p:nvPr/>
        </p:nvSpPr>
        <p:spPr>
          <a:xfrm>
            <a:off x="152400" y="4177352"/>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Screen Body</a:t>
            </a:r>
            <a:endParaRPr lang="en-US" sz="1700" b="1" dirty="0">
              <a:solidFill>
                <a:srgbClr val="000000"/>
              </a:solidFill>
              <a:latin typeface="Verdana" pitchFamily="34" charset="0"/>
              <a:ea typeface="Verdana" pitchFamily="34" charset="0"/>
              <a:cs typeface="Verdana" pitchFamily="34" charset="0"/>
            </a:endParaRPr>
          </a:p>
        </p:txBody>
      </p:sp>
      <p:sp>
        <p:nvSpPr>
          <p:cNvPr id="22" name="TextBox 21"/>
          <p:cNvSpPr txBox="1"/>
          <p:nvPr/>
        </p:nvSpPr>
        <p:spPr>
          <a:xfrm>
            <a:off x="152400" y="5970657"/>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Status Bar</a:t>
            </a:r>
            <a:endParaRPr lang="en-US" sz="1700" b="1" dirty="0">
              <a:solidFill>
                <a:srgbClr val="000000"/>
              </a:solidFill>
              <a:latin typeface="Verdana" pitchFamily="34" charset="0"/>
              <a:ea typeface="Verdana" pitchFamily="34" charset="0"/>
              <a:cs typeface="Verdana" pitchFamily="34" charset="0"/>
            </a:endParaRPr>
          </a:p>
        </p:txBody>
      </p:sp>
      <p:cxnSp>
        <p:nvCxnSpPr>
          <p:cNvPr id="23" name="Straight Arrow Connector 22"/>
          <p:cNvCxnSpPr/>
          <p:nvPr/>
        </p:nvCxnSpPr>
        <p:spPr bwMode="auto">
          <a:xfrm>
            <a:off x="1600200" y="6172200"/>
            <a:ext cx="12192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sp>
        <p:nvSpPr>
          <p:cNvPr id="24" name="Left Brace 23"/>
          <p:cNvSpPr/>
          <p:nvPr/>
        </p:nvSpPr>
        <p:spPr bwMode="auto">
          <a:xfrm>
            <a:off x="1981200" y="2895599"/>
            <a:ext cx="914400" cy="2971801"/>
          </a:xfrm>
          <a:prstGeom prst="leftBrace">
            <a:avLst>
              <a:gd name="adj1" fmla="val 8333"/>
              <a:gd name="adj2" fmla="val 49541"/>
            </a:avLst>
          </a:prstGeom>
          <a:no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2632527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Menu Toolbar</a:t>
            </a:r>
            <a:endParaRPr lang="en-US" dirty="0"/>
          </a:p>
        </p:txBody>
      </p:sp>
      <p:sp>
        <p:nvSpPr>
          <p:cNvPr id="3" name="Content Placeholder 2"/>
          <p:cNvSpPr>
            <a:spLocks noGrp="1"/>
          </p:cNvSpPr>
          <p:nvPr>
            <p:ph idx="1"/>
          </p:nvPr>
        </p:nvSpPr>
        <p:spPr/>
        <p:txBody>
          <a:bodyPr/>
          <a:lstStyle/>
          <a:p>
            <a:r>
              <a:rPr lang="en-US" dirty="0" smtClean="0"/>
              <a:t>The </a:t>
            </a:r>
            <a:r>
              <a:rPr lang="en-US" b="1" dirty="0" smtClean="0"/>
              <a:t>Menu Bar </a:t>
            </a:r>
            <a:r>
              <a:rPr lang="en-US" dirty="0" smtClean="0"/>
              <a:t>contains menus for the functional and administrative areas of the system. </a:t>
            </a:r>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3097"/>
          <a:stretch/>
        </p:blipFill>
        <p:spPr bwMode="auto">
          <a:xfrm>
            <a:off x="457200" y="3048000"/>
            <a:ext cx="8367997" cy="457200"/>
          </a:xfrm>
          <a:prstGeom prst="rect">
            <a:avLst/>
          </a:prstGeom>
          <a:ln>
            <a:noFill/>
          </a:ln>
          <a:effectLst>
            <a:outerShdw blurRad="292100" dist="139700" dir="2700000" algn="tl" rotWithShape="0">
              <a:srgbClr val="333333">
                <a:alpha val="65000"/>
              </a:srgbClr>
            </a:outerShdw>
          </a:effectLst>
        </p:spPr>
      </p:pic>
      <p:sp>
        <p:nvSpPr>
          <p:cNvPr id="6" name="Rectangular Callout 5"/>
          <p:cNvSpPr/>
          <p:nvPr/>
        </p:nvSpPr>
        <p:spPr bwMode="auto">
          <a:xfrm>
            <a:off x="2209800" y="4158155"/>
            <a:ext cx="1778876" cy="381000"/>
          </a:xfrm>
          <a:prstGeom prst="wedgeRectCallout">
            <a:avLst>
              <a:gd name="adj1" fmla="val 22094"/>
              <a:gd name="adj2" fmla="val -218880"/>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System Menu</a:t>
            </a:r>
          </a:p>
        </p:txBody>
      </p:sp>
      <p:sp>
        <p:nvSpPr>
          <p:cNvPr id="7" name="Rectangular Callout 6"/>
          <p:cNvSpPr/>
          <p:nvPr/>
        </p:nvSpPr>
        <p:spPr bwMode="auto">
          <a:xfrm>
            <a:off x="3251638" y="2514600"/>
            <a:ext cx="1389560" cy="381000"/>
          </a:xfrm>
          <a:prstGeom prst="wedgeRectCallout">
            <a:avLst>
              <a:gd name="adj1" fmla="val 10748"/>
              <a:gd name="adj2" fmla="val 120430"/>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Help Menu</a:t>
            </a:r>
          </a:p>
        </p:txBody>
      </p:sp>
      <p:sp>
        <p:nvSpPr>
          <p:cNvPr id="8" name="Rectangle 7"/>
          <p:cNvSpPr/>
          <p:nvPr/>
        </p:nvSpPr>
        <p:spPr bwMode="auto">
          <a:xfrm>
            <a:off x="838199" y="4953000"/>
            <a:ext cx="7543801" cy="1143000"/>
          </a:xfrm>
          <a:prstGeom prst="rect">
            <a:avLst/>
          </a:prstGeom>
          <a:solidFill>
            <a:srgbClr val="002E62"/>
          </a:solidFill>
          <a:ln w="1905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ctr">
              <a:spcBef>
                <a:spcPct val="20000"/>
              </a:spcBef>
              <a:buClr>
                <a:srgbClr val="004B91"/>
              </a:buClr>
            </a:pPr>
            <a:r>
              <a:rPr lang="en-US" b="1" i="1" dirty="0">
                <a:latin typeface="Verdana" pitchFamily="34" charset="0"/>
                <a:ea typeface="Verdana" pitchFamily="34" charset="0"/>
                <a:cs typeface="Verdana" pitchFamily="34" charset="0"/>
              </a:rPr>
              <a:t>As you navigate through SAP screens, the options on the Menu Bar will change, but every Menu Bar will contain System and Help.</a:t>
            </a:r>
          </a:p>
        </p:txBody>
      </p:sp>
    </p:spTree>
    <p:extLst>
      <p:ext uri="{BB962C8B-B14F-4D97-AF65-F5344CB8AC3E}">
        <p14:creationId xmlns:p14="http://schemas.microsoft.com/office/powerpoint/2010/main" val="1865356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Standard Toolbar</a:t>
            </a:r>
            <a:endParaRPr lang="en-US" dirty="0"/>
          </a:p>
        </p:txBody>
      </p:sp>
      <p:sp>
        <p:nvSpPr>
          <p:cNvPr id="3" name="Content Placeholder 2"/>
          <p:cNvSpPr>
            <a:spLocks noGrp="1"/>
          </p:cNvSpPr>
          <p:nvPr>
            <p:ph idx="1"/>
          </p:nvPr>
        </p:nvSpPr>
        <p:spPr>
          <a:xfrm>
            <a:off x="301625" y="990601"/>
            <a:ext cx="8537575" cy="1524000"/>
          </a:xfrm>
        </p:spPr>
        <p:txBody>
          <a:bodyPr/>
          <a:lstStyle/>
          <a:p>
            <a:r>
              <a:rPr lang="en-US" dirty="0" smtClean="0"/>
              <a:t>The </a:t>
            </a:r>
            <a:r>
              <a:rPr lang="en-US" b="1" dirty="0" smtClean="0"/>
              <a:t>Standard Toolbar </a:t>
            </a:r>
            <a:r>
              <a:rPr lang="en-US" dirty="0" smtClean="0"/>
              <a:t>contains the </a:t>
            </a:r>
            <a:r>
              <a:rPr lang="en-US" b="1" i="1" dirty="0" smtClean="0"/>
              <a:t>Command field </a:t>
            </a:r>
            <a:r>
              <a:rPr lang="en-US" dirty="0" smtClean="0"/>
              <a:t>and the standard SAP Toolbar buttons.</a:t>
            </a:r>
          </a:p>
          <a:p>
            <a:pPr marL="342900" indent="-342900">
              <a:buFont typeface="Arial" pitchFamily="34" charset="0"/>
              <a:buChar char="•"/>
            </a:pPr>
            <a:r>
              <a:rPr lang="en-US" dirty="0" smtClean="0"/>
              <a:t>The SAP buttons displayed on the Toolbar provide quick access to commonly used SAP functions.</a:t>
            </a:r>
            <a:endParaRPr lang="en-US"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977" r="17465" b="87665"/>
          <a:stretch/>
        </p:blipFill>
        <p:spPr bwMode="auto">
          <a:xfrm>
            <a:off x="609600" y="3581400"/>
            <a:ext cx="7415048" cy="381000"/>
          </a:xfrm>
          <a:prstGeom prst="rect">
            <a:avLst/>
          </a:prstGeom>
          <a:ln>
            <a:noFill/>
          </a:ln>
          <a:effectLst>
            <a:outerShdw blurRad="292100" dist="139700" dir="2700000" algn="tl" rotWithShape="0">
              <a:srgbClr val="333333">
                <a:alpha val="65000"/>
              </a:srgbClr>
            </a:outerShdw>
          </a:effectLst>
        </p:spPr>
      </p:pic>
      <p:sp>
        <p:nvSpPr>
          <p:cNvPr id="6" name="Rectangle 5"/>
          <p:cNvSpPr/>
          <p:nvPr/>
        </p:nvSpPr>
        <p:spPr bwMode="auto">
          <a:xfrm>
            <a:off x="609600" y="5791200"/>
            <a:ext cx="8001000" cy="762000"/>
          </a:xfrm>
          <a:prstGeom prst="rect">
            <a:avLst/>
          </a:prstGeom>
          <a:solidFill>
            <a:srgbClr val="002E62"/>
          </a:solidFill>
          <a:ln w="1905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ctr">
              <a:spcBef>
                <a:spcPct val="20000"/>
              </a:spcBef>
              <a:buClr>
                <a:srgbClr val="004B91"/>
              </a:buClr>
            </a:pPr>
            <a:r>
              <a:rPr lang="en-US" b="1" i="1" dirty="0">
                <a:latin typeface="Verdana" pitchFamily="34" charset="0"/>
                <a:ea typeface="Verdana" pitchFamily="34" charset="0"/>
                <a:cs typeface="Verdana" pitchFamily="34" charset="0"/>
              </a:rPr>
              <a:t>If a Toolbar button is gray it is not available for use on that particular screen.</a:t>
            </a:r>
          </a:p>
        </p:txBody>
      </p:sp>
      <p:sp>
        <p:nvSpPr>
          <p:cNvPr id="7" name="Rectangular Callout 6"/>
          <p:cNvSpPr/>
          <p:nvPr/>
        </p:nvSpPr>
        <p:spPr bwMode="auto">
          <a:xfrm>
            <a:off x="609600" y="3048000"/>
            <a:ext cx="914400" cy="381000"/>
          </a:xfrm>
          <a:prstGeom prst="wedgeRectCallout">
            <a:avLst>
              <a:gd name="adj1" fmla="val -13936"/>
              <a:gd name="adj2" fmla="val 95603"/>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Enter</a:t>
            </a:r>
          </a:p>
        </p:txBody>
      </p:sp>
      <p:sp>
        <p:nvSpPr>
          <p:cNvPr id="8" name="Rectangular Callout 7"/>
          <p:cNvSpPr/>
          <p:nvPr/>
        </p:nvSpPr>
        <p:spPr bwMode="auto">
          <a:xfrm>
            <a:off x="1219200" y="4343400"/>
            <a:ext cx="2133600" cy="381000"/>
          </a:xfrm>
          <a:prstGeom prst="wedgeRectCallout">
            <a:avLst>
              <a:gd name="adj1" fmla="val 3306"/>
              <a:gd name="adj2" fmla="val -198190"/>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Command Field</a:t>
            </a:r>
          </a:p>
        </p:txBody>
      </p:sp>
      <p:sp>
        <p:nvSpPr>
          <p:cNvPr id="9" name="Rectangular Callout 8"/>
          <p:cNvSpPr/>
          <p:nvPr/>
        </p:nvSpPr>
        <p:spPr bwMode="auto">
          <a:xfrm>
            <a:off x="3429000" y="3048000"/>
            <a:ext cx="914400" cy="381000"/>
          </a:xfrm>
          <a:prstGeom prst="wedgeRectCallout">
            <a:avLst>
              <a:gd name="adj1" fmla="val -1867"/>
              <a:gd name="adj2" fmla="val 95603"/>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Save</a:t>
            </a:r>
          </a:p>
        </p:txBody>
      </p:sp>
      <p:sp>
        <p:nvSpPr>
          <p:cNvPr id="10" name="Rectangular Callout 9"/>
          <p:cNvSpPr/>
          <p:nvPr/>
        </p:nvSpPr>
        <p:spPr bwMode="auto">
          <a:xfrm>
            <a:off x="4267200" y="2590800"/>
            <a:ext cx="914400" cy="381000"/>
          </a:xfrm>
          <a:prstGeom prst="wedgeRectCallout">
            <a:avLst>
              <a:gd name="adj1" fmla="val -3591"/>
              <a:gd name="adj2" fmla="val 256982"/>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Exit</a:t>
            </a:r>
          </a:p>
        </p:txBody>
      </p:sp>
      <p:sp>
        <p:nvSpPr>
          <p:cNvPr id="11" name="Rectangular Callout 10"/>
          <p:cNvSpPr/>
          <p:nvPr/>
        </p:nvSpPr>
        <p:spPr bwMode="auto">
          <a:xfrm>
            <a:off x="3770586" y="4208079"/>
            <a:ext cx="914400" cy="381000"/>
          </a:xfrm>
          <a:prstGeom prst="wedgeRectCallout">
            <a:avLst>
              <a:gd name="adj1" fmla="val 13650"/>
              <a:gd name="adj2" fmla="val -144397"/>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Back</a:t>
            </a:r>
          </a:p>
        </p:txBody>
      </p:sp>
      <p:sp>
        <p:nvSpPr>
          <p:cNvPr id="12" name="Rectangular Callout 11"/>
          <p:cNvSpPr/>
          <p:nvPr/>
        </p:nvSpPr>
        <p:spPr bwMode="auto">
          <a:xfrm>
            <a:off x="4317124" y="4741479"/>
            <a:ext cx="1093076" cy="381000"/>
          </a:xfrm>
          <a:prstGeom prst="wedgeRectCallout">
            <a:avLst>
              <a:gd name="adj1" fmla="val 7914"/>
              <a:gd name="adj2" fmla="val -289225"/>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Cancel</a:t>
            </a:r>
          </a:p>
        </p:txBody>
      </p:sp>
      <p:sp>
        <p:nvSpPr>
          <p:cNvPr id="13" name="Rectangular Callout 12"/>
          <p:cNvSpPr/>
          <p:nvPr/>
        </p:nvSpPr>
        <p:spPr bwMode="auto">
          <a:xfrm>
            <a:off x="5410200" y="4208079"/>
            <a:ext cx="762000" cy="381000"/>
          </a:xfrm>
          <a:prstGeom prst="wedgeRectCallout">
            <a:avLst>
              <a:gd name="adj1" fmla="val -16350"/>
              <a:gd name="adj2" fmla="val -131983"/>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Find</a:t>
            </a:r>
          </a:p>
        </p:txBody>
      </p:sp>
      <p:sp>
        <p:nvSpPr>
          <p:cNvPr id="14" name="Rectangular Callout 13"/>
          <p:cNvSpPr/>
          <p:nvPr/>
        </p:nvSpPr>
        <p:spPr bwMode="auto">
          <a:xfrm>
            <a:off x="5029200" y="3048000"/>
            <a:ext cx="762000" cy="381000"/>
          </a:xfrm>
          <a:prstGeom prst="wedgeRectCallout">
            <a:avLst>
              <a:gd name="adj1" fmla="val -1867"/>
              <a:gd name="adj2" fmla="val 95603"/>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Print</a:t>
            </a:r>
          </a:p>
        </p:txBody>
      </p:sp>
      <p:sp>
        <p:nvSpPr>
          <p:cNvPr id="15" name="Rectangular Callout 14"/>
          <p:cNvSpPr/>
          <p:nvPr/>
        </p:nvSpPr>
        <p:spPr bwMode="auto">
          <a:xfrm>
            <a:off x="5486400" y="2590800"/>
            <a:ext cx="2133600" cy="381000"/>
          </a:xfrm>
          <a:prstGeom prst="wedgeRectCallout">
            <a:avLst>
              <a:gd name="adj1" fmla="val -19600"/>
              <a:gd name="adj2" fmla="val 232155"/>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Continue Search</a:t>
            </a:r>
          </a:p>
        </p:txBody>
      </p:sp>
      <p:sp>
        <p:nvSpPr>
          <p:cNvPr id="16" name="Rectangular Callout 15"/>
          <p:cNvSpPr/>
          <p:nvPr/>
        </p:nvSpPr>
        <p:spPr bwMode="auto">
          <a:xfrm>
            <a:off x="5638800" y="4720458"/>
            <a:ext cx="2590800" cy="613542"/>
          </a:xfrm>
          <a:prstGeom prst="wedgeRectCallout">
            <a:avLst>
              <a:gd name="adj1" fmla="val 654"/>
              <a:gd name="adj2" fmla="val -191012"/>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First, Next, Previous Last Pages</a:t>
            </a:r>
          </a:p>
        </p:txBody>
      </p:sp>
      <p:sp>
        <p:nvSpPr>
          <p:cNvPr id="17" name="Rectangular Callout 16"/>
          <p:cNvSpPr/>
          <p:nvPr/>
        </p:nvSpPr>
        <p:spPr bwMode="auto">
          <a:xfrm>
            <a:off x="7086600" y="3053255"/>
            <a:ext cx="1676400" cy="381000"/>
          </a:xfrm>
          <a:prstGeom prst="wedgeRectCallout">
            <a:avLst>
              <a:gd name="adj1" fmla="val -13936"/>
              <a:gd name="adj2" fmla="val 95603"/>
            </a:avLst>
          </a:prstGeom>
          <a:ln>
            <a:solidFill>
              <a:schemeClr val="accent4">
                <a:lumMod val="50000"/>
              </a:schemeClr>
            </a:solidFill>
            <a:prstDash val="lgDash"/>
            <a:headEnd/>
            <a:tailEnd/>
          </a:ln>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b="1" dirty="0">
                <a:solidFill>
                  <a:srgbClr val="000000"/>
                </a:solidFill>
                <a:latin typeface="Arial" pitchFamily="34" charset="0"/>
                <a:cs typeface="Arial" pitchFamily="34" charset="0"/>
              </a:rPr>
              <a:t>New Session</a:t>
            </a:r>
          </a:p>
        </p:txBody>
      </p:sp>
    </p:spTree>
    <p:extLst>
      <p:ext uri="{BB962C8B-B14F-4D97-AF65-F5344CB8AC3E}">
        <p14:creationId xmlns:p14="http://schemas.microsoft.com/office/powerpoint/2010/main" val="1937202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Application Toolbar</a:t>
            </a:r>
            <a:endParaRPr lang="en-US" dirty="0"/>
          </a:p>
        </p:txBody>
      </p:sp>
      <p:sp>
        <p:nvSpPr>
          <p:cNvPr id="3" name="Content Placeholder 2"/>
          <p:cNvSpPr>
            <a:spLocks noGrp="1"/>
          </p:cNvSpPr>
          <p:nvPr>
            <p:ph idx="1"/>
          </p:nvPr>
        </p:nvSpPr>
        <p:spPr/>
        <p:txBody>
          <a:bodyPr/>
          <a:lstStyle/>
          <a:p>
            <a:r>
              <a:rPr lang="en-US" dirty="0" smtClean="0"/>
              <a:t>The </a:t>
            </a:r>
            <a:r>
              <a:rPr lang="en-US" b="1" dirty="0" smtClean="0"/>
              <a:t>Application Toolbar </a:t>
            </a:r>
            <a:r>
              <a:rPr lang="en-US" dirty="0" smtClean="0"/>
              <a:t>is located directly below the screen title, in place of the </a:t>
            </a:r>
            <a:r>
              <a:rPr lang="en-US" b="1" dirty="0" smtClean="0"/>
              <a:t>Navigation Toolbar</a:t>
            </a:r>
            <a:r>
              <a:rPr lang="en-US" dirty="0" smtClean="0"/>
              <a:t>.</a:t>
            </a:r>
          </a:p>
          <a:p>
            <a:endParaRPr lang="en-US" dirty="0" smtClean="0"/>
          </a:p>
          <a:p>
            <a:endParaRPr lang="en-US"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0000" b="87361"/>
          <a:stretch/>
        </p:blipFill>
        <p:spPr bwMode="auto">
          <a:xfrm>
            <a:off x="304800" y="1981199"/>
            <a:ext cx="8382000" cy="1646845"/>
          </a:xfrm>
          <a:prstGeom prst="rect">
            <a:avLst/>
          </a:prstGeom>
          <a:ln>
            <a:noFill/>
          </a:ln>
          <a:effectLst>
            <a:outerShdw blurRad="292100" dist="139700" dir="2700000" algn="tl" rotWithShape="0">
              <a:srgbClr val="333333">
                <a:alpha val="65000"/>
              </a:srgbClr>
            </a:outerShdw>
          </a:effectLst>
        </p:spPr>
      </p:pic>
      <p:pic>
        <p:nvPicPr>
          <p:cNvPr id="7"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 r="38219" b="84201"/>
          <a:stretch/>
        </p:blipFill>
        <p:spPr bwMode="auto">
          <a:xfrm>
            <a:off x="304800" y="3810000"/>
            <a:ext cx="8382001" cy="1447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bwMode="auto">
          <a:xfrm>
            <a:off x="304800" y="4876799"/>
            <a:ext cx="8382000" cy="381000"/>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9" name="Rectangle 8"/>
          <p:cNvSpPr/>
          <p:nvPr/>
        </p:nvSpPr>
        <p:spPr bwMode="auto">
          <a:xfrm>
            <a:off x="533400" y="5638800"/>
            <a:ext cx="8001000" cy="762000"/>
          </a:xfrm>
          <a:prstGeom prst="rect">
            <a:avLst/>
          </a:prstGeom>
          <a:solidFill>
            <a:srgbClr val="002E62"/>
          </a:solidFill>
          <a:ln w="1905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ctr">
              <a:spcBef>
                <a:spcPct val="20000"/>
              </a:spcBef>
              <a:buClr>
                <a:srgbClr val="004B91"/>
              </a:buClr>
            </a:pPr>
            <a:r>
              <a:rPr lang="en-US" b="1" i="1" dirty="0">
                <a:latin typeface="Verdana" pitchFamily="34" charset="0"/>
                <a:ea typeface="Verdana" pitchFamily="34" charset="0"/>
                <a:cs typeface="Verdana" pitchFamily="34" charset="0"/>
              </a:rPr>
              <a:t>The Application Toolbar changes depending on the transaction you are in, providing unique functions.</a:t>
            </a:r>
          </a:p>
        </p:txBody>
      </p:sp>
      <p:sp>
        <p:nvSpPr>
          <p:cNvPr id="6" name="Rectangle 5"/>
          <p:cNvSpPr/>
          <p:nvPr/>
        </p:nvSpPr>
        <p:spPr bwMode="auto">
          <a:xfrm>
            <a:off x="5680838" y="2836153"/>
            <a:ext cx="685800" cy="319579"/>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5" name="Rectangle 4"/>
          <p:cNvSpPr/>
          <p:nvPr/>
        </p:nvSpPr>
        <p:spPr bwMode="auto">
          <a:xfrm>
            <a:off x="304800" y="3153756"/>
            <a:ext cx="8382000" cy="503844"/>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4783290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Status Bar</a:t>
            </a:r>
            <a:endParaRPr lang="en-US" dirty="0"/>
          </a:p>
        </p:txBody>
      </p:sp>
      <p:sp>
        <p:nvSpPr>
          <p:cNvPr id="4" name="Content Placeholder 3"/>
          <p:cNvSpPr>
            <a:spLocks noGrp="1"/>
          </p:cNvSpPr>
          <p:nvPr>
            <p:ph idx="1"/>
          </p:nvPr>
        </p:nvSpPr>
        <p:spPr/>
        <p:txBody>
          <a:bodyPr/>
          <a:lstStyle/>
          <a:p>
            <a:r>
              <a:rPr lang="en-US" dirty="0" smtClean="0"/>
              <a:t>The </a:t>
            </a:r>
            <a:r>
              <a:rPr lang="en-US" b="1" dirty="0" smtClean="0"/>
              <a:t>Status Bar</a:t>
            </a:r>
            <a:r>
              <a:rPr lang="en-US" dirty="0" smtClean="0"/>
              <a:t>, located at the bottom of the SAP screen, displays system messages and other session information.</a:t>
            </a:r>
            <a:endParaRPr lang="en-US" dirty="0"/>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42</a:t>
            </a:fld>
            <a:endParaRPr lang="en-US" altLang="en-US" dirty="0"/>
          </a:p>
        </p:txBody>
      </p:sp>
      <p:pic>
        <p:nvPicPr>
          <p:cNvPr id="5" name="Picture 3" descr="snap"/>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73896" y="1951037"/>
            <a:ext cx="6035675" cy="4525963"/>
          </a:xfrm>
          <a:prstGeom prst="rect">
            <a:avLst/>
          </a:prstGeom>
          <a:ln>
            <a:noFill/>
          </a:ln>
          <a:effectLst>
            <a:outerShdw blurRad="292100" dist="139700" dir="2700000" algn="tl" rotWithShape="0">
              <a:srgbClr val="333333">
                <a:alpha val="65000"/>
              </a:srgbClr>
            </a:outerShdw>
          </a:effectLst>
          <a:extLst>
            <a:ext uri="{91240B29-F687-4F45-9708-019B960494DF}">
              <a14:hiddenLine xmlns:a14="http://schemas.microsoft.com/office/drawing/2010/main" w="12700">
                <a:solidFill>
                  <a:srgbClr val="000000"/>
                </a:solidFill>
                <a:miter lim="800000"/>
                <a:headEnd/>
                <a:tailEnd/>
              </a14:hiddenLine>
            </a:ext>
          </a:extLst>
        </p:spPr>
      </p:pic>
      <p:pic>
        <p:nvPicPr>
          <p:cNvPr id="6" name="Picture 4" descr="snap"/>
          <p:cNvPicPr>
            <a:picLocks noChangeAspect="1" noChangeArrowheads="1"/>
          </p:cNvPicPr>
          <p:nvPr/>
        </p:nvPicPr>
        <p:blipFill>
          <a:blip r:embed="rId3" cstate="print">
            <a:extLst>
              <a:ext uri="{28A0092B-C50C-407E-A947-70E740481C1C}">
                <a14:useLocalDpi xmlns:a14="http://schemas.microsoft.com/office/drawing/2010/main" val="0"/>
              </a:ext>
            </a:extLst>
          </a:blip>
          <a:srcRect l="65813" t="81125"/>
          <a:stretch>
            <a:fillRect/>
          </a:stretch>
        </p:blipFill>
        <p:spPr bwMode="auto">
          <a:xfrm>
            <a:off x="521550" y="3349625"/>
            <a:ext cx="6022975" cy="24415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AutoShape 7"/>
          <p:cNvSpPr>
            <a:spLocks noChangeArrowheads="1"/>
          </p:cNvSpPr>
          <p:nvPr/>
        </p:nvSpPr>
        <p:spPr bwMode="auto">
          <a:xfrm>
            <a:off x="838200" y="3508375"/>
            <a:ext cx="4507763" cy="1394618"/>
          </a:xfrm>
          <a:prstGeom prst="wedgeRectCallout">
            <a:avLst>
              <a:gd name="adj1" fmla="val 30694"/>
              <a:gd name="adj2" fmla="val 88002"/>
            </a:avLst>
          </a:prstGeom>
          <a:solidFill>
            <a:srgbClr val="002E62"/>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a:t>At the bottom right of the screen…</a:t>
            </a:r>
          </a:p>
          <a:p>
            <a:pPr algn="ctr"/>
            <a:r>
              <a:rPr lang="en-US" b="1" dirty="0"/>
              <a:t>If you want to know what transaction you are in, click this button.  Other system information is also available</a:t>
            </a:r>
            <a:r>
              <a:rPr lang="en-US" b="1" dirty="0" smtClean="0"/>
              <a:t>.</a:t>
            </a:r>
            <a:endParaRPr lang="en-US" b="1" dirty="0"/>
          </a:p>
        </p:txBody>
      </p:sp>
      <p:sp>
        <p:nvSpPr>
          <p:cNvPr id="13" name="Rectangular Callout 12"/>
          <p:cNvSpPr/>
          <p:nvPr/>
        </p:nvSpPr>
        <p:spPr bwMode="auto">
          <a:xfrm>
            <a:off x="521550" y="3349625"/>
            <a:ext cx="6022975" cy="2517775"/>
          </a:xfrm>
          <a:prstGeom prst="wedgeRectCallout">
            <a:avLst>
              <a:gd name="adj1" fmla="val 57404"/>
              <a:gd name="adj2" fmla="val 71678"/>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pSp>
        <p:nvGrpSpPr>
          <p:cNvPr id="10" name="Group 8"/>
          <p:cNvGrpSpPr>
            <a:grpSpLocks/>
          </p:cNvGrpSpPr>
          <p:nvPr/>
        </p:nvGrpSpPr>
        <p:grpSpPr bwMode="auto">
          <a:xfrm>
            <a:off x="4553800" y="2917825"/>
            <a:ext cx="3995738" cy="2519362"/>
            <a:chOff x="3016" y="1389"/>
            <a:chExt cx="2517" cy="1587"/>
          </a:xfrm>
        </p:grpSpPr>
        <p:pic>
          <p:nvPicPr>
            <p:cNvPr id="11" name="Picture 9" descr="snap"/>
            <p:cNvPicPr>
              <a:picLocks noChangeAspect="1" noChangeArrowheads="1"/>
            </p:cNvPicPr>
            <p:nvPr/>
          </p:nvPicPr>
          <p:blipFill>
            <a:blip r:embed="rId4" cstate="print">
              <a:extLst>
                <a:ext uri="{28A0092B-C50C-407E-A947-70E740481C1C}">
                  <a14:useLocalDpi xmlns:a14="http://schemas.microsoft.com/office/drawing/2010/main" val="0"/>
                </a:ext>
              </a:extLst>
            </a:blip>
            <a:srcRect l="67773" t="76756" r="11571" b="2495"/>
            <a:stretch>
              <a:fillRect/>
            </a:stretch>
          </p:blipFill>
          <p:spPr bwMode="auto">
            <a:xfrm>
              <a:off x="3696" y="1389"/>
              <a:ext cx="1837" cy="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Line 10"/>
            <p:cNvSpPr>
              <a:spLocks noChangeShapeType="1"/>
            </p:cNvSpPr>
            <p:nvPr/>
          </p:nvSpPr>
          <p:spPr bwMode="auto">
            <a:xfrm flipV="1">
              <a:off x="3016" y="2251"/>
              <a:ext cx="771" cy="72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7344017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Easy Access Menu</a:t>
            </a:r>
            <a:endParaRPr lang="en-US" dirty="0"/>
          </a:p>
        </p:txBody>
      </p:sp>
      <p:sp>
        <p:nvSpPr>
          <p:cNvPr id="3" name="Content Placeholder 2"/>
          <p:cNvSpPr>
            <a:spLocks noGrp="1"/>
          </p:cNvSpPr>
          <p:nvPr>
            <p:ph idx="1"/>
          </p:nvPr>
        </p:nvSpPr>
        <p:spPr/>
        <p:txBody>
          <a:bodyPr/>
          <a:lstStyle/>
          <a:p>
            <a:r>
              <a:rPr lang="en-US" dirty="0" smtClean="0"/>
              <a:t>The </a:t>
            </a:r>
            <a:r>
              <a:rPr lang="en-US" b="1" dirty="0" smtClean="0"/>
              <a:t>SAP Menu </a:t>
            </a:r>
            <a:r>
              <a:rPr lang="en-US" dirty="0" smtClean="0"/>
              <a:t>appears as a tree structure on the left half of your screen immediately after logging in and is the default display on the SAP Easy Access screen.</a:t>
            </a:r>
            <a:endParaRPr lang="en-US" dirty="0"/>
          </a:p>
        </p:txBody>
      </p:sp>
      <p:pic>
        <p:nvPicPr>
          <p:cNvPr id="4" name="Picture 3" descr="snap"/>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05" r="74696" b="63005"/>
          <a:stretch/>
        </p:blipFill>
        <p:spPr bwMode="auto">
          <a:xfrm>
            <a:off x="5410200" y="2570203"/>
            <a:ext cx="3232180" cy="3525797"/>
          </a:xfrm>
          <a:prstGeom prst="rect">
            <a:avLst/>
          </a:prstGeom>
          <a:ln>
            <a:noFill/>
          </a:ln>
          <a:effectLst>
            <a:outerShdw blurRad="292100" dist="139700" dir="2700000" algn="tl" rotWithShape="0">
              <a:srgbClr val="333333">
                <a:alpha val="65000"/>
              </a:srgbClr>
            </a:outerShdw>
          </a:effectLst>
          <a:extLst>
            <a:ext uri="{91240B29-F687-4F45-9708-019B960494DF}">
              <a14:hiddenLine xmlns:a14="http://schemas.microsoft.com/office/drawing/2010/main" w="12700">
                <a:solidFill>
                  <a:srgbClr val="000000"/>
                </a:solidFill>
                <a:miter lim="800000"/>
                <a:headEnd/>
                <a:tailEnd/>
              </a14:hiddenLine>
            </a:ext>
          </a:extLst>
        </p:spPr>
      </p:pic>
      <p:sp>
        <p:nvSpPr>
          <p:cNvPr id="5" name="Rectangular Callout 4"/>
          <p:cNvSpPr/>
          <p:nvPr/>
        </p:nvSpPr>
        <p:spPr bwMode="auto">
          <a:xfrm>
            <a:off x="457200" y="3048000"/>
            <a:ext cx="4419600" cy="2362200"/>
          </a:xfrm>
          <a:prstGeom prst="wedgeRectCallout">
            <a:avLst>
              <a:gd name="adj1" fmla="val 61644"/>
              <a:gd name="adj2" fmla="val -15052"/>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marL="285750" indent="-285750" defTabSz="954088">
              <a:spcAft>
                <a:spcPts val="600"/>
              </a:spcAft>
              <a:buClr>
                <a:srgbClr val="004B91"/>
              </a:buClr>
              <a:buFont typeface="Arial" pitchFamily="34" charset="0"/>
              <a:buChar char="•"/>
            </a:pPr>
            <a:r>
              <a:rPr lang="en-US" dirty="0">
                <a:solidFill>
                  <a:srgbClr val="000000"/>
                </a:solidFill>
                <a:latin typeface="Arial" pitchFamily="34" charset="0"/>
                <a:ea typeface="Verdana" pitchFamily="34" charset="0"/>
                <a:cs typeface="Arial" pitchFamily="34" charset="0"/>
              </a:rPr>
              <a:t>There are two main menus you will encounter in SAP: the “</a:t>
            </a:r>
            <a:r>
              <a:rPr lang="en-US" b="1" dirty="0">
                <a:solidFill>
                  <a:srgbClr val="000000"/>
                </a:solidFill>
                <a:latin typeface="Arial" pitchFamily="34" charset="0"/>
                <a:ea typeface="Verdana" pitchFamily="34" charset="0"/>
                <a:cs typeface="Arial" pitchFamily="34" charset="0"/>
              </a:rPr>
              <a:t>SAP User menu</a:t>
            </a:r>
            <a:r>
              <a:rPr lang="en-US" dirty="0">
                <a:solidFill>
                  <a:srgbClr val="000000"/>
                </a:solidFill>
                <a:latin typeface="Arial" pitchFamily="34" charset="0"/>
                <a:ea typeface="Verdana" pitchFamily="34" charset="0"/>
                <a:cs typeface="Arial" pitchFamily="34" charset="0"/>
              </a:rPr>
              <a:t>” screen and the “</a:t>
            </a:r>
            <a:r>
              <a:rPr lang="en-US" b="1" dirty="0">
                <a:solidFill>
                  <a:srgbClr val="000000"/>
                </a:solidFill>
                <a:latin typeface="Arial" pitchFamily="34" charset="0"/>
                <a:ea typeface="Verdana" pitchFamily="34" charset="0"/>
                <a:cs typeface="Arial" pitchFamily="34" charset="0"/>
              </a:rPr>
              <a:t>SAP Standard menu</a:t>
            </a:r>
            <a:r>
              <a:rPr lang="en-US" dirty="0">
                <a:solidFill>
                  <a:srgbClr val="000000"/>
                </a:solidFill>
                <a:latin typeface="Arial" pitchFamily="34" charset="0"/>
                <a:ea typeface="Verdana" pitchFamily="34" charset="0"/>
                <a:cs typeface="Arial" pitchFamily="34" charset="0"/>
              </a:rPr>
              <a:t>” screen.</a:t>
            </a:r>
          </a:p>
          <a:p>
            <a:pPr marL="285750" indent="-285750" defTabSz="954088">
              <a:spcAft>
                <a:spcPts val="600"/>
              </a:spcAft>
              <a:buClr>
                <a:srgbClr val="004B91"/>
              </a:buClr>
              <a:buFont typeface="Arial" pitchFamily="34" charset="0"/>
              <a:buChar char="•"/>
            </a:pPr>
            <a:r>
              <a:rPr lang="en-US" dirty="0" smtClean="0">
                <a:solidFill>
                  <a:srgbClr val="000000"/>
                </a:solidFill>
                <a:latin typeface="Arial" pitchFamily="34" charset="0"/>
                <a:ea typeface="Verdana" pitchFamily="34" charset="0"/>
                <a:cs typeface="Arial" pitchFamily="34" charset="0"/>
              </a:rPr>
              <a:t>Use </a:t>
            </a:r>
            <a:r>
              <a:rPr lang="en-US" dirty="0">
                <a:solidFill>
                  <a:srgbClr val="000000"/>
                </a:solidFill>
                <a:latin typeface="Arial" pitchFamily="34" charset="0"/>
                <a:ea typeface="Verdana" pitchFamily="34" charset="0"/>
                <a:cs typeface="Arial" pitchFamily="34" charset="0"/>
              </a:rPr>
              <a:t>the </a:t>
            </a:r>
            <a:r>
              <a:rPr lang="en-US" b="1" dirty="0">
                <a:solidFill>
                  <a:srgbClr val="000000"/>
                </a:solidFill>
                <a:latin typeface="Arial" pitchFamily="34" charset="0"/>
                <a:ea typeface="Verdana" pitchFamily="34" charset="0"/>
                <a:cs typeface="Arial" pitchFamily="34" charset="0"/>
              </a:rPr>
              <a:t>SAP User Menu          </a:t>
            </a:r>
            <a:r>
              <a:rPr lang="en-US" dirty="0" smtClean="0">
                <a:solidFill>
                  <a:srgbClr val="000000"/>
                </a:solidFill>
                <a:latin typeface="Arial" pitchFamily="34" charset="0"/>
                <a:ea typeface="Verdana" pitchFamily="34" charset="0"/>
                <a:cs typeface="Arial" pitchFamily="34" charset="0"/>
              </a:rPr>
              <a:t>button</a:t>
            </a:r>
            <a:r>
              <a:rPr lang="en-US" b="1" dirty="0" smtClean="0">
                <a:solidFill>
                  <a:srgbClr val="000000"/>
                </a:solidFill>
                <a:latin typeface="Arial" pitchFamily="34" charset="0"/>
                <a:ea typeface="Verdana" pitchFamily="34" charset="0"/>
                <a:cs typeface="Arial" pitchFamily="34" charset="0"/>
              </a:rPr>
              <a:t>  </a:t>
            </a:r>
            <a:r>
              <a:rPr lang="en-US" dirty="0">
                <a:solidFill>
                  <a:srgbClr val="000000"/>
                </a:solidFill>
                <a:latin typeface="Arial" pitchFamily="34" charset="0"/>
                <a:ea typeface="Verdana" pitchFamily="34" charset="0"/>
                <a:cs typeface="Arial" pitchFamily="34" charset="0"/>
              </a:rPr>
              <a:t>or the </a:t>
            </a:r>
            <a:r>
              <a:rPr lang="en-US" b="1" dirty="0">
                <a:solidFill>
                  <a:srgbClr val="000000"/>
                </a:solidFill>
                <a:latin typeface="Arial" pitchFamily="34" charset="0"/>
                <a:ea typeface="Verdana" pitchFamily="34" charset="0"/>
                <a:cs typeface="Arial" pitchFamily="34" charset="0"/>
              </a:rPr>
              <a:t>SAP Standard Menu     </a:t>
            </a:r>
            <a:r>
              <a:rPr lang="en-US" b="1" dirty="0" smtClean="0">
                <a:solidFill>
                  <a:srgbClr val="000000"/>
                </a:solidFill>
                <a:latin typeface="Arial" pitchFamily="34" charset="0"/>
                <a:ea typeface="Verdana" pitchFamily="34" charset="0"/>
                <a:cs typeface="Arial" pitchFamily="34" charset="0"/>
              </a:rPr>
              <a:t>  </a:t>
            </a:r>
            <a:r>
              <a:rPr lang="en-US" dirty="0" smtClean="0">
                <a:solidFill>
                  <a:srgbClr val="000000"/>
                </a:solidFill>
                <a:latin typeface="Arial" pitchFamily="34" charset="0"/>
                <a:ea typeface="Verdana" pitchFamily="34" charset="0"/>
                <a:cs typeface="Arial" pitchFamily="34" charset="0"/>
              </a:rPr>
              <a:t>button </a:t>
            </a:r>
            <a:r>
              <a:rPr lang="en-US" dirty="0">
                <a:solidFill>
                  <a:srgbClr val="000000"/>
                </a:solidFill>
                <a:latin typeface="Arial" pitchFamily="34" charset="0"/>
                <a:ea typeface="Verdana" pitchFamily="34" charset="0"/>
                <a:cs typeface="Arial" pitchFamily="34" charset="0"/>
              </a:rPr>
              <a:t>to toggle between the two menus.</a:t>
            </a:r>
          </a:p>
        </p:txBody>
      </p:sp>
      <p:pic>
        <p:nvPicPr>
          <p:cNvPr id="6" name="Picture 5" descr="http://informit.mit.edu/erp_manuals/gui_help/images/buttons/b120.gif"/>
          <p:cNvPicPr/>
          <p:nvPr/>
        </p:nvPicPr>
        <p:blipFill>
          <a:blip r:embed="rId4">
            <a:extLst>
              <a:ext uri="{28A0092B-C50C-407E-A947-70E740481C1C}">
                <a14:useLocalDpi xmlns:a14="http://schemas.microsoft.com/office/drawing/2010/main" val="0"/>
              </a:ext>
            </a:extLst>
          </a:blip>
          <a:srcRect/>
          <a:stretch>
            <a:fillRect/>
          </a:stretch>
        </p:blipFill>
        <p:spPr bwMode="auto">
          <a:xfrm>
            <a:off x="3581400" y="4705350"/>
            <a:ext cx="381000" cy="285750"/>
          </a:xfrm>
          <a:prstGeom prst="rect">
            <a:avLst/>
          </a:prstGeom>
          <a:noFill/>
          <a:ln>
            <a:noFill/>
          </a:ln>
        </p:spPr>
      </p:pic>
      <p:pic>
        <p:nvPicPr>
          <p:cNvPr id="7" name="Picture 6" descr="http://informit.mit.edu/erp_manuals/gui_help/images/buttons/b121.gif"/>
          <p:cNvPicPr/>
          <p:nvPr/>
        </p:nvPicPr>
        <p:blipFill>
          <a:blip r:embed="rId5">
            <a:extLst>
              <a:ext uri="{28A0092B-C50C-407E-A947-70E740481C1C}">
                <a14:useLocalDpi xmlns:a14="http://schemas.microsoft.com/office/drawing/2010/main" val="0"/>
              </a:ext>
            </a:extLst>
          </a:blip>
          <a:srcRect/>
          <a:stretch>
            <a:fillRect/>
          </a:stretch>
        </p:blipFill>
        <p:spPr bwMode="auto">
          <a:xfrm>
            <a:off x="3505200" y="4343400"/>
            <a:ext cx="381000" cy="361950"/>
          </a:xfrm>
          <a:prstGeom prst="rect">
            <a:avLst/>
          </a:prstGeom>
          <a:noFill/>
          <a:ln>
            <a:noFill/>
          </a:ln>
        </p:spPr>
      </p:pic>
      <p:sp>
        <p:nvSpPr>
          <p:cNvPr id="8" name="Rectangle 7"/>
          <p:cNvSpPr/>
          <p:nvPr/>
        </p:nvSpPr>
        <p:spPr bwMode="auto">
          <a:xfrm>
            <a:off x="5424649" y="3736637"/>
            <a:ext cx="685800" cy="315099"/>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427519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Codes</a:t>
            </a:r>
            <a:endParaRPr lang="en-US" dirty="0"/>
          </a:p>
        </p:txBody>
      </p:sp>
      <p:sp>
        <p:nvSpPr>
          <p:cNvPr id="3" name="Content Placeholder 2"/>
          <p:cNvSpPr>
            <a:spLocks noGrp="1"/>
          </p:cNvSpPr>
          <p:nvPr>
            <p:ph idx="1"/>
          </p:nvPr>
        </p:nvSpPr>
        <p:spPr/>
        <p:txBody>
          <a:bodyPr/>
          <a:lstStyle/>
          <a:p>
            <a:r>
              <a:rPr lang="en-US" dirty="0"/>
              <a:t>Each function in SAP ECC has a transaction code associated with it. Transaction codes are not displayed in the default view on the SAP Easy Access Menu, but you can enable this functionality.</a:t>
            </a:r>
          </a:p>
        </p:txBody>
      </p:sp>
      <p:pic>
        <p:nvPicPr>
          <p:cNvPr id="5" name="Picture 4" descr="snap"/>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75101" b="43224"/>
          <a:stretch/>
        </p:blipFill>
        <p:spPr bwMode="auto">
          <a:xfrm>
            <a:off x="5181600" y="2113003"/>
            <a:ext cx="2743200" cy="4592597"/>
          </a:xfrm>
          <a:prstGeom prst="rect">
            <a:avLst/>
          </a:prstGeom>
          <a:ln>
            <a:noFill/>
          </a:ln>
          <a:effectLst>
            <a:outerShdw blurRad="292100" dist="139700" dir="2700000" algn="tl" rotWithShape="0">
              <a:srgbClr val="333333">
                <a:alpha val="65000"/>
              </a:srgbClr>
            </a:outerShdw>
          </a:effectLst>
          <a:extLst>
            <a:ext uri="{91240B29-F687-4F45-9708-019B960494DF}">
              <a14:hiddenLine xmlns:a14="http://schemas.microsoft.com/office/drawing/2010/main" w="12700">
                <a:solidFill>
                  <a:srgbClr val="000000"/>
                </a:solidFill>
                <a:miter lim="800000"/>
                <a:headEnd/>
                <a:tailEnd/>
              </a14:hiddenLine>
            </a:ext>
          </a:extLst>
        </p:spPr>
      </p:pic>
      <p:sp>
        <p:nvSpPr>
          <p:cNvPr id="6" name="Rectangular Callout 5"/>
          <p:cNvSpPr/>
          <p:nvPr/>
        </p:nvSpPr>
        <p:spPr bwMode="auto">
          <a:xfrm>
            <a:off x="457200" y="4648200"/>
            <a:ext cx="4419600" cy="1828800"/>
          </a:xfrm>
          <a:prstGeom prst="wedgeRectCallout">
            <a:avLst>
              <a:gd name="adj1" fmla="val 77973"/>
              <a:gd name="adj2" fmla="val 23309"/>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marL="285750" indent="-285750" defTabSz="954088">
              <a:spcAft>
                <a:spcPts val="600"/>
              </a:spcAft>
              <a:buClr>
                <a:srgbClr val="004B91"/>
              </a:buClr>
              <a:buFont typeface="Arial" pitchFamily="34" charset="0"/>
              <a:buChar char="•"/>
            </a:pPr>
            <a:r>
              <a:rPr lang="en-US" dirty="0">
                <a:solidFill>
                  <a:srgbClr val="000000"/>
                </a:solidFill>
                <a:latin typeface="Arial" pitchFamily="34" charset="0"/>
                <a:ea typeface="Verdana" pitchFamily="34" charset="0"/>
                <a:cs typeface="Arial" pitchFamily="34" charset="0"/>
              </a:rPr>
              <a:t>The Navigation Area is made up of folders and sub-folders.</a:t>
            </a:r>
          </a:p>
          <a:p>
            <a:pPr marL="285750" indent="-285750" defTabSz="954088">
              <a:spcAft>
                <a:spcPts val="600"/>
              </a:spcAft>
              <a:buClr>
                <a:srgbClr val="004B91"/>
              </a:buClr>
              <a:buFont typeface="Arial" pitchFamily="34" charset="0"/>
              <a:buChar char="•"/>
            </a:pPr>
            <a:r>
              <a:rPr lang="en-US" dirty="0">
                <a:solidFill>
                  <a:srgbClr val="000000"/>
                </a:solidFill>
                <a:latin typeface="Arial" pitchFamily="34" charset="0"/>
                <a:ea typeface="Verdana" pitchFamily="34" charset="0"/>
                <a:cs typeface="Arial" pitchFamily="34" charset="0"/>
              </a:rPr>
              <a:t>Click triangles to expand and collapse the menu tree to find the desired transaction.</a:t>
            </a:r>
          </a:p>
        </p:txBody>
      </p:sp>
      <p:sp>
        <p:nvSpPr>
          <p:cNvPr id="7" name="Rectangle 6"/>
          <p:cNvSpPr/>
          <p:nvPr/>
        </p:nvSpPr>
        <p:spPr bwMode="auto">
          <a:xfrm>
            <a:off x="6172200" y="5562600"/>
            <a:ext cx="1752600" cy="914400"/>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4205886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Display Transaction Codes in Menu</a:t>
            </a:r>
            <a:endParaRPr lang="en-US" dirty="0"/>
          </a:p>
        </p:txBody>
      </p:sp>
      <p:sp>
        <p:nvSpPr>
          <p:cNvPr id="3" name="Content Placeholder 2"/>
          <p:cNvSpPr>
            <a:spLocks noGrp="1"/>
          </p:cNvSpPr>
          <p:nvPr>
            <p:ph idx="1"/>
          </p:nvPr>
        </p:nvSpPr>
        <p:spPr>
          <a:xfrm>
            <a:off x="301625" y="990601"/>
            <a:ext cx="8537575" cy="838199"/>
          </a:xfrm>
        </p:spPr>
        <p:txBody>
          <a:bodyPr/>
          <a:lstStyle/>
          <a:p>
            <a:r>
              <a:rPr lang="en-US" kern="1200" dirty="0" smtClean="0"/>
              <a:t>By default, transaction codes are not displayed in the menu tree when you log on. SAP </a:t>
            </a:r>
            <a:r>
              <a:rPr lang="en-US" kern="1200" dirty="0"/>
              <a:t>provides the option to display the transaction code on the main menu screen. </a:t>
            </a:r>
            <a:endParaRPr 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r="43694" b="77872"/>
          <a:stretch>
            <a:fillRect/>
          </a:stretch>
        </p:blipFill>
        <p:spPr bwMode="auto">
          <a:xfrm>
            <a:off x="304800" y="2144955"/>
            <a:ext cx="5638800" cy="174124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3300"/>
                </a:solidFill>
                <a:miter lim="800000"/>
                <a:headEnd/>
                <a:tailEnd/>
              </a14:hiddenLine>
            </a:ext>
          </a:extLst>
        </p:spPr>
      </p:pic>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p:cNvPicPr>
            <a:picLocks noChangeAspect="1"/>
          </p:cNvPicPr>
          <p:nvPr/>
        </p:nvPicPr>
        <p:blipFill rotWithShape="1">
          <a:blip r:embed="rId4">
            <a:extLst>
              <a:ext uri="{28A0092B-C50C-407E-A947-70E740481C1C}">
                <a14:useLocalDpi xmlns:a14="http://schemas.microsoft.com/office/drawing/2010/main" val="0"/>
              </a:ext>
            </a:extLst>
          </a:blip>
          <a:srcRect l="3449" t="36495" r="2284" b="1873"/>
          <a:stretch/>
        </p:blipFill>
        <p:spPr>
          <a:xfrm>
            <a:off x="4889936" y="4022834"/>
            <a:ext cx="3410607" cy="2134818"/>
          </a:xfrm>
          <a:prstGeom prst="rect">
            <a:avLst/>
          </a:prstGeom>
          <a:ln>
            <a:noFill/>
          </a:ln>
          <a:effectLst>
            <a:outerShdw blurRad="292100" dist="139700" dir="2700000" algn="tl" rotWithShape="0">
              <a:srgbClr val="333333">
                <a:alpha val="65000"/>
              </a:srgbClr>
            </a:outerShdw>
          </a:effectLst>
        </p:spPr>
      </p:pic>
      <p:sp>
        <p:nvSpPr>
          <p:cNvPr id="11" name="Curved Right Arrow 10"/>
          <p:cNvSpPr/>
          <p:nvPr/>
        </p:nvSpPr>
        <p:spPr bwMode="auto">
          <a:xfrm rot="20200594">
            <a:off x="3887458" y="3595479"/>
            <a:ext cx="797346" cy="2480471"/>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2252648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marL="2006600" indent="-2006600" defTabSz="687388"/>
            <a:r>
              <a:rPr lang="en-US" sz="1800" b="1" dirty="0"/>
              <a:t>Activity Name: </a:t>
            </a:r>
            <a:r>
              <a:rPr lang="en-US" sz="1800" dirty="0" smtClean="0"/>
              <a:t>Navigate the SAP Easy Menu screen and display technical names of transactions.</a:t>
            </a:r>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N/A</a:t>
            </a:r>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46</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
        <p:nvSpPr>
          <p:cNvPr id="3" name="Content Placeholder 2"/>
          <p:cNvSpPr>
            <a:spLocks noGrp="1"/>
          </p:cNvSpPr>
          <p:nvPr>
            <p:ph idx="1"/>
          </p:nvPr>
        </p:nvSpPr>
        <p:spPr/>
        <p:txBody>
          <a:bodyPr/>
          <a:lstStyle/>
          <a:p>
            <a:r>
              <a:rPr lang="en-US" b="1" dirty="0" smtClean="0"/>
              <a:t>Scenario:</a:t>
            </a:r>
          </a:p>
          <a:p>
            <a:r>
              <a:rPr lang="en-US" dirty="0" smtClean="0"/>
              <a:t>Navigate between the SAP User Menu and the SAP Standard Menu, open and close menu folders, display transaction codes.</a:t>
            </a:r>
          </a:p>
          <a:p>
            <a:r>
              <a:rPr lang="en-US" dirty="0" smtClean="0">
                <a:solidFill>
                  <a:srgbClr val="FF0000"/>
                </a:solidFill>
              </a:rPr>
              <a:t>Replace to match Activity Guide</a:t>
            </a:r>
            <a:endParaRPr lang="en-US" dirty="0">
              <a:solidFill>
                <a:srgbClr val="FF0000"/>
              </a:solidFill>
            </a:endParaRP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b="1" dirty="0" smtClean="0"/>
              <a:t>Exercise: 2.1 Log on to SAP and Navigate the </a:t>
            </a:r>
          </a:p>
          <a:p>
            <a:pPr defTabSz="1023938"/>
            <a:r>
              <a:rPr lang="en-US" b="1" dirty="0"/>
              <a:t>	</a:t>
            </a:r>
            <a:r>
              <a:rPr lang="en-US" b="1" dirty="0" smtClean="0"/>
              <a:t>	SAP Easy Access Menu</a:t>
            </a:r>
            <a:endParaRPr lang="en-US" b="1" dirty="0"/>
          </a:p>
        </p:txBody>
      </p:sp>
      <p:sp>
        <p:nvSpPr>
          <p:cNvPr id="2" name="Title 1"/>
          <p:cNvSpPr>
            <a:spLocks noGrp="1"/>
          </p:cNvSpPr>
          <p:nvPr>
            <p:ph type="title"/>
          </p:nvPr>
        </p:nvSpPr>
        <p:spPr/>
        <p:txBody>
          <a:bodyPr/>
          <a:lstStyle/>
          <a:p>
            <a:r>
              <a:rPr lang="en-US" dirty="0" smtClean="0"/>
              <a:t>Practice</a:t>
            </a:r>
            <a:endParaRPr lang="en-US" dirty="0"/>
          </a:p>
        </p:txBody>
      </p:sp>
    </p:spTree>
    <p:extLst>
      <p:ext uri="{BB962C8B-B14F-4D97-AF65-F5344CB8AC3E}">
        <p14:creationId xmlns:p14="http://schemas.microsoft.com/office/powerpoint/2010/main" val="3514869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True or False – Passwords must be between 5 and 8 characters and only contain letters OR numbers, not both.</a:t>
            </a:r>
            <a:br>
              <a:rPr lang="en-US" dirty="0" smtClean="0"/>
            </a:br>
            <a:endParaRPr lang="en-US" dirty="0" smtClean="0"/>
          </a:p>
          <a:p>
            <a:pPr marL="457200" indent="-457200">
              <a:buClrTx/>
              <a:buFont typeface="+mj-lt"/>
              <a:buAutoNum type="arabicPeriod"/>
            </a:pPr>
            <a:r>
              <a:rPr lang="en-US" dirty="0" smtClean="0"/>
              <a:t>Name the two menus that will always display on the Menu Toolbar, regardless of the transaction you are in.</a:t>
            </a:r>
            <a:br>
              <a:rPr lang="en-US" dirty="0" smtClean="0"/>
            </a:br>
            <a:endParaRPr lang="en-US" dirty="0" smtClean="0"/>
          </a:p>
          <a:p>
            <a:pPr marL="457200" indent="-457200">
              <a:buClrTx/>
              <a:buFont typeface="+mj-lt"/>
              <a:buAutoNum type="arabicPeriod"/>
            </a:pPr>
            <a:r>
              <a:rPr lang="en-US" dirty="0" smtClean="0"/>
              <a:t>Explain the difference between the SAP Standard Menu and the SAP User Menu.</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48</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5361141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Working with Favorites</a:t>
            </a:r>
            <a:endParaRPr lang="en-US" dirty="0"/>
          </a:p>
        </p:txBody>
      </p:sp>
      <p:sp>
        <p:nvSpPr>
          <p:cNvPr id="4" name="Content Placeholder 3"/>
          <p:cNvSpPr>
            <a:spLocks noGrp="1"/>
          </p:cNvSpPr>
          <p:nvPr>
            <p:ph idx="1"/>
          </p:nvPr>
        </p:nvSpPr>
        <p:spPr>
          <a:xfrm>
            <a:off x="301625" y="990600"/>
            <a:ext cx="8537575" cy="990599"/>
          </a:xfrm>
        </p:spPr>
        <p:txBody>
          <a:bodyPr/>
          <a:lstStyle/>
          <a:p>
            <a:r>
              <a:rPr lang="en-US" dirty="0" smtClean="0"/>
              <a:t>You may find that you frequently access the same transactions. Creating a Favorites folder allows you to get to those functions you use most often. </a:t>
            </a:r>
            <a:endParaRPr lang="en-US" dirty="0"/>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49</a:t>
            </a:fld>
            <a:endParaRPr lang="en-US" altLang="en-US" dirty="0"/>
          </a:p>
        </p:txBody>
      </p:sp>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 r="50000" b="21711"/>
          <a:stretch/>
        </p:blipFill>
        <p:spPr bwMode="auto">
          <a:xfrm>
            <a:off x="5063359" y="2183524"/>
            <a:ext cx="2971800" cy="3683876"/>
          </a:xfrm>
          <a:prstGeom prst="rect">
            <a:avLst/>
          </a:prstGeom>
          <a:ln>
            <a:noFill/>
          </a:ln>
          <a:effectLst>
            <a:outerShdw blurRad="292100" dist="139700" dir="2700000" algn="tl" rotWithShape="0">
              <a:srgbClr val="333333">
                <a:alpha val="65000"/>
              </a:srgbClr>
            </a:outerShdw>
          </a:effectLst>
        </p:spPr>
      </p:pic>
      <p:sp>
        <p:nvSpPr>
          <p:cNvPr id="6" name="Content Placeholder 3"/>
          <p:cNvSpPr txBox="1">
            <a:spLocks/>
          </p:cNvSpPr>
          <p:nvPr/>
        </p:nvSpPr>
        <p:spPr bwMode="auto">
          <a:xfrm>
            <a:off x="304801" y="2057400"/>
            <a:ext cx="4495800" cy="3810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ts val="30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ts val="300"/>
              </a:spcAft>
              <a:buFont typeface="Arial" charset="0"/>
              <a:buChar char="–"/>
              <a:defRPr sz="20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2pPr>
            <a:lvl3pPr marL="1143000" indent="-228600" algn="l" rtl="0" fontAlgn="base">
              <a:spcBef>
                <a:spcPct val="20000"/>
              </a:spcBef>
              <a:spcAft>
                <a:spcPts val="30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3pPr>
            <a:lvl4pPr marL="1600200" indent="-228600" algn="l" rtl="0" fontAlgn="base">
              <a:spcBef>
                <a:spcPct val="20000"/>
              </a:spcBef>
              <a:spcAft>
                <a:spcPts val="300"/>
              </a:spcAft>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4pPr>
            <a:lvl5pPr marL="2057400" indent="-228600" algn="l" rtl="0" fontAlgn="base">
              <a:spcBef>
                <a:spcPct val="20000"/>
              </a:spcBef>
              <a:spcAft>
                <a:spcPts val="30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342900" indent="-342900">
              <a:buFont typeface="Arial" pitchFamily="34" charset="0"/>
              <a:buChar char="•"/>
            </a:pPr>
            <a:r>
              <a:rPr lang="en-US" dirty="0" smtClean="0"/>
              <a:t>Rather than navigating through the SAP menu tabs each time or having to remember the transaction codes, you can store frequently used transactions in the </a:t>
            </a:r>
            <a:r>
              <a:rPr lang="en-US" b="1" dirty="0" smtClean="0"/>
              <a:t>Favorites</a:t>
            </a:r>
            <a:r>
              <a:rPr lang="en-US" dirty="0" smtClean="0"/>
              <a:t> folder.</a:t>
            </a:r>
          </a:p>
          <a:p>
            <a:pPr marL="342900" indent="-342900">
              <a:buFont typeface="Arial" pitchFamily="34" charset="0"/>
              <a:buChar char="•"/>
            </a:pPr>
            <a:r>
              <a:rPr lang="en-US" dirty="0" smtClean="0"/>
              <a:t>The next time you need to use the transactions simply double-click it in the </a:t>
            </a:r>
            <a:r>
              <a:rPr lang="en-US" b="1" dirty="0" smtClean="0"/>
              <a:t>Favorites.</a:t>
            </a:r>
            <a:endParaRPr lang="en-US" dirty="0"/>
          </a:p>
        </p:txBody>
      </p:sp>
    </p:spTree>
    <p:extLst>
      <p:ext uri="{BB962C8B-B14F-4D97-AF65-F5344CB8AC3E}">
        <p14:creationId xmlns:p14="http://schemas.microsoft.com/office/powerpoint/2010/main" val="1809883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21"/>
          <p:cNvSpPr/>
          <p:nvPr/>
        </p:nvSpPr>
        <p:spPr bwMode="auto">
          <a:xfrm>
            <a:off x="6019800" y="1676399"/>
            <a:ext cx="2590800" cy="4684931"/>
          </a:xfrm>
          <a:prstGeom prst="roundRect">
            <a:avLst/>
          </a:prstGeom>
          <a:solidFill>
            <a:schemeClr val="accent1"/>
          </a:solidFill>
          <a:ln w="9525" cap="flat" cmpd="sng" algn="ctr">
            <a:solidFill>
              <a:schemeClr val="tx1"/>
            </a:solidFill>
            <a:prstDash val="solid"/>
            <a:round/>
            <a:headEnd type="none" w="med" len="med"/>
            <a:tailEnd type="none" w="med" len="med"/>
          </a:ln>
          <a:effectLst/>
          <a:scene3d>
            <a:camera prst="orthographicFront"/>
            <a:lightRig rig="threePt" dir="t"/>
          </a:scene3d>
          <a:sp3d>
            <a:bevelT w="114300" prst="artDeco"/>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9" name="Rounded Rectangle 18"/>
          <p:cNvSpPr/>
          <p:nvPr/>
        </p:nvSpPr>
        <p:spPr bwMode="auto">
          <a:xfrm>
            <a:off x="3184634" y="1676400"/>
            <a:ext cx="2590800" cy="3657600"/>
          </a:xfrm>
          <a:prstGeom prst="roundRect">
            <a:avLst/>
          </a:prstGeom>
          <a:solidFill>
            <a:schemeClr val="accent1"/>
          </a:solidFill>
          <a:ln w="9525" cap="flat" cmpd="sng" algn="ctr">
            <a:solidFill>
              <a:schemeClr val="tx1"/>
            </a:solidFill>
            <a:prstDash val="solid"/>
            <a:round/>
            <a:headEnd type="none" w="med" len="med"/>
            <a:tailEnd type="none" w="med" len="med"/>
          </a:ln>
          <a:effectLst/>
          <a:scene3d>
            <a:camera prst="orthographicFront"/>
            <a:lightRig rig="threePt" dir="t"/>
          </a:scene3d>
          <a:sp3d>
            <a:bevelT w="114300" prst="artDeco"/>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8" name="Rounded Rectangle 17"/>
          <p:cNvSpPr/>
          <p:nvPr/>
        </p:nvSpPr>
        <p:spPr bwMode="auto">
          <a:xfrm>
            <a:off x="304800" y="1676400"/>
            <a:ext cx="2590800" cy="3657600"/>
          </a:xfrm>
          <a:prstGeom prst="roundRect">
            <a:avLst/>
          </a:prstGeom>
          <a:solidFill>
            <a:schemeClr val="accent1"/>
          </a:solidFill>
          <a:ln w="9525" cap="flat" cmpd="sng" algn="ctr">
            <a:solidFill>
              <a:schemeClr val="tx1"/>
            </a:solidFill>
            <a:prstDash val="solid"/>
            <a:round/>
            <a:headEnd type="none" w="med" len="med"/>
            <a:tailEnd type="none" w="med" len="med"/>
          </a:ln>
          <a:effectLst/>
          <a:scene3d>
            <a:camera prst="orthographicFront"/>
            <a:lightRig rig="threePt" dir="t"/>
          </a:scene3d>
          <a:sp3d>
            <a:bevelT w="114300" prst="artDeco"/>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3" name="Title 2"/>
          <p:cNvSpPr>
            <a:spLocks noGrp="1"/>
          </p:cNvSpPr>
          <p:nvPr>
            <p:ph type="title"/>
          </p:nvPr>
        </p:nvSpPr>
        <p:spPr/>
        <p:txBody>
          <a:bodyPr/>
          <a:lstStyle/>
          <a:p>
            <a:r>
              <a:rPr lang="en-US" dirty="0" smtClean="0"/>
              <a:t>Adding Transactions to Favorites Folder</a:t>
            </a:r>
            <a:endParaRPr lang="en-US" dirty="0"/>
          </a:p>
        </p:txBody>
      </p:sp>
      <p:sp>
        <p:nvSpPr>
          <p:cNvPr id="4" name="Content Placeholder 3"/>
          <p:cNvSpPr>
            <a:spLocks noGrp="1"/>
          </p:cNvSpPr>
          <p:nvPr>
            <p:ph idx="1"/>
          </p:nvPr>
        </p:nvSpPr>
        <p:spPr>
          <a:xfrm>
            <a:off x="301625" y="990601"/>
            <a:ext cx="8537575" cy="609599"/>
          </a:xfrm>
        </p:spPr>
        <p:txBody>
          <a:bodyPr/>
          <a:lstStyle/>
          <a:p>
            <a:r>
              <a:rPr lang="en-US" dirty="0" smtClean="0"/>
              <a:t>There are three ways to add transactions to a Favorites folder:</a:t>
            </a:r>
            <a:endParaRPr lang="en-US" dirty="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2764226838"/>
              </p:ext>
            </p:extLst>
          </p:nvPr>
        </p:nvGraphicFramePr>
        <p:xfrm>
          <a:off x="457200" y="1905000"/>
          <a:ext cx="2286000" cy="2558143"/>
        </p:xfrm>
        <a:graphic>
          <a:graphicData uri="http://schemas.openxmlformats.org/presentationml/2006/ole">
            <mc:AlternateContent xmlns:mc="http://schemas.openxmlformats.org/markup-compatibility/2006">
              <mc:Choice xmlns:v="urn:schemas-microsoft-com:vml" Requires="v">
                <p:oleObj spid="_x0000_s2100" name="Bitmap Image" r:id="rId3" imgW="3877216" imgH="4514286" progId="Paint.Picture">
                  <p:embed/>
                </p:oleObj>
              </mc:Choice>
              <mc:Fallback>
                <p:oleObj name="Bitmap Image" r:id="rId3" imgW="3877216" imgH="4514286" progId="Paint.Picture">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905000"/>
                        <a:ext cx="2286000" cy="2558143"/>
                      </a:xfrm>
                      <a:prstGeom prst="rect">
                        <a:avLst/>
                      </a:prstGeom>
                      <a:noFill/>
                    </p:spPr>
                  </p:pic>
                </p:oleObj>
              </mc:Fallback>
            </mc:AlternateContent>
          </a:graphicData>
        </a:graphic>
      </p:graphicFrame>
      <p:sp>
        <p:nvSpPr>
          <p:cNvPr id="7" name="TextBox 6"/>
          <p:cNvSpPr txBox="1"/>
          <p:nvPr/>
        </p:nvSpPr>
        <p:spPr>
          <a:xfrm>
            <a:off x="533400" y="4572000"/>
            <a:ext cx="2209800" cy="646331"/>
          </a:xfrm>
          <a:prstGeom prst="rect">
            <a:avLst/>
          </a:prstGeom>
          <a:noFill/>
        </p:spPr>
        <p:txBody>
          <a:bodyPr wrap="square" rtlCol="0">
            <a:spAutoFit/>
          </a:bodyPr>
          <a:lstStyle/>
          <a:p>
            <a:pPr algn="ctr"/>
            <a:r>
              <a:rPr lang="en-US" b="1" dirty="0" smtClean="0">
                <a:solidFill>
                  <a:schemeClr val="accent4">
                    <a:lumMod val="10000"/>
                  </a:schemeClr>
                </a:solidFill>
                <a:latin typeface="Verdana" pitchFamily="34" charset="0"/>
                <a:ea typeface="Verdana" pitchFamily="34" charset="0"/>
                <a:cs typeface="Verdana" pitchFamily="34" charset="0"/>
              </a:rPr>
              <a:t>Using the main menu</a:t>
            </a:r>
            <a:endParaRPr lang="en-US" b="1" dirty="0">
              <a:solidFill>
                <a:schemeClr val="accent4">
                  <a:lumMod val="10000"/>
                </a:schemeClr>
              </a:solidFill>
              <a:latin typeface="Verdana" pitchFamily="34" charset="0"/>
              <a:ea typeface="Verdana" pitchFamily="34" charset="0"/>
              <a:cs typeface="Verdana" pitchFamily="34" charset="0"/>
            </a:endParaRPr>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p:cNvGraphicFramePr>
            <a:graphicFrameLocks noChangeAspect="1"/>
          </p:cNvGraphicFramePr>
          <p:nvPr>
            <p:extLst>
              <p:ext uri="{D42A27DB-BD31-4B8C-83A1-F6EECF244321}">
                <p14:modId xmlns:p14="http://schemas.microsoft.com/office/powerpoint/2010/main" val="3782193978"/>
              </p:ext>
            </p:extLst>
          </p:nvPr>
        </p:nvGraphicFramePr>
        <p:xfrm>
          <a:off x="3429000" y="1905000"/>
          <a:ext cx="2103967" cy="2667000"/>
        </p:xfrm>
        <a:graphic>
          <a:graphicData uri="http://schemas.openxmlformats.org/presentationml/2006/ole">
            <mc:AlternateContent xmlns:mc="http://schemas.openxmlformats.org/markup-compatibility/2006">
              <mc:Choice xmlns:v="urn:schemas-microsoft-com:vml" Requires="v">
                <p:oleObj spid="_x0000_s2101" name="Bitmap Image" r:id="rId5" imgW="4486901" imgH="5095238" progId="Paint.Picture">
                  <p:embed/>
                </p:oleObj>
              </mc:Choice>
              <mc:Fallback>
                <p:oleObj name="Bitmap Image" r:id="rId5" imgW="4486901" imgH="5095238" progId="Paint.Picture">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1905000"/>
                        <a:ext cx="2103967" cy="2667000"/>
                      </a:xfrm>
                      <a:prstGeom prst="rect">
                        <a:avLst/>
                      </a:prstGeom>
                      <a:noFill/>
                    </p:spPr>
                  </p:pic>
                </p:oleObj>
              </mc:Fallback>
            </mc:AlternateContent>
          </a:graphicData>
        </a:graphic>
      </p:graphicFrame>
      <p:sp>
        <p:nvSpPr>
          <p:cNvPr id="10" name="TextBox 9"/>
          <p:cNvSpPr txBox="1"/>
          <p:nvPr/>
        </p:nvSpPr>
        <p:spPr>
          <a:xfrm>
            <a:off x="3505200" y="4572000"/>
            <a:ext cx="1981200" cy="646331"/>
          </a:xfrm>
          <a:prstGeom prst="rect">
            <a:avLst/>
          </a:prstGeom>
          <a:noFill/>
        </p:spPr>
        <p:txBody>
          <a:bodyPr wrap="square" rtlCol="0">
            <a:spAutoFit/>
          </a:bodyPr>
          <a:lstStyle/>
          <a:p>
            <a:pPr algn="ctr"/>
            <a:r>
              <a:rPr lang="en-US" b="1" dirty="0" smtClean="0">
                <a:solidFill>
                  <a:schemeClr val="accent4">
                    <a:lumMod val="10000"/>
                  </a:schemeClr>
                </a:solidFill>
                <a:latin typeface="Verdana" pitchFamily="34" charset="0"/>
                <a:ea typeface="Verdana" pitchFamily="34" charset="0"/>
                <a:cs typeface="Verdana" pitchFamily="34" charset="0"/>
              </a:rPr>
              <a:t>Using right click</a:t>
            </a:r>
            <a:endParaRPr lang="en-US" b="1" dirty="0">
              <a:solidFill>
                <a:schemeClr val="accent4">
                  <a:lumMod val="10000"/>
                </a:schemeClr>
              </a:solidFill>
              <a:latin typeface="Verdana" pitchFamily="34" charset="0"/>
              <a:ea typeface="Verdana" pitchFamily="34" charset="0"/>
              <a:cs typeface="Verdana" pitchFamily="34" charset="0"/>
            </a:endParaRPr>
          </a:p>
        </p:txBody>
      </p:sp>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1819643349"/>
              </p:ext>
            </p:extLst>
          </p:nvPr>
        </p:nvGraphicFramePr>
        <p:xfrm>
          <a:off x="6229350" y="1905000"/>
          <a:ext cx="2152650" cy="3848100"/>
        </p:xfrm>
        <a:graphic>
          <a:graphicData uri="http://schemas.openxmlformats.org/presentationml/2006/ole">
            <mc:AlternateContent xmlns:mc="http://schemas.openxmlformats.org/markup-compatibility/2006">
              <mc:Choice xmlns:v="urn:schemas-microsoft-com:vml" Requires="v">
                <p:oleObj spid="_x0000_s2102" name="Bitmap Image" r:id="rId7" imgW="3296110" imgH="4533333" progId="Paint.Picture">
                  <p:embed/>
                </p:oleObj>
              </mc:Choice>
              <mc:Fallback>
                <p:oleObj name="Bitmap Image" r:id="rId7" imgW="3296110" imgH="4533333" progId="Paint.Picture">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29350" y="1905000"/>
                        <a:ext cx="2152650" cy="3848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Freeform 15"/>
          <p:cNvSpPr/>
          <p:nvPr/>
        </p:nvSpPr>
        <p:spPr>
          <a:xfrm>
            <a:off x="6991350" y="3257550"/>
            <a:ext cx="1299210" cy="1924050"/>
          </a:xfrm>
          <a:custGeom>
            <a:avLst/>
            <a:gdLst>
              <a:gd name="connsiteX0" fmla="*/ 942975 w 1299343"/>
              <a:gd name="connsiteY0" fmla="*/ 1504950 h 1504950"/>
              <a:gd name="connsiteX1" fmla="*/ 1247775 w 1299343"/>
              <a:gd name="connsiteY1" fmla="*/ 419100 h 1504950"/>
              <a:gd name="connsiteX2" fmla="*/ 0 w 1299343"/>
              <a:gd name="connsiteY2" fmla="*/ 0 h 1504950"/>
            </a:gdLst>
            <a:ahLst/>
            <a:cxnLst>
              <a:cxn ang="0">
                <a:pos x="connsiteX0" y="connsiteY0"/>
              </a:cxn>
              <a:cxn ang="0">
                <a:pos x="connsiteX1" y="connsiteY1"/>
              </a:cxn>
              <a:cxn ang="0">
                <a:pos x="connsiteX2" y="connsiteY2"/>
              </a:cxn>
            </a:cxnLst>
            <a:rect l="l" t="t" r="r" b="b"/>
            <a:pathLst>
              <a:path w="1299343" h="1504950">
                <a:moveTo>
                  <a:pt x="942975" y="1504950"/>
                </a:moveTo>
                <a:cubicBezTo>
                  <a:pt x="1173956" y="1087437"/>
                  <a:pt x="1404938" y="669925"/>
                  <a:pt x="1247775" y="419100"/>
                </a:cubicBezTo>
                <a:cubicBezTo>
                  <a:pt x="1090613" y="168275"/>
                  <a:pt x="545306" y="84137"/>
                  <a:pt x="0" y="0"/>
                </a:cubicBezTo>
              </a:path>
            </a:pathLst>
          </a:custGeom>
          <a:noFill/>
          <a:ln>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r">
              <a:spcBef>
                <a:spcPts val="0"/>
              </a:spcBef>
              <a:spcAft>
                <a:spcPts val="0"/>
              </a:spcAft>
            </a:pPr>
            <a:r>
              <a:rPr lang="en-US" sz="1000" b="1">
                <a:solidFill>
                  <a:srgbClr val="FF0000"/>
                </a:solidFill>
                <a:effectLst/>
                <a:latin typeface="Arial"/>
                <a:ea typeface="Calibri"/>
                <a:cs typeface="Times New Roman"/>
              </a:rPr>
              <a:t> </a:t>
            </a:r>
            <a:endParaRPr lang="en-US" sz="1000">
              <a:effectLst/>
              <a:latin typeface="Arial"/>
              <a:ea typeface="Calibri"/>
              <a:cs typeface="Times New Roman"/>
            </a:endParaRPr>
          </a:p>
        </p:txBody>
      </p:sp>
      <p:sp>
        <p:nvSpPr>
          <p:cNvPr id="17" name="TextBox 16"/>
          <p:cNvSpPr txBox="1"/>
          <p:nvPr/>
        </p:nvSpPr>
        <p:spPr>
          <a:xfrm>
            <a:off x="6309360" y="5715000"/>
            <a:ext cx="1981200" cy="646331"/>
          </a:xfrm>
          <a:prstGeom prst="rect">
            <a:avLst/>
          </a:prstGeom>
          <a:noFill/>
        </p:spPr>
        <p:txBody>
          <a:bodyPr wrap="square" rtlCol="0">
            <a:spAutoFit/>
          </a:bodyPr>
          <a:lstStyle/>
          <a:p>
            <a:pPr algn="ctr"/>
            <a:r>
              <a:rPr lang="en-US" b="1" dirty="0" smtClean="0">
                <a:solidFill>
                  <a:schemeClr val="accent4">
                    <a:lumMod val="10000"/>
                  </a:schemeClr>
                </a:solidFill>
                <a:latin typeface="Verdana" pitchFamily="34" charset="0"/>
                <a:ea typeface="Verdana" pitchFamily="34" charset="0"/>
                <a:cs typeface="Verdana" pitchFamily="34" charset="0"/>
              </a:rPr>
              <a:t>Using Drag and Drop</a:t>
            </a:r>
            <a:endParaRPr lang="en-US" b="1" dirty="0">
              <a:solidFill>
                <a:schemeClr val="accent4">
                  <a:lumMod val="10000"/>
                </a:schemeClr>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13480751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 Favorites Folder</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N/A</a:t>
            </a:r>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51</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r>
              <a:rPr lang="en-US" b="1" dirty="0" smtClean="0"/>
              <a:t>Scenario:</a:t>
            </a:r>
          </a:p>
          <a:p>
            <a:r>
              <a:rPr lang="en-US" dirty="0" smtClean="0"/>
              <a:t>Create a Favorites folder, add, rename and delete transactions.</a:t>
            </a:r>
          </a:p>
          <a:p>
            <a:r>
              <a:rPr lang="en-US" dirty="0" smtClean="0"/>
              <a:t>Show how to organize favorites.</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b="1" dirty="0" smtClean="0"/>
              <a:t>Exercise: 2.2 Manage a Favorites folder</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Tree>
    <p:extLst>
      <p:ext uri="{BB962C8B-B14F-4D97-AF65-F5344CB8AC3E}">
        <p14:creationId xmlns:p14="http://schemas.microsoft.com/office/powerpoint/2010/main" val="36675456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What are Favorites?</a:t>
            </a:r>
          </a:p>
          <a:p>
            <a:pPr marL="457200" indent="-457200">
              <a:buClrTx/>
              <a:buFont typeface="+mj-lt"/>
              <a:buAutoNum type="arabicPeriod"/>
            </a:pPr>
            <a:r>
              <a:rPr lang="en-US" dirty="0" smtClean="0"/>
              <a:t>Name the three ways you can add a transaction to a Favorites folder.</a:t>
            </a:r>
          </a:p>
          <a:p>
            <a:pPr marL="457200" indent="-457200">
              <a:buClrTx/>
              <a:buFont typeface="+mj-lt"/>
              <a:buAutoNum type="arabicPeriod"/>
            </a:pPr>
            <a:r>
              <a:rPr lang="en-US" dirty="0" smtClean="0"/>
              <a:t>How many transactions can you have in a Favorites folder?</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53</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9663408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Sessions</a:t>
            </a:r>
            <a:endParaRPr lang="en-US" dirty="0"/>
          </a:p>
        </p:txBody>
      </p:sp>
      <p:sp>
        <p:nvSpPr>
          <p:cNvPr id="3" name="Content Placeholder 2"/>
          <p:cNvSpPr>
            <a:spLocks noGrp="1"/>
          </p:cNvSpPr>
          <p:nvPr>
            <p:ph idx="1"/>
          </p:nvPr>
        </p:nvSpPr>
        <p:spPr/>
        <p:txBody>
          <a:bodyPr/>
          <a:lstStyle/>
          <a:p>
            <a:r>
              <a:rPr lang="en-US" dirty="0"/>
              <a:t>You can open additional sessions of SAP, allowing you to work in different parts of the system without having to log on and off in the middle of a transaction.</a:t>
            </a:r>
          </a:p>
          <a:p>
            <a:endParaRPr lang="en-US" dirty="0"/>
          </a:p>
        </p:txBody>
      </p:sp>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43001" y="2133600"/>
            <a:ext cx="2819400" cy="2231489"/>
          </a:xfrm>
          <a:prstGeom prst="rect">
            <a:avLst/>
          </a:prstGeom>
          <a:ln>
            <a:noFill/>
          </a:ln>
          <a:effectLst>
            <a:outerShdw blurRad="292100" dist="139700" dir="2700000" algn="tl" rotWithShape="0">
              <a:srgbClr val="333333">
                <a:alpha val="65000"/>
              </a:srgbClr>
            </a:outerShdw>
          </a:effec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600200" y="2569111"/>
            <a:ext cx="2819400" cy="2231489"/>
          </a:xfrm>
          <a:prstGeom prst="rect">
            <a:avLst/>
          </a:prstGeom>
          <a:ln>
            <a:noFill/>
          </a:ln>
          <a:effectLst>
            <a:outerShdw blurRad="292100" dist="139700" dir="2700000" algn="tl" rotWithShape="0">
              <a:srgbClr val="333333">
                <a:alpha val="65000"/>
              </a:srgbClr>
            </a:outerShdw>
          </a:effec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057400" y="3026311"/>
            <a:ext cx="2819400" cy="2231489"/>
          </a:xfrm>
          <a:prstGeom prst="rect">
            <a:avLst/>
          </a:prstGeom>
          <a:ln>
            <a:noFill/>
          </a:ln>
          <a:effectLst>
            <a:outerShdw blurRad="292100" dist="139700" dir="2700000" algn="tl" rotWithShape="0">
              <a:srgbClr val="333333">
                <a:alpha val="65000"/>
              </a:srgbClr>
            </a:outerShdw>
          </a:effectLst>
        </p:spPr>
      </p:pic>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514600" y="3483511"/>
            <a:ext cx="2819400" cy="2231489"/>
          </a:xfrm>
          <a:prstGeom prst="rect">
            <a:avLst/>
          </a:prstGeom>
          <a:ln>
            <a:noFill/>
          </a:ln>
          <a:effectLst>
            <a:outerShdw blurRad="292100" dist="139700" dir="2700000" algn="tl" rotWithShape="0">
              <a:srgbClr val="333333">
                <a:alpha val="65000"/>
              </a:srgbClr>
            </a:outerShdw>
          </a:effectLst>
        </p:spPr>
      </p:pic>
      <p:sp>
        <p:nvSpPr>
          <p:cNvPr id="8" name="Rectangle 7"/>
          <p:cNvSpPr/>
          <p:nvPr/>
        </p:nvSpPr>
        <p:spPr bwMode="auto">
          <a:xfrm>
            <a:off x="609600" y="5410200"/>
            <a:ext cx="8001000" cy="1143000"/>
          </a:xfrm>
          <a:prstGeom prst="rect">
            <a:avLst/>
          </a:prstGeom>
          <a:solidFill>
            <a:srgbClr val="002E62"/>
          </a:solidFill>
          <a:ln w="1905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ctr">
              <a:spcBef>
                <a:spcPct val="20000"/>
              </a:spcBef>
              <a:buClr>
                <a:srgbClr val="004B91"/>
              </a:buClr>
            </a:pPr>
            <a:r>
              <a:rPr lang="en-US" b="1" i="1" dirty="0" smtClean="0">
                <a:latin typeface="Verdana" pitchFamily="34" charset="0"/>
                <a:ea typeface="Verdana" pitchFamily="34" charset="0"/>
                <a:cs typeface="Verdana" pitchFamily="34" charset="0"/>
              </a:rPr>
              <a:t>Although it is possible to have up to six sessions running at a time, please only have two sessions open at any one time to minimize the impact on system resources.</a:t>
            </a:r>
            <a:endParaRPr lang="en-US" b="1" i="1"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999564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Executing a Transaction </a:t>
            </a:r>
          </a:p>
        </p:txBody>
      </p:sp>
      <p:sp>
        <p:nvSpPr>
          <p:cNvPr id="3" name="Content Placeholder 2"/>
          <p:cNvSpPr>
            <a:spLocks noGrp="1"/>
          </p:cNvSpPr>
          <p:nvPr>
            <p:ph idx="1"/>
          </p:nvPr>
        </p:nvSpPr>
        <p:spPr>
          <a:xfrm>
            <a:off x="301625" y="990601"/>
            <a:ext cx="8537575" cy="1143000"/>
          </a:xfrm>
        </p:spPr>
        <p:txBody>
          <a:bodyPr/>
          <a:lstStyle/>
          <a:p>
            <a:r>
              <a:rPr lang="en-US" kern="1200" dirty="0">
                <a:solidFill>
                  <a:schemeClr val="accent4">
                    <a:lumMod val="10000"/>
                  </a:schemeClr>
                </a:solidFill>
              </a:rPr>
              <a:t>Faster than drilling down through menu paths is using the transaction code directly into the </a:t>
            </a:r>
            <a:r>
              <a:rPr lang="en-US" b="1" kern="1200" dirty="0">
                <a:solidFill>
                  <a:schemeClr val="accent4">
                    <a:lumMod val="10000"/>
                  </a:schemeClr>
                </a:solidFill>
              </a:rPr>
              <a:t>Command Field</a:t>
            </a:r>
            <a:r>
              <a:rPr lang="en-US" kern="1200" dirty="0">
                <a:solidFill>
                  <a:schemeClr val="accent4">
                    <a:lumMod val="10000"/>
                  </a:schemeClr>
                </a:solidFill>
              </a:rPr>
              <a:t>. </a:t>
            </a:r>
            <a:endParaRPr lang="en-US" dirty="0">
              <a:solidFill>
                <a:schemeClr val="accent4">
                  <a:lumMod val="10000"/>
                </a:schemeClr>
              </a:solidFill>
            </a:endParaRPr>
          </a:p>
        </p:txBody>
      </p:sp>
      <p:pic>
        <p:nvPicPr>
          <p:cNvPr id="4" name="Picture 3" descr="snap"/>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1121" b="59565"/>
          <a:stretch/>
        </p:blipFill>
        <p:spPr bwMode="auto">
          <a:xfrm>
            <a:off x="4632286" y="2057400"/>
            <a:ext cx="3902114" cy="3043191"/>
          </a:xfrm>
          <a:prstGeom prst="rect">
            <a:avLst/>
          </a:prstGeom>
          <a:ln>
            <a:noFill/>
          </a:ln>
          <a:effectLst>
            <a:outerShdw blurRad="292100" dist="139700" dir="2700000" algn="tl" rotWithShape="0">
              <a:srgbClr val="333333">
                <a:alpha val="65000"/>
              </a:srgbClr>
            </a:outerShdw>
          </a:effectLst>
        </p:spPr>
        <p:style>
          <a:lnRef idx="1">
            <a:schemeClr val="accent6"/>
          </a:lnRef>
          <a:fillRef idx="2">
            <a:schemeClr val="accent6"/>
          </a:fillRef>
          <a:effectRef idx="1">
            <a:schemeClr val="accent6"/>
          </a:effectRef>
          <a:fontRef idx="minor">
            <a:schemeClr val="dk1"/>
          </a:fontRef>
        </p:style>
      </p:pic>
      <p:sp>
        <p:nvSpPr>
          <p:cNvPr id="5" name="Rectangle 4"/>
          <p:cNvSpPr/>
          <p:nvPr/>
        </p:nvSpPr>
        <p:spPr bwMode="auto">
          <a:xfrm>
            <a:off x="4937086" y="2286000"/>
            <a:ext cx="1646257" cy="381000"/>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6" name="TextBox 5"/>
          <p:cNvSpPr txBox="1"/>
          <p:nvPr/>
        </p:nvSpPr>
        <p:spPr>
          <a:xfrm>
            <a:off x="304800" y="1904286"/>
            <a:ext cx="4114800" cy="4278094"/>
          </a:xfrm>
          <a:prstGeom prst="rect">
            <a:avLst/>
          </a:prstGeom>
          <a:noFill/>
        </p:spPr>
        <p:txBody>
          <a:bodyPr wrap="square" rtlCol="0">
            <a:spAutoFit/>
          </a:bodyPr>
          <a:lstStyle/>
          <a:p>
            <a:pPr>
              <a:spcBef>
                <a:spcPts val="600"/>
              </a:spcBef>
              <a:spcAft>
                <a:spcPts val="600"/>
              </a:spcAft>
            </a:pPr>
            <a:r>
              <a:rPr lang="en-US" dirty="0">
                <a:solidFill>
                  <a:schemeClr val="accent4">
                    <a:lumMod val="10000"/>
                  </a:schemeClr>
                </a:solidFill>
                <a:latin typeface="Verdana" pitchFamily="34" charset="0"/>
                <a:ea typeface="Verdana" pitchFamily="34" charset="0"/>
                <a:cs typeface="Verdana" pitchFamily="34" charset="0"/>
              </a:rPr>
              <a:t>Transaction codes and command codes are slightly different: </a:t>
            </a:r>
            <a:endParaRPr lang="en-US" dirty="0" smtClean="0">
              <a:solidFill>
                <a:schemeClr val="accent4">
                  <a:lumMod val="10000"/>
                </a:schemeClr>
              </a:solidFill>
              <a:latin typeface="Verdana" pitchFamily="34" charset="0"/>
              <a:ea typeface="Verdana" pitchFamily="34" charset="0"/>
              <a:cs typeface="Verdana" pitchFamily="34" charset="0"/>
            </a:endParaRPr>
          </a:p>
          <a:p>
            <a:pPr marL="285750" indent="-285750">
              <a:spcBef>
                <a:spcPts val="600"/>
              </a:spcBef>
              <a:spcAft>
                <a:spcPts val="600"/>
              </a:spcAft>
              <a:buClr>
                <a:srgbClr val="004B91"/>
              </a:buClr>
              <a:buFont typeface="Arial" pitchFamily="34" charset="0"/>
              <a:buChar char="•"/>
            </a:pPr>
            <a:r>
              <a:rPr lang="en-US" dirty="0" smtClean="0">
                <a:solidFill>
                  <a:schemeClr val="accent4">
                    <a:lumMod val="10000"/>
                  </a:schemeClr>
                </a:solidFill>
                <a:latin typeface="Verdana" pitchFamily="34" charset="0"/>
                <a:ea typeface="Verdana" pitchFamily="34" charset="0"/>
                <a:cs typeface="Verdana" pitchFamily="34" charset="0"/>
              </a:rPr>
              <a:t>a </a:t>
            </a:r>
            <a:r>
              <a:rPr lang="en-US" b="1" dirty="0">
                <a:solidFill>
                  <a:schemeClr val="accent4">
                    <a:lumMod val="10000"/>
                  </a:schemeClr>
                </a:solidFill>
                <a:latin typeface="Verdana" pitchFamily="34" charset="0"/>
                <a:ea typeface="Verdana" pitchFamily="34" charset="0"/>
                <a:cs typeface="Verdana" pitchFamily="34" charset="0"/>
              </a:rPr>
              <a:t>transaction code </a:t>
            </a:r>
            <a:r>
              <a:rPr lang="en-US" dirty="0">
                <a:solidFill>
                  <a:schemeClr val="accent4">
                    <a:lumMod val="10000"/>
                  </a:schemeClr>
                </a:solidFill>
                <a:latin typeface="Verdana" pitchFamily="34" charset="0"/>
                <a:ea typeface="Verdana" pitchFamily="34" charset="0"/>
                <a:cs typeface="Verdana" pitchFamily="34" charset="0"/>
              </a:rPr>
              <a:t>is a unique identifier attached to each transaction in SAP </a:t>
            </a:r>
          </a:p>
          <a:p>
            <a:pPr marL="285750" indent="-285750">
              <a:spcBef>
                <a:spcPts val="600"/>
              </a:spcBef>
              <a:spcAft>
                <a:spcPts val="600"/>
              </a:spcAft>
              <a:buClr>
                <a:srgbClr val="004B91"/>
              </a:buClr>
              <a:buFont typeface="Arial" pitchFamily="34" charset="0"/>
              <a:buChar char="•"/>
            </a:pPr>
            <a:r>
              <a:rPr lang="en-US" dirty="0" smtClean="0">
                <a:solidFill>
                  <a:schemeClr val="accent4">
                    <a:lumMod val="10000"/>
                  </a:schemeClr>
                </a:solidFill>
                <a:latin typeface="Verdana" pitchFamily="34" charset="0"/>
                <a:ea typeface="Verdana" pitchFamily="34" charset="0"/>
                <a:cs typeface="Verdana" pitchFamily="34" charset="0"/>
              </a:rPr>
              <a:t>a </a:t>
            </a:r>
            <a:r>
              <a:rPr lang="en-US" b="1" dirty="0">
                <a:solidFill>
                  <a:schemeClr val="accent4">
                    <a:lumMod val="10000"/>
                  </a:schemeClr>
                </a:solidFill>
                <a:latin typeface="Verdana" pitchFamily="34" charset="0"/>
                <a:ea typeface="Verdana" pitchFamily="34" charset="0"/>
                <a:cs typeface="Verdana" pitchFamily="34" charset="0"/>
              </a:rPr>
              <a:t>command code </a:t>
            </a:r>
            <a:r>
              <a:rPr lang="en-US" dirty="0">
                <a:solidFill>
                  <a:schemeClr val="accent4">
                    <a:lumMod val="10000"/>
                  </a:schemeClr>
                </a:solidFill>
                <a:latin typeface="Verdana" pitchFamily="34" charset="0"/>
                <a:ea typeface="Verdana" pitchFamily="34" charset="0"/>
                <a:cs typeface="Verdana" pitchFamily="34" charset="0"/>
              </a:rPr>
              <a:t>is the text typed into the command field in order to access a transaction. It consists of the transaction code when the user is on the home screen or the transaction code and a prefix if the user is currently working within a transaction</a:t>
            </a:r>
            <a:r>
              <a:rPr lang="en-US" dirty="0" smtClean="0">
                <a:solidFill>
                  <a:schemeClr val="accent4">
                    <a:lumMod val="10000"/>
                  </a:schemeClr>
                </a:solidFill>
                <a:latin typeface="Verdana" pitchFamily="34" charset="0"/>
                <a:ea typeface="Verdana" pitchFamily="34" charset="0"/>
                <a:cs typeface="Verdana" pitchFamily="34" charset="0"/>
              </a:rPr>
              <a:t>.</a:t>
            </a:r>
            <a:endParaRPr lang="en-US" dirty="0">
              <a:solidFill>
                <a:schemeClr val="accent4">
                  <a:lumMod val="10000"/>
                </a:schemeClr>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088607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Using Commands to Launch Transactions</a:t>
            </a:r>
            <a:endParaRPr lang="en-US" dirty="0"/>
          </a:p>
        </p:txBody>
      </p:sp>
      <p:sp>
        <p:nvSpPr>
          <p:cNvPr id="25" name="Content Placeholder 24"/>
          <p:cNvSpPr>
            <a:spLocks noGrp="1"/>
          </p:cNvSpPr>
          <p:nvPr>
            <p:ph idx="1"/>
          </p:nvPr>
        </p:nvSpPr>
        <p:spPr>
          <a:xfrm>
            <a:off x="301625" y="990601"/>
            <a:ext cx="8537575" cy="1066799"/>
          </a:xfrm>
        </p:spPr>
        <p:txBody>
          <a:bodyPr/>
          <a:lstStyle/>
          <a:p>
            <a:r>
              <a:rPr lang="en-US" dirty="0"/>
              <a:t>You can open additional sessions of </a:t>
            </a:r>
            <a:r>
              <a:rPr lang="en-US" dirty="0" smtClean="0"/>
              <a:t>SAP by using a </a:t>
            </a:r>
            <a:r>
              <a:rPr lang="en-US" b="1" dirty="0" smtClean="0"/>
              <a:t>prefix</a:t>
            </a:r>
            <a:r>
              <a:rPr lang="en-US" dirty="0" smtClean="0"/>
              <a:t>, </a:t>
            </a:r>
            <a:r>
              <a:rPr lang="en-US" dirty="0"/>
              <a:t>allowing you to work in different parts of the system without having to log on and off in the middle of a transaction.</a:t>
            </a:r>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56</a:t>
            </a:fld>
            <a:endParaRPr lang="en-US" altLang="en-US" dirty="0"/>
          </a:p>
        </p:txBody>
      </p:sp>
      <p:graphicFrame>
        <p:nvGraphicFramePr>
          <p:cNvPr id="24" name="Table 23"/>
          <p:cNvGraphicFramePr>
            <a:graphicFrameLocks noGrp="1"/>
          </p:cNvGraphicFramePr>
          <p:nvPr>
            <p:extLst>
              <p:ext uri="{D42A27DB-BD31-4B8C-83A1-F6EECF244321}">
                <p14:modId xmlns:p14="http://schemas.microsoft.com/office/powerpoint/2010/main" val="872634484"/>
              </p:ext>
            </p:extLst>
          </p:nvPr>
        </p:nvGraphicFramePr>
        <p:xfrm>
          <a:off x="381000" y="2133600"/>
          <a:ext cx="8458200" cy="4485640"/>
        </p:xfrm>
        <a:graphic>
          <a:graphicData uri="http://schemas.openxmlformats.org/drawingml/2006/table">
            <a:tbl>
              <a:tblPr bandRow="1">
                <a:tableStyleId>{5C22544A-7EE6-4342-B048-85BDC9FD1C3A}</a:tableStyleId>
              </a:tblPr>
              <a:tblGrid>
                <a:gridCol w="3443529"/>
                <a:gridCol w="5014671"/>
              </a:tblGrid>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&lt;transaction code&gt;</a:t>
                      </a:r>
                      <a:endParaRPr lang="en-US" b="1" dirty="0">
                        <a:solidFill>
                          <a:schemeClr val="accent4">
                            <a:lumMod val="10000"/>
                          </a:schemeClr>
                        </a:solidFill>
                        <a:latin typeface="Verdana" pitchFamily="34" charset="0"/>
                        <a:ea typeface="Verdana" pitchFamily="34" charset="0"/>
                        <a:cs typeface="Verdana" pitchFamily="34" charset="0"/>
                      </a:endParaRPr>
                    </a:p>
                  </a:txBody>
                  <a:tcPr/>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Takes</a:t>
                      </a:r>
                      <a:r>
                        <a:rPr lang="en-US" baseline="0" dirty="0" smtClean="0">
                          <a:solidFill>
                            <a:schemeClr val="accent4">
                              <a:lumMod val="10000"/>
                            </a:schemeClr>
                          </a:solidFill>
                          <a:latin typeface="Verdana" pitchFamily="34" charset="0"/>
                          <a:ea typeface="Verdana" pitchFamily="34" charset="0"/>
                          <a:cs typeface="Verdana" pitchFamily="34" charset="0"/>
                        </a:rPr>
                        <a:t> you to the associated transaction from the SAP Easy Access Menu</a:t>
                      </a:r>
                      <a:endParaRPr lang="en-US" dirty="0">
                        <a:solidFill>
                          <a:schemeClr val="accent4">
                            <a:lumMod val="10000"/>
                          </a:schemeClr>
                        </a:solidFill>
                        <a:latin typeface="Verdana" pitchFamily="34" charset="0"/>
                        <a:ea typeface="Verdana" pitchFamily="34" charset="0"/>
                        <a:cs typeface="Verdana" pitchFamily="34" charset="0"/>
                      </a:endParaRPr>
                    </a:p>
                  </a:txBody>
                  <a:tcPr/>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“/N”</a:t>
                      </a:r>
                      <a:endParaRPr lang="en-US" b="1" dirty="0">
                        <a:solidFill>
                          <a:schemeClr val="accent4">
                            <a:lumMod val="10000"/>
                          </a:schemeClr>
                        </a:solidFill>
                        <a:latin typeface="Verdana" pitchFamily="34" charset="0"/>
                        <a:ea typeface="Verdana" pitchFamily="34" charset="0"/>
                        <a:cs typeface="Verdana" pitchFamily="34" charset="0"/>
                      </a:endParaRPr>
                    </a:p>
                  </a:txBody>
                  <a:tcPr/>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Ends the current transaction and returns you the main SAP Easy Access Menu</a:t>
                      </a:r>
                      <a:endParaRPr lang="en-US" dirty="0">
                        <a:solidFill>
                          <a:schemeClr val="accent4">
                            <a:lumMod val="10000"/>
                          </a:schemeClr>
                        </a:solidFill>
                        <a:latin typeface="Verdana" pitchFamily="34" charset="0"/>
                        <a:ea typeface="Verdana" pitchFamily="34" charset="0"/>
                        <a:cs typeface="Verdana" pitchFamily="34" charset="0"/>
                      </a:endParaRPr>
                    </a:p>
                  </a:txBody>
                  <a:tcPr/>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“/n&lt;transaction code&gt;”</a:t>
                      </a:r>
                      <a:endParaRPr lang="en-US" b="1" dirty="0">
                        <a:solidFill>
                          <a:schemeClr val="accent4">
                            <a:lumMod val="10000"/>
                          </a:schemeClr>
                        </a:solidFill>
                        <a:latin typeface="Verdana" pitchFamily="34" charset="0"/>
                        <a:ea typeface="Verdana" pitchFamily="34" charset="0"/>
                        <a:cs typeface="Verdana" pitchFamily="34" charset="0"/>
                      </a:endParaRPr>
                    </a:p>
                  </a:txBody>
                  <a:tcPr/>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Ends</a:t>
                      </a:r>
                      <a:r>
                        <a:rPr lang="en-US" baseline="0" dirty="0" smtClean="0">
                          <a:solidFill>
                            <a:schemeClr val="accent4">
                              <a:lumMod val="10000"/>
                            </a:schemeClr>
                          </a:solidFill>
                          <a:latin typeface="Verdana" pitchFamily="34" charset="0"/>
                          <a:ea typeface="Verdana" pitchFamily="34" charset="0"/>
                          <a:cs typeface="Verdana" pitchFamily="34" charset="0"/>
                        </a:rPr>
                        <a:t> the current transaction and starts the new specified transaction</a:t>
                      </a:r>
                      <a:endParaRPr lang="en-US" dirty="0">
                        <a:solidFill>
                          <a:schemeClr val="accent4">
                            <a:lumMod val="10000"/>
                          </a:schemeClr>
                        </a:solidFill>
                        <a:latin typeface="Verdana" pitchFamily="34" charset="0"/>
                        <a:ea typeface="Verdana" pitchFamily="34" charset="0"/>
                        <a:cs typeface="Verdana" pitchFamily="34" charset="0"/>
                      </a:endParaRPr>
                    </a:p>
                  </a:txBody>
                  <a:tcPr/>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“/o”</a:t>
                      </a:r>
                      <a:endParaRPr lang="en-US" b="1" dirty="0">
                        <a:solidFill>
                          <a:schemeClr val="accent4">
                            <a:lumMod val="10000"/>
                          </a:schemeClr>
                        </a:solidFill>
                        <a:latin typeface="Verdana" pitchFamily="34" charset="0"/>
                        <a:ea typeface="Verdana" pitchFamily="34" charset="0"/>
                        <a:cs typeface="Verdana" pitchFamily="34" charset="0"/>
                      </a:endParaRPr>
                    </a:p>
                  </a:txBody>
                  <a:tcPr/>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Displays</a:t>
                      </a:r>
                      <a:r>
                        <a:rPr lang="en-US" baseline="0" dirty="0" smtClean="0">
                          <a:solidFill>
                            <a:schemeClr val="accent4">
                              <a:lumMod val="10000"/>
                            </a:schemeClr>
                          </a:solidFill>
                          <a:latin typeface="Verdana" pitchFamily="34" charset="0"/>
                          <a:ea typeface="Verdana" pitchFamily="34" charset="0"/>
                          <a:cs typeface="Verdana" pitchFamily="34" charset="0"/>
                        </a:rPr>
                        <a:t> an overview of the open sessions</a:t>
                      </a:r>
                      <a:endParaRPr lang="en-US" dirty="0">
                        <a:solidFill>
                          <a:schemeClr val="accent4">
                            <a:lumMod val="10000"/>
                          </a:schemeClr>
                        </a:solidFill>
                        <a:latin typeface="Verdana" pitchFamily="34" charset="0"/>
                        <a:ea typeface="Verdana" pitchFamily="34" charset="0"/>
                        <a:cs typeface="Verdana" pitchFamily="34" charset="0"/>
                      </a:endParaRPr>
                    </a:p>
                  </a:txBody>
                  <a:tcPr/>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“/o&lt;transaction code&gt;”</a:t>
                      </a:r>
                      <a:endParaRPr lang="en-US" b="1" dirty="0">
                        <a:solidFill>
                          <a:schemeClr val="accent4">
                            <a:lumMod val="10000"/>
                          </a:schemeClr>
                        </a:solidFill>
                        <a:latin typeface="Verdana" pitchFamily="34" charset="0"/>
                        <a:ea typeface="Verdana" pitchFamily="34" charset="0"/>
                        <a:cs typeface="Verdana" pitchFamily="34" charset="0"/>
                      </a:endParaRPr>
                    </a:p>
                  </a:txBody>
                  <a:tcPr/>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Starts a new session with the specified transaction while keeping the current session open</a:t>
                      </a:r>
                      <a:endParaRPr lang="en-US" dirty="0">
                        <a:solidFill>
                          <a:schemeClr val="accent4">
                            <a:lumMod val="10000"/>
                          </a:schemeClr>
                        </a:solidFill>
                        <a:latin typeface="Verdana" pitchFamily="34" charset="0"/>
                        <a:ea typeface="Verdana" pitchFamily="34" charset="0"/>
                        <a:cs typeface="Verdana" pitchFamily="34" charset="0"/>
                      </a:endParaRPr>
                    </a:p>
                  </a:txBody>
                  <a:tcPr/>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“/l”</a:t>
                      </a:r>
                      <a:endParaRPr lang="en-US" b="1" dirty="0">
                        <a:solidFill>
                          <a:schemeClr val="accent4">
                            <a:lumMod val="10000"/>
                          </a:schemeClr>
                        </a:solidFill>
                        <a:latin typeface="Verdana" pitchFamily="34" charset="0"/>
                        <a:ea typeface="Verdana" pitchFamily="34" charset="0"/>
                        <a:cs typeface="Verdana" pitchFamily="34" charset="0"/>
                      </a:endParaRPr>
                    </a:p>
                  </a:txBody>
                  <a:tcPr/>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Closes the active session</a:t>
                      </a:r>
                      <a:endParaRPr lang="en-US" dirty="0">
                        <a:solidFill>
                          <a:schemeClr val="accent4">
                            <a:lumMod val="10000"/>
                          </a:schemeClr>
                        </a:solidFill>
                        <a:latin typeface="Verdana" pitchFamily="34" charset="0"/>
                        <a:ea typeface="Verdana" pitchFamily="34" charset="0"/>
                        <a:cs typeface="Verdana" pitchFamily="34" charset="0"/>
                      </a:endParaRPr>
                    </a:p>
                  </a:txBody>
                  <a:tcPr/>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a:t>
                      </a:r>
                      <a:r>
                        <a:rPr lang="en-US" b="1" dirty="0" err="1" smtClean="0">
                          <a:solidFill>
                            <a:schemeClr val="accent4">
                              <a:lumMod val="10000"/>
                            </a:schemeClr>
                          </a:solidFill>
                          <a:latin typeface="Verdana" pitchFamily="34" charset="0"/>
                          <a:ea typeface="Verdana" pitchFamily="34" charset="0"/>
                          <a:cs typeface="Verdana" pitchFamily="34" charset="0"/>
                        </a:rPr>
                        <a:t>Nend</a:t>
                      </a:r>
                      <a:r>
                        <a:rPr lang="en-US" b="1" dirty="0" smtClean="0">
                          <a:solidFill>
                            <a:schemeClr val="accent4">
                              <a:lumMod val="10000"/>
                            </a:schemeClr>
                          </a:solidFill>
                          <a:latin typeface="Verdana" pitchFamily="34" charset="0"/>
                          <a:ea typeface="Verdana" pitchFamily="34" charset="0"/>
                          <a:cs typeface="Verdana" pitchFamily="34" charset="0"/>
                        </a:rPr>
                        <a:t>”</a:t>
                      </a:r>
                      <a:endParaRPr lang="en-US" b="1" dirty="0">
                        <a:solidFill>
                          <a:schemeClr val="accent4">
                            <a:lumMod val="10000"/>
                          </a:schemeClr>
                        </a:solidFill>
                        <a:latin typeface="Verdana" pitchFamily="34" charset="0"/>
                        <a:ea typeface="Verdana" pitchFamily="34" charset="0"/>
                        <a:cs typeface="Verdana" pitchFamily="34" charset="0"/>
                      </a:endParaRPr>
                    </a:p>
                  </a:txBody>
                  <a:tcPr/>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Ends the current transaction</a:t>
                      </a:r>
                      <a:r>
                        <a:rPr lang="en-US" baseline="0" dirty="0" smtClean="0">
                          <a:solidFill>
                            <a:schemeClr val="accent4">
                              <a:lumMod val="10000"/>
                            </a:schemeClr>
                          </a:solidFill>
                          <a:latin typeface="Verdana" pitchFamily="34" charset="0"/>
                          <a:ea typeface="Verdana" pitchFamily="34" charset="0"/>
                          <a:cs typeface="Verdana" pitchFamily="34" charset="0"/>
                        </a:rPr>
                        <a:t> and prompts you to log off of SAP</a:t>
                      </a:r>
                      <a:endParaRPr lang="en-US" dirty="0">
                        <a:solidFill>
                          <a:schemeClr val="accent4">
                            <a:lumMod val="10000"/>
                          </a:schemeClr>
                        </a:solidFill>
                        <a:latin typeface="Verdana" pitchFamily="34" charset="0"/>
                        <a:ea typeface="Verdana" pitchFamily="34" charset="0"/>
                        <a:cs typeface="Verdana" pitchFamily="34" charset="0"/>
                      </a:endParaRPr>
                    </a:p>
                  </a:txBody>
                  <a:tcPr/>
                </a:tc>
              </a:tr>
            </a:tbl>
          </a:graphicData>
        </a:graphic>
      </p:graphicFrame>
    </p:spTree>
    <p:extLst>
      <p:ext uri="{BB962C8B-B14F-4D97-AF65-F5344CB8AC3E}">
        <p14:creationId xmlns:p14="http://schemas.microsoft.com/office/powerpoint/2010/main" val="4122629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marL="2006600" indent="-2006600" defTabSz="687388"/>
            <a:r>
              <a:rPr lang="en-US" sz="1800" b="1" dirty="0"/>
              <a:t>Activity Name: </a:t>
            </a:r>
            <a:r>
              <a:rPr lang="en-US" sz="1800" dirty="0" smtClean="0"/>
              <a:t>Launch a transaction using various methods. Open a second session.</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57</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r>
              <a:rPr lang="en-US" b="1" dirty="0" smtClean="0"/>
              <a:t>Scenario:</a:t>
            </a:r>
          </a:p>
          <a:p>
            <a:r>
              <a:rPr lang="en-US" dirty="0" smtClean="0"/>
              <a:t>Launch a transaction:</a:t>
            </a:r>
          </a:p>
          <a:p>
            <a:r>
              <a:rPr lang="en-US" dirty="0" smtClean="0"/>
              <a:t>By menu path, by entering in command field, by using command code.</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b="1" dirty="0" smtClean="0"/>
              <a:t>Exercise: 2.3 Launch a Transaction</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Tree>
    <p:extLst>
      <p:ext uri="{BB962C8B-B14F-4D97-AF65-F5344CB8AC3E}">
        <p14:creationId xmlns:p14="http://schemas.microsoft.com/office/powerpoint/2010/main" val="1187688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How many SAP sessions can you have open at one time?</a:t>
            </a:r>
          </a:p>
          <a:p>
            <a:pPr marL="457200" indent="-457200">
              <a:buClrTx/>
              <a:buFont typeface="+mj-lt"/>
              <a:buAutoNum type="arabicPeriod"/>
            </a:pPr>
            <a:r>
              <a:rPr lang="en-US" dirty="0" smtClean="0"/>
              <a:t>What is the preferred maximum number of sessions to have open at one time?</a:t>
            </a:r>
          </a:p>
          <a:p>
            <a:pPr marL="457200" indent="-457200">
              <a:buClrTx/>
              <a:buFont typeface="+mj-lt"/>
              <a:buAutoNum type="arabicPeriod"/>
            </a:pPr>
            <a:r>
              <a:rPr lang="en-US" dirty="0" smtClean="0"/>
              <a:t>Explain the difference between a transaction code and a command code.</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59</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8312181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 – Extra Credit</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Identify the indicated parts of the screen.</a:t>
            </a:r>
            <a:endParaRPr lang="en-US" dirty="0"/>
          </a:p>
          <a:p>
            <a:endParaRPr lang="en-US" dirty="0"/>
          </a:p>
        </p:txBody>
      </p:sp>
      <p:pic>
        <p:nvPicPr>
          <p:cNvPr id="6" name="Picture 3" descr="sna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3028" y="1752600"/>
            <a:ext cx="5401580" cy="4051736"/>
          </a:xfrm>
          <a:prstGeom prst="rect">
            <a:avLst/>
          </a:prstGeom>
          <a:ln>
            <a:noFill/>
          </a:ln>
          <a:effectLst>
            <a:outerShdw blurRad="292100" dist="139700" dir="2700000" algn="tl" rotWithShape="0">
              <a:srgbClr val="333333">
                <a:alpha val="65000"/>
              </a:srgbClr>
            </a:outerShdw>
          </a:effectLst>
          <a:extLst>
            <a:ext uri="{91240B29-F687-4F45-9708-019B960494DF}">
              <a14:hiddenLine xmlns:a14="http://schemas.microsoft.com/office/drawing/2010/main" w="12700">
                <a:solidFill>
                  <a:srgbClr val="000000"/>
                </a:solidFill>
                <a:miter lim="800000"/>
                <a:headEnd/>
                <a:tailEnd/>
              </a14:hiddenLine>
            </a:ext>
          </a:extLst>
        </p:spPr>
      </p:pic>
      <p:cxnSp>
        <p:nvCxnSpPr>
          <p:cNvPr id="8" name="Straight Arrow Connector 7"/>
          <p:cNvCxnSpPr/>
          <p:nvPr/>
        </p:nvCxnSpPr>
        <p:spPr bwMode="auto">
          <a:xfrm>
            <a:off x="1447800" y="1981200"/>
            <a:ext cx="1755228" cy="0"/>
          </a:xfrm>
          <a:prstGeom prst="straightConnector1">
            <a:avLst/>
          </a:prstGeom>
          <a:solidFill>
            <a:schemeClr val="accent1"/>
          </a:solidFill>
          <a:ln w="19050" cap="flat" cmpd="sng" algn="ctr">
            <a:solidFill>
              <a:schemeClr val="accent4">
                <a:lumMod val="10000"/>
              </a:schemeClr>
            </a:solidFill>
            <a:prstDash val="solid"/>
            <a:round/>
            <a:headEnd type="none" w="med" len="med"/>
            <a:tailEnd type="arrow"/>
          </a:ln>
          <a:effectLst/>
        </p:spPr>
      </p:cxnSp>
      <p:sp>
        <p:nvSpPr>
          <p:cNvPr id="9" name="TextBox 8"/>
          <p:cNvSpPr txBox="1"/>
          <p:nvPr/>
        </p:nvSpPr>
        <p:spPr>
          <a:xfrm>
            <a:off x="1143000" y="1752600"/>
            <a:ext cx="457200" cy="369332"/>
          </a:xfrm>
          <a:prstGeom prst="rect">
            <a:avLst/>
          </a:prstGeom>
          <a:noFill/>
        </p:spPr>
        <p:txBody>
          <a:bodyPr wrap="square" rtlCol="0">
            <a:spAutoFit/>
          </a:bodyPr>
          <a:lstStyle/>
          <a:p>
            <a:r>
              <a:rPr lang="en-US" b="1" dirty="0">
                <a:solidFill>
                  <a:schemeClr val="accent4">
                    <a:lumMod val="10000"/>
                  </a:schemeClr>
                </a:solidFill>
                <a:latin typeface="Verdana" pitchFamily="34" charset="0"/>
                <a:ea typeface="Verdana" pitchFamily="34" charset="0"/>
                <a:cs typeface="Verdana" pitchFamily="34" charset="0"/>
              </a:rPr>
              <a:t>A</a:t>
            </a:r>
          </a:p>
        </p:txBody>
      </p:sp>
      <p:cxnSp>
        <p:nvCxnSpPr>
          <p:cNvPr id="10" name="Straight Arrow Connector 9"/>
          <p:cNvCxnSpPr/>
          <p:nvPr/>
        </p:nvCxnSpPr>
        <p:spPr bwMode="auto">
          <a:xfrm>
            <a:off x="1447800" y="2300298"/>
            <a:ext cx="1755228" cy="0"/>
          </a:xfrm>
          <a:prstGeom prst="straightConnector1">
            <a:avLst/>
          </a:prstGeom>
          <a:solidFill>
            <a:schemeClr val="accent1"/>
          </a:solidFill>
          <a:ln w="19050" cap="flat" cmpd="sng" algn="ctr">
            <a:solidFill>
              <a:schemeClr val="accent4">
                <a:lumMod val="10000"/>
              </a:schemeClr>
            </a:solidFill>
            <a:prstDash val="solid"/>
            <a:round/>
            <a:headEnd type="none" w="med" len="med"/>
            <a:tailEnd type="arrow"/>
          </a:ln>
          <a:effectLst/>
        </p:spPr>
      </p:cxnSp>
      <p:sp>
        <p:nvSpPr>
          <p:cNvPr id="11" name="TextBox 10"/>
          <p:cNvSpPr txBox="1"/>
          <p:nvPr/>
        </p:nvSpPr>
        <p:spPr>
          <a:xfrm>
            <a:off x="1143000" y="2071698"/>
            <a:ext cx="457200" cy="369332"/>
          </a:xfrm>
          <a:prstGeom prst="rect">
            <a:avLst/>
          </a:prstGeom>
          <a:noFill/>
        </p:spPr>
        <p:txBody>
          <a:bodyPr wrap="square" rtlCol="0">
            <a:spAutoFit/>
          </a:bodyPr>
          <a:lstStyle/>
          <a:p>
            <a:r>
              <a:rPr lang="en-US" b="1" dirty="0" smtClean="0">
                <a:solidFill>
                  <a:schemeClr val="accent4">
                    <a:lumMod val="10000"/>
                  </a:schemeClr>
                </a:solidFill>
                <a:latin typeface="Verdana" pitchFamily="34" charset="0"/>
                <a:ea typeface="Verdana" pitchFamily="34" charset="0"/>
                <a:cs typeface="Verdana" pitchFamily="34" charset="0"/>
              </a:rPr>
              <a:t>B</a:t>
            </a:r>
            <a:endParaRPr lang="en-US" b="1" dirty="0">
              <a:solidFill>
                <a:schemeClr val="accent4">
                  <a:lumMod val="10000"/>
                </a:schemeClr>
              </a:solidFill>
              <a:latin typeface="Verdana" pitchFamily="34" charset="0"/>
              <a:ea typeface="Verdana" pitchFamily="34" charset="0"/>
              <a:cs typeface="Verdana" pitchFamily="34" charset="0"/>
            </a:endParaRPr>
          </a:p>
        </p:txBody>
      </p:sp>
      <p:cxnSp>
        <p:nvCxnSpPr>
          <p:cNvPr id="12" name="Straight Arrow Connector 11"/>
          <p:cNvCxnSpPr/>
          <p:nvPr/>
        </p:nvCxnSpPr>
        <p:spPr bwMode="auto">
          <a:xfrm>
            <a:off x="1447800" y="3288268"/>
            <a:ext cx="1755228" cy="0"/>
          </a:xfrm>
          <a:prstGeom prst="straightConnector1">
            <a:avLst/>
          </a:prstGeom>
          <a:solidFill>
            <a:schemeClr val="accent1"/>
          </a:solidFill>
          <a:ln w="19050" cap="flat" cmpd="sng" algn="ctr">
            <a:solidFill>
              <a:schemeClr val="accent4">
                <a:lumMod val="10000"/>
              </a:schemeClr>
            </a:solidFill>
            <a:prstDash val="solid"/>
            <a:round/>
            <a:headEnd type="none" w="med" len="med"/>
            <a:tailEnd type="arrow"/>
          </a:ln>
          <a:effectLst/>
        </p:spPr>
      </p:cxnSp>
      <p:sp>
        <p:nvSpPr>
          <p:cNvPr id="13" name="TextBox 12"/>
          <p:cNvSpPr txBox="1"/>
          <p:nvPr/>
        </p:nvSpPr>
        <p:spPr>
          <a:xfrm>
            <a:off x="1143000" y="3059668"/>
            <a:ext cx="457200" cy="369332"/>
          </a:xfrm>
          <a:prstGeom prst="rect">
            <a:avLst/>
          </a:prstGeom>
          <a:noFill/>
        </p:spPr>
        <p:txBody>
          <a:bodyPr wrap="square" rtlCol="0">
            <a:spAutoFit/>
          </a:bodyPr>
          <a:lstStyle/>
          <a:p>
            <a:r>
              <a:rPr lang="en-US" b="1" dirty="0" smtClean="0">
                <a:solidFill>
                  <a:schemeClr val="accent4">
                    <a:lumMod val="10000"/>
                  </a:schemeClr>
                </a:solidFill>
                <a:latin typeface="Verdana" pitchFamily="34" charset="0"/>
                <a:ea typeface="Verdana" pitchFamily="34" charset="0"/>
                <a:cs typeface="Verdana" pitchFamily="34" charset="0"/>
              </a:rPr>
              <a:t>C</a:t>
            </a:r>
            <a:endParaRPr lang="en-US" b="1" dirty="0">
              <a:solidFill>
                <a:schemeClr val="accent4">
                  <a:lumMod val="10000"/>
                </a:schemeClr>
              </a:solidFill>
              <a:latin typeface="Verdana" pitchFamily="34" charset="0"/>
              <a:ea typeface="Verdana" pitchFamily="34" charset="0"/>
              <a:cs typeface="Verdana" pitchFamily="34" charset="0"/>
            </a:endParaRPr>
          </a:p>
        </p:txBody>
      </p:sp>
      <p:cxnSp>
        <p:nvCxnSpPr>
          <p:cNvPr id="14" name="Straight Arrow Connector 13"/>
          <p:cNvCxnSpPr/>
          <p:nvPr/>
        </p:nvCxnSpPr>
        <p:spPr bwMode="auto">
          <a:xfrm>
            <a:off x="1447800" y="5715000"/>
            <a:ext cx="1755228" cy="0"/>
          </a:xfrm>
          <a:prstGeom prst="straightConnector1">
            <a:avLst/>
          </a:prstGeom>
          <a:solidFill>
            <a:schemeClr val="accent1"/>
          </a:solidFill>
          <a:ln w="19050" cap="flat" cmpd="sng" algn="ctr">
            <a:solidFill>
              <a:schemeClr val="accent4">
                <a:lumMod val="10000"/>
              </a:schemeClr>
            </a:solidFill>
            <a:prstDash val="solid"/>
            <a:round/>
            <a:headEnd type="none" w="med" len="med"/>
            <a:tailEnd type="arrow"/>
          </a:ln>
          <a:effectLst/>
        </p:spPr>
      </p:cxnSp>
      <p:sp>
        <p:nvSpPr>
          <p:cNvPr id="15" name="TextBox 14"/>
          <p:cNvSpPr txBox="1"/>
          <p:nvPr/>
        </p:nvSpPr>
        <p:spPr>
          <a:xfrm>
            <a:off x="1143000" y="5486400"/>
            <a:ext cx="457200" cy="369332"/>
          </a:xfrm>
          <a:prstGeom prst="rect">
            <a:avLst/>
          </a:prstGeom>
          <a:noFill/>
        </p:spPr>
        <p:txBody>
          <a:bodyPr wrap="square" rtlCol="0">
            <a:spAutoFit/>
          </a:bodyPr>
          <a:lstStyle/>
          <a:p>
            <a:r>
              <a:rPr lang="en-US" b="1" dirty="0" smtClean="0">
                <a:solidFill>
                  <a:schemeClr val="accent4">
                    <a:lumMod val="10000"/>
                  </a:schemeClr>
                </a:solidFill>
                <a:latin typeface="Verdana" pitchFamily="34" charset="0"/>
                <a:ea typeface="Verdana" pitchFamily="34" charset="0"/>
                <a:cs typeface="Verdana" pitchFamily="34" charset="0"/>
              </a:rPr>
              <a:t>D</a:t>
            </a:r>
            <a:endParaRPr lang="en-US" b="1" dirty="0">
              <a:solidFill>
                <a:schemeClr val="accent4">
                  <a:lumMod val="10000"/>
                </a:schemeClr>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17948490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Box 4"/>
          <p:cNvSpPr txBox="1">
            <a:spLocks noChangeArrowheads="1"/>
          </p:cNvSpPr>
          <p:nvPr/>
        </p:nvSpPr>
        <p:spPr bwMode="auto">
          <a:xfrm>
            <a:off x="2084388" y="5597525"/>
            <a:ext cx="7288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dirty="0"/>
              <a:t>What other questions do you have?</a:t>
            </a:r>
          </a:p>
        </p:txBody>
      </p:sp>
      <p:pic>
        <p:nvPicPr>
          <p:cNvPr id="7" name="Picture 3" descr="C:\Users\namudaliar\Documents\Narayanan\Ball Corp\Images\shutterstock_49142218.jpg"/>
          <p:cNvPicPr>
            <a:picLocks noChangeAspect="1" noChangeArrowheads="1"/>
          </p:cNvPicPr>
          <p:nvPr/>
        </p:nvPicPr>
        <p:blipFill>
          <a:blip r:embed="rId2" cstate="print"/>
          <a:srcRect/>
          <a:stretch>
            <a:fillRect/>
          </a:stretch>
        </p:blipFill>
        <p:spPr bwMode="auto">
          <a:xfrm>
            <a:off x="2069686" y="1268361"/>
            <a:ext cx="5045669" cy="4420215"/>
          </a:xfrm>
          <a:prstGeom prst="rect">
            <a:avLst/>
          </a:prstGeom>
          <a:noFill/>
        </p:spPr>
      </p:pic>
      <p:sp>
        <p:nvSpPr>
          <p:cNvPr id="5"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4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Questions</a:t>
            </a:r>
            <a:endParaRPr lang="en-US" dirty="0"/>
          </a:p>
        </p:txBody>
      </p:sp>
    </p:spTree>
    <p:extLst>
      <p:ext uri="{BB962C8B-B14F-4D97-AF65-F5344CB8AC3E}">
        <p14:creationId xmlns:p14="http://schemas.microsoft.com/office/powerpoint/2010/main" val="23625031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276945" y="3465542"/>
            <a:ext cx="3780503" cy="2835377"/>
          </a:xfrm>
          <a:prstGeom prst="rect">
            <a:avLst/>
          </a:prstGeom>
          <a:noFill/>
        </p:spPr>
      </p:pic>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smtClean="0"/>
              <a:t>Having completed this </a:t>
            </a:r>
            <a:r>
              <a:rPr lang="en-US" dirty="0"/>
              <a:t>module, you should be able to:</a:t>
            </a:r>
          </a:p>
          <a:p>
            <a:pPr marL="342900" indent="-342900">
              <a:buFont typeface="Arial" pitchFamily="34" charset="0"/>
              <a:buChar char="•"/>
            </a:pPr>
            <a:r>
              <a:rPr lang="en-US" dirty="0"/>
              <a:t>Log on to SAP ECC</a:t>
            </a:r>
          </a:p>
          <a:p>
            <a:pPr marL="342900" indent="-342900">
              <a:buFont typeface="Arial" pitchFamily="34" charset="0"/>
              <a:buChar char="•"/>
            </a:pPr>
            <a:r>
              <a:rPr lang="en-US" dirty="0"/>
              <a:t>Recognize typical ECC screen features</a:t>
            </a:r>
          </a:p>
          <a:p>
            <a:pPr marL="342900" indent="-342900">
              <a:buFont typeface="Arial" pitchFamily="34" charset="0"/>
              <a:buChar char="•"/>
            </a:pPr>
            <a:r>
              <a:rPr lang="en-US" dirty="0"/>
              <a:t>Recognize standard SAP buttons and icons</a:t>
            </a:r>
          </a:p>
          <a:p>
            <a:pPr marL="342900" indent="-342900">
              <a:buFont typeface="Arial" pitchFamily="34" charset="0"/>
              <a:buChar char="•"/>
            </a:pPr>
            <a:r>
              <a:rPr lang="en-US" dirty="0"/>
              <a:t>Differentiate between the SAP content menus</a:t>
            </a:r>
          </a:p>
          <a:p>
            <a:pPr marL="342900" indent="-342900">
              <a:buFont typeface="Arial" pitchFamily="34" charset="0"/>
              <a:buChar char="•"/>
            </a:pPr>
            <a:r>
              <a:rPr lang="en-US" dirty="0"/>
              <a:t>List and use the navigation methods to initiate a transaction in the SAP ECC system</a:t>
            </a:r>
          </a:p>
          <a:p>
            <a:pPr marL="342900" indent="-342900">
              <a:buFont typeface="Arial" pitchFamily="34" charset="0"/>
              <a:buChar char="•"/>
            </a:pPr>
            <a:r>
              <a:rPr lang="en-US" dirty="0"/>
              <a:t>Create and organize a Favorites folder</a:t>
            </a:r>
          </a:p>
          <a:p>
            <a:endParaRPr lang="en-US" dirty="0" smtClean="0"/>
          </a:p>
          <a:p>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62</a:t>
            </a:fld>
            <a:endParaRPr lang="en-US" dirty="0">
              <a:solidFill>
                <a:schemeClr val="bg2"/>
              </a:solidFill>
            </a:endParaRPr>
          </a:p>
        </p:txBody>
      </p:sp>
    </p:spTree>
    <p:extLst>
      <p:ext uri="{BB962C8B-B14F-4D97-AF65-F5344CB8AC3E}">
        <p14:creationId xmlns:p14="http://schemas.microsoft.com/office/powerpoint/2010/main" val="967332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Navigating in SAP ECC</a:t>
            </a:r>
            <a:endParaRPr lang="en-US" dirty="0"/>
          </a:p>
        </p:txBody>
      </p:sp>
      <p:sp>
        <p:nvSpPr>
          <p:cNvPr id="3" name="Text Placeholder 2"/>
          <p:cNvSpPr>
            <a:spLocks noGrp="1"/>
          </p:cNvSpPr>
          <p:nvPr>
            <p:ph type="body" idx="1"/>
          </p:nvPr>
        </p:nvSpPr>
        <p:spPr/>
        <p:txBody>
          <a:bodyPr/>
          <a:lstStyle/>
          <a:p>
            <a:r>
              <a:rPr lang="en-US" dirty="0" smtClean="0"/>
              <a:t>Module 3</a:t>
            </a:r>
            <a:endParaRPr lang="en-US" dirty="0"/>
          </a:p>
        </p:txBody>
      </p:sp>
    </p:spTree>
    <p:extLst>
      <p:ext uri="{BB962C8B-B14F-4D97-AF65-F5344CB8AC3E}">
        <p14:creationId xmlns:p14="http://schemas.microsoft.com/office/powerpoint/2010/main" val="33042549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4" name="Content Placeholder 3"/>
          <p:cNvSpPr>
            <a:spLocks noGrp="1"/>
          </p:cNvSpPr>
          <p:nvPr>
            <p:ph idx="1"/>
          </p:nvPr>
        </p:nvSpPr>
        <p:spPr/>
        <p:txBody>
          <a:bodyPr/>
          <a:lstStyle/>
          <a:p>
            <a:r>
              <a:rPr lang="en-US" dirty="0" smtClean="0"/>
              <a:t>Upon completion of this module, you should be able to:</a:t>
            </a:r>
          </a:p>
          <a:p>
            <a:pPr marL="342900" indent="-342900">
              <a:buFont typeface="Arial" pitchFamily="34" charset="0"/>
              <a:buChar char="•"/>
            </a:pPr>
            <a:r>
              <a:rPr lang="en-US" dirty="0" smtClean="0"/>
              <a:t>List the steps involved in processing a transaction</a:t>
            </a:r>
          </a:p>
          <a:p>
            <a:pPr marL="342900" indent="-342900">
              <a:buFont typeface="Arial" pitchFamily="34" charset="0"/>
              <a:buChar char="•"/>
            </a:pPr>
            <a:r>
              <a:rPr lang="en-US" dirty="0" smtClean="0"/>
              <a:t>Explain the different types of fields in SAP</a:t>
            </a:r>
          </a:p>
          <a:p>
            <a:pPr marL="342900" indent="-342900">
              <a:buFont typeface="Arial" pitchFamily="34" charset="0"/>
              <a:buChar char="•"/>
            </a:pPr>
            <a:r>
              <a:rPr lang="en-US" dirty="0" smtClean="0"/>
              <a:t>Enter data in fields</a:t>
            </a:r>
          </a:p>
          <a:p>
            <a:pPr marL="342900" indent="-342900">
              <a:buFont typeface="Arial" pitchFamily="34" charset="0"/>
              <a:buChar char="•"/>
            </a:pPr>
            <a:r>
              <a:rPr lang="en-US" dirty="0" smtClean="0"/>
              <a:t>Search for data using matchcodes</a:t>
            </a:r>
          </a:p>
          <a:p>
            <a:pPr marL="342900" indent="-342900">
              <a:buFont typeface="Arial" pitchFamily="34" charset="0"/>
              <a:buChar char="•"/>
            </a:pPr>
            <a:r>
              <a:rPr lang="en-US" dirty="0" smtClean="0"/>
              <a:t>Recognize SAP search screen features</a:t>
            </a:r>
          </a:p>
          <a:p>
            <a:pPr marL="342900" indent="-342900">
              <a:buFont typeface="Arial" pitchFamily="34" charset="0"/>
              <a:buChar char="•"/>
            </a:pPr>
            <a:r>
              <a:rPr lang="en-US" dirty="0" smtClean="0"/>
              <a:t>Explain when and how to use the search functionality</a:t>
            </a:r>
          </a:p>
          <a:p>
            <a:pPr marL="342900" indent="-342900">
              <a:buFont typeface="Arial" pitchFamily="34" charset="0"/>
              <a:buChar char="•"/>
            </a:pPr>
            <a:r>
              <a:rPr lang="en-US" dirty="0" smtClean="0"/>
              <a:t>Interpret system messages</a:t>
            </a:r>
            <a:endParaRPr lang="en-US" dirty="0"/>
          </a:p>
        </p:txBody>
      </p:sp>
      <p:pic>
        <p:nvPicPr>
          <p:cNvPr id="5" name="Picture 2" descr="C:\Users\namudaliar\Documents\Narayanan\Ball Corp\Images\shutterstock_54581515.jpg"/>
          <p:cNvPicPr>
            <a:picLocks noChangeAspect="1" noChangeArrowheads="1"/>
          </p:cNvPicPr>
          <p:nvPr/>
        </p:nvPicPr>
        <p:blipFill>
          <a:blip r:embed="rId3" cstate="print"/>
          <a:srcRect/>
          <a:stretch>
            <a:fillRect/>
          </a:stretch>
        </p:blipFill>
        <p:spPr bwMode="auto">
          <a:xfrm>
            <a:off x="6651519" y="3733800"/>
            <a:ext cx="2286000" cy="3048000"/>
          </a:xfrm>
          <a:prstGeom prst="rect">
            <a:avLst/>
          </a:prstGeom>
          <a:noFill/>
        </p:spPr>
      </p:pic>
    </p:spTree>
    <p:extLst>
      <p:ext uri="{BB962C8B-B14F-4D97-AF65-F5344CB8AC3E}">
        <p14:creationId xmlns:p14="http://schemas.microsoft.com/office/powerpoint/2010/main" val="16484127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Entering Transactional Data</a:t>
            </a:r>
            <a:endParaRPr lang="en-US" dirty="0"/>
          </a:p>
        </p:txBody>
      </p:sp>
      <p:sp>
        <p:nvSpPr>
          <p:cNvPr id="3" name="Content Placeholder 2"/>
          <p:cNvSpPr>
            <a:spLocks noGrp="1"/>
          </p:cNvSpPr>
          <p:nvPr>
            <p:ph idx="1"/>
          </p:nvPr>
        </p:nvSpPr>
        <p:spPr>
          <a:xfrm>
            <a:off x="301625" y="990601"/>
            <a:ext cx="8537575" cy="762000"/>
          </a:xfrm>
        </p:spPr>
        <p:txBody>
          <a:bodyPr/>
          <a:lstStyle/>
          <a:p>
            <a:r>
              <a:rPr lang="en-US" dirty="0"/>
              <a:t>The data needed to process a transaction may be required, optional or display </a:t>
            </a:r>
            <a:r>
              <a:rPr lang="en-US" dirty="0" smtClean="0"/>
              <a:t>only.</a:t>
            </a:r>
            <a:endParaRPr lang="en-US" dirty="0"/>
          </a:p>
        </p:txBody>
      </p:sp>
      <p:grpSp>
        <p:nvGrpSpPr>
          <p:cNvPr id="4" name="Group 9"/>
          <p:cNvGrpSpPr>
            <a:grpSpLocks/>
          </p:cNvGrpSpPr>
          <p:nvPr/>
        </p:nvGrpSpPr>
        <p:grpSpPr bwMode="auto">
          <a:xfrm>
            <a:off x="2730500" y="3365500"/>
            <a:ext cx="5588000" cy="1892300"/>
            <a:chOff x="960" y="1976"/>
            <a:chExt cx="3520" cy="1192"/>
          </a:xfrm>
        </p:grpSpPr>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l="18437" t="26042" r="35938" b="54688"/>
            <a:stretch>
              <a:fillRect/>
            </a:stretch>
          </p:blipFill>
          <p:spPr bwMode="auto">
            <a:xfrm>
              <a:off x="976" y="1976"/>
              <a:ext cx="3504" cy="118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6" name="Rectangle 8"/>
            <p:cNvSpPr>
              <a:spLocks noChangeArrowheads="1"/>
            </p:cNvSpPr>
            <p:nvPr/>
          </p:nvSpPr>
          <p:spPr bwMode="auto">
            <a:xfrm>
              <a:off x="960" y="1992"/>
              <a:ext cx="3512" cy="1176"/>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 name="AutoShape 13"/>
          <p:cNvSpPr>
            <a:spLocks noChangeArrowheads="1"/>
          </p:cNvSpPr>
          <p:nvPr/>
        </p:nvSpPr>
        <p:spPr bwMode="auto">
          <a:xfrm>
            <a:off x="317500" y="1981200"/>
            <a:ext cx="2222500" cy="4483100"/>
          </a:xfrm>
          <a:prstGeom prst="wedgeRectCallout">
            <a:avLst>
              <a:gd name="adj1" fmla="val 111722"/>
              <a:gd name="adj2" fmla="val -2444"/>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400" dirty="0">
                <a:solidFill>
                  <a:srgbClr val="000000"/>
                </a:solidFill>
                <a:latin typeface="Arial" pitchFamily="34" charset="0"/>
                <a:ea typeface="Verdana" pitchFamily="34" charset="0"/>
                <a:cs typeface="Arial" pitchFamily="34" charset="0"/>
              </a:rPr>
              <a:t>The checkmark indicates that this field is required.</a:t>
            </a:r>
          </a:p>
          <a:p>
            <a:pPr defTabSz="954088">
              <a:spcAft>
                <a:spcPts val="600"/>
              </a:spcAft>
            </a:pPr>
            <a:r>
              <a:rPr lang="en-US" sz="1400" dirty="0">
                <a:solidFill>
                  <a:srgbClr val="000000"/>
                </a:solidFill>
                <a:latin typeface="Arial" pitchFamily="34" charset="0"/>
                <a:ea typeface="Verdana" pitchFamily="34" charset="0"/>
                <a:cs typeface="Arial" pitchFamily="34" charset="0"/>
              </a:rPr>
              <a:t>If you do not enter information in a required field, SAP will prompt you with an error message. </a:t>
            </a:r>
          </a:p>
          <a:p>
            <a:pPr defTabSz="954088">
              <a:spcAft>
                <a:spcPts val="600"/>
              </a:spcAft>
            </a:pPr>
            <a:r>
              <a:rPr lang="en-US" sz="1400" dirty="0">
                <a:solidFill>
                  <a:srgbClr val="000000"/>
                </a:solidFill>
                <a:latin typeface="Arial" pitchFamily="34" charset="0"/>
                <a:ea typeface="Verdana" pitchFamily="34" charset="0"/>
                <a:cs typeface="Arial" pitchFamily="34" charset="0"/>
              </a:rPr>
              <a:t>If a screen does not have any required fields, you can go to the next screen without entering data. </a:t>
            </a:r>
          </a:p>
          <a:p>
            <a:pPr defTabSz="954088">
              <a:spcAft>
                <a:spcPts val="600"/>
              </a:spcAft>
            </a:pPr>
            <a:r>
              <a:rPr lang="en-US" sz="1400" dirty="0">
                <a:solidFill>
                  <a:srgbClr val="000000"/>
                </a:solidFill>
                <a:latin typeface="Arial" pitchFamily="34" charset="0"/>
                <a:ea typeface="Verdana" pitchFamily="34" charset="0"/>
                <a:cs typeface="Arial" pitchFamily="34" charset="0"/>
              </a:rPr>
              <a:t>Some screens, however, have required fields that are not marked. These fields are called conditional fields because whether they are required or not is conditional upon how other fields or options are filled out.</a:t>
            </a:r>
          </a:p>
        </p:txBody>
      </p:sp>
      <p:grpSp>
        <p:nvGrpSpPr>
          <p:cNvPr id="8" name="Group 14"/>
          <p:cNvGrpSpPr>
            <a:grpSpLocks/>
          </p:cNvGrpSpPr>
          <p:nvPr/>
        </p:nvGrpSpPr>
        <p:grpSpPr bwMode="auto">
          <a:xfrm>
            <a:off x="7353300" y="3987800"/>
            <a:ext cx="228600" cy="203200"/>
            <a:chOff x="3712" y="1000"/>
            <a:chExt cx="192" cy="216"/>
          </a:xfrm>
        </p:grpSpPr>
        <p:pic>
          <p:nvPicPr>
            <p:cNvPr id="9" name="Picture 15"/>
            <p:cNvPicPr>
              <a:picLocks noChangeAspect="1" noChangeArrowheads="1"/>
            </p:cNvPicPr>
            <p:nvPr/>
          </p:nvPicPr>
          <p:blipFill>
            <a:blip r:embed="rId4">
              <a:extLst>
                <a:ext uri="{28A0092B-C50C-407E-A947-70E740481C1C}">
                  <a14:useLocalDpi xmlns:a14="http://schemas.microsoft.com/office/drawing/2010/main" val="0"/>
                </a:ext>
              </a:extLst>
            </a:blip>
            <a:srcRect l="43410" t="34282" r="54950" b="63998"/>
            <a:stretch>
              <a:fillRect/>
            </a:stretch>
          </p:blipFill>
          <p:spPr bwMode="auto">
            <a:xfrm>
              <a:off x="3722" y="1008"/>
              <a:ext cx="182"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16"/>
            <p:cNvSpPr>
              <a:spLocks noChangeArrowheads="1"/>
            </p:cNvSpPr>
            <p:nvPr/>
          </p:nvSpPr>
          <p:spPr bwMode="auto">
            <a:xfrm>
              <a:off x="3712" y="1000"/>
              <a:ext cx="176" cy="216"/>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388054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Entering Transactional Data</a:t>
            </a:r>
            <a:endParaRPr lang="en-US" dirty="0"/>
          </a:p>
        </p:txBody>
      </p:sp>
      <p:sp>
        <p:nvSpPr>
          <p:cNvPr id="3" name="Content Placeholder 2"/>
          <p:cNvSpPr>
            <a:spLocks noGrp="1"/>
          </p:cNvSpPr>
          <p:nvPr>
            <p:ph idx="1"/>
          </p:nvPr>
        </p:nvSpPr>
        <p:spPr>
          <a:xfrm>
            <a:off x="301625" y="990601"/>
            <a:ext cx="8537575" cy="762000"/>
          </a:xfrm>
        </p:spPr>
        <p:txBody>
          <a:bodyPr/>
          <a:lstStyle/>
          <a:p>
            <a:r>
              <a:rPr lang="en-US" dirty="0"/>
              <a:t>The data needed to process a transaction may be required, optional or display </a:t>
            </a:r>
            <a:r>
              <a:rPr lang="en-US" dirty="0" smtClean="0"/>
              <a:t>only.</a:t>
            </a:r>
            <a:endParaRPr lang="en-US" dirty="0"/>
          </a:p>
        </p:txBody>
      </p:sp>
      <p:grpSp>
        <p:nvGrpSpPr>
          <p:cNvPr id="4" name="Group 9"/>
          <p:cNvGrpSpPr>
            <a:grpSpLocks/>
          </p:cNvGrpSpPr>
          <p:nvPr/>
        </p:nvGrpSpPr>
        <p:grpSpPr bwMode="auto">
          <a:xfrm>
            <a:off x="2730500" y="3365500"/>
            <a:ext cx="5588000" cy="1892300"/>
            <a:chOff x="960" y="1976"/>
            <a:chExt cx="3520" cy="1192"/>
          </a:xfrm>
        </p:grpSpPr>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l="18437" t="26042" r="35938" b="54688"/>
            <a:stretch>
              <a:fillRect/>
            </a:stretch>
          </p:blipFill>
          <p:spPr bwMode="auto">
            <a:xfrm>
              <a:off x="976" y="1976"/>
              <a:ext cx="3504" cy="118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6" name="Rectangle 8"/>
            <p:cNvSpPr>
              <a:spLocks noChangeArrowheads="1"/>
            </p:cNvSpPr>
            <p:nvPr/>
          </p:nvSpPr>
          <p:spPr bwMode="auto">
            <a:xfrm>
              <a:off x="960" y="1992"/>
              <a:ext cx="3512" cy="1176"/>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 name="Group 14"/>
          <p:cNvGrpSpPr>
            <a:grpSpLocks/>
          </p:cNvGrpSpPr>
          <p:nvPr/>
        </p:nvGrpSpPr>
        <p:grpSpPr bwMode="auto">
          <a:xfrm>
            <a:off x="7353300" y="3987800"/>
            <a:ext cx="228600" cy="203200"/>
            <a:chOff x="3712" y="1000"/>
            <a:chExt cx="192" cy="216"/>
          </a:xfrm>
        </p:grpSpPr>
        <p:pic>
          <p:nvPicPr>
            <p:cNvPr id="9" name="Picture 15"/>
            <p:cNvPicPr>
              <a:picLocks noChangeAspect="1" noChangeArrowheads="1"/>
            </p:cNvPicPr>
            <p:nvPr/>
          </p:nvPicPr>
          <p:blipFill>
            <a:blip r:embed="rId4">
              <a:extLst>
                <a:ext uri="{28A0092B-C50C-407E-A947-70E740481C1C}">
                  <a14:useLocalDpi xmlns:a14="http://schemas.microsoft.com/office/drawing/2010/main" val="0"/>
                </a:ext>
              </a:extLst>
            </a:blip>
            <a:srcRect l="43410" t="34282" r="54950" b="63998"/>
            <a:stretch>
              <a:fillRect/>
            </a:stretch>
          </p:blipFill>
          <p:spPr bwMode="auto">
            <a:xfrm>
              <a:off x="3722" y="1008"/>
              <a:ext cx="182"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16"/>
            <p:cNvSpPr>
              <a:spLocks noChangeArrowheads="1"/>
            </p:cNvSpPr>
            <p:nvPr/>
          </p:nvSpPr>
          <p:spPr bwMode="auto">
            <a:xfrm>
              <a:off x="3712" y="1000"/>
              <a:ext cx="176" cy="216"/>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 name="AutoShape 17"/>
          <p:cNvSpPr>
            <a:spLocks noChangeArrowheads="1"/>
          </p:cNvSpPr>
          <p:nvPr/>
        </p:nvSpPr>
        <p:spPr bwMode="auto">
          <a:xfrm>
            <a:off x="6223000" y="1828800"/>
            <a:ext cx="2476500" cy="1803400"/>
          </a:xfrm>
          <a:prstGeom prst="wedgeRectCallout">
            <a:avLst>
              <a:gd name="adj1" fmla="val 4681"/>
              <a:gd name="adj2" fmla="val 75986"/>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400" dirty="0">
                <a:solidFill>
                  <a:srgbClr val="000000"/>
                </a:solidFill>
                <a:latin typeface="Arial" pitchFamily="34" charset="0"/>
                <a:ea typeface="Verdana" pitchFamily="34" charset="0"/>
                <a:cs typeface="Arial" pitchFamily="34" charset="0"/>
              </a:rPr>
              <a:t>Certain fields have additional search functionality, referred to as a matchcode. </a:t>
            </a:r>
          </a:p>
          <a:p>
            <a:pPr defTabSz="954088">
              <a:spcAft>
                <a:spcPts val="600"/>
              </a:spcAft>
            </a:pPr>
            <a:r>
              <a:rPr lang="en-US" sz="1400" dirty="0">
                <a:solidFill>
                  <a:srgbClr val="000000"/>
                </a:solidFill>
                <a:latin typeface="Arial" pitchFamily="34" charset="0"/>
                <a:ea typeface="Verdana" pitchFamily="34" charset="0"/>
                <a:cs typeface="Arial" pitchFamily="34" charset="0"/>
              </a:rPr>
              <a:t>Fields with a matchcode are easily identifiable. Click in the field to see if the matchcode symbol appears.</a:t>
            </a:r>
          </a:p>
        </p:txBody>
      </p:sp>
    </p:spTree>
    <p:extLst>
      <p:ext uri="{BB962C8B-B14F-4D97-AF65-F5344CB8AC3E}">
        <p14:creationId xmlns:p14="http://schemas.microsoft.com/office/powerpoint/2010/main" val="31496837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Entering Transactional Data</a:t>
            </a:r>
            <a:endParaRPr lang="en-US" dirty="0"/>
          </a:p>
        </p:txBody>
      </p:sp>
      <p:sp>
        <p:nvSpPr>
          <p:cNvPr id="3" name="Content Placeholder 2"/>
          <p:cNvSpPr>
            <a:spLocks noGrp="1"/>
          </p:cNvSpPr>
          <p:nvPr>
            <p:ph idx="1"/>
          </p:nvPr>
        </p:nvSpPr>
        <p:spPr>
          <a:xfrm>
            <a:off x="301625" y="990601"/>
            <a:ext cx="8537575" cy="762000"/>
          </a:xfrm>
        </p:spPr>
        <p:txBody>
          <a:bodyPr/>
          <a:lstStyle/>
          <a:p>
            <a:r>
              <a:rPr lang="en-US" dirty="0"/>
              <a:t>The data needed to process a transaction may be required, optional or display </a:t>
            </a:r>
            <a:r>
              <a:rPr lang="en-US" dirty="0" smtClean="0"/>
              <a:t>only.</a:t>
            </a:r>
            <a:endParaRPr lang="en-US" dirty="0"/>
          </a:p>
        </p:txBody>
      </p:sp>
      <p:grpSp>
        <p:nvGrpSpPr>
          <p:cNvPr id="4" name="Group 9"/>
          <p:cNvGrpSpPr>
            <a:grpSpLocks/>
          </p:cNvGrpSpPr>
          <p:nvPr/>
        </p:nvGrpSpPr>
        <p:grpSpPr bwMode="auto">
          <a:xfrm>
            <a:off x="2730500" y="3365500"/>
            <a:ext cx="5588000" cy="1892300"/>
            <a:chOff x="960" y="1976"/>
            <a:chExt cx="3520" cy="1192"/>
          </a:xfrm>
        </p:grpSpPr>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l="18437" t="26042" r="35938" b="54688"/>
            <a:stretch>
              <a:fillRect/>
            </a:stretch>
          </p:blipFill>
          <p:spPr bwMode="auto">
            <a:xfrm>
              <a:off x="976" y="1976"/>
              <a:ext cx="3504" cy="118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6" name="Rectangle 8"/>
            <p:cNvSpPr>
              <a:spLocks noChangeArrowheads="1"/>
            </p:cNvSpPr>
            <p:nvPr/>
          </p:nvSpPr>
          <p:spPr bwMode="auto">
            <a:xfrm>
              <a:off x="960" y="1992"/>
              <a:ext cx="3512" cy="1176"/>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 name="Group 14"/>
          <p:cNvGrpSpPr>
            <a:grpSpLocks/>
          </p:cNvGrpSpPr>
          <p:nvPr/>
        </p:nvGrpSpPr>
        <p:grpSpPr bwMode="auto">
          <a:xfrm>
            <a:off x="7353300" y="3987800"/>
            <a:ext cx="228600" cy="203200"/>
            <a:chOff x="3712" y="1000"/>
            <a:chExt cx="192" cy="216"/>
          </a:xfrm>
        </p:grpSpPr>
        <p:pic>
          <p:nvPicPr>
            <p:cNvPr id="9" name="Picture 15"/>
            <p:cNvPicPr>
              <a:picLocks noChangeAspect="1" noChangeArrowheads="1"/>
            </p:cNvPicPr>
            <p:nvPr/>
          </p:nvPicPr>
          <p:blipFill>
            <a:blip r:embed="rId4">
              <a:extLst>
                <a:ext uri="{28A0092B-C50C-407E-A947-70E740481C1C}">
                  <a14:useLocalDpi xmlns:a14="http://schemas.microsoft.com/office/drawing/2010/main" val="0"/>
                </a:ext>
              </a:extLst>
            </a:blip>
            <a:srcRect l="43410" t="34282" r="54950" b="63998"/>
            <a:stretch>
              <a:fillRect/>
            </a:stretch>
          </p:blipFill>
          <p:spPr bwMode="auto">
            <a:xfrm>
              <a:off x="3722" y="1008"/>
              <a:ext cx="182"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16"/>
            <p:cNvSpPr>
              <a:spLocks noChangeArrowheads="1"/>
            </p:cNvSpPr>
            <p:nvPr/>
          </p:nvSpPr>
          <p:spPr bwMode="auto">
            <a:xfrm>
              <a:off x="3712" y="1000"/>
              <a:ext cx="176" cy="216"/>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2" name="AutoShape 18"/>
          <p:cNvSpPr>
            <a:spLocks noChangeArrowheads="1"/>
          </p:cNvSpPr>
          <p:nvPr/>
        </p:nvSpPr>
        <p:spPr bwMode="auto">
          <a:xfrm>
            <a:off x="3657600" y="5156200"/>
            <a:ext cx="5118100" cy="1473200"/>
          </a:xfrm>
          <a:prstGeom prst="wedgeRectCallout">
            <a:avLst>
              <a:gd name="adj1" fmla="val 17514"/>
              <a:gd name="adj2" fmla="val -109977"/>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400" dirty="0">
                <a:solidFill>
                  <a:srgbClr val="000000"/>
                </a:solidFill>
                <a:latin typeface="Arial" pitchFamily="34" charset="0"/>
                <a:ea typeface="Verdana" pitchFamily="34" charset="0"/>
                <a:cs typeface="Arial" pitchFamily="34" charset="0"/>
              </a:rPr>
              <a:t>When you access an SAP screen, you may find that some fields already contain data. SAP defaults this data as a shortcut, but if the field appears as white, you may modify the data in the field.</a:t>
            </a:r>
          </a:p>
          <a:p>
            <a:pPr defTabSz="954088">
              <a:spcAft>
                <a:spcPts val="600"/>
              </a:spcAft>
            </a:pPr>
            <a:r>
              <a:rPr lang="en-US" sz="1400" dirty="0">
                <a:solidFill>
                  <a:srgbClr val="000000"/>
                </a:solidFill>
                <a:latin typeface="Arial" pitchFamily="34" charset="0"/>
                <a:ea typeface="Verdana" pitchFamily="34" charset="0"/>
                <a:cs typeface="Arial" pitchFamily="34" charset="0"/>
              </a:rPr>
              <a:t>If the field is gray, you are not able to change the defaulted data.</a:t>
            </a:r>
          </a:p>
        </p:txBody>
      </p:sp>
    </p:spTree>
    <p:extLst>
      <p:ext uri="{BB962C8B-B14F-4D97-AF65-F5344CB8AC3E}">
        <p14:creationId xmlns:p14="http://schemas.microsoft.com/office/powerpoint/2010/main" val="32659536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p:cNvSpPr/>
          <p:nvPr/>
        </p:nvSpPr>
        <p:spPr bwMode="auto">
          <a:xfrm>
            <a:off x="5867400" y="2209800"/>
            <a:ext cx="2971800" cy="2286000"/>
          </a:xfrm>
          <a:prstGeom prst="roundRect">
            <a:avLst/>
          </a:prstGeom>
          <a:solidFill>
            <a:schemeClr val="accent1"/>
          </a:solidFill>
          <a:ln w="9525" cap="flat" cmpd="sng" algn="ctr">
            <a:solidFill>
              <a:schemeClr val="tx1"/>
            </a:solidFill>
            <a:prstDash val="solid"/>
            <a:round/>
            <a:headEnd type="none" w="med" len="med"/>
            <a:tailEnd type="none" w="med" len="med"/>
          </a:ln>
          <a:effectLst/>
          <a:scene3d>
            <a:camera prst="orthographicFront"/>
            <a:lightRig rig="threePt" dir="t"/>
          </a:scene3d>
          <a:sp3d>
            <a:bevelT w="114300" prst="artDeco"/>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6" name="Rounded Rectangle 15"/>
          <p:cNvSpPr/>
          <p:nvPr/>
        </p:nvSpPr>
        <p:spPr bwMode="auto">
          <a:xfrm>
            <a:off x="3325504" y="2209800"/>
            <a:ext cx="2133600" cy="2286000"/>
          </a:xfrm>
          <a:prstGeom prst="roundRect">
            <a:avLst/>
          </a:prstGeom>
          <a:solidFill>
            <a:schemeClr val="accent1"/>
          </a:solidFill>
          <a:ln w="9525" cap="flat" cmpd="sng" algn="ctr">
            <a:solidFill>
              <a:schemeClr val="tx1"/>
            </a:solidFill>
            <a:prstDash val="solid"/>
            <a:round/>
            <a:headEnd type="none" w="med" len="med"/>
            <a:tailEnd type="none" w="med" len="med"/>
          </a:ln>
          <a:effectLst/>
          <a:scene3d>
            <a:camera prst="orthographicFront"/>
            <a:lightRig rig="threePt" dir="t"/>
          </a:scene3d>
          <a:sp3d>
            <a:bevelT w="114300" prst="artDeco"/>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4" name="Rounded Rectangle 13"/>
          <p:cNvSpPr/>
          <p:nvPr/>
        </p:nvSpPr>
        <p:spPr bwMode="auto">
          <a:xfrm>
            <a:off x="762000" y="2209800"/>
            <a:ext cx="2133600" cy="2286000"/>
          </a:xfrm>
          <a:prstGeom prst="roundRect">
            <a:avLst/>
          </a:prstGeom>
          <a:solidFill>
            <a:schemeClr val="accent1"/>
          </a:solidFill>
          <a:ln w="9525" cap="flat" cmpd="sng" algn="ctr">
            <a:solidFill>
              <a:schemeClr val="tx1"/>
            </a:solidFill>
            <a:prstDash val="solid"/>
            <a:round/>
            <a:headEnd type="none" w="med" len="med"/>
            <a:tailEnd type="none" w="med" len="med"/>
          </a:ln>
          <a:effectLst/>
          <a:scene3d>
            <a:camera prst="orthographicFront"/>
            <a:lightRig rig="threePt" dir="t"/>
          </a:scene3d>
          <a:sp3d>
            <a:bevelT w="114300" prst="artDeco"/>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3" name="Title 2"/>
          <p:cNvSpPr>
            <a:spLocks noGrp="1"/>
          </p:cNvSpPr>
          <p:nvPr>
            <p:ph type="title"/>
          </p:nvPr>
        </p:nvSpPr>
        <p:spPr/>
        <p:txBody>
          <a:bodyPr/>
          <a:lstStyle/>
          <a:p>
            <a:r>
              <a:rPr lang="en-US" dirty="0" smtClean="0"/>
              <a:t>Types of SAP Fields</a:t>
            </a:r>
            <a:endParaRPr lang="en-US" dirty="0"/>
          </a:p>
        </p:txBody>
      </p:sp>
      <p:sp>
        <p:nvSpPr>
          <p:cNvPr id="4" name="Content Placeholder 3"/>
          <p:cNvSpPr>
            <a:spLocks noGrp="1"/>
          </p:cNvSpPr>
          <p:nvPr>
            <p:ph idx="1"/>
          </p:nvPr>
        </p:nvSpPr>
        <p:spPr>
          <a:xfrm>
            <a:off x="301625" y="990601"/>
            <a:ext cx="8537575" cy="1066799"/>
          </a:xfrm>
        </p:spPr>
        <p:txBody>
          <a:bodyPr/>
          <a:lstStyle/>
          <a:p>
            <a:r>
              <a:rPr lang="en-US" dirty="0"/>
              <a:t>As you navigate through SAP, you will notice different types of data entry fields on the screen.</a:t>
            </a:r>
          </a:p>
          <a:p>
            <a:endParaRPr lang="en-US" dirty="0"/>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68</a:t>
            </a:fld>
            <a:endParaRPr lang="en-US" altLang="en-US"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l="19771" t="74928" r="68990" b="15352"/>
          <a:stretch>
            <a:fillRect/>
          </a:stretch>
        </p:blipFill>
        <p:spPr bwMode="auto">
          <a:xfrm>
            <a:off x="876300" y="2708275"/>
            <a:ext cx="1876425" cy="1500187"/>
          </a:xfrm>
          <a:prstGeom prst="rect">
            <a:avLst/>
          </a:prstGeom>
          <a:noFill/>
          <a:ln w="9525">
            <a:noFill/>
            <a:miter lim="800000"/>
            <a:headEnd/>
            <a:tailEnd/>
          </a:ln>
          <a:effectLst/>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pic>
        <p:nvPicPr>
          <p:cNvPr id="6" name="Picture 10"/>
          <p:cNvPicPr>
            <a:picLocks noChangeAspect="1" noChangeArrowheads="1"/>
          </p:cNvPicPr>
          <p:nvPr/>
        </p:nvPicPr>
        <p:blipFill>
          <a:blip r:embed="rId3">
            <a:extLst>
              <a:ext uri="{28A0092B-C50C-407E-A947-70E740481C1C}">
                <a14:useLocalDpi xmlns:a14="http://schemas.microsoft.com/office/drawing/2010/main" val="0"/>
              </a:ext>
            </a:extLst>
          </a:blip>
          <a:srcRect l="18811" t="50792" r="67314" b="32825"/>
          <a:stretch>
            <a:fillRect/>
          </a:stretch>
        </p:blipFill>
        <p:spPr>
          <a:xfrm>
            <a:off x="3429000" y="2713037"/>
            <a:ext cx="1943100" cy="1554163"/>
          </a:xfrm>
          <a:prstGeom prst="rect">
            <a:avLst/>
          </a:prstGeo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grpSp>
        <p:nvGrpSpPr>
          <p:cNvPr id="7" name="Group 16"/>
          <p:cNvGrpSpPr>
            <a:grpSpLocks/>
          </p:cNvGrpSpPr>
          <p:nvPr/>
        </p:nvGrpSpPr>
        <p:grpSpPr bwMode="auto">
          <a:xfrm>
            <a:off x="5969000" y="2700337"/>
            <a:ext cx="2743200" cy="1104900"/>
            <a:chOff x="832" y="1104"/>
            <a:chExt cx="1560" cy="472"/>
          </a:xfrm>
        </p:grpSpPr>
        <p:pic>
          <p:nvPicPr>
            <p:cNvPr id="8" name="Picture 17"/>
            <p:cNvPicPr>
              <a:picLocks noChangeAspect="1" noChangeArrowheads="1"/>
            </p:cNvPicPr>
            <p:nvPr/>
          </p:nvPicPr>
          <p:blipFill>
            <a:blip r:embed="rId3">
              <a:extLst>
                <a:ext uri="{28A0092B-C50C-407E-A947-70E740481C1C}">
                  <a14:useLocalDpi xmlns:a14="http://schemas.microsoft.com/office/drawing/2010/main" val="0"/>
                </a:ext>
              </a:extLst>
            </a:blip>
            <a:srcRect l="18854" t="32031" r="69167" b="60286"/>
            <a:stretch>
              <a:fillRect/>
            </a:stretch>
          </p:blipFill>
          <p:spPr bwMode="auto">
            <a:xfrm>
              <a:off x="832" y="1104"/>
              <a:ext cx="920"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18"/>
            <p:cNvPicPr>
              <a:picLocks noChangeAspect="1" noChangeArrowheads="1"/>
            </p:cNvPicPr>
            <p:nvPr/>
          </p:nvPicPr>
          <p:blipFill>
            <a:blip r:embed="rId3">
              <a:extLst>
                <a:ext uri="{28A0092B-C50C-407E-A947-70E740481C1C}">
                  <a14:useLocalDpi xmlns:a14="http://schemas.microsoft.com/office/drawing/2010/main" val="0"/>
                </a:ext>
              </a:extLst>
            </a:blip>
            <a:srcRect l="37083" t="32161" r="54480" b="60417"/>
            <a:stretch>
              <a:fillRect/>
            </a:stretch>
          </p:blipFill>
          <p:spPr bwMode="auto">
            <a:xfrm>
              <a:off x="1744" y="1120"/>
              <a:ext cx="648"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19"/>
            <p:cNvSpPr>
              <a:spLocks noChangeArrowheads="1"/>
            </p:cNvSpPr>
            <p:nvPr/>
          </p:nvSpPr>
          <p:spPr bwMode="auto">
            <a:xfrm>
              <a:off x="840" y="1112"/>
              <a:ext cx="1544" cy="464"/>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 name="Text Box 22"/>
          <p:cNvSpPr txBox="1">
            <a:spLocks noChangeArrowheads="1"/>
          </p:cNvSpPr>
          <p:nvPr/>
        </p:nvSpPr>
        <p:spPr bwMode="auto">
          <a:xfrm>
            <a:off x="863600" y="2360613"/>
            <a:ext cx="18923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sz="2000">
                <a:solidFill>
                  <a:srgbClr val="002D62"/>
                </a:solidFill>
                <a:latin typeface="Arial" charset="0"/>
              </a:defRPr>
            </a:lvl1pPr>
            <a:lvl2pPr marL="742950" indent="-285750" defTabSz="954088">
              <a:defRPr sz="2000">
                <a:solidFill>
                  <a:srgbClr val="002D62"/>
                </a:solidFill>
                <a:latin typeface="Arial" charset="0"/>
              </a:defRPr>
            </a:lvl2pPr>
            <a:lvl3pPr marL="1143000" indent="-228600" defTabSz="954088">
              <a:defRPr sz="2000">
                <a:solidFill>
                  <a:srgbClr val="002D62"/>
                </a:solidFill>
                <a:latin typeface="Arial" charset="0"/>
              </a:defRPr>
            </a:lvl3pPr>
            <a:lvl4pPr marL="1600200" indent="-228600" defTabSz="954088">
              <a:defRPr sz="2000">
                <a:solidFill>
                  <a:srgbClr val="002D62"/>
                </a:solidFill>
                <a:latin typeface="Arial" charset="0"/>
              </a:defRPr>
            </a:lvl4pPr>
            <a:lvl5pPr marL="2057400" indent="-228600" defTabSz="954088">
              <a:defRPr sz="2000">
                <a:solidFill>
                  <a:srgbClr val="002D62"/>
                </a:solidFill>
                <a:latin typeface="Arial" charset="0"/>
              </a:defRPr>
            </a:lvl5pPr>
            <a:lvl6pPr marL="25146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6pPr>
            <a:lvl7pPr marL="29718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7pPr>
            <a:lvl8pPr marL="34290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8pPr>
            <a:lvl9pPr marL="38862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9pPr>
          </a:lstStyle>
          <a:p>
            <a:pPr algn="ctr">
              <a:spcBef>
                <a:spcPct val="50000"/>
              </a:spcBef>
            </a:pPr>
            <a:r>
              <a:rPr lang="en-US" sz="1600" b="1" dirty="0">
                <a:solidFill>
                  <a:schemeClr val="tx1"/>
                </a:solidFill>
              </a:rPr>
              <a:t>Check Boxes</a:t>
            </a:r>
          </a:p>
        </p:txBody>
      </p:sp>
      <p:sp>
        <p:nvSpPr>
          <p:cNvPr id="12" name="Text Box 23"/>
          <p:cNvSpPr txBox="1">
            <a:spLocks noChangeArrowheads="1"/>
          </p:cNvSpPr>
          <p:nvPr/>
        </p:nvSpPr>
        <p:spPr bwMode="auto">
          <a:xfrm>
            <a:off x="5981700" y="2360613"/>
            <a:ext cx="27051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sz="2000">
                <a:solidFill>
                  <a:srgbClr val="002D62"/>
                </a:solidFill>
                <a:latin typeface="Arial" charset="0"/>
              </a:defRPr>
            </a:lvl1pPr>
            <a:lvl2pPr marL="742950" indent="-285750" defTabSz="954088">
              <a:defRPr sz="2000">
                <a:solidFill>
                  <a:srgbClr val="002D62"/>
                </a:solidFill>
                <a:latin typeface="Arial" charset="0"/>
              </a:defRPr>
            </a:lvl2pPr>
            <a:lvl3pPr marL="1143000" indent="-228600" defTabSz="954088">
              <a:defRPr sz="2000">
                <a:solidFill>
                  <a:srgbClr val="002D62"/>
                </a:solidFill>
                <a:latin typeface="Arial" charset="0"/>
              </a:defRPr>
            </a:lvl3pPr>
            <a:lvl4pPr marL="1600200" indent="-228600" defTabSz="954088">
              <a:defRPr sz="2000">
                <a:solidFill>
                  <a:srgbClr val="002D62"/>
                </a:solidFill>
                <a:latin typeface="Arial" charset="0"/>
              </a:defRPr>
            </a:lvl4pPr>
            <a:lvl5pPr marL="2057400" indent="-228600" defTabSz="954088">
              <a:defRPr sz="2000">
                <a:solidFill>
                  <a:srgbClr val="002D62"/>
                </a:solidFill>
                <a:latin typeface="Arial" charset="0"/>
              </a:defRPr>
            </a:lvl5pPr>
            <a:lvl6pPr marL="25146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6pPr>
            <a:lvl7pPr marL="29718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7pPr>
            <a:lvl8pPr marL="34290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8pPr>
            <a:lvl9pPr marL="38862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9pPr>
          </a:lstStyle>
          <a:p>
            <a:pPr algn="ctr">
              <a:spcBef>
                <a:spcPct val="50000"/>
              </a:spcBef>
            </a:pPr>
            <a:r>
              <a:rPr lang="en-US" sz="1600" b="1" dirty="0">
                <a:solidFill>
                  <a:schemeClr val="tx1"/>
                </a:solidFill>
              </a:rPr>
              <a:t>Data Entry Fields</a:t>
            </a:r>
          </a:p>
        </p:txBody>
      </p:sp>
      <p:sp>
        <p:nvSpPr>
          <p:cNvPr id="13" name="Text Box 24"/>
          <p:cNvSpPr txBox="1">
            <a:spLocks noChangeArrowheads="1"/>
          </p:cNvSpPr>
          <p:nvPr/>
        </p:nvSpPr>
        <p:spPr bwMode="auto">
          <a:xfrm>
            <a:off x="3441700" y="2360613"/>
            <a:ext cx="18923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sz="2000">
                <a:solidFill>
                  <a:srgbClr val="002D62"/>
                </a:solidFill>
                <a:latin typeface="Arial" charset="0"/>
              </a:defRPr>
            </a:lvl1pPr>
            <a:lvl2pPr marL="742950" indent="-285750" defTabSz="954088">
              <a:defRPr sz="2000">
                <a:solidFill>
                  <a:srgbClr val="002D62"/>
                </a:solidFill>
                <a:latin typeface="Arial" charset="0"/>
              </a:defRPr>
            </a:lvl2pPr>
            <a:lvl3pPr marL="1143000" indent="-228600" defTabSz="954088">
              <a:defRPr sz="2000">
                <a:solidFill>
                  <a:srgbClr val="002D62"/>
                </a:solidFill>
                <a:latin typeface="Arial" charset="0"/>
              </a:defRPr>
            </a:lvl3pPr>
            <a:lvl4pPr marL="1600200" indent="-228600" defTabSz="954088">
              <a:defRPr sz="2000">
                <a:solidFill>
                  <a:srgbClr val="002D62"/>
                </a:solidFill>
                <a:latin typeface="Arial" charset="0"/>
              </a:defRPr>
            </a:lvl4pPr>
            <a:lvl5pPr marL="2057400" indent="-228600" defTabSz="954088">
              <a:defRPr sz="2000">
                <a:solidFill>
                  <a:srgbClr val="002D62"/>
                </a:solidFill>
                <a:latin typeface="Arial" charset="0"/>
              </a:defRPr>
            </a:lvl5pPr>
            <a:lvl6pPr marL="25146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6pPr>
            <a:lvl7pPr marL="29718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7pPr>
            <a:lvl8pPr marL="34290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8pPr>
            <a:lvl9pPr marL="38862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9pPr>
          </a:lstStyle>
          <a:p>
            <a:pPr algn="ctr">
              <a:spcBef>
                <a:spcPct val="50000"/>
              </a:spcBef>
            </a:pPr>
            <a:r>
              <a:rPr lang="en-US" sz="1600" b="1" dirty="0">
                <a:solidFill>
                  <a:schemeClr val="tx1"/>
                </a:solidFill>
              </a:rPr>
              <a:t>Radio Buttons</a:t>
            </a:r>
          </a:p>
        </p:txBody>
      </p:sp>
    </p:spTree>
    <p:extLst>
      <p:ext uri="{BB962C8B-B14F-4D97-AF65-F5344CB8AC3E}">
        <p14:creationId xmlns:p14="http://schemas.microsoft.com/office/powerpoint/2010/main" val="2831513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Entry Fields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52989572"/>
              </p:ext>
            </p:extLst>
          </p:nvPr>
        </p:nvGraphicFramePr>
        <p:xfrm>
          <a:off x="301625" y="1219200"/>
          <a:ext cx="8537576" cy="5029200"/>
        </p:xfrm>
        <a:graphic>
          <a:graphicData uri="http://schemas.openxmlformats.org/drawingml/2006/table">
            <a:tbl>
              <a:tblPr firstRow="1" bandRow="1">
                <a:tableStyleId>{5C22544A-7EE6-4342-B048-85BDC9FD1C3A}</a:tableStyleId>
              </a:tblPr>
              <a:tblGrid>
                <a:gridCol w="4268788"/>
                <a:gridCol w="4268788"/>
              </a:tblGrid>
              <a:tr h="370840">
                <a:tc>
                  <a:txBody>
                    <a:bodyPr/>
                    <a:lstStyle/>
                    <a:p>
                      <a:pPr algn="ctr"/>
                      <a:r>
                        <a:rPr lang="en-US" sz="2000" dirty="0" smtClean="0">
                          <a:latin typeface="Verdana" pitchFamily="34" charset="0"/>
                          <a:ea typeface="Verdana" pitchFamily="34" charset="0"/>
                          <a:cs typeface="Verdana" pitchFamily="34" charset="0"/>
                        </a:rPr>
                        <a:t>System</a:t>
                      </a:r>
                      <a:r>
                        <a:rPr lang="en-US" sz="2000" baseline="0" dirty="0" smtClean="0">
                          <a:latin typeface="Verdana" pitchFamily="34" charset="0"/>
                          <a:ea typeface="Verdana" pitchFamily="34" charset="0"/>
                          <a:cs typeface="Verdana" pitchFamily="34" charset="0"/>
                        </a:rPr>
                        <a:t> Defined</a:t>
                      </a:r>
                      <a:endParaRPr lang="en-US" sz="2000" dirty="0">
                        <a:latin typeface="Verdana" pitchFamily="34" charset="0"/>
                        <a:ea typeface="Verdana" pitchFamily="34" charset="0"/>
                        <a:cs typeface="Verdana" pitchFamily="34" charset="0"/>
                      </a:endParaRPr>
                    </a:p>
                  </a:txBody>
                  <a:tcPr/>
                </a:tc>
                <a:tc>
                  <a:txBody>
                    <a:bodyPr/>
                    <a:lstStyle/>
                    <a:p>
                      <a:pPr algn="ctr"/>
                      <a:r>
                        <a:rPr lang="en-US" sz="2000" dirty="0" smtClean="0">
                          <a:latin typeface="Verdana" pitchFamily="34" charset="0"/>
                          <a:ea typeface="Verdana" pitchFamily="34" charset="0"/>
                          <a:cs typeface="Verdana" pitchFamily="34" charset="0"/>
                        </a:rPr>
                        <a:t>User Defined</a:t>
                      </a:r>
                      <a:endParaRPr lang="en-US" sz="2000" dirty="0">
                        <a:latin typeface="Verdana" pitchFamily="34" charset="0"/>
                        <a:ea typeface="Verdana" pitchFamily="34" charset="0"/>
                        <a:cs typeface="Verdana" pitchFamily="34" charset="0"/>
                      </a:endParaRPr>
                    </a:p>
                  </a:txBody>
                  <a:tcPr/>
                </a:tc>
              </a:tr>
              <a:tr h="370840">
                <a:tc>
                  <a:txBody>
                    <a:bodyPr/>
                    <a:lstStyle/>
                    <a:p>
                      <a:pPr marL="285750" marR="0" lvl="1" indent="-285750" algn="l" defTabSz="914400" rtl="0" eaLnBrk="1" fontAlgn="auto" latinLnBrk="0" hangingPunct="1">
                        <a:lnSpc>
                          <a:spcPct val="100000"/>
                        </a:lnSpc>
                        <a:spcBef>
                          <a:spcPts val="0"/>
                        </a:spcBef>
                        <a:spcAft>
                          <a:spcPts val="600"/>
                        </a:spcAft>
                        <a:buClr>
                          <a:srgbClr val="004B91"/>
                        </a:buClr>
                        <a:buSzTx/>
                        <a:buFont typeface="Arial" pitchFamily="34" charset="0"/>
                        <a:buChar char="•"/>
                        <a:tabLst/>
                        <a:defRPr/>
                      </a:pPr>
                      <a:r>
                        <a:rPr lang="en-US" sz="2000" dirty="0" smtClean="0">
                          <a:solidFill>
                            <a:schemeClr val="bg2"/>
                          </a:solidFill>
                          <a:latin typeface="Verdana" pitchFamily="34" charset="0"/>
                          <a:ea typeface="Verdana" pitchFamily="34" charset="0"/>
                          <a:cs typeface="Verdana" pitchFamily="34" charset="0"/>
                        </a:rPr>
                        <a:t>Provides</a:t>
                      </a:r>
                      <a:r>
                        <a:rPr lang="en-US" sz="2000" baseline="0" dirty="0" smtClean="0">
                          <a:solidFill>
                            <a:schemeClr val="bg2"/>
                          </a:solidFill>
                          <a:latin typeface="Verdana" pitchFamily="34" charset="0"/>
                          <a:ea typeface="Verdana" pitchFamily="34" charset="0"/>
                          <a:cs typeface="Verdana" pitchFamily="34" charset="0"/>
                        </a:rPr>
                        <a:t> a </a:t>
                      </a:r>
                      <a:r>
                        <a:rPr lang="en-US" sz="2000" dirty="0" smtClean="0">
                          <a:solidFill>
                            <a:schemeClr val="bg2"/>
                          </a:solidFill>
                          <a:latin typeface="Verdana" pitchFamily="34" charset="0"/>
                          <a:ea typeface="Verdana" pitchFamily="34" charset="0"/>
                          <a:cs typeface="Verdana" pitchFamily="34" charset="0"/>
                        </a:rPr>
                        <a:t>field in which you select from a list of possible values</a:t>
                      </a:r>
                    </a:p>
                    <a:p>
                      <a:pPr marL="285750" marR="0" lvl="1" indent="-285750" algn="l" defTabSz="914400" rtl="0" eaLnBrk="1" fontAlgn="auto" latinLnBrk="0" hangingPunct="1">
                        <a:lnSpc>
                          <a:spcPct val="100000"/>
                        </a:lnSpc>
                        <a:spcBef>
                          <a:spcPts val="0"/>
                        </a:spcBef>
                        <a:spcAft>
                          <a:spcPts val="600"/>
                        </a:spcAft>
                        <a:buClr>
                          <a:srgbClr val="004B91"/>
                        </a:buClr>
                        <a:buSzTx/>
                        <a:buFont typeface="Arial" pitchFamily="34" charset="0"/>
                        <a:buChar char="•"/>
                        <a:tabLst/>
                        <a:defRPr/>
                      </a:pPr>
                      <a:r>
                        <a:rPr lang="en-US" sz="2000" b="0" dirty="0" smtClean="0">
                          <a:solidFill>
                            <a:schemeClr val="bg2"/>
                          </a:solidFill>
                          <a:latin typeface="Verdana" pitchFamily="34" charset="0"/>
                          <a:ea typeface="Verdana" pitchFamily="34" charset="0"/>
                          <a:cs typeface="Verdana" pitchFamily="34" charset="0"/>
                        </a:rPr>
                        <a:t>When you click in this type of field, the matchcode icon        will appear</a:t>
                      </a:r>
                    </a:p>
                    <a:p>
                      <a:pPr marL="285750" marR="0" lvl="1" indent="-285750" algn="l" defTabSz="914400" rtl="0" eaLnBrk="1" fontAlgn="auto" latinLnBrk="0" hangingPunct="1">
                        <a:lnSpc>
                          <a:spcPct val="100000"/>
                        </a:lnSpc>
                        <a:spcBef>
                          <a:spcPts val="0"/>
                        </a:spcBef>
                        <a:spcAft>
                          <a:spcPts val="600"/>
                        </a:spcAft>
                        <a:buClr>
                          <a:srgbClr val="004B91"/>
                        </a:buClr>
                        <a:buSzTx/>
                        <a:buFont typeface="Arial" pitchFamily="34" charset="0"/>
                        <a:buChar char="•"/>
                        <a:tabLst/>
                        <a:defRPr/>
                      </a:pPr>
                      <a:r>
                        <a:rPr lang="en-US" sz="2000" b="0" dirty="0" smtClean="0">
                          <a:solidFill>
                            <a:schemeClr val="bg2"/>
                          </a:solidFill>
                          <a:latin typeface="Verdana" pitchFamily="34" charset="0"/>
                          <a:ea typeface="Verdana" pitchFamily="34" charset="0"/>
                          <a:cs typeface="Verdana" pitchFamily="34" charset="0"/>
                        </a:rPr>
                        <a:t>You can click the</a:t>
                      </a:r>
                      <a:r>
                        <a:rPr lang="en-US" sz="2000" b="0" baseline="0" dirty="0" smtClean="0">
                          <a:solidFill>
                            <a:schemeClr val="bg2"/>
                          </a:solidFill>
                          <a:latin typeface="Verdana" pitchFamily="34" charset="0"/>
                          <a:ea typeface="Verdana" pitchFamily="34" charset="0"/>
                          <a:cs typeface="Verdana" pitchFamily="34" charset="0"/>
                        </a:rPr>
                        <a:t> matchcode</a:t>
                      </a:r>
                      <a:r>
                        <a:rPr lang="en-US" sz="2000" b="0" dirty="0" smtClean="0">
                          <a:solidFill>
                            <a:schemeClr val="bg2"/>
                          </a:solidFill>
                          <a:latin typeface="Verdana" pitchFamily="34" charset="0"/>
                          <a:ea typeface="Verdana" pitchFamily="34" charset="0"/>
                          <a:cs typeface="Verdana" pitchFamily="34" charset="0"/>
                        </a:rPr>
                        <a:t> to search from a list of possible values</a:t>
                      </a:r>
                    </a:p>
                    <a:p>
                      <a:pPr marL="285750" marR="0" lvl="1" indent="-285750" algn="l" defTabSz="914400" rtl="0" eaLnBrk="1" fontAlgn="auto" latinLnBrk="0" hangingPunct="1">
                        <a:lnSpc>
                          <a:spcPct val="100000"/>
                        </a:lnSpc>
                        <a:spcBef>
                          <a:spcPts val="0"/>
                        </a:spcBef>
                        <a:spcAft>
                          <a:spcPts val="600"/>
                        </a:spcAft>
                        <a:buClr>
                          <a:srgbClr val="004B91"/>
                        </a:buClr>
                        <a:buSzTx/>
                        <a:buFont typeface="Arial" pitchFamily="34" charset="0"/>
                        <a:buChar char="•"/>
                        <a:tabLst/>
                        <a:defRPr/>
                      </a:pPr>
                      <a:r>
                        <a:rPr lang="en-US" sz="2000" b="0" dirty="0" smtClean="0">
                          <a:solidFill>
                            <a:schemeClr val="bg2"/>
                          </a:solidFill>
                          <a:latin typeface="Verdana" pitchFamily="34" charset="0"/>
                          <a:ea typeface="Verdana" pitchFamily="34" charset="0"/>
                          <a:cs typeface="Verdana" pitchFamily="34" charset="0"/>
                        </a:rPr>
                        <a:t>You can also manually type in a value in this field, but it must exactly match an entry in the list of possible values</a:t>
                      </a:r>
                    </a:p>
                    <a:p>
                      <a:pPr marL="285750" indent="-285750">
                        <a:spcAft>
                          <a:spcPts val="600"/>
                        </a:spcAft>
                        <a:buFont typeface="Arial" pitchFamily="34" charset="0"/>
                        <a:buChar char="•"/>
                      </a:pPr>
                      <a:endParaRPr lang="en-US" dirty="0">
                        <a:solidFill>
                          <a:schemeClr val="bg2"/>
                        </a:solidFill>
                      </a:endParaRPr>
                    </a:p>
                  </a:txBody>
                  <a:tcPr>
                    <a:solidFill>
                      <a:schemeClr val="tx1">
                        <a:lumMod val="95000"/>
                      </a:schemeClr>
                    </a:solidFill>
                  </a:tcPr>
                </a:tc>
                <a:tc>
                  <a:txBody>
                    <a:bodyPr/>
                    <a:lstStyle/>
                    <a:p>
                      <a:pPr marL="285750" marR="0" lvl="1" indent="-285750" algn="l" defTabSz="914400" rtl="0" eaLnBrk="1" fontAlgn="auto" latinLnBrk="0" hangingPunct="1">
                        <a:lnSpc>
                          <a:spcPct val="100000"/>
                        </a:lnSpc>
                        <a:spcBef>
                          <a:spcPts val="0"/>
                        </a:spcBef>
                        <a:spcAft>
                          <a:spcPts val="600"/>
                        </a:spcAft>
                        <a:buClr>
                          <a:srgbClr val="004B91"/>
                        </a:buClr>
                        <a:buSzTx/>
                        <a:buFont typeface="Arial" pitchFamily="34" charset="0"/>
                        <a:buChar char="•"/>
                        <a:tabLst/>
                        <a:defRPr/>
                      </a:pPr>
                      <a:r>
                        <a:rPr lang="en-US" sz="2000" b="0" dirty="0" smtClean="0">
                          <a:solidFill>
                            <a:schemeClr val="bg2"/>
                          </a:solidFill>
                          <a:latin typeface="Verdana" pitchFamily="34" charset="0"/>
                          <a:ea typeface="Verdana" pitchFamily="34" charset="0"/>
                          <a:cs typeface="Verdana" pitchFamily="34" charset="0"/>
                        </a:rPr>
                        <a:t>Provides field in which you can enter any value you want</a:t>
                      </a:r>
                    </a:p>
                    <a:p>
                      <a:pPr marL="285750" marR="0" lvl="1" indent="-285750" algn="l" defTabSz="914400" rtl="0" eaLnBrk="1" fontAlgn="auto" latinLnBrk="0" hangingPunct="1">
                        <a:lnSpc>
                          <a:spcPct val="100000"/>
                        </a:lnSpc>
                        <a:spcBef>
                          <a:spcPts val="0"/>
                        </a:spcBef>
                        <a:spcAft>
                          <a:spcPts val="600"/>
                        </a:spcAft>
                        <a:buClr>
                          <a:srgbClr val="004B91"/>
                        </a:buClr>
                        <a:buSzTx/>
                        <a:buFont typeface="Arial" pitchFamily="34" charset="0"/>
                        <a:buChar char="•"/>
                        <a:tabLst/>
                        <a:defRPr/>
                      </a:pPr>
                      <a:r>
                        <a:rPr lang="en-US" sz="2000" b="0" dirty="0" smtClean="0">
                          <a:solidFill>
                            <a:schemeClr val="bg2"/>
                          </a:solidFill>
                          <a:latin typeface="Verdana" pitchFamily="34" charset="0"/>
                          <a:ea typeface="Verdana" pitchFamily="34" charset="0"/>
                          <a:cs typeface="Verdana" pitchFamily="34" charset="0"/>
                        </a:rPr>
                        <a:t>When you click in this type of field, no symbol appears</a:t>
                      </a:r>
                    </a:p>
                    <a:p>
                      <a:pPr marL="285750" marR="0" lvl="1" indent="-285750" algn="l" defTabSz="914400" rtl="0" eaLnBrk="1" fontAlgn="auto" latinLnBrk="0" hangingPunct="1">
                        <a:lnSpc>
                          <a:spcPct val="100000"/>
                        </a:lnSpc>
                        <a:spcBef>
                          <a:spcPts val="0"/>
                        </a:spcBef>
                        <a:spcAft>
                          <a:spcPts val="600"/>
                        </a:spcAft>
                        <a:buClr>
                          <a:srgbClr val="004B91"/>
                        </a:buClr>
                        <a:buSzTx/>
                        <a:buFont typeface="Arial" pitchFamily="34" charset="0"/>
                        <a:buChar char="•"/>
                        <a:tabLst/>
                        <a:defRPr/>
                      </a:pPr>
                      <a:r>
                        <a:rPr lang="en-US" sz="2000" b="0" dirty="0" smtClean="0">
                          <a:solidFill>
                            <a:schemeClr val="bg2"/>
                          </a:solidFill>
                          <a:latin typeface="Verdana" pitchFamily="34" charset="0"/>
                          <a:ea typeface="Verdana" pitchFamily="34" charset="0"/>
                          <a:cs typeface="Verdana" pitchFamily="34" charset="0"/>
                        </a:rPr>
                        <a:t>You cannot select a value from a list of possible values. You can manually type in any value</a:t>
                      </a:r>
                    </a:p>
                    <a:p>
                      <a:pPr marL="285750" marR="0" lvl="1" indent="-285750" algn="l" defTabSz="914400" rtl="0" eaLnBrk="1" fontAlgn="auto" latinLnBrk="0" hangingPunct="1">
                        <a:lnSpc>
                          <a:spcPct val="100000"/>
                        </a:lnSpc>
                        <a:spcBef>
                          <a:spcPts val="0"/>
                        </a:spcBef>
                        <a:spcAft>
                          <a:spcPts val="600"/>
                        </a:spcAft>
                        <a:buClrTx/>
                        <a:buSzTx/>
                        <a:buFont typeface="Arial" pitchFamily="34" charset="0"/>
                        <a:buChar char="•"/>
                        <a:tabLst/>
                        <a:defRPr/>
                      </a:pPr>
                      <a:endParaRPr lang="en-US" dirty="0" smtClean="0"/>
                    </a:p>
                    <a:p>
                      <a:pPr marL="285750" indent="-285750">
                        <a:spcAft>
                          <a:spcPts val="600"/>
                        </a:spcAft>
                        <a:buFont typeface="Arial" pitchFamily="34" charset="0"/>
                        <a:buChar char="•"/>
                      </a:pPr>
                      <a:endParaRPr lang="en-US" dirty="0">
                        <a:solidFill>
                          <a:schemeClr val="bg2"/>
                        </a:solidFill>
                      </a:endParaRPr>
                    </a:p>
                  </a:txBody>
                  <a:tcPr>
                    <a:solidFill>
                      <a:schemeClr val="tx1">
                        <a:lumMod val="95000"/>
                      </a:schemeClr>
                    </a:solidFill>
                  </a:tcPr>
                </a:tc>
              </a:tr>
            </a:tbl>
          </a:graphicData>
        </a:graphic>
      </p:graphicFrame>
      <p:grpSp>
        <p:nvGrpSpPr>
          <p:cNvPr id="5" name="Group 26"/>
          <p:cNvGrpSpPr>
            <a:grpSpLocks/>
          </p:cNvGrpSpPr>
          <p:nvPr/>
        </p:nvGrpSpPr>
        <p:grpSpPr bwMode="auto">
          <a:xfrm>
            <a:off x="3962400" y="2971800"/>
            <a:ext cx="304800" cy="342900"/>
            <a:chOff x="3712" y="1000"/>
            <a:chExt cx="192" cy="216"/>
          </a:xfrm>
        </p:grpSpPr>
        <p:pic>
          <p:nvPicPr>
            <p:cNvPr id="6" name="Picture 20"/>
            <p:cNvPicPr>
              <a:picLocks noChangeAspect="1" noChangeArrowheads="1"/>
            </p:cNvPicPr>
            <p:nvPr/>
          </p:nvPicPr>
          <p:blipFill>
            <a:blip r:embed="rId3">
              <a:extLst>
                <a:ext uri="{28A0092B-C50C-407E-A947-70E740481C1C}">
                  <a14:useLocalDpi xmlns:a14="http://schemas.microsoft.com/office/drawing/2010/main" val="0"/>
                </a:ext>
              </a:extLst>
            </a:blip>
            <a:srcRect l="43410" t="34282" r="54950" b="63998"/>
            <a:stretch>
              <a:fillRect/>
            </a:stretch>
          </p:blipFill>
          <p:spPr bwMode="auto">
            <a:xfrm>
              <a:off x="3722" y="1008"/>
              <a:ext cx="182"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5"/>
            <p:cNvSpPr>
              <a:spLocks noChangeArrowheads="1"/>
            </p:cNvSpPr>
            <p:nvPr/>
          </p:nvSpPr>
          <p:spPr bwMode="auto">
            <a:xfrm>
              <a:off x="3712" y="1000"/>
              <a:ext cx="176" cy="216"/>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30772887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for System-Defined Data</a:t>
            </a:r>
            <a:endParaRPr lang="en-US" dirty="0"/>
          </a:p>
        </p:txBody>
      </p:sp>
      <p:sp>
        <p:nvSpPr>
          <p:cNvPr id="3" name="Content Placeholder 2"/>
          <p:cNvSpPr>
            <a:spLocks noGrp="1"/>
          </p:cNvSpPr>
          <p:nvPr>
            <p:ph idx="1"/>
          </p:nvPr>
        </p:nvSpPr>
        <p:spPr>
          <a:xfrm>
            <a:off x="301625" y="990601"/>
            <a:ext cx="8537575" cy="2743200"/>
          </a:xfrm>
        </p:spPr>
        <p:txBody>
          <a:bodyPr/>
          <a:lstStyle/>
          <a:p>
            <a:r>
              <a:rPr lang="en-US" dirty="0"/>
              <a:t>When you click a </a:t>
            </a:r>
            <a:r>
              <a:rPr lang="en-US" dirty="0" smtClean="0"/>
              <a:t>matchcode      </a:t>
            </a:r>
            <a:r>
              <a:rPr lang="en-US" dirty="0"/>
              <a:t>you can get two types of results:</a:t>
            </a:r>
            <a:endParaRPr lang="en-US" dirty="0">
              <a:solidFill>
                <a:schemeClr val="bg2"/>
              </a:solidFill>
            </a:endParaRPr>
          </a:p>
          <a:p>
            <a:pPr lvl="1"/>
            <a:r>
              <a:rPr lang="en-US" dirty="0">
                <a:solidFill>
                  <a:schemeClr val="bg2"/>
                </a:solidFill>
              </a:rPr>
              <a:t>A </a:t>
            </a:r>
            <a:r>
              <a:rPr lang="en-US" b="1" dirty="0">
                <a:solidFill>
                  <a:schemeClr val="bg2"/>
                </a:solidFill>
              </a:rPr>
              <a:t>Search Help – List</a:t>
            </a:r>
            <a:r>
              <a:rPr lang="en-US" dirty="0">
                <a:solidFill>
                  <a:schemeClr val="bg2"/>
                </a:solidFill>
              </a:rPr>
              <a:t> with a limited number of possible values. Double-click the value you want and it will default in the field </a:t>
            </a:r>
          </a:p>
          <a:p>
            <a:pPr lvl="1"/>
            <a:r>
              <a:rPr lang="en-US" dirty="0">
                <a:solidFill>
                  <a:schemeClr val="bg2"/>
                </a:solidFill>
              </a:rPr>
              <a:t>A </a:t>
            </a:r>
            <a:r>
              <a:rPr lang="en-US" b="1" dirty="0">
                <a:solidFill>
                  <a:schemeClr val="bg2"/>
                </a:solidFill>
              </a:rPr>
              <a:t>Search Help – Help</a:t>
            </a:r>
            <a:r>
              <a:rPr lang="en-US" dirty="0">
                <a:solidFill>
                  <a:schemeClr val="bg2"/>
                </a:solidFill>
              </a:rPr>
              <a:t> dialog box for fields with a vast number of values to narrow the search for data</a:t>
            </a:r>
          </a:p>
          <a:p>
            <a:endParaRPr lang="en-US" dirty="0"/>
          </a:p>
        </p:txBody>
      </p:sp>
      <p:grpSp>
        <p:nvGrpSpPr>
          <p:cNvPr id="4" name="Group 4"/>
          <p:cNvGrpSpPr>
            <a:grpSpLocks/>
          </p:cNvGrpSpPr>
          <p:nvPr/>
        </p:nvGrpSpPr>
        <p:grpSpPr bwMode="auto">
          <a:xfrm>
            <a:off x="4191000" y="1028700"/>
            <a:ext cx="304800" cy="342900"/>
            <a:chOff x="3712" y="1000"/>
            <a:chExt cx="192" cy="216"/>
          </a:xfrm>
        </p:grpSpPr>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l="43410" t="34282" r="54950" b="63998"/>
            <a:stretch>
              <a:fillRect/>
            </a:stretch>
          </p:blipFill>
          <p:spPr bwMode="auto">
            <a:xfrm>
              <a:off x="3722" y="1008"/>
              <a:ext cx="182"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6"/>
            <p:cNvSpPr>
              <a:spLocks noChangeArrowheads="1"/>
            </p:cNvSpPr>
            <p:nvPr/>
          </p:nvSpPr>
          <p:spPr bwMode="auto">
            <a:xfrm>
              <a:off x="3712" y="1000"/>
              <a:ext cx="176" cy="216"/>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9" name="Text Box 11"/>
          <p:cNvSpPr txBox="1">
            <a:spLocks noChangeArrowheads="1"/>
          </p:cNvSpPr>
          <p:nvPr/>
        </p:nvSpPr>
        <p:spPr bwMode="auto">
          <a:xfrm>
            <a:off x="876300" y="3702050"/>
            <a:ext cx="3048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sz="2000">
                <a:solidFill>
                  <a:srgbClr val="002D62"/>
                </a:solidFill>
                <a:latin typeface="Arial" charset="0"/>
              </a:defRPr>
            </a:lvl1pPr>
            <a:lvl2pPr marL="742950" indent="-285750" defTabSz="954088">
              <a:defRPr sz="2000">
                <a:solidFill>
                  <a:srgbClr val="002D62"/>
                </a:solidFill>
                <a:latin typeface="Arial" charset="0"/>
              </a:defRPr>
            </a:lvl2pPr>
            <a:lvl3pPr marL="1143000" indent="-228600" defTabSz="954088">
              <a:defRPr sz="2000">
                <a:solidFill>
                  <a:srgbClr val="002D62"/>
                </a:solidFill>
                <a:latin typeface="Arial" charset="0"/>
              </a:defRPr>
            </a:lvl3pPr>
            <a:lvl4pPr marL="1600200" indent="-228600" defTabSz="954088">
              <a:defRPr sz="2000">
                <a:solidFill>
                  <a:srgbClr val="002D62"/>
                </a:solidFill>
                <a:latin typeface="Arial" charset="0"/>
              </a:defRPr>
            </a:lvl4pPr>
            <a:lvl5pPr marL="2057400" indent="-228600" defTabSz="954088">
              <a:defRPr sz="2000">
                <a:solidFill>
                  <a:srgbClr val="002D62"/>
                </a:solidFill>
                <a:latin typeface="Arial" charset="0"/>
              </a:defRPr>
            </a:lvl5pPr>
            <a:lvl6pPr marL="25146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6pPr>
            <a:lvl7pPr marL="29718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7pPr>
            <a:lvl8pPr marL="34290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8pPr>
            <a:lvl9pPr marL="38862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9pPr>
          </a:lstStyle>
          <a:p>
            <a:pPr algn="ctr">
              <a:spcBef>
                <a:spcPct val="50000"/>
              </a:spcBef>
            </a:pPr>
            <a:r>
              <a:rPr lang="en-US" sz="1800" b="1" dirty="0">
                <a:solidFill>
                  <a:schemeClr val="bg2"/>
                </a:solidFill>
                <a:latin typeface="Verdana" pitchFamily="34" charset="0"/>
                <a:ea typeface="Verdana" pitchFamily="34" charset="0"/>
                <a:cs typeface="Verdana" pitchFamily="34" charset="0"/>
              </a:rPr>
              <a:t>Search Help - List</a:t>
            </a:r>
          </a:p>
        </p:txBody>
      </p:sp>
      <p:sp>
        <p:nvSpPr>
          <p:cNvPr id="10" name="Text Box 12"/>
          <p:cNvSpPr txBox="1">
            <a:spLocks noChangeArrowheads="1"/>
          </p:cNvSpPr>
          <p:nvPr/>
        </p:nvSpPr>
        <p:spPr bwMode="auto">
          <a:xfrm>
            <a:off x="5499100" y="3702050"/>
            <a:ext cx="3048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sz="2000">
                <a:solidFill>
                  <a:srgbClr val="002D62"/>
                </a:solidFill>
                <a:latin typeface="Arial" charset="0"/>
              </a:defRPr>
            </a:lvl1pPr>
            <a:lvl2pPr marL="742950" indent="-285750" defTabSz="954088">
              <a:defRPr sz="2000">
                <a:solidFill>
                  <a:srgbClr val="002D62"/>
                </a:solidFill>
                <a:latin typeface="Arial" charset="0"/>
              </a:defRPr>
            </a:lvl2pPr>
            <a:lvl3pPr marL="1143000" indent="-228600" defTabSz="954088">
              <a:defRPr sz="2000">
                <a:solidFill>
                  <a:srgbClr val="002D62"/>
                </a:solidFill>
                <a:latin typeface="Arial" charset="0"/>
              </a:defRPr>
            </a:lvl3pPr>
            <a:lvl4pPr marL="1600200" indent="-228600" defTabSz="954088">
              <a:defRPr sz="2000">
                <a:solidFill>
                  <a:srgbClr val="002D62"/>
                </a:solidFill>
                <a:latin typeface="Arial" charset="0"/>
              </a:defRPr>
            </a:lvl4pPr>
            <a:lvl5pPr marL="2057400" indent="-228600" defTabSz="954088">
              <a:defRPr sz="2000">
                <a:solidFill>
                  <a:srgbClr val="002D62"/>
                </a:solidFill>
                <a:latin typeface="Arial" charset="0"/>
              </a:defRPr>
            </a:lvl5pPr>
            <a:lvl6pPr marL="25146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6pPr>
            <a:lvl7pPr marL="29718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7pPr>
            <a:lvl8pPr marL="34290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8pPr>
            <a:lvl9pPr marL="38862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9pPr>
          </a:lstStyle>
          <a:p>
            <a:pPr algn="ctr">
              <a:spcBef>
                <a:spcPct val="50000"/>
              </a:spcBef>
            </a:pPr>
            <a:r>
              <a:rPr lang="en-US" sz="1800" b="1">
                <a:solidFill>
                  <a:schemeClr val="bg2"/>
                </a:solidFill>
                <a:latin typeface="Verdana" pitchFamily="34" charset="0"/>
                <a:ea typeface="Verdana" pitchFamily="34" charset="0"/>
                <a:cs typeface="Verdana" pitchFamily="34" charset="0"/>
              </a:rPr>
              <a:t>Search Help - Help</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75" y="4073525"/>
            <a:ext cx="3552825" cy="20224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1000" y="4061857"/>
            <a:ext cx="2921000" cy="237066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61786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 Settings for Search Help - List</a:t>
            </a:r>
            <a:endParaRPr lang="en-US" dirty="0"/>
          </a:p>
        </p:txBody>
      </p:sp>
      <p:sp>
        <p:nvSpPr>
          <p:cNvPr id="3" name="Content Placeholder 2"/>
          <p:cNvSpPr>
            <a:spLocks noGrp="1"/>
          </p:cNvSpPr>
          <p:nvPr>
            <p:ph idx="1"/>
          </p:nvPr>
        </p:nvSpPr>
        <p:spPr>
          <a:xfrm>
            <a:off x="301625" y="990601"/>
            <a:ext cx="8537575" cy="2057400"/>
          </a:xfrm>
        </p:spPr>
        <p:txBody>
          <a:bodyPr/>
          <a:lstStyle/>
          <a:p>
            <a:r>
              <a:rPr lang="en-US" dirty="0"/>
              <a:t>You may establish a favorites list for the values you most commonly use in most Search Help lists.</a:t>
            </a:r>
          </a:p>
          <a:p>
            <a:r>
              <a:rPr lang="en-US" dirty="0"/>
              <a:t>This eliminates the need to scroll through multiple options, such as search for cost centers or company codes, when you commonly use just a few values.</a:t>
            </a:r>
          </a:p>
          <a:p>
            <a:endParaRPr lang="en-US" dirty="0"/>
          </a:p>
        </p:txBody>
      </p:sp>
      <p:sp>
        <p:nvSpPr>
          <p:cNvPr id="7" name="AutoShape 11"/>
          <p:cNvSpPr>
            <a:spLocks noChangeArrowheads="1"/>
          </p:cNvSpPr>
          <p:nvPr/>
        </p:nvSpPr>
        <p:spPr bwMode="auto">
          <a:xfrm>
            <a:off x="375306" y="2895600"/>
            <a:ext cx="2063094" cy="546100"/>
          </a:xfrm>
          <a:prstGeom prst="wedgeRectCallout">
            <a:avLst>
              <a:gd name="adj1" fmla="val 26722"/>
              <a:gd name="adj2" fmla="val 103486"/>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600" dirty="0">
                <a:solidFill>
                  <a:srgbClr val="000000"/>
                </a:solidFill>
                <a:latin typeface="Arial" pitchFamily="34" charset="0"/>
                <a:ea typeface="Verdana" pitchFamily="34" charset="0"/>
                <a:cs typeface="Arial" pitchFamily="34" charset="0"/>
              </a:rPr>
              <a:t>Display a </a:t>
            </a:r>
            <a:r>
              <a:rPr lang="en-US" sz="1600" b="1" dirty="0">
                <a:solidFill>
                  <a:srgbClr val="000000"/>
                </a:solidFill>
                <a:latin typeface="Arial" pitchFamily="34" charset="0"/>
                <a:ea typeface="Verdana" pitchFamily="34" charset="0"/>
                <a:cs typeface="Arial" pitchFamily="34" charset="0"/>
              </a:rPr>
              <a:t>Search Help List</a:t>
            </a:r>
          </a:p>
        </p:txBody>
      </p:sp>
      <p:grpSp>
        <p:nvGrpSpPr>
          <p:cNvPr id="20" name="Group 19"/>
          <p:cNvGrpSpPr/>
          <p:nvPr/>
        </p:nvGrpSpPr>
        <p:grpSpPr>
          <a:xfrm>
            <a:off x="2057400" y="3425824"/>
            <a:ext cx="317500" cy="307976"/>
            <a:chOff x="2197100" y="3352800"/>
            <a:chExt cx="317500" cy="307976"/>
          </a:xfrm>
        </p:grpSpPr>
        <p:sp>
          <p:nvSpPr>
            <p:cNvPr id="9" name="Oval 9"/>
            <p:cNvSpPr>
              <a:spLocks noChangeArrowheads="1"/>
            </p:cNvSpPr>
            <p:nvPr/>
          </p:nvSpPr>
          <p:spPr bwMode="auto">
            <a:xfrm>
              <a:off x="2197100" y="3378201"/>
              <a:ext cx="317500" cy="279401"/>
            </a:xfrm>
            <a:prstGeom prst="ellipse">
              <a:avLst/>
            </a:prstGeom>
            <a:solidFill>
              <a:schemeClr val="accent3">
                <a:lumMod val="75000"/>
              </a:schemeClr>
            </a:solidFill>
            <a:ln w="9525" algn="ctr">
              <a:solidFill>
                <a:schemeClr val="accent3">
                  <a:lumMod val="75000"/>
                </a:schemeClr>
              </a:solidFill>
              <a:round/>
              <a:headEnd/>
              <a:tailEnd/>
            </a:ln>
            <a:effectLst/>
          </p:spPr>
          <p:txBody>
            <a:bodyPr wrap="none" anchor="ctr"/>
            <a:lstStyle/>
            <a:p>
              <a:endParaRPr lang="en-US">
                <a:solidFill>
                  <a:schemeClr val="bg2"/>
                </a:solidFill>
                <a:latin typeface="Verdana" pitchFamily="34" charset="0"/>
                <a:ea typeface="Verdana" pitchFamily="34" charset="0"/>
                <a:cs typeface="Verdana" pitchFamily="34" charset="0"/>
              </a:endParaRPr>
            </a:p>
          </p:txBody>
        </p:sp>
        <p:sp>
          <p:nvSpPr>
            <p:cNvPr id="10" name="Text Box 10"/>
            <p:cNvSpPr txBox="1">
              <a:spLocks noChangeArrowheads="1"/>
            </p:cNvSpPr>
            <p:nvPr/>
          </p:nvSpPr>
          <p:spPr bwMode="auto">
            <a:xfrm>
              <a:off x="2241768" y="3352800"/>
              <a:ext cx="241300" cy="307976"/>
            </a:xfrm>
            <a:prstGeom prst="rect">
              <a:avLst/>
            </a:prstGeom>
            <a:noFill/>
            <a:ln w="9525"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sz="2000">
                  <a:solidFill>
                    <a:srgbClr val="002D62"/>
                  </a:solidFill>
                  <a:latin typeface="Arial" charset="0"/>
                </a:defRPr>
              </a:lvl1pPr>
              <a:lvl2pPr marL="742950" indent="-285750" defTabSz="954088">
                <a:defRPr sz="2000">
                  <a:solidFill>
                    <a:srgbClr val="002D62"/>
                  </a:solidFill>
                  <a:latin typeface="Arial" charset="0"/>
                </a:defRPr>
              </a:lvl2pPr>
              <a:lvl3pPr marL="1143000" indent="-228600" defTabSz="954088">
                <a:defRPr sz="2000">
                  <a:solidFill>
                    <a:srgbClr val="002D62"/>
                  </a:solidFill>
                  <a:latin typeface="Arial" charset="0"/>
                </a:defRPr>
              </a:lvl3pPr>
              <a:lvl4pPr marL="1600200" indent="-228600" defTabSz="954088">
                <a:defRPr sz="2000">
                  <a:solidFill>
                    <a:srgbClr val="002D62"/>
                  </a:solidFill>
                  <a:latin typeface="Arial" charset="0"/>
                </a:defRPr>
              </a:lvl4pPr>
              <a:lvl5pPr marL="2057400" indent="-228600" defTabSz="954088">
                <a:defRPr sz="2000">
                  <a:solidFill>
                    <a:srgbClr val="002D62"/>
                  </a:solidFill>
                  <a:latin typeface="Arial" charset="0"/>
                </a:defRPr>
              </a:lvl5pPr>
              <a:lvl6pPr marL="25146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6pPr>
              <a:lvl7pPr marL="29718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7pPr>
              <a:lvl8pPr marL="34290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8pPr>
              <a:lvl9pPr marL="38862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9pPr>
            </a:lstStyle>
            <a:p>
              <a:pPr algn="ctr">
                <a:spcBef>
                  <a:spcPct val="50000"/>
                </a:spcBef>
              </a:pPr>
              <a:r>
                <a:rPr lang="en-US" sz="1400" b="1" dirty="0">
                  <a:solidFill>
                    <a:schemeClr val="tx1"/>
                  </a:solidFill>
                  <a:latin typeface="Verdana" pitchFamily="34" charset="0"/>
                  <a:ea typeface="Verdana" pitchFamily="34" charset="0"/>
                  <a:cs typeface="Verdana" pitchFamily="34" charset="0"/>
                </a:rPr>
                <a:t>1</a:t>
              </a:r>
            </a:p>
          </p:txBody>
        </p:sp>
      </p:gr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757006"/>
            <a:ext cx="5229225" cy="26384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AutoShape 12"/>
          <p:cNvSpPr>
            <a:spLocks noChangeArrowheads="1"/>
          </p:cNvSpPr>
          <p:nvPr/>
        </p:nvSpPr>
        <p:spPr bwMode="auto">
          <a:xfrm>
            <a:off x="324506" y="5830888"/>
            <a:ext cx="2342494" cy="569912"/>
          </a:xfrm>
          <a:prstGeom prst="wedgeRectCallout">
            <a:avLst>
              <a:gd name="adj1" fmla="val 25452"/>
              <a:gd name="adj2" fmla="val -177992"/>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600" dirty="0">
                <a:solidFill>
                  <a:srgbClr val="000000"/>
                </a:solidFill>
                <a:latin typeface="Arial" pitchFamily="34" charset="0"/>
                <a:ea typeface="Verdana" pitchFamily="34" charset="0"/>
                <a:cs typeface="Arial" pitchFamily="34" charset="0"/>
              </a:rPr>
              <a:t>Highlight an option by single-clicking on it.</a:t>
            </a:r>
          </a:p>
        </p:txBody>
      </p:sp>
      <p:grpSp>
        <p:nvGrpSpPr>
          <p:cNvPr id="21" name="Group 20"/>
          <p:cNvGrpSpPr/>
          <p:nvPr/>
        </p:nvGrpSpPr>
        <p:grpSpPr>
          <a:xfrm>
            <a:off x="2197100" y="5181600"/>
            <a:ext cx="317500" cy="307976"/>
            <a:chOff x="2197100" y="3352800"/>
            <a:chExt cx="317500" cy="307976"/>
          </a:xfrm>
        </p:grpSpPr>
        <p:sp>
          <p:nvSpPr>
            <p:cNvPr id="22" name="Oval 9"/>
            <p:cNvSpPr>
              <a:spLocks noChangeArrowheads="1"/>
            </p:cNvSpPr>
            <p:nvPr/>
          </p:nvSpPr>
          <p:spPr bwMode="auto">
            <a:xfrm>
              <a:off x="2197100" y="3378201"/>
              <a:ext cx="317500" cy="279401"/>
            </a:xfrm>
            <a:prstGeom prst="ellipse">
              <a:avLst/>
            </a:prstGeom>
            <a:solidFill>
              <a:schemeClr val="accent3">
                <a:lumMod val="75000"/>
              </a:schemeClr>
            </a:solidFill>
            <a:ln w="9525" algn="ctr">
              <a:solidFill>
                <a:schemeClr val="accent3">
                  <a:lumMod val="75000"/>
                </a:schemeClr>
              </a:solidFill>
              <a:round/>
              <a:headEnd/>
              <a:tailEnd/>
            </a:ln>
            <a:effectLst/>
          </p:spPr>
          <p:txBody>
            <a:bodyPr wrap="none" anchor="ctr"/>
            <a:lstStyle/>
            <a:p>
              <a:endParaRPr lang="en-US">
                <a:solidFill>
                  <a:schemeClr val="bg2"/>
                </a:solidFill>
                <a:latin typeface="Verdana" pitchFamily="34" charset="0"/>
                <a:ea typeface="Verdana" pitchFamily="34" charset="0"/>
                <a:cs typeface="Verdana" pitchFamily="34" charset="0"/>
              </a:endParaRPr>
            </a:p>
          </p:txBody>
        </p:sp>
        <p:sp>
          <p:nvSpPr>
            <p:cNvPr id="23" name="Text Box 10"/>
            <p:cNvSpPr txBox="1">
              <a:spLocks noChangeArrowheads="1"/>
            </p:cNvSpPr>
            <p:nvPr/>
          </p:nvSpPr>
          <p:spPr bwMode="auto">
            <a:xfrm>
              <a:off x="2241768" y="3352800"/>
              <a:ext cx="241300" cy="307976"/>
            </a:xfrm>
            <a:prstGeom prst="rect">
              <a:avLst/>
            </a:prstGeom>
            <a:noFill/>
            <a:ln w="9525"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sz="2000">
                  <a:solidFill>
                    <a:srgbClr val="002D62"/>
                  </a:solidFill>
                  <a:latin typeface="Arial" charset="0"/>
                </a:defRPr>
              </a:lvl1pPr>
              <a:lvl2pPr marL="742950" indent="-285750" defTabSz="954088">
                <a:defRPr sz="2000">
                  <a:solidFill>
                    <a:srgbClr val="002D62"/>
                  </a:solidFill>
                  <a:latin typeface="Arial" charset="0"/>
                </a:defRPr>
              </a:lvl2pPr>
              <a:lvl3pPr marL="1143000" indent="-228600" defTabSz="954088">
                <a:defRPr sz="2000">
                  <a:solidFill>
                    <a:srgbClr val="002D62"/>
                  </a:solidFill>
                  <a:latin typeface="Arial" charset="0"/>
                </a:defRPr>
              </a:lvl3pPr>
              <a:lvl4pPr marL="1600200" indent="-228600" defTabSz="954088">
                <a:defRPr sz="2000">
                  <a:solidFill>
                    <a:srgbClr val="002D62"/>
                  </a:solidFill>
                  <a:latin typeface="Arial" charset="0"/>
                </a:defRPr>
              </a:lvl4pPr>
              <a:lvl5pPr marL="2057400" indent="-228600" defTabSz="954088">
                <a:defRPr sz="2000">
                  <a:solidFill>
                    <a:srgbClr val="002D62"/>
                  </a:solidFill>
                  <a:latin typeface="Arial" charset="0"/>
                </a:defRPr>
              </a:lvl5pPr>
              <a:lvl6pPr marL="25146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6pPr>
              <a:lvl7pPr marL="29718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7pPr>
              <a:lvl8pPr marL="34290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8pPr>
              <a:lvl9pPr marL="38862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9pPr>
            </a:lstStyle>
            <a:p>
              <a:pPr algn="ctr">
                <a:spcBef>
                  <a:spcPct val="50000"/>
                </a:spcBef>
              </a:pPr>
              <a:r>
                <a:rPr lang="en-US" sz="1400" b="1" dirty="0" smtClean="0">
                  <a:solidFill>
                    <a:schemeClr val="tx1"/>
                  </a:solidFill>
                  <a:latin typeface="Verdana" pitchFamily="34" charset="0"/>
                  <a:ea typeface="Verdana" pitchFamily="34" charset="0"/>
                  <a:cs typeface="Verdana" pitchFamily="34" charset="0"/>
                </a:rPr>
                <a:t>2</a:t>
              </a:r>
              <a:endParaRPr lang="en-US" sz="1400" b="1" dirty="0">
                <a:solidFill>
                  <a:schemeClr val="tx1"/>
                </a:solidFill>
                <a:latin typeface="Verdana" pitchFamily="34" charset="0"/>
                <a:ea typeface="Verdana" pitchFamily="34" charset="0"/>
                <a:cs typeface="Verdana" pitchFamily="34" charset="0"/>
              </a:endParaRPr>
            </a:p>
          </p:txBody>
        </p:sp>
      </p:grpSp>
      <p:sp>
        <p:nvSpPr>
          <p:cNvPr id="15" name="AutoShape 16"/>
          <p:cNvSpPr>
            <a:spLocks noChangeArrowheads="1"/>
          </p:cNvSpPr>
          <p:nvPr/>
        </p:nvSpPr>
        <p:spPr bwMode="auto">
          <a:xfrm>
            <a:off x="4533900" y="4495800"/>
            <a:ext cx="2628900" cy="533400"/>
          </a:xfrm>
          <a:prstGeom prst="wedgeRectCallout">
            <a:avLst>
              <a:gd name="adj1" fmla="val -95468"/>
              <a:gd name="adj2" fmla="val -30954"/>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600" dirty="0">
                <a:solidFill>
                  <a:srgbClr val="000000"/>
                </a:solidFill>
                <a:latin typeface="Arial" pitchFamily="34" charset="0"/>
                <a:ea typeface="Verdana" pitchFamily="34" charset="0"/>
                <a:cs typeface="Arial" pitchFamily="34" charset="0"/>
              </a:rPr>
              <a:t>Click  </a:t>
            </a:r>
            <a:r>
              <a:rPr lang="en-US" sz="1600" b="1" dirty="0">
                <a:solidFill>
                  <a:srgbClr val="000000"/>
                </a:solidFill>
                <a:latin typeface="Arial" pitchFamily="34" charset="0"/>
                <a:ea typeface="Verdana" pitchFamily="34" charset="0"/>
                <a:cs typeface="Arial" pitchFamily="34" charset="0"/>
              </a:rPr>
              <a:t>Insert in Personal List</a:t>
            </a:r>
            <a:r>
              <a:rPr lang="en-US" sz="1600" dirty="0">
                <a:solidFill>
                  <a:srgbClr val="000000"/>
                </a:solidFill>
                <a:latin typeface="Arial" pitchFamily="34" charset="0"/>
                <a:ea typeface="Verdana" pitchFamily="34" charset="0"/>
                <a:cs typeface="Arial" pitchFamily="34" charset="0"/>
              </a:rPr>
              <a:t> button.</a:t>
            </a:r>
          </a:p>
        </p:txBody>
      </p:sp>
      <p:grpSp>
        <p:nvGrpSpPr>
          <p:cNvPr id="24" name="Group 23"/>
          <p:cNvGrpSpPr/>
          <p:nvPr/>
        </p:nvGrpSpPr>
        <p:grpSpPr>
          <a:xfrm>
            <a:off x="4343400" y="4264024"/>
            <a:ext cx="317500" cy="307976"/>
            <a:chOff x="2197100" y="3352800"/>
            <a:chExt cx="317500" cy="307976"/>
          </a:xfrm>
        </p:grpSpPr>
        <p:sp>
          <p:nvSpPr>
            <p:cNvPr id="25" name="Oval 9"/>
            <p:cNvSpPr>
              <a:spLocks noChangeArrowheads="1"/>
            </p:cNvSpPr>
            <p:nvPr/>
          </p:nvSpPr>
          <p:spPr bwMode="auto">
            <a:xfrm>
              <a:off x="2197100" y="3378201"/>
              <a:ext cx="317500" cy="279401"/>
            </a:xfrm>
            <a:prstGeom prst="ellipse">
              <a:avLst/>
            </a:prstGeom>
            <a:solidFill>
              <a:schemeClr val="accent3">
                <a:lumMod val="75000"/>
              </a:schemeClr>
            </a:solidFill>
            <a:ln w="9525" algn="ctr">
              <a:solidFill>
                <a:schemeClr val="accent3">
                  <a:lumMod val="75000"/>
                </a:schemeClr>
              </a:solidFill>
              <a:round/>
              <a:headEnd/>
              <a:tailEnd/>
            </a:ln>
            <a:effectLst/>
          </p:spPr>
          <p:txBody>
            <a:bodyPr wrap="none" anchor="ctr"/>
            <a:lstStyle/>
            <a:p>
              <a:endParaRPr lang="en-US">
                <a:solidFill>
                  <a:schemeClr val="bg2"/>
                </a:solidFill>
                <a:latin typeface="Verdana" pitchFamily="34" charset="0"/>
                <a:ea typeface="Verdana" pitchFamily="34" charset="0"/>
                <a:cs typeface="Verdana" pitchFamily="34" charset="0"/>
              </a:endParaRPr>
            </a:p>
          </p:txBody>
        </p:sp>
        <p:sp>
          <p:nvSpPr>
            <p:cNvPr id="26" name="Text Box 10"/>
            <p:cNvSpPr txBox="1">
              <a:spLocks noChangeArrowheads="1"/>
            </p:cNvSpPr>
            <p:nvPr/>
          </p:nvSpPr>
          <p:spPr bwMode="auto">
            <a:xfrm>
              <a:off x="2241768" y="3352800"/>
              <a:ext cx="241300" cy="307976"/>
            </a:xfrm>
            <a:prstGeom prst="rect">
              <a:avLst/>
            </a:prstGeom>
            <a:noFill/>
            <a:ln w="9525"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sz="2000">
                  <a:solidFill>
                    <a:srgbClr val="002D62"/>
                  </a:solidFill>
                  <a:latin typeface="Arial" charset="0"/>
                </a:defRPr>
              </a:lvl1pPr>
              <a:lvl2pPr marL="742950" indent="-285750" defTabSz="954088">
                <a:defRPr sz="2000">
                  <a:solidFill>
                    <a:srgbClr val="002D62"/>
                  </a:solidFill>
                  <a:latin typeface="Arial" charset="0"/>
                </a:defRPr>
              </a:lvl2pPr>
              <a:lvl3pPr marL="1143000" indent="-228600" defTabSz="954088">
                <a:defRPr sz="2000">
                  <a:solidFill>
                    <a:srgbClr val="002D62"/>
                  </a:solidFill>
                  <a:latin typeface="Arial" charset="0"/>
                </a:defRPr>
              </a:lvl3pPr>
              <a:lvl4pPr marL="1600200" indent="-228600" defTabSz="954088">
                <a:defRPr sz="2000">
                  <a:solidFill>
                    <a:srgbClr val="002D62"/>
                  </a:solidFill>
                  <a:latin typeface="Arial" charset="0"/>
                </a:defRPr>
              </a:lvl4pPr>
              <a:lvl5pPr marL="2057400" indent="-228600" defTabSz="954088">
                <a:defRPr sz="2000">
                  <a:solidFill>
                    <a:srgbClr val="002D62"/>
                  </a:solidFill>
                  <a:latin typeface="Arial" charset="0"/>
                </a:defRPr>
              </a:lvl5pPr>
              <a:lvl6pPr marL="25146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6pPr>
              <a:lvl7pPr marL="29718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7pPr>
              <a:lvl8pPr marL="34290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8pPr>
              <a:lvl9pPr marL="38862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9pPr>
            </a:lstStyle>
            <a:p>
              <a:pPr algn="ctr">
                <a:spcBef>
                  <a:spcPct val="50000"/>
                </a:spcBef>
              </a:pPr>
              <a:r>
                <a:rPr lang="en-US" sz="1400" b="1" dirty="0" smtClean="0">
                  <a:solidFill>
                    <a:schemeClr val="tx1"/>
                  </a:solidFill>
                  <a:latin typeface="Verdana" pitchFamily="34" charset="0"/>
                  <a:ea typeface="Verdana" pitchFamily="34" charset="0"/>
                  <a:cs typeface="Verdana" pitchFamily="34" charset="0"/>
                </a:rPr>
                <a:t>3</a:t>
              </a:r>
              <a:endParaRPr lang="en-US" sz="1400" b="1" dirty="0">
                <a:solidFill>
                  <a:schemeClr val="tx1"/>
                </a:solidFill>
                <a:latin typeface="Verdana" pitchFamily="34" charset="0"/>
                <a:ea typeface="Verdana" pitchFamily="34" charset="0"/>
                <a:cs typeface="Verdana" pitchFamily="34" charset="0"/>
              </a:endParaRPr>
            </a:p>
          </p:txBody>
        </p:sp>
      </p:grpSp>
      <p:sp>
        <p:nvSpPr>
          <p:cNvPr id="16" name="Rectangle 17"/>
          <p:cNvSpPr>
            <a:spLocks noChangeArrowheads="1"/>
          </p:cNvSpPr>
          <p:nvPr/>
        </p:nvSpPr>
        <p:spPr bwMode="auto">
          <a:xfrm>
            <a:off x="3111500" y="4429125"/>
            <a:ext cx="241300" cy="295275"/>
          </a:xfrm>
          <a:prstGeom prst="rect">
            <a:avLst/>
          </a:prstGeom>
          <a:noFill/>
          <a:ln w="28575" algn="ctr">
            <a:solidFill>
              <a:srgbClr val="FF0000"/>
            </a:solidFill>
            <a:miter lim="800000"/>
            <a:headEnd/>
            <a:tailEnd/>
          </a:ln>
          <a:effectLst/>
        </p:spPr>
        <p:txBody>
          <a:bodyPr wrap="none" anchor="ctr"/>
          <a:lstStyle/>
          <a:p>
            <a:endParaRPr lang="en-US">
              <a:solidFill>
                <a:schemeClr val="bg2"/>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12439905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Display a Search Help – List and create a Personal list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N/A</a:t>
            </a:r>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72</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r>
              <a:rPr lang="en-US" b="1" dirty="0" smtClean="0"/>
              <a:t>Scenario:</a:t>
            </a:r>
          </a:p>
          <a:p>
            <a:r>
              <a:rPr lang="en-US" dirty="0" smtClean="0"/>
              <a:t>You often search for G/L account numbers and would like to create a Personal List for just the G/L account numbers you use most often.</a:t>
            </a:r>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b="1" dirty="0" smtClean="0"/>
              <a:t>Exercise: 3.1 Create a Personal List</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Tree>
    <p:extLst>
      <p:ext uri="{BB962C8B-B14F-4D97-AF65-F5344CB8AC3E}">
        <p14:creationId xmlns:p14="http://schemas.microsoft.com/office/powerpoint/2010/main" val="403787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True or False - You must enter data in all fields on a screen before moving on to the next screen.</a:t>
            </a:r>
          </a:p>
          <a:p>
            <a:pPr marL="457200" indent="-457200">
              <a:buClrTx/>
              <a:buFont typeface="+mj-lt"/>
              <a:buAutoNum type="arabicPeriod"/>
            </a:pPr>
            <a:r>
              <a:rPr lang="en-US" dirty="0" smtClean="0"/>
              <a:t>True or False – if a field already contains data when you access the transaction, you cannot change it.</a:t>
            </a:r>
          </a:p>
          <a:p>
            <a:pPr marL="457200" indent="-457200">
              <a:buClrTx/>
              <a:buFont typeface="+mj-lt"/>
              <a:buAutoNum type="arabicPeriod"/>
            </a:pPr>
            <a:r>
              <a:rPr lang="en-US" dirty="0" smtClean="0"/>
              <a:t>What type of field allows you to select more than one item or group of options?</a:t>
            </a:r>
          </a:p>
          <a:p>
            <a:pPr marL="457200" indent="-457200">
              <a:buClrTx/>
              <a:buFont typeface="+mj-lt"/>
              <a:buAutoNum type="arabicPeriod"/>
            </a:pPr>
            <a:r>
              <a:rPr lang="en-US" dirty="0" smtClean="0"/>
              <a:t>Name the two types of results you get when you click a matchcode.</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74</a:t>
            </a:fld>
            <a:endParaRPr lang="en-US" dirty="0">
              <a:solidFill>
                <a:schemeClr val="bg2"/>
              </a:solidFill>
            </a:endParaRPr>
          </a:p>
        </p:txBody>
      </p:sp>
    </p:spTree>
    <p:extLst>
      <p:ext uri="{BB962C8B-B14F-4D97-AF65-F5344CB8AC3E}">
        <p14:creationId xmlns:p14="http://schemas.microsoft.com/office/powerpoint/2010/main" val="1747495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9798" y="2095500"/>
            <a:ext cx="4037239" cy="3276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smtClean="0"/>
              <a:t>Search Help - Help</a:t>
            </a:r>
            <a:endParaRPr lang="en-US" dirty="0"/>
          </a:p>
        </p:txBody>
      </p:sp>
      <p:sp>
        <p:nvSpPr>
          <p:cNvPr id="3" name="Content Placeholder 2"/>
          <p:cNvSpPr>
            <a:spLocks noGrp="1"/>
          </p:cNvSpPr>
          <p:nvPr>
            <p:ph idx="1"/>
          </p:nvPr>
        </p:nvSpPr>
        <p:spPr>
          <a:xfrm>
            <a:off x="301625" y="990601"/>
            <a:ext cx="8537575" cy="1143000"/>
          </a:xfrm>
        </p:spPr>
        <p:txBody>
          <a:bodyPr/>
          <a:lstStyle/>
          <a:p>
            <a:r>
              <a:rPr lang="en-US" dirty="0"/>
              <a:t>When you click      in a field that has a vast number of values, you get a dialog box that allows you to narrow down the list of entries.</a:t>
            </a:r>
          </a:p>
          <a:p>
            <a:endParaRPr lang="en-US" dirty="0"/>
          </a:p>
        </p:txBody>
      </p:sp>
      <p:pic>
        <p:nvPicPr>
          <p:cNvPr id="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8347" y="1009214"/>
            <a:ext cx="319087"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3"/>
          <p:cNvSpPr txBox="1">
            <a:spLocks noChangeArrowheads="1"/>
          </p:cNvSpPr>
          <p:nvPr/>
        </p:nvSpPr>
        <p:spPr bwMode="auto">
          <a:xfrm>
            <a:off x="381000" y="2057400"/>
            <a:ext cx="3771900"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sz="2000">
                <a:solidFill>
                  <a:srgbClr val="002D62"/>
                </a:solidFill>
                <a:latin typeface="Arial" charset="0"/>
              </a:defRPr>
            </a:lvl1pPr>
            <a:lvl2pPr marL="742950" indent="-285750" defTabSz="954088">
              <a:defRPr sz="2000">
                <a:solidFill>
                  <a:srgbClr val="002D62"/>
                </a:solidFill>
                <a:latin typeface="Arial" charset="0"/>
              </a:defRPr>
            </a:lvl2pPr>
            <a:lvl3pPr marL="1143000" indent="-228600" defTabSz="954088">
              <a:defRPr sz="2000">
                <a:solidFill>
                  <a:srgbClr val="002D62"/>
                </a:solidFill>
                <a:latin typeface="Arial" charset="0"/>
              </a:defRPr>
            </a:lvl3pPr>
            <a:lvl4pPr marL="1600200" indent="-228600" defTabSz="954088">
              <a:defRPr sz="2000">
                <a:solidFill>
                  <a:srgbClr val="002D62"/>
                </a:solidFill>
                <a:latin typeface="Arial" charset="0"/>
              </a:defRPr>
            </a:lvl4pPr>
            <a:lvl5pPr marL="2057400" indent="-228600" defTabSz="954088">
              <a:defRPr sz="2000">
                <a:solidFill>
                  <a:srgbClr val="002D62"/>
                </a:solidFill>
                <a:latin typeface="Arial" charset="0"/>
              </a:defRPr>
            </a:lvl5pPr>
            <a:lvl6pPr marL="25146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6pPr>
            <a:lvl7pPr marL="29718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7pPr>
            <a:lvl8pPr marL="34290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8pPr>
            <a:lvl9pPr marL="3886200" indent="-228600" defTabSz="954088" eaLnBrk="0" fontAlgn="base" hangingPunct="0">
              <a:lnSpc>
                <a:spcPct val="90000"/>
              </a:lnSpc>
              <a:spcBef>
                <a:spcPct val="15000"/>
              </a:spcBef>
              <a:spcAft>
                <a:spcPct val="15000"/>
              </a:spcAft>
              <a:buFont typeface="Symbol" pitchFamily="18" charset="2"/>
              <a:defRPr sz="2000">
                <a:solidFill>
                  <a:srgbClr val="002D62"/>
                </a:solidFill>
                <a:latin typeface="Arial" charset="0"/>
              </a:defRPr>
            </a:lvl9pPr>
          </a:lstStyle>
          <a:p>
            <a:pPr marL="285750" indent="-285750">
              <a:spcBef>
                <a:spcPct val="50000"/>
              </a:spcBef>
              <a:buClr>
                <a:srgbClr val="004B91"/>
              </a:buClr>
              <a:buFont typeface="Arial" pitchFamily="34" charset="0"/>
              <a:buChar char="•"/>
            </a:pPr>
            <a:r>
              <a:rPr lang="en-US" sz="1800" dirty="0" smtClean="0">
                <a:solidFill>
                  <a:schemeClr val="accent4">
                    <a:lumMod val="10000"/>
                  </a:schemeClr>
                </a:solidFill>
                <a:latin typeface="Verdana" pitchFamily="34" charset="0"/>
                <a:ea typeface="Verdana" pitchFamily="34" charset="0"/>
                <a:cs typeface="Verdana" pitchFamily="34" charset="0"/>
              </a:rPr>
              <a:t>This </a:t>
            </a:r>
            <a:r>
              <a:rPr lang="en-US" sz="1800" dirty="0">
                <a:solidFill>
                  <a:schemeClr val="accent4">
                    <a:lumMod val="10000"/>
                  </a:schemeClr>
                </a:solidFill>
                <a:latin typeface="Verdana" pitchFamily="34" charset="0"/>
                <a:ea typeface="Verdana" pitchFamily="34" charset="0"/>
                <a:cs typeface="Verdana" pitchFamily="34" charset="0"/>
              </a:rPr>
              <a:t>type of search uses the matchcode functionality that allows you to restrict the data</a:t>
            </a:r>
          </a:p>
          <a:p>
            <a:pPr marL="285750" indent="-285750">
              <a:spcBef>
                <a:spcPct val="50000"/>
              </a:spcBef>
              <a:buClr>
                <a:srgbClr val="004B91"/>
              </a:buClr>
              <a:buFont typeface="Arial" pitchFamily="34" charset="0"/>
              <a:buChar char="•"/>
            </a:pPr>
            <a:r>
              <a:rPr lang="en-US" sz="1800" dirty="0">
                <a:solidFill>
                  <a:schemeClr val="accent4">
                    <a:lumMod val="10000"/>
                  </a:schemeClr>
                </a:solidFill>
                <a:latin typeface="Verdana" pitchFamily="34" charset="0"/>
                <a:ea typeface="Verdana" pitchFamily="34" charset="0"/>
                <a:cs typeface="Verdana" pitchFamily="34" charset="0"/>
              </a:rPr>
              <a:t> A </a:t>
            </a:r>
            <a:r>
              <a:rPr lang="en-US" sz="1800" b="1" dirty="0">
                <a:solidFill>
                  <a:schemeClr val="accent4">
                    <a:lumMod val="10000"/>
                  </a:schemeClr>
                </a:solidFill>
                <a:latin typeface="Verdana" pitchFamily="34" charset="0"/>
                <a:ea typeface="Verdana" pitchFamily="34" charset="0"/>
                <a:cs typeface="Verdana" pitchFamily="34" charset="0"/>
              </a:rPr>
              <a:t>matchcode</a:t>
            </a:r>
            <a:r>
              <a:rPr lang="en-US" sz="1800" dirty="0">
                <a:solidFill>
                  <a:schemeClr val="accent4">
                    <a:lumMod val="10000"/>
                  </a:schemeClr>
                </a:solidFill>
                <a:latin typeface="Verdana" pitchFamily="34" charset="0"/>
                <a:ea typeface="Verdana" pitchFamily="34" charset="0"/>
                <a:cs typeface="Verdana" pitchFamily="34" charset="0"/>
              </a:rPr>
              <a:t> is a search tool that allows you to locate data by entering information contained in the record</a:t>
            </a:r>
          </a:p>
          <a:p>
            <a:pPr marL="687388" lvl="1">
              <a:spcBef>
                <a:spcPct val="50000"/>
              </a:spcBef>
              <a:buClr>
                <a:srgbClr val="004B91"/>
              </a:buClr>
              <a:buFont typeface="Arial" pitchFamily="34" charset="0"/>
              <a:buChar char="•"/>
            </a:pPr>
            <a:r>
              <a:rPr lang="en-US" sz="1800" dirty="0">
                <a:solidFill>
                  <a:schemeClr val="accent4">
                    <a:lumMod val="10000"/>
                  </a:schemeClr>
                </a:solidFill>
                <a:latin typeface="Verdana" pitchFamily="34" charset="0"/>
                <a:ea typeface="Verdana" pitchFamily="34" charset="0"/>
                <a:cs typeface="Verdana" pitchFamily="34" charset="0"/>
              </a:rPr>
              <a:t> </a:t>
            </a:r>
            <a:r>
              <a:rPr lang="en-US" sz="1800" b="1" i="1" dirty="0">
                <a:solidFill>
                  <a:schemeClr val="accent4">
                    <a:lumMod val="10000"/>
                  </a:schemeClr>
                </a:solidFill>
                <a:latin typeface="Verdana" pitchFamily="34" charset="0"/>
                <a:ea typeface="Verdana" pitchFamily="34" charset="0"/>
                <a:cs typeface="Verdana" pitchFamily="34" charset="0"/>
              </a:rPr>
              <a:t>For example</a:t>
            </a:r>
            <a:r>
              <a:rPr lang="en-US" sz="1800" dirty="0">
                <a:solidFill>
                  <a:schemeClr val="accent4">
                    <a:lumMod val="10000"/>
                  </a:schemeClr>
                </a:solidFill>
                <a:latin typeface="Verdana" pitchFamily="34" charset="0"/>
                <a:ea typeface="Verdana" pitchFamily="34" charset="0"/>
                <a:cs typeface="Verdana" pitchFamily="34" charset="0"/>
              </a:rPr>
              <a:t>, you can search for a customer number by using the customer’s name as a search criteria</a:t>
            </a:r>
          </a:p>
          <a:p>
            <a:pPr>
              <a:spcBef>
                <a:spcPct val="50000"/>
              </a:spcBef>
              <a:buClr>
                <a:srgbClr val="004B91"/>
              </a:buClr>
            </a:pPr>
            <a:endParaRPr lang="en-US" sz="1800" dirty="0">
              <a:solidFill>
                <a:schemeClr val="bg2"/>
              </a:solidFill>
              <a:latin typeface="Verdana" pitchFamily="34" charset="0"/>
              <a:ea typeface="Verdana" pitchFamily="34" charset="0"/>
              <a:cs typeface="Verdana" pitchFamily="34" charset="0"/>
            </a:endParaRPr>
          </a:p>
        </p:txBody>
      </p:sp>
      <p:sp>
        <p:nvSpPr>
          <p:cNvPr id="7" name="AutoShape 15"/>
          <p:cNvSpPr>
            <a:spLocks noChangeArrowheads="1"/>
          </p:cNvSpPr>
          <p:nvPr/>
        </p:nvSpPr>
        <p:spPr bwMode="auto">
          <a:xfrm>
            <a:off x="4152900" y="4991100"/>
            <a:ext cx="4491037" cy="1638300"/>
          </a:xfrm>
          <a:prstGeom prst="wedgeRectCallout">
            <a:avLst>
              <a:gd name="adj1" fmla="val -16534"/>
              <a:gd name="adj2" fmla="val -107663"/>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600" dirty="0">
                <a:solidFill>
                  <a:srgbClr val="000000"/>
                </a:solidFill>
                <a:latin typeface="Arial" pitchFamily="34" charset="0"/>
                <a:ea typeface="Verdana" pitchFamily="34" charset="0"/>
                <a:cs typeface="Arial" pitchFamily="34" charset="0"/>
              </a:rPr>
              <a:t>Maximum No. of Hits – This field defaults to 500, indicating that only the first 500 values that meet the search criteria will appear in the search results. You can change this number. However, be aware that increasing this number may slow the system’s performance.</a:t>
            </a:r>
          </a:p>
        </p:txBody>
      </p:sp>
      <p:sp>
        <p:nvSpPr>
          <p:cNvPr id="8" name="AutoShape 16"/>
          <p:cNvSpPr>
            <a:spLocks noChangeArrowheads="1"/>
          </p:cNvSpPr>
          <p:nvPr/>
        </p:nvSpPr>
        <p:spPr bwMode="auto">
          <a:xfrm>
            <a:off x="6639089" y="2743200"/>
            <a:ext cx="2335212" cy="1143000"/>
          </a:xfrm>
          <a:prstGeom prst="wedgeRectCallout">
            <a:avLst>
              <a:gd name="adj1" fmla="val -69145"/>
              <a:gd name="adj2" fmla="val -40019"/>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600" dirty="0">
                <a:solidFill>
                  <a:srgbClr val="000000"/>
                </a:solidFill>
                <a:latin typeface="Arial" pitchFamily="34" charset="0"/>
                <a:ea typeface="Verdana" pitchFamily="34" charset="0"/>
                <a:cs typeface="Arial" pitchFamily="34" charset="0"/>
              </a:rPr>
              <a:t>Some search fields are free text, while others allow you to select from a list of categories</a:t>
            </a:r>
            <a:r>
              <a:rPr lang="en-US" sz="1600" dirty="0" smtClean="0">
                <a:solidFill>
                  <a:srgbClr val="000000"/>
                </a:solidFill>
                <a:latin typeface="Arial" pitchFamily="34" charset="0"/>
                <a:ea typeface="Verdana" pitchFamily="34" charset="0"/>
                <a:cs typeface="Arial" pitchFamily="34" charset="0"/>
              </a:rPr>
              <a:t>.</a:t>
            </a:r>
            <a:endParaRPr lang="en-US" sz="1600" dirty="0">
              <a:solidFill>
                <a:srgbClr val="000000"/>
              </a:solidFill>
              <a:latin typeface="Arial" pitchFamily="34" charset="0"/>
              <a:ea typeface="Verdana" pitchFamily="34" charset="0"/>
              <a:cs typeface="Arial" pitchFamily="34" charset="0"/>
            </a:endParaRPr>
          </a:p>
        </p:txBody>
      </p:sp>
    </p:spTree>
    <p:extLst>
      <p:ext uri="{BB962C8B-B14F-4D97-AF65-F5344CB8AC3E}">
        <p14:creationId xmlns:p14="http://schemas.microsoft.com/office/powerpoint/2010/main" val="7174741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Wildcard Search</a:t>
            </a:r>
            <a:endParaRPr lang="en-US" dirty="0"/>
          </a:p>
        </p:txBody>
      </p:sp>
      <p:sp>
        <p:nvSpPr>
          <p:cNvPr id="3" name="Content Placeholder 2"/>
          <p:cNvSpPr>
            <a:spLocks noGrp="1"/>
          </p:cNvSpPr>
          <p:nvPr>
            <p:ph idx="1"/>
          </p:nvPr>
        </p:nvSpPr>
        <p:spPr>
          <a:xfrm>
            <a:off x="301625" y="990601"/>
            <a:ext cx="8537575" cy="685800"/>
          </a:xfrm>
        </p:spPr>
        <p:txBody>
          <a:bodyPr/>
          <a:lstStyle/>
          <a:p>
            <a:r>
              <a:rPr lang="en-US" dirty="0">
                <a:solidFill>
                  <a:schemeClr val="bg2"/>
                </a:solidFill>
                <a:cs typeface="Times New Roman" pitchFamily="18" charset="0"/>
              </a:rPr>
              <a:t>Wildcard (asterisk </a:t>
            </a:r>
            <a:r>
              <a:rPr lang="en-US" b="1" dirty="0">
                <a:solidFill>
                  <a:schemeClr val="bg2"/>
                </a:solidFill>
                <a:cs typeface="Times New Roman" pitchFamily="18" charset="0"/>
              </a:rPr>
              <a:t>*</a:t>
            </a:r>
            <a:r>
              <a:rPr lang="en-US" dirty="0">
                <a:solidFill>
                  <a:schemeClr val="bg2"/>
                </a:solidFill>
                <a:cs typeface="Times New Roman" pitchFamily="18" charset="0"/>
              </a:rPr>
              <a:t>) placement determines the search results.  </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39693583"/>
              </p:ext>
            </p:extLst>
          </p:nvPr>
        </p:nvGraphicFramePr>
        <p:xfrm>
          <a:off x="357187" y="1676400"/>
          <a:ext cx="8177213" cy="4358640"/>
        </p:xfrm>
        <a:graphic>
          <a:graphicData uri="http://schemas.openxmlformats.org/drawingml/2006/table">
            <a:tbl>
              <a:tblPr/>
              <a:tblGrid>
                <a:gridCol w="1953140"/>
                <a:gridCol w="6224073"/>
              </a:tblGrid>
              <a:tr h="1511300">
                <a:tc>
                  <a:txBody>
                    <a:bodyPr/>
                    <a:lstStyle/>
                    <a:p>
                      <a:pPr marL="0" marR="0" lvl="0" indent="0" algn="ctr" defTabSz="954088" rtl="0" eaLnBrk="0" fontAlgn="base" latinLnBrk="0" hangingPunct="0">
                        <a:lnSpc>
                          <a:spcPct val="90000"/>
                        </a:lnSpc>
                        <a:spcBef>
                          <a:spcPct val="15000"/>
                        </a:spcBef>
                        <a:spcAft>
                          <a:spcPct val="15000"/>
                        </a:spcAft>
                        <a:buClrTx/>
                        <a:buSzTx/>
                        <a:buFont typeface="Times" pitchFamily="18" charset="0"/>
                        <a:buNone/>
                        <a:tabLst/>
                      </a:pPr>
                      <a:r>
                        <a:rPr kumimoji="0" lang="en-US" sz="2000" b="1" i="0" u="none" strike="noStrike" cap="none" normalizeH="0" baseline="0" dirty="0" smtClean="0">
                          <a:ln>
                            <a:noFill/>
                          </a:ln>
                          <a:solidFill>
                            <a:schemeClr val="tx1"/>
                          </a:solidFill>
                          <a:effectLst/>
                          <a:latin typeface="Verdana" pitchFamily="34" charset="0"/>
                          <a:ea typeface="Verdana" pitchFamily="34" charset="0"/>
                          <a:cs typeface="Verdana" pitchFamily="34" charset="0"/>
                        </a:rPr>
                        <a:t>*sentry* </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cell3D prstMaterial="dkEdge">
                      <a:bevel prst="riblet"/>
                      <a:lightRig rig="flood" dir="t"/>
                    </a:cell3D>
                    <a:solidFill>
                      <a:srgbClr val="002E62"/>
                    </a:solidFill>
                  </a:tcPr>
                </a:tc>
                <a:tc>
                  <a:txBody>
                    <a:bodyPr/>
                    <a:lstStyle/>
                    <a:p>
                      <a:pPr marL="0" marR="0" lvl="0" indent="0" algn="l" defTabSz="954088" rtl="0" eaLnBrk="0" fontAlgn="base" latinLnBrk="0" hangingPunct="0">
                        <a:lnSpc>
                          <a:spcPct val="90000"/>
                        </a:lnSpc>
                        <a:spcBef>
                          <a:spcPct val="15000"/>
                        </a:spcBef>
                        <a:spcAft>
                          <a:spcPts val="600"/>
                        </a:spcAft>
                        <a:buClrTx/>
                        <a:buSzTx/>
                        <a:buFont typeface="Times" pitchFamily="18" charset="0"/>
                        <a:buNone/>
                        <a:tabLst/>
                      </a:pPr>
                      <a:r>
                        <a:rPr kumimoji="0" lang="en-US" sz="2000" b="0" i="0" u="none" strike="noStrike" cap="none" normalizeH="0" baseline="0" dirty="0" smtClean="0">
                          <a:ln>
                            <a:noFill/>
                          </a:ln>
                          <a:solidFill>
                            <a:schemeClr val="bg2"/>
                          </a:solidFill>
                          <a:effectLst/>
                          <a:latin typeface="Verdana" pitchFamily="34" charset="0"/>
                          <a:ea typeface="Verdana" pitchFamily="34" charset="0"/>
                          <a:cs typeface="Verdana" pitchFamily="34" charset="0"/>
                        </a:rPr>
                        <a:t>Wildcards before and after the search term displays vendors that contains sentry </a:t>
                      </a:r>
                      <a:r>
                        <a:rPr kumimoji="0" lang="en-US" sz="2000" b="1" i="0" u="none" strike="noStrike" cap="none" normalizeH="0" baseline="0" dirty="0" smtClean="0">
                          <a:ln>
                            <a:noFill/>
                          </a:ln>
                          <a:solidFill>
                            <a:schemeClr val="bg2"/>
                          </a:solidFill>
                          <a:effectLst/>
                          <a:latin typeface="Verdana" pitchFamily="34" charset="0"/>
                          <a:ea typeface="Verdana" pitchFamily="34" charset="0"/>
                          <a:cs typeface="Verdana" pitchFamily="34" charset="0"/>
                        </a:rPr>
                        <a:t>ANYWHERE</a:t>
                      </a:r>
                      <a:r>
                        <a:rPr kumimoji="0" lang="en-US" sz="2000" b="0" i="0" u="none" strike="noStrike" cap="none" normalizeH="0" baseline="0" dirty="0" smtClean="0">
                          <a:ln>
                            <a:noFill/>
                          </a:ln>
                          <a:solidFill>
                            <a:schemeClr val="bg2"/>
                          </a:solidFill>
                          <a:effectLst/>
                          <a:latin typeface="Verdana" pitchFamily="34" charset="0"/>
                          <a:ea typeface="Verdana" pitchFamily="34" charset="0"/>
                          <a:cs typeface="Verdana" pitchFamily="34" charset="0"/>
                        </a:rPr>
                        <a:t> in the name.  In other words, you do not know what comes before sentry and you do not know what comes after sentry.</a:t>
                      </a:r>
                    </a:p>
                    <a:p>
                      <a:pPr marL="0" marR="0" lvl="0" indent="0" algn="l" defTabSz="954088" rtl="0" eaLnBrk="0" fontAlgn="base" latinLnBrk="0" hangingPunct="0">
                        <a:lnSpc>
                          <a:spcPct val="90000"/>
                        </a:lnSpc>
                        <a:spcBef>
                          <a:spcPct val="15000"/>
                        </a:spcBef>
                        <a:spcAft>
                          <a:spcPts val="600"/>
                        </a:spcAft>
                        <a:buClrTx/>
                        <a:buSzTx/>
                        <a:buFont typeface="Times" pitchFamily="18" charset="0"/>
                        <a:buNone/>
                        <a:tabLst/>
                      </a:pPr>
                      <a:r>
                        <a:rPr kumimoji="0" lang="en-US" sz="2000" b="0" i="0" u="none" strike="noStrike" cap="none" normalizeH="0" baseline="0" dirty="0" smtClean="0">
                          <a:ln>
                            <a:noFill/>
                          </a:ln>
                          <a:solidFill>
                            <a:schemeClr val="bg2"/>
                          </a:solidFill>
                          <a:effectLst/>
                          <a:latin typeface="Verdana" pitchFamily="34" charset="0"/>
                          <a:ea typeface="Verdana" pitchFamily="34" charset="0"/>
                          <a:cs typeface="Verdana" pitchFamily="34" charset="0"/>
                        </a:rPr>
                        <a:t> </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1046163">
                <a:tc>
                  <a:txBody>
                    <a:bodyPr/>
                    <a:lstStyle/>
                    <a:p>
                      <a:pPr marL="0" marR="0" lvl="0" indent="0" algn="ctr" defTabSz="954088" rtl="0" eaLnBrk="0" fontAlgn="base" latinLnBrk="0" hangingPunct="0">
                        <a:lnSpc>
                          <a:spcPct val="90000"/>
                        </a:lnSpc>
                        <a:spcBef>
                          <a:spcPct val="15000"/>
                        </a:spcBef>
                        <a:spcAft>
                          <a:spcPct val="15000"/>
                        </a:spcAft>
                        <a:buClrTx/>
                        <a:buSzTx/>
                        <a:buFont typeface="Times" pitchFamily="18" charset="0"/>
                        <a:buNone/>
                        <a:tabLst/>
                      </a:pPr>
                      <a:r>
                        <a:rPr kumimoji="0" lang="en-US" sz="2000" b="1" i="0" u="none" strike="noStrike" cap="none" normalizeH="0" baseline="0" dirty="0" smtClean="0">
                          <a:ln>
                            <a:noFill/>
                          </a:ln>
                          <a:solidFill>
                            <a:schemeClr val="tx1"/>
                          </a:solidFill>
                          <a:effectLst/>
                          <a:latin typeface="Verdana" pitchFamily="34" charset="0"/>
                          <a:ea typeface="Verdana" pitchFamily="34" charset="0"/>
                          <a:cs typeface="Verdana" pitchFamily="34" charset="0"/>
                        </a:rPr>
                        <a:t>*sentry </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cell3D prstMaterial="dkEdge">
                      <a:bevel prst="coolSlant"/>
                      <a:lightRig rig="flood" dir="t"/>
                    </a:cell3D>
                    <a:solidFill>
                      <a:srgbClr val="002E62"/>
                    </a:solidFill>
                  </a:tcPr>
                </a:tc>
                <a:tc>
                  <a:txBody>
                    <a:bodyPr/>
                    <a:lstStyle/>
                    <a:p>
                      <a:pPr marL="0" marR="0" lvl="0" indent="0" algn="l" defTabSz="954088" rtl="0" eaLnBrk="0" fontAlgn="base" latinLnBrk="0" hangingPunct="0">
                        <a:lnSpc>
                          <a:spcPct val="90000"/>
                        </a:lnSpc>
                        <a:spcBef>
                          <a:spcPct val="15000"/>
                        </a:spcBef>
                        <a:spcAft>
                          <a:spcPts val="600"/>
                        </a:spcAft>
                        <a:buClrTx/>
                        <a:buSzTx/>
                        <a:buFont typeface="Times" pitchFamily="18" charset="0"/>
                        <a:buNone/>
                        <a:tabLst/>
                      </a:pPr>
                      <a:r>
                        <a:rPr kumimoji="0" lang="en-US" sz="2000" b="0" i="0" u="none" strike="noStrike" cap="none" normalizeH="0" baseline="0" dirty="0" smtClean="0">
                          <a:ln>
                            <a:noFill/>
                          </a:ln>
                          <a:solidFill>
                            <a:schemeClr val="bg2"/>
                          </a:solidFill>
                          <a:effectLst/>
                          <a:latin typeface="Verdana" pitchFamily="34" charset="0"/>
                          <a:ea typeface="Verdana" pitchFamily="34" charset="0"/>
                          <a:cs typeface="Verdana" pitchFamily="34" charset="0"/>
                        </a:rPr>
                        <a:t>Wildcard before the search term displays vendors where the word sentry is </a:t>
                      </a:r>
                      <a:r>
                        <a:rPr kumimoji="0" lang="en-US" sz="2000" b="1" i="0" u="none" strike="noStrike" cap="none" normalizeH="0" baseline="0" dirty="0" smtClean="0">
                          <a:ln>
                            <a:noFill/>
                          </a:ln>
                          <a:solidFill>
                            <a:schemeClr val="bg2"/>
                          </a:solidFill>
                          <a:effectLst/>
                          <a:latin typeface="Verdana" pitchFamily="34" charset="0"/>
                          <a:ea typeface="Verdana" pitchFamily="34" charset="0"/>
                          <a:cs typeface="Verdana" pitchFamily="34" charset="0"/>
                        </a:rPr>
                        <a:t>NOT</a:t>
                      </a:r>
                      <a:r>
                        <a:rPr kumimoji="0" lang="en-US" sz="2000" b="0" i="0" u="none" strike="noStrike" cap="none" normalizeH="0" baseline="0" dirty="0" smtClean="0">
                          <a:ln>
                            <a:noFill/>
                          </a:ln>
                          <a:solidFill>
                            <a:schemeClr val="bg2"/>
                          </a:solidFill>
                          <a:effectLst/>
                          <a:latin typeface="Verdana" pitchFamily="34" charset="0"/>
                          <a:ea typeface="Verdana" pitchFamily="34" charset="0"/>
                          <a:cs typeface="Verdana" pitchFamily="34" charset="0"/>
                        </a:rPr>
                        <a:t> the first word in the vendor name – (unless Sentry is the only word). </a:t>
                      </a:r>
                    </a:p>
                    <a:p>
                      <a:pPr marL="0" marR="0" lvl="0" indent="0" algn="l" defTabSz="954088" rtl="0" eaLnBrk="0" fontAlgn="base" latinLnBrk="0" hangingPunct="0">
                        <a:lnSpc>
                          <a:spcPct val="90000"/>
                        </a:lnSpc>
                        <a:spcBef>
                          <a:spcPct val="15000"/>
                        </a:spcBef>
                        <a:spcAft>
                          <a:spcPts val="600"/>
                        </a:spcAft>
                        <a:buClrTx/>
                        <a:buSzTx/>
                        <a:buFont typeface="Times" pitchFamily="18" charset="0"/>
                        <a:buNone/>
                        <a:tabLst/>
                      </a:pPr>
                      <a:endParaRPr kumimoji="0" lang="en-US" sz="2000" b="0" i="0" u="none" strike="noStrike" cap="none" normalizeH="0" baseline="0" dirty="0" smtClean="0">
                        <a:ln>
                          <a:noFill/>
                        </a:ln>
                        <a:solidFill>
                          <a:schemeClr val="bg2"/>
                        </a:solidFill>
                        <a:effectLst/>
                        <a:latin typeface="Verdana" pitchFamily="34" charset="0"/>
                        <a:ea typeface="Verdana" pitchFamily="34" charset="0"/>
                        <a:cs typeface="Verdana" pitchFamily="34" charset="0"/>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911225">
                <a:tc>
                  <a:txBody>
                    <a:bodyPr/>
                    <a:lstStyle/>
                    <a:p>
                      <a:pPr marL="0" marR="0" lvl="0" indent="0" algn="ctr" defTabSz="954088" rtl="0" eaLnBrk="0" fontAlgn="base" latinLnBrk="0" hangingPunct="0">
                        <a:lnSpc>
                          <a:spcPct val="90000"/>
                        </a:lnSpc>
                        <a:spcBef>
                          <a:spcPct val="15000"/>
                        </a:spcBef>
                        <a:spcAft>
                          <a:spcPct val="15000"/>
                        </a:spcAft>
                        <a:buClrTx/>
                        <a:buSzTx/>
                        <a:buFont typeface="Times" pitchFamily="18" charset="0"/>
                        <a:buNone/>
                        <a:tabLst/>
                      </a:pPr>
                      <a:r>
                        <a:rPr kumimoji="0" lang="en-US" sz="2000" b="1" i="0" u="none" strike="noStrike" cap="none" normalizeH="0" baseline="0" dirty="0" smtClean="0">
                          <a:ln>
                            <a:noFill/>
                          </a:ln>
                          <a:solidFill>
                            <a:schemeClr val="tx1"/>
                          </a:solidFill>
                          <a:effectLst/>
                          <a:latin typeface="Verdana" pitchFamily="34" charset="0"/>
                          <a:ea typeface="Verdana" pitchFamily="34" charset="0"/>
                          <a:cs typeface="Verdana" pitchFamily="34" charset="0"/>
                        </a:rPr>
                        <a:t>sentry* </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cell3D prstMaterial="dkEdge">
                      <a:bevel prst="coolSlant"/>
                      <a:lightRig rig="flood" dir="t"/>
                    </a:cell3D>
                    <a:solidFill>
                      <a:srgbClr val="002E62"/>
                    </a:solidFill>
                  </a:tcPr>
                </a:tc>
                <a:tc>
                  <a:txBody>
                    <a:bodyPr/>
                    <a:lstStyle/>
                    <a:p>
                      <a:pPr marL="0" marR="0" lvl="0" indent="0" algn="l" defTabSz="954088" rtl="0" eaLnBrk="0" fontAlgn="base" latinLnBrk="0" hangingPunct="0">
                        <a:lnSpc>
                          <a:spcPct val="90000"/>
                        </a:lnSpc>
                        <a:spcBef>
                          <a:spcPct val="15000"/>
                        </a:spcBef>
                        <a:spcAft>
                          <a:spcPct val="15000"/>
                        </a:spcAft>
                        <a:buClrTx/>
                        <a:buSzTx/>
                        <a:buFont typeface="Times" pitchFamily="18" charset="0"/>
                        <a:buNone/>
                        <a:tabLst/>
                      </a:pPr>
                      <a:r>
                        <a:rPr kumimoji="0" lang="en-US" sz="2000" b="0" i="0" u="none" strike="noStrike" cap="none" normalizeH="0" baseline="0" dirty="0" smtClean="0">
                          <a:ln>
                            <a:noFill/>
                          </a:ln>
                          <a:solidFill>
                            <a:schemeClr val="bg2"/>
                          </a:solidFill>
                          <a:effectLst/>
                          <a:latin typeface="Verdana" pitchFamily="34" charset="0"/>
                          <a:ea typeface="Verdana" pitchFamily="34" charset="0"/>
                          <a:cs typeface="Verdana" pitchFamily="34" charset="0"/>
                        </a:rPr>
                        <a:t>Wildcard after the search term displays vendors where the word sentry</a:t>
                      </a:r>
                      <a:r>
                        <a:rPr kumimoji="0" lang="en-US" sz="2000" b="1" i="0" u="none" strike="noStrike" cap="none" normalizeH="0" baseline="0" dirty="0" smtClean="0">
                          <a:ln>
                            <a:noFill/>
                          </a:ln>
                          <a:solidFill>
                            <a:schemeClr val="bg2"/>
                          </a:solidFill>
                          <a:effectLst/>
                          <a:latin typeface="Verdana" pitchFamily="34" charset="0"/>
                          <a:ea typeface="Verdana" pitchFamily="34" charset="0"/>
                          <a:cs typeface="Verdana" pitchFamily="34" charset="0"/>
                        </a:rPr>
                        <a:t> IS </a:t>
                      </a:r>
                      <a:r>
                        <a:rPr kumimoji="0" lang="en-US" sz="2000" b="0" i="0" u="none" strike="noStrike" cap="none" normalizeH="0" baseline="0" dirty="0" smtClean="0">
                          <a:ln>
                            <a:noFill/>
                          </a:ln>
                          <a:solidFill>
                            <a:schemeClr val="bg2"/>
                          </a:solidFill>
                          <a:effectLst/>
                          <a:latin typeface="Verdana" pitchFamily="34" charset="0"/>
                          <a:ea typeface="Verdana" pitchFamily="34" charset="0"/>
                          <a:cs typeface="Verdana" pitchFamily="34" charset="0"/>
                        </a:rPr>
                        <a:t>the first word. </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1852667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Execute a Search using Search Help - Help</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N/A</a:t>
            </a:r>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77</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r>
              <a:rPr lang="en-US" b="1" dirty="0" smtClean="0"/>
              <a:t>Scenario:</a:t>
            </a:r>
          </a:p>
          <a:p>
            <a:r>
              <a:rPr lang="en-US" dirty="0" smtClean="0"/>
              <a:t>Search Help – Help wildcard search.</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b="1" dirty="0" smtClean="0"/>
              <a:t>Exercise: 3.2 Use Search Help – Help </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Tree>
    <p:extLst>
      <p:ext uri="{BB962C8B-B14F-4D97-AF65-F5344CB8AC3E}">
        <p14:creationId xmlns:p14="http://schemas.microsoft.com/office/powerpoint/2010/main" val="403787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
                <a:schemeClr val="accent4">
                  <a:lumMod val="10000"/>
                </a:schemeClr>
              </a:buClr>
              <a:buFont typeface="+mj-lt"/>
              <a:buAutoNum type="arabicPeriod"/>
            </a:pPr>
            <a:r>
              <a:rPr lang="en-US" dirty="0" smtClean="0"/>
              <a:t>What is the maximum number of hits the system defaults to for a search?</a:t>
            </a:r>
          </a:p>
          <a:p>
            <a:pPr marL="457200" indent="-457200">
              <a:buClr>
                <a:schemeClr val="accent4">
                  <a:lumMod val="10000"/>
                </a:schemeClr>
              </a:buClr>
              <a:buFont typeface="+mj-lt"/>
              <a:buAutoNum type="arabicPeriod"/>
            </a:pPr>
            <a:r>
              <a:rPr lang="en-US" dirty="0" smtClean="0"/>
              <a:t>What do wildcards represent?</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79</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1747495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Messages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7429282"/>
              </p:ext>
            </p:extLst>
          </p:nvPr>
        </p:nvGraphicFramePr>
        <p:xfrm>
          <a:off x="533400" y="1447800"/>
          <a:ext cx="8153400" cy="4861584"/>
        </p:xfrm>
        <a:graphic>
          <a:graphicData uri="http://schemas.openxmlformats.org/drawingml/2006/table">
            <a:tbl>
              <a:tblPr/>
              <a:tblGrid>
                <a:gridCol w="747712"/>
                <a:gridCol w="7405688"/>
              </a:tblGrid>
              <a:tr h="1079085">
                <a:tc>
                  <a:txBody>
                    <a:bodyPr/>
                    <a:lstStyle/>
                    <a:p>
                      <a:pPr marL="0" marR="0" lvl="0" indent="0" algn="l" defTabSz="954088" rtl="0" eaLnBrk="0" fontAlgn="base" latinLnBrk="0" hangingPunct="0">
                        <a:lnSpc>
                          <a:spcPct val="90000"/>
                        </a:lnSpc>
                        <a:spcBef>
                          <a:spcPct val="15000"/>
                        </a:spcBef>
                        <a:spcAft>
                          <a:spcPct val="15000"/>
                        </a:spcAft>
                        <a:buClrTx/>
                        <a:buSzTx/>
                        <a:buFont typeface="Times" pitchFamily="18" charset="0"/>
                        <a:buNone/>
                        <a:tabLst/>
                      </a:pPr>
                      <a:endParaRPr kumimoji="0" lang="en-US" sz="2000" b="0" i="0" u="none" strike="noStrike" cap="none" normalizeH="0" baseline="0" dirty="0" smtClean="0">
                        <a:ln>
                          <a:noFill/>
                        </a:ln>
                        <a:solidFill>
                          <a:srgbClr val="002D62"/>
                        </a:solidFill>
                        <a:effectLst/>
                        <a:latin typeface="Verdana" pitchFamily="34" charset="0"/>
                        <a:ea typeface="Verdana" pitchFamily="34" charset="0"/>
                        <a:cs typeface="Verdana" pitchFamily="34" charset="0"/>
                      </a:endParaRPr>
                    </a:p>
                  </a:txBody>
                  <a:tcPr marT="45724" marB="4572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54088" rtl="0" eaLnBrk="0" fontAlgn="base" latinLnBrk="0" hangingPunct="0">
                        <a:lnSpc>
                          <a:spcPct val="85000"/>
                        </a:lnSpc>
                        <a:spcBef>
                          <a:spcPct val="0"/>
                        </a:spcBef>
                        <a:spcAft>
                          <a:spcPct val="10000"/>
                        </a:spcAft>
                        <a:buClrTx/>
                        <a:buSzTx/>
                        <a:buFont typeface="Times" pitchFamily="18" charset="0"/>
                        <a:buNone/>
                        <a:tabLst/>
                      </a:pPr>
                      <a:r>
                        <a:rPr kumimoji="0" lang="en-US" sz="2000" b="1" i="0" u="none" strike="noStrike" cap="none" normalizeH="0" baseline="0" dirty="0" smtClean="0">
                          <a:ln>
                            <a:noFill/>
                          </a:ln>
                          <a:solidFill>
                            <a:srgbClr val="002D62"/>
                          </a:solidFill>
                          <a:effectLst/>
                          <a:latin typeface="Verdana" pitchFamily="34" charset="0"/>
                          <a:ea typeface="Verdana" pitchFamily="34" charset="0"/>
                          <a:cs typeface="Verdana" pitchFamily="34" charset="0"/>
                        </a:rPr>
                        <a:t>Success or Information message regarding the procedure performed.</a:t>
                      </a:r>
                    </a:p>
                    <a:p>
                      <a:pPr marL="0" marR="0" lvl="0" indent="0" algn="l" defTabSz="954088" rtl="0" eaLnBrk="0" fontAlgn="base" latinLnBrk="0" hangingPunct="0">
                        <a:lnSpc>
                          <a:spcPct val="85000"/>
                        </a:lnSpc>
                        <a:spcBef>
                          <a:spcPct val="0"/>
                        </a:spcBef>
                        <a:spcAft>
                          <a:spcPct val="10000"/>
                        </a:spcAft>
                        <a:buClrTx/>
                        <a:buSzTx/>
                        <a:buFont typeface="Times" pitchFamily="18" charset="0"/>
                        <a:buNone/>
                        <a:tabLst/>
                      </a:pPr>
                      <a:endParaRPr kumimoji="0" lang="en-US" sz="2000" b="1" i="0" u="none" strike="noStrike" cap="none" normalizeH="0" baseline="0" dirty="0" smtClean="0">
                        <a:ln>
                          <a:noFill/>
                        </a:ln>
                        <a:solidFill>
                          <a:srgbClr val="002D62"/>
                        </a:solidFill>
                        <a:effectLst/>
                        <a:latin typeface="Verdana" pitchFamily="34" charset="0"/>
                        <a:ea typeface="Verdana" pitchFamily="34" charset="0"/>
                        <a:cs typeface="Verdana" pitchFamily="34" charset="0"/>
                      </a:endParaRPr>
                    </a:p>
                    <a:p>
                      <a:pPr marL="0" marR="0" lvl="0" indent="0" algn="l" defTabSz="954088" rtl="0" eaLnBrk="0" fontAlgn="base" latinLnBrk="0" hangingPunct="0">
                        <a:lnSpc>
                          <a:spcPct val="85000"/>
                        </a:lnSpc>
                        <a:spcBef>
                          <a:spcPct val="0"/>
                        </a:spcBef>
                        <a:spcAft>
                          <a:spcPct val="10000"/>
                        </a:spcAft>
                        <a:buClrTx/>
                        <a:buSzTx/>
                        <a:buFont typeface="Times" pitchFamily="18" charset="0"/>
                        <a:buNone/>
                        <a:tabLst/>
                      </a:pPr>
                      <a:r>
                        <a:rPr kumimoji="0" lang="en-US" sz="2000" b="0" i="0" u="none" strike="noStrike" cap="none" normalizeH="0" baseline="0" dirty="0" smtClean="0">
                          <a:ln>
                            <a:noFill/>
                          </a:ln>
                          <a:solidFill>
                            <a:srgbClr val="D31145"/>
                          </a:solidFill>
                          <a:effectLst/>
                          <a:latin typeface="Verdana" pitchFamily="34" charset="0"/>
                          <a:ea typeface="Verdana" pitchFamily="34" charset="0"/>
                          <a:cs typeface="Verdana" pitchFamily="34" charset="0"/>
                        </a:rPr>
                        <a:t>No action needed.</a:t>
                      </a:r>
                    </a:p>
                  </a:txBody>
                  <a:tcPr marT="45724" marB="4572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545469">
                <a:tc>
                  <a:txBody>
                    <a:bodyPr/>
                    <a:lstStyle/>
                    <a:p>
                      <a:pPr marL="0" marR="0" lvl="0" indent="0" algn="l" defTabSz="954088" rtl="0" eaLnBrk="0" fontAlgn="base" latinLnBrk="0" hangingPunct="0">
                        <a:lnSpc>
                          <a:spcPct val="90000"/>
                        </a:lnSpc>
                        <a:spcBef>
                          <a:spcPct val="15000"/>
                        </a:spcBef>
                        <a:spcAft>
                          <a:spcPct val="15000"/>
                        </a:spcAft>
                        <a:buClrTx/>
                        <a:buSzTx/>
                        <a:buFont typeface="Times" pitchFamily="18" charset="0"/>
                        <a:buNone/>
                        <a:tabLst/>
                      </a:pPr>
                      <a:endParaRPr kumimoji="0" lang="en-US" sz="2000" b="0" i="0" u="none" strike="noStrike" cap="none" normalizeH="0" baseline="0" smtClean="0">
                        <a:ln>
                          <a:noFill/>
                        </a:ln>
                        <a:solidFill>
                          <a:srgbClr val="002D62"/>
                        </a:solidFill>
                        <a:effectLst/>
                        <a:latin typeface="Verdana" pitchFamily="34" charset="0"/>
                        <a:ea typeface="Verdana" pitchFamily="34" charset="0"/>
                        <a:cs typeface="Verdana" pitchFamily="34" charset="0"/>
                      </a:endParaRPr>
                    </a:p>
                  </a:txBody>
                  <a:tcPr marT="45724" marB="4572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54088" rtl="0" eaLnBrk="0" fontAlgn="base" latinLnBrk="0" hangingPunct="0">
                        <a:lnSpc>
                          <a:spcPct val="85000"/>
                        </a:lnSpc>
                        <a:spcBef>
                          <a:spcPct val="0"/>
                        </a:spcBef>
                        <a:spcAft>
                          <a:spcPct val="10000"/>
                        </a:spcAft>
                        <a:buClrTx/>
                        <a:buSzTx/>
                        <a:buFont typeface="Times" pitchFamily="18" charset="0"/>
                        <a:buNone/>
                        <a:tabLst/>
                      </a:pPr>
                      <a:r>
                        <a:rPr kumimoji="0" lang="en-US" sz="2000" b="1" i="0" u="none" strike="noStrike" cap="none" normalizeH="0" baseline="0" smtClean="0">
                          <a:ln>
                            <a:noFill/>
                          </a:ln>
                          <a:solidFill>
                            <a:srgbClr val="002D62"/>
                          </a:solidFill>
                          <a:effectLst/>
                          <a:latin typeface="Verdana" pitchFamily="34" charset="0"/>
                          <a:ea typeface="Verdana" pitchFamily="34" charset="0"/>
                          <a:cs typeface="Verdana" pitchFamily="34" charset="0"/>
                        </a:rPr>
                        <a:t>Warning message indicating that something might need to be addressed.  This generally displays on screens where you enter a date.  If the date entered falls on a weekend, the system displays a warning message to alert you.</a:t>
                      </a:r>
                    </a:p>
                    <a:p>
                      <a:pPr marL="0" marR="0" lvl="0" indent="0" algn="l" defTabSz="954088" rtl="0" eaLnBrk="0" fontAlgn="base" latinLnBrk="0" hangingPunct="0">
                        <a:lnSpc>
                          <a:spcPct val="85000"/>
                        </a:lnSpc>
                        <a:spcBef>
                          <a:spcPct val="0"/>
                        </a:spcBef>
                        <a:spcAft>
                          <a:spcPct val="10000"/>
                        </a:spcAft>
                        <a:buClrTx/>
                        <a:buSzTx/>
                        <a:buFont typeface="Times" pitchFamily="18" charset="0"/>
                        <a:buNone/>
                        <a:tabLst/>
                      </a:pPr>
                      <a:endParaRPr kumimoji="0" lang="en-US" sz="2000" b="1" i="0" u="none" strike="noStrike" cap="none" normalizeH="0" baseline="0" smtClean="0">
                        <a:ln>
                          <a:noFill/>
                        </a:ln>
                        <a:solidFill>
                          <a:srgbClr val="002D62"/>
                        </a:solidFill>
                        <a:effectLst/>
                        <a:latin typeface="Verdana" pitchFamily="34" charset="0"/>
                        <a:ea typeface="Verdana" pitchFamily="34" charset="0"/>
                        <a:cs typeface="Verdana" pitchFamily="34" charset="0"/>
                      </a:endParaRPr>
                    </a:p>
                    <a:p>
                      <a:pPr marL="0" marR="0" lvl="0" indent="0" algn="l" defTabSz="954088" rtl="0" eaLnBrk="0" fontAlgn="base" latinLnBrk="0" hangingPunct="0">
                        <a:lnSpc>
                          <a:spcPct val="85000"/>
                        </a:lnSpc>
                        <a:spcBef>
                          <a:spcPct val="0"/>
                        </a:spcBef>
                        <a:spcAft>
                          <a:spcPct val="10000"/>
                        </a:spcAft>
                        <a:buClrTx/>
                        <a:buSzTx/>
                        <a:buFont typeface="Times" pitchFamily="18" charset="0"/>
                        <a:buNone/>
                        <a:tabLst/>
                      </a:pPr>
                      <a:r>
                        <a:rPr kumimoji="0" lang="en-US" sz="2000" b="0" i="0" u="none" strike="noStrike" cap="none" normalizeH="0" baseline="0" smtClean="0">
                          <a:ln>
                            <a:noFill/>
                          </a:ln>
                          <a:solidFill>
                            <a:srgbClr val="D31145"/>
                          </a:solidFill>
                          <a:effectLst/>
                          <a:latin typeface="Verdana" pitchFamily="34" charset="0"/>
                          <a:ea typeface="Verdana" pitchFamily="34" charset="0"/>
                          <a:cs typeface="Verdana" pitchFamily="34" charset="0"/>
                        </a:rPr>
                        <a:t>Press Enter to acknowledge the message</a:t>
                      </a:r>
                      <a:r>
                        <a:rPr kumimoji="0" lang="en-US" sz="2000" b="1" i="0" u="none" strike="noStrike" cap="none" normalizeH="0" baseline="0" smtClean="0">
                          <a:ln>
                            <a:noFill/>
                          </a:ln>
                          <a:solidFill>
                            <a:srgbClr val="D31145"/>
                          </a:solidFill>
                          <a:effectLst/>
                          <a:latin typeface="Verdana" pitchFamily="34" charset="0"/>
                          <a:ea typeface="Verdana" pitchFamily="34" charset="0"/>
                          <a:cs typeface="Verdana" pitchFamily="34" charset="0"/>
                        </a:rPr>
                        <a:t>.</a:t>
                      </a:r>
                    </a:p>
                  </a:txBody>
                  <a:tcPr marT="45724" marB="4572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079085">
                <a:tc>
                  <a:txBody>
                    <a:bodyPr/>
                    <a:lstStyle/>
                    <a:p>
                      <a:pPr marL="0" marR="0" lvl="0" indent="0" algn="l" defTabSz="954088" rtl="0" eaLnBrk="0" fontAlgn="base" latinLnBrk="0" hangingPunct="0">
                        <a:lnSpc>
                          <a:spcPct val="90000"/>
                        </a:lnSpc>
                        <a:spcBef>
                          <a:spcPct val="15000"/>
                        </a:spcBef>
                        <a:spcAft>
                          <a:spcPct val="15000"/>
                        </a:spcAft>
                        <a:buClrTx/>
                        <a:buSzTx/>
                        <a:buFont typeface="Times" pitchFamily="18" charset="0"/>
                        <a:buNone/>
                        <a:tabLst/>
                      </a:pPr>
                      <a:endParaRPr kumimoji="0" lang="en-US" sz="2000" b="0" i="0" u="none" strike="noStrike" cap="none" normalizeH="0" baseline="0" dirty="0" smtClean="0">
                        <a:ln>
                          <a:noFill/>
                        </a:ln>
                        <a:solidFill>
                          <a:srgbClr val="002D62"/>
                        </a:solidFill>
                        <a:effectLst/>
                        <a:latin typeface="Verdana" pitchFamily="34" charset="0"/>
                        <a:ea typeface="Verdana" pitchFamily="34" charset="0"/>
                        <a:cs typeface="Verdana" pitchFamily="34" charset="0"/>
                      </a:endParaRPr>
                    </a:p>
                  </a:txBody>
                  <a:tcPr marT="45724" marB="4572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54088" rtl="0" eaLnBrk="0" fontAlgn="base" latinLnBrk="0" hangingPunct="0">
                        <a:lnSpc>
                          <a:spcPct val="85000"/>
                        </a:lnSpc>
                        <a:spcBef>
                          <a:spcPct val="0"/>
                        </a:spcBef>
                        <a:spcAft>
                          <a:spcPct val="10000"/>
                        </a:spcAft>
                        <a:buClrTx/>
                        <a:buSzTx/>
                        <a:buFont typeface="Times" pitchFamily="18" charset="0"/>
                        <a:buNone/>
                        <a:tabLst/>
                      </a:pPr>
                      <a:r>
                        <a:rPr kumimoji="0" lang="en-US" sz="2000" b="1" i="0" u="none" strike="noStrike" cap="none" normalizeH="0" baseline="0" dirty="0" smtClean="0">
                          <a:ln>
                            <a:noFill/>
                          </a:ln>
                          <a:solidFill>
                            <a:srgbClr val="002D62"/>
                          </a:solidFill>
                          <a:effectLst/>
                          <a:latin typeface="Verdana" pitchFamily="34" charset="0"/>
                          <a:ea typeface="Verdana" pitchFamily="34" charset="0"/>
                          <a:cs typeface="Verdana" pitchFamily="34" charset="0"/>
                        </a:rPr>
                        <a:t>Error message indicating that information is missing from a required field or that incorrect information has been entered.</a:t>
                      </a:r>
                    </a:p>
                    <a:p>
                      <a:pPr marL="0" marR="0" lvl="0" indent="0" algn="l" defTabSz="954088" rtl="0" eaLnBrk="0" fontAlgn="base" latinLnBrk="0" hangingPunct="0">
                        <a:lnSpc>
                          <a:spcPct val="85000"/>
                        </a:lnSpc>
                        <a:spcBef>
                          <a:spcPct val="0"/>
                        </a:spcBef>
                        <a:spcAft>
                          <a:spcPct val="10000"/>
                        </a:spcAft>
                        <a:buClrTx/>
                        <a:buSzTx/>
                        <a:buFont typeface="Times" pitchFamily="18" charset="0"/>
                        <a:buNone/>
                        <a:tabLst/>
                      </a:pPr>
                      <a:endParaRPr kumimoji="0" lang="en-US" sz="2000" b="0" i="0" u="none" strike="noStrike" cap="none" normalizeH="0" baseline="0" dirty="0" smtClean="0">
                        <a:ln>
                          <a:noFill/>
                        </a:ln>
                        <a:solidFill>
                          <a:srgbClr val="002D62"/>
                        </a:solidFill>
                        <a:effectLst/>
                        <a:latin typeface="Verdana" pitchFamily="34" charset="0"/>
                        <a:ea typeface="Verdana" pitchFamily="34" charset="0"/>
                        <a:cs typeface="Verdana" pitchFamily="34" charset="0"/>
                      </a:endParaRPr>
                    </a:p>
                    <a:p>
                      <a:pPr marL="0" marR="0" lvl="0" indent="0" algn="l" defTabSz="954088" rtl="0" eaLnBrk="0" fontAlgn="base" latinLnBrk="0" hangingPunct="0">
                        <a:lnSpc>
                          <a:spcPct val="85000"/>
                        </a:lnSpc>
                        <a:spcBef>
                          <a:spcPct val="0"/>
                        </a:spcBef>
                        <a:spcAft>
                          <a:spcPct val="10000"/>
                        </a:spcAft>
                        <a:buClrTx/>
                        <a:buSzTx/>
                        <a:buFont typeface="Times" pitchFamily="18" charset="0"/>
                        <a:buNone/>
                        <a:tabLst/>
                      </a:pPr>
                      <a:r>
                        <a:rPr kumimoji="0" lang="en-US" sz="2000" b="0" i="0" u="none" strike="noStrike" cap="none" normalizeH="0" baseline="0" dirty="0" smtClean="0">
                          <a:ln>
                            <a:noFill/>
                          </a:ln>
                          <a:solidFill>
                            <a:srgbClr val="D31145"/>
                          </a:solidFill>
                          <a:effectLst/>
                          <a:latin typeface="Verdana" pitchFamily="34" charset="0"/>
                          <a:ea typeface="Verdana" pitchFamily="34" charset="0"/>
                          <a:cs typeface="Verdana" pitchFamily="34" charset="0"/>
                        </a:rPr>
                        <a:t>You may not proceed until the data has been corrected or entered.</a:t>
                      </a:r>
                    </a:p>
                  </a:txBody>
                  <a:tcPr marT="45724" marB="4572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pic>
        <p:nvPicPr>
          <p:cNvPr id="5" name="Picture 2069" descr="inform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764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072" descr="warn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8006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073" descr="warning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2895600"/>
            <a:ext cx="4016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50739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Status levels</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733831979"/>
              </p:ext>
            </p:extLst>
          </p:nvPr>
        </p:nvGraphicFramePr>
        <p:xfrm>
          <a:off x="304800" y="1143000"/>
          <a:ext cx="8537576" cy="4206240"/>
        </p:xfrm>
        <a:graphic>
          <a:graphicData uri="http://schemas.openxmlformats.org/drawingml/2006/table">
            <a:tbl>
              <a:tblPr firstRow="1" bandRow="1">
                <a:tableStyleId>{5C22544A-7EE6-4342-B048-85BDC9FD1C3A}</a:tableStyleId>
              </a:tblPr>
              <a:tblGrid>
                <a:gridCol w="2057400"/>
                <a:gridCol w="6480176"/>
              </a:tblGrid>
              <a:tr h="370840">
                <a:tc>
                  <a:txBody>
                    <a:bodyPr/>
                    <a:lstStyle/>
                    <a:p>
                      <a:endParaRPr lang="en-US" dirty="0"/>
                    </a:p>
                  </a:txBody>
                  <a:tcPr>
                    <a:noFill/>
                  </a:tcPr>
                </a:tc>
                <a:tc>
                  <a:txBody>
                    <a:bodyPr/>
                    <a:lstStyle/>
                    <a:p>
                      <a:pPr marL="0" marR="0">
                        <a:lnSpc>
                          <a:spcPct val="115000"/>
                        </a:lnSpc>
                        <a:spcBef>
                          <a:spcPts val="0"/>
                        </a:spcBef>
                        <a:spcAft>
                          <a:spcPts val="0"/>
                        </a:spcAft>
                      </a:pPr>
                      <a:r>
                        <a:rPr lang="en-US" sz="2000" b="0">
                          <a:solidFill>
                            <a:schemeClr val="bg2"/>
                          </a:solidFill>
                          <a:effectLst/>
                          <a:latin typeface="Verdana" pitchFamily="34" charset="0"/>
                          <a:ea typeface="Verdana" pitchFamily="34" charset="0"/>
                          <a:cs typeface="Verdana" pitchFamily="34" charset="0"/>
                        </a:rPr>
                        <a:t>The red light indicates that the process is not complete and something within the content area must be correct before proceeding.</a:t>
                      </a:r>
                    </a:p>
                    <a:p>
                      <a:pPr marL="0" marR="0">
                        <a:lnSpc>
                          <a:spcPct val="115000"/>
                        </a:lnSpc>
                        <a:spcBef>
                          <a:spcPts val="0"/>
                        </a:spcBef>
                        <a:spcAft>
                          <a:spcPts val="0"/>
                        </a:spcAft>
                      </a:pPr>
                      <a:r>
                        <a:rPr lang="en-US" sz="2000" b="0">
                          <a:solidFill>
                            <a:schemeClr val="bg2"/>
                          </a:solidFill>
                          <a:effectLst/>
                          <a:latin typeface="Verdana" pitchFamily="34" charset="0"/>
                          <a:ea typeface="Verdana" pitchFamily="34" charset="0"/>
                          <a:cs typeface="Verdana" pitchFamily="34" charset="0"/>
                        </a:rPr>
                        <a:t> </a:t>
                      </a:r>
                    </a:p>
                  </a:txBody>
                  <a:tcPr marL="68580" marR="68580" marT="0" marB="0">
                    <a:noFill/>
                  </a:tcPr>
                </a:tc>
              </a:tr>
              <a:tr h="370840">
                <a:tc>
                  <a:txBody>
                    <a:bodyPr/>
                    <a:lstStyle/>
                    <a:p>
                      <a:endParaRPr lang="en-US"/>
                    </a:p>
                  </a:txBody>
                  <a:tcPr>
                    <a:noFill/>
                  </a:tcPr>
                </a:tc>
                <a:tc>
                  <a:txBody>
                    <a:bodyPr/>
                    <a:lstStyle/>
                    <a:p>
                      <a:pPr marL="0" marR="0">
                        <a:lnSpc>
                          <a:spcPct val="115000"/>
                        </a:lnSpc>
                        <a:spcBef>
                          <a:spcPts val="0"/>
                        </a:spcBef>
                        <a:spcAft>
                          <a:spcPts val="0"/>
                        </a:spcAft>
                      </a:pPr>
                      <a:r>
                        <a:rPr lang="en-US" sz="2000" b="0">
                          <a:solidFill>
                            <a:schemeClr val="bg2"/>
                          </a:solidFill>
                          <a:effectLst/>
                          <a:latin typeface="Verdana" pitchFamily="34" charset="0"/>
                          <a:ea typeface="Verdana" pitchFamily="34" charset="0"/>
                          <a:cs typeface="Verdana" pitchFamily="34" charset="0"/>
                        </a:rPr>
                        <a:t>The yellow light indicates that there is a potential problem with the data in the process area and you might not be able to proceed.</a:t>
                      </a:r>
                    </a:p>
                    <a:p>
                      <a:pPr marL="0" marR="0">
                        <a:lnSpc>
                          <a:spcPct val="115000"/>
                        </a:lnSpc>
                        <a:spcBef>
                          <a:spcPts val="0"/>
                        </a:spcBef>
                        <a:spcAft>
                          <a:spcPts val="0"/>
                        </a:spcAft>
                      </a:pPr>
                      <a:r>
                        <a:rPr lang="en-US" sz="2000" b="0">
                          <a:solidFill>
                            <a:schemeClr val="bg2"/>
                          </a:solidFill>
                          <a:effectLst/>
                          <a:latin typeface="Verdana" pitchFamily="34" charset="0"/>
                          <a:ea typeface="Verdana" pitchFamily="34" charset="0"/>
                          <a:cs typeface="Verdana" pitchFamily="34" charset="0"/>
                        </a:rPr>
                        <a:t> </a:t>
                      </a:r>
                    </a:p>
                  </a:txBody>
                  <a:tcPr marL="68580" marR="68580" marT="0" marB="0">
                    <a:noFill/>
                  </a:tcPr>
                </a:tc>
              </a:tr>
              <a:tr h="370840">
                <a:tc>
                  <a:txBody>
                    <a:bodyPr/>
                    <a:lstStyle/>
                    <a:p>
                      <a:endParaRPr lang="en-US" dirty="0"/>
                    </a:p>
                  </a:txBody>
                  <a:tcPr>
                    <a:noFill/>
                  </a:tcPr>
                </a:tc>
                <a:tc>
                  <a:txBody>
                    <a:bodyPr/>
                    <a:lstStyle/>
                    <a:p>
                      <a:pPr marL="0" marR="0">
                        <a:lnSpc>
                          <a:spcPct val="115000"/>
                        </a:lnSpc>
                        <a:spcBef>
                          <a:spcPts val="0"/>
                        </a:spcBef>
                        <a:spcAft>
                          <a:spcPts val="0"/>
                        </a:spcAft>
                      </a:pPr>
                      <a:r>
                        <a:rPr lang="en-US" sz="2000" b="0" dirty="0">
                          <a:solidFill>
                            <a:schemeClr val="bg2"/>
                          </a:solidFill>
                          <a:effectLst/>
                          <a:latin typeface="Verdana" pitchFamily="34" charset="0"/>
                          <a:ea typeface="Verdana" pitchFamily="34" charset="0"/>
                          <a:cs typeface="Verdana" pitchFamily="34" charset="0"/>
                        </a:rPr>
                        <a:t>The green light indicates that everything in the content area is correct and you may proceed with the rest of the process.</a:t>
                      </a:r>
                    </a:p>
                    <a:p>
                      <a:pPr marL="0" marR="0">
                        <a:lnSpc>
                          <a:spcPct val="115000"/>
                        </a:lnSpc>
                        <a:spcBef>
                          <a:spcPts val="0"/>
                        </a:spcBef>
                        <a:spcAft>
                          <a:spcPts val="0"/>
                        </a:spcAft>
                      </a:pPr>
                      <a:r>
                        <a:rPr lang="en-US" sz="2000" b="0" dirty="0">
                          <a:solidFill>
                            <a:schemeClr val="bg2"/>
                          </a:solidFill>
                          <a:effectLst/>
                          <a:latin typeface="Verdana" pitchFamily="34" charset="0"/>
                          <a:ea typeface="Verdana" pitchFamily="34" charset="0"/>
                          <a:cs typeface="Verdana" pitchFamily="34" charset="0"/>
                        </a:rPr>
                        <a:t> </a:t>
                      </a:r>
                    </a:p>
                  </a:txBody>
                  <a:tcPr marL="68580" marR="68580" marT="0" marB="0">
                    <a:noFill/>
                  </a:tcPr>
                </a:tc>
              </a:tr>
            </a:tbl>
          </a:graphicData>
        </a:graphic>
      </p:graphicFrame>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762000" y="1295400"/>
            <a:ext cx="1219200" cy="609600"/>
          </a:xfrm>
          <a:prstGeom prst="rect">
            <a:avLst/>
          </a:prstGeom>
          <a:noFill/>
          <a:ln>
            <a:noFill/>
          </a:ln>
        </p:spPr>
      </p:pic>
      <p:pic>
        <p:nvPicPr>
          <p:cNvPr id="10" name="Picture 9"/>
          <p:cNvPicPr/>
          <p:nvPr/>
        </p:nvPicPr>
        <p:blipFill>
          <a:blip r:embed="rId4">
            <a:extLst>
              <a:ext uri="{28A0092B-C50C-407E-A947-70E740481C1C}">
                <a14:useLocalDpi xmlns:a14="http://schemas.microsoft.com/office/drawing/2010/main" val="0"/>
              </a:ext>
            </a:extLst>
          </a:blip>
          <a:srcRect/>
          <a:stretch>
            <a:fillRect/>
          </a:stretch>
        </p:blipFill>
        <p:spPr bwMode="auto">
          <a:xfrm>
            <a:off x="762000" y="2774732"/>
            <a:ext cx="1219200" cy="609600"/>
          </a:xfrm>
          <a:prstGeom prst="rect">
            <a:avLst/>
          </a:prstGeom>
          <a:noFill/>
          <a:ln>
            <a:noFill/>
          </a:ln>
        </p:spPr>
      </p:pic>
      <p:pic>
        <p:nvPicPr>
          <p:cNvPr id="11" name="Picture 10"/>
          <p:cNvPicPr/>
          <p:nvPr/>
        </p:nvPicPr>
        <p:blipFill>
          <a:blip r:embed="rId5">
            <a:extLst>
              <a:ext uri="{28A0092B-C50C-407E-A947-70E740481C1C}">
                <a14:useLocalDpi xmlns:a14="http://schemas.microsoft.com/office/drawing/2010/main" val="0"/>
              </a:ext>
            </a:extLst>
          </a:blip>
          <a:srcRect/>
          <a:stretch>
            <a:fillRect/>
          </a:stretch>
        </p:blipFill>
        <p:spPr bwMode="auto">
          <a:xfrm>
            <a:off x="762000" y="4114800"/>
            <a:ext cx="1219200" cy="609600"/>
          </a:xfrm>
          <a:prstGeom prst="rect">
            <a:avLst/>
          </a:prstGeom>
          <a:noFill/>
          <a:ln>
            <a:noFill/>
          </a:ln>
        </p:spPr>
      </p:pic>
    </p:spTree>
    <p:extLst>
      <p:ext uri="{BB962C8B-B14F-4D97-AF65-F5344CB8AC3E}">
        <p14:creationId xmlns:p14="http://schemas.microsoft.com/office/powerpoint/2010/main" val="15659533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Box 4"/>
          <p:cNvSpPr txBox="1">
            <a:spLocks noChangeArrowheads="1"/>
          </p:cNvSpPr>
          <p:nvPr/>
        </p:nvSpPr>
        <p:spPr bwMode="auto">
          <a:xfrm>
            <a:off x="2084388" y="5597525"/>
            <a:ext cx="7288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dirty="0"/>
              <a:t>What other questions do you have?</a:t>
            </a:r>
          </a:p>
        </p:txBody>
      </p:sp>
      <p:pic>
        <p:nvPicPr>
          <p:cNvPr id="7" name="Picture 3" descr="C:\Users\namudaliar\Documents\Narayanan\Ball Corp\Images\shutterstock_49142218.jpg"/>
          <p:cNvPicPr>
            <a:picLocks noChangeAspect="1" noChangeArrowheads="1"/>
          </p:cNvPicPr>
          <p:nvPr/>
        </p:nvPicPr>
        <p:blipFill>
          <a:blip r:embed="rId2" cstate="print"/>
          <a:srcRect/>
          <a:stretch>
            <a:fillRect/>
          </a:stretch>
        </p:blipFill>
        <p:spPr bwMode="auto">
          <a:xfrm>
            <a:off x="2069686" y="1268361"/>
            <a:ext cx="5045669" cy="4420215"/>
          </a:xfrm>
          <a:prstGeom prst="rect">
            <a:avLst/>
          </a:prstGeom>
          <a:noFill/>
        </p:spPr>
      </p:pic>
      <p:sp>
        <p:nvSpPr>
          <p:cNvPr id="5"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4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Questions</a:t>
            </a:r>
            <a:endParaRPr lang="en-US" dirty="0"/>
          </a:p>
        </p:txBody>
      </p:sp>
    </p:spTree>
    <p:extLst>
      <p:ext uri="{BB962C8B-B14F-4D97-AF65-F5344CB8AC3E}">
        <p14:creationId xmlns:p14="http://schemas.microsoft.com/office/powerpoint/2010/main" val="1968145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276945" y="3465542"/>
            <a:ext cx="3780503" cy="2835377"/>
          </a:xfrm>
          <a:prstGeom prst="rect">
            <a:avLst/>
          </a:prstGeom>
          <a:noFill/>
        </p:spPr>
      </p:pic>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smtClean="0"/>
              <a:t>Having completed this </a:t>
            </a:r>
            <a:r>
              <a:rPr lang="en-US" dirty="0"/>
              <a:t>module, you should be able to:</a:t>
            </a:r>
          </a:p>
          <a:p>
            <a:pPr marL="342900" indent="-342900">
              <a:buFont typeface="Arial" pitchFamily="34" charset="0"/>
              <a:buChar char="•"/>
            </a:pPr>
            <a:r>
              <a:rPr lang="en-US" dirty="0"/>
              <a:t>List the steps involved in processing a transaction</a:t>
            </a:r>
          </a:p>
          <a:p>
            <a:pPr marL="342900" indent="-342900">
              <a:buFont typeface="Arial" pitchFamily="34" charset="0"/>
              <a:buChar char="•"/>
            </a:pPr>
            <a:r>
              <a:rPr lang="en-US" dirty="0"/>
              <a:t>Explain the different types of fields in SAP</a:t>
            </a:r>
          </a:p>
          <a:p>
            <a:pPr marL="342900" indent="-342900">
              <a:buFont typeface="Arial" pitchFamily="34" charset="0"/>
              <a:buChar char="•"/>
            </a:pPr>
            <a:r>
              <a:rPr lang="en-US" dirty="0"/>
              <a:t>Enter data in fields</a:t>
            </a:r>
          </a:p>
          <a:p>
            <a:pPr marL="342900" indent="-342900">
              <a:buFont typeface="Arial" pitchFamily="34" charset="0"/>
              <a:buChar char="•"/>
            </a:pPr>
            <a:r>
              <a:rPr lang="en-US" dirty="0"/>
              <a:t>Search for data using matchcodes</a:t>
            </a:r>
          </a:p>
          <a:p>
            <a:pPr marL="342900" indent="-342900">
              <a:buFont typeface="Arial" pitchFamily="34" charset="0"/>
              <a:buChar char="•"/>
            </a:pPr>
            <a:r>
              <a:rPr lang="en-US" dirty="0"/>
              <a:t>Recognize SAP search screen features</a:t>
            </a:r>
          </a:p>
          <a:p>
            <a:pPr marL="342900" indent="-342900">
              <a:buFont typeface="Arial" pitchFamily="34" charset="0"/>
              <a:buChar char="•"/>
            </a:pPr>
            <a:r>
              <a:rPr lang="en-US" dirty="0"/>
              <a:t>Explain when and how to use the search functionality</a:t>
            </a:r>
          </a:p>
          <a:p>
            <a:pPr marL="342900" indent="-342900">
              <a:buFont typeface="Arial" pitchFamily="34" charset="0"/>
              <a:buChar char="•"/>
            </a:pPr>
            <a:r>
              <a:rPr lang="en-US" dirty="0"/>
              <a:t>Interpret system messages</a:t>
            </a:r>
          </a:p>
          <a:p>
            <a:endParaRPr lang="en-US" dirty="0" smtClean="0"/>
          </a:p>
          <a:p>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83</a:t>
            </a:fld>
            <a:endParaRPr lang="en-US" dirty="0">
              <a:solidFill>
                <a:schemeClr val="bg2"/>
              </a:solidFill>
            </a:endParaRPr>
          </a:p>
        </p:txBody>
      </p:sp>
    </p:spTree>
    <p:extLst>
      <p:ext uri="{BB962C8B-B14F-4D97-AF65-F5344CB8AC3E}">
        <p14:creationId xmlns:p14="http://schemas.microsoft.com/office/powerpoint/2010/main" val="12156459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SAP Business Workplace</a:t>
            </a:r>
            <a:endParaRPr lang="en-US" dirty="0"/>
          </a:p>
        </p:txBody>
      </p:sp>
      <p:sp>
        <p:nvSpPr>
          <p:cNvPr id="3" name="Text Placeholder 2"/>
          <p:cNvSpPr>
            <a:spLocks noGrp="1"/>
          </p:cNvSpPr>
          <p:nvPr>
            <p:ph type="body" idx="1"/>
          </p:nvPr>
        </p:nvSpPr>
        <p:spPr/>
        <p:txBody>
          <a:bodyPr/>
          <a:lstStyle/>
          <a:p>
            <a:r>
              <a:rPr lang="en-US" dirty="0" smtClean="0"/>
              <a:t>Module </a:t>
            </a:r>
            <a:r>
              <a:rPr lang="en-US" dirty="0"/>
              <a:t>4</a:t>
            </a:r>
          </a:p>
        </p:txBody>
      </p:sp>
    </p:spTree>
    <p:extLst>
      <p:ext uri="{BB962C8B-B14F-4D97-AF65-F5344CB8AC3E}">
        <p14:creationId xmlns:p14="http://schemas.microsoft.com/office/powerpoint/2010/main" val="29160389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4" name="Content Placeholder 3"/>
          <p:cNvSpPr>
            <a:spLocks noGrp="1"/>
          </p:cNvSpPr>
          <p:nvPr>
            <p:ph idx="1"/>
          </p:nvPr>
        </p:nvSpPr>
        <p:spPr/>
        <p:txBody>
          <a:bodyPr/>
          <a:lstStyle/>
          <a:p>
            <a:r>
              <a:rPr lang="en-US" dirty="0" smtClean="0"/>
              <a:t>Upon completion of this module, you should be able to:</a:t>
            </a:r>
          </a:p>
          <a:p>
            <a:pPr marL="342900" indent="-342900">
              <a:buFont typeface="Arial" pitchFamily="34" charset="0"/>
              <a:buChar char="•"/>
            </a:pPr>
            <a:r>
              <a:rPr lang="en-US" dirty="0" smtClean="0"/>
              <a:t>Describe the functionality of the SAP Business Workplace</a:t>
            </a:r>
          </a:p>
          <a:p>
            <a:pPr marL="342900" indent="-342900">
              <a:buFont typeface="Arial" pitchFamily="34" charset="0"/>
              <a:buChar char="•"/>
            </a:pPr>
            <a:r>
              <a:rPr lang="en-US" dirty="0" smtClean="0"/>
              <a:t>Add a note to a workflow item</a:t>
            </a:r>
          </a:p>
          <a:p>
            <a:pPr marL="342900" indent="-342900">
              <a:buFont typeface="Arial" pitchFamily="34" charset="0"/>
              <a:buChar char="•"/>
            </a:pPr>
            <a:r>
              <a:rPr lang="en-US" dirty="0" smtClean="0"/>
              <a:t>Forward a workflow item to another person</a:t>
            </a:r>
          </a:p>
          <a:p>
            <a:pPr marL="342900" indent="-342900">
              <a:buFont typeface="Arial" pitchFamily="34" charset="0"/>
              <a:buChar char="•"/>
            </a:pPr>
            <a:r>
              <a:rPr lang="en-US" dirty="0" smtClean="0"/>
              <a:t>Approve and reject workflow items</a:t>
            </a:r>
          </a:p>
          <a:p>
            <a:pPr marL="342900" indent="-342900">
              <a:buFont typeface="Arial" pitchFamily="34" charset="0"/>
              <a:buChar char="•"/>
            </a:pPr>
            <a:r>
              <a:rPr lang="en-US" dirty="0"/>
              <a:t>Create a Passive delegate</a:t>
            </a:r>
          </a:p>
          <a:p>
            <a:endParaRPr lang="en-US" dirty="0" smtClean="0"/>
          </a:p>
        </p:txBody>
      </p:sp>
      <p:pic>
        <p:nvPicPr>
          <p:cNvPr id="5" name="Picture 2" descr="C:\Users\namudaliar\Documents\Narayanan\Ball Corp\Images\shutterstock_54581515.jpg"/>
          <p:cNvPicPr>
            <a:picLocks noChangeAspect="1" noChangeArrowheads="1"/>
          </p:cNvPicPr>
          <p:nvPr/>
        </p:nvPicPr>
        <p:blipFill>
          <a:blip r:embed="rId2" cstate="print"/>
          <a:srcRect/>
          <a:stretch>
            <a:fillRect/>
          </a:stretch>
        </p:blipFill>
        <p:spPr bwMode="auto">
          <a:xfrm>
            <a:off x="6651519" y="3733800"/>
            <a:ext cx="2286000" cy="3048000"/>
          </a:xfrm>
          <a:prstGeom prst="rect">
            <a:avLst/>
          </a:prstGeom>
          <a:noFill/>
        </p:spPr>
      </p:pic>
    </p:spTree>
    <p:extLst>
      <p:ext uri="{BB962C8B-B14F-4D97-AF65-F5344CB8AC3E}">
        <p14:creationId xmlns:p14="http://schemas.microsoft.com/office/powerpoint/2010/main" val="36174034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ECC Business Workplace</a:t>
            </a:r>
            <a:endParaRPr lang="en-US" dirty="0"/>
          </a:p>
        </p:txBody>
      </p:sp>
      <p:sp>
        <p:nvSpPr>
          <p:cNvPr id="3" name="Content Placeholder 2"/>
          <p:cNvSpPr>
            <a:spLocks noGrp="1"/>
          </p:cNvSpPr>
          <p:nvPr>
            <p:ph idx="1"/>
          </p:nvPr>
        </p:nvSpPr>
        <p:spPr/>
        <p:txBody>
          <a:bodyPr/>
          <a:lstStyle/>
          <a:p>
            <a:r>
              <a:rPr lang="en-US" dirty="0"/>
              <a:t>The Business Workplace provides a standard working environment in which SAP approvers carry out their share of the business and communication processes in. </a:t>
            </a:r>
            <a:endParaRPr lang="en-US" dirty="0" smtClean="0"/>
          </a:p>
          <a:p>
            <a:pPr marL="342900" indent="-342900">
              <a:buFont typeface="Arial" pitchFamily="34" charset="0"/>
              <a:buChar char="•"/>
            </a:pPr>
            <a:r>
              <a:rPr lang="en-US" dirty="0" smtClean="0"/>
              <a:t>When an item requires attention, a notice will be sent to your Outlook account</a:t>
            </a:r>
          </a:p>
          <a:p>
            <a:pPr marL="342900" indent="-342900">
              <a:buFont typeface="Arial" pitchFamily="34" charset="0"/>
              <a:buChar char="•"/>
            </a:pPr>
            <a:r>
              <a:rPr lang="en-US" dirty="0" smtClean="0"/>
              <a:t>You must log into ECC and manage Inbox items from the Business Workplace</a:t>
            </a:r>
          </a:p>
          <a:p>
            <a:pPr marL="342900" indent="-342900">
              <a:buFont typeface="Arial" pitchFamily="34" charset="0"/>
              <a:buChar char="•"/>
            </a:pPr>
            <a:r>
              <a:rPr lang="en-US" dirty="0" smtClean="0"/>
              <a:t>Items will remain in your Inbox until you approve or reject them but once approved will continue the workflow process based on the type of item it is</a:t>
            </a:r>
            <a:endParaRPr lang="en-US" dirty="0"/>
          </a:p>
        </p:txBody>
      </p:sp>
    </p:spTree>
    <p:extLst>
      <p:ext uri="{BB962C8B-B14F-4D97-AF65-F5344CB8AC3E}">
        <p14:creationId xmlns:p14="http://schemas.microsoft.com/office/powerpoint/2010/main" val="313060510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The Workflow Process</a:t>
            </a:r>
            <a:endParaRPr lang="en-US" dirty="0"/>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87</a:t>
            </a:fld>
            <a:endParaRPr lang="en-US" altLang="en-US" dirty="0"/>
          </a:p>
        </p:txBody>
      </p:sp>
      <p:grpSp>
        <p:nvGrpSpPr>
          <p:cNvPr id="5" name="Group 25"/>
          <p:cNvGrpSpPr>
            <a:grpSpLocks/>
          </p:cNvGrpSpPr>
          <p:nvPr/>
        </p:nvGrpSpPr>
        <p:grpSpPr bwMode="auto">
          <a:xfrm>
            <a:off x="914400" y="4876800"/>
            <a:ext cx="1981200" cy="990600"/>
            <a:chOff x="960" y="3072"/>
            <a:chExt cx="1248" cy="624"/>
          </a:xfrm>
        </p:grpSpPr>
        <p:sp>
          <p:nvSpPr>
            <p:cNvPr id="6" name="Rectangle 3"/>
            <p:cNvSpPr>
              <a:spLocks noChangeArrowheads="1"/>
            </p:cNvSpPr>
            <p:nvPr/>
          </p:nvSpPr>
          <p:spPr bwMode="auto">
            <a:xfrm>
              <a:off x="960" y="3072"/>
              <a:ext cx="1248" cy="624"/>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pic>
          <p:nvPicPr>
            <p:cNvPr id="7" name="Picture 4" descr="j0423017"/>
            <p:cNvPicPr>
              <a:picLocks noChangeAspect="1" noChangeArrowheads="1"/>
            </p:cNvPicPr>
            <p:nvPr/>
          </p:nvPicPr>
          <p:blipFill>
            <a:blip r:embed="rId3" cstate="print">
              <a:extLst>
                <a:ext uri="{28A0092B-C50C-407E-A947-70E740481C1C}">
                  <a14:useLocalDpi xmlns:a14="http://schemas.microsoft.com/office/drawing/2010/main" val="0"/>
                </a:ext>
              </a:extLst>
            </a:blip>
            <a:srcRect l="34616" r="3847" b="34615"/>
            <a:stretch>
              <a:fillRect/>
            </a:stretch>
          </p:blipFill>
          <p:spPr bwMode="auto">
            <a:xfrm>
              <a:off x="1680" y="3120"/>
              <a:ext cx="497" cy="528"/>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5"/>
            <p:cNvSpPr txBox="1">
              <a:spLocks noChangeArrowheads="1"/>
            </p:cNvSpPr>
            <p:nvPr/>
          </p:nvSpPr>
          <p:spPr bwMode="auto">
            <a:xfrm>
              <a:off x="990" y="3264"/>
              <a:ext cx="738" cy="212"/>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Employee</a:t>
              </a:r>
            </a:p>
          </p:txBody>
        </p:sp>
      </p:grpSp>
      <p:grpSp>
        <p:nvGrpSpPr>
          <p:cNvPr id="9" name="Group 6"/>
          <p:cNvGrpSpPr>
            <a:grpSpLocks/>
          </p:cNvGrpSpPr>
          <p:nvPr/>
        </p:nvGrpSpPr>
        <p:grpSpPr bwMode="auto">
          <a:xfrm>
            <a:off x="914400" y="3581400"/>
            <a:ext cx="1981200" cy="990600"/>
            <a:chOff x="432" y="1056"/>
            <a:chExt cx="1248" cy="624"/>
          </a:xfrm>
        </p:grpSpPr>
        <p:sp>
          <p:nvSpPr>
            <p:cNvPr id="10" name="Rectangle 7"/>
            <p:cNvSpPr>
              <a:spLocks noChangeArrowheads="1"/>
            </p:cNvSpPr>
            <p:nvPr/>
          </p:nvSpPr>
          <p:spPr bwMode="auto">
            <a:xfrm>
              <a:off x="432" y="1056"/>
              <a:ext cx="1248" cy="624"/>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1" name="Text Box 8"/>
            <p:cNvSpPr txBox="1">
              <a:spLocks noChangeArrowheads="1"/>
            </p:cNvSpPr>
            <p:nvPr/>
          </p:nvSpPr>
          <p:spPr bwMode="auto">
            <a:xfrm>
              <a:off x="432" y="1170"/>
              <a:ext cx="750" cy="366"/>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Approving Manager</a:t>
              </a:r>
            </a:p>
          </p:txBody>
        </p:sp>
        <p:pic>
          <p:nvPicPr>
            <p:cNvPr id="12" name="Picture 9" descr="MPj04308160000[1]"/>
            <p:cNvPicPr>
              <a:picLocks noChangeAspect="1" noChangeArrowheads="1"/>
            </p:cNvPicPr>
            <p:nvPr/>
          </p:nvPicPr>
          <p:blipFill>
            <a:blip r:embed="rId4" cstate="print">
              <a:extLst>
                <a:ext uri="{28A0092B-C50C-407E-A947-70E740481C1C}">
                  <a14:useLocalDpi xmlns:a14="http://schemas.microsoft.com/office/drawing/2010/main" val="0"/>
                </a:ext>
              </a:extLst>
            </a:blip>
            <a:srcRect l="8733" r="30380" b="50000"/>
            <a:stretch>
              <a:fillRect/>
            </a:stretch>
          </p:blipFill>
          <p:spPr bwMode="auto">
            <a:xfrm>
              <a:off x="1152" y="1104"/>
              <a:ext cx="480" cy="5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p:cNvGrpSpPr>
            <a:grpSpLocks/>
          </p:cNvGrpSpPr>
          <p:nvPr/>
        </p:nvGrpSpPr>
        <p:grpSpPr bwMode="auto">
          <a:xfrm>
            <a:off x="914400" y="2286000"/>
            <a:ext cx="1981200" cy="990600"/>
            <a:chOff x="3072" y="768"/>
            <a:chExt cx="1248" cy="624"/>
          </a:xfrm>
        </p:grpSpPr>
        <p:sp>
          <p:nvSpPr>
            <p:cNvPr id="14" name="Rectangle 13"/>
            <p:cNvSpPr>
              <a:spLocks noChangeArrowheads="1"/>
            </p:cNvSpPr>
            <p:nvPr/>
          </p:nvSpPr>
          <p:spPr bwMode="auto">
            <a:xfrm>
              <a:off x="3072" y="768"/>
              <a:ext cx="1248" cy="624"/>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5" name="Text Box 14"/>
            <p:cNvSpPr txBox="1">
              <a:spLocks noChangeArrowheads="1"/>
            </p:cNvSpPr>
            <p:nvPr/>
          </p:nvSpPr>
          <p:spPr bwMode="auto">
            <a:xfrm>
              <a:off x="3072" y="882"/>
              <a:ext cx="750" cy="366"/>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Approving Manager</a:t>
              </a:r>
            </a:p>
          </p:txBody>
        </p:sp>
        <p:pic>
          <p:nvPicPr>
            <p:cNvPr id="16" name="Picture 15" descr="PH01629J"/>
            <p:cNvPicPr>
              <a:picLocks noChangeAspect="1" noChangeArrowheads="1"/>
            </p:cNvPicPr>
            <p:nvPr/>
          </p:nvPicPr>
          <p:blipFill>
            <a:blip r:embed="rId5" cstate="print">
              <a:extLst>
                <a:ext uri="{28A0092B-C50C-407E-A947-70E740481C1C}">
                  <a14:useLocalDpi xmlns:a14="http://schemas.microsoft.com/office/drawing/2010/main" val="0"/>
                </a:ext>
              </a:extLst>
            </a:blip>
            <a:srcRect r="14285"/>
            <a:stretch>
              <a:fillRect/>
            </a:stretch>
          </p:blipFill>
          <p:spPr bwMode="auto">
            <a:xfrm>
              <a:off x="3792" y="912"/>
              <a:ext cx="480" cy="37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 26"/>
          <p:cNvGrpSpPr>
            <a:grpSpLocks/>
          </p:cNvGrpSpPr>
          <p:nvPr/>
        </p:nvGrpSpPr>
        <p:grpSpPr bwMode="auto">
          <a:xfrm>
            <a:off x="914400" y="1066800"/>
            <a:ext cx="1981200" cy="990600"/>
            <a:chOff x="960" y="672"/>
            <a:chExt cx="1248" cy="624"/>
          </a:xfrm>
        </p:grpSpPr>
        <p:sp>
          <p:nvSpPr>
            <p:cNvPr id="18" name="Rectangle 10"/>
            <p:cNvSpPr>
              <a:spLocks noChangeArrowheads="1"/>
            </p:cNvSpPr>
            <p:nvPr/>
          </p:nvSpPr>
          <p:spPr bwMode="auto">
            <a:xfrm>
              <a:off x="960" y="672"/>
              <a:ext cx="1248" cy="624"/>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9" name="Text Box 11"/>
            <p:cNvSpPr txBox="1">
              <a:spLocks noChangeArrowheads="1"/>
            </p:cNvSpPr>
            <p:nvPr/>
          </p:nvSpPr>
          <p:spPr bwMode="auto">
            <a:xfrm>
              <a:off x="960" y="786"/>
              <a:ext cx="750" cy="366"/>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Approving Manager</a:t>
              </a:r>
            </a:p>
          </p:txBody>
        </p:sp>
        <p:pic>
          <p:nvPicPr>
            <p:cNvPr id="20" name="Picture 16" descr="PH01631J"/>
            <p:cNvPicPr>
              <a:picLocks noChangeAspect="1" noChangeArrowheads="1"/>
            </p:cNvPicPr>
            <p:nvPr/>
          </p:nvPicPr>
          <p:blipFill>
            <a:blip r:embed="rId6" cstate="print">
              <a:extLst>
                <a:ext uri="{28A0092B-C50C-407E-A947-70E740481C1C}">
                  <a14:useLocalDpi xmlns:a14="http://schemas.microsoft.com/office/drawing/2010/main" val="0"/>
                </a:ext>
              </a:extLst>
            </a:blip>
            <a:srcRect b="43750"/>
            <a:stretch>
              <a:fillRect/>
            </a:stretch>
          </p:blipFill>
          <p:spPr bwMode="auto">
            <a:xfrm>
              <a:off x="1648" y="768"/>
              <a:ext cx="508" cy="432"/>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Line 17"/>
          <p:cNvSpPr>
            <a:spLocks noChangeShapeType="1"/>
          </p:cNvSpPr>
          <p:nvPr/>
        </p:nvSpPr>
        <p:spPr bwMode="auto">
          <a:xfrm flipV="1">
            <a:off x="1828800" y="4572000"/>
            <a:ext cx="0" cy="304800"/>
          </a:xfrm>
          <a:prstGeom prst="line">
            <a:avLst/>
          </a:prstGeom>
          <a:noFill/>
          <a:ln w="28575">
            <a:solidFill>
              <a:schemeClr val="accent4">
                <a:lumMod val="1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sp>
        <p:nvSpPr>
          <p:cNvPr id="22" name="Line 18"/>
          <p:cNvSpPr>
            <a:spLocks noChangeShapeType="1"/>
          </p:cNvSpPr>
          <p:nvPr/>
        </p:nvSpPr>
        <p:spPr bwMode="auto">
          <a:xfrm flipV="1">
            <a:off x="1828800" y="3276600"/>
            <a:ext cx="0" cy="304800"/>
          </a:xfrm>
          <a:prstGeom prst="line">
            <a:avLst/>
          </a:prstGeom>
          <a:noFill/>
          <a:ln w="28575">
            <a:solidFill>
              <a:schemeClr val="accent4">
                <a:lumMod val="1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sp>
        <p:nvSpPr>
          <p:cNvPr id="23" name="Line 19"/>
          <p:cNvSpPr>
            <a:spLocks noChangeShapeType="1"/>
          </p:cNvSpPr>
          <p:nvPr/>
        </p:nvSpPr>
        <p:spPr bwMode="auto">
          <a:xfrm flipV="1">
            <a:off x="1828800" y="2057400"/>
            <a:ext cx="0" cy="228600"/>
          </a:xfrm>
          <a:prstGeom prst="line">
            <a:avLst/>
          </a:prstGeom>
          <a:noFill/>
          <a:ln w="28575">
            <a:solidFill>
              <a:schemeClr val="accent4">
                <a:lumMod val="1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sp>
        <p:nvSpPr>
          <p:cNvPr id="24" name="Text Box 20"/>
          <p:cNvSpPr txBox="1">
            <a:spLocks noChangeArrowheads="1"/>
          </p:cNvSpPr>
          <p:nvPr/>
        </p:nvSpPr>
        <p:spPr bwMode="auto">
          <a:xfrm>
            <a:off x="3429000" y="4889500"/>
            <a:ext cx="4724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dirty="0">
                <a:solidFill>
                  <a:schemeClr val="accent4">
                    <a:lumMod val="10000"/>
                  </a:schemeClr>
                </a:solidFill>
              </a:rPr>
              <a:t>Workflow is triggered when an employee completes a task, such as </a:t>
            </a:r>
            <a:r>
              <a:rPr lang="en-US" sz="1600" dirty="0" smtClean="0">
                <a:solidFill>
                  <a:schemeClr val="accent4">
                    <a:lumMod val="10000"/>
                  </a:schemeClr>
                </a:solidFill>
              </a:rPr>
              <a:t>creating a purchase requisition against a Capital project.</a:t>
            </a:r>
            <a:endParaRPr lang="en-US" sz="1600" dirty="0">
              <a:solidFill>
                <a:schemeClr val="accent4">
                  <a:lumMod val="10000"/>
                </a:schemeClr>
              </a:solidFill>
            </a:endParaRPr>
          </a:p>
        </p:txBody>
      </p:sp>
      <p:sp>
        <p:nvSpPr>
          <p:cNvPr id="25" name="Text Box 21"/>
          <p:cNvSpPr txBox="1">
            <a:spLocks noChangeArrowheads="1"/>
          </p:cNvSpPr>
          <p:nvPr/>
        </p:nvSpPr>
        <p:spPr bwMode="auto">
          <a:xfrm>
            <a:off x="3429000" y="3581400"/>
            <a:ext cx="47244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dirty="0">
                <a:solidFill>
                  <a:schemeClr val="accent4">
                    <a:lumMod val="10000"/>
                  </a:schemeClr>
                </a:solidFill>
              </a:rPr>
              <a:t>The item needing approval will workflow to the employee’s immediate approving manager, according to the organizational </a:t>
            </a:r>
            <a:r>
              <a:rPr lang="en-US" sz="1600" dirty="0" smtClean="0">
                <a:solidFill>
                  <a:schemeClr val="accent4">
                    <a:lumMod val="10000"/>
                  </a:schemeClr>
                </a:solidFill>
              </a:rPr>
              <a:t>or task hierarchy</a:t>
            </a:r>
            <a:r>
              <a:rPr lang="en-US" sz="1600" dirty="0">
                <a:solidFill>
                  <a:schemeClr val="accent4">
                    <a:lumMod val="10000"/>
                  </a:schemeClr>
                </a:solidFill>
              </a:rPr>
              <a:t>.</a:t>
            </a:r>
          </a:p>
        </p:txBody>
      </p:sp>
      <p:sp>
        <p:nvSpPr>
          <p:cNvPr id="26" name="Text Box 22"/>
          <p:cNvSpPr txBox="1">
            <a:spLocks noChangeArrowheads="1"/>
          </p:cNvSpPr>
          <p:nvPr/>
        </p:nvSpPr>
        <p:spPr bwMode="auto">
          <a:xfrm>
            <a:off x="3429000" y="2282825"/>
            <a:ext cx="47244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a:solidFill>
                  <a:schemeClr val="accent4">
                    <a:lumMod val="10000"/>
                  </a:schemeClr>
                </a:solidFill>
              </a:rPr>
              <a:t>Depending on the task or dollar amount involved, the actions of the first-level approving manager may trigger the item to workflow to the second-level approving manager.</a:t>
            </a:r>
          </a:p>
        </p:txBody>
      </p:sp>
      <p:sp>
        <p:nvSpPr>
          <p:cNvPr id="27" name="Text Box 23"/>
          <p:cNvSpPr txBox="1">
            <a:spLocks noChangeArrowheads="1"/>
          </p:cNvSpPr>
          <p:nvPr/>
        </p:nvSpPr>
        <p:spPr bwMode="auto">
          <a:xfrm>
            <a:off x="3429000" y="1066800"/>
            <a:ext cx="47244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a:solidFill>
                  <a:schemeClr val="accent4">
                    <a:lumMod val="10000"/>
                  </a:schemeClr>
                </a:solidFill>
              </a:rPr>
              <a:t>High dollar items may require a third-level approval, depending on the approval authority of the second-level manager.</a:t>
            </a:r>
          </a:p>
        </p:txBody>
      </p:sp>
    </p:spTree>
    <p:extLst>
      <p:ext uri="{BB962C8B-B14F-4D97-AF65-F5344CB8AC3E}">
        <p14:creationId xmlns:p14="http://schemas.microsoft.com/office/powerpoint/2010/main" val="1673122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2" grpId="1" animBg="1"/>
      <p:bldP spid="23" grpId="0" animBg="1"/>
      <p:bldP spid="24" grpId="0"/>
      <p:bldP spid="25" grpId="0"/>
      <p:bldP spid="26" grpId="0"/>
      <p:bldP spid="26" grpId="1"/>
      <p:bldP spid="2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Workplace vs. Outlook Notifications </a:t>
            </a:r>
            <a:endParaRPr lang="en-US" dirty="0"/>
          </a:p>
        </p:txBody>
      </p:sp>
      <p:grpSp>
        <p:nvGrpSpPr>
          <p:cNvPr id="4" name="Group 4"/>
          <p:cNvGrpSpPr>
            <a:grpSpLocks/>
          </p:cNvGrpSpPr>
          <p:nvPr/>
        </p:nvGrpSpPr>
        <p:grpSpPr bwMode="auto">
          <a:xfrm>
            <a:off x="685800" y="1225550"/>
            <a:ext cx="3505200" cy="4724756"/>
            <a:chOff x="384" y="720"/>
            <a:chExt cx="2208" cy="2876"/>
          </a:xfrm>
        </p:grpSpPr>
        <p:sp>
          <p:nvSpPr>
            <p:cNvPr id="5" name="Rectangle 5"/>
            <p:cNvSpPr>
              <a:spLocks noChangeArrowheads="1"/>
            </p:cNvSpPr>
            <p:nvPr/>
          </p:nvSpPr>
          <p:spPr bwMode="auto">
            <a:xfrm>
              <a:off x="432" y="720"/>
              <a:ext cx="2112" cy="349"/>
            </a:xfrm>
            <a:prstGeom prst="rect">
              <a:avLst/>
            </a:prstGeom>
            <a:solidFill>
              <a:srgbClr val="002E6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6" name="Text Box 6"/>
            <p:cNvSpPr txBox="1">
              <a:spLocks noChangeArrowheads="1"/>
            </p:cNvSpPr>
            <p:nvPr/>
          </p:nvSpPr>
          <p:spPr bwMode="auto">
            <a:xfrm>
              <a:off x="384" y="768"/>
              <a:ext cx="2208" cy="225"/>
            </a:xfrm>
            <a:prstGeom prst="rect">
              <a:avLst/>
            </a:prstGeom>
            <a:solidFill>
              <a:schemeClr val="tx1"/>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dirty="0" smtClean="0">
                  <a:solidFill>
                    <a:schemeClr val="accent4">
                      <a:lumMod val="10000"/>
                    </a:schemeClr>
                  </a:solidFill>
                  <a:latin typeface="Verdana" pitchFamily="34" charset="0"/>
                  <a:ea typeface="Verdana" pitchFamily="34" charset="0"/>
                  <a:cs typeface="Verdana" pitchFamily="34" charset="0"/>
                </a:rPr>
                <a:t>Business Workplace </a:t>
              </a:r>
              <a:r>
                <a:rPr lang="en-US" dirty="0" err="1">
                  <a:solidFill>
                    <a:schemeClr val="accent4">
                      <a:lumMod val="10000"/>
                    </a:schemeClr>
                  </a:solidFill>
                  <a:latin typeface="Verdana" pitchFamily="34" charset="0"/>
                  <a:ea typeface="Verdana" pitchFamily="34" charset="0"/>
                  <a:cs typeface="Verdana" pitchFamily="34" charset="0"/>
                </a:rPr>
                <a:t>Worklist</a:t>
              </a:r>
              <a:endParaRPr lang="en-US" dirty="0">
                <a:solidFill>
                  <a:schemeClr val="accent4">
                    <a:lumMod val="10000"/>
                  </a:schemeClr>
                </a:solidFill>
                <a:latin typeface="Verdana" pitchFamily="34" charset="0"/>
                <a:ea typeface="Verdana" pitchFamily="34" charset="0"/>
                <a:cs typeface="Verdana" pitchFamily="34" charset="0"/>
              </a:endParaRPr>
            </a:p>
          </p:txBody>
        </p:sp>
        <p:sp>
          <p:nvSpPr>
            <p:cNvPr id="7" name="Rectangle 7"/>
            <p:cNvSpPr>
              <a:spLocks noChangeArrowheads="1"/>
            </p:cNvSpPr>
            <p:nvPr/>
          </p:nvSpPr>
          <p:spPr bwMode="auto">
            <a:xfrm>
              <a:off x="432" y="1060"/>
              <a:ext cx="2112" cy="230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8" name="Text Box 8"/>
            <p:cNvSpPr txBox="1">
              <a:spLocks noChangeArrowheads="1"/>
            </p:cNvSpPr>
            <p:nvPr/>
          </p:nvSpPr>
          <p:spPr bwMode="auto">
            <a:xfrm>
              <a:off x="432" y="1095"/>
              <a:ext cx="2112" cy="2501"/>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1450" indent="-17145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spcBef>
                  <a:spcPct val="50000"/>
                </a:spcBef>
                <a:buFontTx/>
                <a:buChar char="•"/>
              </a:pPr>
              <a:r>
                <a:rPr lang="en-US" dirty="0">
                  <a:solidFill>
                    <a:schemeClr val="accent4">
                      <a:lumMod val="10000"/>
                    </a:schemeClr>
                  </a:solidFill>
                  <a:latin typeface="Verdana" pitchFamily="34" charset="0"/>
                  <a:ea typeface="Verdana" pitchFamily="34" charset="0"/>
                  <a:cs typeface="Verdana" pitchFamily="34" charset="0"/>
                </a:rPr>
                <a:t>Brings work to you.</a:t>
              </a:r>
            </a:p>
            <a:p>
              <a:pPr>
                <a:spcBef>
                  <a:spcPct val="50000"/>
                </a:spcBef>
                <a:buFontTx/>
                <a:buChar char="•"/>
              </a:pPr>
              <a:r>
                <a:rPr lang="en-US" dirty="0">
                  <a:solidFill>
                    <a:schemeClr val="accent4">
                      <a:lumMod val="10000"/>
                    </a:schemeClr>
                  </a:solidFill>
                  <a:latin typeface="Verdana" pitchFamily="34" charset="0"/>
                  <a:ea typeface="Verdana" pitchFamily="34" charset="0"/>
                  <a:cs typeface="Verdana" pitchFamily="34" charset="0"/>
                </a:rPr>
                <a:t>Only way to remove a work item is to complete the work or forward to another person.</a:t>
              </a:r>
            </a:p>
            <a:p>
              <a:pPr>
                <a:spcBef>
                  <a:spcPct val="50000"/>
                </a:spcBef>
                <a:buFontTx/>
                <a:buChar char="•"/>
              </a:pPr>
              <a:r>
                <a:rPr lang="en-US" dirty="0">
                  <a:solidFill>
                    <a:schemeClr val="accent4">
                      <a:lumMod val="10000"/>
                    </a:schemeClr>
                  </a:solidFill>
                  <a:latin typeface="Verdana" pitchFamily="34" charset="0"/>
                  <a:ea typeface="Verdana" pitchFamily="34" charset="0"/>
                  <a:cs typeface="Verdana" pitchFamily="34" charset="0"/>
                </a:rPr>
                <a:t>Workflow process stops until task is completed and automatically triggers the next step.</a:t>
              </a:r>
            </a:p>
            <a:p>
              <a:pPr>
                <a:spcBef>
                  <a:spcPct val="50000"/>
                </a:spcBef>
                <a:buFontTx/>
                <a:buChar char="•"/>
              </a:pPr>
              <a:r>
                <a:rPr lang="en-US" dirty="0">
                  <a:solidFill>
                    <a:schemeClr val="accent4">
                      <a:lumMod val="10000"/>
                    </a:schemeClr>
                  </a:solidFill>
                  <a:latin typeface="Verdana" pitchFamily="34" charset="0"/>
                  <a:ea typeface="Verdana" pitchFamily="34" charset="0"/>
                  <a:cs typeface="Verdana" pitchFamily="34" charset="0"/>
                </a:rPr>
                <a:t>History log of all steps taken in the workflow process available to review.</a:t>
              </a:r>
            </a:p>
          </p:txBody>
        </p:sp>
      </p:grpSp>
      <p:grpSp>
        <p:nvGrpSpPr>
          <p:cNvPr id="9" name="Group 9"/>
          <p:cNvGrpSpPr>
            <a:grpSpLocks/>
          </p:cNvGrpSpPr>
          <p:nvPr/>
        </p:nvGrpSpPr>
        <p:grpSpPr bwMode="auto">
          <a:xfrm>
            <a:off x="4648200" y="1225550"/>
            <a:ext cx="3352800" cy="4447119"/>
            <a:chOff x="432" y="720"/>
            <a:chExt cx="2112" cy="2707"/>
          </a:xfrm>
        </p:grpSpPr>
        <p:sp>
          <p:nvSpPr>
            <p:cNvPr id="10" name="Rectangle 10"/>
            <p:cNvSpPr>
              <a:spLocks noChangeArrowheads="1"/>
            </p:cNvSpPr>
            <p:nvPr/>
          </p:nvSpPr>
          <p:spPr bwMode="auto">
            <a:xfrm>
              <a:off x="432" y="720"/>
              <a:ext cx="2112" cy="349"/>
            </a:xfrm>
            <a:prstGeom prst="rect">
              <a:avLst/>
            </a:prstGeom>
            <a:solidFill>
              <a:srgbClr val="002E6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1" name="Text Box 11"/>
            <p:cNvSpPr txBox="1">
              <a:spLocks noChangeArrowheads="1"/>
            </p:cNvSpPr>
            <p:nvPr/>
          </p:nvSpPr>
          <p:spPr bwMode="auto">
            <a:xfrm>
              <a:off x="432" y="768"/>
              <a:ext cx="2112" cy="223"/>
            </a:xfrm>
            <a:prstGeom prst="rect">
              <a:avLst/>
            </a:prstGeom>
            <a:solidFill>
              <a:schemeClr val="tx1"/>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dirty="0">
                  <a:solidFill>
                    <a:schemeClr val="accent4">
                      <a:lumMod val="10000"/>
                    </a:schemeClr>
                  </a:solidFill>
                  <a:latin typeface="Verdana" pitchFamily="34" charset="0"/>
                  <a:ea typeface="Verdana" pitchFamily="34" charset="0"/>
                  <a:cs typeface="Verdana" pitchFamily="34" charset="0"/>
                </a:rPr>
                <a:t>E-Mail Notifications</a:t>
              </a:r>
            </a:p>
          </p:txBody>
        </p:sp>
        <p:sp>
          <p:nvSpPr>
            <p:cNvPr id="12" name="Rectangle 12"/>
            <p:cNvSpPr>
              <a:spLocks noChangeArrowheads="1"/>
            </p:cNvSpPr>
            <p:nvPr/>
          </p:nvSpPr>
          <p:spPr bwMode="auto">
            <a:xfrm>
              <a:off x="432" y="1060"/>
              <a:ext cx="2112" cy="230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3" name="Text Box 13"/>
            <p:cNvSpPr txBox="1">
              <a:spLocks noChangeArrowheads="1"/>
            </p:cNvSpPr>
            <p:nvPr/>
          </p:nvSpPr>
          <p:spPr bwMode="auto">
            <a:xfrm>
              <a:off x="432" y="1095"/>
              <a:ext cx="2112" cy="2332"/>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1450" indent="-17145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spcBef>
                  <a:spcPct val="5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Tells you what work needs to be done.</a:t>
              </a:r>
            </a:p>
            <a:p>
              <a:pPr>
                <a:spcBef>
                  <a:spcPct val="5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Remove e-mail notification by deleting item.</a:t>
              </a:r>
            </a:p>
            <a:p>
              <a:pPr>
                <a:spcBef>
                  <a:spcPct val="5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Process could continue without an approval level being completed.</a:t>
              </a:r>
            </a:p>
            <a:p>
              <a:pPr>
                <a:spcBef>
                  <a:spcPct val="5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No record of any other action taken in the process if e-mail was sent to more than one person.</a:t>
              </a:r>
              <a:endParaRPr lang="en-US" dirty="0">
                <a:solidFill>
                  <a:schemeClr val="accent4">
                    <a:lumMod val="10000"/>
                  </a:schemeClr>
                </a:solidFill>
                <a:latin typeface="Verdana" pitchFamily="34" charset="0"/>
                <a:ea typeface="Verdana" pitchFamily="34" charset="0"/>
                <a:cs typeface="Verdana" pitchFamily="34" charset="0"/>
              </a:endParaRPr>
            </a:p>
          </p:txBody>
        </p:sp>
      </p:grpSp>
    </p:spTree>
    <p:extLst>
      <p:ext uri="{BB962C8B-B14F-4D97-AF65-F5344CB8AC3E}">
        <p14:creationId xmlns:p14="http://schemas.microsoft.com/office/powerpoint/2010/main" val="266960787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Accessing Business Workplace</a:t>
            </a:r>
            <a:endParaRPr lang="en-US" dirty="0"/>
          </a:p>
        </p:txBody>
      </p:sp>
      <p:pic>
        <p:nvPicPr>
          <p:cNvPr id="4" name="Picture 3" descr="snap"/>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05" r="74696" b="63005"/>
          <a:stretch/>
        </p:blipFill>
        <p:spPr bwMode="auto">
          <a:xfrm>
            <a:off x="2514600" y="1146412"/>
            <a:ext cx="3232180" cy="3525797"/>
          </a:xfrm>
          <a:prstGeom prst="rect">
            <a:avLst/>
          </a:prstGeom>
          <a:ln>
            <a:noFill/>
          </a:ln>
          <a:effectLst>
            <a:outerShdw blurRad="292100" dist="139700" dir="2700000" algn="tl" rotWithShape="0">
              <a:srgbClr val="333333">
                <a:alpha val="65000"/>
              </a:srgbClr>
            </a:outerShdw>
          </a:effectLst>
          <a:extLst>
            <a:ext uri="{91240B29-F687-4F45-9708-019B960494DF}">
              <a14:hiddenLine xmlns:a14="http://schemas.microsoft.com/office/drawing/2010/main" w="12700">
                <a:solidFill>
                  <a:srgbClr val="000000"/>
                </a:solidFill>
                <a:miter lim="800000"/>
                <a:headEnd/>
                <a:tailEnd/>
              </a14:hiddenLine>
            </a:ext>
          </a:extLst>
        </p:spPr>
      </p:pic>
      <p:sp>
        <p:nvSpPr>
          <p:cNvPr id="5" name="Rectangular Callout 4"/>
          <p:cNvSpPr/>
          <p:nvPr/>
        </p:nvSpPr>
        <p:spPr bwMode="auto">
          <a:xfrm>
            <a:off x="304800" y="1143000"/>
            <a:ext cx="3352800" cy="1066787"/>
          </a:xfrm>
          <a:prstGeom prst="wedgeRectCallout">
            <a:avLst>
              <a:gd name="adj1" fmla="val 40346"/>
              <a:gd name="adj2" fmla="val 59290"/>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dirty="0" smtClean="0">
                <a:solidFill>
                  <a:srgbClr val="000000"/>
                </a:solidFill>
                <a:latin typeface="Arial" pitchFamily="34" charset="0"/>
                <a:ea typeface="Verdana" pitchFamily="34" charset="0"/>
                <a:cs typeface="Arial" pitchFamily="34" charset="0"/>
              </a:rPr>
              <a:t>From the SAP Easy Access screen, click the </a:t>
            </a:r>
            <a:r>
              <a:rPr lang="en-US" b="1" dirty="0" smtClean="0">
                <a:solidFill>
                  <a:srgbClr val="000000"/>
                </a:solidFill>
                <a:latin typeface="Arial" pitchFamily="34" charset="0"/>
                <a:ea typeface="Verdana" pitchFamily="34" charset="0"/>
                <a:cs typeface="Arial" pitchFamily="34" charset="0"/>
              </a:rPr>
              <a:t>Business Workplace       </a:t>
            </a:r>
            <a:r>
              <a:rPr lang="en-US" dirty="0" smtClean="0">
                <a:solidFill>
                  <a:srgbClr val="000000"/>
                </a:solidFill>
                <a:latin typeface="Arial" pitchFamily="34" charset="0"/>
                <a:ea typeface="Verdana" pitchFamily="34" charset="0"/>
                <a:cs typeface="Arial" pitchFamily="34" charset="0"/>
              </a:rPr>
              <a:t>button.</a:t>
            </a:r>
            <a:endParaRPr lang="en-US" dirty="0">
              <a:solidFill>
                <a:srgbClr val="000000"/>
              </a:solidFill>
              <a:latin typeface="Arial" pitchFamily="34" charset="0"/>
              <a:ea typeface="Verdana" pitchFamily="34" charset="0"/>
              <a:cs typeface="Arial" pitchFamily="34"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0200" y="1828800"/>
            <a:ext cx="304775" cy="304775"/>
          </a:xfrm>
          <a:prstGeom prst="rect">
            <a:avLst/>
          </a:prstGeom>
        </p:spPr>
      </p:pic>
      <p:sp>
        <p:nvSpPr>
          <p:cNvPr id="7" name="AutoShape 21"/>
          <p:cNvSpPr>
            <a:spLocks noChangeArrowheads="1"/>
          </p:cNvSpPr>
          <p:nvPr/>
        </p:nvSpPr>
        <p:spPr bwMode="auto">
          <a:xfrm>
            <a:off x="289052" y="3429000"/>
            <a:ext cx="5502148" cy="2962999"/>
          </a:xfrm>
          <a:prstGeom prst="wedgeRectCallout">
            <a:avLst>
              <a:gd name="adj1" fmla="val 8691"/>
              <a:gd name="adj2" fmla="val -78883"/>
            </a:avLst>
          </a:prstGeom>
          <a:solidFill>
            <a:schemeClr val="tx1">
              <a:lumMod val="95000"/>
            </a:schemeClr>
          </a:solidFill>
          <a:ln w="38100">
            <a:solidFill>
              <a:srgbClr val="FF0000"/>
            </a:solidFill>
            <a:prstDash val="dash"/>
            <a:miter lim="800000"/>
            <a:headEnd/>
            <a:tailEnd/>
          </a:ln>
          <a:effectLst/>
          <a:extLst/>
        </p:spPr>
        <p:txBody>
          <a:bodyPr/>
          <a:lstStyle/>
          <a:p>
            <a:pPr algn="ctr" eaLnBrk="1" hangingPunct="1"/>
            <a:endParaRPr lang="en-US" smtClean="0">
              <a:solidFill>
                <a:schemeClr val="accent4">
                  <a:lumMod val="10000"/>
                </a:schemeClr>
              </a:solidFill>
              <a:cs typeface="Arial" charset="0"/>
            </a:endParaRPr>
          </a:p>
        </p:txBody>
      </p:sp>
      <p:grpSp>
        <p:nvGrpSpPr>
          <p:cNvPr id="8" name="Group 38"/>
          <p:cNvGrpSpPr>
            <a:grpSpLocks/>
          </p:cNvGrpSpPr>
          <p:nvPr/>
        </p:nvGrpSpPr>
        <p:grpSpPr bwMode="auto">
          <a:xfrm>
            <a:off x="107950" y="964643"/>
            <a:ext cx="393700" cy="363538"/>
            <a:chOff x="4976" y="624"/>
            <a:chExt cx="200" cy="176"/>
          </a:xfrm>
        </p:grpSpPr>
        <p:sp>
          <p:nvSpPr>
            <p:cNvPr id="9"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0"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1000" y="3505200"/>
            <a:ext cx="5410200" cy="2886799"/>
          </a:xfrm>
          <a:prstGeom prst="rect">
            <a:avLst/>
          </a:prstGeom>
        </p:spPr>
      </p:pic>
      <p:sp>
        <p:nvSpPr>
          <p:cNvPr id="13" name="TextBox 12"/>
          <p:cNvSpPr txBox="1"/>
          <p:nvPr/>
        </p:nvSpPr>
        <p:spPr>
          <a:xfrm>
            <a:off x="5959490" y="1150541"/>
            <a:ext cx="2955910" cy="5241457"/>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a:solidFill>
                  <a:srgbClr val="000000"/>
                </a:solidFill>
                <a:latin typeface="Arial" pitchFamily="34" charset="0"/>
                <a:ea typeface="Verdana" pitchFamily="34" charset="0"/>
                <a:cs typeface="Arial" pitchFamily="34" charset="0"/>
              </a:defRPr>
            </a:lvl1pPr>
          </a:lstStyle>
          <a:p>
            <a:r>
              <a:rPr lang="en-US" dirty="0"/>
              <a:t>The </a:t>
            </a:r>
            <a:r>
              <a:rPr lang="en-US" b="1" dirty="0">
                <a:solidFill>
                  <a:schemeClr val="accent4">
                    <a:lumMod val="10000"/>
                  </a:schemeClr>
                </a:solidFill>
              </a:rPr>
              <a:t>Business Workplace </a:t>
            </a:r>
            <a:r>
              <a:rPr lang="en-US" dirty="0"/>
              <a:t>screen is divided into three sections</a:t>
            </a:r>
            <a:r>
              <a:rPr lang="en-US" dirty="0" smtClean="0"/>
              <a:t>:</a:t>
            </a:r>
          </a:p>
          <a:p>
            <a:r>
              <a:rPr lang="en-US" sz="1600" b="1" dirty="0" smtClean="0"/>
              <a:t>Folders – </a:t>
            </a:r>
            <a:r>
              <a:rPr lang="en-US" sz="1600" dirty="0"/>
              <a:t>The folders of your Business Workplace are displayed here in a tree structure. By clicking on a folder you call the contents of that folder</a:t>
            </a:r>
            <a:r>
              <a:rPr lang="en-US" sz="1600" dirty="0" smtClean="0"/>
              <a:t>.</a:t>
            </a:r>
          </a:p>
          <a:p>
            <a:r>
              <a:rPr lang="en-US" sz="1600" b="1" dirty="0" smtClean="0"/>
              <a:t>Contents List – </a:t>
            </a:r>
            <a:r>
              <a:rPr lang="en-US" sz="1600" dirty="0"/>
              <a:t>A list is displayed here of all the documents, distribution lists, folders and objects contained in the folder that you have selected in the folder tree. </a:t>
            </a:r>
          </a:p>
          <a:p>
            <a:r>
              <a:rPr lang="en-US" sz="1600" b="1" dirty="0" smtClean="0"/>
              <a:t>Preview - </a:t>
            </a:r>
            <a:r>
              <a:rPr lang="en-US" sz="1600" dirty="0"/>
              <a:t>The list entry that is selected in the folder contents list is displayed here, provided that the entry supports the </a:t>
            </a:r>
            <a:r>
              <a:rPr lang="en-US" sz="1600" dirty="0" smtClean="0"/>
              <a:t>preview</a:t>
            </a:r>
            <a:endParaRPr lang="en-US" dirty="0"/>
          </a:p>
        </p:txBody>
      </p:sp>
    </p:spTree>
    <p:extLst>
      <p:ext uri="{BB962C8B-B14F-4D97-AF65-F5344CB8AC3E}">
        <p14:creationId xmlns:p14="http://schemas.microsoft.com/office/powerpoint/2010/main" val="257863622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Selecting Inbox Items</a:t>
            </a:r>
            <a:endParaRPr lang="en-US" dirty="0"/>
          </a:p>
        </p:txBody>
      </p:sp>
      <p:sp>
        <p:nvSpPr>
          <p:cNvPr id="3" name="Content Placeholder 2"/>
          <p:cNvSpPr>
            <a:spLocks noGrp="1"/>
          </p:cNvSpPr>
          <p:nvPr>
            <p:ph idx="1"/>
          </p:nvPr>
        </p:nvSpPr>
        <p:spPr>
          <a:xfrm>
            <a:off x="301625" y="990601"/>
            <a:ext cx="8537575" cy="457199"/>
          </a:xfrm>
        </p:spPr>
        <p:txBody>
          <a:bodyPr/>
          <a:lstStyle/>
          <a:p>
            <a:r>
              <a:rPr lang="en-US" dirty="0" smtClean="0"/>
              <a:t>Expanding the Inbox menu tree will display the Workflow folder. </a:t>
            </a:r>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381000" y="1524000"/>
            <a:ext cx="5410200" cy="3996373"/>
          </a:xfrm>
          <a:prstGeom prst="rect">
            <a:avLst/>
          </a:prstGeom>
        </p:spPr>
      </p:pic>
      <p:sp>
        <p:nvSpPr>
          <p:cNvPr id="5" name="TextBox 4"/>
          <p:cNvSpPr txBox="1"/>
          <p:nvPr/>
        </p:nvSpPr>
        <p:spPr>
          <a:xfrm>
            <a:off x="5791200" y="1524000"/>
            <a:ext cx="3124200" cy="51054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a:solidFill>
                  <a:srgbClr val="000000"/>
                </a:solidFill>
                <a:latin typeface="Arial" pitchFamily="34" charset="0"/>
                <a:ea typeface="Verdana" pitchFamily="34" charset="0"/>
                <a:cs typeface="Arial" pitchFamily="34" charset="0"/>
              </a:defRPr>
            </a:lvl1pPr>
          </a:lstStyle>
          <a:p>
            <a:pPr marL="342900" indent="-342900">
              <a:buFont typeface="+mj-lt"/>
              <a:buAutoNum type="arabicPeriod"/>
            </a:pPr>
            <a:r>
              <a:rPr lang="en-US" dirty="0" smtClean="0"/>
              <a:t>Once the Workflow folder is selected, the items awaiting approval are listed in the Contents list.</a:t>
            </a:r>
          </a:p>
          <a:p>
            <a:pPr marL="342900" indent="-342900">
              <a:buFont typeface="+mj-lt"/>
              <a:buAutoNum type="arabicPeriod"/>
            </a:pPr>
            <a:r>
              <a:rPr lang="en-US" dirty="0" smtClean="0"/>
              <a:t>Highlighting an item will display additional details about that item in the Details pane.</a:t>
            </a:r>
          </a:p>
          <a:p>
            <a:pPr marL="342900" indent="-342900">
              <a:buFont typeface="+mj-lt"/>
              <a:buAutoNum type="arabicPeriod"/>
            </a:pPr>
            <a:r>
              <a:rPr lang="en-US" dirty="0" smtClean="0"/>
              <a:t>Double-clicking on a link will open any attachment or document related to the item. This allows you to further review it prior to taking action.</a:t>
            </a:r>
          </a:p>
          <a:p>
            <a:pPr marL="342900" indent="-342900">
              <a:buFont typeface="+mj-lt"/>
              <a:buAutoNum type="arabicPeriod"/>
            </a:pPr>
            <a:r>
              <a:rPr lang="en-US" dirty="0" smtClean="0"/>
              <a:t>To process the item, click </a:t>
            </a:r>
            <a:r>
              <a:rPr lang="en-US" b="1" dirty="0" smtClean="0"/>
              <a:t>Execute</a:t>
            </a:r>
            <a:r>
              <a:rPr lang="en-US" dirty="0" smtClean="0"/>
              <a:t>     .</a:t>
            </a:r>
            <a:endParaRPr lang="en-US" dirty="0"/>
          </a:p>
        </p:txBody>
      </p:sp>
      <p:grpSp>
        <p:nvGrpSpPr>
          <p:cNvPr id="6" name="Group 38"/>
          <p:cNvGrpSpPr>
            <a:grpSpLocks/>
          </p:cNvGrpSpPr>
          <p:nvPr/>
        </p:nvGrpSpPr>
        <p:grpSpPr bwMode="auto">
          <a:xfrm>
            <a:off x="4648200" y="2819400"/>
            <a:ext cx="393700" cy="363538"/>
            <a:chOff x="4976" y="624"/>
            <a:chExt cx="200" cy="176"/>
          </a:xfrm>
        </p:grpSpPr>
        <p:sp>
          <p:nvSpPr>
            <p:cNvPr id="7"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8"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9" name="Group 38"/>
          <p:cNvGrpSpPr>
            <a:grpSpLocks/>
          </p:cNvGrpSpPr>
          <p:nvPr/>
        </p:nvGrpSpPr>
        <p:grpSpPr bwMode="auto">
          <a:xfrm>
            <a:off x="381000" y="3522186"/>
            <a:ext cx="393700" cy="363538"/>
            <a:chOff x="4976" y="624"/>
            <a:chExt cx="200" cy="176"/>
          </a:xfrm>
        </p:grpSpPr>
        <p:sp>
          <p:nvSpPr>
            <p:cNvPr id="10"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12" name="Group 38"/>
          <p:cNvGrpSpPr>
            <a:grpSpLocks/>
          </p:cNvGrpSpPr>
          <p:nvPr/>
        </p:nvGrpSpPr>
        <p:grpSpPr bwMode="auto">
          <a:xfrm>
            <a:off x="5155192" y="4495800"/>
            <a:ext cx="393700" cy="363538"/>
            <a:chOff x="4976" y="624"/>
            <a:chExt cx="200" cy="176"/>
          </a:xfrm>
        </p:grpSpPr>
        <p:sp>
          <p:nvSpPr>
            <p:cNvPr id="13"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grpSp>
        <p:nvGrpSpPr>
          <p:cNvPr id="15" name="Group 38"/>
          <p:cNvGrpSpPr>
            <a:grpSpLocks/>
          </p:cNvGrpSpPr>
          <p:nvPr/>
        </p:nvGrpSpPr>
        <p:grpSpPr bwMode="auto">
          <a:xfrm>
            <a:off x="812231" y="2057400"/>
            <a:ext cx="393700" cy="363538"/>
            <a:chOff x="4976" y="624"/>
            <a:chExt cx="200" cy="176"/>
          </a:xfrm>
        </p:grpSpPr>
        <p:sp>
          <p:nvSpPr>
            <p:cNvPr id="16"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7"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4</a:t>
              </a:r>
            </a:p>
          </p:txBody>
        </p:sp>
      </p:grpSp>
      <p:pic>
        <p:nvPicPr>
          <p:cNvPr id="18" name="Picture 17"/>
          <p:cNvPicPr/>
          <p:nvPr/>
        </p:nvPicPr>
        <p:blipFill>
          <a:blip r:embed="rId3">
            <a:extLst>
              <a:ext uri="{28A0092B-C50C-407E-A947-70E740481C1C}">
                <a14:useLocalDpi xmlns:a14="http://schemas.microsoft.com/office/drawing/2010/main" val="0"/>
              </a:ext>
            </a:extLst>
          </a:blip>
          <a:srcRect/>
          <a:stretch>
            <a:fillRect/>
          </a:stretch>
        </p:blipFill>
        <p:spPr bwMode="auto">
          <a:xfrm>
            <a:off x="7115175" y="6172200"/>
            <a:ext cx="238125" cy="200025"/>
          </a:xfrm>
          <a:prstGeom prst="rect">
            <a:avLst/>
          </a:prstGeom>
          <a:noFill/>
          <a:ln>
            <a:noFill/>
          </a:ln>
        </p:spPr>
      </p:pic>
    </p:spTree>
    <p:extLst>
      <p:ext uri="{BB962C8B-B14F-4D97-AF65-F5344CB8AC3E}">
        <p14:creationId xmlns:p14="http://schemas.microsoft.com/office/powerpoint/2010/main" val="279834347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Processing an Inbox Item</a:t>
            </a:r>
            <a:endParaRPr lang="en-US" dirty="0"/>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91</a:t>
            </a:fld>
            <a:endParaRPr lang="en-US" altLang="en-US"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381000" y="1447800"/>
            <a:ext cx="7086599" cy="4099243"/>
          </a:xfrm>
          <a:prstGeom prst="rect">
            <a:avLst/>
          </a:prstGeom>
          <a:ln>
            <a:noFill/>
          </a:ln>
          <a:effectLst>
            <a:softEdge rad="112500"/>
          </a:effectLst>
        </p:spPr>
      </p:pic>
      <p:sp>
        <p:nvSpPr>
          <p:cNvPr id="6" name="Content Placeholder 2"/>
          <p:cNvSpPr>
            <a:spLocks noGrp="1"/>
          </p:cNvSpPr>
          <p:nvPr>
            <p:ph idx="1"/>
          </p:nvPr>
        </p:nvSpPr>
        <p:spPr>
          <a:xfrm>
            <a:off x="301625" y="990601"/>
            <a:ext cx="8537575" cy="457199"/>
          </a:xfrm>
        </p:spPr>
        <p:txBody>
          <a:bodyPr/>
          <a:lstStyle/>
          <a:p>
            <a:r>
              <a:rPr lang="en-US" dirty="0" smtClean="0"/>
              <a:t>The Decision Step in Workflow screen provides several options</a:t>
            </a:r>
            <a:endParaRPr lang="en-US" dirty="0"/>
          </a:p>
        </p:txBody>
      </p:sp>
      <p:sp>
        <p:nvSpPr>
          <p:cNvPr id="7" name="TextBox 6"/>
          <p:cNvSpPr txBox="1"/>
          <p:nvPr/>
        </p:nvSpPr>
        <p:spPr>
          <a:xfrm>
            <a:off x="5809397" y="1470546"/>
            <a:ext cx="3124200" cy="4076497"/>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a:solidFill>
                  <a:srgbClr val="000000"/>
                </a:solidFill>
                <a:latin typeface="Arial" pitchFamily="34" charset="0"/>
                <a:ea typeface="Verdana" pitchFamily="34" charset="0"/>
                <a:cs typeface="Arial" pitchFamily="34" charset="0"/>
              </a:defRPr>
            </a:lvl1pPr>
          </a:lstStyle>
          <a:p>
            <a:pPr marL="342900" indent="-342900">
              <a:buFont typeface="+mj-lt"/>
              <a:buAutoNum type="arabicPeriod"/>
            </a:pPr>
            <a:r>
              <a:rPr lang="en-US" dirty="0" smtClean="0"/>
              <a:t>You many click any link to view additional documentation.</a:t>
            </a:r>
          </a:p>
          <a:p>
            <a:pPr marL="342900" indent="-342900">
              <a:buFont typeface="+mj-lt"/>
              <a:buAutoNum type="arabicPeriod"/>
            </a:pPr>
            <a:r>
              <a:rPr lang="en-US" dirty="0" smtClean="0"/>
              <a:t>You may view the workflow approvers by clicking Workflow.</a:t>
            </a:r>
          </a:p>
          <a:p>
            <a:pPr marL="342900" indent="-342900">
              <a:buFont typeface="+mj-lt"/>
              <a:buAutoNum type="arabicPeriod"/>
            </a:pPr>
            <a:r>
              <a:rPr lang="en-US" dirty="0" smtClean="0"/>
              <a:t>You may add a note or document by clicking Create.</a:t>
            </a:r>
          </a:p>
          <a:p>
            <a:pPr marL="342900" indent="-342900">
              <a:buFont typeface="+mj-lt"/>
              <a:buAutoNum type="arabicPeriod"/>
            </a:pPr>
            <a:r>
              <a:rPr lang="en-US" dirty="0" smtClean="0"/>
              <a:t>You can Approve or Reject, or Cancel the action, by clicking the appropriate button.</a:t>
            </a:r>
            <a:endParaRPr lang="en-US" dirty="0"/>
          </a:p>
        </p:txBody>
      </p:sp>
      <p:grpSp>
        <p:nvGrpSpPr>
          <p:cNvPr id="8" name="Group 38"/>
          <p:cNvGrpSpPr>
            <a:grpSpLocks/>
          </p:cNvGrpSpPr>
          <p:nvPr/>
        </p:nvGrpSpPr>
        <p:grpSpPr bwMode="auto">
          <a:xfrm>
            <a:off x="4648200" y="3945296"/>
            <a:ext cx="393700" cy="363538"/>
            <a:chOff x="4976" y="624"/>
            <a:chExt cx="200" cy="176"/>
          </a:xfrm>
        </p:grpSpPr>
        <p:sp>
          <p:nvSpPr>
            <p:cNvPr id="9"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0"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1" name="Group 38"/>
          <p:cNvGrpSpPr>
            <a:grpSpLocks/>
          </p:cNvGrpSpPr>
          <p:nvPr/>
        </p:nvGrpSpPr>
        <p:grpSpPr bwMode="auto">
          <a:xfrm>
            <a:off x="215900" y="1752600"/>
            <a:ext cx="393700" cy="363538"/>
            <a:chOff x="4976" y="624"/>
            <a:chExt cx="200" cy="176"/>
          </a:xfrm>
        </p:grpSpPr>
        <p:sp>
          <p:nvSpPr>
            <p:cNvPr id="12"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3"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14" name="Group 38"/>
          <p:cNvGrpSpPr>
            <a:grpSpLocks/>
          </p:cNvGrpSpPr>
          <p:nvPr/>
        </p:nvGrpSpPr>
        <p:grpSpPr bwMode="auto">
          <a:xfrm>
            <a:off x="1282700" y="1981200"/>
            <a:ext cx="393700" cy="363538"/>
            <a:chOff x="4976" y="624"/>
            <a:chExt cx="200" cy="176"/>
          </a:xfrm>
        </p:grpSpPr>
        <p:sp>
          <p:nvSpPr>
            <p:cNvPr id="15"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6"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grpSp>
        <p:nvGrpSpPr>
          <p:cNvPr id="17" name="Group 38"/>
          <p:cNvGrpSpPr>
            <a:grpSpLocks/>
          </p:cNvGrpSpPr>
          <p:nvPr/>
        </p:nvGrpSpPr>
        <p:grpSpPr bwMode="auto">
          <a:xfrm>
            <a:off x="1282700" y="2819400"/>
            <a:ext cx="393700" cy="363538"/>
            <a:chOff x="4976" y="624"/>
            <a:chExt cx="200" cy="176"/>
          </a:xfrm>
        </p:grpSpPr>
        <p:sp>
          <p:nvSpPr>
            <p:cNvPr id="18"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4</a:t>
              </a:r>
            </a:p>
          </p:txBody>
        </p:sp>
      </p:grpSp>
      <p:sp>
        <p:nvSpPr>
          <p:cNvPr id="20" name="Rectangle 19"/>
          <p:cNvSpPr/>
          <p:nvPr/>
        </p:nvSpPr>
        <p:spPr bwMode="auto">
          <a:xfrm>
            <a:off x="247397" y="5486400"/>
            <a:ext cx="8686200" cy="990600"/>
          </a:xfrm>
          <a:prstGeom prst="rect">
            <a:avLst/>
          </a:prstGeom>
          <a:solidFill>
            <a:srgbClr val="002E62"/>
          </a:solidFill>
          <a:ln w="1905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ctr"/>
            <a:r>
              <a:rPr lang="en-US" b="1" dirty="0" smtClean="0">
                <a:latin typeface="Verdana" pitchFamily="34" charset="0"/>
                <a:ea typeface="Verdana" pitchFamily="34" charset="0"/>
                <a:cs typeface="Verdana" pitchFamily="34" charset="0"/>
              </a:rPr>
              <a:t>Once an item is approved, it automatically flows to the next person’s Inbox and an email notification is sent to their Outlook Account. If rejected, it flows back to the previous person.</a:t>
            </a:r>
            <a:endParaRPr lang="en-US" dirty="0"/>
          </a:p>
        </p:txBody>
      </p:sp>
    </p:spTree>
    <p:extLst>
      <p:ext uri="{BB962C8B-B14F-4D97-AF65-F5344CB8AC3E}">
        <p14:creationId xmlns:p14="http://schemas.microsoft.com/office/powerpoint/2010/main" val="35148958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Process items in the Business Workplace Inbox.</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N/A</a:t>
            </a:r>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92</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12372930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r>
              <a:rPr lang="en-US" b="1" dirty="0" smtClean="0"/>
              <a:t>Scenario:</a:t>
            </a:r>
          </a:p>
          <a:p>
            <a:r>
              <a:rPr lang="en-US" dirty="0" smtClean="0"/>
              <a:t>Complete tasks in the Business Workplace Inbox.</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b="1" dirty="0" smtClean="0"/>
              <a:t>Exercise: 4.1 Process Items in Business </a:t>
            </a:r>
          </a:p>
          <a:p>
            <a:r>
              <a:rPr lang="en-US" b="1" dirty="0"/>
              <a:t>	</a:t>
            </a:r>
            <a:r>
              <a:rPr lang="en-US" b="1" dirty="0" smtClean="0"/>
              <a:t>	 Workplace </a:t>
            </a:r>
            <a:r>
              <a:rPr lang="en-US" b="1" dirty="0"/>
              <a:t>I</a:t>
            </a:r>
            <a:r>
              <a:rPr lang="en-US" b="1" dirty="0" smtClean="0"/>
              <a:t>nbox</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Tree>
    <p:extLst>
      <p:ext uri="{BB962C8B-B14F-4D97-AF65-F5344CB8AC3E}">
        <p14:creationId xmlns:p14="http://schemas.microsoft.com/office/powerpoint/2010/main" val="1626201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
                <a:schemeClr val="accent4">
                  <a:lumMod val="10000"/>
                </a:schemeClr>
              </a:buClr>
              <a:buFont typeface="+mj-lt"/>
              <a:buAutoNum type="arabicPeriod"/>
            </a:pPr>
            <a:r>
              <a:rPr lang="en-US" dirty="0" smtClean="0"/>
              <a:t>True or False – All items needing approval will come to your ECC Business Workplace Inbox.</a:t>
            </a:r>
          </a:p>
          <a:p>
            <a:pPr marL="457200" indent="-457200">
              <a:buClr>
                <a:schemeClr val="accent4">
                  <a:lumMod val="10000"/>
                </a:schemeClr>
              </a:buClr>
              <a:buFont typeface="+mj-lt"/>
              <a:buAutoNum type="arabicPeriod"/>
            </a:pPr>
            <a:r>
              <a:rPr lang="en-US" dirty="0" smtClean="0"/>
              <a:t>True or False – The o</a:t>
            </a:r>
            <a:r>
              <a:rPr lang="en-US" dirty="0" smtClean="0">
                <a:solidFill>
                  <a:schemeClr val="accent4">
                    <a:lumMod val="10000"/>
                  </a:schemeClr>
                </a:solidFill>
                <a:cs typeface="Arial" charset="0"/>
              </a:rPr>
              <a:t>nly </a:t>
            </a:r>
            <a:r>
              <a:rPr lang="en-US" dirty="0">
                <a:solidFill>
                  <a:schemeClr val="accent4">
                    <a:lumMod val="10000"/>
                  </a:schemeClr>
                </a:solidFill>
                <a:cs typeface="Arial" charset="0"/>
              </a:rPr>
              <a:t>way to remove a work item is to complete the work or forward to another person.</a:t>
            </a:r>
          </a:p>
          <a:p>
            <a:pPr marL="457200" indent="-457200">
              <a:buClr>
                <a:schemeClr val="accent4">
                  <a:lumMod val="10000"/>
                </a:schemeClr>
              </a:buClr>
              <a:buFont typeface="+mj-lt"/>
              <a:buAutoNum type="arabicPeriod"/>
            </a:pPr>
            <a:r>
              <a:rPr lang="en-US" dirty="0" smtClean="0"/>
              <a:t>What happens when you approve an item in your Inbox?</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94</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3703623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p:cNvSpPr>
            <a:spLocks noGrp="1"/>
          </p:cNvSpPr>
          <p:nvPr>
            <p:ph type="title"/>
          </p:nvPr>
        </p:nvSpPr>
        <p:spPr/>
        <p:txBody>
          <a:bodyPr/>
          <a:lstStyle/>
          <a:p>
            <a:r>
              <a:rPr lang="en-US" dirty="0" smtClean="0"/>
              <a:t>Workflow Process with Passive Delegation</a:t>
            </a:r>
            <a:endParaRPr lang="en-US" dirty="0"/>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95</a:t>
            </a:fld>
            <a:endParaRPr lang="en-US" altLang="en-US" dirty="0"/>
          </a:p>
        </p:txBody>
      </p:sp>
      <p:sp>
        <p:nvSpPr>
          <p:cNvPr id="3" name="Rectangle 3"/>
          <p:cNvSpPr>
            <a:spLocks noChangeArrowheads="1"/>
          </p:cNvSpPr>
          <p:nvPr/>
        </p:nvSpPr>
        <p:spPr bwMode="auto">
          <a:xfrm>
            <a:off x="685800" y="5089525"/>
            <a:ext cx="1981200" cy="990600"/>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5" name="Text Box 5"/>
          <p:cNvSpPr txBox="1">
            <a:spLocks noChangeArrowheads="1"/>
          </p:cNvSpPr>
          <p:nvPr/>
        </p:nvSpPr>
        <p:spPr bwMode="auto">
          <a:xfrm>
            <a:off x="733425" y="5394325"/>
            <a:ext cx="1171575" cy="33655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Employee</a:t>
            </a:r>
          </a:p>
        </p:txBody>
      </p:sp>
      <p:sp>
        <p:nvSpPr>
          <p:cNvPr id="6" name="Rectangle 6"/>
          <p:cNvSpPr>
            <a:spLocks noChangeArrowheads="1"/>
          </p:cNvSpPr>
          <p:nvPr/>
        </p:nvSpPr>
        <p:spPr bwMode="auto">
          <a:xfrm>
            <a:off x="685800" y="3794125"/>
            <a:ext cx="1981200" cy="990600"/>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7" name="Text Box 7"/>
          <p:cNvSpPr txBox="1">
            <a:spLocks noChangeArrowheads="1"/>
          </p:cNvSpPr>
          <p:nvPr/>
        </p:nvSpPr>
        <p:spPr bwMode="auto">
          <a:xfrm>
            <a:off x="685800" y="3870325"/>
            <a:ext cx="1190625" cy="82550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First Approval Level</a:t>
            </a:r>
          </a:p>
        </p:txBody>
      </p:sp>
      <p:pic>
        <p:nvPicPr>
          <p:cNvPr id="8" name="Picture 8" descr="MPj04308160000[1]"/>
          <p:cNvPicPr>
            <a:picLocks noChangeAspect="1" noChangeArrowheads="1"/>
          </p:cNvPicPr>
          <p:nvPr/>
        </p:nvPicPr>
        <p:blipFill>
          <a:blip r:embed="rId3" cstate="print">
            <a:extLst>
              <a:ext uri="{28A0092B-C50C-407E-A947-70E740481C1C}">
                <a14:useLocalDpi xmlns:a14="http://schemas.microsoft.com/office/drawing/2010/main" val="0"/>
              </a:ext>
            </a:extLst>
          </a:blip>
          <a:srcRect l="8733" r="30380" b="50000"/>
          <a:stretch>
            <a:fillRect/>
          </a:stretch>
        </p:blipFill>
        <p:spPr bwMode="auto">
          <a:xfrm>
            <a:off x="1828800" y="3870325"/>
            <a:ext cx="762000" cy="8382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9"/>
          <p:cNvGrpSpPr>
            <a:grpSpLocks/>
          </p:cNvGrpSpPr>
          <p:nvPr/>
        </p:nvGrpSpPr>
        <p:grpSpPr bwMode="auto">
          <a:xfrm>
            <a:off x="3581400" y="3794125"/>
            <a:ext cx="1981200" cy="990600"/>
            <a:chOff x="3120" y="3072"/>
            <a:chExt cx="1248" cy="624"/>
          </a:xfrm>
        </p:grpSpPr>
        <p:sp>
          <p:nvSpPr>
            <p:cNvPr id="10" name="Rectangle 10"/>
            <p:cNvSpPr>
              <a:spLocks noChangeArrowheads="1"/>
            </p:cNvSpPr>
            <p:nvPr/>
          </p:nvSpPr>
          <p:spPr bwMode="auto">
            <a:xfrm>
              <a:off x="3120" y="3072"/>
              <a:ext cx="1248" cy="624"/>
            </a:xfrm>
            <a:prstGeom prst="rect">
              <a:avLst/>
            </a:prstGeom>
            <a:solidFill>
              <a:srgbClr val="FF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1" name="Text Box 11"/>
            <p:cNvSpPr txBox="1">
              <a:spLocks noChangeArrowheads="1"/>
            </p:cNvSpPr>
            <p:nvPr/>
          </p:nvSpPr>
          <p:spPr bwMode="auto">
            <a:xfrm>
              <a:off x="3168" y="3186"/>
              <a:ext cx="76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a:solidFill>
                    <a:schemeClr val="accent4">
                      <a:lumMod val="10000"/>
                    </a:schemeClr>
                  </a:solidFill>
                </a:rPr>
                <a:t>Substitute Approval</a:t>
              </a:r>
            </a:p>
          </p:txBody>
        </p:sp>
      </p:grpSp>
      <p:sp>
        <p:nvSpPr>
          <p:cNvPr id="12" name="Rectangle 12"/>
          <p:cNvSpPr>
            <a:spLocks noChangeArrowheads="1"/>
          </p:cNvSpPr>
          <p:nvPr/>
        </p:nvSpPr>
        <p:spPr bwMode="auto">
          <a:xfrm>
            <a:off x="685800" y="1279525"/>
            <a:ext cx="1981200" cy="990600"/>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3" name="Text Box 13"/>
          <p:cNvSpPr txBox="1">
            <a:spLocks noChangeArrowheads="1"/>
          </p:cNvSpPr>
          <p:nvPr/>
        </p:nvSpPr>
        <p:spPr bwMode="auto">
          <a:xfrm>
            <a:off x="685800" y="1355725"/>
            <a:ext cx="1190625" cy="82550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rPr>
              <a:t>Third Approval Level</a:t>
            </a:r>
          </a:p>
        </p:txBody>
      </p:sp>
      <p:sp>
        <p:nvSpPr>
          <p:cNvPr id="14" name="Rectangle 14"/>
          <p:cNvSpPr>
            <a:spLocks noChangeArrowheads="1"/>
          </p:cNvSpPr>
          <p:nvPr/>
        </p:nvSpPr>
        <p:spPr bwMode="auto">
          <a:xfrm>
            <a:off x="685800" y="2498725"/>
            <a:ext cx="1981200" cy="990600"/>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5" name="Text Box 15"/>
          <p:cNvSpPr txBox="1">
            <a:spLocks noChangeArrowheads="1"/>
          </p:cNvSpPr>
          <p:nvPr/>
        </p:nvSpPr>
        <p:spPr bwMode="auto">
          <a:xfrm>
            <a:off x="685800" y="2574925"/>
            <a:ext cx="1190625" cy="82550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Second Approval Level</a:t>
            </a:r>
          </a:p>
        </p:txBody>
      </p:sp>
      <p:pic>
        <p:nvPicPr>
          <p:cNvPr id="16" name="Picture 16" descr="PH01629J"/>
          <p:cNvPicPr>
            <a:picLocks noChangeAspect="1" noChangeArrowheads="1"/>
          </p:cNvPicPr>
          <p:nvPr/>
        </p:nvPicPr>
        <p:blipFill>
          <a:blip r:embed="rId4" cstate="print">
            <a:extLst>
              <a:ext uri="{28A0092B-C50C-407E-A947-70E740481C1C}">
                <a14:useLocalDpi xmlns:a14="http://schemas.microsoft.com/office/drawing/2010/main" val="0"/>
              </a:ext>
            </a:extLst>
          </a:blip>
          <a:srcRect r="14285"/>
          <a:stretch>
            <a:fillRect/>
          </a:stretch>
        </p:blipFill>
        <p:spPr bwMode="auto">
          <a:xfrm>
            <a:off x="1828800" y="2727325"/>
            <a:ext cx="762000" cy="58896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7" descr="PH01631J"/>
          <p:cNvPicPr>
            <a:picLocks noChangeAspect="1" noChangeArrowheads="1"/>
          </p:cNvPicPr>
          <p:nvPr/>
        </p:nvPicPr>
        <p:blipFill>
          <a:blip r:embed="rId5" cstate="print">
            <a:extLst>
              <a:ext uri="{28A0092B-C50C-407E-A947-70E740481C1C}">
                <a14:useLocalDpi xmlns:a14="http://schemas.microsoft.com/office/drawing/2010/main" val="0"/>
              </a:ext>
            </a:extLst>
          </a:blip>
          <a:srcRect b="43750"/>
          <a:stretch>
            <a:fillRect/>
          </a:stretch>
        </p:blipFill>
        <p:spPr bwMode="auto">
          <a:xfrm>
            <a:off x="1828800" y="5214938"/>
            <a:ext cx="806450" cy="685800"/>
          </a:xfrm>
          <a:prstGeom prst="rect">
            <a:avLst/>
          </a:prstGeom>
          <a:noFill/>
          <a:extLst>
            <a:ext uri="{909E8E84-426E-40DD-AFC4-6F175D3DCCD1}">
              <a14:hiddenFill xmlns:a14="http://schemas.microsoft.com/office/drawing/2010/main">
                <a:solidFill>
                  <a:srgbClr val="FFFFFF"/>
                </a:solidFill>
              </a14:hiddenFill>
            </a:ext>
          </a:extLst>
        </p:spPr>
      </p:pic>
      <p:sp>
        <p:nvSpPr>
          <p:cNvPr id="18" name="Line 18"/>
          <p:cNvSpPr>
            <a:spLocks noChangeShapeType="1"/>
          </p:cNvSpPr>
          <p:nvPr/>
        </p:nvSpPr>
        <p:spPr bwMode="auto">
          <a:xfrm flipV="1">
            <a:off x="1600200" y="2270125"/>
            <a:ext cx="0" cy="228600"/>
          </a:xfrm>
          <a:prstGeom prst="line">
            <a:avLst/>
          </a:prstGeom>
          <a:noFill/>
          <a:ln w="28575">
            <a:solidFill>
              <a:schemeClr val="accent4">
                <a:lumMod val="1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pic>
        <p:nvPicPr>
          <p:cNvPr id="19" name="Picture 19" descr="PH01623J"/>
          <p:cNvPicPr>
            <a:picLocks noChangeAspect="1" noChangeArrowheads="1"/>
          </p:cNvPicPr>
          <p:nvPr/>
        </p:nvPicPr>
        <p:blipFill>
          <a:blip r:embed="rId6" cstate="print">
            <a:extLst>
              <a:ext uri="{28A0092B-C50C-407E-A947-70E740481C1C}">
                <a14:useLocalDpi xmlns:a14="http://schemas.microsoft.com/office/drawing/2010/main" val="0"/>
              </a:ext>
            </a:extLst>
          </a:blip>
          <a:srcRect l="17647" r="14973" b="6589"/>
          <a:stretch>
            <a:fillRect/>
          </a:stretch>
        </p:blipFill>
        <p:spPr bwMode="auto">
          <a:xfrm>
            <a:off x="4724400" y="3946525"/>
            <a:ext cx="685800" cy="630238"/>
          </a:xfrm>
          <a:prstGeom prst="rect">
            <a:avLst/>
          </a:prstGeom>
          <a:noFill/>
          <a:extLst>
            <a:ext uri="{909E8E84-426E-40DD-AFC4-6F175D3DCCD1}">
              <a14:hiddenFill xmlns:a14="http://schemas.microsoft.com/office/drawing/2010/main">
                <a:solidFill>
                  <a:srgbClr val="FFFFFF"/>
                </a:solidFill>
              </a14:hiddenFill>
            </a:ext>
          </a:extLst>
        </p:spPr>
      </p:pic>
      <p:sp>
        <p:nvSpPr>
          <p:cNvPr id="20" name="Line 20"/>
          <p:cNvSpPr>
            <a:spLocks noChangeShapeType="1"/>
          </p:cNvSpPr>
          <p:nvPr/>
        </p:nvSpPr>
        <p:spPr bwMode="auto">
          <a:xfrm flipH="1" flipV="1">
            <a:off x="2667000" y="3184525"/>
            <a:ext cx="16002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sp>
        <p:nvSpPr>
          <p:cNvPr id="21" name="Line 21"/>
          <p:cNvSpPr>
            <a:spLocks noChangeShapeType="1"/>
          </p:cNvSpPr>
          <p:nvPr/>
        </p:nvSpPr>
        <p:spPr bwMode="auto">
          <a:xfrm flipV="1">
            <a:off x="1600200" y="4784725"/>
            <a:ext cx="0" cy="304800"/>
          </a:xfrm>
          <a:prstGeom prst="line">
            <a:avLst/>
          </a:prstGeom>
          <a:noFill/>
          <a:ln w="28575">
            <a:solidFill>
              <a:schemeClr val="accent4">
                <a:lumMod val="1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sp>
        <p:nvSpPr>
          <p:cNvPr id="22" name="AutoShape 22"/>
          <p:cNvSpPr>
            <a:spLocks noChangeArrowheads="1"/>
          </p:cNvSpPr>
          <p:nvPr/>
        </p:nvSpPr>
        <p:spPr bwMode="auto">
          <a:xfrm rot="10800000">
            <a:off x="2667000" y="3946525"/>
            <a:ext cx="914400" cy="523875"/>
          </a:xfrm>
          <a:prstGeom prst="rightArrow">
            <a:avLst>
              <a:gd name="adj1" fmla="val 50000"/>
              <a:gd name="adj2" fmla="val 4363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23" name="Text Box 23"/>
          <p:cNvSpPr txBox="1">
            <a:spLocks noChangeArrowheads="1"/>
          </p:cNvSpPr>
          <p:nvPr/>
        </p:nvSpPr>
        <p:spPr bwMode="auto">
          <a:xfrm>
            <a:off x="2924175" y="4076700"/>
            <a:ext cx="6572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200" b="1">
                <a:solidFill>
                  <a:schemeClr val="accent4">
                    <a:lumMod val="10000"/>
                  </a:schemeClr>
                </a:solidFill>
              </a:rPr>
              <a:t>Adopt</a:t>
            </a:r>
          </a:p>
        </p:txBody>
      </p:sp>
      <p:grpSp>
        <p:nvGrpSpPr>
          <p:cNvPr id="24" name="Group 24"/>
          <p:cNvGrpSpPr>
            <a:grpSpLocks/>
          </p:cNvGrpSpPr>
          <p:nvPr/>
        </p:nvGrpSpPr>
        <p:grpSpPr bwMode="auto">
          <a:xfrm>
            <a:off x="4267200" y="5191125"/>
            <a:ext cx="3200400" cy="904875"/>
            <a:chOff x="2688" y="3088"/>
            <a:chExt cx="2016" cy="570"/>
          </a:xfrm>
        </p:grpSpPr>
        <p:sp>
          <p:nvSpPr>
            <p:cNvPr id="25" name="Text Box 25"/>
            <p:cNvSpPr txBox="1">
              <a:spLocks noChangeArrowheads="1"/>
            </p:cNvSpPr>
            <p:nvPr/>
          </p:nvSpPr>
          <p:spPr bwMode="auto">
            <a:xfrm>
              <a:off x="2928" y="3192"/>
              <a:ext cx="1776" cy="466"/>
            </a:xfrm>
            <a:prstGeom prst="rect">
              <a:avLst/>
            </a:prstGeom>
            <a:solidFill>
              <a:srgbClr val="F9D491"/>
            </a:solidFill>
            <a:ln w="9525">
              <a:solidFill>
                <a:schemeClr val="tx1"/>
              </a:solidFill>
              <a:miter lim="800000"/>
              <a:headEnd/>
              <a:tailEnd/>
            </a:ln>
            <a:effectLst>
              <a:outerShdw dist="35921" dir="2700000" algn="ctr" rotWithShape="0">
                <a:schemeClr val="bg2"/>
              </a:outerShdw>
            </a:effectLst>
          </p:spPr>
          <p:txBody>
            <a:bodyPr>
              <a:spAutoFit/>
            </a:bodyPr>
            <a:lstStyle/>
            <a:p>
              <a:pPr>
                <a:spcBef>
                  <a:spcPct val="50000"/>
                </a:spcBef>
              </a:pPr>
              <a:r>
                <a:rPr lang="en-US" sz="1400" dirty="0">
                  <a:solidFill>
                    <a:schemeClr val="accent4">
                      <a:lumMod val="10000"/>
                    </a:schemeClr>
                  </a:solidFill>
                </a:rPr>
                <a:t>When </a:t>
              </a:r>
              <a:r>
                <a:rPr lang="en-US" sz="1400" dirty="0" smtClean="0">
                  <a:solidFill>
                    <a:schemeClr val="accent4">
                      <a:lumMod val="10000"/>
                    </a:schemeClr>
                  </a:solidFill>
                </a:rPr>
                <a:t>an item is </a:t>
              </a:r>
              <a:r>
                <a:rPr lang="en-US" sz="1400" dirty="0">
                  <a:solidFill>
                    <a:schemeClr val="accent4">
                      <a:lumMod val="10000"/>
                    </a:schemeClr>
                  </a:solidFill>
                </a:rPr>
                <a:t>created and released for approval, it will workflow to assigned approver.</a:t>
              </a:r>
            </a:p>
          </p:txBody>
        </p:sp>
        <p:sp>
          <p:nvSpPr>
            <p:cNvPr id="28" name="Text Box 28"/>
            <p:cNvSpPr txBox="1">
              <a:spLocks noChangeArrowheads="1"/>
            </p:cNvSpPr>
            <p:nvPr/>
          </p:nvSpPr>
          <p:spPr bwMode="auto">
            <a:xfrm>
              <a:off x="2688" y="3088"/>
              <a:ext cx="248"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dirty="0">
                  <a:solidFill>
                    <a:schemeClr val="accent4">
                      <a:lumMod val="10000"/>
                    </a:schemeClr>
                  </a:solidFill>
                </a:rPr>
                <a:t>1</a:t>
              </a:r>
            </a:p>
          </p:txBody>
        </p:sp>
      </p:grpSp>
      <p:grpSp>
        <p:nvGrpSpPr>
          <p:cNvPr id="29" name="Group 29"/>
          <p:cNvGrpSpPr>
            <a:grpSpLocks/>
          </p:cNvGrpSpPr>
          <p:nvPr/>
        </p:nvGrpSpPr>
        <p:grpSpPr bwMode="auto">
          <a:xfrm>
            <a:off x="5410200" y="3108325"/>
            <a:ext cx="3200400" cy="1955800"/>
            <a:chOff x="3408" y="1680"/>
            <a:chExt cx="2016" cy="1232"/>
          </a:xfrm>
        </p:grpSpPr>
        <p:sp>
          <p:nvSpPr>
            <p:cNvPr id="30" name="Text Box 30"/>
            <p:cNvSpPr txBox="1">
              <a:spLocks noChangeArrowheads="1"/>
            </p:cNvSpPr>
            <p:nvPr/>
          </p:nvSpPr>
          <p:spPr bwMode="auto">
            <a:xfrm>
              <a:off x="3648" y="1776"/>
              <a:ext cx="1776" cy="1136"/>
            </a:xfrm>
            <a:prstGeom prst="rect">
              <a:avLst/>
            </a:prstGeom>
            <a:solidFill>
              <a:srgbClr val="F9D491"/>
            </a:solidFill>
            <a:ln w="9525">
              <a:solidFill>
                <a:schemeClr val="tx1"/>
              </a:solidFill>
              <a:miter lim="800000"/>
              <a:headEnd/>
              <a:tailEnd/>
            </a:ln>
            <a:effectLst>
              <a:outerShdw dist="35921" dir="2700000" algn="ctr" rotWithShape="0">
                <a:schemeClr val="bg2"/>
              </a:outerShdw>
            </a:effectLst>
          </p:spPr>
          <p:txBody>
            <a:bodyPr>
              <a:spAutoFit/>
            </a:bodyPr>
            <a:lstStyle>
              <a:defPPr>
                <a:defRPr lang="en-US"/>
              </a:defPPr>
              <a:lvl1pPr>
                <a:spcBef>
                  <a:spcPct val="50000"/>
                </a:spcBef>
                <a:defRPr sz="1400">
                  <a:solidFill>
                    <a:schemeClr val="accent4">
                      <a:lumMod val="10000"/>
                    </a:schemeClr>
                  </a:solidFill>
                </a:defRPr>
              </a:lvl1pPr>
            </a:lstStyle>
            <a:p>
              <a:r>
                <a:rPr lang="en-US" dirty="0"/>
                <a:t>The substitute must adopt the </a:t>
              </a:r>
              <a:r>
                <a:rPr lang="en-US" dirty="0" err="1"/>
                <a:t>worklist</a:t>
              </a:r>
              <a:r>
                <a:rPr lang="en-US" dirty="0"/>
                <a:t> items of the approver in order to manage </a:t>
              </a:r>
              <a:r>
                <a:rPr lang="en-US" dirty="0" err="1"/>
                <a:t>worklist</a:t>
              </a:r>
              <a:r>
                <a:rPr lang="en-US" dirty="0"/>
                <a:t> items. Once approved, if the item needs additional approval it will workflow according to the hierarchy of the cost center assigned to the </a:t>
              </a:r>
              <a:r>
                <a:rPr lang="en-US" dirty="0" smtClean="0"/>
                <a:t>item.</a:t>
              </a:r>
              <a:endParaRPr lang="en-US" dirty="0"/>
            </a:p>
          </p:txBody>
        </p:sp>
        <p:sp>
          <p:nvSpPr>
            <p:cNvPr id="33" name="Text Box 33"/>
            <p:cNvSpPr txBox="1">
              <a:spLocks noChangeArrowheads="1"/>
            </p:cNvSpPr>
            <p:nvPr/>
          </p:nvSpPr>
          <p:spPr bwMode="auto">
            <a:xfrm>
              <a:off x="3408" y="1680"/>
              <a:ext cx="248"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dirty="0">
                  <a:solidFill>
                    <a:schemeClr val="accent4">
                      <a:lumMod val="10000"/>
                    </a:schemeClr>
                  </a:solidFill>
                </a:rPr>
                <a:t>2</a:t>
              </a:r>
            </a:p>
          </p:txBody>
        </p:sp>
      </p:grpSp>
      <p:grpSp>
        <p:nvGrpSpPr>
          <p:cNvPr id="34" name="Group 34"/>
          <p:cNvGrpSpPr>
            <a:grpSpLocks/>
          </p:cNvGrpSpPr>
          <p:nvPr/>
        </p:nvGrpSpPr>
        <p:grpSpPr bwMode="auto">
          <a:xfrm>
            <a:off x="3505200" y="1584325"/>
            <a:ext cx="4419600" cy="892175"/>
            <a:chOff x="2544" y="768"/>
            <a:chExt cx="2784" cy="562"/>
          </a:xfrm>
        </p:grpSpPr>
        <p:sp>
          <p:nvSpPr>
            <p:cNvPr id="35" name="Text Box 35"/>
            <p:cNvSpPr txBox="1">
              <a:spLocks noChangeArrowheads="1"/>
            </p:cNvSpPr>
            <p:nvPr/>
          </p:nvSpPr>
          <p:spPr bwMode="auto">
            <a:xfrm>
              <a:off x="2784" y="864"/>
              <a:ext cx="2544" cy="466"/>
            </a:xfrm>
            <a:prstGeom prst="rect">
              <a:avLst/>
            </a:prstGeom>
            <a:solidFill>
              <a:srgbClr val="F9D491"/>
            </a:solidFill>
            <a:ln w="9525">
              <a:solidFill>
                <a:schemeClr val="tx1"/>
              </a:solidFill>
              <a:miter lim="800000"/>
              <a:headEnd/>
              <a:tailEnd/>
            </a:ln>
            <a:effectLst>
              <a:outerShdw dist="35921" dir="2700000" algn="ctr" rotWithShape="0">
                <a:schemeClr val="bg2"/>
              </a:outerShdw>
            </a:effectLst>
          </p:spPr>
          <p:txBody>
            <a:bodyPr>
              <a:spAutoFit/>
            </a:bodyPr>
            <a:lstStyle/>
            <a:p>
              <a:pPr>
                <a:spcBef>
                  <a:spcPct val="50000"/>
                </a:spcBef>
              </a:pPr>
              <a:r>
                <a:rPr lang="en-US" sz="1400" dirty="0">
                  <a:solidFill>
                    <a:schemeClr val="accent4">
                      <a:lumMod val="10000"/>
                    </a:schemeClr>
                  </a:solidFill>
                </a:rPr>
                <a:t>The Passive Delegation can remain in effect, and the substitute will have the ability to adopt the </a:t>
              </a:r>
              <a:r>
                <a:rPr lang="en-US" sz="1400" dirty="0" err="1">
                  <a:solidFill>
                    <a:schemeClr val="accent4">
                      <a:lumMod val="10000"/>
                    </a:schemeClr>
                  </a:solidFill>
                </a:rPr>
                <a:t>worklist</a:t>
              </a:r>
              <a:r>
                <a:rPr lang="en-US" sz="1400" dirty="0">
                  <a:solidFill>
                    <a:schemeClr val="accent4">
                      <a:lumMod val="10000"/>
                    </a:schemeClr>
                  </a:solidFill>
                </a:rPr>
                <a:t> items whenever necessary. </a:t>
              </a:r>
            </a:p>
          </p:txBody>
        </p:sp>
        <p:sp>
          <p:nvSpPr>
            <p:cNvPr id="38" name="Text Box 38"/>
            <p:cNvSpPr txBox="1">
              <a:spLocks noChangeArrowheads="1"/>
            </p:cNvSpPr>
            <p:nvPr/>
          </p:nvSpPr>
          <p:spPr bwMode="auto">
            <a:xfrm>
              <a:off x="2544" y="768"/>
              <a:ext cx="248"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dirty="0">
                  <a:solidFill>
                    <a:schemeClr val="accent4">
                      <a:lumMod val="10000"/>
                    </a:schemeClr>
                  </a:solidFill>
                </a:rPr>
                <a:t>3</a:t>
              </a:r>
            </a:p>
          </p:txBody>
        </p:sp>
      </p:grpSp>
      <p:pic>
        <p:nvPicPr>
          <p:cNvPr id="4" name="Picture 4" descr="j0423017"/>
          <p:cNvPicPr>
            <a:picLocks noChangeAspect="1" noChangeArrowheads="1"/>
          </p:cNvPicPr>
          <p:nvPr/>
        </p:nvPicPr>
        <p:blipFill>
          <a:blip r:embed="rId7" cstate="print">
            <a:extLst>
              <a:ext uri="{28A0092B-C50C-407E-A947-70E740481C1C}">
                <a14:useLocalDpi xmlns:a14="http://schemas.microsoft.com/office/drawing/2010/main" val="0"/>
              </a:ext>
            </a:extLst>
          </a:blip>
          <a:srcRect l="34616" r="3847" b="34615"/>
          <a:stretch>
            <a:fillRect/>
          </a:stretch>
        </p:blipFill>
        <p:spPr bwMode="auto">
          <a:xfrm>
            <a:off x="1801812" y="1371600"/>
            <a:ext cx="788988" cy="838200"/>
          </a:xfrm>
          <a:prstGeom prst="rect">
            <a:avLst/>
          </a:prstGeom>
          <a:noFill/>
          <a:extLst>
            <a:ext uri="{909E8E84-426E-40DD-AFC4-6F175D3DCCD1}">
              <a14:hiddenFill xmlns:a14="http://schemas.microsoft.com/office/drawing/2010/main">
                <a:solidFill>
                  <a:srgbClr val="FFFFFF"/>
                </a:solidFill>
              </a14:hiddenFill>
            </a:ext>
          </a:extLst>
        </p:spPr>
      </p:pic>
      <p:sp>
        <p:nvSpPr>
          <p:cNvPr id="41" name="Line 21"/>
          <p:cNvSpPr>
            <a:spLocks noChangeShapeType="1"/>
          </p:cNvSpPr>
          <p:nvPr/>
        </p:nvSpPr>
        <p:spPr bwMode="auto">
          <a:xfrm flipV="1">
            <a:off x="1600200" y="3505200"/>
            <a:ext cx="0" cy="304800"/>
          </a:xfrm>
          <a:prstGeom prst="line">
            <a:avLst/>
          </a:prstGeom>
          <a:noFill/>
          <a:ln w="28575">
            <a:solidFill>
              <a:schemeClr val="accent4">
                <a:lumMod val="1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spTree>
    <p:extLst>
      <p:ext uri="{BB962C8B-B14F-4D97-AF65-F5344CB8AC3E}">
        <p14:creationId xmlns:p14="http://schemas.microsoft.com/office/powerpoint/2010/main" val="26926954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Workflow with Active Delegation</a:t>
            </a:r>
            <a:endParaRPr lang="en-US" dirty="0"/>
          </a:p>
        </p:txBody>
      </p:sp>
      <p:grpSp>
        <p:nvGrpSpPr>
          <p:cNvPr id="4" name="Group 3"/>
          <p:cNvGrpSpPr>
            <a:grpSpLocks/>
          </p:cNvGrpSpPr>
          <p:nvPr/>
        </p:nvGrpSpPr>
        <p:grpSpPr bwMode="auto">
          <a:xfrm>
            <a:off x="685800" y="1143000"/>
            <a:ext cx="4876800" cy="4800600"/>
            <a:chOff x="480" y="816"/>
            <a:chExt cx="3072" cy="3024"/>
          </a:xfrm>
        </p:grpSpPr>
        <p:sp>
          <p:nvSpPr>
            <p:cNvPr id="5" name="Rectangle 4"/>
            <p:cNvSpPr>
              <a:spLocks noChangeArrowheads="1"/>
            </p:cNvSpPr>
            <p:nvPr/>
          </p:nvSpPr>
          <p:spPr bwMode="auto">
            <a:xfrm>
              <a:off x="480" y="3216"/>
              <a:ext cx="1248" cy="624"/>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pic>
          <p:nvPicPr>
            <p:cNvPr id="6" name="Picture 5" descr="j0423017"/>
            <p:cNvPicPr>
              <a:picLocks noChangeAspect="1" noChangeArrowheads="1"/>
            </p:cNvPicPr>
            <p:nvPr/>
          </p:nvPicPr>
          <p:blipFill>
            <a:blip r:embed="rId3" cstate="print">
              <a:extLst>
                <a:ext uri="{28A0092B-C50C-407E-A947-70E740481C1C}">
                  <a14:useLocalDpi xmlns:a14="http://schemas.microsoft.com/office/drawing/2010/main" val="0"/>
                </a:ext>
              </a:extLst>
            </a:blip>
            <a:srcRect l="34616" r="3847" b="34615"/>
            <a:stretch>
              <a:fillRect/>
            </a:stretch>
          </p:blipFill>
          <p:spPr bwMode="auto">
            <a:xfrm>
              <a:off x="1200" y="3264"/>
              <a:ext cx="497" cy="528"/>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6"/>
            <p:cNvSpPr txBox="1">
              <a:spLocks noChangeArrowheads="1"/>
            </p:cNvSpPr>
            <p:nvPr/>
          </p:nvSpPr>
          <p:spPr bwMode="auto">
            <a:xfrm>
              <a:off x="510" y="3408"/>
              <a:ext cx="738" cy="212"/>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Employee</a:t>
              </a:r>
            </a:p>
          </p:txBody>
        </p:sp>
        <p:sp>
          <p:nvSpPr>
            <p:cNvPr id="8" name="Rectangle 7"/>
            <p:cNvSpPr>
              <a:spLocks noChangeArrowheads="1"/>
            </p:cNvSpPr>
            <p:nvPr/>
          </p:nvSpPr>
          <p:spPr bwMode="auto">
            <a:xfrm>
              <a:off x="480" y="2400"/>
              <a:ext cx="1248" cy="624"/>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9" name="Text Box 8"/>
            <p:cNvSpPr txBox="1">
              <a:spLocks noChangeArrowheads="1"/>
            </p:cNvSpPr>
            <p:nvPr/>
          </p:nvSpPr>
          <p:spPr bwMode="auto">
            <a:xfrm>
              <a:off x="480" y="2448"/>
              <a:ext cx="750" cy="52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First Approval Level</a:t>
              </a:r>
            </a:p>
          </p:txBody>
        </p:sp>
        <p:pic>
          <p:nvPicPr>
            <p:cNvPr id="10" name="Picture 9" descr="MPj04308160000[1]"/>
            <p:cNvPicPr>
              <a:picLocks noChangeAspect="1" noChangeArrowheads="1"/>
            </p:cNvPicPr>
            <p:nvPr/>
          </p:nvPicPr>
          <p:blipFill>
            <a:blip r:embed="rId4" cstate="print">
              <a:extLst>
                <a:ext uri="{28A0092B-C50C-407E-A947-70E740481C1C}">
                  <a14:useLocalDpi xmlns:a14="http://schemas.microsoft.com/office/drawing/2010/main" val="0"/>
                </a:ext>
              </a:extLst>
            </a:blip>
            <a:srcRect l="8733" r="30380" b="50000"/>
            <a:stretch>
              <a:fillRect/>
            </a:stretch>
          </p:blipFill>
          <p:spPr bwMode="auto">
            <a:xfrm>
              <a:off x="1200" y="2448"/>
              <a:ext cx="480" cy="528"/>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a:grpSpLocks/>
            </p:cNvGrpSpPr>
            <p:nvPr/>
          </p:nvGrpSpPr>
          <p:grpSpPr bwMode="auto">
            <a:xfrm>
              <a:off x="2304" y="2400"/>
              <a:ext cx="1248" cy="624"/>
              <a:chOff x="3120" y="3072"/>
              <a:chExt cx="1248" cy="624"/>
            </a:xfrm>
          </p:grpSpPr>
          <p:sp>
            <p:nvSpPr>
              <p:cNvPr id="26" name="Rectangle 11"/>
              <p:cNvSpPr>
                <a:spLocks noChangeArrowheads="1"/>
              </p:cNvSpPr>
              <p:nvPr/>
            </p:nvSpPr>
            <p:spPr bwMode="auto">
              <a:xfrm>
                <a:off x="3120" y="3072"/>
                <a:ext cx="1248" cy="624"/>
              </a:xfrm>
              <a:prstGeom prst="rect">
                <a:avLst/>
              </a:prstGeom>
              <a:solidFill>
                <a:srgbClr val="FF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27" name="Text Box 12"/>
              <p:cNvSpPr txBox="1">
                <a:spLocks noChangeArrowheads="1"/>
              </p:cNvSpPr>
              <p:nvPr/>
            </p:nvSpPr>
            <p:spPr bwMode="auto">
              <a:xfrm>
                <a:off x="3168" y="3186"/>
                <a:ext cx="76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a:solidFill>
                      <a:schemeClr val="accent4">
                        <a:lumMod val="10000"/>
                      </a:schemeClr>
                    </a:solidFill>
                  </a:rPr>
                  <a:t>Substitute Approval</a:t>
                </a:r>
              </a:p>
            </p:txBody>
          </p:sp>
        </p:grpSp>
        <p:sp>
          <p:nvSpPr>
            <p:cNvPr id="12" name="Rectangle 13"/>
            <p:cNvSpPr>
              <a:spLocks noChangeArrowheads="1"/>
            </p:cNvSpPr>
            <p:nvPr/>
          </p:nvSpPr>
          <p:spPr bwMode="auto">
            <a:xfrm>
              <a:off x="480" y="816"/>
              <a:ext cx="1248" cy="624"/>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3" name="Text Box 14"/>
            <p:cNvSpPr txBox="1">
              <a:spLocks noChangeArrowheads="1"/>
            </p:cNvSpPr>
            <p:nvPr/>
          </p:nvSpPr>
          <p:spPr bwMode="auto">
            <a:xfrm>
              <a:off x="480" y="864"/>
              <a:ext cx="750" cy="52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rPr>
                <a:t>Third Approval Level</a:t>
              </a:r>
            </a:p>
          </p:txBody>
        </p:sp>
        <p:sp>
          <p:nvSpPr>
            <p:cNvPr id="14" name="Rectangle 15"/>
            <p:cNvSpPr>
              <a:spLocks noChangeArrowheads="1"/>
            </p:cNvSpPr>
            <p:nvPr/>
          </p:nvSpPr>
          <p:spPr bwMode="auto">
            <a:xfrm>
              <a:off x="480" y="1584"/>
              <a:ext cx="1248" cy="624"/>
            </a:xfrm>
            <a:prstGeom prst="rect">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5" name="Text Box 16"/>
            <p:cNvSpPr txBox="1">
              <a:spLocks noChangeArrowheads="1"/>
            </p:cNvSpPr>
            <p:nvPr/>
          </p:nvSpPr>
          <p:spPr bwMode="auto">
            <a:xfrm>
              <a:off x="480" y="1632"/>
              <a:ext cx="750" cy="52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600">
                  <a:solidFill>
                    <a:schemeClr val="accent4">
                      <a:lumMod val="10000"/>
                    </a:schemeClr>
                  </a:solidFill>
                  <a:cs typeface="Arial" charset="0"/>
                </a:rPr>
                <a:t>Second Approval Level</a:t>
              </a:r>
            </a:p>
          </p:txBody>
        </p:sp>
        <p:pic>
          <p:nvPicPr>
            <p:cNvPr id="16" name="Picture 17" descr="PH01629J"/>
            <p:cNvPicPr>
              <a:picLocks noChangeAspect="1" noChangeArrowheads="1"/>
            </p:cNvPicPr>
            <p:nvPr/>
          </p:nvPicPr>
          <p:blipFill>
            <a:blip r:embed="rId5" cstate="print">
              <a:extLst>
                <a:ext uri="{28A0092B-C50C-407E-A947-70E740481C1C}">
                  <a14:useLocalDpi xmlns:a14="http://schemas.microsoft.com/office/drawing/2010/main" val="0"/>
                </a:ext>
              </a:extLst>
            </a:blip>
            <a:srcRect r="14285"/>
            <a:stretch>
              <a:fillRect/>
            </a:stretch>
          </p:blipFill>
          <p:spPr bwMode="auto">
            <a:xfrm>
              <a:off x="1200" y="1728"/>
              <a:ext cx="480" cy="37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8" descr="PH01631J"/>
            <p:cNvPicPr>
              <a:picLocks noChangeAspect="1" noChangeArrowheads="1"/>
            </p:cNvPicPr>
            <p:nvPr/>
          </p:nvPicPr>
          <p:blipFill>
            <a:blip r:embed="rId6" cstate="print">
              <a:extLst>
                <a:ext uri="{28A0092B-C50C-407E-A947-70E740481C1C}">
                  <a14:useLocalDpi xmlns:a14="http://schemas.microsoft.com/office/drawing/2010/main" val="0"/>
                </a:ext>
              </a:extLst>
            </a:blip>
            <a:srcRect b="43750"/>
            <a:stretch>
              <a:fillRect/>
            </a:stretch>
          </p:blipFill>
          <p:spPr bwMode="auto">
            <a:xfrm>
              <a:off x="1168" y="912"/>
              <a:ext cx="508" cy="432"/>
            </a:xfrm>
            <a:prstGeom prst="rect">
              <a:avLst/>
            </a:prstGeom>
            <a:noFill/>
            <a:extLst>
              <a:ext uri="{909E8E84-426E-40DD-AFC4-6F175D3DCCD1}">
                <a14:hiddenFill xmlns:a14="http://schemas.microsoft.com/office/drawing/2010/main">
                  <a:solidFill>
                    <a:srgbClr val="FFFFFF"/>
                  </a:solidFill>
                </a14:hiddenFill>
              </a:ext>
            </a:extLst>
          </p:spPr>
        </p:pic>
        <p:sp>
          <p:nvSpPr>
            <p:cNvPr id="18" name="Line 19"/>
            <p:cNvSpPr>
              <a:spLocks noChangeShapeType="1"/>
            </p:cNvSpPr>
            <p:nvPr/>
          </p:nvSpPr>
          <p:spPr bwMode="auto">
            <a:xfrm flipV="1">
              <a:off x="1056" y="1440"/>
              <a:ext cx="0" cy="144"/>
            </a:xfrm>
            <a:prstGeom prst="line">
              <a:avLst/>
            </a:prstGeom>
            <a:noFill/>
            <a:ln w="28575">
              <a:solidFill>
                <a:schemeClr val="accent4">
                  <a:lumMod val="1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pic>
          <p:nvPicPr>
            <p:cNvPr id="19" name="Picture 20" descr="PH01623J"/>
            <p:cNvPicPr>
              <a:picLocks noChangeAspect="1" noChangeArrowheads="1"/>
            </p:cNvPicPr>
            <p:nvPr/>
          </p:nvPicPr>
          <p:blipFill>
            <a:blip r:embed="rId7" cstate="print">
              <a:extLst>
                <a:ext uri="{28A0092B-C50C-407E-A947-70E740481C1C}">
                  <a14:useLocalDpi xmlns:a14="http://schemas.microsoft.com/office/drawing/2010/main" val="0"/>
                </a:ext>
              </a:extLst>
            </a:blip>
            <a:srcRect l="17647" r="14973" b="6589"/>
            <a:stretch>
              <a:fillRect/>
            </a:stretch>
          </p:blipFill>
          <p:spPr bwMode="auto">
            <a:xfrm>
              <a:off x="3024" y="2496"/>
              <a:ext cx="432" cy="397"/>
            </a:xfrm>
            <a:prstGeom prst="rect">
              <a:avLst/>
            </a:prstGeom>
            <a:noFill/>
            <a:extLst>
              <a:ext uri="{909E8E84-426E-40DD-AFC4-6F175D3DCCD1}">
                <a14:hiddenFill xmlns:a14="http://schemas.microsoft.com/office/drawing/2010/main">
                  <a:solidFill>
                    <a:srgbClr val="FFFFFF"/>
                  </a:solidFill>
                </a14:hiddenFill>
              </a:ext>
            </a:extLst>
          </p:spPr>
        </p:pic>
        <p:sp>
          <p:nvSpPr>
            <p:cNvPr id="20" name="Line 21"/>
            <p:cNvSpPr>
              <a:spLocks noChangeShapeType="1"/>
            </p:cNvSpPr>
            <p:nvPr/>
          </p:nvSpPr>
          <p:spPr bwMode="auto">
            <a:xfrm flipV="1">
              <a:off x="1728" y="3024"/>
              <a:ext cx="864" cy="52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sp>
          <p:nvSpPr>
            <p:cNvPr id="21" name="Line 22"/>
            <p:cNvSpPr>
              <a:spLocks noChangeShapeType="1"/>
            </p:cNvSpPr>
            <p:nvPr/>
          </p:nvSpPr>
          <p:spPr bwMode="auto">
            <a:xfrm flipH="1" flipV="1">
              <a:off x="1728" y="2016"/>
              <a:ext cx="1008"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sp>
          <p:nvSpPr>
            <p:cNvPr id="22" name="Line 23"/>
            <p:cNvSpPr>
              <a:spLocks noChangeShapeType="1"/>
            </p:cNvSpPr>
            <p:nvPr/>
          </p:nvSpPr>
          <p:spPr bwMode="auto">
            <a:xfrm flipV="1">
              <a:off x="1056" y="3024"/>
              <a:ext cx="0" cy="192"/>
            </a:xfrm>
            <a:prstGeom prst="line">
              <a:avLst/>
            </a:prstGeom>
            <a:noFill/>
            <a:ln w="28575">
              <a:solidFill>
                <a:schemeClr val="accent4">
                  <a:lumMod val="1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grpSp>
          <p:nvGrpSpPr>
            <p:cNvPr id="23" name="Group 24"/>
            <p:cNvGrpSpPr>
              <a:grpSpLocks/>
            </p:cNvGrpSpPr>
            <p:nvPr/>
          </p:nvGrpSpPr>
          <p:grpSpPr bwMode="auto">
            <a:xfrm>
              <a:off x="1698" y="2586"/>
              <a:ext cx="654" cy="240"/>
              <a:chOff x="1698" y="2586"/>
              <a:chExt cx="654" cy="240"/>
            </a:xfrm>
          </p:grpSpPr>
          <p:sp>
            <p:nvSpPr>
              <p:cNvPr id="24" name="AutoShape 25"/>
              <p:cNvSpPr>
                <a:spLocks noChangeArrowheads="1"/>
              </p:cNvSpPr>
              <p:nvPr/>
            </p:nvSpPr>
            <p:spPr bwMode="auto">
              <a:xfrm>
                <a:off x="1728" y="2586"/>
                <a:ext cx="576" cy="240"/>
              </a:xfrm>
              <a:prstGeom prst="rightArrow">
                <a:avLst>
                  <a:gd name="adj1" fmla="val 50000"/>
                  <a:gd name="adj2" fmla="val 6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25" name="Text Box 26"/>
              <p:cNvSpPr txBox="1">
                <a:spLocks noChangeArrowheads="1"/>
              </p:cNvSpPr>
              <p:nvPr/>
            </p:nvSpPr>
            <p:spPr bwMode="auto">
              <a:xfrm>
                <a:off x="1698" y="2616"/>
                <a:ext cx="65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200" b="1">
                    <a:solidFill>
                      <a:schemeClr val="accent4">
                        <a:lumMod val="10000"/>
                      </a:schemeClr>
                    </a:solidFill>
                  </a:rPr>
                  <a:t>Delegation</a:t>
                </a:r>
              </a:p>
            </p:txBody>
          </p:sp>
        </p:grpSp>
      </p:grpSp>
      <p:grpSp>
        <p:nvGrpSpPr>
          <p:cNvPr id="28" name="Group 27"/>
          <p:cNvGrpSpPr>
            <a:grpSpLocks/>
          </p:cNvGrpSpPr>
          <p:nvPr/>
        </p:nvGrpSpPr>
        <p:grpSpPr bwMode="auto">
          <a:xfrm>
            <a:off x="4267200" y="5054602"/>
            <a:ext cx="3200400" cy="1119188"/>
            <a:chOff x="2688" y="3088"/>
            <a:chExt cx="2016" cy="705"/>
          </a:xfrm>
        </p:grpSpPr>
        <p:sp>
          <p:nvSpPr>
            <p:cNvPr id="29" name="Text Box 28"/>
            <p:cNvSpPr txBox="1">
              <a:spLocks noChangeArrowheads="1"/>
            </p:cNvSpPr>
            <p:nvPr/>
          </p:nvSpPr>
          <p:spPr bwMode="auto">
            <a:xfrm>
              <a:off x="2928" y="3192"/>
              <a:ext cx="1776" cy="601"/>
            </a:xfrm>
            <a:prstGeom prst="rect">
              <a:avLst/>
            </a:prstGeom>
            <a:solidFill>
              <a:srgbClr val="F9D49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dirty="0">
                  <a:solidFill>
                    <a:schemeClr val="accent4">
                      <a:lumMod val="10000"/>
                    </a:schemeClr>
                  </a:solidFill>
                </a:rPr>
                <a:t>When </a:t>
              </a:r>
              <a:r>
                <a:rPr lang="en-US" sz="1400" dirty="0" smtClean="0">
                  <a:solidFill>
                    <a:schemeClr val="accent4">
                      <a:lumMod val="10000"/>
                    </a:schemeClr>
                  </a:solidFill>
                </a:rPr>
                <a:t>an item requiring approval is </a:t>
              </a:r>
              <a:r>
                <a:rPr lang="en-US" sz="1400" dirty="0">
                  <a:solidFill>
                    <a:schemeClr val="accent4">
                      <a:lumMod val="10000"/>
                    </a:schemeClr>
                  </a:solidFill>
                </a:rPr>
                <a:t>created and </a:t>
              </a:r>
              <a:r>
                <a:rPr lang="en-US" sz="1400" dirty="0" smtClean="0">
                  <a:solidFill>
                    <a:schemeClr val="accent4">
                      <a:lumMod val="10000"/>
                    </a:schemeClr>
                  </a:solidFill>
                </a:rPr>
                <a:t>released, </a:t>
              </a:r>
              <a:r>
                <a:rPr lang="en-US" sz="1400" dirty="0">
                  <a:solidFill>
                    <a:schemeClr val="accent4">
                      <a:lumMod val="10000"/>
                    </a:schemeClr>
                  </a:solidFill>
                </a:rPr>
                <a:t>it will workflow to both the approver and the substitute.</a:t>
              </a:r>
            </a:p>
          </p:txBody>
        </p:sp>
        <p:sp>
          <p:nvSpPr>
            <p:cNvPr id="32" name="Text Box 31"/>
            <p:cNvSpPr txBox="1">
              <a:spLocks noChangeArrowheads="1"/>
            </p:cNvSpPr>
            <p:nvPr/>
          </p:nvSpPr>
          <p:spPr bwMode="auto">
            <a:xfrm>
              <a:off x="2688" y="3088"/>
              <a:ext cx="248"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a:solidFill>
                    <a:schemeClr val="accent4">
                      <a:lumMod val="10000"/>
                    </a:schemeClr>
                  </a:solidFill>
                </a:rPr>
                <a:t>1</a:t>
              </a:r>
            </a:p>
          </p:txBody>
        </p:sp>
      </p:grpSp>
      <p:grpSp>
        <p:nvGrpSpPr>
          <p:cNvPr id="33" name="Group 32"/>
          <p:cNvGrpSpPr>
            <a:grpSpLocks/>
          </p:cNvGrpSpPr>
          <p:nvPr/>
        </p:nvGrpSpPr>
        <p:grpSpPr bwMode="auto">
          <a:xfrm>
            <a:off x="5410200" y="3133725"/>
            <a:ext cx="3200400" cy="1536700"/>
            <a:chOff x="3408" y="1680"/>
            <a:chExt cx="2016" cy="968"/>
          </a:xfrm>
        </p:grpSpPr>
        <p:sp>
          <p:nvSpPr>
            <p:cNvPr id="34" name="Text Box 33"/>
            <p:cNvSpPr txBox="1">
              <a:spLocks noChangeArrowheads="1"/>
            </p:cNvSpPr>
            <p:nvPr/>
          </p:nvSpPr>
          <p:spPr bwMode="auto">
            <a:xfrm>
              <a:off x="3648" y="1776"/>
              <a:ext cx="1776" cy="872"/>
            </a:xfrm>
            <a:prstGeom prst="rect">
              <a:avLst/>
            </a:prstGeom>
            <a:solidFill>
              <a:srgbClr val="F9D49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dirty="0">
                  <a:solidFill>
                    <a:schemeClr val="accent4">
                      <a:lumMod val="10000"/>
                    </a:schemeClr>
                  </a:solidFill>
                </a:rPr>
                <a:t>The substitute approves the </a:t>
              </a:r>
              <a:r>
                <a:rPr lang="en-US" sz="1400" dirty="0" smtClean="0">
                  <a:solidFill>
                    <a:schemeClr val="accent4">
                      <a:lumMod val="10000"/>
                    </a:schemeClr>
                  </a:solidFill>
                </a:rPr>
                <a:t>item from </a:t>
              </a:r>
              <a:r>
                <a:rPr lang="en-US" sz="1400" dirty="0">
                  <a:solidFill>
                    <a:schemeClr val="accent4">
                      <a:lumMod val="10000"/>
                    </a:schemeClr>
                  </a:solidFill>
                </a:rPr>
                <a:t>his/her inbox. If additional approvals are required, it will workflow according to the hierarchy of the cost center the </a:t>
              </a:r>
              <a:r>
                <a:rPr lang="en-US" sz="1400" dirty="0" smtClean="0">
                  <a:solidFill>
                    <a:schemeClr val="accent4">
                      <a:lumMod val="10000"/>
                    </a:schemeClr>
                  </a:solidFill>
                </a:rPr>
                <a:t>item is </a:t>
              </a:r>
              <a:r>
                <a:rPr lang="en-US" sz="1400" dirty="0">
                  <a:solidFill>
                    <a:schemeClr val="accent4">
                      <a:lumMod val="10000"/>
                    </a:schemeClr>
                  </a:solidFill>
                </a:rPr>
                <a:t>assigned to.</a:t>
              </a:r>
            </a:p>
          </p:txBody>
        </p:sp>
        <p:sp>
          <p:nvSpPr>
            <p:cNvPr id="37" name="Text Box 36"/>
            <p:cNvSpPr txBox="1">
              <a:spLocks noChangeArrowheads="1"/>
            </p:cNvSpPr>
            <p:nvPr/>
          </p:nvSpPr>
          <p:spPr bwMode="auto">
            <a:xfrm>
              <a:off x="3408" y="1680"/>
              <a:ext cx="248"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a:solidFill>
                    <a:schemeClr val="accent4">
                      <a:lumMod val="10000"/>
                    </a:schemeClr>
                  </a:solidFill>
                </a:rPr>
                <a:t>2</a:t>
              </a:r>
            </a:p>
          </p:txBody>
        </p:sp>
      </p:grpSp>
      <p:grpSp>
        <p:nvGrpSpPr>
          <p:cNvPr id="38" name="Group 37"/>
          <p:cNvGrpSpPr>
            <a:grpSpLocks/>
          </p:cNvGrpSpPr>
          <p:nvPr/>
        </p:nvGrpSpPr>
        <p:grpSpPr bwMode="auto">
          <a:xfrm>
            <a:off x="3505200" y="1447800"/>
            <a:ext cx="4419600" cy="1317625"/>
            <a:chOff x="2544" y="768"/>
            <a:chExt cx="2784" cy="830"/>
          </a:xfrm>
        </p:grpSpPr>
        <p:sp>
          <p:nvSpPr>
            <p:cNvPr id="39" name="Text Box 38"/>
            <p:cNvSpPr txBox="1">
              <a:spLocks noChangeArrowheads="1"/>
            </p:cNvSpPr>
            <p:nvPr/>
          </p:nvSpPr>
          <p:spPr bwMode="auto">
            <a:xfrm>
              <a:off x="2784" y="864"/>
              <a:ext cx="2544" cy="734"/>
            </a:xfrm>
            <a:prstGeom prst="rect">
              <a:avLst/>
            </a:prstGeom>
            <a:solidFill>
              <a:srgbClr val="F9D49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a:solidFill>
                    <a:schemeClr val="accent4">
                      <a:lumMod val="10000"/>
                    </a:schemeClr>
                  </a:solidFill>
                </a:rPr>
                <a:t>Upon return, the approving manager must end the substitution in order to stop the items from flowing to both inboxes. The substitute will no longer have the ability to access and approve or reject worklist items.</a:t>
              </a:r>
            </a:p>
          </p:txBody>
        </p:sp>
        <p:sp>
          <p:nvSpPr>
            <p:cNvPr id="42" name="Text Box 41"/>
            <p:cNvSpPr txBox="1">
              <a:spLocks noChangeArrowheads="1"/>
            </p:cNvSpPr>
            <p:nvPr/>
          </p:nvSpPr>
          <p:spPr bwMode="auto">
            <a:xfrm>
              <a:off x="2544" y="768"/>
              <a:ext cx="248"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a:solidFill>
                    <a:schemeClr val="accent4">
                      <a:lumMod val="10000"/>
                    </a:schemeClr>
                  </a:solidFill>
                </a:rPr>
                <a:t>3</a:t>
              </a:r>
            </a:p>
          </p:txBody>
        </p:sp>
      </p:grpSp>
      <p:sp>
        <p:nvSpPr>
          <p:cNvPr id="43" name="Line 23"/>
          <p:cNvSpPr>
            <a:spLocks noChangeShapeType="1"/>
          </p:cNvSpPr>
          <p:nvPr/>
        </p:nvSpPr>
        <p:spPr bwMode="auto">
          <a:xfrm flipV="1">
            <a:off x="1600200" y="3352800"/>
            <a:ext cx="0" cy="304800"/>
          </a:xfrm>
          <a:prstGeom prst="line">
            <a:avLst/>
          </a:prstGeom>
          <a:noFill/>
          <a:ln w="28575">
            <a:solidFill>
              <a:schemeClr val="accent4">
                <a:lumMod val="1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accent4">
                  <a:lumMod val="10000"/>
                </a:schemeClr>
              </a:solidFill>
            </a:endParaRPr>
          </a:p>
        </p:txBody>
      </p:sp>
    </p:spTree>
    <p:extLst>
      <p:ext uri="{BB962C8B-B14F-4D97-AF65-F5344CB8AC3E}">
        <p14:creationId xmlns:p14="http://schemas.microsoft.com/office/powerpoint/2010/main" val="49805207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marL="2006600" indent="-2006600" defTabSz="687388"/>
            <a:r>
              <a:rPr lang="en-US" sz="1800" b="1" dirty="0"/>
              <a:t>Activity Name: </a:t>
            </a:r>
            <a:r>
              <a:rPr lang="en-US" sz="1800" dirty="0" smtClean="0"/>
              <a:t>Create a Passive Delegate. Activate a Passive Delegate.</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N/A</a:t>
            </a:r>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97</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41157348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r>
              <a:rPr lang="en-US" b="1" dirty="0" smtClean="0"/>
              <a:t>Scenario:</a:t>
            </a:r>
          </a:p>
          <a:p>
            <a:r>
              <a:rPr lang="en-US" dirty="0"/>
              <a:t>Create a Passive Delegate. Activate a Passive Delegate</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b="1" dirty="0" smtClean="0"/>
              <a:t>Exercise: 4.3 Set Up a Passive Delegate</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Tree>
    <p:extLst>
      <p:ext uri="{BB962C8B-B14F-4D97-AF65-F5344CB8AC3E}">
        <p14:creationId xmlns:p14="http://schemas.microsoft.com/office/powerpoint/2010/main" val="3354889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
                <a:schemeClr val="accent4">
                  <a:lumMod val="10000"/>
                </a:schemeClr>
              </a:buClr>
              <a:buFont typeface="+mj-lt"/>
              <a:buAutoNum type="arabicPeriod"/>
            </a:pPr>
            <a:r>
              <a:rPr lang="en-US" dirty="0" smtClean="0"/>
              <a:t>How many Passive delegates can you have at a single time?</a:t>
            </a:r>
          </a:p>
          <a:p>
            <a:pPr marL="457200" indent="-457200">
              <a:buClr>
                <a:schemeClr val="accent4">
                  <a:lumMod val="10000"/>
                </a:schemeClr>
              </a:buClr>
              <a:buFont typeface="+mj-lt"/>
              <a:buAutoNum type="arabicPeriod"/>
            </a:pPr>
            <a:r>
              <a:rPr lang="en-US" dirty="0" smtClean="0"/>
              <a:t>What are the benefits of having a substitute to manage items in your Inbox?</a:t>
            </a: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99</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169834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Box 4"/>
          <p:cNvSpPr txBox="1">
            <a:spLocks noChangeArrowheads="1"/>
          </p:cNvSpPr>
          <p:nvPr/>
        </p:nvSpPr>
        <p:spPr bwMode="auto">
          <a:xfrm>
            <a:off x="2084388" y="5597525"/>
            <a:ext cx="7288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dirty="0"/>
              <a:t>What other questions do you have?</a:t>
            </a:r>
          </a:p>
        </p:txBody>
      </p:sp>
      <p:pic>
        <p:nvPicPr>
          <p:cNvPr id="7" name="Picture 3" descr="C:\Users\namudaliar\Documents\Narayanan\Ball Corp\Images\shutterstock_49142218.jpg"/>
          <p:cNvPicPr>
            <a:picLocks noChangeAspect="1" noChangeArrowheads="1"/>
          </p:cNvPicPr>
          <p:nvPr/>
        </p:nvPicPr>
        <p:blipFill>
          <a:blip r:embed="rId2" cstate="print"/>
          <a:srcRect/>
          <a:stretch>
            <a:fillRect/>
          </a:stretch>
        </p:blipFill>
        <p:spPr bwMode="auto">
          <a:xfrm>
            <a:off x="2069686" y="1268361"/>
            <a:ext cx="5045669" cy="4420215"/>
          </a:xfrm>
          <a:prstGeom prst="rect">
            <a:avLst/>
          </a:prstGeom>
          <a:noFill/>
        </p:spPr>
      </p:pic>
      <p:sp>
        <p:nvSpPr>
          <p:cNvPr id="5"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4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Questions</a:t>
            </a:r>
            <a:endParaRPr lang="en-US" dirty="0"/>
          </a:p>
        </p:txBody>
      </p:sp>
    </p:spTree>
    <p:extLst>
      <p:ext uri="{BB962C8B-B14F-4D97-AF65-F5344CB8AC3E}">
        <p14:creationId xmlns:p14="http://schemas.microsoft.com/office/powerpoint/2010/main" val="3649252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smtClean="0"/>
              <a:t>Having completed this </a:t>
            </a:r>
            <a:r>
              <a:rPr lang="en-US" dirty="0"/>
              <a:t>module, you should be able to:</a:t>
            </a:r>
          </a:p>
          <a:p>
            <a:pPr marL="342900" indent="-342900">
              <a:buFont typeface="Arial" pitchFamily="34" charset="0"/>
              <a:buChar char="•"/>
            </a:pPr>
            <a:r>
              <a:rPr lang="en-US" dirty="0"/>
              <a:t>Describe the functionality of the SAP Business Workplace</a:t>
            </a:r>
          </a:p>
          <a:p>
            <a:pPr marL="342900" indent="-342900">
              <a:buFont typeface="Arial" pitchFamily="34" charset="0"/>
              <a:buChar char="•"/>
            </a:pPr>
            <a:r>
              <a:rPr lang="en-US" dirty="0"/>
              <a:t>Add a note to a workflow item</a:t>
            </a:r>
          </a:p>
          <a:p>
            <a:pPr marL="342900" indent="-342900">
              <a:buFont typeface="Arial" pitchFamily="34" charset="0"/>
              <a:buChar char="•"/>
            </a:pPr>
            <a:r>
              <a:rPr lang="en-US" dirty="0"/>
              <a:t>Forward a workflow item to another person</a:t>
            </a:r>
          </a:p>
          <a:p>
            <a:pPr marL="342900" indent="-342900">
              <a:buFont typeface="Arial" pitchFamily="34" charset="0"/>
              <a:buChar char="•"/>
            </a:pPr>
            <a:r>
              <a:rPr lang="en-US" dirty="0"/>
              <a:t>Approve and reject workflow </a:t>
            </a:r>
            <a:r>
              <a:rPr lang="en-US" dirty="0" smtClean="0"/>
              <a:t>items</a:t>
            </a:r>
          </a:p>
          <a:p>
            <a:pPr marL="342900" indent="-342900">
              <a:buFont typeface="Arial" pitchFamily="34" charset="0"/>
              <a:buChar char="•"/>
            </a:pPr>
            <a:r>
              <a:rPr lang="en-US" dirty="0" smtClean="0"/>
              <a:t>Create a Passive delegate</a:t>
            </a:r>
            <a:endParaRPr lang="en-US" dirty="0"/>
          </a:p>
          <a:p>
            <a:endParaRPr lang="en-US" dirty="0" smtClean="0"/>
          </a:p>
          <a:p>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101</a:t>
            </a:fld>
            <a:endParaRPr lang="en-US" dirty="0">
              <a:solidFill>
                <a:schemeClr val="bg2"/>
              </a:solidFill>
            </a:endParaRPr>
          </a:p>
        </p:txBody>
      </p:sp>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276945" y="3465542"/>
            <a:ext cx="3780503" cy="2835377"/>
          </a:xfrm>
          <a:prstGeom prst="rect">
            <a:avLst/>
          </a:prstGeom>
          <a:noFill/>
        </p:spPr>
      </p:pic>
    </p:spTree>
    <p:extLst>
      <p:ext uri="{BB962C8B-B14F-4D97-AF65-F5344CB8AC3E}">
        <p14:creationId xmlns:p14="http://schemas.microsoft.com/office/powerpoint/2010/main" val="3957637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 Features and Tools</a:t>
            </a:r>
            <a:endParaRPr lang="en-US" dirty="0"/>
          </a:p>
        </p:txBody>
      </p:sp>
      <p:sp>
        <p:nvSpPr>
          <p:cNvPr id="3" name="Text Placeholder 2"/>
          <p:cNvSpPr>
            <a:spLocks noGrp="1"/>
          </p:cNvSpPr>
          <p:nvPr>
            <p:ph type="body" idx="1"/>
          </p:nvPr>
        </p:nvSpPr>
        <p:spPr/>
        <p:txBody>
          <a:bodyPr/>
          <a:lstStyle/>
          <a:p>
            <a:r>
              <a:rPr lang="en-US" dirty="0" smtClean="0"/>
              <a:t>Module 5</a:t>
            </a:r>
            <a:endParaRPr lang="en-US" dirty="0"/>
          </a:p>
        </p:txBody>
      </p:sp>
    </p:spTree>
    <p:extLst>
      <p:ext uri="{BB962C8B-B14F-4D97-AF65-F5344CB8AC3E}">
        <p14:creationId xmlns:p14="http://schemas.microsoft.com/office/powerpoint/2010/main" val="265860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namudaliar\Documents\Narayanan\Ball Corp\Images\shutterstock_54581515.jpg"/>
          <p:cNvPicPr>
            <a:picLocks noChangeAspect="1" noChangeArrowheads="1"/>
          </p:cNvPicPr>
          <p:nvPr/>
        </p:nvPicPr>
        <p:blipFill>
          <a:blip r:embed="rId3" cstate="print"/>
          <a:srcRect/>
          <a:stretch>
            <a:fillRect/>
          </a:stretch>
        </p:blipFill>
        <p:spPr bwMode="auto">
          <a:xfrm>
            <a:off x="6651519" y="3733800"/>
            <a:ext cx="2286000" cy="3048000"/>
          </a:xfrm>
          <a:prstGeom prst="rect">
            <a:avLst/>
          </a:prstGeom>
          <a:noFill/>
        </p:spPr>
      </p:pic>
      <p:sp>
        <p:nvSpPr>
          <p:cNvPr id="2" name="Title 1"/>
          <p:cNvSpPr>
            <a:spLocks noGrp="1"/>
          </p:cNvSpPr>
          <p:nvPr>
            <p:ph type="title"/>
          </p:nvPr>
        </p:nvSpPr>
        <p:spPr/>
        <p:txBody>
          <a:bodyPr/>
          <a:lstStyle/>
          <a:p>
            <a:r>
              <a:rPr lang="en-US" dirty="0" smtClean="0"/>
              <a:t>Module Objectives</a:t>
            </a:r>
            <a:endParaRPr lang="en-US" dirty="0"/>
          </a:p>
        </p:txBody>
      </p:sp>
      <p:sp>
        <p:nvSpPr>
          <p:cNvPr id="4" name="Content Placeholder 3"/>
          <p:cNvSpPr>
            <a:spLocks noGrp="1"/>
          </p:cNvSpPr>
          <p:nvPr>
            <p:ph idx="1"/>
          </p:nvPr>
        </p:nvSpPr>
        <p:spPr/>
        <p:txBody>
          <a:bodyPr/>
          <a:lstStyle/>
          <a:p>
            <a:r>
              <a:rPr lang="en-US" dirty="0" smtClean="0"/>
              <a:t>Upon completion of this module, you should be able to:</a:t>
            </a:r>
          </a:p>
          <a:p>
            <a:pPr marL="342900" indent="-342900">
              <a:buFont typeface="Arial" pitchFamily="34" charset="0"/>
              <a:buChar char="•"/>
            </a:pPr>
            <a:r>
              <a:rPr lang="en-US" dirty="0"/>
              <a:t>Describe ECC Reports</a:t>
            </a:r>
          </a:p>
          <a:p>
            <a:pPr marL="342900" indent="-342900">
              <a:buFont typeface="Arial" pitchFamily="34" charset="0"/>
              <a:buChar char="•"/>
            </a:pPr>
            <a:r>
              <a:rPr lang="en-US" dirty="0"/>
              <a:t>Describe types of reports available</a:t>
            </a:r>
          </a:p>
          <a:p>
            <a:pPr marL="342900" indent="-342900">
              <a:buFont typeface="Arial" pitchFamily="34" charset="0"/>
              <a:buChar char="•"/>
            </a:pPr>
            <a:r>
              <a:rPr lang="en-US" dirty="0"/>
              <a:t>Access reports using a menu path or transaction code</a:t>
            </a:r>
          </a:p>
          <a:p>
            <a:pPr marL="342900" indent="-342900">
              <a:buFont typeface="Arial" pitchFamily="34" charset="0"/>
              <a:buChar char="•"/>
            </a:pPr>
            <a:r>
              <a:rPr lang="en-US" dirty="0"/>
              <a:t>Enter selection criteria for a report</a:t>
            </a:r>
          </a:p>
          <a:p>
            <a:pPr marL="342900" indent="-342900">
              <a:buFont typeface="Arial" pitchFamily="34" charset="0"/>
              <a:buChar char="•"/>
            </a:pPr>
            <a:r>
              <a:rPr lang="en-US" dirty="0"/>
              <a:t>Create and use variants</a:t>
            </a:r>
          </a:p>
          <a:p>
            <a:pPr marL="342900" indent="-342900">
              <a:buFont typeface="Arial" pitchFamily="34" charset="0"/>
              <a:buChar char="•"/>
            </a:pPr>
            <a:r>
              <a:rPr lang="en-US" dirty="0"/>
              <a:t>Execute reports</a:t>
            </a:r>
          </a:p>
          <a:p>
            <a:pPr marL="342900" indent="-342900">
              <a:buFont typeface="Arial" pitchFamily="34" charset="0"/>
              <a:buChar char="•"/>
            </a:pPr>
            <a:r>
              <a:rPr lang="en-US" dirty="0"/>
              <a:t>Customize report data (filter, sort, subtotal, etc.)</a:t>
            </a:r>
          </a:p>
          <a:p>
            <a:pPr marL="342900" indent="-342900">
              <a:buFont typeface="Arial" pitchFamily="34" charset="0"/>
              <a:buChar char="•"/>
            </a:pPr>
            <a:r>
              <a:rPr lang="en-US" dirty="0"/>
              <a:t>Drill down to a source document from a report</a:t>
            </a:r>
          </a:p>
          <a:p>
            <a:pPr marL="342900" indent="-342900">
              <a:buFont typeface="Arial" pitchFamily="34" charset="0"/>
              <a:buChar char="•"/>
            </a:pPr>
            <a:r>
              <a:rPr lang="en-US" dirty="0"/>
              <a:t>Modify the layout of the report data</a:t>
            </a:r>
          </a:p>
          <a:p>
            <a:pPr marL="342900" indent="-342900">
              <a:buFont typeface="Arial" pitchFamily="34" charset="0"/>
              <a:buChar char="•"/>
            </a:pPr>
            <a:r>
              <a:rPr lang="en-US" dirty="0"/>
              <a:t>Print reports in both foreground and background</a:t>
            </a:r>
          </a:p>
        </p:txBody>
      </p:sp>
    </p:spTree>
    <p:extLst>
      <p:ext uri="{BB962C8B-B14F-4D97-AF65-F5344CB8AC3E}">
        <p14:creationId xmlns:p14="http://schemas.microsoft.com/office/powerpoint/2010/main" val="2516622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ECC Reports</a:t>
            </a:r>
            <a:endParaRPr lang="en-US" dirty="0"/>
          </a:p>
        </p:txBody>
      </p:sp>
      <p:sp>
        <p:nvSpPr>
          <p:cNvPr id="3" name="Content Placeholder 2"/>
          <p:cNvSpPr>
            <a:spLocks noGrp="1"/>
          </p:cNvSpPr>
          <p:nvPr>
            <p:ph idx="1"/>
          </p:nvPr>
        </p:nvSpPr>
        <p:spPr>
          <a:xfrm>
            <a:off x="301625" y="990601"/>
            <a:ext cx="8537575" cy="3429000"/>
          </a:xfrm>
        </p:spPr>
        <p:txBody>
          <a:bodyPr/>
          <a:lstStyle/>
          <a:p>
            <a:r>
              <a:rPr lang="en-US" dirty="0"/>
              <a:t>SAP </a:t>
            </a:r>
            <a:r>
              <a:rPr lang="en-US" dirty="0" smtClean="0"/>
              <a:t>ECC </a:t>
            </a:r>
            <a:r>
              <a:rPr lang="en-US" dirty="0"/>
              <a:t>reports contain real-time data</a:t>
            </a:r>
            <a:r>
              <a:rPr lang="en-US" sz="1600" dirty="0"/>
              <a:t>:</a:t>
            </a:r>
          </a:p>
          <a:p>
            <a:pPr lvl="1">
              <a:buFont typeface="Wingdings" pitchFamily="2" charset="2"/>
              <a:buChar char="§"/>
            </a:pPr>
            <a:r>
              <a:rPr lang="en-US" dirty="0">
                <a:solidFill>
                  <a:schemeClr val="accent4">
                    <a:lumMod val="10000"/>
                  </a:schemeClr>
                </a:solidFill>
                <a:effectLst/>
              </a:rPr>
              <a:t>Data in SAP </a:t>
            </a:r>
            <a:r>
              <a:rPr lang="en-US" dirty="0" smtClean="0">
                <a:solidFill>
                  <a:schemeClr val="accent4">
                    <a:lumMod val="10000"/>
                  </a:schemeClr>
                </a:solidFill>
                <a:effectLst/>
              </a:rPr>
              <a:t>ECC </a:t>
            </a:r>
            <a:r>
              <a:rPr lang="en-US" dirty="0">
                <a:solidFill>
                  <a:schemeClr val="accent4">
                    <a:lumMod val="10000"/>
                  </a:schemeClr>
                </a:solidFill>
                <a:effectLst/>
              </a:rPr>
              <a:t>reports is up-to-date at any given time and reflects all posting activities as soon as they occur.</a:t>
            </a:r>
          </a:p>
          <a:p>
            <a:pPr lvl="1">
              <a:buFont typeface="Wingdings" pitchFamily="2" charset="2"/>
              <a:buChar char="§"/>
            </a:pPr>
            <a:r>
              <a:rPr lang="en-US" dirty="0">
                <a:solidFill>
                  <a:schemeClr val="accent4">
                    <a:lumMod val="10000"/>
                  </a:schemeClr>
                </a:solidFill>
                <a:effectLst/>
              </a:rPr>
              <a:t>Reports in SAP </a:t>
            </a:r>
            <a:r>
              <a:rPr lang="en-US" dirty="0" smtClean="0">
                <a:solidFill>
                  <a:schemeClr val="accent4">
                    <a:lumMod val="10000"/>
                  </a:schemeClr>
                </a:solidFill>
                <a:effectLst/>
              </a:rPr>
              <a:t>ECC </a:t>
            </a:r>
            <a:r>
              <a:rPr lang="en-US" dirty="0">
                <a:solidFill>
                  <a:schemeClr val="accent4">
                    <a:lumMod val="10000"/>
                  </a:schemeClr>
                </a:solidFill>
                <a:effectLst/>
              </a:rPr>
              <a:t>are organized by modules and applications.</a:t>
            </a:r>
          </a:p>
          <a:p>
            <a:pPr lvl="1">
              <a:buFont typeface="Wingdings" pitchFamily="2" charset="2"/>
              <a:buChar char="§"/>
            </a:pPr>
            <a:r>
              <a:rPr lang="en-US" dirty="0">
                <a:solidFill>
                  <a:schemeClr val="accent4">
                    <a:lumMod val="10000"/>
                  </a:schemeClr>
                </a:solidFill>
                <a:effectLst/>
              </a:rPr>
              <a:t>You can access reports by navigating the SAP menu tabs or by using transaction codes.</a:t>
            </a:r>
          </a:p>
          <a:p>
            <a:pPr lvl="1">
              <a:buFont typeface="Wingdings" pitchFamily="2" charset="2"/>
              <a:buChar char="§"/>
            </a:pPr>
            <a:r>
              <a:rPr lang="en-US" dirty="0">
                <a:solidFill>
                  <a:schemeClr val="accent4">
                    <a:lumMod val="10000"/>
                  </a:schemeClr>
                </a:solidFill>
                <a:effectLst/>
              </a:rPr>
              <a:t>Access to reports is restricted by the role(s) assigned to the user.</a:t>
            </a:r>
            <a:r>
              <a:rPr lang="en-US" sz="1600" dirty="0">
                <a:solidFill>
                  <a:schemeClr val="accent4">
                    <a:lumMod val="10000"/>
                  </a:schemeClr>
                </a:solidFill>
                <a:effectLst/>
              </a:rPr>
              <a:t> </a:t>
            </a:r>
            <a:endParaRPr lang="en-US" sz="1600" dirty="0">
              <a:solidFill>
                <a:schemeClr val="accent4">
                  <a:lumMod val="10000"/>
                </a:schemeClr>
              </a:solidFill>
              <a:effectLst/>
              <a:cs typeface="Arial" charset="0"/>
            </a:endParaRPr>
          </a:p>
          <a:p>
            <a:endParaRPr lang="en-US" dirty="0"/>
          </a:p>
        </p:txBody>
      </p:sp>
      <p:sp>
        <p:nvSpPr>
          <p:cNvPr id="4" name="AutoShape 70"/>
          <p:cNvSpPr>
            <a:spLocks noChangeArrowheads="1"/>
          </p:cNvSpPr>
          <p:nvPr/>
        </p:nvSpPr>
        <p:spPr bwMode="auto">
          <a:xfrm rot="15142423">
            <a:off x="1838325" y="4167061"/>
            <a:ext cx="1676400" cy="1543050"/>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rotWithShape="0">
            <a:gsLst>
              <a:gs pos="0">
                <a:srgbClr val="FFFF99">
                  <a:gamma/>
                  <a:shade val="76078"/>
                  <a:invGamma/>
                </a:srgbClr>
              </a:gs>
              <a:gs pos="50000">
                <a:srgbClr val="FFFF99"/>
              </a:gs>
              <a:gs pos="100000">
                <a:srgbClr val="FFFF99">
                  <a:gamma/>
                  <a:shade val="76078"/>
                  <a:invGamma/>
                </a:srgbClr>
              </a:gs>
            </a:gsLst>
            <a:lin ang="5400000" scaled="1"/>
          </a:gradFill>
          <a:ln>
            <a:noFill/>
          </a:ln>
          <a:effectLst/>
          <a:extLs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nchor="ctr"/>
          <a:lstStyle/>
          <a:p>
            <a:pPr eaLnBrk="1" hangingPunct="1"/>
            <a:endParaRPr lang="en-US" smtClean="0">
              <a:solidFill>
                <a:schemeClr val="accent4">
                  <a:lumMod val="10000"/>
                </a:schemeClr>
              </a:solidFill>
              <a:cs typeface="Arial" charset="0"/>
            </a:endParaRPr>
          </a:p>
        </p:txBody>
      </p:sp>
      <p:pic>
        <p:nvPicPr>
          <p:cNvPr id="5" name="Picture 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4265486"/>
            <a:ext cx="17081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32"/>
          <p:cNvSpPr>
            <a:spLocks noChangeArrowheads="1"/>
          </p:cNvSpPr>
          <p:nvPr/>
        </p:nvSpPr>
        <p:spPr bwMode="auto">
          <a:xfrm rot="5024843">
            <a:off x="5661025" y="4840161"/>
            <a:ext cx="1608138" cy="1195388"/>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rotWithShape="0">
            <a:gsLst>
              <a:gs pos="0">
                <a:srgbClr val="FFFF99">
                  <a:gamma/>
                  <a:shade val="76078"/>
                  <a:invGamma/>
                </a:srgbClr>
              </a:gs>
              <a:gs pos="50000">
                <a:srgbClr val="FFFF99"/>
              </a:gs>
              <a:gs pos="100000">
                <a:srgbClr val="FFFF99">
                  <a:gamma/>
                  <a:shade val="76078"/>
                  <a:invGamma/>
                </a:srgbClr>
              </a:gs>
            </a:gsLst>
            <a:lin ang="5400000" scaled="1"/>
          </a:gradFill>
          <a:ln>
            <a:noFill/>
          </a:ln>
          <a:effectLst/>
          <a:extLs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nchor="ctr"/>
          <a:lstStyle/>
          <a:p>
            <a:pPr eaLnBrk="1" hangingPunct="1"/>
            <a:endParaRPr lang="en-US" smtClean="0">
              <a:solidFill>
                <a:schemeClr val="accent4">
                  <a:lumMod val="10000"/>
                </a:schemeClr>
              </a:solidFill>
              <a:cs typeface="Arial" charset="0"/>
            </a:endParaRPr>
          </a:p>
        </p:txBody>
      </p:sp>
      <p:pic>
        <p:nvPicPr>
          <p:cNvPr id="7" name="Picture 75" descr="MPj04223850000[1]"/>
          <p:cNvPicPr>
            <a:picLocks noChangeAspect="1" noChangeArrowheads="1"/>
          </p:cNvPicPr>
          <p:nvPr/>
        </p:nvPicPr>
        <p:blipFill>
          <a:blip r:embed="rId4" cstate="print">
            <a:extLst>
              <a:ext uri="{28A0092B-C50C-407E-A947-70E740481C1C}">
                <a14:useLocalDpi xmlns:a14="http://schemas.microsoft.com/office/drawing/2010/main" val="0"/>
              </a:ext>
            </a:extLst>
          </a:blip>
          <a:srcRect r="10234" b="16640"/>
          <a:stretch>
            <a:fillRect/>
          </a:stretch>
        </p:blipFill>
        <p:spPr>
          <a:xfrm>
            <a:off x="4800600" y="5167186"/>
            <a:ext cx="1420813" cy="947738"/>
          </a:xfrm>
          <a:prstGeom prst="rect">
            <a:avLst/>
          </a:prstGeom>
        </p:spPr>
      </p:pic>
      <p:sp>
        <p:nvSpPr>
          <p:cNvPr id="8" name="Text Box 5"/>
          <p:cNvSpPr txBox="1">
            <a:spLocks noChangeArrowheads="1"/>
          </p:cNvSpPr>
          <p:nvPr/>
        </p:nvSpPr>
        <p:spPr bwMode="auto">
          <a:xfrm>
            <a:off x="4666725" y="6265736"/>
            <a:ext cx="1421864" cy="4398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spAutoFit/>
          </a:bodyPr>
          <a:lstStyle/>
          <a:p>
            <a:pPr algn="ctr"/>
            <a:r>
              <a:rPr lang="en-US" sz="1200" b="1" dirty="0" smtClean="0">
                <a:solidFill>
                  <a:schemeClr val="accent4">
                    <a:lumMod val="10000"/>
                  </a:schemeClr>
                </a:solidFill>
                <a:cs typeface="Arial" charset="0"/>
              </a:rPr>
              <a:t>ECC Cost Center </a:t>
            </a:r>
            <a:br>
              <a:rPr lang="en-US" sz="1200" b="1" dirty="0" smtClean="0">
                <a:solidFill>
                  <a:schemeClr val="accent4">
                    <a:lumMod val="10000"/>
                  </a:schemeClr>
                </a:solidFill>
                <a:cs typeface="Arial" charset="0"/>
              </a:rPr>
            </a:br>
            <a:r>
              <a:rPr lang="en-US" sz="1200" b="1" dirty="0" smtClean="0">
                <a:solidFill>
                  <a:schemeClr val="accent4">
                    <a:lumMod val="10000"/>
                  </a:schemeClr>
                </a:solidFill>
                <a:cs typeface="Arial" charset="0"/>
              </a:rPr>
              <a:t>Reporting</a:t>
            </a:r>
          </a:p>
        </p:txBody>
      </p:sp>
      <p:sp>
        <p:nvSpPr>
          <p:cNvPr id="9" name="Text Box 33"/>
          <p:cNvSpPr txBox="1">
            <a:spLocks noChangeArrowheads="1"/>
          </p:cNvSpPr>
          <p:nvPr/>
        </p:nvSpPr>
        <p:spPr bwMode="auto">
          <a:xfrm>
            <a:off x="2994658" y="5646611"/>
            <a:ext cx="1346523" cy="4398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spAutoFit/>
          </a:bodyPr>
          <a:lstStyle/>
          <a:p>
            <a:pPr algn="ctr"/>
            <a:r>
              <a:rPr lang="en-US" sz="1200" b="1" dirty="0" smtClean="0">
                <a:solidFill>
                  <a:schemeClr val="accent4">
                    <a:lumMod val="10000"/>
                  </a:schemeClr>
                </a:solidFill>
                <a:cs typeface="Arial" charset="0"/>
              </a:rPr>
              <a:t>ECC Purchasing</a:t>
            </a:r>
          </a:p>
          <a:p>
            <a:pPr algn="ctr"/>
            <a:r>
              <a:rPr lang="en-US" sz="1200" b="1" dirty="0" smtClean="0">
                <a:solidFill>
                  <a:schemeClr val="accent4">
                    <a:lumMod val="10000"/>
                  </a:schemeClr>
                </a:solidFill>
                <a:cs typeface="Arial" charset="0"/>
              </a:rPr>
              <a:t>Reporting</a:t>
            </a:r>
          </a:p>
        </p:txBody>
      </p:sp>
      <p:pic>
        <p:nvPicPr>
          <p:cNvPr id="10" name="Picture 7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69113" y="4489324"/>
            <a:ext cx="1589087" cy="17526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Box 73"/>
          <p:cNvSpPr txBox="1">
            <a:spLocks noChangeArrowheads="1"/>
          </p:cNvSpPr>
          <p:nvPr/>
        </p:nvSpPr>
        <p:spPr bwMode="auto">
          <a:xfrm rot="-2458701">
            <a:off x="6973936" y="5001587"/>
            <a:ext cx="1303242" cy="56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spAutoFit/>
          </a:bodyPr>
          <a:lstStyle/>
          <a:p>
            <a:pPr algn="ctr"/>
            <a:r>
              <a:rPr lang="en-US" sz="1600" b="1" smtClean="0">
                <a:solidFill>
                  <a:schemeClr val="accent4">
                    <a:lumMod val="10000"/>
                  </a:schemeClr>
                </a:solidFill>
                <a:cs typeface="Arial" charset="0"/>
              </a:rPr>
              <a:t>Cost Center</a:t>
            </a:r>
          </a:p>
          <a:p>
            <a:pPr algn="ctr"/>
            <a:r>
              <a:rPr lang="en-US" sz="1600" b="1" smtClean="0">
                <a:solidFill>
                  <a:schemeClr val="accent4">
                    <a:lumMod val="10000"/>
                  </a:schemeClr>
                </a:solidFill>
                <a:cs typeface="Arial" charset="0"/>
              </a:rPr>
              <a:t>Report</a:t>
            </a:r>
          </a:p>
        </p:txBody>
      </p:sp>
      <p:pic>
        <p:nvPicPr>
          <p:cNvPr id="12" name="Picture 81" descr="MPj04225270000[1]"/>
          <p:cNvPicPr>
            <a:picLocks noChangeAspect="1" noChangeArrowheads="1"/>
          </p:cNvPicPr>
          <p:nvPr/>
        </p:nvPicPr>
        <p:blipFill>
          <a:blip r:embed="rId6" cstate="print">
            <a:extLst>
              <a:ext uri="{28A0092B-C50C-407E-A947-70E740481C1C}">
                <a14:useLocalDpi xmlns:a14="http://schemas.microsoft.com/office/drawing/2010/main" val="0"/>
              </a:ext>
            </a:extLst>
          </a:blip>
          <a:srcRect b="26875"/>
          <a:stretch>
            <a:fillRect/>
          </a:stretch>
        </p:blipFill>
        <p:spPr>
          <a:xfrm>
            <a:off x="2959100" y="4557586"/>
            <a:ext cx="1447800" cy="1066800"/>
          </a:xfrm>
          <a:prstGeom prst="rect">
            <a:avLst/>
          </a:prstGeo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 name="Text Box 83"/>
          <p:cNvSpPr txBox="1">
            <a:spLocks noChangeArrowheads="1"/>
          </p:cNvSpPr>
          <p:nvPr/>
        </p:nvSpPr>
        <p:spPr bwMode="auto">
          <a:xfrm rot="-2750834">
            <a:off x="203994" y="4848893"/>
            <a:ext cx="2528887" cy="558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lIns="69850" tIns="34925" rIns="69850" bIns="34925">
            <a:spAutoFit/>
          </a:bodyPr>
          <a:lstStyle/>
          <a:p>
            <a:pPr algn="ctr"/>
            <a:r>
              <a:rPr lang="en-US" sz="1600" b="1" smtClean="0">
                <a:solidFill>
                  <a:schemeClr val="accent4">
                    <a:lumMod val="10000"/>
                  </a:schemeClr>
                </a:solidFill>
                <a:cs typeface="Arial" charset="0"/>
              </a:rPr>
              <a:t>List Display</a:t>
            </a:r>
          </a:p>
          <a:p>
            <a:pPr algn="ctr"/>
            <a:r>
              <a:rPr lang="en-US" sz="1600" b="1" smtClean="0">
                <a:solidFill>
                  <a:schemeClr val="accent4">
                    <a:lumMod val="10000"/>
                  </a:schemeClr>
                </a:solidFill>
                <a:cs typeface="Arial" charset="0"/>
              </a:rPr>
              <a:t> Purchase Requisitions</a:t>
            </a:r>
          </a:p>
        </p:txBody>
      </p:sp>
    </p:spTree>
    <p:extLst>
      <p:ext uri="{BB962C8B-B14F-4D97-AF65-F5344CB8AC3E}">
        <p14:creationId xmlns:p14="http://schemas.microsoft.com/office/powerpoint/2010/main" val="4085681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288" y="1408113"/>
            <a:ext cx="2933700" cy="2332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smtClean="0"/>
              <a:t>Types of SAP Reports</a:t>
            </a:r>
            <a:endParaRPr lang="en-US" dirty="0"/>
          </a:p>
        </p:txBody>
      </p:sp>
      <p:sp>
        <p:nvSpPr>
          <p:cNvPr id="3" name="Content Placeholder 2"/>
          <p:cNvSpPr>
            <a:spLocks noGrp="1"/>
          </p:cNvSpPr>
          <p:nvPr>
            <p:ph idx="1"/>
          </p:nvPr>
        </p:nvSpPr>
        <p:spPr>
          <a:xfrm>
            <a:off x="301625" y="990601"/>
            <a:ext cx="8537575" cy="457199"/>
          </a:xfrm>
        </p:spPr>
        <p:txBody>
          <a:bodyPr/>
          <a:lstStyle/>
          <a:p>
            <a:r>
              <a:rPr lang="en-US" dirty="0" smtClean="0"/>
              <a:t>There are three types of reports:</a:t>
            </a:r>
            <a:endParaRPr lang="en-US" dirty="0"/>
          </a:p>
        </p:txBody>
      </p:sp>
      <p:grpSp>
        <p:nvGrpSpPr>
          <p:cNvPr id="5" name="Group 75"/>
          <p:cNvGrpSpPr>
            <a:grpSpLocks/>
          </p:cNvGrpSpPr>
          <p:nvPr/>
        </p:nvGrpSpPr>
        <p:grpSpPr bwMode="auto">
          <a:xfrm>
            <a:off x="533400" y="3954463"/>
            <a:ext cx="2217738" cy="1944687"/>
            <a:chOff x="2416" y="924"/>
            <a:chExt cx="1892" cy="1668"/>
          </a:xfrm>
        </p:grpSpPr>
        <p:pic>
          <p:nvPicPr>
            <p:cNvPr id="6" name="Picture 76" descr="SAP_modul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6" y="924"/>
              <a:ext cx="1892" cy="1668"/>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77"/>
            <p:cNvSpPr txBox="1">
              <a:spLocks noChangeArrowheads="1"/>
            </p:cNvSpPr>
            <p:nvPr/>
          </p:nvSpPr>
          <p:spPr bwMode="auto">
            <a:xfrm>
              <a:off x="3555" y="1117"/>
              <a:ext cx="275"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b="1" dirty="0" smtClean="0">
                  <a:effectLst>
                    <a:outerShdw blurRad="38100" dist="38100" dir="2700000" algn="tl">
                      <a:srgbClr val="000000"/>
                    </a:outerShdw>
                  </a:effectLst>
                  <a:cs typeface="Arial" charset="0"/>
                </a:rPr>
                <a:t>FI</a:t>
              </a:r>
            </a:p>
          </p:txBody>
        </p:sp>
        <p:sp>
          <p:nvSpPr>
            <p:cNvPr id="8" name="Text Box 78"/>
            <p:cNvSpPr txBox="1">
              <a:spLocks noChangeArrowheads="1"/>
            </p:cNvSpPr>
            <p:nvPr/>
          </p:nvSpPr>
          <p:spPr bwMode="auto">
            <a:xfrm>
              <a:off x="3692" y="1279"/>
              <a:ext cx="354"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b="1" dirty="0" smtClean="0">
                  <a:effectLst>
                    <a:outerShdw blurRad="38100" dist="38100" dir="2700000" algn="tl">
                      <a:srgbClr val="000000"/>
                    </a:outerShdw>
                  </a:effectLst>
                  <a:cs typeface="Arial" charset="0"/>
                </a:rPr>
                <a:t>CO</a:t>
              </a:r>
            </a:p>
          </p:txBody>
        </p:sp>
        <p:sp>
          <p:nvSpPr>
            <p:cNvPr id="9" name="Text Box 79"/>
            <p:cNvSpPr txBox="1">
              <a:spLocks noChangeArrowheads="1"/>
            </p:cNvSpPr>
            <p:nvPr/>
          </p:nvSpPr>
          <p:spPr bwMode="auto">
            <a:xfrm>
              <a:off x="3860" y="1455"/>
              <a:ext cx="346"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b="1" smtClean="0">
                  <a:effectLst>
                    <a:outerShdw blurRad="38100" dist="38100" dir="2700000" algn="tl">
                      <a:srgbClr val="000000"/>
                    </a:outerShdw>
                  </a:effectLst>
                  <a:cs typeface="Arial" charset="0"/>
                </a:rPr>
                <a:t>AA</a:t>
              </a:r>
            </a:p>
          </p:txBody>
        </p:sp>
        <p:sp>
          <p:nvSpPr>
            <p:cNvPr id="10" name="Text Box 80"/>
            <p:cNvSpPr txBox="1">
              <a:spLocks noChangeArrowheads="1"/>
            </p:cNvSpPr>
            <p:nvPr/>
          </p:nvSpPr>
          <p:spPr bwMode="auto">
            <a:xfrm>
              <a:off x="3872" y="1771"/>
              <a:ext cx="333"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b="1" smtClean="0">
                  <a:effectLst>
                    <a:outerShdw blurRad="38100" dist="38100" dir="2700000" algn="tl">
                      <a:srgbClr val="000000"/>
                    </a:outerShdw>
                  </a:effectLst>
                  <a:cs typeface="Arial" charset="0"/>
                </a:rPr>
                <a:t>PS</a:t>
              </a:r>
            </a:p>
          </p:txBody>
        </p:sp>
        <p:sp>
          <p:nvSpPr>
            <p:cNvPr id="11" name="Text Box 81"/>
            <p:cNvSpPr txBox="1">
              <a:spLocks noChangeArrowheads="1"/>
            </p:cNvSpPr>
            <p:nvPr/>
          </p:nvSpPr>
          <p:spPr bwMode="auto">
            <a:xfrm>
              <a:off x="2966" y="2109"/>
              <a:ext cx="157"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endParaRPr lang="en-US" b="1" smtClean="0">
                <a:solidFill>
                  <a:schemeClr val="accent4">
                    <a:lumMod val="10000"/>
                  </a:schemeClr>
                </a:solidFill>
                <a:effectLst>
                  <a:outerShdw blurRad="38100" dist="38100" dir="2700000" algn="tl">
                    <a:srgbClr val="000000"/>
                  </a:outerShdw>
                </a:effectLst>
                <a:cs typeface="Arial" charset="0"/>
              </a:endParaRPr>
            </a:p>
          </p:txBody>
        </p:sp>
        <p:sp>
          <p:nvSpPr>
            <p:cNvPr id="12" name="Text Box 82"/>
            <p:cNvSpPr txBox="1">
              <a:spLocks noChangeArrowheads="1"/>
            </p:cNvSpPr>
            <p:nvPr/>
          </p:nvSpPr>
          <p:spPr bwMode="auto">
            <a:xfrm>
              <a:off x="2849" y="1138"/>
              <a:ext cx="376"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b="1" dirty="0" smtClean="0">
                  <a:effectLst>
                    <a:outerShdw blurRad="38100" dist="38100" dir="2700000" algn="tl">
                      <a:srgbClr val="000000"/>
                    </a:outerShdw>
                  </a:effectLst>
                  <a:cs typeface="Arial" charset="0"/>
                </a:rPr>
                <a:t>MM</a:t>
              </a:r>
            </a:p>
          </p:txBody>
        </p:sp>
        <p:sp>
          <p:nvSpPr>
            <p:cNvPr id="13" name="Text Box 83"/>
            <p:cNvSpPr txBox="1">
              <a:spLocks noChangeArrowheads="1"/>
            </p:cNvSpPr>
            <p:nvPr/>
          </p:nvSpPr>
          <p:spPr bwMode="auto">
            <a:xfrm>
              <a:off x="2787" y="1293"/>
              <a:ext cx="157"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endParaRPr lang="en-US" b="1" smtClean="0">
                <a:solidFill>
                  <a:schemeClr val="accent4">
                    <a:lumMod val="10000"/>
                  </a:schemeClr>
                </a:solidFill>
                <a:effectLst>
                  <a:outerShdw blurRad="38100" dist="38100" dir="2700000" algn="tl">
                    <a:srgbClr val="000000"/>
                  </a:outerShdw>
                </a:effectLst>
                <a:cs typeface="Arial" charset="0"/>
              </a:endParaRPr>
            </a:p>
          </p:txBody>
        </p:sp>
      </p:grpSp>
      <p:sp>
        <p:nvSpPr>
          <p:cNvPr id="14" name="Line 84"/>
          <p:cNvSpPr>
            <a:spLocks noChangeShapeType="1"/>
          </p:cNvSpPr>
          <p:nvPr/>
        </p:nvSpPr>
        <p:spPr bwMode="auto">
          <a:xfrm>
            <a:off x="2563813" y="5670550"/>
            <a:ext cx="3178175" cy="0"/>
          </a:xfrm>
          <a:prstGeom prst="line">
            <a:avLst/>
          </a:prstGeom>
          <a:noFill/>
          <a:ln w="57150">
            <a:solidFill>
              <a:schemeClr val="accent5">
                <a:lumMod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sp>
        <p:nvSpPr>
          <p:cNvPr id="15" name="Line 85"/>
          <p:cNvSpPr>
            <a:spLocks noChangeShapeType="1"/>
          </p:cNvSpPr>
          <p:nvPr/>
        </p:nvSpPr>
        <p:spPr bwMode="auto">
          <a:xfrm flipV="1">
            <a:off x="2387600" y="3433763"/>
            <a:ext cx="295275" cy="66516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sp>
        <p:nvSpPr>
          <p:cNvPr id="16" name="AutoShape 86"/>
          <p:cNvSpPr>
            <a:spLocks noChangeArrowheads="1"/>
          </p:cNvSpPr>
          <p:nvPr/>
        </p:nvSpPr>
        <p:spPr bwMode="auto">
          <a:xfrm>
            <a:off x="5867400" y="4338638"/>
            <a:ext cx="1397000" cy="1604962"/>
          </a:xfrm>
          <a:prstGeom prst="can">
            <a:avLst>
              <a:gd name="adj" fmla="val 28722"/>
            </a:avLst>
          </a:prstGeom>
          <a:gradFill rotWithShape="0">
            <a:gsLst>
              <a:gs pos="0">
                <a:srgbClr val="FFFFCC">
                  <a:gamma/>
                  <a:shade val="66275"/>
                  <a:invGamma/>
                </a:srgbClr>
              </a:gs>
              <a:gs pos="100000">
                <a:srgbClr val="FFFFCC"/>
              </a:gs>
            </a:gsLst>
            <a:lin ang="18900000" scaled="1"/>
          </a:gradFill>
          <a:ln w="28575">
            <a:solidFill>
              <a:schemeClr val="accent5">
                <a:lumMod val="50000"/>
              </a:schemeClr>
            </a:solidFill>
            <a:round/>
            <a:headEnd/>
            <a:tailEnd/>
          </a:ln>
          <a:effectLst>
            <a:outerShdw dist="35921" dir="2700000" algn="ctr" rotWithShape="0">
              <a:schemeClr val="bg2"/>
            </a:outerShdw>
          </a:effectLst>
        </p:spPr>
        <p:txBody>
          <a:bodyPr wrap="none" anchor="ctr"/>
          <a:lstStyle/>
          <a:p>
            <a:pPr algn="ctr"/>
            <a:r>
              <a:rPr lang="en-US" sz="1600" b="1" dirty="0" smtClean="0">
                <a:solidFill>
                  <a:schemeClr val="accent4">
                    <a:lumMod val="10000"/>
                  </a:schemeClr>
                </a:solidFill>
                <a:cs typeface="Arial" charset="0"/>
              </a:rPr>
              <a:t>BI</a:t>
            </a:r>
          </a:p>
        </p:txBody>
      </p:sp>
      <p:pic>
        <p:nvPicPr>
          <p:cNvPr id="17" name="Picture 88" descr="03_BEx_Analyzer_GU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16488" y="1789113"/>
            <a:ext cx="2182812" cy="1533525"/>
          </a:xfrm>
          <a:prstGeom prst="rect">
            <a:avLst/>
          </a:prstGeom>
          <a:noFill/>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Lst>
        </p:spPr>
      </p:pic>
      <p:sp>
        <p:nvSpPr>
          <p:cNvPr id="18" name="Text Box 89"/>
          <p:cNvSpPr txBox="1">
            <a:spLocks noChangeArrowheads="1"/>
          </p:cNvSpPr>
          <p:nvPr/>
        </p:nvSpPr>
        <p:spPr bwMode="auto">
          <a:xfrm>
            <a:off x="5741988" y="2185988"/>
            <a:ext cx="2255837" cy="523220"/>
          </a:xfrm>
          <a:prstGeom prst="rect">
            <a:avLst/>
          </a:prstGeom>
          <a:ln/>
        </p:spPr>
        <p:style>
          <a:lnRef idx="3">
            <a:schemeClr val="lt1"/>
          </a:lnRef>
          <a:fillRef idx="1">
            <a:schemeClr val="dk1"/>
          </a:fillRef>
          <a:effectRef idx="1">
            <a:schemeClr val="dk1"/>
          </a:effectRef>
          <a:fontRef idx="minor">
            <a:schemeClr val="lt1"/>
          </a:fontRef>
        </p:style>
        <p:txBody>
          <a:bodyPr>
            <a:spAutoFit/>
          </a:bodyPr>
          <a:lstStyle>
            <a:lvl1pPr marL="225425" indent="-225425">
              <a:defRPr>
                <a:solidFill>
                  <a:schemeClr val="tx1"/>
                </a:solidFill>
                <a:latin typeface="Arial" charset="0"/>
                <a:cs typeface="Arial" charset="0"/>
              </a:defRPr>
            </a:lvl1pPr>
            <a:lvl2pPr>
              <a:defRPr>
                <a:solidFill>
                  <a:schemeClr val="tx1"/>
                </a:solidFill>
                <a:latin typeface="Arial" charset="0"/>
                <a:cs typeface="Arial" charset="0"/>
              </a:defRPr>
            </a:lvl2pPr>
            <a:lvl3pPr>
              <a:defRPr>
                <a:solidFill>
                  <a:schemeClr val="tx1"/>
                </a:solidFill>
                <a:latin typeface="Arial" charset="0"/>
                <a:cs typeface="Arial" charset="0"/>
              </a:defRPr>
            </a:lvl3pPr>
            <a:lvl4pPr>
              <a:defRPr>
                <a:solidFill>
                  <a:schemeClr val="tx1"/>
                </a:solidFill>
                <a:latin typeface="Arial" charset="0"/>
                <a:cs typeface="Arial" charset="0"/>
              </a:defRPr>
            </a:lvl4pPr>
            <a:lvl5pPr>
              <a:defRPr>
                <a:solidFill>
                  <a:schemeClr val="tx1"/>
                </a:solidFill>
                <a:latin typeface="Arial" charset="0"/>
                <a:cs typeface="Arial" charset="0"/>
              </a:defRPr>
            </a:lvl5pPr>
            <a:lvl6pPr fontAlgn="base">
              <a:spcBef>
                <a:spcPct val="0"/>
              </a:spcBef>
              <a:spcAft>
                <a:spcPct val="0"/>
              </a:spcAft>
              <a:defRPr>
                <a:solidFill>
                  <a:schemeClr val="tx1"/>
                </a:solidFill>
                <a:latin typeface="Arial" charset="0"/>
                <a:cs typeface="Arial" charset="0"/>
              </a:defRPr>
            </a:lvl6pPr>
            <a:lvl7pPr fontAlgn="base">
              <a:spcBef>
                <a:spcPct val="0"/>
              </a:spcBef>
              <a:spcAft>
                <a:spcPct val="0"/>
              </a:spcAft>
              <a:defRPr>
                <a:solidFill>
                  <a:schemeClr val="tx1"/>
                </a:solidFill>
                <a:latin typeface="Arial" charset="0"/>
                <a:cs typeface="Arial" charset="0"/>
              </a:defRPr>
            </a:lvl7pPr>
            <a:lvl8pPr fontAlgn="base">
              <a:spcBef>
                <a:spcPct val="0"/>
              </a:spcBef>
              <a:spcAft>
                <a:spcPct val="0"/>
              </a:spcAft>
              <a:defRPr>
                <a:solidFill>
                  <a:schemeClr val="tx1"/>
                </a:solidFill>
                <a:latin typeface="Arial" charset="0"/>
                <a:cs typeface="Arial" charset="0"/>
              </a:defRPr>
            </a:lvl8pPr>
            <a:lvl9pPr fontAlgn="base">
              <a:spcBef>
                <a:spcPct val="0"/>
              </a:spcBef>
              <a:spcAft>
                <a:spcPct val="0"/>
              </a:spcAft>
              <a:defRPr>
                <a:solidFill>
                  <a:schemeClr val="tx1"/>
                </a:solidFill>
                <a:latin typeface="Arial" charset="0"/>
                <a:cs typeface="Arial" charset="0"/>
              </a:defRPr>
            </a:lvl9pPr>
          </a:lstStyle>
          <a:p>
            <a:r>
              <a:rPr lang="en-US" sz="1400" b="1" dirty="0" smtClean="0"/>
              <a:t>3. 	Business Intelligence (BI) Reports</a:t>
            </a:r>
          </a:p>
        </p:txBody>
      </p:sp>
      <p:sp>
        <p:nvSpPr>
          <p:cNvPr id="19" name="Text Box 90"/>
          <p:cNvSpPr txBox="1">
            <a:spLocks noChangeArrowheads="1"/>
          </p:cNvSpPr>
          <p:nvPr/>
        </p:nvSpPr>
        <p:spPr bwMode="auto">
          <a:xfrm>
            <a:off x="1054100" y="2159000"/>
            <a:ext cx="2635250" cy="523220"/>
          </a:xfrm>
          <a:prstGeom prst="rect">
            <a:avLst/>
          </a:prstGeom>
          <a:ln/>
        </p:spPr>
        <p:style>
          <a:lnRef idx="3">
            <a:schemeClr val="lt1"/>
          </a:lnRef>
          <a:fillRef idx="1">
            <a:schemeClr val="dk1"/>
          </a:fillRef>
          <a:effectRef idx="1">
            <a:schemeClr val="dk1"/>
          </a:effectRef>
          <a:fontRef idx="minor">
            <a:schemeClr val="lt1"/>
          </a:fontRef>
        </p:style>
        <p:txBody>
          <a:bodyPr>
            <a:spAutoFit/>
          </a:bodyPr>
          <a:lstStyle>
            <a:lvl1pPr marL="225425" indent="-225425">
              <a:defRPr>
                <a:solidFill>
                  <a:schemeClr val="tx1"/>
                </a:solidFill>
                <a:latin typeface="Arial" charset="0"/>
                <a:cs typeface="Arial" charset="0"/>
              </a:defRPr>
            </a:lvl1pPr>
            <a:lvl2pPr>
              <a:defRPr>
                <a:solidFill>
                  <a:schemeClr val="tx1"/>
                </a:solidFill>
                <a:latin typeface="Arial" charset="0"/>
                <a:cs typeface="Arial" charset="0"/>
              </a:defRPr>
            </a:lvl2pPr>
            <a:lvl3pPr>
              <a:defRPr>
                <a:solidFill>
                  <a:schemeClr val="tx1"/>
                </a:solidFill>
                <a:latin typeface="Arial" charset="0"/>
                <a:cs typeface="Arial" charset="0"/>
              </a:defRPr>
            </a:lvl3pPr>
            <a:lvl4pPr>
              <a:defRPr>
                <a:solidFill>
                  <a:schemeClr val="tx1"/>
                </a:solidFill>
                <a:latin typeface="Arial" charset="0"/>
                <a:cs typeface="Arial" charset="0"/>
              </a:defRPr>
            </a:lvl4pPr>
            <a:lvl5pPr>
              <a:defRPr>
                <a:solidFill>
                  <a:schemeClr val="tx1"/>
                </a:solidFill>
                <a:latin typeface="Arial" charset="0"/>
                <a:cs typeface="Arial" charset="0"/>
              </a:defRPr>
            </a:lvl5pPr>
            <a:lvl6pPr fontAlgn="base">
              <a:spcBef>
                <a:spcPct val="0"/>
              </a:spcBef>
              <a:spcAft>
                <a:spcPct val="0"/>
              </a:spcAft>
              <a:defRPr>
                <a:solidFill>
                  <a:schemeClr val="tx1"/>
                </a:solidFill>
                <a:latin typeface="Arial" charset="0"/>
                <a:cs typeface="Arial" charset="0"/>
              </a:defRPr>
            </a:lvl6pPr>
            <a:lvl7pPr fontAlgn="base">
              <a:spcBef>
                <a:spcPct val="0"/>
              </a:spcBef>
              <a:spcAft>
                <a:spcPct val="0"/>
              </a:spcAft>
              <a:defRPr>
                <a:solidFill>
                  <a:schemeClr val="tx1"/>
                </a:solidFill>
                <a:latin typeface="Arial" charset="0"/>
                <a:cs typeface="Arial" charset="0"/>
              </a:defRPr>
            </a:lvl7pPr>
            <a:lvl8pPr fontAlgn="base">
              <a:spcBef>
                <a:spcPct val="0"/>
              </a:spcBef>
              <a:spcAft>
                <a:spcPct val="0"/>
              </a:spcAft>
              <a:defRPr>
                <a:solidFill>
                  <a:schemeClr val="tx1"/>
                </a:solidFill>
                <a:latin typeface="Arial" charset="0"/>
                <a:cs typeface="Arial" charset="0"/>
              </a:defRPr>
            </a:lvl8pPr>
            <a:lvl9pPr fontAlgn="base">
              <a:spcBef>
                <a:spcPct val="0"/>
              </a:spcBef>
              <a:spcAft>
                <a:spcPct val="0"/>
              </a:spcAft>
              <a:defRPr>
                <a:solidFill>
                  <a:schemeClr val="tx1"/>
                </a:solidFill>
                <a:latin typeface="Arial" charset="0"/>
                <a:cs typeface="Arial" charset="0"/>
              </a:defRPr>
            </a:lvl9pPr>
          </a:lstStyle>
          <a:p>
            <a:r>
              <a:rPr lang="en-US" sz="1400" b="1" dirty="0" smtClean="0"/>
              <a:t>1. 	SAP ECC Standard Reports</a:t>
            </a:r>
          </a:p>
        </p:txBody>
      </p:sp>
      <p:sp>
        <p:nvSpPr>
          <p:cNvPr id="20" name="Text Box 91"/>
          <p:cNvSpPr txBox="1">
            <a:spLocks noChangeArrowheads="1"/>
          </p:cNvSpPr>
          <p:nvPr/>
        </p:nvSpPr>
        <p:spPr bwMode="auto">
          <a:xfrm>
            <a:off x="1054100" y="2925763"/>
            <a:ext cx="2687638" cy="523220"/>
          </a:xfrm>
          <a:prstGeom prst="rect">
            <a:avLst/>
          </a:prstGeom>
          <a:ln/>
        </p:spPr>
        <p:style>
          <a:lnRef idx="3">
            <a:schemeClr val="lt1"/>
          </a:lnRef>
          <a:fillRef idx="1">
            <a:schemeClr val="dk1"/>
          </a:fillRef>
          <a:effectRef idx="1">
            <a:schemeClr val="dk1"/>
          </a:effectRef>
          <a:fontRef idx="minor">
            <a:schemeClr val="lt1"/>
          </a:fontRef>
        </p:style>
        <p:txBody>
          <a:bodyPr>
            <a:spAutoFit/>
          </a:bodyPr>
          <a:lstStyle>
            <a:lvl1pPr marL="225425" indent="-225425">
              <a:defRPr>
                <a:solidFill>
                  <a:schemeClr val="tx1"/>
                </a:solidFill>
                <a:latin typeface="Arial" charset="0"/>
                <a:cs typeface="Arial" charset="0"/>
              </a:defRPr>
            </a:lvl1pPr>
            <a:lvl2pPr>
              <a:defRPr>
                <a:solidFill>
                  <a:schemeClr val="tx1"/>
                </a:solidFill>
                <a:latin typeface="Arial" charset="0"/>
                <a:cs typeface="Arial" charset="0"/>
              </a:defRPr>
            </a:lvl2pPr>
            <a:lvl3pPr>
              <a:defRPr>
                <a:solidFill>
                  <a:schemeClr val="tx1"/>
                </a:solidFill>
                <a:latin typeface="Arial" charset="0"/>
                <a:cs typeface="Arial" charset="0"/>
              </a:defRPr>
            </a:lvl3pPr>
            <a:lvl4pPr>
              <a:defRPr>
                <a:solidFill>
                  <a:schemeClr val="tx1"/>
                </a:solidFill>
                <a:latin typeface="Arial" charset="0"/>
                <a:cs typeface="Arial" charset="0"/>
              </a:defRPr>
            </a:lvl4pPr>
            <a:lvl5pPr>
              <a:defRPr>
                <a:solidFill>
                  <a:schemeClr val="tx1"/>
                </a:solidFill>
                <a:latin typeface="Arial" charset="0"/>
                <a:cs typeface="Arial" charset="0"/>
              </a:defRPr>
            </a:lvl5pPr>
            <a:lvl6pPr fontAlgn="base">
              <a:spcBef>
                <a:spcPct val="0"/>
              </a:spcBef>
              <a:spcAft>
                <a:spcPct val="0"/>
              </a:spcAft>
              <a:defRPr>
                <a:solidFill>
                  <a:schemeClr val="tx1"/>
                </a:solidFill>
                <a:latin typeface="Arial" charset="0"/>
                <a:cs typeface="Arial" charset="0"/>
              </a:defRPr>
            </a:lvl6pPr>
            <a:lvl7pPr fontAlgn="base">
              <a:spcBef>
                <a:spcPct val="0"/>
              </a:spcBef>
              <a:spcAft>
                <a:spcPct val="0"/>
              </a:spcAft>
              <a:defRPr>
                <a:solidFill>
                  <a:schemeClr val="tx1"/>
                </a:solidFill>
                <a:latin typeface="Arial" charset="0"/>
                <a:cs typeface="Arial" charset="0"/>
              </a:defRPr>
            </a:lvl7pPr>
            <a:lvl8pPr fontAlgn="base">
              <a:spcBef>
                <a:spcPct val="0"/>
              </a:spcBef>
              <a:spcAft>
                <a:spcPct val="0"/>
              </a:spcAft>
              <a:defRPr>
                <a:solidFill>
                  <a:schemeClr val="tx1"/>
                </a:solidFill>
                <a:latin typeface="Arial" charset="0"/>
                <a:cs typeface="Arial" charset="0"/>
              </a:defRPr>
            </a:lvl8pPr>
            <a:lvl9pPr fontAlgn="base">
              <a:spcBef>
                <a:spcPct val="0"/>
              </a:spcBef>
              <a:spcAft>
                <a:spcPct val="0"/>
              </a:spcAft>
              <a:defRPr>
                <a:solidFill>
                  <a:schemeClr val="tx1"/>
                </a:solidFill>
                <a:latin typeface="Arial" charset="0"/>
                <a:cs typeface="Arial" charset="0"/>
              </a:defRPr>
            </a:lvl9pPr>
          </a:lstStyle>
          <a:p>
            <a:r>
              <a:rPr lang="en-US" sz="1400" b="1" dirty="0" smtClean="0"/>
              <a:t>2.	Loudoun Water Customized Reports </a:t>
            </a:r>
          </a:p>
        </p:txBody>
      </p:sp>
      <p:sp>
        <p:nvSpPr>
          <p:cNvPr id="21" name="Text Box 92"/>
          <p:cNvSpPr txBox="1">
            <a:spLocks noChangeArrowheads="1"/>
          </p:cNvSpPr>
          <p:nvPr/>
        </p:nvSpPr>
        <p:spPr bwMode="auto">
          <a:xfrm>
            <a:off x="3914775" y="1835150"/>
            <a:ext cx="1100138" cy="374650"/>
          </a:xfrm>
          <a:prstGeom prst="rect">
            <a:avLst/>
          </a:prstGeom>
          <a:solidFill>
            <a:schemeClr val="tx1">
              <a:lumMod val="50000"/>
            </a:schemeClr>
          </a:solidFill>
          <a:ln>
            <a:noFill/>
          </a:ln>
          <a:effectLst>
            <a:outerShdw dist="35921" dir="2700000" algn="ctr" rotWithShape="0">
              <a:schemeClr val="bg2"/>
            </a:outerShdw>
          </a:effectLst>
        </p:spPr>
        <p:txBody>
          <a:bodyPr wrap="none" lIns="69850" tIns="34925" rIns="69850" bIns="34925">
            <a:spAutoFit/>
          </a:bodyPr>
          <a:lstStyle/>
          <a:p>
            <a:pPr algn="ctr"/>
            <a:r>
              <a:rPr lang="en-US" sz="2000" b="1" smtClean="0">
                <a:cs typeface="Arial" charset="0"/>
              </a:rPr>
              <a:t>Reports</a:t>
            </a:r>
          </a:p>
        </p:txBody>
      </p:sp>
      <p:sp>
        <p:nvSpPr>
          <p:cNvPr id="22" name="Text Box 94"/>
          <p:cNvSpPr txBox="1">
            <a:spLocks noChangeArrowheads="1"/>
          </p:cNvSpPr>
          <p:nvPr/>
        </p:nvSpPr>
        <p:spPr bwMode="auto">
          <a:xfrm>
            <a:off x="2743200" y="4800600"/>
            <a:ext cx="3200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dirty="0" smtClean="0">
                <a:solidFill>
                  <a:schemeClr val="accent4">
                    <a:lumMod val="10000"/>
                  </a:schemeClr>
                </a:solidFill>
                <a:cs typeface="Arial" charset="0"/>
              </a:rPr>
              <a:t>Data flows from SAP to BI at pre-determined intervals</a:t>
            </a:r>
          </a:p>
        </p:txBody>
      </p:sp>
      <p:sp>
        <p:nvSpPr>
          <p:cNvPr id="23" name="AutoShape 97"/>
          <p:cNvSpPr>
            <a:spLocks noChangeArrowheads="1"/>
          </p:cNvSpPr>
          <p:nvPr/>
        </p:nvSpPr>
        <p:spPr bwMode="auto">
          <a:xfrm>
            <a:off x="7772400" y="4267200"/>
            <a:ext cx="381000" cy="609600"/>
          </a:xfrm>
          <a:prstGeom prst="can">
            <a:avLst>
              <a:gd name="adj" fmla="val 40000"/>
            </a:avLst>
          </a:prstGeom>
          <a:gradFill rotWithShape="0">
            <a:gsLst>
              <a:gs pos="0">
                <a:srgbClr val="FFDE81">
                  <a:gamma/>
                  <a:shade val="66275"/>
                  <a:invGamma/>
                </a:srgbClr>
              </a:gs>
              <a:gs pos="100000">
                <a:srgbClr val="FFDE81"/>
              </a:gs>
            </a:gsLst>
            <a:lin ang="18900000" scaled="1"/>
          </a:gradFill>
          <a:ln w="28575">
            <a:solidFill>
              <a:schemeClr val="accent5">
                <a:lumMod val="50000"/>
              </a:schemeClr>
            </a:solidFill>
            <a:round/>
            <a:headEnd/>
            <a:tailEnd/>
          </a:ln>
          <a:effectLst>
            <a:outerShdw dist="35921" dir="2700000" algn="ctr" rotWithShape="0">
              <a:schemeClr val="bg2"/>
            </a:outerShdw>
          </a:effectLst>
        </p:spPr>
        <p:txBody>
          <a:bodyPr wrap="none" anchor="ctr"/>
          <a:lstStyle/>
          <a:p>
            <a:pPr algn="ctr"/>
            <a:endParaRPr lang="en-US" sz="1000" b="1" smtClean="0">
              <a:solidFill>
                <a:schemeClr val="accent4">
                  <a:lumMod val="10000"/>
                </a:schemeClr>
              </a:solidFill>
              <a:cs typeface="Arial" charset="0"/>
            </a:endParaRPr>
          </a:p>
        </p:txBody>
      </p:sp>
      <p:sp>
        <p:nvSpPr>
          <p:cNvPr id="25" name="AutoShape 95"/>
          <p:cNvSpPr>
            <a:spLocks noChangeArrowheads="1"/>
          </p:cNvSpPr>
          <p:nvPr/>
        </p:nvSpPr>
        <p:spPr bwMode="auto">
          <a:xfrm>
            <a:off x="7772400" y="5029200"/>
            <a:ext cx="381000" cy="609600"/>
          </a:xfrm>
          <a:prstGeom prst="can">
            <a:avLst>
              <a:gd name="adj" fmla="val 40000"/>
            </a:avLst>
          </a:prstGeom>
          <a:gradFill rotWithShape="0">
            <a:gsLst>
              <a:gs pos="0">
                <a:srgbClr val="FFDE81">
                  <a:gamma/>
                  <a:shade val="66275"/>
                  <a:invGamma/>
                </a:srgbClr>
              </a:gs>
              <a:gs pos="100000">
                <a:srgbClr val="FFDE81"/>
              </a:gs>
            </a:gsLst>
            <a:lin ang="18900000" scaled="1"/>
          </a:gradFill>
          <a:ln w="28575">
            <a:solidFill>
              <a:schemeClr val="accent5">
                <a:lumMod val="50000"/>
              </a:schemeClr>
            </a:solidFill>
            <a:round/>
            <a:headEnd/>
            <a:tailEnd/>
          </a:ln>
          <a:effectLst>
            <a:outerShdw dist="35921" dir="2700000" algn="ctr" rotWithShape="0">
              <a:schemeClr val="bg2"/>
            </a:outerShdw>
          </a:effectLst>
        </p:spPr>
        <p:txBody>
          <a:bodyPr wrap="none" anchor="ctr"/>
          <a:lstStyle/>
          <a:p>
            <a:pPr algn="ctr"/>
            <a:endParaRPr lang="en-US" sz="1000" b="1" smtClean="0">
              <a:solidFill>
                <a:schemeClr val="accent4">
                  <a:lumMod val="10000"/>
                </a:schemeClr>
              </a:solidFill>
              <a:cs typeface="Arial" charset="0"/>
            </a:endParaRPr>
          </a:p>
        </p:txBody>
      </p:sp>
      <p:sp>
        <p:nvSpPr>
          <p:cNvPr id="27" name="Text Box 99"/>
          <p:cNvSpPr txBox="1">
            <a:spLocks noChangeArrowheads="1"/>
          </p:cNvSpPr>
          <p:nvPr/>
        </p:nvSpPr>
        <p:spPr bwMode="auto">
          <a:xfrm>
            <a:off x="7340600" y="5667375"/>
            <a:ext cx="15748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sz="1600" b="1" dirty="0" smtClean="0">
                <a:solidFill>
                  <a:schemeClr val="accent4">
                    <a:lumMod val="10000"/>
                  </a:schemeClr>
                </a:solidFill>
                <a:cs typeface="Arial" charset="0"/>
              </a:rPr>
              <a:t>External Applications</a:t>
            </a:r>
          </a:p>
        </p:txBody>
      </p:sp>
      <p:sp>
        <p:nvSpPr>
          <p:cNvPr id="28" name="Line 100"/>
          <p:cNvSpPr>
            <a:spLocks noChangeShapeType="1"/>
          </p:cNvSpPr>
          <p:nvPr/>
        </p:nvSpPr>
        <p:spPr bwMode="auto">
          <a:xfrm flipH="1" flipV="1">
            <a:off x="7315200" y="5029200"/>
            <a:ext cx="381000" cy="381000"/>
          </a:xfrm>
          <a:prstGeom prst="line">
            <a:avLst/>
          </a:prstGeom>
          <a:noFill/>
          <a:ln w="57150">
            <a:solidFill>
              <a:schemeClr val="accent5">
                <a:lumMod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sp>
        <p:nvSpPr>
          <p:cNvPr id="29" name="Line 101"/>
          <p:cNvSpPr>
            <a:spLocks noChangeShapeType="1"/>
          </p:cNvSpPr>
          <p:nvPr/>
        </p:nvSpPr>
        <p:spPr bwMode="auto">
          <a:xfrm flipV="1">
            <a:off x="6553200" y="3429000"/>
            <a:ext cx="0" cy="8382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sp>
        <p:nvSpPr>
          <p:cNvPr id="30" name="Line 102"/>
          <p:cNvSpPr>
            <a:spLocks noChangeShapeType="1"/>
          </p:cNvSpPr>
          <p:nvPr/>
        </p:nvSpPr>
        <p:spPr bwMode="auto">
          <a:xfrm flipH="1">
            <a:off x="7315200" y="4572000"/>
            <a:ext cx="381000" cy="304800"/>
          </a:xfrm>
          <a:prstGeom prst="line">
            <a:avLst/>
          </a:prstGeom>
          <a:noFill/>
          <a:ln w="57150">
            <a:solidFill>
              <a:schemeClr val="accent5">
                <a:lumMod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sp>
        <p:nvSpPr>
          <p:cNvPr id="31" name="Text Box 106"/>
          <p:cNvSpPr txBox="1">
            <a:spLocks noChangeArrowheads="1"/>
          </p:cNvSpPr>
          <p:nvPr/>
        </p:nvSpPr>
        <p:spPr bwMode="auto">
          <a:xfrm>
            <a:off x="1219200" y="5029200"/>
            <a:ext cx="914400" cy="244475"/>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sz="1000" b="1" dirty="0" smtClean="0">
                <a:solidFill>
                  <a:schemeClr val="accent4">
                    <a:lumMod val="10000"/>
                  </a:schemeClr>
                </a:solidFill>
                <a:cs typeface="Arial" charset="0"/>
              </a:rPr>
              <a:t>Real Time</a:t>
            </a:r>
          </a:p>
        </p:txBody>
      </p:sp>
      <p:sp>
        <p:nvSpPr>
          <p:cNvPr id="32" name="Text Box 107"/>
          <p:cNvSpPr txBox="1">
            <a:spLocks noChangeArrowheads="1"/>
          </p:cNvSpPr>
          <p:nvPr/>
        </p:nvSpPr>
        <p:spPr bwMode="auto">
          <a:xfrm>
            <a:off x="6096000" y="5334000"/>
            <a:ext cx="1066800" cy="244475"/>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sz="1000" b="1" smtClean="0">
                <a:solidFill>
                  <a:schemeClr val="accent4">
                    <a:lumMod val="10000"/>
                  </a:schemeClr>
                </a:solidFill>
                <a:cs typeface="Arial" charset="0"/>
              </a:rPr>
              <a:t>Not Real Time</a:t>
            </a:r>
          </a:p>
        </p:txBody>
      </p:sp>
      <p:cxnSp>
        <p:nvCxnSpPr>
          <p:cNvPr id="63" name="Straight Arrow Connector 62"/>
          <p:cNvCxnSpPr>
            <a:endCxn id="15" idx="1"/>
          </p:cNvCxnSpPr>
          <p:nvPr/>
        </p:nvCxnSpPr>
        <p:spPr bwMode="auto">
          <a:xfrm flipV="1">
            <a:off x="2397919" y="3433763"/>
            <a:ext cx="284956" cy="833437"/>
          </a:xfrm>
          <a:prstGeom prst="straightConnector1">
            <a:avLst/>
          </a:prstGeom>
          <a:noFill/>
          <a:ln w="57150">
            <a:solidFill>
              <a:schemeClr val="accent5">
                <a:lumMod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3"/>
          <p:cNvSpPr txBox="1"/>
          <p:nvPr/>
        </p:nvSpPr>
        <p:spPr>
          <a:xfrm>
            <a:off x="1143000" y="4807230"/>
            <a:ext cx="906555" cy="276999"/>
          </a:xfrm>
          <a:prstGeom prst="rect">
            <a:avLst/>
          </a:prstGeom>
          <a:solidFill>
            <a:schemeClr val="tx1">
              <a:lumMod val="95000"/>
            </a:schemeClr>
          </a:solidFill>
        </p:spPr>
        <p:txBody>
          <a:bodyPr wrap="square" rtlCol="0">
            <a:spAutoFit/>
          </a:bodyPr>
          <a:lstStyle/>
          <a:p>
            <a:pPr algn="ctr"/>
            <a:r>
              <a:rPr lang="en-US" sz="1200" b="1" dirty="0" smtClean="0">
                <a:solidFill>
                  <a:schemeClr val="accent4">
                    <a:lumMod val="10000"/>
                  </a:schemeClr>
                </a:solidFill>
                <a:latin typeface="Arial" pitchFamily="34" charset="0"/>
                <a:cs typeface="Arial" pitchFamily="34" charset="0"/>
              </a:rPr>
              <a:t>SAP ECC</a:t>
            </a:r>
            <a:endParaRPr lang="en-US" sz="1200" b="1" dirty="0">
              <a:solidFill>
                <a:schemeClr val="accent4">
                  <a:lumMod val="10000"/>
                </a:schemeClr>
              </a:solidFill>
              <a:latin typeface="Arial" pitchFamily="34" charset="0"/>
              <a:cs typeface="Arial" pitchFamily="34" charset="0"/>
            </a:endParaRPr>
          </a:p>
        </p:txBody>
      </p:sp>
    </p:spTree>
    <p:extLst>
      <p:ext uri="{BB962C8B-B14F-4D97-AF65-F5344CB8AC3E}">
        <p14:creationId xmlns:p14="http://schemas.microsoft.com/office/powerpoint/2010/main" val="27836698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ECC and BI Reports</a:t>
            </a:r>
            <a:endParaRPr lang="en-US" dirty="0"/>
          </a:p>
        </p:txBody>
      </p:sp>
      <p:sp>
        <p:nvSpPr>
          <p:cNvPr id="4" name="Rectangle 6"/>
          <p:cNvSpPr>
            <a:spLocks noChangeArrowheads="1"/>
          </p:cNvSpPr>
          <p:nvPr/>
        </p:nvSpPr>
        <p:spPr bwMode="auto">
          <a:xfrm>
            <a:off x="803275" y="981075"/>
            <a:ext cx="7731125" cy="471488"/>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lIns="90479" tIns="44446" rIns="90479" bIns="44446"/>
          <a:lstStyle/>
          <a:p>
            <a:pPr algn="ctr">
              <a:tabLst>
                <a:tab pos="3597275" algn="ctr"/>
              </a:tabLst>
            </a:pPr>
            <a:r>
              <a:rPr lang="en-US" altLang="en-US" sz="2000" b="1" dirty="0" smtClean="0">
                <a:solidFill>
                  <a:schemeClr val="bg2"/>
                </a:solidFill>
                <a:latin typeface="Verdana" pitchFamily="34" charset="0"/>
                <a:ea typeface="Verdana" pitchFamily="34" charset="0"/>
                <a:cs typeface="Verdana" pitchFamily="34" charset="0"/>
              </a:rPr>
              <a:t>SAP ECC Reports                   SAP BI Reports</a:t>
            </a:r>
          </a:p>
        </p:txBody>
      </p:sp>
      <p:sp>
        <p:nvSpPr>
          <p:cNvPr id="5" name="Rectangle 4"/>
          <p:cNvSpPr>
            <a:spLocks noChangeArrowheads="1"/>
          </p:cNvSpPr>
          <p:nvPr/>
        </p:nvSpPr>
        <p:spPr bwMode="auto">
          <a:xfrm>
            <a:off x="1228725" y="1219200"/>
            <a:ext cx="319087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342900" indent="-342900">
              <a:spcBef>
                <a:spcPct val="20000"/>
              </a:spcBef>
              <a:buFontTx/>
              <a:buChar char="•"/>
            </a:pPr>
            <a:endParaRPr lang="en-US" dirty="0" smtClean="0">
              <a:solidFill>
                <a:schemeClr val="bg2"/>
              </a:solidFill>
              <a:latin typeface="Verdana" pitchFamily="34" charset="0"/>
              <a:ea typeface="Verdana" pitchFamily="34" charset="0"/>
              <a:cs typeface="Verdana" pitchFamily="34" charset="0"/>
            </a:endParaRPr>
          </a:p>
          <a:p>
            <a:pPr marL="342900" indent="-342900">
              <a:spcBef>
                <a:spcPct val="2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Contain data from across modules of SAP ECC and SRM</a:t>
            </a:r>
          </a:p>
          <a:p>
            <a:pPr marL="342900" indent="-342900">
              <a:spcBef>
                <a:spcPct val="20000"/>
              </a:spcBef>
              <a:buFontTx/>
              <a:buChar char="•"/>
            </a:pPr>
            <a:endParaRPr lang="en-US" dirty="0" smtClean="0">
              <a:solidFill>
                <a:schemeClr val="accent4">
                  <a:lumMod val="10000"/>
                </a:schemeClr>
              </a:solidFill>
              <a:latin typeface="Verdana" pitchFamily="34" charset="0"/>
              <a:ea typeface="Verdana" pitchFamily="34" charset="0"/>
              <a:cs typeface="Verdana" pitchFamily="34" charset="0"/>
            </a:endParaRPr>
          </a:p>
          <a:p>
            <a:pPr marL="342900" indent="-342900">
              <a:spcBef>
                <a:spcPct val="20000"/>
              </a:spcBef>
              <a:buFontTx/>
              <a:buChar char="•"/>
            </a:pPr>
            <a:endParaRPr lang="en-US" dirty="0" smtClean="0">
              <a:solidFill>
                <a:schemeClr val="accent4">
                  <a:lumMod val="10000"/>
                </a:schemeClr>
              </a:solidFill>
              <a:latin typeface="Verdana" pitchFamily="34" charset="0"/>
              <a:ea typeface="Verdana" pitchFamily="34" charset="0"/>
              <a:cs typeface="Verdana" pitchFamily="34" charset="0"/>
            </a:endParaRPr>
          </a:p>
          <a:p>
            <a:pPr marL="342900" indent="-342900">
              <a:spcBef>
                <a:spcPct val="2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Contain transaction level data</a:t>
            </a:r>
          </a:p>
          <a:p>
            <a:pPr marL="342900" indent="-342900">
              <a:spcBef>
                <a:spcPct val="20000"/>
              </a:spcBef>
              <a:buFontTx/>
              <a:buChar char="•"/>
            </a:pPr>
            <a:endParaRPr lang="en-US" dirty="0" smtClean="0">
              <a:solidFill>
                <a:schemeClr val="accent4">
                  <a:lumMod val="10000"/>
                </a:schemeClr>
              </a:solidFill>
              <a:latin typeface="Verdana" pitchFamily="34" charset="0"/>
              <a:ea typeface="Verdana" pitchFamily="34" charset="0"/>
              <a:cs typeface="Verdana" pitchFamily="34" charset="0"/>
            </a:endParaRPr>
          </a:p>
          <a:p>
            <a:pPr marL="342900" indent="-342900">
              <a:spcBef>
                <a:spcPct val="2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Contain line item details</a:t>
            </a:r>
            <a:endParaRPr lang="en-US" altLang="en-US" dirty="0" smtClean="0">
              <a:solidFill>
                <a:schemeClr val="accent4">
                  <a:lumMod val="10000"/>
                </a:schemeClr>
              </a:solidFill>
              <a:latin typeface="Verdana" pitchFamily="34" charset="0"/>
              <a:ea typeface="Verdana" pitchFamily="34" charset="0"/>
              <a:cs typeface="Verdana" pitchFamily="34" charset="0"/>
            </a:endParaRPr>
          </a:p>
          <a:p>
            <a:pPr marL="342900" indent="-342900">
              <a:spcBef>
                <a:spcPct val="20000"/>
              </a:spcBef>
              <a:buFontTx/>
              <a:buChar char="•"/>
            </a:pPr>
            <a:endParaRPr lang="en-US" dirty="0" smtClean="0">
              <a:solidFill>
                <a:schemeClr val="accent4">
                  <a:lumMod val="10000"/>
                </a:schemeClr>
              </a:solidFill>
              <a:latin typeface="Verdana" pitchFamily="34" charset="0"/>
              <a:ea typeface="Verdana" pitchFamily="34" charset="0"/>
              <a:cs typeface="Verdana" pitchFamily="34" charset="0"/>
            </a:endParaRPr>
          </a:p>
          <a:p>
            <a:pPr marL="342900" indent="-342900">
              <a:spcBef>
                <a:spcPct val="2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Contain real-time data that is up-to-date at any given time </a:t>
            </a:r>
          </a:p>
          <a:p>
            <a:pPr marL="342900" indent="-342900">
              <a:spcBef>
                <a:spcPct val="20000"/>
              </a:spcBef>
              <a:buFontTx/>
              <a:buChar char="•"/>
            </a:pPr>
            <a:endParaRPr lang="en-US" altLang="en-US" dirty="0" smtClean="0">
              <a:solidFill>
                <a:schemeClr val="bg2"/>
              </a:solidFill>
              <a:latin typeface="Verdana" pitchFamily="34" charset="0"/>
              <a:ea typeface="Verdana" pitchFamily="34" charset="0"/>
              <a:cs typeface="Verdana" pitchFamily="34" charset="0"/>
            </a:endParaRPr>
          </a:p>
        </p:txBody>
      </p:sp>
      <p:sp>
        <p:nvSpPr>
          <p:cNvPr id="6" name="Rectangle 5"/>
          <p:cNvSpPr>
            <a:spLocks noChangeArrowheads="1"/>
          </p:cNvSpPr>
          <p:nvPr/>
        </p:nvSpPr>
        <p:spPr bwMode="auto">
          <a:xfrm>
            <a:off x="4800600" y="1219200"/>
            <a:ext cx="37338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342900" indent="-342900">
              <a:spcBef>
                <a:spcPct val="20000"/>
              </a:spcBef>
              <a:buFontTx/>
              <a:buChar char="•"/>
            </a:pPr>
            <a:endParaRPr lang="en-US" altLang="en-US" dirty="0" smtClean="0">
              <a:solidFill>
                <a:schemeClr val="bg2"/>
              </a:solidFill>
              <a:latin typeface="Verdana" pitchFamily="34" charset="0"/>
              <a:ea typeface="Verdana" pitchFamily="34" charset="0"/>
              <a:cs typeface="Verdana" pitchFamily="34" charset="0"/>
            </a:endParaRPr>
          </a:p>
          <a:p>
            <a:pPr marL="342900" indent="-342900">
              <a:spcBef>
                <a:spcPct val="2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Contain data from across modules of SAP ECC and SRM, as well as from non-SAP data sources</a:t>
            </a:r>
          </a:p>
          <a:p>
            <a:pPr marL="342900" indent="-342900">
              <a:spcBef>
                <a:spcPct val="20000"/>
              </a:spcBef>
              <a:buFontTx/>
              <a:buChar char="•"/>
            </a:pPr>
            <a:endParaRPr lang="en-US" dirty="0" smtClean="0">
              <a:solidFill>
                <a:schemeClr val="accent4">
                  <a:lumMod val="10000"/>
                </a:schemeClr>
              </a:solidFill>
              <a:latin typeface="Verdana" pitchFamily="34" charset="0"/>
              <a:ea typeface="Verdana" pitchFamily="34" charset="0"/>
              <a:cs typeface="Verdana" pitchFamily="34" charset="0"/>
            </a:endParaRPr>
          </a:p>
          <a:p>
            <a:pPr marL="342900" indent="-342900">
              <a:spcBef>
                <a:spcPct val="2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Provide data for management reporting</a:t>
            </a:r>
          </a:p>
          <a:p>
            <a:pPr marL="342900" indent="-342900">
              <a:spcBef>
                <a:spcPct val="20000"/>
              </a:spcBef>
              <a:buFontTx/>
              <a:buChar char="•"/>
            </a:pPr>
            <a:endParaRPr lang="en-US" dirty="0" smtClean="0">
              <a:solidFill>
                <a:schemeClr val="accent4">
                  <a:lumMod val="10000"/>
                </a:schemeClr>
              </a:solidFill>
              <a:latin typeface="Verdana" pitchFamily="34" charset="0"/>
              <a:ea typeface="Verdana" pitchFamily="34" charset="0"/>
              <a:cs typeface="Verdana" pitchFamily="34" charset="0"/>
            </a:endParaRPr>
          </a:p>
          <a:p>
            <a:pPr marL="342900" indent="-342900">
              <a:spcBef>
                <a:spcPct val="2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Contain summarized data</a:t>
            </a:r>
          </a:p>
          <a:p>
            <a:pPr marL="342900" indent="-342900">
              <a:spcBef>
                <a:spcPct val="20000"/>
              </a:spcBef>
              <a:buFontTx/>
              <a:buChar char="•"/>
            </a:pPr>
            <a:endParaRPr lang="en-US" dirty="0" smtClean="0">
              <a:solidFill>
                <a:schemeClr val="accent4">
                  <a:lumMod val="10000"/>
                </a:schemeClr>
              </a:solidFill>
              <a:latin typeface="Verdana" pitchFamily="34" charset="0"/>
              <a:ea typeface="Verdana" pitchFamily="34" charset="0"/>
              <a:cs typeface="Verdana" pitchFamily="34" charset="0"/>
            </a:endParaRPr>
          </a:p>
          <a:p>
            <a:pPr marL="342900" indent="-342900">
              <a:spcBef>
                <a:spcPct val="20000"/>
              </a:spcBef>
              <a:buFontTx/>
              <a:buChar char="•"/>
            </a:pPr>
            <a:r>
              <a:rPr lang="en-US" dirty="0" smtClean="0">
                <a:solidFill>
                  <a:schemeClr val="accent4">
                    <a:lumMod val="10000"/>
                  </a:schemeClr>
                </a:solidFill>
                <a:latin typeface="Verdana" pitchFamily="34" charset="0"/>
                <a:ea typeface="Verdana" pitchFamily="34" charset="0"/>
                <a:cs typeface="Verdana" pitchFamily="34" charset="0"/>
              </a:rPr>
              <a:t>Contain data that is extracted from SAP ECC and other programs at scheduled intervals to support period close activities</a:t>
            </a:r>
            <a:endParaRPr lang="en-US" altLang="en-US" dirty="0" smtClean="0">
              <a:solidFill>
                <a:schemeClr val="accent4">
                  <a:lumMod val="10000"/>
                </a:schemeClr>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3985224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Access an SAP ECC Report </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List of Vendor Line Items</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a:t>S_ALR_87012104</a:t>
            </a:r>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Accounting &gt; Financial Accounting &gt;</a:t>
            </a:r>
          </a:p>
          <a:p>
            <a:pPr marL="968375" lvl="3" indent="0" defTabSz="687388">
              <a:buClr>
                <a:schemeClr val="accent1"/>
              </a:buClr>
              <a:buNone/>
              <a:tabLst>
                <a:tab pos="968375" algn="l"/>
              </a:tabLst>
            </a:pPr>
            <a:r>
              <a:rPr lang="en-US" dirty="0" smtClean="0"/>
              <a:t>	Accounts Payable &gt; Information </a:t>
            </a:r>
          </a:p>
          <a:p>
            <a:pPr marL="968375" lvl="3" indent="0" defTabSz="687388">
              <a:buClr>
                <a:schemeClr val="accent1"/>
              </a:buClr>
              <a:buNone/>
            </a:pPr>
            <a:r>
              <a:rPr lang="en-US" dirty="0" smtClean="0"/>
              <a:t>System &gt; Reports for Accounts </a:t>
            </a:r>
          </a:p>
          <a:p>
            <a:pPr marL="968375" lvl="3" indent="0" defTabSz="687388">
              <a:buClr>
                <a:schemeClr val="accent1"/>
              </a:buClr>
              <a:buNone/>
            </a:pPr>
            <a:r>
              <a:rPr lang="en-US" dirty="0" smtClean="0"/>
              <a:t>Payable Accounting &gt; Vendors: Items</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107</a:t>
            </a:fld>
            <a:endParaRPr lang="en-US" dirty="0">
              <a:solidFill>
                <a:schemeClr val="bg2"/>
              </a:solidFill>
            </a:endParaRPr>
          </a:p>
        </p:txBody>
      </p:sp>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4800" y="914401"/>
            <a:ext cx="8537575" cy="4343399"/>
          </a:xfrm>
        </p:spPr>
        <p:txBody>
          <a:bodyPr/>
          <a:lstStyle/>
          <a:p>
            <a:r>
              <a:rPr lang="en-US" b="1" dirty="0" smtClean="0"/>
              <a:t>Scenario:</a:t>
            </a:r>
          </a:p>
          <a:p>
            <a:pPr lvl="1">
              <a:tabLst>
                <a:tab pos="2514600" algn="l"/>
              </a:tabLst>
            </a:pPr>
            <a:r>
              <a:rPr lang="en-US" dirty="0">
                <a:solidFill>
                  <a:schemeClr val="accent4">
                    <a:lumMod val="10000"/>
                  </a:schemeClr>
                </a:solidFill>
                <a:effectLst/>
              </a:rPr>
              <a:t>You have logged on to SAP. You need to run a report that displays invoices that have been cleared for selected </a:t>
            </a:r>
            <a:r>
              <a:rPr lang="en-US" dirty="0" smtClean="0">
                <a:solidFill>
                  <a:schemeClr val="accent4">
                    <a:lumMod val="10000"/>
                  </a:schemeClr>
                </a:solidFill>
                <a:effectLst/>
              </a:rPr>
              <a:t>vendors</a:t>
            </a: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Use the SAP menu tabs to find the </a:t>
            </a:r>
            <a:r>
              <a:rPr lang="en-US" b="1" dirty="0">
                <a:solidFill>
                  <a:schemeClr val="accent4">
                    <a:lumMod val="10000"/>
                  </a:schemeClr>
                </a:solidFill>
                <a:effectLst/>
              </a:rPr>
              <a:t>S_ALR_ 87012104 List of Vendor Line Item</a:t>
            </a:r>
            <a:r>
              <a:rPr lang="en-US" dirty="0">
                <a:solidFill>
                  <a:schemeClr val="accent4">
                    <a:lumMod val="10000"/>
                  </a:schemeClr>
                </a:solidFill>
                <a:effectLst/>
              </a:rPr>
              <a:t> report that allows you to view cleared line items by </a:t>
            </a:r>
            <a:r>
              <a:rPr lang="en-US" dirty="0" smtClean="0">
                <a:solidFill>
                  <a:schemeClr val="accent4">
                    <a:lumMod val="10000"/>
                  </a:schemeClr>
                </a:solidFill>
                <a:effectLst/>
              </a:rPr>
              <a:t>vendor</a:t>
            </a: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wish to move to transaction </a:t>
            </a:r>
            <a:r>
              <a:rPr lang="en-US" b="1" dirty="0" smtClean="0">
                <a:solidFill>
                  <a:schemeClr val="accent4">
                    <a:lumMod val="10000"/>
                  </a:schemeClr>
                </a:solidFill>
                <a:effectLst/>
              </a:rPr>
              <a:t>FBL1N </a:t>
            </a:r>
            <a:r>
              <a:rPr lang="en-US" b="1" dirty="0">
                <a:solidFill>
                  <a:schemeClr val="accent4">
                    <a:lumMod val="10000"/>
                  </a:schemeClr>
                </a:solidFill>
                <a:effectLst/>
              </a:rPr>
              <a:t>Vendor Line Item Display</a:t>
            </a:r>
            <a:r>
              <a:rPr lang="en-US" dirty="0">
                <a:solidFill>
                  <a:schemeClr val="accent4">
                    <a:lumMod val="10000"/>
                  </a:schemeClr>
                </a:solidFill>
                <a:effectLst/>
              </a:rPr>
              <a:t>.</a:t>
            </a:r>
          </a:p>
          <a:p>
            <a:pPr lvl="1">
              <a:tabLst>
                <a:tab pos="2514600" algn="l"/>
              </a:tabLst>
            </a:pPr>
            <a:endParaRPr lang="en-US" dirty="0">
              <a:solidFill>
                <a:schemeClr val="accent4">
                  <a:lumMod val="10000"/>
                </a:schemeClr>
              </a:solidFill>
            </a:endParaRPr>
          </a:p>
          <a:p>
            <a:endParaRPr lang="en-US" dirty="0"/>
          </a:p>
          <a:p>
            <a:r>
              <a:rPr lang="en-US" b="1" dirty="0" smtClean="0"/>
              <a:t>Exercise: 5.1 Access an SAP ECC Report</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7177207" y="4572000"/>
            <a:ext cx="1966793" cy="2133600"/>
          </a:xfrm>
          <a:prstGeom prst="rect">
            <a:avLst/>
          </a:prstGeom>
          <a:noFill/>
        </p:spPr>
      </p:pic>
    </p:spTree>
    <p:extLst>
      <p:ext uri="{BB962C8B-B14F-4D97-AF65-F5344CB8AC3E}">
        <p14:creationId xmlns:p14="http://schemas.microsoft.com/office/powerpoint/2010/main" val="2428967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True or False - SAP ECC reports provide real-time data, including from external applications.</a:t>
            </a:r>
          </a:p>
          <a:p>
            <a:pPr marL="457200" indent="-457200">
              <a:buClrTx/>
              <a:buFont typeface="+mj-lt"/>
              <a:buAutoNum type="arabicPeriod"/>
            </a:pPr>
            <a:r>
              <a:rPr lang="en-US" dirty="0" smtClean="0"/>
              <a:t>Dashboard reports aggregate data from what source?</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109</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3998558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 Selection Criteria</a:t>
            </a:r>
            <a:endParaRPr lang="en-US" dirty="0"/>
          </a:p>
        </p:txBody>
      </p:sp>
      <p:sp>
        <p:nvSpPr>
          <p:cNvPr id="3" name="Content Placeholder 2"/>
          <p:cNvSpPr>
            <a:spLocks noGrp="1"/>
          </p:cNvSpPr>
          <p:nvPr>
            <p:ph idx="1"/>
          </p:nvPr>
        </p:nvSpPr>
        <p:spPr/>
        <p:txBody>
          <a:bodyPr/>
          <a:lstStyle/>
          <a:p>
            <a:r>
              <a:rPr lang="en-US" dirty="0">
                <a:solidFill>
                  <a:schemeClr val="accent3">
                    <a:lumMod val="10000"/>
                  </a:schemeClr>
                </a:solidFill>
              </a:rPr>
              <a:t>Once you select the report that you want to run, you will need to define the type and amount of information you want to be displayed in the report:</a:t>
            </a:r>
          </a:p>
          <a:p>
            <a:pPr lvl="1"/>
            <a:r>
              <a:rPr lang="en-US" b="1" dirty="0">
                <a:solidFill>
                  <a:schemeClr val="accent3">
                    <a:lumMod val="10000"/>
                  </a:schemeClr>
                </a:solidFill>
              </a:rPr>
              <a:t>Selection criteria</a:t>
            </a:r>
            <a:r>
              <a:rPr lang="en-US" dirty="0">
                <a:solidFill>
                  <a:schemeClr val="accent3">
                    <a:lumMod val="10000"/>
                  </a:schemeClr>
                </a:solidFill>
              </a:rPr>
              <a:t> are fields that you can use to enter values for retrieving data for the report</a:t>
            </a:r>
          </a:p>
          <a:p>
            <a:pPr lvl="1"/>
            <a:r>
              <a:rPr lang="en-US" dirty="0">
                <a:solidFill>
                  <a:schemeClr val="accent3">
                    <a:lumMod val="10000"/>
                  </a:schemeClr>
                </a:solidFill>
              </a:rPr>
              <a:t>Selection criteria fields will vary depending upon the report you select</a:t>
            </a:r>
          </a:p>
          <a:p>
            <a:pPr lvl="1"/>
            <a:r>
              <a:rPr lang="en-US" dirty="0">
                <a:solidFill>
                  <a:schemeClr val="accent3">
                    <a:lumMod val="10000"/>
                  </a:schemeClr>
                </a:solidFill>
              </a:rPr>
              <a:t>Only data that matches the selection criteria will be displayed in the report</a:t>
            </a:r>
          </a:p>
          <a:p>
            <a:endParaRPr lang="en-US" i="1" dirty="0">
              <a:solidFill>
                <a:schemeClr val="accent3">
                  <a:lumMod val="10000"/>
                </a:schemeClr>
              </a:solidFill>
            </a:endParaRPr>
          </a:p>
          <a:p>
            <a:endParaRPr lang="en-US" dirty="0">
              <a:solidFill>
                <a:schemeClr val="accent3">
                  <a:lumMod val="10000"/>
                </a:schemeClr>
              </a:solidFill>
            </a:endParaRPr>
          </a:p>
        </p:txBody>
      </p:sp>
      <p:sp>
        <p:nvSpPr>
          <p:cNvPr id="5" name="Text Box 26"/>
          <p:cNvSpPr txBox="1">
            <a:spLocks noChangeArrowheads="1"/>
          </p:cNvSpPr>
          <p:nvPr/>
        </p:nvSpPr>
        <p:spPr bwMode="auto">
          <a:xfrm>
            <a:off x="685800" y="5876092"/>
            <a:ext cx="7696200" cy="707886"/>
          </a:xfrm>
          <a:prstGeom prst="rect">
            <a:avLst/>
          </a:prstGeom>
          <a:solidFill>
            <a:srgbClr val="002E6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eaLnBrk="1" hangingPunct="1">
              <a:spcBef>
                <a:spcPct val="50000"/>
              </a:spcBef>
            </a:pPr>
            <a:r>
              <a:rPr lang="en-US" sz="2000" dirty="0" smtClean="0">
                <a:solidFill>
                  <a:schemeClr val="tx1"/>
                </a:solidFill>
                <a:latin typeface="Verdana" pitchFamily="34" charset="0"/>
                <a:ea typeface="Verdana" pitchFamily="34" charset="0"/>
                <a:cs typeface="Verdana" pitchFamily="34" charset="0"/>
              </a:rPr>
              <a:t>Selection criteria field options will change depending on the report you are generating</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191000"/>
            <a:ext cx="7239000" cy="1666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79266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981200"/>
            <a:ext cx="7239000" cy="1666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smtClean="0"/>
              <a:t>Using the Multiple Selection Option</a:t>
            </a:r>
            <a:endParaRPr lang="en-US" dirty="0"/>
          </a:p>
        </p:txBody>
      </p:sp>
      <p:sp>
        <p:nvSpPr>
          <p:cNvPr id="4" name="Content Placeholder 3"/>
          <p:cNvSpPr>
            <a:spLocks noGrp="1"/>
          </p:cNvSpPr>
          <p:nvPr>
            <p:ph idx="1"/>
          </p:nvPr>
        </p:nvSpPr>
        <p:spPr>
          <a:xfrm>
            <a:off x="301625" y="990600"/>
            <a:ext cx="8537575" cy="5135563"/>
          </a:xfrm>
        </p:spPr>
        <p:txBody>
          <a:bodyPr/>
          <a:lstStyle/>
          <a:p>
            <a:r>
              <a:rPr lang="en-US" dirty="0">
                <a:solidFill>
                  <a:schemeClr val="accent4">
                    <a:lumMod val="10000"/>
                  </a:schemeClr>
                </a:solidFill>
              </a:rPr>
              <a:t>One of the reporting tools used to produce very specific report results is the </a:t>
            </a:r>
            <a:r>
              <a:rPr lang="en-US" b="1" dirty="0">
                <a:solidFill>
                  <a:schemeClr val="accent4">
                    <a:lumMod val="10000"/>
                  </a:schemeClr>
                </a:solidFill>
              </a:rPr>
              <a:t>Multiple Selection</a:t>
            </a:r>
            <a:r>
              <a:rPr lang="en-US" dirty="0">
                <a:solidFill>
                  <a:schemeClr val="accent4">
                    <a:lumMod val="10000"/>
                  </a:schemeClr>
                </a:solidFill>
              </a:rPr>
              <a:t>     </a:t>
            </a:r>
            <a:r>
              <a:rPr lang="en-US" dirty="0" smtClean="0">
                <a:solidFill>
                  <a:schemeClr val="accent4">
                    <a:lumMod val="10000"/>
                  </a:schemeClr>
                </a:solidFill>
              </a:rPr>
              <a:t>button.</a:t>
            </a:r>
            <a:endParaRPr lang="en-US" dirty="0">
              <a:solidFill>
                <a:schemeClr val="accent4">
                  <a:lumMod val="10000"/>
                </a:schemeClr>
              </a:solidFill>
            </a:endParaRPr>
          </a:p>
          <a:p>
            <a:endParaRPr lang="en-US" dirty="0">
              <a:solidFill>
                <a:schemeClr val="accent4">
                  <a:lumMod val="10000"/>
                </a:schemeClr>
              </a:solidFill>
            </a:endParaRPr>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111</a:t>
            </a:fld>
            <a:endParaRPr lang="en-US" altLang="en-US"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395412"/>
            <a:ext cx="376238" cy="20478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bwMode="auto">
          <a:xfrm>
            <a:off x="7467600" y="2971800"/>
            <a:ext cx="457200" cy="533400"/>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8" name="Rectangular Callout 7"/>
          <p:cNvSpPr/>
          <p:nvPr/>
        </p:nvSpPr>
        <p:spPr bwMode="auto">
          <a:xfrm>
            <a:off x="679477" y="4419600"/>
            <a:ext cx="8313683" cy="2211385"/>
          </a:xfrm>
          <a:prstGeom prst="wedgeRectCallout">
            <a:avLst>
              <a:gd name="adj1" fmla="val 32628"/>
              <a:gd name="adj2" fmla="val -87846"/>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600" dirty="0">
                <a:solidFill>
                  <a:srgbClr val="000000"/>
                </a:solidFill>
                <a:latin typeface="Arial" pitchFamily="34" charset="0"/>
                <a:ea typeface="Verdana" pitchFamily="34" charset="0"/>
                <a:cs typeface="Arial" pitchFamily="34" charset="0"/>
              </a:rPr>
              <a:t>The </a:t>
            </a:r>
            <a:r>
              <a:rPr lang="en-US" sz="1600" b="1" dirty="0">
                <a:solidFill>
                  <a:srgbClr val="000000"/>
                </a:solidFill>
                <a:latin typeface="Arial" pitchFamily="34" charset="0"/>
                <a:ea typeface="Verdana" pitchFamily="34" charset="0"/>
                <a:cs typeface="Arial" pitchFamily="34" charset="0"/>
              </a:rPr>
              <a:t>Multiple Selection </a:t>
            </a:r>
            <a:r>
              <a:rPr lang="en-US" sz="1600" dirty="0">
                <a:solidFill>
                  <a:srgbClr val="000000"/>
                </a:solidFill>
                <a:latin typeface="Arial" pitchFamily="34" charset="0"/>
                <a:ea typeface="Verdana" pitchFamily="34" charset="0"/>
                <a:cs typeface="Arial" pitchFamily="34" charset="0"/>
              </a:rPr>
              <a:t>button allows you to enter very specific selection criteria to narrow the report results</a:t>
            </a:r>
          </a:p>
          <a:p>
            <a:pPr marL="285750" indent="-285750" defTabSz="954088">
              <a:spcAft>
                <a:spcPts val="600"/>
              </a:spcAft>
              <a:buFont typeface="Arial" pitchFamily="34" charset="0"/>
              <a:buChar char="•"/>
            </a:pPr>
            <a:r>
              <a:rPr lang="en-US" sz="1600" dirty="0">
                <a:solidFill>
                  <a:srgbClr val="000000"/>
                </a:solidFill>
                <a:latin typeface="Arial" pitchFamily="34" charset="0"/>
                <a:ea typeface="Verdana" pitchFamily="34" charset="0"/>
                <a:cs typeface="Arial" pitchFamily="34" charset="0"/>
              </a:rPr>
              <a:t>Only use the multiple selection tools when you have a clear understanding of the data because the advanced selection tools are so specific that all criteria must be true to generate report results</a:t>
            </a:r>
          </a:p>
          <a:p>
            <a:pPr marL="285750" indent="-285750" defTabSz="954088">
              <a:spcAft>
                <a:spcPts val="600"/>
              </a:spcAft>
              <a:buFont typeface="Arial" pitchFamily="34" charset="0"/>
              <a:buChar char="•"/>
            </a:pPr>
            <a:r>
              <a:rPr lang="en-US" sz="1600" dirty="0">
                <a:solidFill>
                  <a:srgbClr val="000000"/>
                </a:solidFill>
                <a:latin typeface="Arial" pitchFamily="34" charset="0"/>
                <a:ea typeface="Verdana" pitchFamily="34" charset="0"/>
                <a:cs typeface="Arial" pitchFamily="34" charset="0"/>
              </a:rPr>
              <a:t>In the Multiple Selection Criteria tabs you may include, exclude, or add operators to your specific selections</a:t>
            </a:r>
          </a:p>
        </p:txBody>
      </p:sp>
    </p:spTree>
    <p:extLst>
      <p:ext uri="{BB962C8B-B14F-4D97-AF65-F5344CB8AC3E}">
        <p14:creationId xmlns:p14="http://schemas.microsoft.com/office/powerpoint/2010/main" val="8806061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en-US" smtClean="0"/>
              <a:t>Multiple Selection Buttons</a:t>
            </a:r>
          </a:p>
        </p:txBody>
      </p:sp>
      <p:sp>
        <p:nvSpPr>
          <p:cNvPr id="446467" name="Rectangle 3"/>
          <p:cNvSpPr>
            <a:spLocks noGrp="1" noChangeArrowheads="1"/>
          </p:cNvSpPr>
          <p:nvPr>
            <p:ph idx="1"/>
          </p:nvPr>
        </p:nvSpPr>
        <p:spPr/>
        <p:txBody>
          <a:bodyPr/>
          <a:lstStyle/>
          <a:p>
            <a:r>
              <a:rPr lang="en-US" dirty="0" smtClean="0">
                <a:solidFill>
                  <a:schemeClr val="accent4">
                    <a:lumMod val="10000"/>
                  </a:schemeClr>
                </a:solidFill>
              </a:rPr>
              <a:t>There are a four tabs and a number of buttons on the </a:t>
            </a:r>
            <a:r>
              <a:rPr lang="en-US" b="1" dirty="0" smtClean="0">
                <a:solidFill>
                  <a:schemeClr val="accent4">
                    <a:lumMod val="10000"/>
                  </a:schemeClr>
                </a:solidFill>
              </a:rPr>
              <a:t>Multiple Selection</a:t>
            </a:r>
            <a:r>
              <a:rPr lang="en-US" dirty="0" smtClean="0">
                <a:solidFill>
                  <a:schemeClr val="accent4">
                    <a:lumMod val="10000"/>
                  </a:schemeClr>
                </a:solidFill>
              </a:rPr>
              <a:t> dialog box to provide additional functionality.</a:t>
            </a:r>
          </a:p>
        </p:txBody>
      </p:sp>
      <p:pic>
        <p:nvPicPr>
          <p:cNvPr id="4464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057400"/>
            <a:ext cx="7315200" cy="29178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Lst>
        </p:spPr>
      </p:pic>
      <p:sp>
        <p:nvSpPr>
          <p:cNvPr id="446493" name="Rectangle 29"/>
          <p:cNvSpPr>
            <a:spLocks noChangeArrowheads="1"/>
          </p:cNvSpPr>
          <p:nvPr/>
        </p:nvSpPr>
        <p:spPr bwMode="auto">
          <a:xfrm>
            <a:off x="685800" y="5257800"/>
            <a:ext cx="8001000" cy="838200"/>
          </a:xfrm>
          <a:prstGeom prst="rect">
            <a:avLst/>
          </a:prstGeom>
          <a:solidFill>
            <a:srgbClr val="002E6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3"/>
          </a:lnRef>
          <a:fillRef idx="3">
            <a:schemeClr val="accent3"/>
          </a:fillRef>
          <a:effectRef idx="3">
            <a:schemeClr val="accent3"/>
          </a:effectRef>
          <a:fontRef idx="minor">
            <a:schemeClr val="lt1"/>
          </a:fontRef>
        </p:style>
        <p:txBody>
          <a:bodyPr anchor="ctr"/>
          <a:lstStyle/>
          <a:p>
            <a:pPr defTabSz="954088">
              <a:lnSpc>
                <a:spcPct val="90000"/>
              </a:lnSpc>
              <a:spcBef>
                <a:spcPct val="15000"/>
              </a:spcBef>
              <a:spcAft>
                <a:spcPct val="15000"/>
              </a:spcAft>
              <a:buFont typeface="Times" pitchFamily="18" charset="0"/>
              <a:buNone/>
            </a:pPr>
            <a:r>
              <a:rPr lang="en-US" sz="2000" dirty="0" smtClean="0">
                <a:solidFill>
                  <a:schemeClr val="tx1"/>
                </a:solidFill>
                <a:latin typeface="Verdana" pitchFamily="34" charset="0"/>
                <a:ea typeface="Verdana" pitchFamily="34" charset="0"/>
                <a:cs typeface="Verdana" pitchFamily="34" charset="0"/>
              </a:rPr>
              <a:t>Mix and match these multiple selection options to produce a complex and very specific search for report or query data.</a:t>
            </a:r>
          </a:p>
        </p:txBody>
      </p:sp>
      <p:sp>
        <p:nvSpPr>
          <p:cNvPr id="2" name="Rectangle 1"/>
          <p:cNvSpPr/>
          <p:nvPr/>
        </p:nvSpPr>
        <p:spPr bwMode="auto">
          <a:xfrm>
            <a:off x="1219200" y="2041634"/>
            <a:ext cx="7162800" cy="381000"/>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167975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619500"/>
            <a:ext cx="563880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374055"/>
            <a:ext cx="5295900" cy="143594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3042" name="Rectangle 2"/>
          <p:cNvSpPr>
            <a:spLocks noGrp="1" noChangeArrowheads="1"/>
          </p:cNvSpPr>
          <p:nvPr>
            <p:ph type="title"/>
          </p:nvPr>
        </p:nvSpPr>
        <p:spPr/>
        <p:txBody>
          <a:bodyPr/>
          <a:lstStyle/>
          <a:p>
            <a:r>
              <a:rPr lang="en-US" smtClean="0"/>
              <a:t>Specify Additional Selection Criteria</a:t>
            </a:r>
          </a:p>
        </p:txBody>
      </p:sp>
      <p:sp>
        <p:nvSpPr>
          <p:cNvPr id="343043" name="Rectangle 3"/>
          <p:cNvSpPr>
            <a:spLocks noGrp="1" noChangeArrowheads="1"/>
          </p:cNvSpPr>
          <p:nvPr>
            <p:ph idx="1"/>
          </p:nvPr>
        </p:nvSpPr>
        <p:spPr>
          <a:xfrm>
            <a:off x="304800" y="1012081"/>
            <a:ext cx="8537575" cy="5135563"/>
          </a:xfrm>
        </p:spPr>
        <p:txBody>
          <a:bodyPr/>
          <a:lstStyle/>
          <a:p>
            <a:r>
              <a:rPr lang="en-US" dirty="0" smtClean="0"/>
              <a:t>In addition to the selection criteria that are displayed on the screen, some reports allow you to specify additional fields that you can use as selection criteria via the </a:t>
            </a:r>
            <a:r>
              <a:rPr lang="en-US" b="1" dirty="0" smtClean="0">
                <a:solidFill>
                  <a:schemeClr val="accent4">
                    <a:lumMod val="10000"/>
                  </a:schemeClr>
                </a:solidFill>
              </a:rPr>
              <a:t>Dynamic Selection</a:t>
            </a:r>
            <a:r>
              <a:rPr lang="en-US" dirty="0" smtClean="0"/>
              <a:t> option.</a:t>
            </a:r>
          </a:p>
        </p:txBody>
      </p:sp>
      <p:sp>
        <p:nvSpPr>
          <p:cNvPr id="343061" name="AutoShape 21"/>
          <p:cNvSpPr>
            <a:spLocks noChangeArrowheads="1"/>
          </p:cNvSpPr>
          <p:nvPr/>
        </p:nvSpPr>
        <p:spPr bwMode="auto">
          <a:xfrm>
            <a:off x="1295400" y="3633787"/>
            <a:ext cx="5638800" cy="2362200"/>
          </a:xfrm>
          <a:prstGeom prst="wedgeRectCallout">
            <a:avLst>
              <a:gd name="adj1" fmla="val -37231"/>
              <a:gd name="adj2" fmla="val -80287"/>
            </a:avLst>
          </a:prstGeom>
          <a:noFill/>
          <a:ln w="38100">
            <a:solidFill>
              <a:srgbClr val="FF0000"/>
            </a:solidFill>
            <a:prstDash val="dash"/>
            <a:miter lim="800000"/>
            <a:headEnd/>
            <a:tailEnd/>
          </a:ln>
          <a:effectLst/>
          <a:extLst/>
        </p:spPr>
        <p:txBody>
          <a:bodyPr/>
          <a:lstStyle/>
          <a:p>
            <a:pPr algn="ctr" eaLnBrk="1" hangingPunct="1"/>
            <a:endParaRPr lang="en-US" smtClean="0">
              <a:solidFill>
                <a:schemeClr val="accent4">
                  <a:lumMod val="10000"/>
                </a:schemeClr>
              </a:solidFill>
              <a:cs typeface="Arial" charset="0"/>
            </a:endParaRPr>
          </a:p>
        </p:txBody>
      </p:sp>
      <p:sp>
        <p:nvSpPr>
          <p:cNvPr id="343062" name="Rectangle 22"/>
          <p:cNvSpPr>
            <a:spLocks noChangeArrowheads="1"/>
          </p:cNvSpPr>
          <p:nvPr/>
        </p:nvSpPr>
        <p:spPr bwMode="auto">
          <a:xfrm>
            <a:off x="1752600" y="2678855"/>
            <a:ext cx="304800" cy="230187"/>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chemeClr val="accent4">
                  <a:lumMod val="10000"/>
                </a:schemeClr>
              </a:solidFill>
              <a:cs typeface="Arial" charset="0"/>
            </a:endParaRPr>
          </a:p>
        </p:txBody>
      </p:sp>
      <p:sp>
        <p:nvSpPr>
          <p:cNvPr id="343066" name="Text Box 26"/>
          <p:cNvSpPr txBox="1">
            <a:spLocks noChangeArrowheads="1"/>
          </p:cNvSpPr>
          <p:nvPr/>
        </p:nvSpPr>
        <p:spPr bwMode="auto">
          <a:xfrm>
            <a:off x="6692900" y="2668587"/>
            <a:ext cx="2222500" cy="10795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Click    on </a:t>
            </a:r>
            <a:r>
              <a:rPr lang="en-US" dirty="0"/>
              <a:t>the initial screen to display the Dynamic Selections </a:t>
            </a:r>
          </a:p>
        </p:txBody>
      </p:sp>
      <p:sp>
        <p:nvSpPr>
          <p:cNvPr id="343072" name="Rectangle 32"/>
          <p:cNvSpPr>
            <a:spLocks noChangeArrowheads="1"/>
          </p:cNvSpPr>
          <p:nvPr/>
        </p:nvSpPr>
        <p:spPr bwMode="auto">
          <a:xfrm>
            <a:off x="1524000" y="4648200"/>
            <a:ext cx="1981200" cy="3810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chemeClr val="accent4">
                  <a:lumMod val="10000"/>
                </a:schemeClr>
              </a:solidFill>
              <a:cs typeface="Arial" charset="0"/>
            </a:endParaRPr>
          </a:p>
        </p:txBody>
      </p:sp>
      <p:sp>
        <p:nvSpPr>
          <p:cNvPr id="343073" name="Line 33"/>
          <p:cNvSpPr>
            <a:spLocks noChangeShapeType="1"/>
          </p:cNvSpPr>
          <p:nvPr/>
        </p:nvSpPr>
        <p:spPr bwMode="auto">
          <a:xfrm flipV="1">
            <a:off x="2514600" y="5029199"/>
            <a:ext cx="0" cy="230187"/>
          </a:xfrm>
          <a:prstGeom prst="line">
            <a:avLst/>
          </a:prstGeom>
          <a:noFill/>
          <a:ln w="9525">
            <a:solidFill>
              <a:schemeClr val="folHlink"/>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sp>
        <p:nvSpPr>
          <p:cNvPr id="343074" name="Text Box 34"/>
          <p:cNvSpPr txBox="1">
            <a:spLocks noChangeArrowheads="1"/>
          </p:cNvSpPr>
          <p:nvPr/>
        </p:nvSpPr>
        <p:spPr bwMode="auto">
          <a:xfrm>
            <a:off x="7086600" y="4191000"/>
            <a:ext cx="1828800" cy="156845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The selected field(s) will appear on the screen. You can now enter values in these fields.</a:t>
            </a:r>
          </a:p>
        </p:txBody>
      </p:sp>
      <p:grpSp>
        <p:nvGrpSpPr>
          <p:cNvPr id="343063" name="Group 23"/>
          <p:cNvGrpSpPr>
            <a:grpSpLocks/>
          </p:cNvGrpSpPr>
          <p:nvPr/>
        </p:nvGrpSpPr>
        <p:grpSpPr bwMode="auto">
          <a:xfrm>
            <a:off x="1828800" y="2315319"/>
            <a:ext cx="393700" cy="363537"/>
            <a:chOff x="4976" y="624"/>
            <a:chExt cx="200" cy="176"/>
          </a:xfrm>
        </p:grpSpPr>
        <p:sp>
          <p:nvSpPr>
            <p:cNvPr id="343064" name="Oval 24"/>
            <p:cNvSpPr>
              <a:spLocks noChangeArrowheads="1"/>
            </p:cNvSpPr>
            <p:nvPr/>
          </p:nvSpPr>
          <p:spPr bwMode="auto">
            <a:xfrm>
              <a:off x="4976" y="624"/>
              <a:ext cx="200" cy="176"/>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65" name="Text Box 25"/>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smtClean="0">
                  <a:solidFill>
                    <a:schemeClr val="accent4">
                      <a:lumMod val="10000"/>
                    </a:schemeClr>
                  </a:solidFill>
                </a:rPr>
                <a:t>1</a:t>
              </a:r>
            </a:p>
          </p:txBody>
        </p:sp>
      </p:grpSp>
      <p:sp>
        <p:nvSpPr>
          <p:cNvPr id="343081" name="Text Box 41"/>
          <p:cNvSpPr txBox="1">
            <a:spLocks noChangeArrowheads="1"/>
          </p:cNvSpPr>
          <p:nvPr/>
        </p:nvSpPr>
        <p:spPr bwMode="auto">
          <a:xfrm>
            <a:off x="4419600" y="6034087"/>
            <a:ext cx="4495800" cy="59055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Click    </a:t>
            </a:r>
            <a:r>
              <a:rPr lang="en-US" dirty="0" smtClean="0"/>
              <a:t>to </a:t>
            </a:r>
            <a:r>
              <a:rPr lang="en-US" dirty="0"/>
              <a:t>return to the initial selection screen.</a:t>
            </a:r>
          </a:p>
        </p:txBody>
      </p:sp>
      <p:grpSp>
        <p:nvGrpSpPr>
          <p:cNvPr id="343069" name="Group 29"/>
          <p:cNvGrpSpPr>
            <a:grpSpLocks/>
          </p:cNvGrpSpPr>
          <p:nvPr/>
        </p:nvGrpSpPr>
        <p:grpSpPr bwMode="auto">
          <a:xfrm>
            <a:off x="1130300" y="4725987"/>
            <a:ext cx="393700" cy="363538"/>
            <a:chOff x="4976" y="624"/>
            <a:chExt cx="200" cy="176"/>
          </a:xfrm>
        </p:grpSpPr>
        <p:sp>
          <p:nvSpPr>
            <p:cNvPr id="343070" name="Oval 30"/>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71" name="Text Box 31"/>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343068" name="Text Box 28"/>
          <p:cNvSpPr txBox="1">
            <a:spLocks noChangeArrowheads="1"/>
          </p:cNvSpPr>
          <p:nvPr/>
        </p:nvSpPr>
        <p:spPr bwMode="auto">
          <a:xfrm>
            <a:off x="457200" y="5259387"/>
            <a:ext cx="3200400" cy="1400383"/>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Double-click the field(s) you want to use as selection criteria.</a:t>
            </a:r>
          </a:p>
          <a:p>
            <a:r>
              <a:rPr lang="en-US" dirty="0"/>
              <a:t>Fields already selected are highlight in green; double-click to remove as selection criteria.</a:t>
            </a:r>
          </a:p>
        </p:txBody>
      </p:sp>
      <p:grpSp>
        <p:nvGrpSpPr>
          <p:cNvPr id="343078" name="Group 38"/>
          <p:cNvGrpSpPr>
            <a:grpSpLocks/>
          </p:cNvGrpSpPr>
          <p:nvPr/>
        </p:nvGrpSpPr>
        <p:grpSpPr bwMode="auto">
          <a:xfrm>
            <a:off x="4102100" y="5868987"/>
            <a:ext cx="393700" cy="363538"/>
            <a:chOff x="4976" y="624"/>
            <a:chExt cx="200" cy="176"/>
          </a:xfrm>
        </p:grpSpPr>
        <p:sp>
          <p:nvSpPr>
            <p:cNvPr id="343079"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80"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smtClean="0">
                  <a:solidFill>
                    <a:schemeClr val="accent4">
                      <a:lumMod val="10000"/>
                    </a:schemeClr>
                  </a:solidFill>
                </a:rPr>
                <a:t>4</a:t>
              </a:r>
            </a:p>
          </p:txBody>
        </p:sp>
      </p:grpSp>
      <p:grpSp>
        <p:nvGrpSpPr>
          <p:cNvPr id="343075" name="Group 35"/>
          <p:cNvGrpSpPr>
            <a:grpSpLocks/>
          </p:cNvGrpSpPr>
          <p:nvPr/>
        </p:nvGrpSpPr>
        <p:grpSpPr bwMode="auto">
          <a:xfrm>
            <a:off x="6705600" y="4116387"/>
            <a:ext cx="393700" cy="363538"/>
            <a:chOff x="4976" y="624"/>
            <a:chExt cx="200" cy="176"/>
          </a:xfrm>
        </p:grpSpPr>
        <p:sp>
          <p:nvSpPr>
            <p:cNvPr id="343076" name="Oval 36"/>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77" name="Text Box 37"/>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smtClean="0">
                  <a:solidFill>
                    <a:schemeClr val="accent4">
                      <a:lumMod val="10000"/>
                    </a:schemeClr>
                  </a:solidFill>
                </a:rPr>
                <a:t>3</a:t>
              </a:r>
            </a:p>
          </p:txBody>
        </p:sp>
      </p:gr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0425" y="2828925"/>
            <a:ext cx="209550"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6219824"/>
            <a:ext cx="209550"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3508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Enter Selection Criteria</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114</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smtClean="0">
                <a:solidFill>
                  <a:schemeClr val="accent4">
                    <a:lumMod val="10000"/>
                  </a:schemeClr>
                </a:solidFill>
                <a:effectLst/>
              </a:rPr>
              <a:t>You </a:t>
            </a:r>
            <a:r>
              <a:rPr lang="en-US" dirty="0">
                <a:solidFill>
                  <a:schemeClr val="accent4">
                    <a:lumMod val="10000"/>
                  </a:schemeClr>
                </a:solidFill>
                <a:effectLst/>
              </a:rPr>
              <a:t>accessed the </a:t>
            </a:r>
            <a:r>
              <a:rPr lang="en-US" b="1" dirty="0">
                <a:solidFill>
                  <a:schemeClr val="accent4">
                    <a:lumMod val="10000"/>
                  </a:schemeClr>
                </a:solidFill>
                <a:effectLst/>
              </a:rPr>
              <a:t>FBL1N</a:t>
            </a:r>
            <a:r>
              <a:rPr lang="en-US" dirty="0">
                <a:solidFill>
                  <a:schemeClr val="accent4">
                    <a:lumMod val="10000"/>
                  </a:schemeClr>
                </a:solidFill>
                <a:effectLst/>
              </a:rPr>
              <a:t> </a:t>
            </a:r>
            <a:r>
              <a:rPr lang="en-US" b="1" dirty="0">
                <a:solidFill>
                  <a:schemeClr val="accent4">
                    <a:lumMod val="10000"/>
                  </a:schemeClr>
                </a:solidFill>
                <a:effectLst/>
              </a:rPr>
              <a:t>Vendor Line Item Display</a:t>
            </a:r>
            <a:r>
              <a:rPr lang="en-US" dirty="0">
                <a:solidFill>
                  <a:schemeClr val="accent4">
                    <a:lumMod val="10000"/>
                  </a:schemeClr>
                </a:solidFill>
                <a:effectLst/>
              </a:rPr>
              <a:t> report to view open items by </a:t>
            </a:r>
            <a:r>
              <a:rPr lang="en-US" b="1" dirty="0">
                <a:solidFill>
                  <a:schemeClr val="accent4">
                    <a:lumMod val="10000"/>
                  </a:schemeClr>
                </a:solidFill>
                <a:effectLst/>
              </a:rPr>
              <a:t>Vendor Account </a:t>
            </a:r>
            <a:r>
              <a:rPr lang="en-US" b="1" dirty="0" smtClean="0">
                <a:solidFill>
                  <a:schemeClr val="accent4">
                    <a:lumMod val="10000"/>
                  </a:schemeClr>
                </a:solidFill>
                <a:effectLst/>
              </a:rPr>
              <a:t>numbers</a:t>
            </a:r>
          </a:p>
          <a:p>
            <a:pPr marL="457200" lvl="1" indent="0">
              <a:buNone/>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need to enter the selection criteria so that you can display cleared invoices for selected </a:t>
            </a:r>
            <a:r>
              <a:rPr lang="en-US" dirty="0" smtClean="0">
                <a:solidFill>
                  <a:schemeClr val="accent4">
                    <a:lumMod val="10000"/>
                  </a:schemeClr>
                </a:solidFill>
                <a:effectLst/>
              </a:rPr>
              <a:t>vendors</a:t>
            </a:r>
            <a:endParaRPr lang="en-US" dirty="0">
              <a:solidFill>
                <a:schemeClr val="accent4">
                  <a:lumMod val="10000"/>
                </a:schemeClr>
              </a:solidFill>
              <a:effectLst/>
            </a:endParaRP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Vendor Account numbers include specific account numbers as well as  a range of vendor numbers for </a:t>
            </a:r>
            <a:r>
              <a:rPr lang="en-US" b="1" dirty="0">
                <a:solidFill>
                  <a:schemeClr val="accent4">
                    <a:lumMod val="10000"/>
                  </a:schemeClr>
                </a:solidFill>
                <a:effectLst/>
              </a:rPr>
              <a:t>Company Code 1000</a:t>
            </a:r>
            <a:r>
              <a:rPr lang="en-US" dirty="0">
                <a:solidFill>
                  <a:schemeClr val="accent4">
                    <a:lumMod val="10000"/>
                  </a:schemeClr>
                </a:solidFill>
                <a:effectLst/>
              </a:rPr>
              <a:t> </a:t>
            </a:r>
          </a:p>
          <a:p>
            <a:endParaRPr lang="en-US" b="1" dirty="0" smtClean="0"/>
          </a:p>
          <a:p>
            <a:endParaRPr lang="en-US" b="1" dirty="0"/>
          </a:p>
          <a:p>
            <a:r>
              <a:rPr lang="en-US" b="1" dirty="0" smtClean="0"/>
              <a:t>Exercise: 5.2 Enter Selection Criteria</a:t>
            </a:r>
            <a:endParaRPr lang="en-US" b="1" dirty="0"/>
          </a:p>
        </p:txBody>
      </p:sp>
      <p:pic>
        <p:nvPicPr>
          <p:cNvPr id="5" name="Picture 2" descr="C:\Users\namudaliar\Documents\Narayanan\Ball Corp\Images\shutterstock_50629798.jpg"/>
          <p:cNvPicPr>
            <a:picLocks noChangeAspect="1" noChangeArrowheads="1"/>
          </p:cNvPicPr>
          <p:nvPr/>
        </p:nvPicPr>
        <p:blipFill>
          <a:blip r:embed="rId3" cstate="print"/>
          <a:srcRect/>
          <a:stretch>
            <a:fillRect/>
          </a:stretch>
        </p:blipFill>
        <p:spPr bwMode="auto">
          <a:xfrm>
            <a:off x="6992821" y="4343400"/>
            <a:ext cx="2151180" cy="2438400"/>
          </a:xfrm>
          <a:prstGeom prst="rect">
            <a:avLst/>
          </a:prstGeom>
          <a:noFill/>
        </p:spPr>
      </p:pic>
    </p:spTree>
    <p:extLst>
      <p:ext uri="{BB962C8B-B14F-4D97-AF65-F5344CB8AC3E}">
        <p14:creationId xmlns:p14="http://schemas.microsoft.com/office/powerpoint/2010/main" val="2271878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True or False – it is not necessary to enter selection criteria in order to generate report results.</a:t>
            </a:r>
          </a:p>
          <a:p>
            <a:pPr marL="457200" indent="-457200">
              <a:buClrTx/>
              <a:buFont typeface="+mj-lt"/>
              <a:buAutoNum type="arabicPeriod"/>
            </a:pPr>
            <a:r>
              <a:rPr lang="en-US" dirty="0" smtClean="0"/>
              <a:t>What allows you to enter very specific criteria to narrow report results?</a:t>
            </a:r>
          </a:p>
          <a:p>
            <a:pPr marL="457200" indent="-457200">
              <a:buClrTx/>
              <a:buFont typeface="+mj-lt"/>
              <a:buAutoNum type="arabicPeriod"/>
            </a:pPr>
            <a:r>
              <a:rPr lang="en-US" dirty="0" smtClean="0"/>
              <a:t>How do you add additional search fields to the selection criteria screen of a report?</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116</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3998558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Selection Variants</a:t>
            </a:r>
            <a:endParaRPr lang="en-US" dirty="0"/>
          </a:p>
        </p:txBody>
      </p:sp>
      <p:sp>
        <p:nvSpPr>
          <p:cNvPr id="8" name="Rectangle 7"/>
          <p:cNvSpPr>
            <a:spLocks noChangeArrowheads="1"/>
          </p:cNvSpPr>
          <p:nvPr/>
        </p:nvSpPr>
        <p:spPr bwMode="auto">
          <a:xfrm>
            <a:off x="3683203" y="4419600"/>
            <a:ext cx="2107997" cy="990600"/>
          </a:xfrm>
          <a:prstGeom prst="rect">
            <a:avLst/>
          </a:prstGeom>
          <a:solidFill>
            <a:srgbClr val="FFFFCC"/>
          </a:solidFill>
          <a:ln w="9525">
            <a:solidFill>
              <a:schemeClr val="folHlink"/>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9" name="Text Box 8"/>
          <p:cNvSpPr txBox="1">
            <a:spLocks noChangeArrowheads="1"/>
          </p:cNvSpPr>
          <p:nvPr/>
        </p:nvSpPr>
        <p:spPr bwMode="auto">
          <a:xfrm>
            <a:off x="3657600" y="4648200"/>
            <a:ext cx="1343025" cy="584775"/>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1600" dirty="0" smtClean="0">
                <a:solidFill>
                  <a:schemeClr val="accent4">
                    <a:lumMod val="10000"/>
                  </a:schemeClr>
                </a:solidFill>
                <a:cs typeface="Arial" charset="0"/>
              </a:rPr>
              <a:t>Department Manager</a:t>
            </a:r>
            <a:endParaRPr lang="en-US" sz="1600" dirty="0">
              <a:solidFill>
                <a:schemeClr val="accent4">
                  <a:lumMod val="10000"/>
                </a:schemeClr>
              </a:solidFill>
              <a:cs typeface="Arial" charset="0"/>
            </a:endParaRPr>
          </a:p>
        </p:txBody>
      </p:sp>
      <p:pic>
        <p:nvPicPr>
          <p:cNvPr id="10" name="Picture 9" descr="MPj04308160000[1]"/>
          <p:cNvPicPr>
            <a:picLocks noChangeAspect="1" noChangeArrowheads="1"/>
          </p:cNvPicPr>
          <p:nvPr/>
        </p:nvPicPr>
        <p:blipFill>
          <a:blip r:embed="rId3" cstate="print">
            <a:extLst>
              <a:ext uri="{28A0092B-C50C-407E-A947-70E740481C1C}">
                <a14:useLocalDpi xmlns:a14="http://schemas.microsoft.com/office/drawing/2010/main" val="0"/>
              </a:ext>
            </a:extLst>
          </a:blip>
          <a:srcRect l="8733" r="30380" b="50000"/>
          <a:stretch>
            <a:fillRect/>
          </a:stretch>
        </p:blipFill>
        <p:spPr bwMode="auto">
          <a:xfrm>
            <a:off x="4953000" y="4495800"/>
            <a:ext cx="762000" cy="8382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3"/>
          <p:cNvSpPr>
            <a:spLocks noChangeArrowheads="1"/>
          </p:cNvSpPr>
          <p:nvPr/>
        </p:nvSpPr>
        <p:spPr bwMode="auto">
          <a:xfrm>
            <a:off x="3683203" y="1905000"/>
            <a:ext cx="2107997" cy="990600"/>
          </a:xfrm>
          <a:prstGeom prst="rect">
            <a:avLst/>
          </a:prstGeom>
          <a:solidFill>
            <a:srgbClr val="FFFFCC"/>
          </a:solidFill>
          <a:ln w="9525">
            <a:solidFill>
              <a:schemeClr val="folHlink"/>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3" name="Text Box 14"/>
          <p:cNvSpPr txBox="1">
            <a:spLocks noChangeArrowheads="1"/>
          </p:cNvSpPr>
          <p:nvPr/>
        </p:nvSpPr>
        <p:spPr bwMode="auto">
          <a:xfrm>
            <a:off x="3733800" y="2252246"/>
            <a:ext cx="1266825" cy="338554"/>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1600" dirty="0" smtClean="0">
                <a:solidFill>
                  <a:schemeClr val="accent4">
                    <a:lumMod val="10000"/>
                  </a:schemeClr>
                </a:solidFill>
              </a:rPr>
              <a:t>Buyer</a:t>
            </a:r>
            <a:endParaRPr lang="en-US" sz="1600" dirty="0">
              <a:solidFill>
                <a:schemeClr val="accent4">
                  <a:lumMod val="10000"/>
                </a:schemeClr>
              </a:solidFill>
            </a:endParaRPr>
          </a:p>
        </p:txBody>
      </p:sp>
      <p:sp>
        <p:nvSpPr>
          <p:cNvPr id="14" name="Rectangle 15"/>
          <p:cNvSpPr>
            <a:spLocks noChangeArrowheads="1"/>
          </p:cNvSpPr>
          <p:nvPr/>
        </p:nvSpPr>
        <p:spPr bwMode="auto">
          <a:xfrm>
            <a:off x="3683203" y="3124200"/>
            <a:ext cx="2107997" cy="990600"/>
          </a:xfrm>
          <a:prstGeom prst="rect">
            <a:avLst/>
          </a:prstGeom>
          <a:solidFill>
            <a:srgbClr val="FFFFCC"/>
          </a:solidFill>
          <a:ln w="9525">
            <a:solidFill>
              <a:schemeClr val="folHlink"/>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4">
                  <a:lumMod val="10000"/>
                </a:schemeClr>
              </a:solidFill>
            </a:endParaRPr>
          </a:p>
        </p:txBody>
      </p:sp>
      <p:sp>
        <p:nvSpPr>
          <p:cNvPr id="15" name="Text Box 16"/>
          <p:cNvSpPr txBox="1">
            <a:spLocks noChangeArrowheads="1"/>
          </p:cNvSpPr>
          <p:nvPr/>
        </p:nvSpPr>
        <p:spPr bwMode="auto">
          <a:xfrm>
            <a:off x="3693439" y="3200400"/>
            <a:ext cx="1317422" cy="830997"/>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1600" dirty="0" smtClean="0">
                <a:solidFill>
                  <a:schemeClr val="accent4">
                    <a:lumMod val="10000"/>
                  </a:schemeClr>
                </a:solidFill>
                <a:cs typeface="Arial" charset="0"/>
              </a:rPr>
              <a:t>Capital Project Manager</a:t>
            </a:r>
            <a:endParaRPr lang="en-US" sz="1600" dirty="0">
              <a:solidFill>
                <a:schemeClr val="accent4">
                  <a:lumMod val="10000"/>
                </a:schemeClr>
              </a:solidFill>
              <a:cs typeface="Arial" charset="0"/>
            </a:endParaRPr>
          </a:p>
        </p:txBody>
      </p:sp>
      <p:pic>
        <p:nvPicPr>
          <p:cNvPr id="16" name="Picture 17" descr="PH01629J"/>
          <p:cNvPicPr>
            <a:picLocks noChangeAspect="1" noChangeArrowheads="1"/>
          </p:cNvPicPr>
          <p:nvPr/>
        </p:nvPicPr>
        <p:blipFill>
          <a:blip r:embed="rId4" cstate="print">
            <a:extLst>
              <a:ext uri="{28A0092B-C50C-407E-A947-70E740481C1C}">
                <a14:useLocalDpi xmlns:a14="http://schemas.microsoft.com/office/drawing/2010/main" val="0"/>
              </a:ext>
            </a:extLst>
          </a:blip>
          <a:srcRect r="14285"/>
          <a:stretch>
            <a:fillRect/>
          </a:stretch>
        </p:blipFill>
        <p:spPr bwMode="auto">
          <a:xfrm>
            <a:off x="4953000" y="3352800"/>
            <a:ext cx="762000" cy="58896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8" descr="PH01631J"/>
          <p:cNvPicPr>
            <a:picLocks noChangeAspect="1" noChangeArrowheads="1"/>
          </p:cNvPicPr>
          <p:nvPr/>
        </p:nvPicPr>
        <p:blipFill>
          <a:blip r:embed="rId5" cstate="print">
            <a:extLst>
              <a:ext uri="{28A0092B-C50C-407E-A947-70E740481C1C}">
                <a14:useLocalDpi xmlns:a14="http://schemas.microsoft.com/office/drawing/2010/main" val="0"/>
              </a:ext>
            </a:extLst>
          </a:blip>
          <a:srcRect b="43750"/>
          <a:stretch>
            <a:fillRect/>
          </a:stretch>
        </p:blipFill>
        <p:spPr bwMode="auto">
          <a:xfrm>
            <a:off x="4902200" y="2057400"/>
            <a:ext cx="806450" cy="68580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9391" y="2148083"/>
            <a:ext cx="2530706" cy="270430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Lst>
        </p:spPr>
      </p:pic>
      <p:sp>
        <p:nvSpPr>
          <p:cNvPr id="38" name="Rectangle 37"/>
          <p:cNvSpPr/>
          <p:nvPr/>
        </p:nvSpPr>
        <p:spPr bwMode="auto">
          <a:xfrm>
            <a:off x="6400800" y="1905000"/>
            <a:ext cx="2057400" cy="990600"/>
          </a:xfrm>
          <a:prstGeom prst="rect">
            <a:avLst/>
          </a:prstGeom>
          <a:solidFill>
            <a:schemeClr val="tx2">
              <a:lumMod val="25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rPr>
              <a:t>View by  Ope</a:t>
            </a:r>
            <a:r>
              <a:rPr lang="en-US" dirty="0" smtClean="0"/>
              <a:t>n Purchase Requisitions</a:t>
            </a:r>
            <a:endParaRPr kumimoji="0" lang="en-US" sz="1800" b="0" i="0" u="none" strike="noStrike" cap="none" normalizeH="0" baseline="0" dirty="0" smtClean="0">
              <a:ln>
                <a:noFill/>
              </a:ln>
              <a:solidFill>
                <a:schemeClr val="tx1"/>
              </a:solidFill>
              <a:effectLst/>
              <a:latin typeface="Arial" charset="0"/>
            </a:endParaRPr>
          </a:p>
        </p:txBody>
      </p:sp>
      <p:sp>
        <p:nvSpPr>
          <p:cNvPr id="40" name="Rectangle 39"/>
          <p:cNvSpPr/>
          <p:nvPr/>
        </p:nvSpPr>
        <p:spPr bwMode="auto">
          <a:xfrm>
            <a:off x="6400800" y="3124200"/>
            <a:ext cx="2057400" cy="990600"/>
          </a:xfrm>
          <a:prstGeom prst="rect">
            <a:avLst/>
          </a:prstGeom>
          <a:solidFill>
            <a:schemeClr val="tx2">
              <a:lumMod val="25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rPr>
              <a:t>View Purchase</a:t>
            </a:r>
            <a:r>
              <a:rPr kumimoji="0" lang="en-US" sz="1800" b="0" i="0" u="none" strike="noStrike" cap="none" normalizeH="0" dirty="0" smtClean="0">
                <a:ln>
                  <a:noFill/>
                </a:ln>
                <a:solidFill>
                  <a:schemeClr val="tx1"/>
                </a:solidFill>
                <a:effectLst/>
                <a:latin typeface="Arial" charset="0"/>
              </a:rPr>
              <a:t> Requisitions by WBS Element</a:t>
            </a:r>
            <a:endParaRPr kumimoji="0" lang="en-US" sz="1800" b="0" i="0" u="none" strike="noStrike" cap="none" normalizeH="0" baseline="0" dirty="0" smtClean="0">
              <a:ln>
                <a:noFill/>
              </a:ln>
              <a:solidFill>
                <a:schemeClr val="tx1"/>
              </a:solidFill>
              <a:effectLst/>
              <a:latin typeface="Arial" charset="0"/>
            </a:endParaRPr>
          </a:p>
        </p:txBody>
      </p:sp>
      <p:sp>
        <p:nvSpPr>
          <p:cNvPr id="41" name="Rectangle 40"/>
          <p:cNvSpPr/>
          <p:nvPr/>
        </p:nvSpPr>
        <p:spPr bwMode="auto">
          <a:xfrm>
            <a:off x="6400800" y="4419600"/>
            <a:ext cx="2057400" cy="990600"/>
          </a:xfrm>
          <a:prstGeom prst="rect">
            <a:avLst/>
          </a:prstGeom>
          <a:solidFill>
            <a:schemeClr val="tx2">
              <a:lumMod val="25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rPr>
              <a:t>View by  Closed</a:t>
            </a:r>
            <a:r>
              <a:rPr lang="en-US" dirty="0" smtClean="0"/>
              <a:t> Purchase Requisitions</a:t>
            </a:r>
            <a:endParaRPr kumimoji="0" lang="en-US" sz="1800" b="0" i="0" u="none" strike="noStrike" cap="none" normalizeH="0" baseline="0" dirty="0" smtClean="0">
              <a:ln>
                <a:noFill/>
              </a:ln>
              <a:solidFill>
                <a:schemeClr val="tx1"/>
              </a:solidFill>
              <a:effectLst/>
              <a:latin typeface="Arial" charset="0"/>
            </a:endParaRPr>
          </a:p>
        </p:txBody>
      </p:sp>
      <p:sp>
        <p:nvSpPr>
          <p:cNvPr id="39" name="TextBox 38"/>
          <p:cNvSpPr txBox="1"/>
          <p:nvPr/>
        </p:nvSpPr>
        <p:spPr>
          <a:xfrm>
            <a:off x="685800" y="1219200"/>
            <a:ext cx="2204297" cy="369332"/>
          </a:xfrm>
          <a:prstGeom prst="rect">
            <a:avLst/>
          </a:prstGeom>
          <a:noFill/>
        </p:spPr>
        <p:txBody>
          <a:bodyPr wrap="square" rtlCol="0">
            <a:spAutoFit/>
          </a:bodyPr>
          <a:lstStyle/>
          <a:p>
            <a:pPr algn="ctr"/>
            <a:r>
              <a:rPr lang="en-US" b="1" dirty="0" smtClean="0">
                <a:solidFill>
                  <a:schemeClr val="accent4">
                    <a:lumMod val="10000"/>
                  </a:schemeClr>
                </a:solidFill>
              </a:rPr>
              <a:t>One Report</a:t>
            </a:r>
            <a:endParaRPr lang="en-US" b="1" dirty="0">
              <a:solidFill>
                <a:schemeClr val="accent4">
                  <a:lumMod val="10000"/>
                </a:schemeClr>
              </a:solidFill>
            </a:endParaRPr>
          </a:p>
        </p:txBody>
      </p:sp>
      <p:sp>
        <p:nvSpPr>
          <p:cNvPr id="43" name="TextBox 42"/>
          <p:cNvSpPr txBox="1"/>
          <p:nvPr/>
        </p:nvSpPr>
        <p:spPr>
          <a:xfrm>
            <a:off x="3586903" y="1219200"/>
            <a:ext cx="2204297" cy="369332"/>
          </a:xfrm>
          <a:prstGeom prst="rect">
            <a:avLst/>
          </a:prstGeom>
          <a:noFill/>
        </p:spPr>
        <p:txBody>
          <a:bodyPr wrap="square" rtlCol="0">
            <a:spAutoFit/>
          </a:bodyPr>
          <a:lstStyle/>
          <a:p>
            <a:pPr algn="ctr"/>
            <a:r>
              <a:rPr lang="en-US" b="1" dirty="0" smtClean="0">
                <a:solidFill>
                  <a:schemeClr val="accent4">
                    <a:lumMod val="10000"/>
                  </a:schemeClr>
                </a:solidFill>
              </a:rPr>
              <a:t>Three Viewers</a:t>
            </a:r>
            <a:endParaRPr lang="en-US" b="1" dirty="0">
              <a:solidFill>
                <a:schemeClr val="accent4">
                  <a:lumMod val="10000"/>
                </a:schemeClr>
              </a:solidFill>
            </a:endParaRPr>
          </a:p>
        </p:txBody>
      </p:sp>
      <p:sp>
        <p:nvSpPr>
          <p:cNvPr id="44" name="TextBox 43"/>
          <p:cNvSpPr txBox="1"/>
          <p:nvPr/>
        </p:nvSpPr>
        <p:spPr>
          <a:xfrm>
            <a:off x="6253903" y="1219200"/>
            <a:ext cx="2509097" cy="646331"/>
          </a:xfrm>
          <a:prstGeom prst="rect">
            <a:avLst/>
          </a:prstGeom>
          <a:noFill/>
        </p:spPr>
        <p:txBody>
          <a:bodyPr wrap="square" rtlCol="0">
            <a:spAutoFit/>
          </a:bodyPr>
          <a:lstStyle/>
          <a:p>
            <a:pPr algn="ctr"/>
            <a:r>
              <a:rPr lang="en-US" b="1" dirty="0" smtClean="0">
                <a:solidFill>
                  <a:schemeClr val="accent4">
                    <a:lumMod val="10000"/>
                  </a:schemeClr>
                </a:solidFill>
              </a:rPr>
              <a:t>Three Different Views</a:t>
            </a:r>
            <a:endParaRPr lang="en-US" b="1" dirty="0">
              <a:solidFill>
                <a:schemeClr val="accent4">
                  <a:lumMod val="10000"/>
                </a:schemeClr>
              </a:solidFill>
            </a:endParaRPr>
          </a:p>
        </p:txBody>
      </p:sp>
      <p:sp>
        <p:nvSpPr>
          <p:cNvPr id="42" name="Right Brace 41"/>
          <p:cNvSpPr/>
          <p:nvPr/>
        </p:nvSpPr>
        <p:spPr bwMode="auto">
          <a:xfrm>
            <a:off x="2819400" y="1403866"/>
            <a:ext cx="838200" cy="4615934"/>
          </a:xfrm>
          <a:prstGeom prst="rightBrace">
            <a:avLst/>
          </a:prstGeom>
          <a:noFill/>
          <a:ln w="9525" cap="flat" cmpd="sng" algn="ctr">
            <a:solidFill>
              <a:schemeClr val="tx2">
                <a:lumMod val="2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46" name="Right Brace 45"/>
          <p:cNvSpPr/>
          <p:nvPr/>
        </p:nvSpPr>
        <p:spPr bwMode="auto">
          <a:xfrm>
            <a:off x="5638800" y="1398896"/>
            <a:ext cx="838200" cy="4615934"/>
          </a:xfrm>
          <a:prstGeom prst="rightBrace">
            <a:avLst/>
          </a:prstGeom>
          <a:noFill/>
          <a:ln w="9525" cap="flat" cmpd="sng" algn="ctr">
            <a:solidFill>
              <a:schemeClr val="tx2">
                <a:lumMod val="2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282979837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969706"/>
            <a:ext cx="3302508" cy="176568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3286125"/>
            <a:ext cx="3276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7138" name="Rectangle 2"/>
          <p:cNvSpPr>
            <a:spLocks noGrp="1" noChangeArrowheads="1"/>
          </p:cNvSpPr>
          <p:nvPr>
            <p:ph type="title"/>
          </p:nvPr>
        </p:nvSpPr>
        <p:spPr/>
        <p:txBody>
          <a:bodyPr/>
          <a:lstStyle/>
          <a:p>
            <a:r>
              <a:rPr lang="en-US" smtClean="0"/>
              <a:t>Create a Selection Variant</a:t>
            </a:r>
          </a:p>
        </p:txBody>
      </p:sp>
      <p:sp>
        <p:nvSpPr>
          <p:cNvPr id="347139" name="Rectangle 3"/>
          <p:cNvSpPr>
            <a:spLocks noGrp="1" noChangeArrowheads="1"/>
          </p:cNvSpPr>
          <p:nvPr>
            <p:ph idx="1"/>
          </p:nvPr>
        </p:nvSpPr>
        <p:spPr/>
        <p:txBody>
          <a:bodyPr/>
          <a:lstStyle/>
          <a:p>
            <a:pPr>
              <a:lnSpc>
                <a:spcPct val="100000"/>
              </a:lnSpc>
              <a:spcBef>
                <a:spcPct val="20000"/>
              </a:spcBef>
              <a:spcAft>
                <a:spcPct val="0"/>
              </a:spcAft>
              <a:buFontTx/>
              <a:buNone/>
            </a:pPr>
            <a:r>
              <a:rPr lang="en-US" dirty="0" smtClean="0">
                <a:solidFill>
                  <a:schemeClr val="accent4">
                    <a:lumMod val="10000"/>
                  </a:schemeClr>
                </a:solidFill>
              </a:rPr>
              <a:t>Complete the following steps to create a </a:t>
            </a:r>
            <a:r>
              <a:rPr lang="en-US" b="1" dirty="0" smtClean="0">
                <a:solidFill>
                  <a:schemeClr val="accent4">
                    <a:lumMod val="10000"/>
                  </a:schemeClr>
                </a:solidFill>
              </a:rPr>
              <a:t>selection variant</a:t>
            </a:r>
            <a:r>
              <a:rPr lang="en-US" dirty="0" smtClean="0">
                <a:solidFill>
                  <a:schemeClr val="accent4">
                    <a:lumMod val="10000"/>
                  </a:schemeClr>
                </a:solidFill>
              </a:rPr>
              <a:t> after you have entered your selection criteria values. </a:t>
            </a:r>
          </a:p>
          <a:p>
            <a:endParaRPr lang="en-US" dirty="0" smtClean="0">
              <a:solidFill>
                <a:schemeClr val="accent4">
                  <a:lumMod val="10000"/>
                </a:schemeClr>
              </a:solidFill>
            </a:endParaRPr>
          </a:p>
        </p:txBody>
      </p:sp>
      <p:sp>
        <p:nvSpPr>
          <p:cNvPr id="347163" name="Text Box 27"/>
          <p:cNvSpPr txBox="1">
            <a:spLocks noChangeArrowheads="1"/>
          </p:cNvSpPr>
          <p:nvPr/>
        </p:nvSpPr>
        <p:spPr bwMode="auto">
          <a:xfrm>
            <a:off x="5105400" y="2244561"/>
            <a:ext cx="3505200" cy="812963"/>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pPr lvl="0"/>
            <a:r>
              <a:rPr lang="en-US" dirty="0"/>
              <a:t>Select </a:t>
            </a:r>
            <a:r>
              <a:rPr lang="en-US" u="sng" dirty="0" err="1"/>
              <a:t>G</a:t>
            </a:r>
            <a:r>
              <a:rPr lang="en-US" dirty="0" err="1"/>
              <a:t>oto</a:t>
            </a:r>
            <a:r>
              <a:rPr lang="en-US" dirty="0"/>
              <a:t> </a:t>
            </a:r>
            <a:r>
              <a:rPr lang="en-US" dirty="0">
                <a:sym typeface="Wingdings"/>
              </a:rPr>
              <a:t></a:t>
            </a:r>
            <a:r>
              <a:rPr lang="en-US" dirty="0"/>
              <a:t> </a:t>
            </a:r>
            <a:r>
              <a:rPr lang="en-US" u="sng" dirty="0"/>
              <a:t>V</a:t>
            </a:r>
            <a:r>
              <a:rPr lang="en-US" dirty="0"/>
              <a:t>ariants </a:t>
            </a:r>
            <a:r>
              <a:rPr lang="en-US" dirty="0">
                <a:sym typeface="Wingdings"/>
              </a:rPr>
              <a:t></a:t>
            </a:r>
            <a:r>
              <a:rPr lang="en-US" dirty="0"/>
              <a:t> Save as </a:t>
            </a:r>
            <a:r>
              <a:rPr lang="en-US" u="sng" dirty="0" smtClean="0"/>
              <a:t>V</a:t>
            </a:r>
            <a:r>
              <a:rPr lang="en-US" dirty="0" smtClean="0"/>
              <a:t>ariant…or </a:t>
            </a:r>
            <a:r>
              <a:rPr lang="en-US" dirty="0"/>
              <a:t>press </a:t>
            </a:r>
            <a:r>
              <a:rPr lang="en-US" dirty="0" err="1" smtClean="0"/>
              <a:t>Ctrl+S</a:t>
            </a:r>
            <a:r>
              <a:rPr lang="en-US" dirty="0"/>
              <a:t> </a:t>
            </a:r>
            <a:r>
              <a:rPr lang="en-US" dirty="0" smtClean="0"/>
              <a:t> </a:t>
            </a:r>
            <a:r>
              <a:rPr lang="en-US" dirty="0"/>
              <a:t>to save selection criteria values as a variant. </a:t>
            </a:r>
          </a:p>
        </p:txBody>
      </p:sp>
      <p:grpSp>
        <p:nvGrpSpPr>
          <p:cNvPr id="347160" name="Group 24"/>
          <p:cNvGrpSpPr>
            <a:grpSpLocks/>
          </p:cNvGrpSpPr>
          <p:nvPr/>
        </p:nvGrpSpPr>
        <p:grpSpPr bwMode="auto">
          <a:xfrm>
            <a:off x="4724400" y="1990725"/>
            <a:ext cx="393700" cy="363538"/>
            <a:chOff x="4976" y="624"/>
            <a:chExt cx="200" cy="176"/>
          </a:xfrm>
        </p:grpSpPr>
        <p:sp>
          <p:nvSpPr>
            <p:cNvPr id="34716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716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sp>
        <p:nvSpPr>
          <p:cNvPr id="347165" name="AutoShape 29"/>
          <p:cNvSpPr>
            <a:spLocks noChangeArrowheads="1"/>
          </p:cNvSpPr>
          <p:nvPr/>
        </p:nvSpPr>
        <p:spPr bwMode="auto">
          <a:xfrm>
            <a:off x="3657600" y="3209925"/>
            <a:ext cx="3581400" cy="1981200"/>
          </a:xfrm>
          <a:prstGeom prst="wedgeRectCallout">
            <a:avLst>
              <a:gd name="adj1" fmla="val -63077"/>
              <a:gd name="adj2" fmla="val -96793"/>
            </a:avLst>
          </a:prstGeom>
          <a:noFill/>
          <a:ln w="9525">
            <a:solidFill>
              <a:srgbClr val="FF0000"/>
            </a:solidFill>
            <a:prstDash val="dash"/>
            <a:miter lim="800000"/>
            <a:headEnd/>
            <a:tailEnd/>
          </a:ln>
          <a:effectLst/>
          <a:extLst>
            <a:ext uri="{909E8E84-426E-40DD-AFC4-6F175D3DCCD1}">
              <a14:hiddenFill xmlns:a14="http://schemas.microsoft.com/office/drawing/2010/main">
                <a:solidFill>
                  <a:srgbClr val="FAFAFA">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347169" name="Text Box 33"/>
          <p:cNvSpPr txBox="1">
            <a:spLocks noChangeArrowheads="1"/>
          </p:cNvSpPr>
          <p:nvPr/>
        </p:nvSpPr>
        <p:spPr bwMode="auto">
          <a:xfrm>
            <a:off x="533400" y="4048125"/>
            <a:ext cx="3200400" cy="2139047"/>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a:t>Enter a Variant name and description. You can enter any name and description as long as it is within the character limits of the field.</a:t>
            </a:r>
          </a:p>
          <a:p>
            <a:r>
              <a:rPr lang="en-US"/>
              <a:t>It is recommended that each Business Unit develop a naming convention for variants.</a:t>
            </a:r>
          </a:p>
        </p:txBody>
      </p:sp>
      <p:sp>
        <p:nvSpPr>
          <p:cNvPr id="347173" name="Text Box 37"/>
          <p:cNvSpPr txBox="1">
            <a:spLocks noChangeArrowheads="1"/>
          </p:cNvSpPr>
          <p:nvPr/>
        </p:nvSpPr>
        <p:spPr bwMode="auto">
          <a:xfrm>
            <a:off x="6705600" y="3590925"/>
            <a:ext cx="2133600" cy="58477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Click </a:t>
            </a:r>
            <a:r>
              <a:rPr lang="en-US" dirty="0" smtClean="0"/>
              <a:t>    </a:t>
            </a:r>
            <a:r>
              <a:rPr lang="en-US" dirty="0"/>
              <a:t>to save the variant.</a:t>
            </a:r>
          </a:p>
        </p:txBody>
      </p:sp>
      <p:sp>
        <p:nvSpPr>
          <p:cNvPr id="347175" name="Text Box 39"/>
          <p:cNvSpPr txBox="1">
            <a:spLocks noChangeArrowheads="1"/>
          </p:cNvSpPr>
          <p:nvPr/>
        </p:nvSpPr>
        <p:spPr bwMode="auto">
          <a:xfrm>
            <a:off x="4445000" y="5076825"/>
            <a:ext cx="4419600" cy="1323975"/>
          </a:xfrm>
          <a:prstGeom prst="rect">
            <a:avLst/>
          </a:prstGeom>
          <a:solidFill>
            <a:srgbClr val="002E62"/>
          </a:solid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spAutoFit/>
          </a:bodyPr>
          <a:lstStyle/>
          <a:p>
            <a:pPr eaLnBrk="1" hangingPunct="1">
              <a:spcBef>
                <a:spcPct val="50000"/>
              </a:spcBef>
            </a:pPr>
            <a:r>
              <a:rPr lang="en-US" sz="1600" b="1" i="1" smtClean="0">
                <a:solidFill>
                  <a:srgbClr val="FAFAFA"/>
                </a:solidFill>
                <a:cs typeface="Arial" charset="0"/>
              </a:rPr>
              <a:t>Checking the Protect Variant box when creating a Global Variant will prevent others from inadvertently changing your variant. Only the owner of a variant (the creator) will be able to make changes.</a:t>
            </a:r>
          </a:p>
        </p:txBody>
      </p:sp>
      <p:sp>
        <p:nvSpPr>
          <p:cNvPr id="347176" name="Rectangle 40"/>
          <p:cNvSpPr>
            <a:spLocks noChangeArrowheads="1"/>
          </p:cNvSpPr>
          <p:nvPr/>
        </p:nvSpPr>
        <p:spPr bwMode="auto">
          <a:xfrm>
            <a:off x="4114800" y="4657725"/>
            <a:ext cx="1143000" cy="1524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347177" name="Line 41"/>
          <p:cNvSpPr>
            <a:spLocks noChangeShapeType="1"/>
          </p:cNvSpPr>
          <p:nvPr/>
        </p:nvSpPr>
        <p:spPr bwMode="auto">
          <a:xfrm flipV="1">
            <a:off x="5867400" y="4733925"/>
            <a:ext cx="0" cy="3048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47178" name="Line 42"/>
          <p:cNvSpPr>
            <a:spLocks noChangeShapeType="1"/>
          </p:cNvSpPr>
          <p:nvPr/>
        </p:nvSpPr>
        <p:spPr bwMode="auto">
          <a:xfrm flipH="1">
            <a:off x="5257800" y="4733925"/>
            <a:ext cx="6096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grpSp>
        <p:nvGrpSpPr>
          <p:cNvPr id="25" name="Group 24"/>
          <p:cNvGrpSpPr>
            <a:grpSpLocks/>
          </p:cNvGrpSpPr>
          <p:nvPr/>
        </p:nvGrpSpPr>
        <p:grpSpPr bwMode="auto">
          <a:xfrm>
            <a:off x="3424202" y="3684587"/>
            <a:ext cx="393700" cy="363538"/>
            <a:chOff x="4976" y="624"/>
            <a:chExt cx="200" cy="176"/>
          </a:xfrm>
        </p:grpSpPr>
        <p:sp>
          <p:nvSpPr>
            <p:cNvPr id="26"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7"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28" name="Group 24"/>
          <p:cNvGrpSpPr>
            <a:grpSpLocks/>
          </p:cNvGrpSpPr>
          <p:nvPr/>
        </p:nvGrpSpPr>
        <p:grpSpPr bwMode="auto">
          <a:xfrm>
            <a:off x="6388100" y="3286125"/>
            <a:ext cx="393700" cy="363538"/>
            <a:chOff x="4976" y="624"/>
            <a:chExt cx="200" cy="176"/>
          </a:xfrm>
        </p:grpSpPr>
        <p:sp>
          <p:nvSpPr>
            <p:cNvPr id="29"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0"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pic>
        <p:nvPicPr>
          <p:cNvPr id="102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7100" y="3667125"/>
            <a:ext cx="190500" cy="18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8245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 Selection Variant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119</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914400"/>
            <a:ext cx="8537575" cy="5135563"/>
          </a:xfrm>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a:solidFill>
                  <a:schemeClr val="accent4">
                    <a:lumMod val="10000"/>
                  </a:schemeClr>
                </a:solidFill>
                <a:effectLst/>
              </a:rPr>
              <a:t>As part of your duties you monitor purchasing documents for a select set of vendors. To facilitate this process, you wish to create a </a:t>
            </a:r>
            <a:r>
              <a:rPr lang="en-US" b="1" dirty="0">
                <a:solidFill>
                  <a:schemeClr val="accent4">
                    <a:lumMod val="10000"/>
                  </a:schemeClr>
                </a:solidFill>
                <a:effectLst/>
              </a:rPr>
              <a:t>Selection Variant</a:t>
            </a:r>
            <a:r>
              <a:rPr lang="en-US" dirty="0">
                <a:solidFill>
                  <a:schemeClr val="accent4">
                    <a:lumMod val="10000"/>
                  </a:schemeClr>
                </a:solidFill>
                <a:effectLst/>
              </a:rPr>
              <a:t>.</a:t>
            </a:r>
          </a:p>
          <a:p>
            <a:pPr lvl="1">
              <a:tabLst>
                <a:tab pos="2514600" algn="l"/>
              </a:tabLst>
            </a:pPr>
            <a:r>
              <a:rPr lang="en-US" dirty="0">
                <a:solidFill>
                  <a:schemeClr val="accent4">
                    <a:lumMod val="10000"/>
                  </a:schemeClr>
                </a:solidFill>
                <a:effectLst/>
              </a:rPr>
              <a:t>You will enter selection criteria in the </a:t>
            </a:r>
            <a:r>
              <a:rPr lang="en-US" b="1" dirty="0">
                <a:solidFill>
                  <a:schemeClr val="accent4">
                    <a:lumMod val="10000"/>
                  </a:schemeClr>
                </a:solidFill>
                <a:effectLst/>
              </a:rPr>
              <a:t>ME2L Purchasing Documents per Vendor</a:t>
            </a:r>
            <a:r>
              <a:rPr lang="en-US" dirty="0">
                <a:solidFill>
                  <a:schemeClr val="accent4">
                    <a:lumMod val="10000"/>
                  </a:schemeClr>
                </a:solidFill>
                <a:effectLst/>
              </a:rPr>
              <a:t> report for </a:t>
            </a:r>
            <a:r>
              <a:rPr lang="en-US" b="1" dirty="0">
                <a:solidFill>
                  <a:schemeClr val="accent4">
                    <a:lumMod val="10000"/>
                  </a:schemeClr>
                </a:solidFill>
                <a:effectLst/>
              </a:rPr>
              <a:t>Vendors 1000000035 – 1000000099</a:t>
            </a:r>
            <a:r>
              <a:rPr lang="en-US" dirty="0">
                <a:solidFill>
                  <a:schemeClr val="accent4">
                    <a:lumMod val="10000"/>
                  </a:schemeClr>
                </a:solidFill>
                <a:effectLst/>
              </a:rPr>
              <a:t> for </a:t>
            </a:r>
            <a:r>
              <a:rPr lang="en-US" b="1" dirty="0">
                <a:solidFill>
                  <a:schemeClr val="accent4">
                    <a:lumMod val="10000"/>
                  </a:schemeClr>
                </a:solidFill>
                <a:effectLst/>
              </a:rPr>
              <a:t>document type FO (Framework Order)</a:t>
            </a:r>
            <a:r>
              <a:rPr lang="en-US" dirty="0">
                <a:solidFill>
                  <a:schemeClr val="accent4">
                    <a:lumMod val="10000"/>
                  </a:schemeClr>
                </a:solidFill>
                <a:effectLst/>
              </a:rPr>
              <a:t>.</a:t>
            </a:r>
            <a:r>
              <a:rPr lang="en-US" b="1" dirty="0">
                <a:solidFill>
                  <a:schemeClr val="accent4">
                    <a:lumMod val="10000"/>
                  </a:schemeClr>
                </a:solidFill>
                <a:effectLst/>
              </a:rPr>
              <a:t> </a:t>
            </a:r>
          </a:p>
          <a:p>
            <a:pPr lvl="1">
              <a:tabLst>
                <a:tab pos="2514600" algn="l"/>
              </a:tabLst>
            </a:pPr>
            <a:r>
              <a:rPr lang="en-US" dirty="0">
                <a:solidFill>
                  <a:schemeClr val="accent4">
                    <a:lumMod val="10000"/>
                  </a:schemeClr>
                </a:solidFill>
                <a:effectLst/>
              </a:rPr>
              <a:t>Save your selection criteria values as a </a:t>
            </a:r>
            <a:r>
              <a:rPr lang="en-US" b="1" dirty="0">
                <a:solidFill>
                  <a:schemeClr val="accent4">
                    <a:lumMod val="10000"/>
                  </a:schemeClr>
                </a:solidFill>
                <a:effectLst/>
              </a:rPr>
              <a:t>Personal </a:t>
            </a:r>
            <a:r>
              <a:rPr lang="en-US" b="1" dirty="0" smtClean="0">
                <a:solidFill>
                  <a:schemeClr val="accent4">
                    <a:lumMod val="10000"/>
                  </a:schemeClr>
                </a:solidFill>
                <a:effectLst/>
              </a:rPr>
              <a:t>Selection Variant</a:t>
            </a:r>
            <a:r>
              <a:rPr lang="en-US" dirty="0" smtClean="0">
                <a:solidFill>
                  <a:schemeClr val="accent4">
                    <a:lumMod val="10000"/>
                  </a:schemeClr>
                </a:solidFill>
                <a:effectLst/>
              </a:rPr>
              <a:t> </a:t>
            </a:r>
            <a:r>
              <a:rPr lang="en-US" dirty="0">
                <a:solidFill>
                  <a:schemeClr val="accent4">
                    <a:lumMod val="10000"/>
                  </a:schemeClr>
                </a:solidFill>
                <a:effectLst/>
              </a:rPr>
              <a:t>and name it </a:t>
            </a:r>
            <a:r>
              <a:rPr lang="en-US" b="1" dirty="0">
                <a:solidFill>
                  <a:schemeClr val="accent4">
                    <a:lumMod val="10000"/>
                  </a:schemeClr>
                </a:solidFill>
                <a:effectLst/>
              </a:rPr>
              <a:t>Framework</a:t>
            </a:r>
            <a:r>
              <a:rPr lang="en-US" dirty="0">
                <a:solidFill>
                  <a:schemeClr val="accent4">
                    <a:lumMod val="10000"/>
                  </a:schemeClr>
                </a:solidFill>
                <a:effectLst/>
              </a:rPr>
              <a:t>. </a:t>
            </a:r>
          </a:p>
          <a:p>
            <a:pPr lvl="1">
              <a:tabLst>
                <a:tab pos="2514600" algn="l"/>
              </a:tabLst>
            </a:pPr>
            <a:r>
              <a:rPr lang="en-US" dirty="0">
                <a:solidFill>
                  <a:schemeClr val="accent4">
                    <a:lumMod val="10000"/>
                  </a:schemeClr>
                </a:solidFill>
                <a:effectLst/>
              </a:rPr>
              <a:t>Exit the report without executing </a:t>
            </a:r>
            <a:r>
              <a:rPr lang="en-US" dirty="0" smtClean="0">
                <a:solidFill>
                  <a:schemeClr val="accent4">
                    <a:lumMod val="10000"/>
                  </a:schemeClr>
                </a:solidFill>
                <a:effectLst/>
              </a:rPr>
              <a:t>it</a:t>
            </a:r>
            <a:endParaRPr lang="en-US" dirty="0">
              <a:solidFill>
                <a:schemeClr val="accent4">
                  <a:lumMod val="10000"/>
                </a:schemeClr>
              </a:solidFill>
              <a:effectLst/>
            </a:endParaRPr>
          </a:p>
          <a:p>
            <a:endParaRPr lang="en-US" b="1" dirty="0" smtClean="0"/>
          </a:p>
          <a:p>
            <a:endParaRPr lang="en-US" b="1" dirty="0"/>
          </a:p>
          <a:p>
            <a:r>
              <a:rPr lang="en-US" b="1" dirty="0" smtClean="0"/>
              <a:t>Exercise: 5.3 Create a Selection Variant</a:t>
            </a:r>
            <a:endParaRPr lang="en-US" b="1" dirty="0"/>
          </a:p>
        </p:txBody>
      </p:sp>
      <p:pic>
        <p:nvPicPr>
          <p:cNvPr id="5" name="Picture 2" descr="C:\Users\namudaliar\Documents\Narayanan\Ball Corp\Images\shutterstock_50629798.jpg"/>
          <p:cNvPicPr>
            <a:picLocks noChangeAspect="1" noChangeArrowheads="1"/>
          </p:cNvPicPr>
          <p:nvPr/>
        </p:nvPicPr>
        <p:blipFill>
          <a:blip r:embed="rId3" cstate="print"/>
          <a:srcRect/>
          <a:stretch>
            <a:fillRect/>
          </a:stretch>
        </p:blipFill>
        <p:spPr bwMode="auto">
          <a:xfrm>
            <a:off x="6992821" y="4038600"/>
            <a:ext cx="2151180" cy="2667000"/>
          </a:xfrm>
          <a:prstGeom prst="rect">
            <a:avLst/>
          </a:prstGeom>
          <a:noFill/>
        </p:spPr>
      </p:pic>
    </p:spTree>
    <p:extLst>
      <p:ext uri="{BB962C8B-B14F-4D97-AF65-F5344CB8AC3E}">
        <p14:creationId xmlns:p14="http://schemas.microsoft.com/office/powerpoint/2010/main" val="24713065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931987"/>
            <a:ext cx="3771900" cy="13906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8212" name="Text Box 52"/>
          <p:cNvSpPr txBox="1">
            <a:spLocks noChangeArrowheads="1"/>
          </p:cNvSpPr>
          <p:nvPr/>
        </p:nvSpPr>
        <p:spPr bwMode="auto">
          <a:xfrm>
            <a:off x="5943600" y="1629568"/>
            <a:ext cx="2743200" cy="1418431"/>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Click the </a:t>
            </a:r>
            <a:r>
              <a:rPr lang="en-US" b="1" dirty="0"/>
              <a:t>Get Variant…</a:t>
            </a:r>
            <a:r>
              <a:rPr lang="en-US" dirty="0"/>
              <a:t> button  </a:t>
            </a:r>
            <a:r>
              <a:rPr lang="en-US" dirty="0" smtClean="0"/>
              <a:t>   or  </a:t>
            </a:r>
            <a:r>
              <a:rPr lang="en-US" dirty="0"/>
              <a:t>press </a:t>
            </a:r>
            <a:r>
              <a:rPr lang="en-US" b="1" dirty="0"/>
              <a:t>Shift+F5</a:t>
            </a:r>
            <a:r>
              <a:rPr lang="en-US" dirty="0"/>
              <a:t> to display the list of saved variants.</a:t>
            </a:r>
          </a:p>
        </p:txBody>
      </p:sp>
      <p:sp>
        <p:nvSpPr>
          <p:cNvPr id="348162" name="Rectangle 2"/>
          <p:cNvSpPr>
            <a:spLocks noGrp="1" noChangeArrowheads="1"/>
          </p:cNvSpPr>
          <p:nvPr>
            <p:ph type="title"/>
          </p:nvPr>
        </p:nvSpPr>
        <p:spPr/>
        <p:txBody>
          <a:bodyPr/>
          <a:lstStyle/>
          <a:p>
            <a:r>
              <a:rPr lang="en-US" smtClean="0"/>
              <a:t>Use a Selection Variant</a:t>
            </a:r>
          </a:p>
        </p:txBody>
      </p:sp>
      <p:sp>
        <p:nvSpPr>
          <p:cNvPr id="348163" name="Rectangle 3"/>
          <p:cNvSpPr>
            <a:spLocks noGrp="1" noChangeArrowheads="1"/>
          </p:cNvSpPr>
          <p:nvPr>
            <p:ph idx="1"/>
          </p:nvPr>
        </p:nvSpPr>
        <p:spPr/>
        <p:txBody>
          <a:bodyPr/>
          <a:lstStyle/>
          <a:p>
            <a:r>
              <a:rPr lang="en-US" dirty="0" smtClean="0"/>
              <a:t>Complete the following steps to use a saved </a:t>
            </a:r>
            <a:r>
              <a:rPr lang="en-US" b="1" dirty="0" smtClean="0">
                <a:solidFill>
                  <a:schemeClr val="accent4">
                    <a:lumMod val="10000"/>
                  </a:schemeClr>
                </a:solidFill>
              </a:rPr>
              <a:t>selection variant</a:t>
            </a:r>
            <a:r>
              <a:rPr lang="en-US" dirty="0" smtClean="0"/>
              <a:t>.</a:t>
            </a:r>
          </a:p>
        </p:txBody>
      </p:sp>
      <p:sp>
        <p:nvSpPr>
          <p:cNvPr id="348211" name="Rectangle 51"/>
          <p:cNvSpPr>
            <a:spLocks noChangeArrowheads="1"/>
          </p:cNvSpPr>
          <p:nvPr/>
        </p:nvSpPr>
        <p:spPr bwMode="auto">
          <a:xfrm>
            <a:off x="2362200" y="2270124"/>
            <a:ext cx="200025" cy="21113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348225" name="Line 65"/>
          <p:cNvSpPr>
            <a:spLocks noChangeShapeType="1"/>
          </p:cNvSpPr>
          <p:nvPr/>
        </p:nvSpPr>
        <p:spPr bwMode="auto">
          <a:xfrm flipV="1">
            <a:off x="2057400" y="4294187"/>
            <a:ext cx="762000" cy="228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48226" name="AutoShape 66"/>
          <p:cNvSpPr>
            <a:spLocks noChangeArrowheads="1"/>
          </p:cNvSpPr>
          <p:nvPr/>
        </p:nvSpPr>
        <p:spPr bwMode="auto">
          <a:xfrm>
            <a:off x="4724400" y="3182612"/>
            <a:ext cx="3505200" cy="2590800"/>
          </a:xfrm>
          <a:prstGeom prst="wedgeRectCallout">
            <a:avLst>
              <a:gd name="adj1" fmla="val -111231"/>
              <a:gd name="adj2" fmla="val -75859"/>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solidFill>
                <a:srgbClr val="002E62"/>
              </a:solidFill>
              <a:cs typeface="Arial" charset="0"/>
            </a:endParaRPr>
          </a:p>
        </p:txBody>
      </p:sp>
      <p:sp>
        <p:nvSpPr>
          <p:cNvPr id="348227" name="Text Box 67"/>
          <p:cNvSpPr txBox="1">
            <a:spLocks noChangeArrowheads="1"/>
          </p:cNvSpPr>
          <p:nvPr/>
        </p:nvSpPr>
        <p:spPr bwMode="auto">
          <a:xfrm>
            <a:off x="228600" y="3657600"/>
            <a:ext cx="3714750" cy="1954213"/>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pPr lvl="0"/>
            <a:r>
              <a:rPr lang="en-US" dirty="0"/>
              <a:t>Double-click the desired variant name and return to the report screen.</a:t>
            </a:r>
          </a:p>
          <a:p>
            <a:r>
              <a:rPr lang="en-US" dirty="0"/>
              <a:t>(Optional) Add date ranges or any additional information if needed</a:t>
            </a:r>
            <a:r>
              <a:rPr lang="en-US" dirty="0" smtClean="0"/>
              <a:t>.</a:t>
            </a:r>
          </a:p>
          <a:p>
            <a:r>
              <a:rPr lang="en-US" dirty="0"/>
              <a:t>Execute the report as usual.</a:t>
            </a:r>
          </a:p>
        </p:txBody>
      </p:sp>
      <p:sp>
        <p:nvSpPr>
          <p:cNvPr id="348230" name="Line 70"/>
          <p:cNvSpPr>
            <a:spLocks noChangeShapeType="1"/>
          </p:cNvSpPr>
          <p:nvPr/>
        </p:nvSpPr>
        <p:spPr bwMode="auto">
          <a:xfrm>
            <a:off x="4572000" y="5551487"/>
            <a:ext cx="304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48231" name="Line 71"/>
          <p:cNvSpPr>
            <a:spLocks noChangeShapeType="1"/>
          </p:cNvSpPr>
          <p:nvPr/>
        </p:nvSpPr>
        <p:spPr bwMode="auto">
          <a:xfrm>
            <a:off x="4876800" y="5538787"/>
            <a:ext cx="0" cy="355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48232" name="Line 72"/>
          <p:cNvSpPr>
            <a:spLocks noChangeShapeType="1"/>
          </p:cNvSpPr>
          <p:nvPr/>
        </p:nvSpPr>
        <p:spPr bwMode="auto">
          <a:xfrm>
            <a:off x="4876800" y="5894387"/>
            <a:ext cx="5334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grpSp>
        <p:nvGrpSpPr>
          <p:cNvPr id="29" name="Group 24"/>
          <p:cNvGrpSpPr>
            <a:grpSpLocks/>
          </p:cNvGrpSpPr>
          <p:nvPr/>
        </p:nvGrpSpPr>
        <p:grpSpPr bwMode="auto">
          <a:xfrm>
            <a:off x="5549900" y="1465262"/>
            <a:ext cx="393700" cy="363538"/>
            <a:chOff x="4976" y="624"/>
            <a:chExt cx="200" cy="176"/>
          </a:xfrm>
        </p:grpSpPr>
        <p:sp>
          <p:nvSpPr>
            <p:cNvPr id="30"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32" name="Group 31"/>
          <p:cNvGrpSpPr>
            <a:grpSpLocks/>
          </p:cNvGrpSpPr>
          <p:nvPr/>
        </p:nvGrpSpPr>
        <p:grpSpPr bwMode="auto">
          <a:xfrm>
            <a:off x="304800" y="3276600"/>
            <a:ext cx="393700" cy="363538"/>
            <a:chOff x="4976" y="624"/>
            <a:chExt cx="200" cy="176"/>
          </a:xfrm>
        </p:grpSpPr>
        <p:sp>
          <p:nvSpPr>
            <p:cNvPr id="33" name="Oval 3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8450" y="2100658"/>
            <a:ext cx="2095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3240726"/>
            <a:ext cx="3352800" cy="2475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511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100" y="1925006"/>
            <a:ext cx="3810000" cy="19094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2276" name="Text Box 20"/>
          <p:cNvSpPr txBox="1">
            <a:spLocks noChangeArrowheads="1"/>
          </p:cNvSpPr>
          <p:nvPr/>
        </p:nvSpPr>
        <p:spPr bwMode="auto">
          <a:xfrm>
            <a:off x="1828800" y="4098925"/>
            <a:ext cx="2819400" cy="2215991"/>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Click    </a:t>
            </a:r>
            <a:r>
              <a:rPr lang="en-US" dirty="0" smtClean="0"/>
              <a:t>to </a:t>
            </a:r>
            <a:r>
              <a:rPr lang="en-US" dirty="0"/>
              <a:t>execute the report in the foreground.</a:t>
            </a:r>
          </a:p>
          <a:p>
            <a:r>
              <a:rPr lang="en-US" dirty="0"/>
              <a:t>The report data that meets the selection criteria will be displayed on the screen.</a:t>
            </a:r>
          </a:p>
          <a:p>
            <a:r>
              <a:rPr lang="en-US" dirty="0"/>
              <a:t>You may then customize the report display or download the data to Excel.</a:t>
            </a:r>
          </a:p>
        </p:txBody>
      </p:sp>
      <p:sp>
        <p:nvSpPr>
          <p:cNvPr id="352274" name="AutoShape 18"/>
          <p:cNvSpPr>
            <a:spLocks noChangeArrowheads="1"/>
          </p:cNvSpPr>
          <p:nvPr/>
        </p:nvSpPr>
        <p:spPr bwMode="auto">
          <a:xfrm>
            <a:off x="4953000" y="3641725"/>
            <a:ext cx="3657600" cy="2286000"/>
          </a:xfrm>
          <a:prstGeom prst="wedgeRectCallout">
            <a:avLst>
              <a:gd name="adj1" fmla="val -132118"/>
              <a:gd name="adj2" fmla="val -93194"/>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352258" name="Rectangle 2"/>
          <p:cNvSpPr>
            <a:spLocks noGrp="1" noChangeArrowheads="1"/>
          </p:cNvSpPr>
          <p:nvPr>
            <p:ph type="title"/>
          </p:nvPr>
        </p:nvSpPr>
        <p:spPr/>
        <p:txBody>
          <a:bodyPr/>
          <a:lstStyle/>
          <a:p>
            <a:r>
              <a:rPr lang="en-US" smtClean="0"/>
              <a:t>Execute a Report</a:t>
            </a:r>
          </a:p>
        </p:txBody>
      </p:sp>
      <p:sp>
        <p:nvSpPr>
          <p:cNvPr id="352259" name="Rectangle 3"/>
          <p:cNvSpPr>
            <a:spLocks noGrp="1" noChangeArrowheads="1"/>
          </p:cNvSpPr>
          <p:nvPr>
            <p:ph idx="1"/>
          </p:nvPr>
        </p:nvSpPr>
        <p:spPr/>
        <p:txBody>
          <a:bodyPr/>
          <a:lstStyle/>
          <a:p>
            <a:r>
              <a:rPr lang="en-US" dirty="0" smtClean="0"/>
              <a:t>Once you have entered values for the selection criteria (either manually or by using a variant), you are ready to execute the report. </a:t>
            </a:r>
          </a:p>
        </p:txBody>
      </p:sp>
      <p:sp>
        <p:nvSpPr>
          <p:cNvPr id="352275" name="Rectangle 19"/>
          <p:cNvSpPr>
            <a:spLocks noChangeArrowheads="1"/>
          </p:cNvSpPr>
          <p:nvPr/>
        </p:nvSpPr>
        <p:spPr bwMode="auto">
          <a:xfrm>
            <a:off x="1644650" y="2286000"/>
            <a:ext cx="304800" cy="370404"/>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grpSp>
        <p:nvGrpSpPr>
          <p:cNvPr id="22" name="Group 24"/>
          <p:cNvGrpSpPr>
            <a:grpSpLocks/>
          </p:cNvGrpSpPr>
          <p:nvPr/>
        </p:nvGrpSpPr>
        <p:grpSpPr bwMode="auto">
          <a:xfrm>
            <a:off x="1206500" y="2133600"/>
            <a:ext cx="393700" cy="363538"/>
            <a:chOff x="4976" y="624"/>
            <a:chExt cx="200" cy="176"/>
          </a:xfrm>
        </p:grpSpPr>
        <p:sp>
          <p:nvSpPr>
            <p:cNvPr id="23"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5" name="Group 24"/>
          <p:cNvGrpSpPr>
            <a:grpSpLocks/>
          </p:cNvGrpSpPr>
          <p:nvPr/>
        </p:nvGrpSpPr>
        <p:grpSpPr bwMode="auto">
          <a:xfrm>
            <a:off x="1447800" y="4002005"/>
            <a:ext cx="393700" cy="363538"/>
            <a:chOff x="4976" y="624"/>
            <a:chExt cx="200" cy="176"/>
          </a:xfrm>
        </p:grpSpPr>
        <p:sp>
          <p:nvSpPr>
            <p:cNvPr id="26"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7"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8" name="Group 24"/>
          <p:cNvGrpSpPr>
            <a:grpSpLocks/>
          </p:cNvGrpSpPr>
          <p:nvPr/>
        </p:nvGrpSpPr>
        <p:grpSpPr bwMode="auto">
          <a:xfrm>
            <a:off x="8369300" y="3276600"/>
            <a:ext cx="393700" cy="363538"/>
            <a:chOff x="4976" y="624"/>
            <a:chExt cx="200" cy="176"/>
          </a:xfrm>
        </p:grpSpPr>
        <p:sp>
          <p:nvSpPr>
            <p:cNvPr id="29"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0"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31" name="Group 24"/>
          <p:cNvGrpSpPr>
            <a:grpSpLocks/>
          </p:cNvGrpSpPr>
          <p:nvPr/>
        </p:nvGrpSpPr>
        <p:grpSpPr bwMode="auto">
          <a:xfrm>
            <a:off x="1447800" y="4665662"/>
            <a:ext cx="393700" cy="363538"/>
            <a:chOff x="4976" y="624"/>
            <a:chExt cx="200" cy="176"/>
          </a:xfrm>
        </p:grpSpPr>
        <p:sp>
          <p:nvSpPr>
            <p:cNvPr id="32"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3"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pic>
        <p:nvPicPr>
          <p:cNvPr id="1229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200" y="3692527"/>
            <a:ext cx="3536950" cy="217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183774"/>
            <a:ext cx="247650"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4224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marL="2006600" indent="-2006600" defTabSz="687388"/>
            <a:r>
              <a:rPr lang="en-US" sz="1800" b="1" dirty="0"/>
              <a:t>Activity Name: </a:t>
            </a:r>
            <a:r>
              <a:rPr lang="en-US" sz="1800" dirty="0" smtClean="0"/>
              <a:t>Execute a Report Using Multiple Selections and Variants</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123</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2"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Demonstration/Practice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a:solidFill>
                  <a:schemeClr val="accent4">
                    <a:lumMod val="10000"/>
                  </a:schemeClr>
                </a:solidFill>
                <a:effectLst/>
              </a:rPr>
              <a:t>You have created a Selection Variant called </a:t>
            </a:r>
            <a:r>
              <a:rPr lang="en-US" b="1" dirty="0">
                <a:solidFill>
                  <a:schemeClr val="accent4">
                    <a:lumMod val="10000"/>
                  </a:schemeClr>
                </a:solidFill>
                <a:effectLst/>
              </a:rPr>
              <a:t>Framework</a:t>
            </a:r>
            <a:r>
              <a:rPr lang="en-US" dirty="0">
                <a:solidFill>
                  <a:schemeClr val="accent4">
                    <a:lumMod val="10000"/>
                  </a:schemeClr>
                </a:solidFill>
                <a:effectLst/>
              </a:rPr>
              <a:t> for the </a:t>
            </a:r>
            <a:r>
              <a:rPr lang="en-US" b="1" dirty="0">
                <a:solidFill>
                  <a:schemeClr val="accent4">
                    <a:lumMod val="10000"/>
                  </a:schemeClr>
                </a:solidFill>
                <a:effectLst/>
              </a:rPr>
              <a:t>ME2L Purchasing Documents per Vendor</a:t>
            </a:r>
            <a:r>
              <a:rPr lang="en-US" dirty="0">
                <a:solidFill>
                  <a:schemeClr val="accent4">
                    <a:lumMod val="10000"/>
                  </a:schemeClr>
                </a:solidFill>
                <a:effectLst/>
              </a:rPr>
              <a:t> report for </a:t>
            </a:r>
            <a:r>
              <a:rPr lang="en-US" b="1" dirty="0">
                <a:solidFill>
                  <a:schemeClr val="accent4">
                    <a:lumMod val="10000"/>
                  </a:schemeClr>
                </a:solidFill>
                <a:effectLst/>
              </a:rPr>
              <a:t>Vendors 1000000035 – 1000000099</a:t>
            </a:r>
            <a:r>
              <a:rPr lang="en-US" dirty="0">
                <a:solidFill>
                  <a:schemeClr val="accent4">
                    <a:lumMod val="10000"/>
                  </a:schemeClr>
                </a:solidFill>
                <a:effectLst/>
              </a:rPr>
              <a:t> for </a:t>
            </a:r>
            <a:r>
              <a:rPr lang="en-US" b="1" dirty="0">
                <a:solidFill>
                  <a:schemeClr val="accent4">
                    <a:lumMod val="10000"/>
                  </a:schemeClr>
                </a:solidFill>
                <a:effectLst/>
              </a:rPr>
              <a:t>document type FO (Framework Order)</a:t>
            </a:r>
            <a:r>
              <a:rPr lang="en-US" dirty="0">
                <a:solidFill>
                  <a:schemeClr val="accent4">
                    <a:lumMod val="10000"/>
                  </a:schemeClr>
                </a:solidFill>
                <a:effectLst/>
              </a:rPr>
              <a:t>.</a:t>
            </a:r>
            <a:r>
              <a:rPr lang="en-US" b="1" dirty="0">
                <a:solidFill>
                  <a:schemeClr val="accent4">
                    <a:lumMod val="10000"/>
                  </a:schemeClr>
                </a:solidFill>
                <a:effectLst/>
              </a:rPr>
              <a:t> </a:t>
            </a:r>
            <a:endParaRPr lang="en-US" b="1" dirty="0" smtClean="0">
              <a:solidFill>
                <a:schemeClr val="accent4">
                  <a:lumMod val="10000"/>
                </a:schemeClr>
              </a:solidFill>
              <a:effectLst/>
            </a:endParaRPr>
          </a:p>
          <a:p>
            <a:pPr lvl="1">
              <a:tabLst>
                <a:tab pos="2514600" algn="l"/>
              </a:tabLst>
            </a:pPr>
            <a:endParaRPr lang="en-US" b="1" dirty="0">
              <a:solidFill>
                <a:schemeClr val="accent4">
                  <a:lumMod val="10000"/>
                </a:schemeClr>
              </a:solidFill>
              <a:effectLst/>
            </a:endParaRPr>
          </a:p>
          <a:p>
            <a:pPr lvl="1">
              <a:tabLst>
                <a:tab pos="2514600" algn="l"/>
              </a:tabLst>
            </a:pPr>
            <a:r>
              <a:rPr lang="en-US" dirty="0">
                <a:solidFill>
                  <a:schemeClr val="accent4">
                    <a:lumMod val="10000"/>
                  </a:schemeClr>
                </a:solidFill>
                <a:effectLst/>
              </a:rPr>
              <a:t>Use the variant to execute the </a:t>
            </a:r>
            <a:r>
              <a:rPr lang="en-US" dirty="0" smtClean="0">
                <a:solidFill>
                  <a:schemeClr val="accent4">
                    <a:lumMod val="10000"/>
                  </a:schemeClr>
                </a:solidFill>
                <a:effectLst/>
              </a:rPr>
              <a:t>report</a:t>
            </a:r>
          </a:p>
          <a:p>
            <a:pPr lvl="1">
              <a:tabLst>
                <a:tab pos="2514600" algn="l"/>
              </a:tabLst>
            </a:pPr>
            <a:endParaRPr lang="en-US" dirty="0">
              <a:solidFill>
                <a:schemeClr val="bg2"/>
              </a:solidFill>
            </a:endParaRPr>
          </a:p>
          <a:p>
            <a:endParaRPr lang="en-US" b="1" dirty="0" smtClean="0"/>
          </a:p>
          <a:p>
            <a:endParaRPr lang="en-US" b="1" dirty="0"/>
          </a:p>
          <a:p>
            <a:endParaRPr lang="en-US" b="1" dirty="0" smtClean="0"/>
          </a:p>
          <a:p>
            <a:endParaRPr lang="en-US" b="1" dirty="0"/>
          </a:p>
          <a:p>
            <a:r>
              <a:rPr lang="en-US" b="1" dirty="0" smtClean="0"/>
              <a:t>Exercise: 5.4 Execute a Report Using Multiple                 			 Selections and Variants</a:t>
            </a:r>
            <a:endParaRPr lang="en-US" b="1" dirty="0"/>
          </a:p>
        </p:txBody>
      </p:sp>
      <p:pic>
        <p:nvPicPr>
          <p:cNvPr id="5" name="Picture 2" descr="C:\Users\namudaliar\Documents\Narayanan\Ball Corp\Images\shutterstock_50629798.jpg"/>
          <p:cNvPicPr>
            <a:picLocks noChangeAspect="1" noChangeArrowheads="1"/>
          </p:cNvPicPr>
          <p:nvPr/>
        </p:nvPicPr>
        <p:blipFill>
          <a:blip r:embed="rId3" cstate="print"/>
          <a:srcRect/>
          <a:stretch>
            <a:fillRect/>
          </a:stretch>
        </p:blipFill>
        <p:spPr bwMode="auto">
          <a:xfrm>
            <a:off x="6992821" y="4038600"/>
            <a:ext cx="2151180" cy="2667000"/>
          </a:xfrm>
          <a:prstGeom prst="rect">
            <a:avLst/>
          </a:prstGeom>
          <a:noFill/>
        </p:spPr>
      </p:pic>
    </p:spTree>
    <p:extLst>
      <p:ext uri="{BB962C8B-B14F-4D97-AF65-F5344CB8AC3E}">
        <p14:creationId xmlns:p14="http://schemas.microsoft.com/office/powerpoint/2010/main" val="720000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lvl="1" indent="-457200">
              <a:buFont typeface="+mj-lt"/>
              <a:buAutoNum type="arabicPeriod"/>
            </a:pPr>
            <a:r>
              <a:rPr lang="en-US" dirty="0">
                <a:effectLst/>
              </a:rPr>
              <a:t>Fill in the blank: </a:t>
            </a:r>
            <a:r>
              <a:rPr lang="en-US" dirty="0">
                <a:solidFill>
                  <a:schemeClr val="accent4">
                    <a:lumMod val="10000"/>
                  </a:schemeClr>
                </a:solidFill>
                <a:effectLst/>
              </a:rPr>
              <a:t>A ______ is a group of selection criteria values that have been saved for future use.</a:t>
            </a:r>
          </a:p>
          <a:p>
            <a:pPr marL="457200" lvl="1" indent="-457200">
              <a:buFont typeface="+mj-lt"/>
              <a:buAutoNum type="arabicPeriod"/>
            </a:pPr>
            <a:r>
              <a:rPr lang="en-US" dirty="0">
                <a:solidFill>
                  <a:schemeClr val="accent4">
                    <a:lumMod val="10000"/>
                  </a:schemeClr>
                </a:solidFill>
                <a:effectLst/>
              </a:rPr>
              <a:t>Adding a </a:t>
            </a:r>
            <a:r>
              <a:rPr lang="en-US" b="1" dirty="0">
                <a:solidFill>
                  <a:schemeClr val="accent4">
                    <a:lumMod val="10000"/>
                  </a:schemeClr>
                </a:solidFill>
                <a:effectLst/>
              </a:rPr>
              <a:t>forward slash</a:t>
            </a:r>
            <a:r>
              <a:rPr lang="en-US" dirty="0">
                <a:solidFill>
                  <a:schemeClr val="accent4">
                    <a:lumMod val="10000"/>
                  </a:schemeClr>
                </a:solidFill>
                <a:effectLst/>
              </a:rPr>
              <a:t> (</a:t>
            </a:r>
            <a:r>
              <a:rPr lang="en-US" b="1" dirty="0">
                <a:solidFill>
                  <a:schemeClr val="accent4">
                    <a:lumMod val="10000"/>
                  </a:schemeClr>
                </a:solidFill>
                <a:effectLst/>
              </a:rPr>
              <a:t>/</a:t>
            </a:r>
            <a:r>
              <a:rPr lang="en-US" dirty="0">
                <a:solidFill>
                  <a:schemeClr val="accent4">
                    <a:lumMod val="10000"/>
                  </a:schemeClr>
                </a:solidFill>
                <a:effectLst/>
              </a:rPr>
              <a:t>) in front of the variant name will allow others to use your variant. This is called a </a:t>
            </a:r>
            <a:r>
              <a:rPr lang="en-US" dirty="0" smtClean="0">
                <a:solidFill>
                  <a:schemeClr val="accent4">
                    <a:lumMod val="10000"/>
                  </a:schemeClr>
                </a:solidFill>
                <a:effectLst/>
              </a:rPr>
              <a:t>______.</a:t>
            </a:r>
          </a:p>
          <a:p>
            <a:pPr marL="457200" lvl="1" indent="-457200">
              <a:buFont typeface="+mj-lt"/>
              <a:buAutoNum type="arabicPeriod"/>
            </a:pPr>
            <a:r>
              <a:rPr lang="en-US" dirty="0" smtClean="0">
                <a:effectLst/>
              </a:rPr>
              <a:t>How do you allow others to use your selection variant?</a:t>
            </a:r>
          </a:p>
          <a:p>
            <a:pPr marL="457200" lvl="1" indent="-457200">
              <a:buFont typeface="+mj-lt"/>
              <a:buAutoNum type="arabicPeriod"/>
            </a:pPr>
            <a:r>
              <a:rPr lang="en-US" dirty="0" smtClean="0">
                <a:effectLst/>
              </a:rPr>
              <a:t>Can you </a:t>
            </a:r>
            <a:r>
              <a:rPr lang="en-US" dirty="0" smtClean="0"/>
              <a:t>change the selection criteria in a selection variant?</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125</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3998558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77325"/>
            <a:ext cx="8367673" cy="4186237"/>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
        <p:nvSpPr>
          <p:cNvPr id="359426" name="Rectangle 2"/>
          <p:cNvSpPr>
            <a:spLocks noGrp="1" noChangeArrowheads="1"/>
          </p:cNvSpPr>
          <p:nvPr>
            <p:ph type="title"/>
          </p:nvPr>
        </p:nvSpPr>
        <p:spPr/>
        <p:txBody>
          <a:bodyPr/>
          <a:lstStyle/>
          <a:p>
            <a:r>
              <a:rPr lang="en-US" smtClean="0"/>
              <a:t>View Report Data</a:t>
            </a:r>
          </a:p>
        </p:txBody>
      </p:sp>
      <p:sp>
        <p:nvSpPr>
          <p:cNvPr id="359427" name="Rectangle 3"/>
          <p:cNvSpPr>
            <a:spLocks noGrp="1" noChangeArrowheads="1"/>
          </p:cNvSpPr>
          <p:nvPr>
            <p:ph idx="1"/>
          </p:nvPr>
        </p:nvSpPr>
        <p:spPr/>
        <p:txBody>
          <a:bodyPr/>
          <a:lstStyle/>
          <a:p>
            <a:pPr>
              <a:lnSpc>
                <a:spcPct val="100000"/>
              </a:lnSpc>
              <a:spcBef>
                <a:spcPct val="20000"/>
              </a:spcBef>
              <a:spcAft>
                <a:spcPct val="0"/>
              </a:spcAft>
              <a:buFontTx/>
              <a:buNone/>
            </a:pPr>
            <a:r>
              <a:rPr lang="en-US" sz="1800" dirty="0" smtClean="0">
                <a:solidFill>
                  <a:schemeClr val="accent4">
                    <a:lumMod val="10000"/>
                  </a:schemeClr>
                </a:solidFill>
              </a:rPr>
              <a:t>When you execute the report in the foreground, the report data that meets the selection criteria will be displayed on the screen. </a:t>
            </a:r>
            <a:endParaRPr lang="en-US" sz="1800" i="1" dirty="0" smtClean="0">
              <a:solidFill>
                <a:schemeClr val="accent4">
                  <a:lumMod val="10000"/>
                </a:schemeClr>
              </a:solidFill>
            </a:endParaRPr>
          </a:p>
          <a:p>
            <a:pPr>
              <a:lnSpc>
                <a:spcPct val="80000"/>
              </a:lnSpc>
            </a:pPr>
            <a:endParaRPr lang="en-US" sz="1800" dirty="0" smtClean="0">
              <a:solidFill>
                <a:schemeClr val="accent4">
                  <a:lumMod val="10000"/>
                </a:schemeClr>
              </a:solidFill>
            </a:endParaRPr>
          </a:p>
        </p:txBody>
      </p:sp>
      <p:sp>
        <p:nvSpPr>
          <p:cNvPr id="359431" name="Text Box 7"/>
          <p:cNvSpPr txBox="1">
            <a:spLocks noChangeArrowheads="1"/>
          </p:cNvSpPr>
          <p:nvPr/>
        </p:nvSpPr>
        <p:spPr bwMode="auto">
          <a:xfrm>
            <a:off x="6841597" y="2336801"/>
            <a:ext cx="1616603" cy="303740"/>
          </a:xfrm>
          <a:prstGeom prst="rect">
            <a:avLst/>
          </a:prstGeom>
          <a:solidFill>
            <a:srgbClr val="FFE04F">
              <a:alpha val="50999"/>
            </a:srgbClr>
          </a:solidFill>
          <a:ln w="2857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spcBef>
                <a:spcPct val="20000"/>
              </a:spcBef>
            </a:pPr>
            <a:r>
              <a:rPr lang="en-US" sz="1200" b="1" dirty="0" smtClean="0">
                <a:solidFill>
                  <a:srgbClr val="002E62"/>
                </a:solidFill>
                <a:cs typeface="Arial" charset="0"/>
              </a:rPr>
              <a:t>Reporting Toolbar</a:t>
            </a:r>
          </a:p>
        </p:txBody>
      </p:sp>
      <p:sp>
        <p:nvSpPr>
          <p:cNvPr id="359432" name="Text Box 8"/>
          <p:cNvSpPr txBox="1">
            <a:spLocks noChangeArrowheads="1"/>
          </p:cNvSpPr>
          <p:nvPr/>
        </p:nvSpPr>
        <p:spPr bwMode="auto">
          <a:xfrm>
            <a:off x="4191236" y="2514600"/>
            <a:ext cx="1130620" cy="304800"/>
          </a:xfrm>
          <a:prstGeom prst="rect">
            <a:avLst/>
          </a:prstGeom>
          <a:solidFill>
            <a:srgbClr val="FFE04F">
              <a:alpha val="50999"/>
            </a:srgbClr>
          </a:solidFill>
          <a:ln w="2857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spcBef>
                <a:spcPct val="20000"/>
              </a:spcBef>
            </a:pPr>
            <a:r>
              <a:rPr lang="en-US" sz="1200" b="1" dirty="0" smtClean="0">
                <a:solidFill>
                  <a:srgbClr val="002E62"/>
                </a:solidFill>
                <a:cs typeface="Arial" charset="0"/>
              </a:rPr>
              <a:t>Report Data</a:t>
            </a:r>
          </a:p>
        </p:txBody>
      </p:sp>
      <p:sp>
        <p:nvSpPr>
          <p:cNvPr id="359437" name="Line 13"/>
          <p:cNvSpPr>
            <a:spLocks noChangeShapeType="1"/>
          </p:cNvSpPr>
          <p:nvPr/>
        </p:nvSpPr>
        <p:spPr bwMode="auto">
          <a:xfrm flipH="1">
            <a:off x="6205310" y="2538941"/>
            <a:ext cx="641297"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59438" name="Line 14"/>
          <p:cNvSpPr>
            <a:spLocks noChangeShapeType="1"/>
          </p:cNvSpPr>
          <p:nvPr/>
        </p:nvSpPr>
        <p:spPr bwMode="auto">
          <a:xfrm flipV="1">
            <a:off x="6205310" y="2336800"/>
            <a:ext cx="0" cy="203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59439" name="Line 15"/>
          <p:cNvSpPr>
            <a:spLocks noChangeShapeType="1"/>
          </p:cNvSpPr>
          <p:nvPr/>
        </p:nvSpPr>
        <p:spPr bwMode="auto">
          <a:xfrm>
            <a:off x="5333546" y="2590799"/>
            <a:ext cx="400811"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59440" name="Line 16"/>
          <p:cNvSpPr>
            <a:spLocks noChangeShapeType="1"/>
          </p:cNvSpPr>
          <p:nvPr/>
        </p:nvSpPr>
        <p:spPr bwMode="auto">
          <a:xfrm>
            <a:off x="5714317" y="2590799"/>
            <a:ext cx="0" cy="152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59442" name="Rectangle 18"/>
          <p:cNvSpPr>
            <a:spLocks noChangeArrowheads="1"/>
          </p:cNvSpPr>
          <p:nvPr/>
        </p:nvSpPr>
        <p:spPr bwMode="auto">
          <a:xfrm>
            <a:off x="428625" y="2057400"/>
            <a:ext cx="5851837" cy="279400"/>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Tree>
    <p:extLst>
      <p:ext uri="{BB962C8B-B14F-4D97-AF65-F5344CB8AC3E}">
        <p14:creationId xmlns:p14="http://schemas.microsoft.com/office/powerpoint/2010/main" val="748491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Reporting Toolbar</a:t>
            </a:r>
            <a:endParaRPr lang="en-US" dirty="0"/>
          </a:p>
        </p:txBody>
      </p:sp>
      <p:sp>
        <p:nvSpPr>
          <p:cNvPr id="3" name="Content Placeholder 2"/>
          <p:cNvSpPr>
            <a:spLocks noGrp="1"/>
          </p:cNvSpPr>
          <p:nvPr>
            <p:ph idx="1"/>
          </p:nvPr>
        </p:nvSpPr>
        <p:spPr>
          <a:xfrm>
            <a:off x="301625" y="990601"/>
            <a:ext cx="8537575" cy="3124200"/>
          </a:xfrm>
        </p:spPr>
        <p:txBody>
          <a:bodyPr/>
          <a:lstStyle/>
          <a:p>
            <a:pPr defTabSz="954088">
              <a:lnSpc>
                <a:spcPct val="80000"/>
              </a:lnSpc>
              <a:buFont typeface="Times" pitchFamily="18" charset="0"/>
              <a:buNone/>
            </a:pPr>
            <a:r>
              <a:rPr lang="en-US" dirty="0">
                <a:solidFill>
                  <a:schemeClr val="accent4">
                    <a:lumMod val="10000"/>
                  </a:schemeClr>
                </a:solidFill>
              </a:rPr>
              <a:t>You can use the reporting toolbar to customize the report. </a:t>
            </a:r>
          </a:p>
          <a:p>
            <a:pPr marL="579438" lvl="1" indent="-173038" defTabSz="954088">
              <a:lnSpc>
                <a:spcPct val="80000"/>
              </a:lnSpc>
              <a:buClr>
                <a:srgbClr val="002E62"/>
              </a:buClr>
              <a:buFontTx/>
              <a:buChar char="•"/>
            </a:pPr>
            <a:r>
              <a:rPr lang="en-US" dirty="0">
                <a:solidFill>
                  <a:schemeClr val="accent4">
                    <a:lumMod val="10000"/>
                  </a:schemeClr>
                </a:solidFill>
                <a:effectLst/>
              </a:rPr>
              <a:t>The reporting toolbar displays the most common functions that appear on most reports as well as some report-specific buttons.</a:t>
            </a:r>
          </a:p>
          <a:p>
            <a:pPr marL="579438" lvl="1" indent="-173038" defTabSz="954088">
              <a:lnSpc>
                <a:spcPct val="80000"/>
              </a:lnSpc>
              <a:buClr>
                <a:srgbClr val="002E62"/>
              </a:buClr>
              <a:buFontTx/>
              <a:buChar char="•"/>
            </a:pPr>
            <a:r>
              <a:rPr lang="en-US" dirty="0">
                <a:solidFill>
                  <a:schemeClr val="accent4">
                    <a:lumMod val="10000"/>
                  </a:schemeClr>
                </a:solidFill>
                <a:effectLst/>
              </a:rPr>
              <a:t>However, not all buttons will appear on the reporting toolbar for all the reports. Many times if a button does not appear in the toolbar, the functionality will be available by selecting Extras.</a:t>
            </a:r>
          </a:p>
          <a:p>
            <a:pPr marL="579438" lvl="1" indent="-173038" defTabSz="954088">
              <a:lnSpc>
                <a:spcPct val="80000"/>
              </a:lnSpc>
              <a:buClr>
                <a:srgbClr val="002E62"/>
              </a:buClr>
              <a:buFontTx/>
              <a:buChar char="•"/>
            </a:pPr>
            <a:r>
              <a:rPr lang="en-US" dirty="0">
                <a:solidFill>
                  <a:schemeClr val="accent4">
                    <a:lumMod val="10000"/>
                  </a:schemeClr>
                </a:solidFill>
                <a:effectLst/>
              </a:rPr>
              <a:t>In addition, report-specific buttons will only appear on the reporting toolbar for some reports.</a:t>
            </a:r>
            <a:r>
              <a:rPr lang="en-US" dirty="0">
                <a:solidFill>
                  <a:srgbClr val="002E62"/>
                </a:solidFill>
                <a:effectLst/>
                <a:cs typeface="Arial" charset="0"/>
              </a:rPr>
              <a:t/>
            </a:r>
            <a:br>
              <a:rPr lang="en-US" dirty="0">
                <a:solidFill>
                  <a:srgbClr val="002E62"/>
                </a:solidFill>
                <a:effectLst/>
                <a:cs typeface="Arial" charset="0"/>
              </a:rPr>
            </a:br>
            <a:endParaRPr lang="en-US" dirty="0">
              <a:solidFill>
                <a:srgbClr val="002E62"/>
              </a:solidFill>
              <a:effectLst/>
              <a:cs typeface="Arial" charset="0"/>
            </a:endParaRPr>
          </a:p>
          <a:p>
            <a:endParaRPr lang="en-US"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1" y="3962400"/>
            <a:ext cx="7772399" cy="1905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07013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6" name="AutoShape 8"/>
          <p:cNvSpPr>
            <a:spLocks noChangeArrowheads="1"/>
          </p:cNvSpPr>
          <p:nvPr/>
        </p:nvSpPr>
        <p:spPr bwMode="auto">
          <a:xfrm>
            <a:off x="4648200" y="2798763"/>
            <a:ext cx="4038600" cy="3276600"/>
          </a:xfrm>
          <a:prstGeom prst="wedgeRectCallout">
            <a:avLst>
              <a:gd name="adj1" fmla="val -69102"/>
              <a:gd name="adj2" fmla="val -34593"/>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462850" name="Rectangle 2"/>
          <p:cNvSpPr>
            <a:spLocks noGrp="1" noChangeArrowheads="1"/>
          </p:cNvSpPr>
          <p:nvPr>
            <p:ph type="title"/>
          </p:nvPr>
        </p:nvSpPr>
        <p:spPr/>
        <p:txBody>
          <a:bodyPr/>
          <a:lstStyle/>
          <a:p>
            <a:r>
              <a:rPr lang="en-US" smtClean="0"/>
              <a:t>Sort Report Data</a:t>
            </a:r>
          </a:p>
        </p:txBody>
      </p:sp>
      <p:sp>
        <p:nvSpPr>
          <p:cNvPr id="462851" name="Rectangle 3"/>
          <p:cNvSpPr>
            <a:spLocks noGrp="1" noChangeArrowheads="1"/>
          </p:cNvSpPr>
          <p:nvPr>
            <p:ph idx="1"/>
          </p:nvPr>
        </p:nvSpPr>
        <p:spPr/>
        <p:txBody>
          <a:bodyPr/>
          <a:lstStyle/>
          <a:p>
            <a:pPr>
              <a:lnSpc>
                <a:spcPct val="80000"/>
              </a:lnSpc>
            </a:pPr>
            <a:r>
              <a:rPr lang="en-US" dirty="0" smtClean="0">
                <a:solidFill>
                  <a:schemeClr val="accent4">
                    <a:lumMod val="10000"/>
                  </a:schemeClr>
                </a:solidFill>
              </a:rPr>
              <a:t>You can sort the report data in ascending or descending order by a selected column.</a:t>
            </a:r>
          </a:p>
          <a:p>
            <a:pPr lvl="1">
              <a:lnSpc>
                <a:spcPct val="80000"/>
              </a:lnSpc>
            </a:pPr>
            <a:r>
              <a:rPr lang="en-US" dirty="0" smtClean="0">
                <a:solidFill>
                  <a:schemeClr val="accent4">
                    <a:lumMod val="10000"/>
                  </a:schemeClr>
                </a:solidFill>
              </a:rPr>
              <a:t>For example, sort the data by clearing date, then document type in ascending order.</a:t>
            </a:r>
          </a:p>
          <a:p>
            <a:pPr>
              <a:lnSpc>
                <a:spcPct val="80000"/>
              </a:lnSpc>
            </a:pPr>
            <a:endParaRPr lang="en-US" dirty="0" smtClean="0">
              <a:solidFill>
                <a:schemeClr val="accent4">
                  <a:lumMod val="10000"/>
                </a:schemeClr>
              </a:solidFill>
            </a:endParaRPr>
          </a:p>
        </p:txBody>
      </p:sp>
      <p:sp>
        <p:nvSpPr>
          <p:cNvPr id="462857" name="Text Box 9"/>
          <p:cNvSpPr txBox="1">
            <a:spLocks noChangeArrowheads="1"/>
          </p:cNvSpPr>
          <p:nvPr/>
        </p:nvSpPr>
        <p:spPr bwMode="auto">
          <a:xfrm>
            <a:off x="822325" y="2895600"/>
            <a:ext cx="3048000" cy="59055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Click      </a:t>
            </a:r>
            <a:r>
              <a:rPr lang="en-US" dirty="0" smtClean="0"/>
              <a:t>on </a:t>
            </a:r>
            <a:r>
              <a:rPr lang="en-US" dirty="0"/>
              <a:t>the </a:t>
            </a:r>
            <a:r>
              <a:rPr lang="en-US" dirty="0" smtClean="0"/>
              <a:t>toolbar to </a:t>
            </a:r>
            <a:r>
              <a:rPr lang="en-US" dirty="0"/>
              <a:t>Sort in ascending </a:t>
            </a:r>
            <a:r>
              <a:rPr lang="en-US" dirty="0" smtClean="0"/>
              <a:t>order.</a:t>
            </a:r>
            <a:endParaRPr lang="en-US" dirty="0"/>
          </a:p>
        </p:txBody>
      </p:sp>
      <p:grpSp>
        <p:nvGrpSpPr>
          <p:cNvPr id="18" name="Group 24"/>
          <p:cNvGrpSpPr>
            <a:grpSpLocks/>
          </p:cNvGrpSpPr>
          <p:nvPr/>
        </p:nvGrpSpPr>
        <p:grpSpPr bwMode="auto">
          <a:xfrm>
            <a:off x="473075" y="2590800"/>
            <a:ext cx="393700" cy="363538"/>
            <a:chOff x="4976" y="624"/>
            <a:chExt cx="200" cy="176"/>
          </a:xfrm>
        </p:grpSpPr>
        <p:sp>
          <p:nvSpPr>
            <p:cNvPr id="19"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0"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1" name="Group 24"/>
          <p:cNvGrpSpPr>
            <a:grpSpLocks/>
          </p:cNvGrpSpPr>
          <p:nvPr/>
        </p:nvGrpSpPr>
        <p:grpSpPr bwMode="auto">
          <a:xfrm>
            <a:off x="2803705" y="4971256"/>
            <a:ext cx="393700" cy="363538"/>
            <a:chOff x="4976" y="624"/>
            <a:chExt cx="200" cy="176"/>
          </a:xfrm>
        </p:grpSpPr>
        <p:sp>
          <p:nvSpPr>
            <p:cNvPr id="22"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3"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954338"/>
            <a:ext cx="2857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819400"/>
            <a:ext cx="3886200" cy="2559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2862" name="Text Box 14"/>
          <p:cNvSpPr txBox="1">
            <a:spLocks noChangeArrowheads="1"/>
          </p:cNvSpPr>
          <p:nvPr/>
        </p:nvSpPr>
        <p:spPr bwMode="auto">
          <a:xfrm>
            <a:off x="3200400" y="5153025"/>
            <a:ext cx="5486400" cy="132397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The </a:t>
            </a:r>
            <a:r>
              <a:rPr lang="en-US" b="1" dirty="0"/>
              <a:t>Define sort order </a:t>
            </a:r>
            <a:r>
              <a:rPr lang="en-US" dirty="0"/>
              <a:t>dialog box provides you the ability to sort by multiple criteria. The values on the left indicate what fields are being sorted, and are sorted in the order listed. The values on the right are available to sort by, even if they do not currently display on the report.</a:t>
            </a:r>
          </a:p>
        </p:txBody>
      </p:sp>
    </p:spTree>
    <p:extLst>
      <p:ext uri="{BB962C8B-B14F-4D97-AF65-F5344CB8AC3E}">
        <p14:creationId xmlns:p14="http://schemas.microsoft.com/office/powerpoint/2010/main" val="356898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6087" y="2470150"/>
            <a:ext cx="3200400" cy="27146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24962" name="Rectangle 2"/>
          <p:cNvSpPr>
            <a:spLocks noGrp="1" noChangeArrowheads="1"/>
          </p:cNvSpPr>
          <p:nvPr>
            <p:ph type="title"/>
          </p:nvPr>
        </p:nvSpPr>
        <p:spPr/>
        <p:txBody>
          <a:bodyPr/>
          <a:lstStyle/>
          <a:p>
            <a:r>
              <a:rPr lang="en-US" smtClean="0"/>
              <a:t>Filter Report Data</a:t>
            </a:r>
          </a:p>
        </p:txBody>
      </p:sp>
      <p:sp>
        <p:nvSpPr>
          <p:cNvPr id="424963" name="Rectangle 3"/>
          <p:cNvSpPr>
            <a:spLocks noGrp="1" noChangeArrowheads="1"/>
          </p:cNvSpPr>
          <p:nvPr>
            <p:ph type="body" sz="half" idx="4294967295"/>
          </p:nvPr>
        </p:nvSpPr>
        <p:spPr>
          <a:xfrm>
            <a:off x="381000" y="914400"/>
            <a:ext cx="8763000" cy="1143000"/>
          </a:xfrm>
        </p:spPr>
        <p:txBody>
          <a:bodyPr/>
          <a:lstStyle/>
          <a:p>
            <a:r>
              <a:rPr lang="en-US" dirty="0" smtClean="0">
                <a:solidFill>
                  <a:schemeClr val="accent4">
                    <a:lumMod val="10000"/>
                  </a:schemeClr>
                </a:solidFill>
              </a:rPr>
              <a:t>You can filter the report data to restrict the display to one or more values in a selected column.</a:t>
            </a:r>
          </a:p>
          <a:p>
            <a:pPr lvl="1"/>
            <a:r>
              <a:rPr lang="en-US" sz="2000" dirty="0" smtClean="0">
                <a:solidFill>
                  <a:schemeClr val="accent4">
                    <a:lumMod val="10000"/>
                  </a:schemeClr>
                </a:solidFill>
                <a:latin typeface="Verdana" pitchFamily="34" charset="0"/>
                <a:ea typeface="Verdana" pitchFamily="34" charset="0"/>
                <a:cs typeface="Verdana" pitchFamily="34" charset="0"/>
              </a:rPr>
              <a:t>For example, you want to view data for only a few document numbers.</a:t>
            </a:r>
          </a:p>
          <a:p>
            <a:endParaRPr lang="en-US" sz="1800" dirty="0" smtClean="0">
              <a:solidFill>
                <a:schemeClr val="accent4">
                  <a:lumMod val="10000"/>
                </a:schemeClr>
              </a:solidFill>
            </a:endParaRPr>
          </a:p>
        </p:txBody>
      </p:sp>
      <p:sp>
        <p:nvSpPr>
          <p:cNvPr id="424985" name="AutoShape 25"/>
          <p:cNvSpPr>
            <a:spLocks noChangeArrowheads="1"/>
          </p:cNvSpPr>
          <p:nvPr/>
        </p:nvSpPr>
        <p:spPr bwMode="auto">
          <a:xfrm>
            <a:off x="4114800" y="3479961"/>
            <a:ext cx="4800600" cy="2647789"/>
          </a:xfrm>
          <a:prstGeom prst="wedgeRectCallout">
            <a:avLst>
              <a:gd name="adj1" fmla="val -17156"/>
              <a:gd name="adj2" fmla="val -49998"/>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solidFill>
                <a:srgbClr val="002E62"/>
              </a:solidFill>
              <a:latin typeface="Arial" charset="0"/>
              <a:cs typeface="Arial" charset="0"/>
            </a:endParaRPr>
          </a:p>
        </p:txBody>
      </p:sp>
      <p:sp>
        <p:nvSpPr>
          <p:cNvPr id="424986" name="Text Box 26"/>
          <p:cNvSpPr txBox="1">
            <a:spLocks noChangeArrowheads="1"/>
          </p:cNvSpPr>
          <p:nvPr/>
        </p:nvSpPr>
        <p:spPr bwMode="auto">
          <a:xfrm>
            <a:off x="304800" y="2698751"/>
            <a:ext cx="2438400" cy="3076574"/>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a:defRPr>
                <a:solidFill>
                  <a:schemeClr val="tx1"/>
                </a:solidFill>
                <a:latin typeface="Arial" charset="0"/>
              </a:defRPr>
            </a:lvl6pPr>
            <a:lvl7pPr>
              <a:defRPr>
                <a:solidFill>
                  <a:schemeClr val="tx1"/>
                </a:solidFill>
                <a:latin typeface="Arial" charset="0"/>
              </a:defRPr>
            </a:lvl7pPr>
            <a:lvl8pPr>
              <a:defRPr>
                <a:solidFill>
                  <a:schemeClr val="tx1"/>
                </a:solidFill>
                <a:latin typeface="Arial" charset="0"/>
              </a:defRPr>
            </a:lvl8pPr>
            <a:lvl9pPr>
              <a:defRPr>
                <a:solidFill>
                  <a:schemeClr val="tx1"/>
                </a:solidFill>
                <a:latin typeface="Arial" charset="0"/>
              </a:defRPr>
            </a:lvl9pPr>
          </a:lstStyle>
          <a:p>
            <a:pPr marL="173038" indent="-173038">
              <a:buFont typeface="+mj-lt"/>
              <a:buAutoNum type="arabicPeriod"/>
            </a:pPr>
            <a:r>
              <a:rPr lang="en-US" dirty="0"/>
              <a:t>Click the column heading for which you wish to filter</a:t>
            </a:r>
          </a:p>
          <a:p>
            <a:pPr marL="173038" indent="-173038">
              <a:buFont typeface="+mj-lt"/>
              <a:buAutoNum type="arabicPeriod"/>
            </a:pPr>
            <a:r>
              <a:rPr lang="en-US" dirty="0" smtClean="0"/>
              <a:t>Click </a:t>
            </a:r>
            <a:r>
              <a:rPr lang="en-US" dirty="0"/>
              <a:t>the </a:t>
            </a:r>
            <a:r>
              <a:rPr lang="en-US" dirty="0" smtClean="0"/>
              <a:t>arrow on the Filter button      and select </a:t>
            </a:r>
            <a:r>
              <a:rPr lang="en-US" b="1" dirty="0"/>
              <a:t>Set </a:t>
            </a:r>
            <a:r>
              <a:rPr lang="en-US" b="1" dirty="0" smtClean="0"/>
              <a:t>Filter…</a:t>
            </a:r>
          </a:p>
          <a:p>
            <a:pPr marL="173038" indent="-173038">
              <a:buFont typeface="+mj-lt"/>
              <a:buAutoNum type="arabicPeriod"/>
            </a:pPr>
            <a:r>
              <a:rPr lang="en-US" dirty="0" smtClean="0"/>
              <a:t>Enter </a:t>
            </a:r>
            <a:r>
              <a:rPr lang="en-US" dirty="0"/>
              <a:t>the filter data in the dialog </a:t>
            </a:r>
            <a:r>
              <a:rPr lang="en-US" dirty="0" smtClean="0"/>
              <a:t>box</a:t>
            </a:r>
            <a:endParaRPr lang="en-US" dirty="0"/>
          </a:p>
          <a:p>
            <a:pPr marL="173038" indent="-173038">
              <a:buFont typeface="+mj-lt"/>
              <a:buAutoNum type="arabicPeriod"/>
            </a:pPr>
            <a:r>
              <a:rPr lang="en-US" dirty="0"/>
              <a:t>Click the green check mark to accept filter criteria.</a:t>
            </a:r>
          </a:p>
        </p:txBody>
      </p:sp>
      <p:grpSp>
        <p:nvGrpSpPr>
          <p:cNvPr id="33" name="Group 24"/>
          <p:cNvGrpSpPr>
            <a:grpSpLocks/>
          </p:cNvGrpSpPr>
          <p:nvPr/>
        </p:nvGrpSpPr>
        <p:grpSpPr bwMode="auto">
          <a:xfrm>
            <a:off x="2667000" y="3294062"/>
            <a:ext cx="393700" cy="363538"/>
            <a:chOff x="4976" y="624"/>
            <a:chExt cx="200" cy="176"/>
          </a:xfrm>
        </p:grpSpPr>
        <p:sp>
          <p:nvSpPr>
            <p:cNvPr id="34"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5"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36" name="Group 24"/>
          <p:cNvGrpSpPr>
            <a:grpSpLocks/>
          </p:cNvGrpSpPr>
          <p:nvPr/>
        </p:nvGrpSpPr>
        <p:grpSpPr bwMode="auto">
          <a:xfrm>
            <a:off x="4114800" y="2760662"/>
            <a:ext cx="393700" cy="363538"/>
            <a:chOff x="4976" y="624"/>
            <a:chExt cx="200" cy="176"/>
          </a:xfrm>
        </p:grpSpPr>
        <p:sp>
          <p:nvSpPr>
            <p:cNvPr id="37"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8"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775" y="3848100"/>
            <a:ext cx="35242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8648" y="3532900"/>
            <a:ext cx="4692903" cy="256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0" name="Group 29"/>
          <p:cNvGrpSpPr>
            <a:grpSpLocks/>
          </p:cNvGrpSpPr>
          <p:nvPr/>
        </p:nvGrpSpPr>
        <p:grpSpPr bwMode="auto">
          <a:xfrm>
            <a:off x="5505196" y="4071277"/>
            <a:ext cx="362204" cy="424523"/>
            <a:chOff x="4976" y="624"/>
            <a:chExt cx="200" cy="176"/>
          </a:xfrm>
        </p:grpSpPr>
        <p:sp>
          <p:nvSpPr>
            <p:cNvPr id="31" name="Oval 30"/>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2" name="Text Box 26"/>
            <p:cNvSpPr txBox="1">
              <a:spLocks noChangeArrowheads="1"/>
            </p:cNvSpPr>
            <p:nvPr/>
          </p:nvSpPr>
          <p:spPr bwMode="auto">
            <a:xfrm>
              <a:off x="5015" y="644"/>
              <a:ext cx="129"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grpSp>
        <p:nvGrpSpPr>
          <p:cNvPr id="39" name="Group 24"/>
          <p:cNvGrpSpPr>
            <a:grpSpLocks/>
          </p:cNvGrpSpPr>
          <p:nvPr/>
        </p:nvGrpSpPr>
        <p:grpSpPr bwMode="auto">
          <a:xfrm>
            <a:off x="7924800" y="5503862"/>
            <a:ext cx="393700" cy="363538"/>
            <a:chOff x="4976" y="624"/>
            <a:chExt cx="200" cy="176"/>
          </a:xfrm>
        </p:grpSpPr>
        <p:sp>
          <p:nvSpPr>
            <p:cNvPr id="40"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4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4</a:t>
              </a:r>
            </a:p>
          </p:txBody>
        </p:sp>
      </p:grpSp>
    </p:spTree>
    <p:extLst>
      <p:ext uri="{BB962C8B-B14F-4D97-AF65-F5344CB8AC3E}">
        <p14:creationId xmlns:p14="http://schemas.microsoft.com/office/powerpoint/2010/main" val="5022784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85" name="AutoShape 13"/>
          <p:cNvSpPr>
            <a:spLocks noChangeArrowheads="1"/>
          </p:cNvSpPr>
          <p:nvPr/>
        </p:nvSpPr>
        <p:spPr bwMode="auto">
          <a:xfrm>
            <a:off x="4572000" y="2798762"/>
            <a:ext cx="4038600" cy="3276600"/>
          </a:xfrm>
          <a:prstGeom prst="wedgeRectCallout">
            <a:avLst>
              <a:gd name="adj1" fmla="val -70753"/>
              <a:gd name="adj2" fmla="val -37500"/>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463874" name="Rectangle 2"/>
          <p:cNvSpPr>
            <a:spLocks noGrp="1" noChangeArrowheads="1"/>
          </p:cNvSpPr>
          <p:nvPr>
            <p:ph type="title"/>
          </p:nvPr>
        </p:nvSpPr>
        <p:spPr/>
        <p:txBody>
          <a:bodyPr/>
          <a:lstStyle/>
          <a:p>
            <a:r>
              <a:rPr lang="en-US" smtClean="0"/>
              <a:t>Total/Sub-total Report Data</a:t>
            </a:r>
          </a:p>
        </p:txBody>
      </p:sp>
      <p:sp>
        <p:nvSpPr>
          <p:cNvPr id="463875" name="Rectangle 3"/>
          <p:cNvSpPr>
            <a:spLocks noGrp="1" noChangeArrowheads="1"/>
          </p:cNvSpPr>
          <p:nvPr>
            <p:ph idx="1"/>
          </p:nvPr>
        </p:nvSpPr>
        <p:spPr/>
        <p:txBody>
          <a:bodyPr/>
          <a:lstStyle/>
          <a:p>
            <a:r>
              <a:rPr lang="en-US" dirty="0" smtClean="0">
                <a:solidFill>
                  <a:schemeClr val="accent4">
                    <a:lumMod val="10000"/>
                  </a:schemeClr>
                </a:solidFill>
              </a:rPr>
              <a:t>You can sum up the total value of amounts in a selected column. Once totaled, you can sub-total the amounts by another column. </a:t>
            </a:r>
          </a:p>
          <a:p>
            <a:pPr lvl="1"/>
            <a:r>
              <a:rPr lang="en-US" dirty="0" smtClean="0">
                <a:solidFill>
                  <a:schemeClr val="accent4">
                    <a:lumMod val="10000"/>
                  </a:schemeClr>
                </a:solidFill>
              </a:rPr>
              <a:t>For example, you can sub-total the invoice amounts for each vendor.</a:t>
            </a:r>
          </a:p>
          <a:p>
            <a:endParaRPr lang="en-US" dirty="0" smtClean="0">
              <a:solidFill>
                <a:schemeClr val="accent4">
                  <a:lumMod val="10000"/>
                </a:schemeClr>
              </a:solidFill>
            </a:endParaRPr>
          </a:p>
        </p:txBody>
      </p:sp>
      <p:sp>
        <p:nvSpPr>
          <p:cNvPr id="463879" name="Text Box 7"/>
          <p:cNvSpPr txBox="1">
            <a:spLocks noChangeArrowheads="1"/>
          </p:cNvSpPr>
          <p:nvPr/>
        </p:nvSpPr>
        <p:spPr bwMode="auto">
          <a:xfrm>
            <a:off x="596900" y="2847975"/>
            <a:ext cx="3124200" cy="59055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marL="173038" indent="-173038" defTabSz="954088">
              <a:spcAft>
                <a:spcPts val="600"/>
              </a:spcAft>
              <a:buFont typeface="+mj-lt"/>
              <a:buAutoNum type="arabicPeriod"/>
              <a:defRPr sz="1600">
                <a:solidFill>
                  <a:srgbClr val="000000"/>
                </a:solidFill>
                <a:latin typeface="Arial" pitchFamily="34" charset="0"/>
                <a:ea typeface="Verdana" pitchFamily="34" charset="0"/>
                <a:cs typeface="Arial" pitchFamily="34" charset="0"/>
              </a:defRPr>
            </a:lvl1pPr>
          </a:lstStyle>
          <a:p>
            <a:pPr marL="0" indent="0">
              <a:buNone/>
            </a:pPr>
            <a:r>
              <a:rPr lang="en-US" dirty="0" smtClean="0"/>
              <a:t>Click the arrow on the Subtotal icon       and select </a:t>
            </a:r>
            <a:r>
              <a:rPr lang="en-US" b="1" u="sng" dirty="0" smtClean="0"/>
              <a:t>S</a:t>
            </a:r>
            <a:r>
              <a:rPr lang="en-US" b="1" dirty="0" smtClean="0"/>
              <a:t>ubtotals…</a:t>
            </a:r>
            <a:endParaRPr lang="en-US" b="1" dirty="0"/>
          </a:p>
        </p:txBody>
      </p:sp>
      <p:grpSp>
        <p:nvGrpSpPr>
          <p:cNvPr id="18" name="Group 24"/>
          <p:cNvGrpSpPr>
            <a:grpSpLocks/>
          </p:cNvGrpSpPr>
          <p:nvPr/>
        </p:nvGrpSpPr>
        <p:grpSpPr bwMode="auto">
          <a:xfrm>
            <a:off x="381000" y="2455862"/>
            <a:ext cx="393700" cy="363538"/>
            <a:chOff x="4976" y="624"/>
            <a:chExt cx="200" cy="176"/>
          </a:xfrm>
        </p:grpSpPr>
        <p:sp>
          <p:nvSpPr>
            <p:cNvPr id="19"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0"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1" name="Group 24"/>
          <p:cNvGrpSpPr>
            <a:grpSpLocks/>
          </p:cNvGrpSpPr>
          <p:nvPr/>
        </p:nvGrpSpPr>
        <p:grpSpPr bwMode="auto">
          <a:xfrm>
            <a:off x="1123950" y="4971256"/>
            <a:ext cx="393700" cy="363538"/>
            <a:chOff x="4976" y="624"/>
            <a:chExt cx="200" cy="176"/>
          </a:xfrm>
        </p:grpSpPr>
        <p:sp>
          <p:nvSpPr>
            <p:cNvPr id="22"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3"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3152775"/>
            <a:ext cx="3429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838979"/>
            <a:ext cx="3767138" cy="2571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3886" name="Text Box 14"/>
          <p:cNvSpPr txBox="1">
            <a:spLocks noChangeArrowheads="1"/>
          </p:cNvSpPr>
          <p:nvPr/>
        </p:nvSpPr>
        <p:spPr bwMode="auto">
          <a:xfrm>
            <a:off x="1447800" y="5153025"/>
            <a:ext cx="7162800" cy="132397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marL="0" indent="0"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dirty="0"/>
              <a:t>The </a:t>
            </a:r>
            <a:r>
              <a:rPr lang="en-US" b="1" dirty="0"/>
              <a:t>Define sort order </a:t>
            </a:r>
            <a:r>
              <a:rPr lang="en-US" dirty="0"/>
              <a:t>dialog box displays with the added checkbox option of sub-total/total. The sort fields previously selected are still valid, and you have the option of including additional values to sort on. Selecting the sub-total/total checkbox will calculate based on that selection.</a:t>
            </a:r>
          </a:p>
        </p:txBody>
      </p:sp>
    </p:spTree>
    <p:extLst>
      <p:ext uri="{BB962C8B-B14F-4D97-AF65-F5344CB8AC3E}">
        <p14:creationId xmlns:p14="http://schemas.microsoft.com/office/powerpoint/2010/main" val="10656436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Sort, Filter, and Subtotal Report Data</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131</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2"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a:solidFill>
                  <a:schemeClr val="accent4">
                    <a:lumMod val="10000"/>
                  </a:schemeClr>
                </a:solidFill>
                <a:effectLst/>
              </a:rPr>
              <a:t>You are currently in the </a:t>
            </a:r>
            <a:r>
              <a:rPr lang="en-US" b="1" dirty="0" smtClean="0">
                <a:solidFill>
                  <a:schemeClr val="accent4">
                    <a:lumMod val="10000"/>
                  </a:schemeClr>
                </a:solidFill>
                <a:effectLst/>
              </a:rPr>
              <a:t>FBL1N </a:t>
            </a:r>
            <a:r>
              <a:rPr lang="en-US" b="1" dirty="0">
                <a:solidFill>
                  <a:schemeClr val="accent4">
                    <a:lumMod val="10000"/>
                  </a:schemeClr>
                </a:solidFill>
                <a:effectLst/>
              </a:rPr>
              <a:t>Vendor Line Item Display</a:t>
            </a:r>
            <a:r>
              <a:rPr lang="en-US" dirty="0">
                <a:solidFill>
                  <a:schemeClr val="accent4">
                    <a:lumMod val="10000"/>
                  </a:schemeClr>
                </a:solidFill>
                <a:effectLst/>
              </a:rPr>
              <a:t> report.</a:t>
            </a:r>
          </a:p>
          <a:p>
            <a:pPr lvl="1">
              <a:tabLst>
                <a:tab pos="2514600" algn="l"/>
              </a:tabLst>
            </a:pPr>
            <a:r>
              <a:rPr lang="en-US" dirty="0">
                <a:solidFill>
                  <a:schemeClr val="accent4">
                    <a:lumMod val="10000"/>
                  </a:schemeClr>
                </a:solidFill>
                <a:effectLst/>
              </a:rPr>
              <a:t>You wish to </a:t>
            </a:r>
            <a:r>
              <a:rPr lang="en-US" b="1" dirty="0">
                <a:solidFill>
                  <a:schemeClr val="accent4">
                    <a:lumMod val="10000"/>
                  </a:schemeClr>
                </a:solidFill>
                <a:effectLst/>
              </a:rPr>
              <a:t>sort</a:t>
            </a:r>
            <a:r>
              <a:rPr lang="en-US" dirty="0">
                <a:solidFill>
                  <a:schemeClr val="accent4">
                    <a:lumMod val="10000"/>
                  </a:schemeClr>
                </a:solidFill>
                <a:effectLst/>
              </a:rPr>
              <a:t> the invoices in ascending order by vendor.</a:t>
            </a:r>
          </a:p>
          <a:p>
            <a:pPr lvl="1">
              <a:tabLst>
                <a:tab pos="2514600" algn="l"/>
              </a:tabLst>
            </a:pPr>
            <a:r>
              <a:rPr lang="en-US" dirty="0">
                <a:solidFill>
                  <a:schemeClr val="accent4">
                    <a:lumMod val="10000"/>
                  </a:schemeClr>
                </a:solidFill>
                <a:effectLst/>
              </a:rPr>
              <a:t>You then wish to filter the report data to display data for only vendor number </a:t>
            </a:r>
            <a:r>
              <a:rPr lang="en-US" b="1" dirty="0" smtClean="0">
                <a:solidFill>
                  <a:schemeClr val="accent4">
                    <a:lumMod val="10000"/>
                  </a:schemeClr>
                </a:solidFill>
                <a:effectLst/>
              </a:rPr>
              <a:t>XXXXX</a:t>
            </a:r>
            <a:endParaRPr lang="en-US" b="1"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finish by subtotaling invoice amounts by Vendor</a:t>
            </a:r>
          </a:p>
          <a:p>
            <a:endParaRPr lang="en-US" b="1" dirty="0" smtClean="0"/>
          </a:p>
          <a:p>
            <a:endParaRPr lang="en-US" b="1" dirty="0"/>
          </a:p>
          <a:p>
            <a:endParaRPr lang="en-US" b="1" dirty="0"/>
          </a:p>
          <a:p>
            <a:r>
              <a:rPr lang="en-US" b="1" dirty="0" smtClean="0"/>
              <a:t>Exercise: 5.5 Sort, Filter, and Subtotal Report                			 Data</a:t>
            </a:r>
            <a:endParaRPr lang="en-US" b="1" dirty="0"/>
          </a:p>
        </p:txBody>
      </p:sp>
      <p:pic>
        <p:nvPicPr>
          <p:cNvPr id="5" name="Picture 2" descr="C:\Users\namudaliar\Documents\Narayanan\Ball Corp\Images\shutterstock_50629798.jpg"/>
          <p:cNvPicPr>
            <a:picLocks noChangeAspect="1" noChangeArrowheads="1"/>
          </p:cNvPicPr>
          <p:nvPr/>
        </p:nvPicPr>
        <p:blipFill>
          <a:blip r:embed="rId3" cstate="print"/>
          <a:srcRect/>
          <a:stretch>
            <a:fillRect/>
          </a:stretch>
        </p:blipFill>
        <p:spPr bwMode="auto">
          <a:xfrm>
            <a:off x="7115745" y="4191000"/>
            <a:ext cx="2028255" cy="2514600"/>
          </a:xfrm>
          <a:prstGeom prst="rect">
            <a:avLst/>
          </a:prstGeom>
          <a:noFill/>
        </p:spPr>
      </p:pic>
    </p:spTree>
    <p:extLst>
      <p:ext uri="{BB962C8B-B14F-4D97-AF65-F5344CB8AC3E}">
        <p14:creationId xmlns:p14="http://schemas.microsoft.com/office/powerpoint/2010/main" val="3584575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919" y="1752600"/>
            <a:ext cx="4264081" cy="22360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6834" name="Rectangle 2"/>
          <p:cNvSpPr>
            <a:spLocks noGrp="1" noChangeArrowheads="1"/>
          </p:cNvSpPr>
          <p:nvPr>
            <p:ph type="title"/>
          </p:nvPr>
        </p:nvSpPr>
        <p:spPr/>
        <p:txBody>
          <a:bodyPr/>
          <a:lstStyle/>
          <a:p>
            <a:r>
              <a:rPr lang="en-US" smtClean="0"/>
              <a:t>Drill-Down into Report Details</a:t>
            </a:r>
          </a:p>
        </p:txBody>
      </p:sp>
      <p:sp>
        <p:nvSpPr>
          <p:cNvPr id="376835" name="Rectangle 3"/>
          <p:cNvSpPr>
            <a:spLocks noGrp="1" noChangeArrowheads="1"/>
          </p:cNvSpPr>
          <p:nvPr>
            <p:ph idx="1"/>
          </p:nvPr>
        </p:nvSpPr>
        <p:spPr/>
        <p:txBody>
          <a:bodyPr/>
          <a:lstStyle/>
          <a:p>
            <a:r>
              <a:rPr lang="en-US" smtClean="0"/>
              <a:t>You can drill-down to lower levels of detail from the report data and view the source document.</a:t>
            </a:r>
          </a:p>
        </p:txBody>
      </p:sp>
      <p:sp>
        <p:nvSpPr>
          <p:cNvPr id="376858" name="AutoShape 26"/>
          <p:cNvSpPr>
            <a:spLocks noChangeArrowheads="1"/>
          </p:cNvSpPr>
          <p:nvPr/>
        </p:nvSpPr>
        <p:spPr bwMode="auto">
          <a:xfrm>
            <a:off x="3201958" y="2848443"/>
            <a:ext cx="3960841" cy="2590800"/>
          </a:xfrm>
          <a:prstGeom prst="wedgeRectCallout">
            <a:avLst>
              <a:gd name="adj1" fmla="val -78879"/>
              <a:gd name="adj2" fmla="val -14487"/>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376859" name="Text Box 27"/>
          <p:cNvSpPr txBox="1">
            <a:spLocks noChangeArrowheads="1"/>
          </p:cNvSpPr>
          <p:nvPr/>
        </p:nvSpPr>
        <p:spPr bwMode="auto">
          <a:xfrm>
            <a:off x="1066800" y="4083050"/>
            <a:ext cx="1600200" cy="83502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marL="0" indent="0"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a:t>Double-click a line item to display details.</a:t>
            </a:r>
          </a:p>
        </p:txBody>
      </p:sp>
      <p:sp>
        <p:nvSpPr>
          <p:cNvPr id="376868" name="Text Box 36"/>
          <p:cNvSpPr txBox="1">
            <a:spLocks noChangeArrowheads="1"/>
          </p:cNvSpPr>
          <p:nvPr/>
        </p:nvSpPr>
        <p:spPr bwMode="auto">
          <a:xfrm>
            <a:off x="3886200" y="5594998"/>
            <a:ext cx="4038600" cy="33655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marL="0" indent="0"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dirty="0"/>
              <a:t>Click      </a:t>
            </a:r>
            <a:r>
              <a:rPr lang="en-US" dirty="0" smtClean="0"/>
              <a:t>to </a:t>
            </a:r>
            <a:r>
              <a:rPr lang="en-US" dirty="0"/>
              <a:t>return to the report data.</a:t>
            </a:r>
          </a:p>
        </p:txBody>
      </p:sp>
      <p:grpSp>
        <p:nvGrpSpPr>
          <p:cNvPr id="22" name="Group 24"/>
          <p:cNvGrpSpPr>
            <a:grpSpLocks/>
          </p:cNvGrpSpPr>
          <p:nvPr/>
        </p:nvGrpSpPr>
        <p:grpSpPr bwMode="auto">
          <a:xfrm>
            <a:off x="838200" y="3788568"/>
            <a:ext cx="393700" cy="363538"/>
            <a:chOff x="4976" y="624"/>
            <a:chExt cx="200" cy="176"/>
          </a:xfrm>
        </p:grpSpPr>
        <p:sp>
          <p:nvSpPr>
            <p:cNvPr id="23"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5" name="Group 24"/>
          <p:cNvGrpSpPr>
            <a:grpSpLocks/>
          </p:cNvGrpSpPr>
          <p:nvPr/>
        </p:nvGrpSpPr>
        <p:grpSpPr bwMode="auto">
          <a:xfrm>
            <a:off x="3568700" y="5486400"/>
            <a:ext cx="393700" cy="363538"/>
            <a:chOff x="4976" y="624"/>
            <a:chExt cx="200" cy="176"/>
          </a:xfrm>
        </p:grpSpPr>
        <p:sp>
          <p:nvSpPr>
            <p:cNvPr id="26"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7"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599" y="2919926"/>
            <a:ext cx="3810001" cy="2414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7700" y="5653735"/>
            <a:ext cx="228600"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27273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Drill down into Report Data </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134</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a:solidFill>
                  <a:schemeClr val="accent4">
                    <a:lumMod val="10000"/>
                  </a:schemeClr>
                </a:solidFill>
                <a:effectLst/>
              </a:rPr>
              <a:t>You are currently in the </a:t>
            </a:r>
            <a:r>
              <a:rPr lang="en-US" b="1" dirty="0">
                <a:solidFill>
                  <a:schemeClr val="accent4">
                    <a:lumMod val="10000"/>
                  </a:schemeClr>
                </a:solidFill>
                <a:effectLst/>
              </a:rPr>
              <a:t>FBL3N G/L Account</a:t>
            </a:r>
            <a:r>
              <a:rPr lang="en-US" dirty="0">
                <a:solidFill>
                  <a:schemeClr val="accent4">
                    <a:lumMod val="10000"/>
                  </a:schemeClr>
                </a:solidFill>
                <a:effectLst/>
              </a:rPr>
              <a:t> </a:t>
            </a:r>
            <a:r>
              <a:rPr lang="en-US" b="1" dirty="0">
                <a:solidFill>
                  <a:schemeClr val="accent4">
                    <a:lumMod val="10000"/>
                  </a:schemeClr>
                </a:solidFill>
                <a:effectLst/>
              </a:rPr>
              <a:t>Item Display</a:t>
            </a:r>
            <a:r>
              <a:rPr lang="en-US" dirty="0">
                <a:solidFill>
                  <a:schemeClr val="accent4">
                    <a:lumMod val="10000"/>
                  </a:schemeClr>
                </a:solidFill>
                <a:effectLst/>
              </a:rPr>
              <a:t> report</a:t>
            </a:r>
            <a:r>
              <a:rPr lang="en-US" dirty="0" smtClean="0">
                <a:solidFill>
                  <a:schemeClr val="accent4">
                    <a:lumMod val="10000"/>
                  </a:schemeClr>
                </a:solidFill>
                <a:effectLst/>
              </a:rPr>
              <a:t>.</a:t>
            </a: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wish to drilldown into </a:t>
            </a:r>
            <a:r>
              <a:rPr lang="en-US" b="1" dirty="0">
                <a:solidFill>
                  <a:schemeClr val="accent4">
                    <a:lumMod val="10000"/>
                  </a:schemeClr>
                </a:solidFill>
                <a:effectLst/>
              </a:rPr>
              <a:t>Document No. 100515076</a:t>
            </a:r>
            <a:r>
              <a:rPr lang="en-US" dirty="0">
                <a:solidFill>
                  <a:schemeClr val="accent4">
                    <a:lumMod val="10000"/>
                  </a:schemeClr>
                </a:solidFill>
                <a:effectLst/>
              </a:rPr>
              <a:t> to view historical data to review specific line items that have posted to that document</a:t>
            </a:r>
            <a:endParaRPr lang="en-US" b="1" dirty="0" smtClean="0">
              <a:solidFill>
                <a:schemeClr val="accent4">
                  <a:lumMod val="10000"/>
                </a:schemeClr>
              </a:solidFill>
              <a:effectLst/>
            </a:endParaRPr>
          </a:p>
          <a:p>
            <a:endParaRPr lang="en-US" b="1" dirty="0"/>
          </a:p>
          <a:p>
            <a:endParaRPr lang="en-US" b="1" dirty="0" smtClean="0"/>
          </a:p>
          <a:p>
            <a:endParaRPr lang="en-US" b="1" dirty="0" smtClean="0"/>
          </a:p>
          <a:p>
            <a:endParaRPr lang="en-US" b="1" dirty="0"/>
          </a:p>
          <a:p>
            <a:endParaRPr lang="en-US" b="1" dirty="0"/>
          </a:p>
          <a:p>
            <a:r>
              <a:rPr lang="en-US" b="1" dirty="0" smtClean="0"/>
              <a:t>Exercise: 5.6  Drill-Down into Report Data</a:t>
            </a:r>
            <a:endParaRPr lang="en-US" b="1" dirty="0"/>
          </a:p>
        </p:txBody>
      </p:sp>
      <p:pic>
        <p:nvPicPr>
          <p:cNvPr id="5" name="Picture 2" descr="C:\Users\namudaliar\Documents\Narayanan\Ball Corp\Images\shutterstock_50629798.jpg"/>
          <p:cNvPicPr>
            <a:picLocks noChangeAspect="1" noChangeArrowheads="1"/>
          </p:cNvPicPr>
          <p:nvPr/>
        </p:nvPicPr>
        <p:blipFill>
          <a:blip r:embed="rId3" cstate="print"/>
          <a:srcRect/>
          <a:stretch>
            <a:fillRect/>
          </a:stretch>
        </p:blipFill>
        <p:spPr bwMode="auto">
          <a:xfrm>
            <a:off x="7115745" y="4191000"/>
            <a:ext cx="2028255" cy="2514600"/>
          </a:xfrm>
          <a:prstGeom prst="rect">
            <a:avLst/>
          </a:prstGeom>
          <a:noFill/>
        </p:spPr>
      </p:pic>
    </p:spTree>
    <p:extLst>
      <p:ext uri="{BB962C8B-B14F-4D97-AF65-F5344CB8AC3E}">
        <p14:creationId xmlns:p14="http://schemas.microsoft.com/office/powerpoint/2010/main" val="671245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Curved Right Arrow 39"/>
          <p:cNvSpPr/>
          <p:nvPr/>
        </p:nvSpPr>
        <p:spPr bwMode="auto">
          <a:xfrm rot="19502167">
            <a:off x="3000975" y="2544111"/>
            <a:ext cx="797346" cy="2480471"/>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1" y="2368128"/>
            <a:ext cx="4495800" cy="349927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0972" name="Rectangle 44"/>
          <p:cNvSpPr>
            <a:spLocks noChangeArrowheads="1"/>
          </p:cNvSpPr>
          <p:nvPr/>
        </p:nvSpPr>
        <p:spPr bwMode="auto">
          <a:xfrm>
            <a:off x="664083" y="2557872"/>
            <a:ext cx="3098292" cy="9144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Click the arrow on the </a:t>
            </a:r>
            <a:r>
              <a:rPr lang="en-US" sz="1600" b="1" dirty="0">
                <a:solidFill>
                  <a:srgbClr val="000000"/>
                </a:solidFill>
                <a:latin typeface="Arial" pitchFamily="34" charset="0"/>
                <a:ea typeface="Verdana" pitchFamily="34" charset="0"/>
                <a:cs typeface="Arial" pitchFamily="34" charset="0"/>
              </a:rPr>
              <a:t>Choose Layout…</a:t>
            </a:r>
            <a:r>
              <a:rPr lang="en-US" sz="1600" dirty="0">
                <a:solidFill>
                  <a:srgbClr val="000000"/>
                </a:solidFill>
                <a:latin typeface="Arial" pitchFamily="34" charset="0"/>
                <a:ea typeface="Verdana" pitchFamily="34" charset="0"/>
                <a:cs typeface="Arial" pitchFamily="34" charset="0"/>
              </a:rPr>
              <a:t>button   </a:t>
            </a:r>
            <a:r>
              <a:rPr lang="en-US" sz="1600" dirty="0" smtClean="0">
                <a:solidFill>
                  <a:srgbClr val="000000"/>
                </a:solidFill>
                <a:latin typeface="Arial" pitchFamily="34" charset="0"/>
                <a:ea typeface="Verdana" pitchFamily="34" charset="0"/>
                <a:cs typeface="Arial" pitchFamily="34" charset="0"/>
              </a:rPr>
              <a:t>    and </a:t>
            </a:r>
            <a:r>
              <a:rPr lang="en-US" sz="1600" dirty="0">
                <a:solidFill>
                  <a:srgbClr val="000000"/>
                </a:solidFill>
                <a:latin typeface="Arial" pitchFamily="34" charset="0"/>
                <a:ea typeface="Verdana" pitchFamily="34" charset="0"/>
                <a:cs typeface="Arial" pitchFamily="34" charset="0"/>
              </a:rPr>
              <a:t>select </a:t>
            </a:r>
            <a:r>
              <a:rPr lang="en-US" sz="1600" b="1" u="sng" dirty="0">
                <a:solidFill>
                  <a:srgbClr val="000000"/>
                </a:solidFill>
                <a:latin typeface="Arial" pitchFamily="34" charset="0"/>
                <a:ea typeface="Verdana" pitchFamily="34" charset="0"/>
                <a:cs typeface="Arial" pitchFamily="34" charset="0"/>
              </a:rPr>
              <a:t>C</a:t>
            </a:r>
            <a:r>
              <a:rPr lang="en-US" sz="1600" b="1" dirty="0">
                <a:solidFill>
                  <a:srgbClr val="000000"/>
                </a:solidFill>
                <a:latin typeface="Arial" pitchFamily="34" charset="0"/>
                <a:ea typeface="Verdana" pitchFamily="34" charset="0"/>
                <a:cs typeface="Arial" pitchFamily="34" charset="0"/>
              </a:rPr>
              <a:t>hange Layout…</a:t>
            </a:r>
          </a:p>
        </p:txBody>
      </p:sp>
      <p:sp>
        <p:nvSpPr>
          <p:cNvPr id="381006" name="Text Box 78"/>
          <p:cNvSpPr txBox="1">
            <a:spLocks noChangeArrowheads="1"/>
          </p:cNvSpPr>
          <p:nvPr/>
        </p:nvSpPr>
        <p:spPr bwMode="auto">
          <a:xfrm>
            <a:off x="1447800" y="4708525"/>
            <a:ext cx="2286000" cy="109855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dirty="0"/>
              <a:t>Click    </a:t>
            </a:r>
            <a:r>
              <a:rPr lang="en-US" dirty="0" smtClean="0"/>
              <a:t> to </a:t>
            </a:r>
            <a:r>
              <a:rPr lang="en-US" dirty="0"/>
              <a:t>continue. The report layout will reflect the changes made here.</a:t>
            </a:r>
          </a:p>
        </p:txBody>
      </p:sp>
      <p:sp>
        <p:nvSpPr>
          <p:cNvPr id="380930" name="Rectangle 2"/>
          <p:cNvSpPr>
            <a:spLocks noGrp="1" noChangeArrowheads="1"/>
          </p:cNvSpPr>
          <p:nvPr>
            <p:ph type="title"/>
          </p:nvPr>
        </p:nvSpPr>
        <p:spPr/>
        <p:txBody>
          <a:bodyPr/>
          <a:lstStyle/>
          <a:p>
            <a:r>
              <a:rPr lang="en-US" smtClean="0"/>
              <a:t>Change Report Display Layout</a:t>
            </a:r>
          </a:p>
        </p:txBody>
      </p:sp>
      <p:sp>
        <p:nvSpPr>
          <p:cNvPr id="380931" name="Rectangle 3"/>
          <p:cNvSpPr>
            <a:spLocks noGrp="1" noChangeArrowheads="1"/>
          </p:cNvSpPr>
          <p:nvPr>
            <p:ph idx="1"/>
          </p:nvPr>
        </p:nvSpPr>
        <p:spPr>
          <a:xfrm>
            <a:off x="301625" y="990601"/>
            <a:ext cx="8537575" cy="838200"/>
          </a:xfrm>
        </p:spPr>
        <p:txBody>
          <a:bodyPr/>
          <a:lstStyle/>
          <a:p>
            <a:r>
              <a:rPr lang="en-US" dirty="0" smtClean="0"/>
              <a:t>Complete the following steps to save a customized report layout as a display variant.</a:t>
            </a:r>
          </a:p>
        </p:txBody>
      </p:sp>
      <p:sp>
        <p:nvSpPr>
          <p:cNvPr id="380974" name="Rectangle 46"/>
          <p:cNvSpPr>
            <a:spLocks noChangeArrowheads="1"/>
          </p:cNvSpPr>
          <p:nvPr/>
        </p:nvSpPr>
        <p:spPr bwMode="auto">
          <a:xfrm>
            <a:off x="4838700" y="2270125"/>
            <a:ext cx="2667000" cy="8382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Change the position and length of the columns, as needed.</a:t>
            </a:r>
          </a:p>
        </p:txBody>
      </p:sp>
      <p:sp>
        <p:nvSpPr>
          <p:cNvPr id="380992" name="Rectangle 64"/>
          <p:cNvSpPr>
            <a:spLocks noChangeArrowheads="1"/>
          </p:cNvSpPr>
          <p:nvPr/>
        </p:nvSpPr>
        <p:spPr bwMode="auto">
          <a:xfrm>
            <a:off x="4457700" y="3429000"/>
            <a:ext cx="1676400" cy="16002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380993" name="Line 65"/>
          <p:cNvSpPr>
            <a:spLocks noChangeShapeType="1"/>
          </p:cNvSpPr>
          <p:nvPr/>
        </p:nvSpPr>
        <p:spPr bwMode="auto">
          <a:xfrm>
            <a:off x="5753100" y="3108325"/>
            <a:ext cx="0" cy="2286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80997" name="Text Box 69"/>
          <p:cNvSpPr txBox="1">
            <a:spLocks noChangeArrowheads="1"/>
          </p:cNvSpPr>
          <p:nvPr/>
        </p:nvSpPr>
        <p:spPr bwMode="auto">
          <a:xfrm>
            <a:off x="6972300" y="3870325"/>
            <a:ext cx="1828800" cy="85407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a:t>Add and remove columns by using the arrows</a:t>
            </a:r>
          </a:p>
        </p:txBody>
      </p:sp>
      <p:sp>
        <p:nvSpPr>
          <p:cNvPr id="380998" name="AutoShape 70"/>
          <p:cNvSpPr>
            <a:spLocks noChangeArrowheads="1"/>
          </p:cNvSpPr>
          <p:nvPr/>
        </p:nvSpPr>
        <p:spPr bwMode="auto">
          <a:xfrm>
            <a:off x="6438900" y="3870325"/>
            <a:ext cx="228600" cy="577380"/>
          </a:xfrm>
          <a:prstGeom prst="wedgeRectCallout">
            <a:avLst>
              <a:gd name="adj1" fmla="val 195139"/>
              <a:gd name="adj2" fmla="val -48333"/>
            </a:avLst>
          </a:prstGeom>
          <a:noFill/>
          <a:ln w="28575">
            <a:solidFill>
              <a:srgbClr val="FF0000"/>
            </a:solidFill>
            <a:prstDash val="dash"/>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grpSp>
        <p:nvGrpSpPr>
          <p:cNvPr id="26" name="Group 24"/>
          <p:cNvGrpSpPr>
            <a:grpSpLocks/>
          </p:cNvGrpSpPr>
          <p:nvPr/>
        </p:nvGrpSpPr>
        <p:grpSpPr bwMode="auto">
          <a:xfrm>
            <a:off x="533400" y="2303462"/>
            <a:ext cx="393700" cy="363538"/>
            <a:chOff x="4976" y="624"/>
            <a:chExt cx="200" cy="176"/>
          </a:xfrm>
        </p:grpSpPr>
        <p:sp>
          <p:nvSpPr>
            <p:cNvPr id="27"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8"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9" name="Group 28"/>
          <p:cNvGrpSpPr>
            <a:grpSpLocks/>
          </p:cNvGrpSpPr>
          <p:nvPr/>
        </p:nvGrpSpPr>
        <p:grpSpPr bwMode="auto">
          <a:xfrm>
            <a:off x="4471550" y="2088356"/>
            <a:ext cx="393700" cy="363538"/>
            <a:chOff x="4976" y="624"/>
            <a:chExt cx="200" cy="176"/>
          </a:xfrm>
        </p:grpSpPr>
        <p:sp>
          <p:nvSpPr>
            <p:cNvPr id="30" name="Oval 2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32" name="Group 31"/>
          <p:cNvGrpSpPr>
            <a:grpSpLocks/>
          </p:cNvGrpSpPr>
          <p:nvPr/>
        </p:nvGrpSpPr>
        <p:grpSpPr bwMode="auto">
          <a:xfrm>
            <a:off x="8438896" y="3489325"/>
            <a:ext cx="362204" cy="424523"/>
            <a:chOff x="4976" y="624"/>
            <a:chExt cx="200" cy="176"/>
          </a:xfrm>
        </p:grpSpPr>
        <p:sp>
          <p:nvSpPr>
            <p:cNvPr id="33" name="Oval 3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 name="Text Box 26"/>
            <p:cNvSpPr txBox="1">
              <a:spLocks noChangeArrowheads="1"/>
            </p:cNvSpPr>
            <p:nvPr/>
          </p:nvSpPr>
          <p:spPr bwMode="auto">
            <a:xfrm>
              <a:off x="4976" y="644"/>
              <a:ext cx="168"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grpSp>
        <p:nvGrpSpPr>
          <p:cNvPr id="35" name="Group 24"/>
          <p:cNvGrpSpPr>
            <a:grpSpLocks/>
          </p:cNvGrpSpPr>
          <p:nvPr/>
        </p:nvGrpSpPr>
        <p:grpSpPr bwMode="auto">
          <a:xfrm>
            <a:off x="1054100" y="4431181"/>
            <a:ext cx="393700" cy="363538"/>
            <a:chOff x="4976" y="624"/>
            <a:chExt cx="200" cy="176"/>
          </a:xfrm>
        </p:grpSpPr>
        <p:sp>
          <p:nvSpPr>
            <p:cNvPr id="36"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7"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4</a:t>
              </a:r>
            </a:p>
          </p:txBody>
        </p:sp>
      </p:grpSp>
      <p:pic>
        <p:nvPicPr>
          <p:cNvPr id="39" name="Picture 38"/>
          <p:cNvPicPr/>
          <p:nvPr/>
        </p:nvPicPr>
        <p:blipFill>
          <a:blip r:embed="rId4"/>
          <a:stretch>
            <a:fillRect/>
          </a:stretch>
        </p:blipFill>
        <p:spPr>
          <a:xfrm>
            <a:off x="2160588" y="2889659"/>
            <a:ext cx="354012" cy="250825"/>
          </a:xfrm>
          <a:prstGeom prst="rect">
            <a:avLst/>
          </a:prstGeom>
        </p:spPr>
      </p:pic>
      <p:pic>
        <p:nvPicPr>
          <p:cNvPr id="1945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4800600"/>
            <a:ext cx="228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6626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Change Report Layout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137</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2"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a:solidFill>
                  <a:schemeClr val="accent4">
                    <a:lumMod val="10000"/>
                  </a:schemeClr>
                </a:solidFill>
                <a:effectLst/>
              </a:rPr>
              <a:t>You are currently in the </a:t>
            </a:r>
            <a:r>
              <a:rPr lang="en-US" b="1" dirty="0">
                <a:solidFill>
                  <a:schemeClr val="accent4">
                    <a:lumMod val="10000"/>
                  </a:schemeClr>
                </a:solidFill>
                <a:effectLst/>
              </a:rPr>
              <a:t>Payment and Receipt Tracking </a:t>
            </a:r>
            <a:r>
              <a:rPr lang="en-US" dirty="0">
                <a:solidFill>
                  <a:schemeClr val="accent4">
                    <a:lumMod val="10000"/>
                  </a:schemeClr>
                </a:solidFill>
                <a:effectLst/>
              </a:rPr>
              <a:t>report.</a:t>
            </a:r>
          </a:p>
          <a:p>
            <a:pPr lvl="1">
              <a:tabLst>
                <a:tab pos="2514600" algn="l"/>
              </a:tabLst>
            </a:pPr>
            <a:r>
              <a:rPr lang="en-US" dirty="0">
                <a:solidFill>
                  <a:schemeClr val="accent4">
                    <a:lumMod val="10000"/>
                  </a:schemeClr>
                </a:solidFill>
                <a:effectLst/>
              </a:rPr>
              <a:t>You wish add columns for </a:t>
            </a:r>
            <a:r>
              <a:rPr lang="en-US" b="1" dirty="0">
                <a:solidFill>
                  <a:schemeClr val="accent4">
                    <a:lumMod val="10000"/>
                  </a:schemeClr>
                </a:solidFill>
                <a:effectLst/>
              </a:rPr>
              <a:t>Req. Tracking Number</a:t>
            </a:r>
            <a:r>
              <a:rPr lang="en-US" dirty="0">
                <a:solidFill>
                  <a:schemeClr val="accent4">
                    <a:lumMod val="10000"/>
                  </a:schemeClr>
                </a:solidFill>
                <a:effectLst/>
              </a:rPr>
              <a:t> and </a:t>
            </a:r>
            <a:r>
              <a:rPr lang="en-US" b="1" dirty="0" err="1">
                <a:solidFill>
                  <a:schemeClr val="accent4">
                    <a:lumMod val="10000"/>
                  </a:schemeClr>
                </a:solidFill>
                <a:effectLst/>
              </a:rPr>
              <a:t>Requisitioner</a:t>
            </a:r>
            <a:r>
              <a:rPr lang="en-US" dirty="0">
                <a:solidFill>
                  <a:schemeClr val="accent4">
                    <a:lumMod val="10000"/>
                  </a:schemeClr>
                </a:solidFill>
                <a:effectLst/>
              </a:rPr>
              <a:t>.</a:t>
            </a:r>
          </a:p>
          <a:p>
            <a:pPr lvl="1">
              <a:tabLst>
                <a:tab pos="2514600" algn="l"/>
              </a:tabLst>
            </a:pPr>
            <a:r>
              <a:rPr lang="en-US" dirty="0">
                <a:solidFill>
                  <a:schemeClr val="accent4">
                    <a:lumMod val="10000"/>
                  </a:schemeClr>
                </a:solidFill>
                <a:effectLst/>
              </a:rPr>
              <a:t>You wish to move the </a:t>
            </a:r>
            <a:r>
              <a:rPr lang="en-US" b="1" dirty="0">
                <a:solidFill>
                  <a:schemeClr val="accent4">
                    <a:lumMod val="10000"/>
                  </a:schemeClr>
                </a:solidFill>
                <a:effectLst/>
              </a:rPr>
              <a:t>Vendor Number</a:t>
            </a:r>
            <a:r>
              <a:rPr lang="en-US" dirty="0">
                <a:solidFill>
                  <a:schemeClr val="accent4">
                    <a:lumMod val="10000"/>
                  </a:schemeClr>
                </a:solidFill>
                <a:effectLst/>
              </a:rPr>
              <a:t> and </a:t>
            </a:r>
            <a:r>
              <a:rPr lang="en-US" b="1" dirty="0">
                <a:solidFill>
                  <a:schemeClr val="accent4">
                    <a:lumMod val="10000"/>
                  </a:schemeClr>
                </a:solidFill>
                <a:effectLst/>
              </a:rPr>
              <a:t>Vendor Name</a:t>
            </a:r>
            <a:r>
              <a:rPr lang="en-US" dirty="0">
                <a:solidFill>
                  <a:schemeClr val="accent4">
                    <a:lumMod val="10000"/>
                  </a:schemeClr>
                </a:solidFill>
                <a:effectLst/>
              </a:rPr>
              <a:t> columns to the second and third place respectively.</a:t>
            </a:r>
          </a:p>
          <a:p>
            <a:pPr lvl="1">
              <a:tabLst>
                <a:tab pos="2514600" algn="l"/>
              </a:tabLst>
            </a:pPr>
            <a:r>
              <a:rPr lang="en-US" dirty="0">
                <a:solidFill>
                  <a:schemeClr val="accent4">
                    <a:lumMod val="10000"/>
                  </a:schemeClr>
                </a:solidFill>
                <a:effectLst/>
              </a:rPr>
              <a:t>You wish to sort the results in ascending order by </a:t>
            </a:r>
            <a:r>
              <a:rPr lang="en-US" b="1" dirty="0">
                <a:solidFill>
                  <a:schemeClr val="accent4">
                    <a:lumMod val="10000"/>
                  </a:schemeClr>
                </a:solidFill>
                <a:effectLst/>
              </a:rPr>
              <a:t>Purchase Order</a:t>
            </a:r>
            <a:r>
              <a:rPr lang="en-US" dirty="0">
                <a:solidFill>
                  <a:schemeClr val="accent4">
                    <a:lumMod val="10000"/>
                  </a:schemeClr>
                </a:solidFill>
                <a:effectLst/>
              </a:rPr>
              <a:t> and then descending by </a:t>
            </a:r>
            <a:r>
              <a:rPr lang="en-US" b="1" dirty="0">
                <a:solidFill>
                  <a:schemeClr val="accent4">
                    <a:lumMod val="10000"/>
                  </a:schemeClr>
                </a:solidFill>
                <a:effectLst/>
              </a:rPr>
              <a:t>P.O. Date</a:t>
            </a:r>
            <a:r>
              <a:rPr lang="en-US" dirty="0">
                <a:solidFill>
                  <a:schemeClr val="accent4">
                    <a:lumMod val="10000"/>
                  </a:schemeClr>
                </a:solidFill>
                <a:effectLst/>
              </a:rPr>
              <a:t>.</a:t>
            </a:r>
          </a:p>
          <a:p>
            <a:pPr lvl="1">
              <a:tabLst>
                <a:tab pos="2514600" algn="l"/>
              </a:tabLst>
            </a:pPr>
            <a:r>
              <a:rPr lang="en-US" dirty="0">
                <a:solidFill>
                  <a:schemeClr val="accent4">
                    <a:lumMod val="10000"/>
                  </a:schemeClr>
                </a:solidFill>
                <a:effectLst/>
              </a:rPr>
              <a:t>You wish to subtotal report data by </a:t>
            </a:r>
            <a:r>
              <a:rPr lang="en-US" b="1" dirty="0" smtClean="0">
                <a:solidFill>
                  <a:schemeClr val="accent4">
                    <a:lumMod val="10000"/>
                  </a:schemeClr>
                </a:solidFill>
                <a:effectLst/>
              </a:rPr>
              <a:t>Purchase                  </a:t>
            </a:r>
            <a:r>
              <a:rPr lang="en-US" b="1" dirty="0">
                <a:solidFill>
                  <a:schemeClr val="accent4">
                    <a:lumMod val="10000"/>
                  </a:schemeClr>
                </a:solidFill>
                <a:effectLst/>
              </a:rPr>
              <a:t>Order</a:t>
            </a:r>
            <a:r>
              <a:rPr lang="en-US" dirty="0">
                <a:solidFill>
                  <a:schemeClr val="accent4">
                    <a:lumMod val="10000"/>
                  </a:schemeClr>
                </a:solidFill>
                <a:effectLst/>
              </a:rPr>
              <a:t>.</a:t>
            </a:r>
            <a:endParaRPr lang="en-US" sz="1200" dirty="0">
              <a:solidFill>
                <a:schemeClr val="accent4">
                  <a:lumMod val="10000"/>
                </a:schemeClr>
              </a:solidFill>
              <a:effectLst/>
            </a:endParaRPr>
          </a:p>
          <a:p>
            <a:endParaRPr lang="en-US" b="1" dirty="0"/>
          </a:p>
          <a:p>
            <a:endParaRPr lang="en-US" b="1" dirty="0"/>
          </a:p>
          <a:p>
            <a:r>
              <a:rPr lang="en-US" b="1" dirty="0" smtClean="0"/>
              <a:t>Exercise: 5.7  Change Report Layout</a:t>
            </a:r>
            <a:endParaRPr lang="en-US" b="1" dirty="0"/>
          </a:p>
        </p:txBody>
      </p:sp>
      <p:pic>
        <p:nvPicPr>
          <p:cNvPr id="5" name="Picture 2" descr="C:\Users\namudaliar\Documents\Narayanan\Ball Corp\Images\shutterstock_50629798.jpg"/>
          <p:cNvPicPr>
            <a:picLocks noChangeAspect="1" noChangeArrowheads="1"/>
          </p:cNvPicPr>
          <p:nvPr/>
        </p:nvPicPr>
        <p:blipFill>
          <a:blip r:embed="rId3" cstate="print"/>
          <a:srcRect/>
          <a:stretch>
            <a:fillRect/>
          </a:stretch>
        </p:blipFill>
        <p:spPr bwMode="auto">
          <a:xfrm>
            <a:off x="7115745" y="4191000"/>
            <a:ext cx="2028255" cy="2514600"/>
          </a:xfrm>
          <a:prstGeom prst="rect">
            <a:avLst/>
          </a:prstGeom>
          <a:noFill/>
        </p:spPr>
      </p:pic>
    </p:spTree>
    <p:extLst>
      <p:ext uri="{BB962C8B-B14F-4D97-AF65-F5344CB8AC3E}">
        <p14:creationId xmlns:p14="http://schemas.microsoft.com/office/powerpoint/2010/main" val="8626901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What toolbar is used to customize the report?</a:t>
            </a:r>
          </a:p>
          <a:p>
            <a:pPr marL="457200" indent="-457200">
              <a:buClrTx/>
              <a:buFont typeface="+mj-lt"/>
              <a:buAutoNum type="arabicPeriod"/>
            </a:pPr>
            <a:r>
              <a:rPr lang="en-US" dirty="0" smtClean="0"/>
              <a:t>Can you sort data by more than one value?</a:t>
            </a:r>
          </a:p>
          <a:p>
            <a:pPr marL="457200" indent="-457200">
              <a:buClrTx/>
              <a:buFont typeface="+mj-lt"/>
              <a:buAutoNum type="arabicPeriod"/>
            </a:pPr>
            <a:r>
              <a:rPr lang="en-US" dirty="0" smtClean="0"/>
              <a:t>How do you drill down into a report?</a:t>
            </a:r>
            <a:br>
              <a:rPr lang="en-US" dirty="0" smtClean="0"/>
            </a:b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139</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3998558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urved Right Arrow 30"/>
          <p:cNvSpPr/>
          <p:nvPr/>
        </p:nvSpPr>
        <p:spPr bwMode="auto">
          <a:xfrm rot="592134">
            <a:off x="1349669" y="2024074"/>
            <a:ext cx="797346" cy="2480471"/>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726862"/>
            <a:ext cx="3724275" cy="2607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1954" name="Rectangle 2"/>
          <p:cNvSpPr>
            <a:spLocks noGrp="1" noChangeArrowheads="1"/>
          </p:cNvSpPr>
          <p:nvPr>
            <p:ph type="title"/>
          </p:nvPr>
        </p:nvSpPr>
        <p:spPr/>
        <p:txBody>
          <a:bodyPr/>
          <a:lstStyle/>
          <a:p>
            <a:r>
              <a:rPr lang="en-US" smtClean="0"/>
              <a:t>Save Display Variant</a:t>
            </a:r>
          </a:p>
        </p:txBody>
      </p:sp>
      <p:sp>
        <p:nvSpPr>
          <p:cNvPr id="381955" name="Rectangle 3"/>
          <p:cNvSpPr>
            <a:spLocks noGrp="1" noChangeArrowheads="1"/>
          </p:cNvSpPr>
          <p:nvPr>
            <p:ph idx="1"/>
          </p:nvPr>
        </p:nvSpPr>
        <p:spPr/>
        <p:txBody>
          <a:bodyPr/>
          <a:lstStyle/>
          <a:p>
            <a:r>
              <a:rPr lang="en-US" dirty="0" smtClean="0"/>
              <a:t>Once you have customized the report layout, you can save it as a display variant.</a:t>
            </a:r>
          </a:p>
        </p:txBody>
      </p:sp>
      <p:sp>
        <p:nvSpPr>
          <p:cNvPr id="381975" name="Rectangle 23"/>
          <p:cNvSpPr>
            <a:spLocks noChangeArrowheads="1"/>
          </p:cNvSpPr>
          <p:nvPr/>
        </p:nvSpPr>
        <p:spPr bwMode="auto">
          <a:xfrm>
            <a:off x="1219200" y="1828800"/>
            <a:ext cx="3657600" cy="8382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600" dirty="0">
                <a:solidFill>
                  <a:srgbClr val="000000"/>
                </a:solidFill>
                <a:latin typeface="Arial" pitchFamily="34" charset="0"/>
                <a:ea typeface="Verdana" pitchFamily="34" charset="0"/>
                <a:cs typeface="Arial" pitchFamily="34" charset="0"/>
              </a:rPr>
              <a:t>Click the arrow on the </a:t>
            </a:r>
            <a:r>
              <a:rPr lang="en-US" sz="1600" b="1" dirty="0">
                <a:solidFill>
                  <a:srgbClr val="000000"/>
                </a:solidFill>
                <a:latin typeface="Arial" pitchFamily="34" charset="0"/>
                <a:ea typeface="Verdana" pitchFamily="34" charset="0"/>
                <a:cs typeface="Arial" pitchFamily="34" charset="0"/>
              </a:rPr>
              <a:t>Choose </a:t>
            </a:r>
            <a:r>
              <a:rPr lang="en-US" sz="1600" b="1" dirty="0" smtClean="0">
                <a:solidFill>
                  <a:srgbClr val="000000"/>
                </a:solidFill>
                <a:latin typeface="Arial" pitchFamily="34" charset="0"/>
                <a:ea typeface="Verdana" pitchFamily="34" charset="0"/>
                <a:cs typeface="Arial" pitchFamily="34" charset="0"/>
              </a:rPr>
              <a:t>Layout…</a:t>
            </a:r>
            <a:r>
              <a:rPr lang="en-US" sz="1600" dirty="0" smtClean="0">
                <a:solidFill>
                  <a:srgbClr val="000000"/>
                </a:solidFill>
                <a:latin typeface="Arial" pitchFamily="34" charset="0"/>
                <a:ea typeface="Verdana" pitchFamily="34" charset="0"/>
                <a:cs typeface="Arial" pitchFamily="34" charset="0"/>
              </a:rPr>
              <a:t>button       and </a:t>
            </a:r>
            <a:r>
              <a:rPr lang="en-US" sz="1600" dirty="0">
                <a:solidFill>
                  <a:srgbClr val="000000"/>
                </a:solidFill>
                <a:latin typeface="Arial" pitchFamily="34" charset="0"/>
                <a:ea typeface="Verdana" pitchFamily="34" charset="0"/>
                <a:cs typeface="Arial" pitchFamily="34" charset="0"/>
              </a:rPr>
              <a:t>select </a:t>
            </a:r>
            <a:r>
              <a:rPr lang="en-US" sz="1600" b="1" u="sng" dirty="0">
                <a:solidFill>
                  <a:srgbClr val="000000"/>
                </a:solidFill>
                <a:latin typeface="Arial" pitchFamily="34" charset="0"/>
                <a:ea typeface="Verdana" pitchFamily="34" charset="0"/>
                <a:cs typeface="Arial" pitchFamily="34" charset="0"/>
              </a:rPr>
              <a:t>C</a:t>
            </a:r>
            <a:r>
              <a:rPr lang="en-US" sz="1600" b="1" dirty="0">
                <a:solidFill>
                  <a:srgbClr val="000000"/>
                </a:solidFill>
                <a:latin typeface="Arial" pitchFamily="34" charset="0"/>
                <a:ea typeface="Verdana" pitchFamily="34" charset="0"/>
                <a:cs typeface="Arial" pitchFamily="34" charset="0"/>
              </a:rPr>
              <a:t>hange Layout…</a:t>
            </a:r>
          </a:p>
        </p:txBody>
      </p:sp>
      <p:sp>
        <p:nvSpPr>
          <p:cNvPr id="381979" name="Rectangle 27"/>
          <p:cNvSpPr>
            <a:spLocks noChangeArrowheads="1"/>
          </p:cNvSpPr>
          <p:nvPr/>
        </p:nvSpPr>
        <p:spPr bwMode="auto">
          <a:xfrm>
            <a:off x="5715000" y="3200400"/>
            <a:ext cx="3124200" cy="29718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Enter a </a:t>
            </a:r>
            <a:r>
              <a:rPr lang="en-US" sz="1600" b="1" dirty="0">
                <a:solidFill>
                  <a:srgbClr val="000000"/>
                </a:solidFill>
                <a:latin typeface="Arial" pitchFamily="34" charset="0"/>
                <a:ea typeface="Verdana" pitchFamily="34" charset="0"/>
                <a:cs typeface="Arial" pitchFamily="34" charset="0"/>
              </a:rPr>
              <a:t>Layout name </a:t>
            </a:r>
            <a:r>
              <a:rPr lang="en-US" sz="1600" dirty="0">
                <a:solidFill>
                  <a:srgbClr val="000000"/>
                </a:solidFill>
                <a:latin typeface="Arial" pitchFamily="34" charset="0"/>
                <a:ea typeface="Verdana" pitchFamily="34" charset="0"/>
                <a:cs typeface="Arial" pitchFamily="34" charset="0"/>
              </a:rPr>
              <a:t>and a </a:t>
            </a:r>
            <a:r>
              <a:rPr lang="en-US" sz="1600" b="1" dirty="0">
                <a:solidFill>
                  <a:srgbClr val="000000"/>
                </a:solidFill>
                <a:latin typeface="Arial" pitchFamily="34" charset="0"/>
                <a:ea typeface="Verdana" pitchFamily="34" charset="0"/>
                <a:cs typeface="Arial" pitchFamily="34" charset="0"/>
              </a:rPr>
              <a:t>Description</a:t>
            </a:r>
            <a:r>
              <a:rPr lang="en-US" sz="1600" dirty="0">
                <a:solidFill>
                  <a:srgbClr val="000000"/>
                </a:solidFill>
                <a:latin typeface="Arial" pitchFamily="34" charset="0"/>
                <a:ea typeface="Verdana" pitchFamily="34" charset="0"/>
                <a:cs typeface="Arial" pitchFamily="34" charset="0"/>
              </a:rPr>
              <a:t> of the display variant.</a:t>
            </a:r>
          </a:p>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Enter a </a:t>
            </a:r>
            <a:r>
              <a:rPr lang="en-US" sz="1600" b="1" dirty="0">
                <a:solidFill>
                  <a:srgbClr val="000000"/>
                </a:solidFill>
                <a:latin typeface="Arial" pitchFamily="34" charset="0"/>
                <a:ea typeface="Verdana" pitchFamily="34" charset="0"/>
                <a:cs typeface="Arial" pitchFamily="34" charset="0"/>
              </a:rPr>
              <a:t>forward slash (/) </a:t>
            </a:r>
            <a:r>
              <a:rPr lang="en-US" sz="1600" dirty="0">
                <a:solidFill>
                  <a:srgbClr val="000000"/>
                </a:solidFill>
                <a:latin typeface="Arial" pitchFamily="34" charset="0"/>
                <a:ea typeface="Verdana" pitchFamily="34" charset="0"/>
                <a:cs typeface="Arial" pitchFamily="34" charset="0"/>
              </a:rPr>
              <a:t>in front of the name if you wish to make the variant available to others.</a:t>
            </a:r>
          </a:p>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Check the </a:t>
            </a:r>
            <a:r>
              <a:rPr lang="en-US" sz="1600" b="1" dirty="0">
                <a:solidFill>
                  <a:srgbClr val="000000"/>
                </a:solidFill>
                <a:latin typeface="Arial" pitchFamily="34" charset="0"/>
                <a:ea typeface="Verdana" pitchFamily="34" charset="0"/>
                <a:cs typeface="Arial" pitchFamily="34" charset="0"/>
              </a:rPr>
              <a:t>User-specific box </a:t>
            </a:r>
            <a:r>
              <a:rPr lang="en-US" sz="1600" dirty="0">
                <a:solidFill>
                  <a:srgbClr val="000000"/>
                </a:solidFill>
                <a:latin typeface="Arial" pitchFamily="34" charset="0"/>
                <a:ea typeface="Verdana" pitchFamily="34" charset="0"/>
                <a:cs typeface="Arial" pitchFamily="34" charset="0"/>
              </a:rPr>
              <a:t>to lock the variant from being changed by anyone except yourself.</a:t>
            </a:r>
          </a:p>
        </p:txBody>
      </p:sp>
      <p:sp>
        <p:nvSpPr>
          <p:cNvPr id="381980" name="Rectangle 28"/>
          <p:cNvSpPr>
            <a:spLocks noChangeArrowheads="1"/>
          </p:cNvSpPr>
          <p:nvPr/>
        </p:nvSpPr>
        <p:spPr bwMode="auto">
          <a:xfrm>
            <a:off x="1981200" y="4267200"/>
            <a:ext cx="3048000" cy="3810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381984" name="Rectangle 32"/>
          <p:cNvSpPr>
            <a:spLocks noChangeArrowheads="1"/>
          </p:cNvSpPr>
          <p:nvPr/>
        </p:nvSpPr>
        <p:spPr bwMode="auto">
          <a:xfrm>
            <a:off x="1143000" y="5486400"/>
            <a:ext cx="3962400" cy="6858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Click     </a:t>
            </a:r>
            <a:r>
              <a:rPr lang="en-US" sz="1600" dirty="0" smtClean="0">
                <a:solidFill>
                  <a:srgbClr val="000000"/>
                </a:solidFill>
                <a:latin typeface="Arial" pitchFamily="34" charset="0"/>
                <a:ea typeface="Verdana" pitchFamily="34" charset="0"/>
                <a:cs typeface="Arial" pitchFamily="34" charset="0"/>
              </a:rPr>
              <a:t>to </a:t>
            </a:r>
            <a:r>
              <a:rPr lang="en-US" sz="1600" dirty="0">
                <a:solidFill>
                  <a:srgbClr val="000000"/>
                </a:solidFill>
                <a:latin typeface="Arial" pitchFamily="34" charset="0"/>
                <a:ea typeface="Verdana" pitchFamily="34" charset="0"/>
                <a:cs typeface="Arial" pitchFamily="34" charset="0"/>
              </a:rPr>
              <a:t>continue. The layout will be saved as a display variant.</a:t>
            </a:r>
          </a:p>
        </p:txBody>
      </p:sp>
      <p:grpSp>
        <p:nvGrpSpPr>
          <p:cNvPr id="20" name="Group 24"/>
          <p:cNvGrpSpPr>
            <a:grpSpLocks/>
          </p:cNvGrpSpPr>
          <p:nvPr/>
        </p:nvGrpSpPr>
        <p:grpSpPr bwMode="auto">
          <a:xfrm>
            <a:off x="777801" y="1837065"/>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3" name="Group 22"/>
          <p:cNvGrpSpPr>
            <a:grpSpLocks/>
          </p:cNvGrpSpPr>
          <p:nvPr/>
        </p:nvGrpSpPr>
        <p:grpSpPr bwMode="auto">
          <a:xfrm>
            <a:off x="5213350" y="2900772"/>
            <a:ext cx="393700" cy="363538"/>
            <a:chOff x="4976" y="624"/>
            <a:chExt cx="200" cy="176"/>
          </a:xfrm>
        </p:grpSpPr>
        <p:sp>
          <p:nvSpPr>
            <p:cNvPr id="24" name="Oval 23"/>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5"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26" name="Group 25"/>
          <p:cNvGrpSpPr>
            <a:grpSpLocks/>
          </p:cNvGrpSpPr>
          <p:nvPr/>
        </p:nvGrpSpPr>
        <p:grpSpPr bwMode="auto">
          <a:xfrm>
            <a:off x="946455" y="5061877"/>
            <a:ext cx="362204" cy="424523"/>
            <a:chOff x="4976" y="624"/>
            <a:chExt cx="200" cy="176"/>
          </a:xfrm>
        </p:grpSpPr>
        <p:sp>
          <p:nvSpPr>
            <p:cNvPr id="27" name="Oval 26"/>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8" name="Text Box 26"/>
            <p:cNvSpPr txBox="1">
              <a:spLocks noChangeArrowheads="1"/>
            </p:cNvSpPr>
            <p:nvPr/>
          </p:nvSpPr>
          <p:spPr bwMode="auto">
            <a:xfrm>
              <a:off x="4976" y="644"/>
              <a:ext cx="168"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pic>
        <p:nvPicPr>
          <p:cNvPr id="29" name="Picture 28"/>
          <p:cNvPicPr/>
          <p:nvPr/>
        </p:nvPicPr>
        <p:blipFill>
          <a:blip r:embed="rId4"/>
          <a:stretch>
            <a:fillRect/>
          </a:stretch>
        </p:blipFill>
        <p:spPr>
          <a:xfrm>
            <a:off x="2751160" y="2133600"/>
            <a:ext cx="304800" cy="246060"/>
          </a:xfrm>
          <a:prstGeom prst="rect">
            <a:avLst/>
          </a:prstGeom>
        </p:spPr>
      </p:pic>
      <p:pic>
        <p:nvPicPr>
          <p:cNvPr id="3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5562600"/>
            <a:ext cx="228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19354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Display Variant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141</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2"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lnSpc>
                <a:spcPct val="80000"/>
              </a:lnSpc>
              <a:tabLst>
                <a:tab pos="2514600" algn="l"/>
              </a:tabLst>
            </a:pPr>
            <a:r>
              <a:rPr lang="en-US" dirty="0">
                <a:solidFill>
                  <a:schemeClr val="accent4">
                    <a:lumMod val="10000"/>
                  </a:schemeClr>
                </a:solidFill>
                <a:effectLst/>
              </a:rPr>
              <a:t>You are currently in the </a:t>
            </a:r>
            <a:r>
              <a:rPr lang="en-US" b="1" dirty="0" smtClean="0">
                <a:solidFill>
                  <a:schemeClr val="accent4">
                    <a:lumMod val="10000"/>
                  </a:schemeClr>
                </a:solidFill>
                <a:effectLst/>
              </a:rPr>
              <a:t>XXX </a:t>
            </a:r>
            <a:r>
              <a:rPr lang="en-US" dirty="0" smtClean="0">
                <a:solidFill>
                  <a:schemeClr val="accent4">
                    <a:lumMod val="10000"/>
                  </a:schemeClr>
                </a:solidFill>
                <a:effectLst/>
              </a:rPr>
              <a:t>report.</a:t>
            </a:r>
          </a:p>
          <a:p>
            <a:pPr lvl="1">
              <a:lnSpc>
                <a:spcPct val="80000"/>
              </a:lnSpc>
              <a:tabLst>
                <a:tab pos="2514600" algn="l"/>
              </a:tabLst>
            </a:pPr>
            <a:endParaRPr lang="en-US" dirty="0">
              <a:solidFill>
                <a:schemeClr val="accent4">
                  <a:lumMod val="10000"/>
                </a:schemeClr>
              </a:solidFill>
              <a:effectLst/>
            </a:endParaRPr>
          </a:p>
          <a:p>
            <a:pPr lvl="1">
              <a:lnSpc>
                <a:spcPct val="80000"/>
              </a:lnSpc>
              <a:tabLst>
                <a:tab pos="2514600" algn="l"/>
              </a:tabLst>
            </a:pPr>
            <a:r>
              <a:rPr lang="en-US" dirty="0">
                <a:solidFill>
                  <a:schemeClr val="accent4">
                    <a:lumMod val="10000"/>
                  </a:schemeClr>
                </a:solidFill>
                <a:effectLst/>
              </a:rPr>
              <a:t>You have customized the report layout to sort by </a:t>
            </a:r>
            <a:r>
              <a:rPr lang="en-US" dirty="0" err="1">
                <a:solidFill>
                  <a:schemeClr val="accent4">
                    <a:lumMod val="10000"/>
                  </a:schemeClr>
                </a:solidFill>
                <a:effectLst/>
              </a:rPr>
              <a:t>Requisitioner</a:t>
            </a:r>
            <a:r>
              <a:rPr lang="en-US" dirty="0">
                <a:solidFill>
                  <a:schemeClr val="accent4">
                    <a:lumMod val="10000"/>
                  </a:schemeClr>
                </a:solidFill>
                <a:effectLst/>
              </a:rPr>
              <a:t> and subtotal by PO Number</a:t>
            </a:r>
            <a:r>
              <a:rPr lang="en-US" dirty="0" smtClean="0">
                <a:solidFill>
                  <a:schemeClr val="accent4">
                    <a:lumMod val="10000"/>
                  </a:schemeClr>
                </a:solidFill>
                <a:effectLst/>
              </a:rPr>
              <a:t>.</a:t>
            </a:r>
          </a:p>
          <a:p>
            <a:pPr lvl="1">
              <a:lnSpc>
                <a:spcPct val="80000"/>
              </a:lnSpc>
              <a:tabLst>
                <a:tab pos="2514600" algn="l"/>
              </a:tabLst>
            </a:pPr>
            <a:endParaRPr lang="en-US" dirty="0">
              <a:solidFill>
                <a:schemeClr val="accent4">
                  <a:lumMod val="10000"/>
                </a:schemeClr>
              </a:solidFill>
              <a:effectLst/>
            </a:endParaRPr>
          </a:p>
          <a:p>
            <a:pPr lvl="1">
              <a:lnSpc>
                <a:spcPct val="80000"/>
              </a:lnSpc>
              <a:tabLst>
                <a:tab pos="2514600" algn="l"/>
              </a:tabLst>
            </a:pPr>
            <a:r>
              <a:rPr lang="en-US" dirty="0">
                <a:solidFill>
                  <a:schemeClr val="accent4">
                    <a:lumMod val="10000"/>
                  </a:schemeClr>
                </a:solidFill>
                <a:effectLst/>
              </a:rPr>
              <a:t>Save the customized report layout as display variant </a:t>
            </a:r>
            <a:r>
              <a:rPr lang="en-US" b="1" dirty="0">
                <a:solidFill>
                  <a:schemeClr val="accent4">
                    <a:lumMod val="10000"/>
                  </a:schemeClr>
                </a:solidFill>
                <a:effectLst/>
              </a:rPr>
              <a:t>PO Sort</a:t>
            </a:r>
            <a:r>
              <a:rPr lang="en-US" dirty="0">
                <a:solidFill>
                  <a:schemeClr val="accent4">
                    <a:lumMod val="10000"/>
                  </a:schemeClr>
                </a:solidFill>
                <a:effectLst/>
              </a:rPr>
              <a:t> with the description </a:t>
            </a:r>
            <a:r>
              <a:rPr lang="en-US" b="1" dirty="0">
                <a:solidFill>
                  <a:schemeClr val="accent4">
                    <a:lumMod val="10000"/>
                  </a:schemeClr>
                </a:solidFill>
                <a:effectLst/>
              </a:rPr>
              <a:t>PO Sort order by </a:t>
            </a:r>
            <a:r>
              <a:rPr lang="en-US" b="1" dirty="0" err="1">
                <a:solidFill>
                  <a:schemeClr val="accent4">
                    <a:lumMod val="10000"/>
                  </a:schemeClr>
                </a:solidFill>
                <a:effectLst/>
              </a:rPr>
              <a:t>Requisitioner</a:t>
            </a:r>
            <a:r>
              <a:rPr lang="en-US" dirty="0">
                <a:solidFill>
                  <a:schemeClr val="accent4">
                    <a:lumMod val="10000"/>
                  </a:schemeClr>
                </a:solidFill>
                <a:effectLst/>
              </a:rPr>
              <a:t>. </a:t>
            </a:r>
            <a:endParaRPr lang="en-US" sz="1200" dirty="0">
              <a:solidFill>
                <a:schemeClr val="accent4">
                  <a:lumMod val="10000"/>
                </a:schemeClr>
              </a:solidFill>
              <a:effectLst/>
            </a:endParaRPr>
          </a:p>
          <a:p>
            <a:pPr marL="457200" lvl="1" indent="0">
              <a:buNone/>
              <a:tabLst>
                <a:tab pos="2514600" algn="l"/>
              </a:tabLst>
            </a:pPr>
            <a:endParaRPr lang="en-US" sz="1200" dirty="0">
              <a:solidFill>
                <a:schemeClr val="accent4">
                  <a:lumMod val="10000"/>
                </a:schemeClr>
              </a:solidFill>
              <a:effectLst/>
            </a:endParaRPr>
          </a:p>
          <a:p>
            <a:endParaRPr lang="en-US" b="1" dirty="0"/>
          </a:p>
          <a:p>
            <a:endParaRPr lang="en-US" b="1" dirty="0" smtClean="0"/>
          </a:p>
          <a:p>
            <a:endParaRPr lang="en-US" b="1" dirty="0"/>
          </a:p>
          <a:p>
            <a:r>
              <a:rPr lang="en-US" b="1" dirty="0" smtClean="0"/>
              <a:t>Exercise: 5.8  Create Display Variant</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7115745" y="4191000"/>
            <a:ext cx="2028255" cy="2514600"/>
          </a:xfrm>
          <a:prstGeom prst="rect">
            <a:avLst/>
          </a:prstGeom>
          <a:noFill/>
        </p:spPr>
      </p:pic>
    </p:spTree>
    <p:extLst>
      <p:ext uri="{BB962C8B-B14F-4D97-AF65-F5344CB8AC3E}">
        <p14:creationId xmlns:p14="http://schemas.microsoft.com/office/powerpoint/2010/main" val="779718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urved Right Arrow 22"/>
          <p:cNvSpPr/>
          <p:nvPr/>
        </p:nvSpPr>
        <p:spPr bwMode="auto">
          <a:xfrm rot="21261128">
            <a:off x="1984957" y="1862015"/>
            <a:ext cx="797346" cy="2480471"/>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pic>
        <p:nvPicPr>
          <p:cNvPr id="35" name="Picture 34"/>
          <p:cNvPicPr/>
          <p:nvPr/>
        </p:nvPicPr>
        <p:blipFill>
          <a:blip r:embed="rId2"/>
          <a:stretch>
            <a:fillRect/>
          </a:stretch>
        </p:blipFill>
        <p:spPr>
          <a:xfrm>
            <a:off x="2743200" y="2895600"/>
            <a:ext cx="4191000" cy="2850564"/>
          </a:xfrm>
          <a:prstGeom prst="rect">
            <a:avLst/>
          </a:prstGeom>
        </p:spPr>
      </p:pic>
      <p:sp>
        <p:nvSpPr>
          <p:cNvPr id="382978" name="Rectangle 2"/>
          <p:cNvSpPr>
            <a:spLocks noGrp="1" noChangeArrowheads="1"/>
          </p:cNvSpPr>
          <p:nvPr>
            <p:ph type="title"/>
          </p:nvPr>
        </p:nvSpPr>
        <p:spPr/>
        <p:txBody>
          <a:bodyPr/>
          <a:lstStyle/>
          <a:p>
            <a:r>
              <a:rPr lang="en-US" smtClean="0"/>
              <a:t>Use an Existing Display Variant</a:t>
            </a:r>
          </a:p>
        </p:txBody>
      </p:sp>
      <p:sp>
        <p:nvSpPr>
          <p:cNvPr id="382979" name="Rectangle 3"/>
          <p:cNvSpPr>
            <a:spLocks noGrp="1" noChangeArrowheads="1"/>
          </p:cNvSpPr>
          <p:nvPr>
            <p:ph idx="1"/>
          </p:nvPr>
        </p:nvSpPr>
        <p:spPr/>
        <p:txBody>
          <a:bodyPr/>
          <a:lstStyle/>
          <a:p>
            <a:r>
              <a:rPr lang="en-US" dirty="0" smtClean="0"/>
              <a:t>You can change the displayed report layout by selecting an existing display variant.</a:t>
            </a:r>
          </a:p>
        </p:txBody>
      </p:sp>
      <p:sp>
        <p:nvSpPr>
          <p:cNvPr id="383002" name="Rectangle 26"/>
          <p:cNvSpPr>
            <a:spLocks noChangeArrowheads="1"/>
          </p:cNvSpPr>
          <p:nvPr/>
        </p:nvSpPr>
        <p:spPr bwMode="auto">
          <a:xfrm>
            <a:off x="1981200" y="1846263"/>
            <a:ext cx="3657600" cy="8382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Click the arrow on the </a:t>
            </a:r>
            <a:r>
              <a:rPr lang="en-US" sz="1600" b="1" dirty="0">
                <a:solidFill>
                  <a:srgbClr val="000000"/>
                </a:solidFill>
                <a:latin typeface="Arial" pitchFamily="34" charset="0"/>
                <a:ea typeface="Verdana" pitchFamily="34" charset="0"/>
                <a:cs typeface="Arial" pitchFamily="34" charset="0"/>
              </a:rPr>
              <a:t>Choose Layout…</a:t>
            </a:r>
            <a:r>
              <a:rPr lang="en-US" sz="1600" dirty="0">
                <a:solidFill>
                  <a:srgbClr val="000000"/>
                </a:solidFill>
                <a:latin typeface="Arial" pitchFamily="34" charset="0"/>
                <a:ea typeface="Verdana" pitchFamily="34" charset="0"/>
                <a:cs typeface="Arial" pitchFamily="34" charset="0"/>
              </a:rPr>
              <a:t>button  </a:t>
            </a:r>
            <a:r>
              <a:rPr lang="en-US" sz="1600" dirty="0" smtClean="0">
                <a:solidFill>
                  <a:srgbClr val="000000"/>
                </a:solidFill>
                <a:latin typeface="Arial" pitchFamily="34" charset="0"/>
                <a:ea typeface="Verdana" pitchFamily="34" charset="0"/>
                <a:cs typeface="Arial" pitchFamily="34" charset="0"/>
              </a:rPr>
              <a:t>    and </a:t>
            </a:r>
            <a:r>
              <a:rPr lang="en-US" sz="1600" dirty="0">
                <a:solidFill>
                  <a:srgbClr val="000000"/>
                </a:solidFill>
                <a:latin typeface="Arial" pitchFamily="34" charset="0"/>
                <a:ea typeface="Verdana" pitchFamily="34" charset="0"/>
                <a:cs typeface="Arial" pitchFamily="34" charset="0"/>
              </a:rPr>
              <a:t>select </a:t>
            </a:r>
            <a:r>
              <a:rPr lang="en-US" sz="1600" b="1" u="sng" dirty="0">
                <a:solidFill>
                  <a:srgbClr val="000000"/>
                </a:solidFill>
                <a:latin typeface="Arial" pitchFamily="34" charset="0"/>
                <a:ea typeface="Verdana" pitchFamily="34" charset="0"/>
                <a:cs typeface="Arial" pitchFamily="34" charset="0"/>
              </a:rPr>
              <a:t>C</a:t>
            </a:r>
            <a:r>
              <a:rPr lang="en-US" sz="1600" b="1" dirty="0">
                <a:solidFill>
                  <a:srgbClr val="000000"/>
                </a:solidFill>
                <a:latin typeface="Arial" pitchFamily="34" charset="0"/>
                <a:ea typeface="Verdana" pitchFamily="34" charset="0"/>
                <a:cs typeface="Arial" pitchFamily="34" charset="0"/>
              </a:rPr>
              <a:t>hoose Layout…</a:t>
            </a:r>
          </a:p>
        </p:txBody>
      </p:sp>
      <p:sp>
        <p:nvSpPr>
          <p:cNvPr id="383010" name="Rectangle 34"/>
          <p:cNvSpPr>
            <a:spLocks noChangeArrowheads="1"/>
          </p:cNvSpPr>
          <p:nvPr/>
        </p:nvSpPr>
        <p:spPr bwMode="auto">
          <a:xfrm>
            <a:off x="6248400" y="3048000"/>
            <a:ext cx="2743200" cy="8382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Select the display variant you want to use by single-clicking the line item.</a:t>
            </a:r>
          </a:p>
        </p:txBody>
      </p:sp>
      <p:sp>
        <p:nvSpPr>
          <p:cNvPr id="383014" name="Rectangle 38"/>
          <p:cNvSpPr>
            <a:spLocks noChangeArrowheads="1"/>
          </p:cNvSpPr>
          <p:nvPr/>
        </p:nvSpPr>
        <p:spPr bwMode="auto">
          <a:xfrm>
            <a:off x="2819400" y="4038600"/>
            <a:ext cx="2895600" cy="1524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383015" name="Line 39"/>
          <p:cNvSpPr>
            <a:spLocks noChangeShapeType="1"/>
          </p:cNvSpPr>
          <p:nvPr/>
        </p:nvSpPr>
        <p:spPr bwMode="auto">
          <a:xfrm>
            <a:off x="6400800" y="3886200"/>
            <a:ext cx="0" cy="228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83016" name="Line 40"/>
          <p:cNvSpPr>
            <a:spLocks noChangeShapeType="1"/>
          </p:cNvSpPr>
          <p:nvPr/>
        </p:nvSpPr>
        <p:spPr bwMode="auto">
          <a:xfrm flipH="1">
            <a:off x="5715000" y="4114800"/>
            <a:ext cx="6858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
        <p:nvSpPr>
          <p:cNvPr id="383017" name="Rectangle 41"/>
          <p:cNvSpPr>
            <a:spLocks noChangeArrowheads="1"/>
          </p:cNvSpPr>
          <p:nvPr/>
        </p:nvSpPr>
        <p:spPr bwMode="auto">
          <a:xfrm>
            <a:off x="685800" y="4970463"/>
            <a:ext cx="2057400" cy="12954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Click    </a:t>
            </a:r>
            <a:r>
              <a:rPr lang="en-US" sz="1600" dirty="0" smtClean="0">
                <a:solidFill>
                  <a:srgbClr val="000000"/>
                </a:solidFill>
                <a:latin typeface="Arial" pitchFamily="34" charset="0"/>
                <a:ea typeface="Verdana" pitchFamily="34" charset="0"/>
                <a:cs typeface="Arial" pitchFamily="34" charset="0"/>
              </a:rPr>
              <a:t> to </a:t>
            </a:r>
            <a:r>
              <a:rPr lang="en-US" sz="1600" dirty="0">
                <a:solidFill>
                  <a:srgbClr val="000000"/>
                </a:solidFill>
                <a:latin typeface="Arial" pitchFamily="34" charset="0"/>
                <a:ea typeface="Verdana" pitchFamily="34" charset="0"/>
                <a:cs typeface="Arial" pitchFamily="34" charset="0"/>
              </a:rPr>
              <a:t>continue. The selected display variant will be applied to the report.</a:t>
            </a:r>
          </a:p>
        </p:txBody>
      </p:sp>
      <p:grpSp>
        <p:nvGrpSpPr>
          <p:cNvPr id="26" name="Group 24"/>
          <p:cNvGrpSpPr>
            <a:grpSpLocks/>
          </p:cNvGrpSpPr>
          <p:nvPr/>
        </p:nvGrpSpPr>
        <p:grpSpPr bwMode="auto">
          <a:xfrm>
            <a:off x="1576587" y="1693585"/>
            <a:ext cx="393700" cy="363538"/>
            <a:chOff x="4976" y="624"/>
            <a:chExt cx="200" cy="176"/>
          </a:xfrm>
        </p:grpSpPr>
        <p:sp>
          <p:nvSpPr>
            <p:cNvPr id="27"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8"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9" name="Group 28"/>
          <p:cNvGrpSpPr>
            <a:grpSpLocks/>
          </p:cNvGrpSpPr>
          <p:nvPr/>
        </p:nvGrpSpPr>
        <p:grpSpPr bwMode="auto">
          <a:xfrm>
            <a:off x="5943600" y="2667000"/>
            <a:ext cx="393700" cy="363538"/>
            <a:chOff x="4976" y="624"/>
            <a:chExt cx="200" cy="176"/>
          </a:xfrm>
        </p:grpSpPr>
        <p:sp>
          <p:nvSpPr>
            <p:cNvPr id="30" name="Oval 2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32" name="Group 31"/>
          <p:cNvGrpSpPr>
            <a:grpSpLocks/>
          </p:cNvGrpSpPr>
          <p:nvPr/>
        </p:nvGrpSpPr>
        <p:grpSpPr bwMode="auto">
          <a:xfrm>
            <a:off x="2533396" y="5943600"/>
            <a:ext cx="362204" cy="424523"/>
            <a:chOff x="4976" y="624"/>
            <a:chExt cx="200" cy="176"/>
          </a:xfrm>
        </p:grpSpPr>
        <p:sp>
          <p:nvSpPr>
            <p:cNvPr id="33" name="Oval 3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 name="Text Box 26"/>
            <p:cNvSpPr txBox="1">
              <a:spLocks noChangeArrowheads="1"/>
            </p:cNvSpPr>
            <p:nvPr/>
          </p:nvSpPr>
          <p:spPr bwMode="auto">
            <a:xfrm>
              <a:off x="4976" y="644"/>
              <a:ext cx="168"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pic>
        <p:nvPicPr>
          <p:cNvPr id="36" name="Picture 35"/>
          <p:cNvPicPr/>
          <p:nvPr/>
        </p:nvPicPr>
        <p:blipFill>
          <a:blip r:embed="rId3"/>
          <a:stretch>
            <a:fillRect/>
          </a:stretch>
        </p:blipFill>
        <p:spPr>
          <a:xfrm>
            <a:off x="3505200" y="2157562"/>
            <a:ext cx="304800" cy="204638"/>
          </a:xfrm>
          <a:prstGeom prst="rect">
            <a:avLst/>
          </a:prstGeom>
        </p:spPr>
      </p:pic>
      <p:pic>
        <p:nvPicPr>
          <p:cNvPr id="3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5105400"/>
            <a:ext cx="228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1098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marL="2006600" indent="-2006600" defTabSz="687388"/>
            <a:r>
              <a:rPr lang="en-US" sz="1800" b="1" dirty="0"/>
              <a:t>Activity Name: </a:t>
            </a:r>
            <a:r>
              <a:rPr lang="en-US" sz="1800" dirty="0" smtClean="0"/>
              <a:t>Execute a Report Using Multiple Selections, Dynamic Selections, and Variants</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144</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2"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a:solidFill>
                  <a:schemeClr val="accent4">
                    <a:lumMod val="10000"/>
                  </a:schemeClr>
                </a:solidFill>
                <a:effectLst/>
              </a:rPr>
              <a:t>You wish to execute the </a:t>
            </a:r>
            <a:r>
              <a:rPr lang="en-US" b="1" dirty="0">
                <a:solidFill>
                  <a:schemeClr val="accent4">
                    <a:lumMod val="10000"/>
                  </a:schemeClr>
                </a:solidFill>
                <a:effectLst/>
              </a:rPr>
              <a:t>S_ALR_87012284 Balance Sheet P&amp;L Statement</a:t>
            </a:r>
            <a:r>
              <a:rPr lang="en-US" dirty="0">
                <a:solidFill>
                  <a:schemeClr val="accent4">
                    <a:lumMod val="10000"/>
                  </a:schemeClr>
                </a:solidFill>
                <a:effectLst/>
              </a:rPr>
              <a:t> report using selection variant </a:t>
            </a:r>
            <a:r>
              <a:rPr lang="en-US" b="1" dirty="0">
                <a:solidFill>
                  <a:schemeClr val="accent4">
                    <a:lumMod val="10000"/>
                  </a:schemeClr>
                </a:solidFill>
                <a:effectLst/>
              </a:rPr>
              <a:t>/Trial </a:t>
            </a:r>
            <a:r>
              <a:rPr lang="en-US" b="1" dirty="0" err="1">
                <a:solidFill>
                  <a:schemeClr val="accent4">
                    <a:lumMod val="10000"/>
                  </a:schemeClr>
                </a:solidFill>
                <a:effectLst/>
              </a:rPr>
              <a:t>Bal</a:t>
            </a:r>
            <a:r>
              <a:rPr lang="en-US" b="1" dirty="0">
                <a:solidFill>
                  <a:schemeClr val="accent4">
                    <a:lumMod val="10000"/>
                  </a:schemeClr>
                </a:solidFill>
                <a:effectLst/>
              </a:rPr>
              <a:t> CG</a:t>
            </a:r>
            <a:r>
              <a:rPr lang="en-US" dirty="0">
                <a:solidFill>
                  <a:schemeClr val="accent4">
                    <a:lumMod val="10000"/>
                  </a:schemeClr>
                </a:solidFill>
                <a:effectLst/>
              </a:rPr>
              <a:t> and display variant </a:t>
            </a:r>
            <a:r>
              <a:rPr lang="en-US" b="1" dirty="0">
                <a:solidFill>
                  <a:schemeClr val="accent4">
                    <a:lumMod val="10000"/>
                  </a:schemeClr>
                </a:solidFill>
                <a:effectLst/>
              </a:rPr>
              <a:t>SH TB Layout</a:t>
            </a:r>
            <a:r>
              <a:rPr lang="en-US" dirty="0" smtClean="0">
                <a:solidFill>
                  <a:schemeClr val="accent4">
                    <a:lumMod val="10000"/>
                  </a:schemeClr>
                </a:solidFill>
                <a:effectLst/>
              </a:rPr>
              <a:t>.</a:t>
            </a: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After executing the report, you wish to change the layout to display variant </a:t>
            </a:r>
            <a:r>
              <a:rPr lang="en-US" b="1" dirty="0">
                <a:solidFill>
                  <a:schemeClr val="accent4">
                    <a:lumMod val="10000"/>
                  </a:schemeClr>
                </a:solidFill>
                <a:effectLst/>
              </a:rPr>
              <a:t>Deb’s. TB Rollup to FS Item</a:t>
            </a:r>
            <a:r>
              <a:rPr lang="en-US" dirty="0" smtClean="0">
                <a:solidFill>
                  <a:schemeClr val="accent4">
                    <a:lumMod val="10000"/>
                  </a:schemeClr>
                </a:solidFill>
                <a:effectLst/>
              </a:rPr>
              <a:t>. </a:t>
            </a:r>
            <a:endParaRPr lang="en-US" sz="1200" dirty="0">
              <a:solidFill>
                <a:schemeClr val="accent4">
                  <a:lumMod val="10000"/>
                </a:schemeClr>
              </a:solidFill>
              <a:effectLst/>
            </a:endParaRPr>
          </a:p>
          <a:p>
            <a:pPr lvl="1">
              <a:tabLst>
                <a:tab pos="2514600" algn="l"/>
              </a:tabLst>
            </a:pPr>
            <a:r>
              <a:rPr lang="en-US" dirty="0" smtClean="0">
                <a:solidFill>
                  <a:schemeClr val="tx1"/>
                </a:solidFill>
              </a:rPr>
              <a:t>.</a:t>
            </a:r>
            <a:endParaRPr lang="en-US" sz="1200" dirty="0">
              <a:solidFill>
                <a:schemeClr val="folHlink"/>
              </a:solidFill>
            </a:endParaRPr>
          </a:p>
          <a:p>
            <a:endParaRPr lang="en-US" b="1" dirty="0"/>
          </a:p>
          <a:p>
            <a:endParaRPr lang="en-US" b="1" dirty="0" smtClean="0"/>
          </a:p>
          <a:p>
            <a:endParaRPr lang="en-US" b="1" dirty="0" smtClean="0"/>
          </a:p>
          <a:p>
            <a:endParaRPr lang="en-US" b="1" dirty="0"/>
          </a:p>
          <a:p>
            <a:r>
              <a:rPr lang="en-US" b="1" dirty="0" smtClean="0"/>
              <a:t>Exercise: 5.9  Execute Report Using Multiple               			    Selections and Variants</a:t>
            </a:r>
            <a:endParaRPr lang="en-US" b="1" dirty="0"/>
          </a:p>
        </p:txBody>
      </p:sp>
      <p:pic>
        <p:nvPicPr>
          <p:cNvPr id="5" name="Picture 2" descr="C:\Users\namudaliar\Documents\Narayanan\Ball Corp\Images\shutterstock_50629798.jpg"/>
          <p:cNvPicPr>
            <a:picLocks noChangeAspect="1" noChangeArrowheads="1"/>
          </p:cNvPicPr>
          <p:nvPr/>
        </p:nvPicPr>
        <p:blipFill>
          <a:blip r:embed="rId3" cstate="print"/>
          <a:srcRect/>
          <a:stretch>
            <a:fillRect/>
          </a:stretch>
        </p:blipFill>
        <p:spPr bwMode="auto">
          <a:xfrm>
            <a:off x="7115745" y="4191000"/>
            <a:ext cx="2028255" cy="2514600"/>
          </a:xfrm>
          <a:prstGeom prst="rect">
            <a:avLst/>
          </a:prstGeom>
          <a:noFill/>
        </p:spPr>
      </p:pic>
    </p:spTree>
    <p:extLst>
      <p:ext uri="{BB962C8B-B14F-4D97-AF65-F5344CB8AC3E}">
        <p14:creationId xmlns:p14="http://schemas.microsoft.com/office/powerpoint/2010/main" val="1659100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What is the difference between a Selection Variant and Display Variant?</a:t>
            </a:r>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146</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3998558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rved Right Arrow 15"/>
          <p:cNvSpPr/>
          <p:nvPr/>
        </p:nvSpPr>
        <p:spPr bwMode="auto">
          <a:xfrm rot="431652">
            <a:off x="2401795" y="2253650"/>
            <a:ext cx="797346" cy="2480471"/>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391170" name="Rectangle 2"/>
          <p:cNvSpPr>
            <a:spLocks noGrp="1" noChangeArrowheads="1"/>
          </p:cNvSpPr>
          <p:nvPr>
            <p:ph type="title"/>
          </p:nvPr>
        </p:nvSpPr>
        <p:spPr/>
        <p:txBody>
          <a:bodyPr/>
          <a:lstStyle/>
          <a:p>
            <a:r>
              <a:rPr lang="en-US" smtClean="0"/>
              <a:t>Export Report Data</a:t>
            </a:r>
          </a:p>
        </p:txBody>
      </p:sp>
      <p:sp>
        <p:nvSpPr>
          <p:cNvPr id="391171" name="Rectangle 3"/>
          <p:cNvSpPr>
            <a:spLocks noGrp="1" noChangeArrowheads="1"/>
          </p:cNvSpPr>
          <p:nvPr>
            <p:ph idx="1"/>
          </p:nvPr>
        </p:nvSpPr>
        <p:spPr/>
        <p:txBody>
          <a:bodyPr/>
          <a:lstStyle/>
          <a:p>
            <a:r>
              <a:rPr lang="en-US" dirty="0" smtClean="0"/>
              <a:t>Once report or query data has been generated, it can be downloaded to an Excel spreadsheet for easier viewing.</a:t>
            </a:r>
          </a:p>
        </p:txBody>
      </p:sp>
      <p:sp>
        <p:nvSpPr>
          <p:cNvPr id="391177" name="Rectangle 9"/>
          <p:cNvSpPr>
            <a:spLocks noChangeArrowheads="1"/>
          </p:cNvSpPr>
          <p:nvPr/>
        </p:nvSpPr>
        <p:spPr bwMode="auto">
          <a:xfrm>
            <a:off x="2209800" y="1981200"/>
            <a:ext cx="4191000" cy="8382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Click the arrow on the </a:t>
            </a:r>
            <a:r>
              <a:rPr lang="en-US" sz="1600" b="1" dirty="0">
                <a:solidFill>
                  <a:schemeClr val="accent4">
                    <a:lumMod val="10000"/>
                  </a:schemeClr>
                </a:solidFill>
                <a:latin typeface="Arial" pitchFamily="34" charset="0"/>
                <a:ea typeface="Verdana" pitchFamily="34" charset="0"/>
                <a:cs typeface="Arial" pitchFamily="34" charset="0"/>
              </a:rPr>
              <a:t>Expor</a:t>
            </a:r>
            <a:r>
              <a:rPr lang="en-US" sz="1600" dirty="0">
                <a:solidFill>
                  <a:srgbClr val="000000"/>
                </a:solidFill>
                <a:latin typeface="Arial" pitchFamily="34" charset="0"/>
                <a:ea typeface="Verdana" pitchFamily="34" charset="0"/>
                <a:cs typeface="Arial" pitchFamily="34" charset="0"/>
              </a:rPr>
              <a:t>t </a:t>
            </a:r>
            <a:r>
              <a:rPr lang="en-US" sz="1600" dirty="0" smtClean="0">
                <a:solidFill>
                  <a:srgbClr val="000000"/>
                </a:solidFill>
                <a:latin typeface="Arial" pitchFamily="34" charset="0"/>
                <a:ea typeface="Verdana" pitchFamily="34" charset="0"/>
                <a:cs typeface="Arial" pitchFamily="34" charset="0"/>
              </a:rPr>
              <a:t>button        and </a:t>
            </a:r>
            <a:r>
              <a:rPr lang="en-US" sz="1600" dirty="0">
                <a:solidFill>
                  <a:srgbClr val="000000"/>
                </a:solidFill>
                <a:latin typeface="Arial" pitchFamily="34" charset="0"/>
                <a:ea typeface="Verdana" pitchFamily="34" charset="0"/>
                <a:cs typeface="Arial" pitchFamily="34" charset="0"/>
              </a:rPr>
              <a:t>select </a:t>
            </a:r>
            <a:r>
              <a:rPr lang="en-US" sz="1600" b="1" u="sng" dirty="0" smtClean="0">
                <a:solidFill>
                  <a:srgbClr val="000000"/>
                </a:solidFill>
                <a:latin typeface="Arial" pitchFamily="34" charset="0"/>
                <a:ea typeface="Verdana" pitchFamily="34" charset="0"/>
                <a:cs typeface="Arial" pitchFamily="34" charset="0"/>
              </a:rPr>
              <a:t>S</a:t>
            </a:r>
            <a:r>
              <a:rPr lang="en-US" sz="1600" b="1" dirty="0" smtClean="0">
                <a:solidFill>
                  <a:srgbClr val="000000"/>
                </a:solidFill>
                <a:latin typeface="Arial" pitchFamily="34" charset="0"/>
                <a:ea typeface="Verdana" pitchFamily="34" charset="0"/>
                <a:cs typeface="Arial" pitchFamily="34" charset="0"/>
              </a:rPr>
              <a:t>preadsheet</a:t>
            </a:r>
            <a:r>
              <a:rPr lang="en-US" sz="1600" dirty="0" smtClean="0">
                <a:solidFill>
                  <a:srgbClr val="000000"/>
                </a:solidFill>
                <a:latin typeface="Arial" pitchFamily="34" charset="0"/>
                <a:ea typeface="Verdana" pitchFamily="34" charset="0"/>
                <a:cs typeface="Arial" pitchFamily="34" charset="0"/>
              </a:rPr>
              <a:t> to </a:t>
            </a:r>
            <a:r>
              <a:rPr lang="en-US" sz="1600" dirty="0">
                <a:solidFill>
                  <a:srgbClr val="000000"/>
                </a:solidFill>
                <a:latin typeface="Arial" pitchFamily="34" charset="0"/>
                <a:ea typeface="Verdana" pitchFamily="34" charset="0"/>
                <a:cs typeface="Arial" pitchFamily="34" charset="0"/>
              </a:rPr>
              <a:t>download the data displayed in the current report.</a:t>
            </a:r>
          </a:p>
        </p:txBody>
      </p:sp>
      <p:sp>
        <p:nvSpPr>
          <p:cNvPr id="391182" name="Rectangle 14"/>
          <p:cNvSpPr>
            <a:spLocks noChangeArrowheads="1"/>
          </p:cNvSpPr>
          <p:nvPr/>
        </p:nvSpPr>
        <p:spPr bwMode="auto">
          <a:xfrm>
            <a:off x="3657600" y="5715000"/>
            <a:ext cx="3657600" cy="6096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smtClean="0">
                <a:solidFill>
                  <a:srgbClr val="000000"/>
                </a:solidFill>
                <a:latin typeface="Arial" pitchFamily="34" charset="0"/>
                <a:ea typeface="Verdana" pitchFamily="34" charset="0"/>
                <a:cs typeface="Arial" pitchFamily="34" charset="0"/>
              </a:rPr>
              <a:t>Select the desired format, then click      </a:t>
            </a:r>
            <a:r>
              <a:rPr lang="en-US" sz="1600" dirty="0">
                <a:solidFill>
                  <a:srgbClr val="000000"/>
                </a:solidFill>
                <a:latin typeface="Arial" pitchFamily="34" charset="0"/>
                <a:ea typeface="Verdana" pitchFamily="34" charset="0"/>
                <a:cs typeface="Arial" pitchFamily="34" charset="0"/>
              </a:rPr>
              <a:t>to </a:t>
            </a:r>
            <a:r>
              <a:rPr lang="en-US" sz="1600" dirty="0" smtClean="0">
                <a:solidFill>
                  <a:srgbClr val="000000"/>
                </a:solidFill>
                <a:latin typeface="Arial" pitchFamily="34" charset="0"/>
                <a:ea typeface="Verdana" pitchFamily="34" charset="0"/>
                <a:cs typeface="Arial" pitchFamily="34" charset="0"/>
              </a:rPr>
              <a:t>continue.</a:t>
            </a:r>
            <a:endParaRPr lang="en-US" sz="1600" dirty="0">
              <a:solidFill>
                <a:srgbClr val="000000"/>
              </a:solidFill>
              <a:latin typeface="Arial" pitchFamily="34" charset="0"/>
              <a:ea typeface="Verdana" pitchFamily="34" charset="0"/>
              <a:cs typeface="Arial" pitchFamily="34" charset="0"/>
            </a:endParaRPr>
          </a:p>
        </p:txBody>
      </p:sp>
      <p:pic>
        <p:nvPicPr>
          <p:cNvPr id="391186" name="Picture 18"/>
          <p:cNvPicPr>
            <a:picLocks noChangeAspect="1" noChangeArrowheads="1"/>
          </p:cNvPicPr>
          <p:nvPr/>
        </p:nvPicPr>
        <p:blipFill>
          <a:blip r:embed="rId3">
            <a:extLst>
              <a:ext uri="{28A0092B-C50C-407E-A947-70E740481C1C}">
                <a14:useLocalDpi xmlns:a14="http://schemas.microsoft.com/office/drawing/2010/main" val="0"/>
              </a:ext>
            </a:extLst>
          </a:blip>
          <a:srcRect l="1997" t="96107" r="95149" b="1047"/>
          <a:stretch>
            <a:fillRect/>
          </a:stretch>
        </p:blipFill>
        <p:spPr bwMode="auto">
          <a:xfrm>
            <a:off x="7023100" y="5824210"/>
            <a:ext cx="177800" cy="160338"/>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 name="Group 24"/>
          <p:cNvGrpSpPr>
            <a:grpSpLocks/>
          </p:cNvGrpSpPr>
          <p:nvPr/>
        </p:nvGrpSpPr>
        <p:grpSpPr bwMode="auto">
          <a:xfrm>
            <a:off x="1816135" y="1964985"/>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0" name="Group 19"/>
          <p:cNvGrpSpPr>
            <a:grpSpLocks/>
          </p:cNvGrpSpPr>
          <p:nvPr/>
        </p:nvGrpSpPr>
        <p:grpSpPr bwMode="auto">
          <a:xfrm>
            <a:off x="6629400" y="5373397"/>
            <a:ext cx="393700" cy="363538"/>
            <a:chOff x="4976" y="624"/>
            <a:chExt cx="200" cy="176"/>
          </a:xfrm>
        </p:grpSpPr>
        <p:sp>
          <p:nvSpPr>
            <p:cNvPr id="21" name="Oval 20"/>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pic>
        <p:nvPicPr>
          <p:cNvPr id="23" name="Picture 22"/>
          <p:cNvPicPr/>
          <p:nvPr/>
        </p:nvPicPr>
        <p:blipFill>
          <a:blip r:embed="rId4"/>
          <a:stretch>
            <a:fillRect/>
          </a:stretch>
        </p:blipFill>
        <p:spPr>
          <a:xfrm>
            <a:off x="5532754" y="2074046"/>
            <a:ext cx="410846" cy="246214"/>
          </a:xfrm>
          <a:prstGeom prst="rect">
            <a:avLst/>
          </a:prstGeom>
        </p:spPr>
      </p:pic>
      <p:pic>
        <p:nvPicPr>
          <p:cNvPr id="24" name="Picture 23"/>
          <p:cNvPicPr/>
          <p:nvPr/>
        </p:nvPicPr>
        <p:blipFill>
          <a:blip r:embed="rId5"/>
          <a:stretch>
            <a:fillRect/>
          </a:stretch>
        </p:blipFill>
        <p:spPr>
          <a:xfrm>
            <a:off x="3102604" y="2971800"/>
            <a:ext cx="3298196" cy="26695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553424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Export Report Data to Excel</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TBD</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a:t>
            </a:r>
            <a:r>
              <a:rPr lang="en-US" dirty="0" smtClean="0"/>
              <a:t>TBD</a:t>
            </a:r>
            <a:endParaRPr lang="en-US" dirty="0"/>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148</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2"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a:solidFill>
                  <a:schemeClr val="accent4">
                    <a:lumMod val="10000"/>
                  </a:schemeClr>
                </a:solidFill>
                <a:effectLst/>
              </a:rPr>
              <a:t>You are currently in the </a:t>
            </a:r>
            <a:r>
              <a:rPr lang="en-US" b="1" dirty="0">
                <a:solidFill>
                  <a:schemeClr val="accent4">
                    <a:lumMod val="10000"/>
                  </a:schemeClr>
                </a:solidFill>
                <a:effectLst/>
              </a:rPr>
              <a:t>Payment and Receipt Tracking</a:t>
            </a:r>
            <a:r>
              <a:rPr lang="en-US" dirty="0">
                <a:solidFill>
                  <a:schemeClr val="accent4">
                    <a:lumMod val="10000"/>
                  </a:schemeClr>
                </a:solidFill>
                <a:effectLst/>
              </a:rPr>
              <a:t> report</a:t>
            </a:r>
            <a:r>
              <a:rPr lang="en-US" dirty="0" smtClean="0">
                <a:solidFill>
                  <a:schemeClr val="accent4">
                    <a:lumMod val="10000"/>
                  </a:schemeClr>
                </a:solidFill>
                <a:effectLst/>
              </a:rPr>
              <a:t>.</a:t>
            </a: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wish to export the report data into an Excel file named Report.xls</a:t>
            </a:r>
            <a:r>
              <a:rPr lang="en-US" dirty="0" smtClean="0">
                <a:solidFill>
                  <a:schemeClr val="accent4">
                    <a:lumMod val="10000"/>
                  </a:schemeClr>
                </a:solidFill>
                <a:effectLst/>
              </a:rPr>
              <a:t>.</a:t>
            </a: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will use the </a:t>
            </a:r>
            <a:r>
              <a:rPr lang="en-US" b="1" dirty="0">
                <a:solidFill>
                  <a:schemeClr val="accent4">
                    <a:lumMod val="10000"/>
                  </a:schemeClr>
                </a:solidFill>
                <a:effectLst/>
              </a:rPr>
              <a:t>More &gt; Local file</a:t>
            </a:r>
            <a:r>
              <a:rPr lang="en-US" dirty="0">
                <a:solidFill>
                  <a:schemeClr val="accent4">
                    <a:lumMod val="10000"/>
                  </a:schemeClr>
                </a:solidFill>
                <a:effectLst/>
              </a:rPr>
              <a:t> option to download the report data</a:t>
            </a:r>
            <a:r>
              <a:rPr lang="en-US" dirty="0" smtClean="0">
                <a:solidFill>
                  <a:schemeClr val="accent4">
                    <a:lumMod val="10000"/>
                  </a:schemeClr>
                </a:solidFill>
                <a:effectLst/>
              </a:rPr>
              <a:t>. </a:t>
            </a:r>
            <a:endParaRPr lang="en-US" sz="1200" dirty="0">
              <a:solidFill>
                <a:schemeClr val="accent4">
                  <a:lumMod val="10000"/>
                </a:schemeClr>
              </a:solidFill>
              <a:effectLst/>
            </a:endParaRPr>
          </a:p>
          <a:p>
            <a:pPr marL="457200" lvl="1" indent="0">
              <a:buNone/>
              <a:tabLst>
                <a:tab pos="2514600" algn="l"/>
              </a:tabLst>
            </a:pPr>
            <a:endParaRPr lang="en-US" sz="1200" dirty="0">
              <a:solidFill>
                <a:schemeClr val="accent4">
                  <a:lumMod val="10000"/>
                </a:schemeClr>
              </a:solidFill>
              <a:effectLst/>
            </a:endParaRPr>
          </a:p>
          <a:p>
            <a:endParaRPr lang="en-US" b="1" dirty="0"/>
          </a:p>
          <a:p>
            <a:endParaRPr lang="en-US" b="1" dirty="0"/>
          </a:p>
          <a:p>
            <a:r>
              <a:rPr lang="en-US" b="1" dirty="0" smtClean="0"/>
              <a:t>Exercise: 5.10  Export Report Data to Excel</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7115745" y="4191000"/>
            <a:ext cx="2028255" cy="2514600"/>
          </a:xfrm>
          <a:prstGeom prst="rect">
            <a:avLst/>
          </a:prstGeom>
          <a:noFill/>
        </p:spPr>
      </p:pic>
    </p:spTree>
    <p:extLst>
      <p:ext uri="{BB962C8B-B14F-4D97-AF65-F5344CB8AC3E}">
        <p14:creationId xmlns:p14="http://schemas.microsoft.com/office/powerpoint/2010/main" val="9471308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67" name="AutoShape 51"/>
          <p:cNvSpPr>
            <a:spLocks noChangeArrowheads="1"/>
          </p:cNvSpPr>
          <p:nvPr/>
        </p:nvSpPr>
        <p:spPr bwMode="auto">
          <a:xfrm>
            <a:off x="3343275" y="4191000"/>
            <a:ext cx="2590800" cy="2362200"/>
          </a:xfrm>
          <a:prstGeom prst="wedgeRectCallout">
            <a:avLst>
              <a:gd name="adj1" fmla="val -62315"/>
              <a:gd name="adj2" fmla="val -35751"/>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495" y="4267201"/>
            <a:ext cx="242595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00200"/>
            <a:ext cx="2781300" cy="9810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3241" name="AutoShape 25"/>
          <p:cNvSpPr>
            <a:spLocks noChangeArrowheads="1"/>
          </p:cNvSpPr>
          <p:nvPr/>
        </p:nvSpPr>
        <p:spPr bwMode="auto">
          <a:xfrm>
            <a:off x="457200" y="2895600"/>
            <a:ext cx="2895600" cy="1752600"/>
          </a:xfrm>
          <a:prstGeom prst="wedgeRectCallout">
            <a:avLst>
              <a:gd name="adj1" fmla="val 50988"/>
              <a:gd name="adj2" fmla="val -73551"/>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pic>
        <p:nvPicPr>
          <p:cNvPr id="43" name="Picture 42"/>
          <p:cNvPicPr/>
          <p:nvPr/>
        </p:nvPicPr>
        <p:blipFill>
          <a:blip r:embed="rId5"/>
          <a:stretch>
            <a:fillRect/>
          </a:stretch>
        </p:blipFill>
        <p:spPr>
          <a:xfrm>
            <a:off x="533400" y="2971800"/>
            <a:ext cx="2667000" cy="1531900"/>
          </a:xfrm>
          <a:prstGeom prst="rect">
            <a:avLst/>
          </a:prstGeom>
        </p:spPr>
      </p:pic>
      <p:sp>
        <p:nvSpPr>
          <p:cNvPr id="393218" name="Rectangle 2"/>
          <p:cNvSpPr>
            <a:spLocks noGrp="1" noChangeArrowheads="1"/>
          </p:cNvSpPr>
          <p:nvPr>
            <p:ph type="title"/>
          </p:nvPr>
        </p:nvSpPr>
        <p:spPr/>
        <p:txBody>
          <a:bodyPr/>
          <a:lstStyle/>
          <a:p>
            <a:r>
              <a:rPr lang="en-US" smtClean="0"/>
              <a:t>Print Report – Output Requests</a:t>
            </a:r>
          </a:p>
        </p:txBody>
      </p:sp>
      <p:sp>
        <p:nvSpPr>
          <p:cNvPr id="393219" name="Rectangle 3"/>
          <p:cNvSpPr>
            <a:spLocks noGrp="1" noChangeArrowheads="1"/>
          </p:cNvSpPr>
          <p:nvPr>
            <p:ph idx="1"/>
          </p:nvPr>
        </p:nvSpPr>
        <p:spPr/>
        <p:txBody>
          <a:bodyPr/>
          <a:lstStyle/>
          <a:p>
            <a:r>
              <a:rPr lang="en-US" sz="1800" dirty="0" smtClean="0"/>
              <a:t>You can print the report data immediately from SAP to your network printer. </a:t>
            </a:r>
          </a:p>
        </p:txBody>
      </p:sp>
      <p:sp>
        <p:nvSpPr>
          <p:cNvPr id="393243" name="Rectangle 27"/>
          <p:cNvSpPr>
            <a:spLocks noChangeArrowheads="1"/>
          </p:cNvSpPr>
          <p:nvPr/>
        </p:nvSpPr>
        <p:spPr bwMode="auto">
          <a:xfrm>
            <a:off x="3810000" y="1905000"/>
            <a:ext cx="3657600" cy="8382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lvl="0"/>
            <a:r>
              <a:rPr lang="en-US" sz="1600" dirty="0">
                <a:solidFill>
                  <a:srgbClr val="000000"/>
                </a:solidFill>
                <a:latin typeface="Arial" pitchFamily="34" charset="0"/>
                <a:ea typeface="Verdana" pitchFamily="34" charset="0"/>
                <a:cs typeface="Arial" pitchFamily="34" charset="0"/>
              </a:rPr>
              <a:t>Click the Print button </a:t>
            </a:r>
            <a:r>
              <a:rPr lang="en-US" sz="1600" dirty="0" smtClean="0">
                <a:solidFill>
                  <a:srgbClr val="000000"/>
                </a:solidFill>
                <a:latin typeface="Arial" pitchFamily="34" charset="0"/>
                <a:ea typeface="Verdana" pitchFamily="34" charset="0"/>
                <a:cs typeface="Arial" pitchFamily="34" charset="0"/>
              </a:rPr>
              <a:t>   .</a:t>
            </a:r>
            <a:endParaRPr lang="en-US" sz="1600" dirty="0">
              <a:solidFill>
                <a:srgbClr val="000000"/>
              </a:solidFill>
              <a:latin typeface="Arial" pitchFamily="34" charset="0"/>
              <a:ea typeface="Verdana" pitchFamily="34" charset="0"/>
              <a:cs typeface="Arial" pitchFamily="34" charset="0"/>
            </a:endParaRPr>
          </a:p>
        </p:txBody>
      </p:sp>
      <p:sp>
        <p:nvSpPr>
          <p:cNvPr id="393247" name="Rectangle 31"/>
          <p:cNvSpPr>
            <a:spLocks noChangeArrowheads="1"/>
          </p:cNvSpPr>
          <p:nvPr/>
        </p:nvSpPr>
        <p:spPr bwMode="auto">
          <a:xfrm>
            <a:off x="3429000" y="3162300"/>
            <a:ext cx="4257675" cy="9144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The listed </a:t>
            </a:r>
            <a:r>
              <a:rPr lang="en-US" sz="1600" b="1" dirty="0">
                <a:solidFill>
                  <a:srgbClr val="000000"/>
                </a:solidFill>
                <a:latin typeface="Arial" pitchFamily="34" charset="0"/>
                <a:ea typeface="Verdana" pitchFamily="34" charset="0"/>
                <a:cs typeface="Arial" pitchFamily="34" charset="0"/>
              </a:rPr>
              <a:t>Output Device </a:t>
            </a:r>
            <a:r>
              <a:rPr lang="en-US" sz="1600" dirty="0">
                <a:solidFill>
                  <a:srgbClr val="000000"/>
                </a:solidFill>
                <a:latin typeface="Arial" pitchFamily="34" charset="0"/>
                <a:ea typeface="Verdana" pitchFamily="34" charset="0"/>
                <a:cs typeface="Arial" pitchFamily="34" charset="0"/>
              </a:rPr>
              <a:t>will display your defaulted printer if you have set one up. If not, use the match icon to select your printer</a:t>
            </a:r>
          </a:p>
        </p:txBody>
      </p:sp>
      <p:sp>
        <p:nvSpPr>
          <p:cNvPr id="393251" name="Rectangle 35"/>
          <p:cNvSpPr>
            <a:spLocks noChangeArrowheads="1"/>
          </p:cNvSpPr>
          <p:nvPr/>
        </p:nvSpPr>
        <p:spPr bwMode="auto">
          <a:xfrm>
            <a:off x="1828800" y="3162300"/>
            <a:ext cx="190500" cy="190500"/>
          </a:xfrm>
          <a:prstGeom prst="rect">
            <a:avLst/>
          </a:prstGeom>
          <a:noFill/>
          <a:ln w="28575">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393265" name="Rectangle 49"/>
          <p:cNvSpPr>
            <a:spLocks noChangeArrowheads="1"/>
          </p:cNvSpPr>
          <p:nvPr/>
        </p:nvSpPr>
        <p:spPr bwMode="auto">
          <a:xfrm>
            <a:off x="2590800" y="4267200"/>
            <a:ext cx="381000" cy="2286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393260" name="Rectangle 44"/>
          <p:cNvSpPr>
            <a:spLocks noChangeArrowheads="1"/>
          </p:cNvSpPr>
          <p:nvPr/>
        </p:nvSpPr>
        <p:spPr bwMode="auto">
          <a:xfrm>
            <a:off x="304800" y="4876800"/>
            <a:ext cx="1981200" cy="8382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Click the             button to select the print parameters.</a:t>
            </a:r>
          </a:p>
        </p:txBody>
      </p:sp>
      <p:pic>
        <p:nvPicPr>
          <p:cNvPr id="393259" name="Picture 43"/>
          <p:cNvPicPr>
            <a:picLocks noChangeAspect="1" noChangeArrowheads="1"/>
          </p:cNvPicPr>
          <p:nvPr/>
        </p:nvPicPr>
        <p:blipFill>
          <a:blip r:embed="rId6">
            <a:extLst>
              <a:ext uri="{28A0092B-C50C-407E-A947-70E740481C1C}">
                <a14:useLocalDpi xmlns:a14="http://schemas.microsoft.com/office/drawing/2010/main" val="0"/>
              </a:ext>
            </a:extLst>
          </a:blip>
          <a:srcRect l="5853" t="92754" r="82439" b="621"/>
          <a:stretch>
            <a:fillRect/>
          </a:stretch>
        </p:blipFill>
        <p:spPr bwMode="auto">
          <a:xfrm>
            <a:off x="1270000" y="4953000"/>
            <a:ext cx="558800" cy="203200"/>
          </a:xfrm>
          <a:prstGeom prst="rect">
            <a:avLst/>
          </a:prstGeom>
          <a:solidFill>
            <a:schemeClr val="bg2">
              <a:alpha val="50999"/>
            </a:schemeClr>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3269" name="Rectangle 53"/>
          <p:cNvSpPr>
            <a:spLocks noChangeArrowheads="1"/>
          </p:cNvSpPr>
          <p:nvPr/>
        </p:nvSpPr>
        <p:spPr bwMode="auto">
          <a:xfrm>
            <a:off x="6096000" y="5486399"/>
            <a:ext cx="2743200" cy="990601"/>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r>
              <a:rPr lang="en-US" sz="1600" dirty="0">
                <a:solidFill>
                  <a:srgbClr val="000000"/>
                </a:solidFill>
                <a:latin typeface="Arial" pitchFamily="34" charset="0"/>
                <a:ea typeface="Verdana" pitchFamily="34" charset="0"/>
                <a:cs typeface="Arial" pitchFamily="34" charset="0"/>
              </a:rPr>
              <a:t>D</a:t>
            </a:r>
            <a:r>
              <a:rPr lang="en-US" sz="1600" dirty="0" smtClean="0">
                <a:solidFill>
                  <a:srgbClr val="000000"/>
                </a:solidFill>
                <a:latin typeface="Arial" pitchFamily="34" charset="0"/>
                <a:ea typeface="Verdana" pitchFamily="34" charset="0"/>
                <a:cs typeface="Arial" pitchFamily="34" charset="0"/>
              </a:rPr>
              <a:t>ouble-click </a:t>
            </a:r>
            <a:r>
              <a:rPr lang="en-US" sz="1600" dirty="0">
                <a:solidFill>
                  <a:srgbClr val="000000"/>
                </a:solidFill>
                <a:latin typeface="Arial" pitchFamily="34" charset="0"/>
                <a:ea typeface="Verdana" pitchFamily="34" charset="0"/>
                <a:cs typeface="Arial" pitchFamily="34" charset="0"/>
              </a:rPr>
              <a:t>the Time of Printing option</a:t>
            </a:r>
            <a:r>
              <a:rPr lang="en-US" sz="1600" dirty="0" smtClean="0">
                <a:solidFill>
                  <a:srgbClr val="000000"/>
                </a:solidFill>
                <a:latin typeface="Arial" pitchFamily="34" charset="0"/>
                <a:ea typeface="Verdana" pitchFamily="34" charset="0"/>
                <a:cs typeface="Arial" pitchFamily="34" charset="0"/>
              </a:rPr>
              <a:t>, </a:t>
            </a:r>
            <a:r>
              <a:rPr lang="en-US" sz="1600" dirty="0">
                <a:solidFill>
                  <a:srgbClr val="000000"/>
                </a:solidFill>
                <a:latin typeface="Arial" pitchFamily="34" charset="0"/>
                <a:ea typeface="Verdana" pitchFamily="34" charset="0"/>
                <a:cs typeface="Arial" pitchFamily="34" charset="0"/>
              </a:rPr>
              <a:t>select the Print </a:t>
            </a:r>
            <a:r>
              <a:rPr lang="en-US" sz="1600" dirty="0" smtClean="0">
                <a:solidFill>
                  <a:srgbClr val="000000"/>
                </a:solidFill>
                <a:latin typeface="Arial" pitchFamily="34" charset="0"/>
                <a:ea typeface="Verdana" pitchFamily="34" charset="0"/>
                <a:cs typeface="Arial" pitchFamily="34" charset="0"/>
              </a:rPr>
              <a:t>out immediately </a:t>
            </a:r>
            <a:r>
              <a:rPr lang="en-US" sz="1600" dirty="0">
                <a:solidFill>
                  <a:srgbClr val="000000"/>
                </a:solidFill>
                <a:latin typeface="Arial" pitchFamily="34" charset="0"/>
                <a:ea typeface="Verdana" pitchFamily="34" charset="0"/>
                <a:cs typeface="Arial" pitchFamily="34" charset="0"/>
              </a:rPr>
              <a:t>option.</a:t>
            </a:r>
          </a:p>
        </p:txBody>
      </p:sp>
      <p:sp>
        <p:nvSpPr>
          <p:cNvPr id="393275" name="Rectangle 59"/>
          <p:cNvSpPr>
            <a:spLocks noChangeArrowheads="1"/>
          </p:cNvSpPr>
          <p:nvPr/>
        </p:nvSpPr>
        <p:spPr bwMode="auto">
          <a:xfrm>
            <a:off x="6019800" y="5410199"/>
            <a:ext cx="2895600" cy="114300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grpSp>
        <p:nvGrpSpPr>
          <p:cNvPr id="30" name="Group 24"/>
          <p:cNvGrpSpPr>
            <a:grpSpLocks/>
          </p:cNvGrpSpPr>
          <p:nvPr/>
        </p:nvGrpSpPr>
        <p:grpSpPr bwMode="auto">
          <a:xfrm>
            <a:off x="3568700" y="1600200"/>
            <a:ext cx="393700" cy="363538"/>
            <a:chOff x="4976" y="624"/>
            <a:chExt cx="200" cy="176"/>
          </a:xfrm>
        </p:grpSpPr>
        <p:sp>
          <p:nvSpPr>
            <p:cNvPr id="3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33" name="Group 32"/>
          <p:cNvGrpSpPr>
            <a:grpSpLocks/>
          </p:cNvGrpSpPr>
          <p:nvPr/>
        </p:nvGrpSpPr>
        <p:grpSpPr bwMode="auto">
          <a:xfrm>
            <a:off x="3429000" y="2817812"/>
            <a:ext cx="393700" cy="363538"/>
            <a:chOff x="4976" y="624"/>
            <a:chExt cx="200" cy="176"/>
          </a:xfrm>
        </p:grpSpPr>
        <p:sp>
          <p:nvSpPr>
            <p:cNvPr id="34" name="Oval 33"/>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5"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36" name="Group 35"/>
          <p:cNvGrpSpPr>
            <a:grpSpLocks/>
          </p:cNvGrpSpPr>
          <p:nvPr/>
        </p:nvGrpSpPr>
        <p:grpSpPr bwMode="auto">
          <a:xfrm>
            <a:off x="1471814" y="4487370"/>
            <a:ext cx="362204" cy="424523"/>
            <a:chOff x="4976" y="624"/>
            <a:chExt cx="200" cy="176"/>
          </a:xfrm>
        </p:grpSpPr>
        <p:sp>
          <p:nvSpPr>
            <p:cNvPr id="37" name="Oval 36"/>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8" name="Text Box 26"/>
            <p:cNvSpPr txBox="1">
              <a:spLocks noChangeArrowheads="1"/>
            </p:cNvSpPr>
            <p:nvPr/>
          </p:nvSpPr>
          <p:spPr bwMode="auto">
            <a:xfrm>
              <a:off x="4976" y="644"/>
              <a:ext cx="168"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pic>
        <p:nvPicPr>
          <p:cNvPr id="42" name="Picture 41"/>
          <p:cNvPicPr/>
          <p:nvPr/>
        </p:nvPicPr>
        <p:blipFill>
          <a:blip r:embed="rId7"/>
          <a:stretch>
            <a:fillRect/>
          </a:stretch>
        </p:blipFill>
        <p:spPr>
          <a:xfrm>
            <a:off x="5753101" y="2209801"/>
            <a:ext cx="266700" cy="231776"/>
          </a:xfrm>
          <a:prstGeom prst="rect">
            <a:avLst/>
          </a:prstGeom>
        </p:spPr>
      </p:pic>
      <p:grpSp>
        <p:nvGrpSpPr>
          <p:cNvPr id="39" name="Group 24"/>
          <p:cNvGrpSpPr>
            <a:grpSpLocks/>
          </p:cNvGrpSpPr>
          <p:nvPr/>
        </p:nvGrpSpPr>
        <p:grpSpPr bwMode="auto">
          <a:xfrm>
            <a:off x="5778500" y="5029200"/>
            <a:ext cx="393700" cy="363538"/>
            <a:chOff x="4976" y="624"/>
            <a:chExt cx="200" cy="176"/>
          </a:xfrm>
        </p:grpSpPr>
        <p:sp>
          <p:nvSpPr>
            <p:cNvPr id="40"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4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4</a:t>
              </a:r>
            </a:p>
          </p:txBody>
        </p:sp>
      </p:grpSp>
      <p:sp>
        <p:nvSpPr>
          <p:cNvPr id="393276" name="Line 60"/>
          <p:cNvSpPr>
            <a:spLocks noChangeShapeType="1"/>
          </p:cNvSpPr>
          <p:nvPr/>
        </p:nvSpPr>
        <p:spPr bwMode="auto">
          <a:xfrm flipH="1">
            <a:off x="5257800" y="5638800"/>
            <a:ext cx="7620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rgbClr val="002E62"/>
              </a:solidFill>
              <a:cs typeface="Arial" charset="0"/>
            </a:endParaRPr>
          </a:p>
        </p:txBody>
      </p:sp>
    </p:spTree>
    <p:extLst>
      <p:ext uri="{BB962C8B-B14F-4D97-AF65-F5344CB8AC3E}">
        <p14:creationId xmlns:p14="http://schemas.microsoft.com/office/powerpoint/2010/main" val="1409200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595" y="2438400"/>
            <a:ext cx="2082805" cy="18562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51586" name="Rectangle 2"/>
          <p:cNvSpPr>
            <a:spLocks noGrp="1" noChangeArrowheads="1"/>
          </p:cNvSpPr>
          <p:nvPr>
            <p:ph type="title"/>
          </p:nvPr>
        </p:nvSpPr>
        <p:spPr/>
        <p:txBody>
          <a:bodyPr/>
          <a:lstStyle/>
          <a:p>
            <a:r>
              <a:rPr lang="en-US" smtClean="0"/>
              <a:t>Set Your Default Printer in SAP</a:t>
            </a:r>
          </a:p>
        </p:txBody>
      </p:sp>
      <p:sp>
        <p:nvSpPr>
          <p:cNvPr id="451590" name="Rectangle 6"/>
          <p:cNvSpPr>
            <a:spLocks noGrp="1" noChangeArrowheads="1"/>
          </p:cNvSpPr>
          <p:nvPr>
            <p:ph idx="1"/>
          </p:nvPr>
        </p:nvSpPr>
        <p:spPr/>
        <p:txBody>
          <a:bodyPr/>
          <a:lstStyle/>
          <a:p>
            <a:r>
              <a:rPr lang="en-US" smtClean="0"/>
              <a:t>Because SAP runs on a different platform than Windows, you must specify which SAP-supported network printer to print to. SAP will not automatically send print requests to your Windows-defaulted printer.</a:t>
            </a:r>
          </a:p>
        </p:txBody>
      </p:sp>
      <p:grpSp>
        <p:nvGrpSpPr>
          <p:cNvPr id="451593" name="Group 9"/>
          <p:cNvGrpSpPr>
            <a:grpSpLocks/>
          </p:cNvGrpSpPr>
          <p:nvPr/>
        </p:nvGrpSpPr>
        <p:grpSpPr bwMode="auto">
          <a:xfrm>
            <a:off x="2819400" y="3716338"/>
            <a:ext cx="1676400" cy="1219200"/>
            <a:chOff x="1776" y="1296"/>
            <a:chExt cx="1056" cy="768"/>
          </a:xfrm>
        </p:grpSpPr>
        <p:sp>
          <p:nvSpPr>
            <p:cNvPr id="451594" name="AutoShape 10"/>
            <p:cNvSpPr>
              <a:spLocks noChangeArrowheads="1"/>
            </p:cNvSpPr>
            <p:nvPr/>
          </p:nvSpPr>
          <p:spPr bwMode="auto">
            <a:xfrm>
              <a:off x="1776" y="1296"/>
              <a:ext cx="1056" cy="768"/>
            </a:xfrm>
            <a:prstGeom prst="wedgeRectCallout">
              <a:avLst>
                <a:gd name="adj1" fmla="val -83523"/>
                <a:gd name="adj2" fmla="val -19011"/>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pic>
          <p:nvPicPr>
            <p:cNvPr id="451595" name="Picture 11"/>
            <p:cNvPicPr>
              <a:picLocks noChangeAspect="1" noChangeArrowheads="1"/>
            </p:cNvPicPr>
            <p:nvPr/>
          </p:nvPicPr>
          <p:blipFill>
            <a:blip r:embed="rId4">
              <a:extLst>
                <a:ext uri="{28A0092B-C50C-407E-A947-70E740481C1C}">
                  <a14:useLocalDpi xmlns:a14="http://schemas.microsoft.com/office/drawing/2010/main" val="0"/>
                </a:ext>
              </a:extLst>
            </a:blip>
            <a:srcRect r="40074"/>
            <a:stretch>
              <a:fillRect/>
            </a:stretch>
          </p:blipFill>
          <p:spPr bwMode="auto">
            <a:xfrm>
              <a:off x="1824" y="1344"/>
              <a:ext cx="960" cy="657"/>
            </a:xfrm>
            <a:prstGeom prst="rect">
              <a:avLst/>
            </a:prstGeom>
            <a:solidFill>
              <a:schemeClr val="tx1">
                <a:lumMod val="85000"/>
              </a:schemeClr>
            </a:solidFill>
            <a:ln w="9525" algn="ctr">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51596" name="AutoShape 12"/>
          <p:cNvSpPr>
            <a:spLocks noChangeArrowheads="1"/>
          </p:cNvSpPr>
          <p:nvPr/>
        </p:nvSpPr>
        <p:spPr bwMode="auto">
          <a:xfrm>
            <a:off x="3810000" y="5240338"/>
            <a:ext cx="1524000" cy="1219200"/>
          </a:xfrm>
          <a:prstGeom prst="wedgeRectCallout">
            <a:avLst>
              <a:gd name="adj1" fmla="val -44375"/>
              <a:gd name="adj2" fmla="val -90106"/>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pic>
        <p:nvPicPr>
          <p:cNvPr id="45159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5316538"/>
            <a:ext cx="1371600" cy="1073150"/>
          </a:xfrm>
          <a:prstGeom prst="rect">
            <a:avLst/>
          </a:prstGeom>
          <a:solidFill>
            <a:schemeClr val="tx1">
              <a:lumMod val="85000"/>
            </a:schemeClr>
          </a:solidFill>
          <a:ln w="9525" algn="ctr">
            <a:solidFill>
              <a:schemeClr val="accent3">
                <a:lumMod val="75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1601" name="Text Box 17"/>
          <p:cNvSpPr txBox="1">
            <a:spLocks noChangeArrowheads="1"/>
          </p:cNvSpPr>
          <p:nvPr/>
        </p:nvSpPr>
        <p:spPr bwMode="auto">
          <a:xfrm>
            <a:off x="3200400" y="2573338"/>
            <a:ext cx="5410200" cy="58477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dirty="0"/>
              <a:t>In the </a:t>
            </a:r>
            <a:r>
              <a:rPr lang="en-US" b="1" dirty="0"/>
              <a:t>Command Field</a:t>
            </a:r>
            <a:r>
              <a:rPr lang="en-US" dirty="0"/>
              <a:t>, enter </a:t>
            </a:r>
            <a:r>
              <a:rPr lang="en-US" b="1" dirty="0"/>
              <a:t>/nSU3 </a:t>
            </a:r>
            <a:r>
              <a:rPr lang="en-US" dirty="0"/>
              <a:t>and press </a:t>
            </a:r>
            <a:r>
              <a:rPr lang="en-US" b="1" dirty="0"/>
              <a:t>Enter</a:t>
            </a:r>
            <a:r>
              <a:rPr lang="en-US" dirty="0"/>
              <a:t> to go to the </a:t>
            </a:r>
            <a:r>
              <a:rPr lang="en-US" b="1" dirty="0"/>
              <a:t>Maintain User Profile </a:t>
            </a:r>
            <a:r>
              <a:rPr lang="en-US" dirty="0"/>
              <a:t>transaction.</a:t>
            </a:r>
          </a:p>
        </p:txBody>
      </p:sp>
      <p:sp>
        <p:nvSpPr>
          <p:cNvPr id="451605" name="Text Box 21"/>
          <p:cNvSpPr txBox="1">
            <a:spLocks noChangeArrowheads="1"/>
          </p:cNvSpPr>
          <p:nvPr/>
        </p:nvSpPr>
        <p:spPr bwMode="auto">
          <a:xfrm>
            <a:off x="533400" y="4402138"/>
            <a:ext cx="2209800" cy="134302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dirty="0"/>
              <a:t>Select the </a:t>
            </a:r>
            <a:r>
              <a:rPr lang="en-US" b="1" dirty="0"/>
              <a:t>Defaults </a:t>
            </a:r>
            <a:r>
              <a:rPr lang="en-US" dirty="0"/>
              <a:t>tab, then in the </a:t>
            </a:r>
            <a:r>
              <a:rPr lang="en-US" b="1" dirty="0"/>
              <a:t>Spool Control</a:t>
            </a:r>
            <a:r>
              <a:rPr lang="en-US" dirty="0"/>
              <a:t> section, select the match code for </a:t>
            </a:r>
            <a:r>
              <a:rPr lang="en-US" b="1" dirty="0" err="1"/>
              <a:t>OutputDevice</a:t>
            </a:r>
            <a:endParaRPr lang="en-US" b="1" dirty="0"/>
          </a:p>
        </p:txBody>
      </p:sp>
      <p:sp>
        <p:nvSpPr>
          <p:cNvPr id="451606" name="Rectangle 22"/>
          <p:cNvSpPr>
            <a:spLocks noChangeArrowheads="1"/>
          </p:cNvSpPr>
          <p:nvPr/>
        </p:nvSpPr>
        <p:spPr bwMode="auto">
          <a:xfrm>
            <a:off x="990600" y="3094832"/>
            <a:ext cx="457200" cy="18176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451610" name="Text Box 26"/>
          <p:cNvSpPr txBox="1">
            <a:spLocks noChangeArrowheads="1"/>
          </p:cNvSpPr>
          <p:nvPr/>
        </p:nvSpPr>
        <p:spPr bwMode="auto">
          <a:xfrm>
            <a:off x="5029200" y="3716338"/>
            <a:ext cx="3733800" cy="1154162"/>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dirty="0"/>
              <a:t>You may enter delimiting selection criteria in the search fields if desired.</a:t>
            </a:r>
          </a:p>
          <a:p>
            <a:r>
              <a:rPr lang="en-US" dirty="0"/>
              <a:t>Click </a:t>
            </a:r>
            <a:r>
              <a:rPr lang="en-US" b="1" dirty="0"/>
              <a:t>Start Search </a:t>
            </a:r>
            <a:r>
              <a:rPr lang="en-US" dirty="0"/>
              <a:t>to display a list of available network printers.</a:t>
            </a:r>
          </a:p>
        </p:txBody>
      </p:sp>
      <p:grpSp>
        <p:nvGrpSpPr>
          <p:cNvPr id="451614" name="Group 30"/>
          <p:cNvGrpSpPr>
            <a:grpSpLocks/>
          </p:cNvGrpSpPr>
          <p:nvPr/>
        </p:nvGrpSpPr>
        <p:grpSpPr bwMode="auto">
          <a:xfrm>
            <a:off x="5791200" y="5316537"/>
            <a:ext cx="2971800" cy="1400174"/>
            <a:chOff x="3648" y="2304"/>
            <a:chExt cx="1872" cy="882"/>
          </a:xfrm>
        </p:grpSpPr>
        <p:sp>
          <p:nvSpPr>
            <p:cNvPr id="451615" name="Text Box 31"/>
            <p:cNvSpPr txBox="1">
              <a:spLocks noChangeArrowheads="1"/>
            </p:cNvSpPr>
            <p:nvPr/>
          </p:nvSpPr>
          <p:spPr bwMode="auto">
            <a:xfrm>
              <a:off x="3648" y="2304"/>
              <a:ext cx="1872" cy="882"/>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dirty="0"/>
                <a:t>Click the desired selection, then click</a:t>
              </a:r>
            </a:p>
            <a:p>
              <a:r>
                <a:rPr lang="en-US" dirty="0"/>
                <a:t>Click     </a:t>
              </a:r>
              <a:r>
                <a:rPr lang="en-US" dirty="0" smtClean="0"/>
                <a:t>on </a:t>
              </a:r>
              <a:r>
                <a:rPr lang="en-US" dirty="0"/>
                <a:t>the </a:t>
              </a:r>
              <a:r>
                <a:rPr lang="en-US" b="1" dirty="0"/>
                <a:t>Maintain User Profile</a:t>
              </a:r>
              <a:r>
                <a:rPr lang="en-US" dirty="0"/>
                <a:t> screen to save your selection. </a:t>
              </a:r>
            </a:p>
          </p:txBody>
        </p:sp>
        <p:pic>
          <p:nvPicPr>
            <p:cNvPr id="451616" name="Picture 32"/>
            <p:cNvPicPr>
              <a:picLocks noChangeAspect="1" noChangeArrowheads="1"/>
            </p:cNvPicPr>
            <p:nvPr/>
          </p:nvPicPr>
          <p:blipFill>
            <a:blip r:embed="rId6">
              <a:extLst>
                <a:ext uri="{28A0092B-C50C-407E-A947-70E740481C1C}">
                  <a14:useLocalDpi xmlns:a14="http://schemas.microsoft.com/office/drawing/2010/main" val="0"/>
                </a:ext>
              </a:extLst>
            </a:blip>
            <a:srcRect l="5556" t="28403" r="83333" b="57396"/>
            <a:stretch>
              <a:fillRect/>
            </a:stretch>
          </p:blipFill>
          <p:spPr bwMode="auto">
            <a:xfrm>
              <a:off x="4320" y="2507"/>
              <a:ext cx="96" cy="96"/>
            </a:xfrm>
            <a:prstGeom prst="rect">
              <a:avLst/>
            </a:prstGeom>
            <a:solidFill>
              <a:schemeClr val="tx1">
                <a:lumMod val="85000"/>
              </a:schemeClr>
            </a:solidFill>
            <a:ln w="9525" algn="ctr">
              <a:solidFill>
                <a:schemeClr val="accent3">
                  <a:lumMod val="75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 name="Group 24"/>
          <p:cNvGrpSpPr>
            <a:grpSpLocks/>
          </p:cNvGrpSpPr>
          <p:nvPr/>
        </p:nvGrpSpPr>
        <p:grpSpPr bwMode="auto">
          <a:xfrm>
            <a:off x="2843591" y="2649538"/>
            <a:ext cx="393700" cy="363538"/>
            <a:chOff x="4976" y="624"/>
            <a:chExt cx="200" cy="176"/>
          </a:xfrm>
        </p:grpSpPr>
        <p:sp>
          <p:nvSpPr>
            <p:cNvPr id="3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33" name="Group 32"/>
          <p:cNvGrpSpPr>
            <a:grpSpLocks/>
          </p:cNvGrpSpPr>
          <p:nvPr/>
        </p:nvGrpSpPr>
        <p:grpSpPr bwMode="auto">
          <a:xfrm>
            <a:off x="2405809" y="4038600"/>
            <a:ext cx="393700" cy="363538"/>
            <a:chOff x="4976" y="624"/>
            <a:chExt cx="200" cy="176"/>
          </a:xfrm>
        </p:grpSpPr>
        <p:sp>
          <p:nvSpPr>
            <p:cNvPr id="34" name="Oval 33"/>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5"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36" name="Group 35"/>
          <p:cNvGrpSpPr>
            <a:grpSpLocks/>
          </p:cNvGrpSpPr>
          <p:nvPr/>
        </p:nvGrpSpPr>
        <p:grpSpPr bwMode="auto">
          <a:xfrm>
            <a:off x="4635574" y="3716338"/>
            <a:ext cx="362204" cy="424523"/>
            <a:chOff x="4976" y="624"/>
            <a:chExt cx="200" cy="176"/>
          </a:xfrm>
        </p:grpSpPr>
        <p:sp>
          <p:nvSpPr>
            <p:cNvPr id="37" name="Oval 36"/>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8" name="Text Box 26"/>
            <p:cNvSpPr txBox="1">
              <a:spLocks noChangeArrowheads="1"/>
            </p:cNvSpPr>
            <p:nvPr/>
          </p:nvSpPr>
          <p:spPr bwMode="auto">
            <a:xfrm>
              <a:off x="4976" y="644"/>
              <a:ext cx="168"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grpSp>
        <p:nvGrpSpPr>
          <p:cNvPr id="39" name="Group 24"/>
          <p:cNvGrpSpPr>
            <a:grpSpLocks/>
          </p:cNvGrpSpPr>
          <p:nvPr/>
        </p:nvGrpSpPr>
        <p:grpSpPr bwMode="auto">
          <a:xfrm>
            <a:off x="5394942" y="5575299"/>
            <a:ext cx="393700" cy="363538"/>
            <a:chOff x="4976" y="624"/>
            <a:chExt cx="200" cy="176"/>
          </a:xfrm>
        </p:grpSpPr>
        <p:sp>
          <p:nvSpPr>
            <p:cNvPr id="40"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4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4</a:t>
              </a:r>
            </a:p>
          </p:txBody>
        </p:sp>
      </p:grpSp>
      <p:pic>
        <p:nvPicPr>
          <p:cNvPr id="2150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53175" y="5962650"/>
            <a:ext cx="200025"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3736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Print Report from SAP</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N/A</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a:t>N/A</a:t>
            </a:r>
          </a:p>
          <a:p>
            <a:pPr marL="514350" lvl="1" indent="0" defTabSz="687388">
              <a:buNone/>
            </a:pPr>
            <a:endParaRPr lang="en-US" sz="1800" dirty="0"/>
          </a:p>
          <a:p>
            <a:pPr marL="0" lvl="1" indent="0" defTabSz="687388">
              <a:buNone/>
            </a:pPr>
            <a:r>
              <a:rPr lang="en-US" sz="1800" b="1" dirty="0"/>
              <a:t>Path:</a:t>
            </a:r>
          </a:p>
          <a:p>
            <a:pPr marL="858838" lvl="3" indent="-285750" defTabSz="687388">
              <a:buClr>
                <a:schemeClr val="accent1"/>
              </a:buClr>
            </a:pPr>
            <a:r>
              <a:rPr lang="en-US" dirty="0"/>
              <a:t> N/A</a:t>
            </a:r>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152</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2"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a:solidFill>
                  <a:schemeClr val="accent4">
                    <a:lumMod val="10000"/>
                  </a:schemeClr>
                </a:solidFill>
                <a:effectLst/>
              </a:rPr>
              <a:t>You have generated a report in SAP and wish to send the report to an SAP printer to </a:t>
            </a:r>
            <a:r>
              <a:rPr lang="en-US" b="1" dirty="0">
                <a:solidFill>
                  <a:schemeClr val="accent4">
                    <a:lumMod val="10000"/>
                  </a:schemeClr>
                </a:solidFill>
                <a:effectLst/>
              </a:rPr>
              <a:t>print </a:t>
            </a:r>
            <a:r>
              <a:rPr lang="en-US" b="1" dirty="0" smtClean="0">
                <a:solidFill>
                  <a:schemeClr val="accent4">
                    <a:lumMod val="10000"/>
                  </a:schemeClr>
                </a:solidFill>
                <a:effectLst/>
              </a:rPr>
              <a:t>immediately</a:t>
            </a:r>
            <a:endParaRPr lang="en-US" dirty="0" smtClean="0">
              <a:solidFill>
                <a:schemeClr val="accent4">
                  <a:lumMod val="10000"/>
                </a:schemeClr>
              </a:solidFill>
              <a:effectLst/>
            </a:endParaRP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discover that your default setting needs to be changed to accommodate this print request as a default for future </a:t>
            </a:r>
            <a:r>
              <a:rPr lang="en-US" dirty="0" smtClean="0">
                <a:solidFill>
                  <a:schemeClr val="accent4">
                    <a:lumMod val="10000"/>
                  </a:schemeClr>
                </a:solidFill>
                <a:effectLst/>
              </a:rPr>
              <a:t>use</a:t>
            </a: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will change the default setting for printing from SAP</a:t>
            </a:r>
            <a:r>
              <a:rPr lang="en-US" dirty="0" smtClean="0">
                <a:solidFill>
                  <a:schemeClr val="accent4">
                    <a:lumMod val="10000"/>
                  </a:schemeClr>
                </a:solidFill>
                <a:effectLst/>
              </a:rPr>
              <a:t>. </a:t>
            </a:r>
            <a:endParaRPr lang="en-US" sz="1200" dirty="0">
              <a:solidFill>
                <a:schemeClr val="accent4">
                  <a:lumMod val="10000"/>
                </a:schemeClr>
              </a:solidFill>
              <a:effectLst/>
            </a:endParaRPr>
          </a:p>
          <a:p>
            <a:pPr lvl="1">
              <a:tabLst>
                <a:tab pos="2514600" algn="l"/>
              </a:tabLst>
            </a:pPr>
            <a:r>
              <a:rPr lang="en-US" dirty="0" smtClean="0">
                <a:solidFill>
                  <a:schemeClr val="accent4">
                    <a:lumMod val="10000"/>
                  </a:schemeClr>
                </a:solidFill>
                <a:effectLst/>
              </a:rPr>
              <a:t>.</a:t>
            </a:r>
            <a:endParaRPr lang="en-US" sz="1200" dirty="0">
              <a:solidFill>
                <a:schemeClr val="accent4">
                  <a:lumMod val="10000"/>
                </a:schemeClr>
              </a:solidFill>
              <a:effectLst/>
            </a:endParaRPr>
          </a:p>
          <a:p>
            <a:endParaRPr lang="en-US" b="1" dirty="0" smtClean="0"/>
          </a:p>
          <a:p>
            <a:endParaRPr lang="en-US" b="1" dirty="0"/>
          </a:p>
          <a:p>
            <a:r>
              <a:rPr lang="en-US" b="1" dirty="0" smtClean="0"/>
              <a:t>Exercise: 5.11  Print From SAP</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7115745" y="4267200"/>
            <a:ext cx="2028255" cy="2514600"/>
          </a:xfrm>
          <a:prstGeom prst="rect">
            <a:avLst/>
          </a:prstGeom>
          <a:noFill/>
        </p:spPr>
      </p:pic>
    </p:spTree>
    <p:extLst>
      <p:ext uri="{BB962C8B-B14F-4D97-AF65-F5344CB8AC3E}">
        <p14:creationId xmlns:p14="http://schemas.microsoft.com/office/powerpoint/2010/main" val="13620696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AutoShape 25"/>
          <p:cNvSpPr>
            <a:spLocks noChangeArrowheads="1"/>
          </p:cNvSpPr>
          <p:nvPr/>
        </p:nvSpPr>
        <p:spPr bwMode="auto">
          <a:xfrm>
            <a:off x="927608" y="4242854"/>
            <a:ext cx="2761742" cy="2462745"/>
          </a:xfrm>
          <a:prstGeom prst="wedgeRectCallout">
            <a:avLst>
              <a:gd name="adj1" fmla="val 96521"/>
              <a:gd name="adj2" fmla="val -48386"/>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441" y="1687144"/>
            <a:ext cx="3105150" cy="23907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0" name="AutoShape 25"/>
          <p:cNvSpPr>
            <a:spLocks noChangeArrowheads="1"/>
          </p:cNvSpPr>
          <p:nvPr/>
        </p:nvSpPr>
        <p:spPr bwMode="auto">
          <a:xfrm>
            <a:off x="3564590" y="2660128"/>
            <a:ext cx="2007661" cy="1752600"/>
          </a:xfrm>
          <a:prstGeom prst="wedgeRectCallout">
            <a:avLst>
              <a:gd name="adj1" fmla="val -172505"/>
              <a:gd name="adj2" fmla="val -94203"/>
            </a:avLst>
          </a:prstGeom>
          <a:solidFill>
            <a:srgbClr val="FFE04F">
              <a:alpha val="50999"/>
            </a:srgbClr>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480258" name="Rectangle 2"/>
          <p:cNvSpPr>
            <a:spLocks noGrp="1" noChangeArrowheads="1"/>
          </p:cNvSpPr>
          <p:nvPr>
            <p:ph type="title"/>
          </p:nvPr>
        </p:nvSpPr>
        <p:spPr/>
        <p:txBody>
          <a:bodyPr/>
          <a:lstStyle/>
          <a:p>
            <a:r>
              <a:rPr lang="en-US" smtClean="0"/>
              <a:t>Execute Report in Background</a:t>
            </a:r>
          </a:p>
        </p:txBody>
      </p:sp>
      <p:sp>
        <p:nvSpPr>
          <p:cNvPr id="480270" name="Rectangle 14"/>
          <p:cNvSpPr>
            <a:spLocks noGrp="1" noChangeArrowheads="1"/>
          </p:cNvSpPr>
          <p:nvPr>
            <p:ph idx="1"/>
          </p:nvPr>
        </p:nvSpPr>
        <p:spPr>
          <a:noFill/>
          <a:ln/>
        </p:spPr>
        <p:txBody>
          <a:bodyPr/>
          <a:lstStyle/>
          <a:p>
            <a:r>
              <a:rPr lang="en-US" smtClean="0"/>
              <a:t>SAP background processing is particularly relevant for long-running reports that do not require any interactive input.</a:t>
            </a:r>
          </a:p>
        </p:txBody>
      </p:sp>
      <p:sp>
        <p:nvSpPr>
          <p:cNvPr id="480280" name="Text Box 24"/>
          <p:cNvSpPr txBox="1">
            <a:spLocks noChangeArrowheads="1"/>
          </p:cNvSpPr>
          <p:nvPr/>
        </p:nvSpPr>
        <p:spPr bwMode="auto">
          <a:xfrm>
            <a:off x="5791200" y="1447800"/>
            <a:ext cx="3124200" cy="366713"/>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endParaRPr lang="en-US" smtClean="0">
              <a:solidFill>
                <a:srgbClr val="002E62"/>
              </a:solidFill>
              <a:cs typeface="Arial" charset="0"/>
            </a:endParaRPr>
          </a:p>
        </p:txBody>
      </p:sp>
      <p:sp>
        <p:nvSpPr>
          <p:cNvPr id="480281" name="Text Box 25"/>
          <p:cNvSpPr txBox="1">
            <a:spLocks noChangeArrowheads="1"/>
          </p:cNvSpPr>
          <p:nvPr/>
        </p:nvSpPr>
        <p:spPr bwMode="auto">
          <a:xfrm>
            <a:off x="5943600" y="1878012"/>
            <a:ext cx="2819400" cy="4385816"/>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buFont typeface="+mj-lt"/>
              <a:buNone/>
              <a:defRPr sz="1600">
                <a:solidFill>
                  <a:srgbClr val="000000"/>
                </a:solidFill>
                <a:latin typeface="Arial" pitchFamily="34" charset="0"/>
                <a:ea typeface="Verdana" pitchFamily="34" charset="0"/>
                <a:cs typeface="Arial" pitchFamily="34" charset="0"/>
              </a:defRPr>
            </a:lvl1pPr>
          </a:lstStyle>
          <a:p>
            <a:r>
              <a:rPr lang="en-US" dirty="0"/>
              <a:t>Select </a:t>
            </a:r>
            <a:r>
              <a:rPr lang="en-US" b="1" dirty="0" smtClean="0"/>
              <a:t>Program </a:t>
            </a:r>
            <a:r>
              <a:rPr lang="en-US" b="1" dirty="0"/>
              <a:t>&gt; Execute </a:t>
            </a:r>
            <a:r>
              <a:rPr lang="en-US" dirty="0"/>
              <a:t>in Background.</a:t>
            </a:r>
          </a:p>
          <a:p>
            <a:r>
              <a:rPr lang="en-US" dirty="0" smtClean="0"/>
              <a:t>Click           to change </a:t>
            </a:r>
            <a:r>
              <a:rPr lang="en-US" dirty="0"/>
              <a:t>the </a:t>
            </a:r>
            <a:r>
              <a:rPr lang="en-US" b="1" dirty="0"/>
              <a:t>Time of </a:t>
            </a:r>
            <a:r>
              <a:rPr lang="en-US" b="1" dirty="0" smtClean="0"/>
              <a:t>Printing </a:t>
            </a:r>
            <a:r>
              <a:rPr lang="en-US" dirty="0"/>
              <a:t>to Send to SAP Spooler only for now.</a:t>
            </a:r>
          </a:p>
          <a:p>
            <a:r>
              <a:rPr lang="en-US" dirty="0"/>
              <a:t>The </a:t>
            </a:r>
            <a:r>
              <a:rPr lang="en-US" b="1" dirty="0"/>
              <a:t>Start Time </a:t>
            </a:r>
            <a:r>
              <a:rPr lang="en-US" dirty="0"/>
              <a:t>menu allows you to select a specific date and time to execute the report. You may also elect to have a series of reports run sequentially by selecting the After job option.</a:t>
            </a:r>
          </a:p>
          <a:p>
            <a:r>
              <a:rPr lang="en-US" dirty="0"/>
              <a:t>You may also use Periodic Values to run reports at a regular date and time, such as month-end reports.</a:t>
            </a:r>
          </a:p>
        </p:txBody>
      </p:sp>
      <p:grpSp>
        <p:nvGrpSpPr>
          <p:cNvPr id="31" name="Group 24"/>
          <p:cNvGrpSpPr>
            <a:grpSpLocks/>
          </p:cNvGrpSpPr>
          <p:nvPr/>
        </p:nvGrpSpPr>
        <p:grpSpPr bwMode="auto">
          <a:xfrm>
            <a:off x="3492500" y="2317573"/>
            <a:ext cx="393700" cy="363538"/>
            <a:chOff x="4976" y="624"/>
            <a:chExt cx="200" cy="176"/>
          </a:xfrm>
        </p:grpSpPr>
        <p:sp>
          <p:nvSpPr>
            <p:cNvPr id="32"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3"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37" name="Group 36"/>
          <p:cNvGrpSpPr>
            <a:grpSpLocks/>
          </p:cNvGrpSpPr>
          <p:nvPr/>
        </p:nvGrpSpPr>
        <p:grpSpPr bwMode="auto">
          <a:xfrm>
            <a:off x="533400" y="4953000"/>
            <a:ext cx="362204" cy="424523"/>
            <a:chOff x="4976" y="624"/>
            <a:chExt cx="200" cy="176"/>
          </a:xfrm>
        </p:grpSpPr>
        <p:sp>
          <p:nvSpPr>
            <p:cNvPr id="38" name="Oval 37"/>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9" name="Text Box 26"/>
            <p:cNvSpPr txBox="1">
              <a:spLocks noChangeArrowheads="1"/>
            </p:cNvSpPr>
            <p:nvPr/>
          </p:nvSpPr>
          <p:spPr bwMode="auto">
            <a:xfrm>
              <a:off x="4976" y="644"/>
              <a:ext cx="168"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grpSp>
        <p:nvGrpSpPr>
          <p:cNvPr id="40" name="Group 24"/>
          <p:cNvGrpSpPr>
            <a:grpSpLocks/>
          </p:cNvGrpSpPr>
          <p:nvPr/>
        </p:nvGrpSpPr>
        <p:grpSpPr bwMode="auto">
          <a:xfrm>
            <a:off x="5588000" y="1752600"/>
            <a:ext cx="393700" cy="363538"/>
            <a:chOff x="4976" y="624"/>
            <a:chExt cx="200" cy="176"/>
          </a:xfrm>
        </p:grpSpPr>
        <p:sp>
          <p:nvSpPr>
            <p:cNvPr id="4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4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43" name="Group 42"/>
          <p:cNvGrpSpPr>
            <a:grpSpLocks/>
          </p:cNvGrpSpPr>
          <p:nvPr/>
        </p:nvGrpSpPr>
        <p:grpSpPr bwMode="auto">
          <a:xfrm>
            <a:off x="5572252" y="2543557"/>
            <a:ext cx="393700" cy="363538"/>
            <a:chOff x="4976" y="624"/>
            <a:chExt cx="200" cy="176"/>
          </a:xfrm>
        </p:grpSpPr>
        <p:sp>
          <p:nvSpPr>
            <p:cNvPr id="44" name="Oval 43"/>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45"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46" name="Group 45"/>
          <p:cNvGrpSpPr>
            <a:grpSpLocks/>
          </p:cNvGrpSpPr>
          <p:nvPr/>
        </p:nvGrpSpPr>
        <p:grpSpPr bwMode="auto">
          <a:xfrm>
            <a:off x="5619496" y="3331038"/>
            <a:ext cx="362204" cy="424523"/>
            <a:chOff x="4976" y="624"/>
            <a:chExt cx="200" cy="176"/>
          </a:xfrm>
        </p:grpSpPr>
        <p:sp>
          <p:nvSpPr>
            <p:cNvPr id="47" name="Oval 46"/>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48" name="Text Box 26"/>
            <p:cNvSpPr txBox="1">
              <a:spLocks noChangeArrowheads="1"/>
            </p:cNvSpPr>
            <p:nvPr/>
          </p:nvSpPr>
          <p:spPr bwMode="auto">
            <a:xfrm>
              <a:off x="4976" y="644"/>
              <a:ext cx="168"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3</a:t>
              </a:r>
            </a:p>
          </p:txBody>
        </p:sp>
      </p:grpSp>
      <p:pic>
        <p:nvPicPr>
          <p:cNvPr id="2355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3602" y="2729456"/>
            <a:ext cx="1812798" cy="1613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351402"/>
            <a:ext cx="2497791" cy="2201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 name="Picture 43"/>
          <p:cNvPicPr>
            <a:picLocks noChangeAspect="1" noChangeArrowheads="1"/>
          </p:cNvPicPr>
          <p:nvPr/>
        </p:nvPicPr>
        <p:blipFill>
          <a:blip r:embed="rId6">
            <a:extLst>
              <a:ext uri="{28A0092B-C50C-407E-A947-70E740481C1C}">
                <a14:useLocalDpi xmlns:a14="http://schemas.microsoft.com/office/drawing/2010/main" val="0"/>
              </a:ext>
            </a:extLst>
          </a:blip>
          <a:srcRect l="5853" t="92754" r="82439" b="621"/>
          <a:stretch>
            <a:fillRect/>
          </a:stretch>
        </p:blipFill>
        <p:spPr bwMode="auto">
          <a:xfrm>
            <a:off x="6527800" y="2590800"/>
            <a:ext cx="558800" cy="203200"/>
          </a:xfrm>
          <a:prstGeom prst="rect">
            <a:avLst/>
          </a:prstGeom>
          <a:solidFill>
            <a:schemeClr val="bg2">
              <a:alpha val="50999"/>
            </a:schemeClr>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 name="Group 33"/>
          <p:cNvGrpSpPr>
            <a:grpSpLocks/>
          </p:cNvGrpSpPr>
          <p:nvPr/>
        </p:nvGrpSpPr>
        <p:grpSpPr bwMode="auto">
          <a:xfrm>
            <a:off x="4800600" y="3751262"/>
            <a:ext cx="393700" cy="363538"/>
            <a:chOff x="4976" y="624"/>
            <a:chExt cx="200" cy="176"/>
          </a:xfrm>
        </p:grpSpPr>
        <p:sp>
          <p:nvSpPr>
            <p:cNvPr id="35" name="Oval 34"/>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6"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52" name="Rectangle 49"/>
          <p:cNvSpPr>
            <a:spLocks noChangeArrowheads="1"/>
          </p:cNvSpPr>
          <p:nvPr/>
        </p:nvSpPr>
        <p:spPr bwMode="auto">
          <a:xfrm>
            <a:off x="1676400" y="5562600"/>
            <a:ext cx="1143000" cy="3048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Tree>
    <p:extLst>
      <p:ext uri="{BB962C8B-B14F-4D97-AF65-F5344CB8AC3E}">
        <p14:creationId xmlns:p14="http://schemas.microsoft.com/office/powerpoint/2010/main" val="37686197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Schedule a Report to Execute in the Background</a:t>
            </a:r>
            <a:endParaRPr lang="en-US" sz="1800" dirty="0"/>
          </a:p>
          <a:p>
            <a:pPr defTabSz="687388"/>
            <a:endParaRPr lang="en-US" sz="1800" dirty="0"/>
          </a:p>
          <a:p>
            <a:pPr defTabSz="687388"/>
            <a:r>
              <a:rPr lang="en-US" sz="1800" b="1" dirty="0"/>
              <a:t>Transaction Name:</a:t>
            </a:r>
          </a:p>
          <a:p>
            <a:pPr marL="858838" lvl="3" indent="-285750" defTabSz="687388">
              <a:buClr>
                <a:schemeClr val="accent1"/>
              </a:buClr>
            </a:pPr>
            <a:r>
              <a:rPr lang="en-US" dirty="0"/>
              <a:t>N/A</a:t>
            </a:r>
          </a:p>
          <a:p>
            <a:pPr marL="514350" lvl="1" indent="0" defTabSz="687388">
              <a:buNone/>
            </a:pPr>
            <a:endParaRPr lang="en-US" sz="1800" dirty="0"/>
          </a:p>
          <a:p>
            <a:pPr marL="0" lvl="1" indent="0" defTabSz="687388">
              <a:buNone/>
            </a:pPr>
            <a:r>
              <a:rPr lang="en-US" sz="1800" b="1" dirty="0"/>
              <a:t>Transaction Code:</a:t>
            </a:r>
          </a:p>
          <a:p>
            <a:pPr marL="858838" lvl="3" indent="-285750" defTabSz="687388">
              <a:buClr>
                <a:schemeClr val="accent1"/>
              </a:buClr>
            </a:pPr>
            <a:r>
              <a:rPr lang="en-US" dirty="0"/>
              <a:t>N/A</a:t>
            </a:r>
          </a:p>
          <a:p>
            <a:pPr marL="514350" lvl="1" indent="0" defTabSz="687388">
              <a:buNone/>
            </a:pPr>
            <a:endParaRPr lang="en-US" sz="1800" dirty="0"/>
          </a:p>
          <a:p>
            <a:pPr marL="0" lvl="1" indent="0" defTabSz="687388">
              <a:buNone/>
            </a:pPr>
            <a:r>
              <a:rPr lang="en-US" sz="1800" b="1" dirty="0"/>
              <a:t>Path:</a:t>
            </a:r>
          </a:p>
          <a:p>
            <a:pPr marL="858838" lvl="3" indent="-285750" defTabSz="687388">
              <a:buClr>
                <a:schemeClr val="accent1"/>
              </a:buClr>
            </a:pPr>
            <a:r>
              <a:rPr lang="en-US" dirty="0"/>
              <a:t> N/A</a:t>
            </a:r>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155</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2"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tabLst>
                <a:tab pos="2514600" algn="l"/>
              </a:tabLst>
            </a:pPr>
            <a:r>
              <a:rPr lang="en-US" dirty="0">
                <a:solidFill>
                  <a:schemeClr val="accent4">
                    <a:lumMod val="10000"/>
                  </a:schemeClr>
                </a:solidFill>
                <a:effectLst/>
              </a:rPr>
              <a:t>As part of your tasks, you always execute a </a:t>
            </a:r>
            <a:r>
              <a:rPr lang="en-US" b="1" dirty="0">
                <a:solidFill>
                  <a:schemeClr val="accent4">
                    <a:lumMod val="10000"/>
                  </a:schemeClr>
                </a:solidFill>
                <a:effectLst/>
              </a:rPr>
              <a:t>Balance Sheet P&amp;L Statement</a:t>
            </a:r>
            <a:r>
              <a:rPr lang="en-US" dirty="0">
                <a:solidFill>
                  <a:schemeClr val="accent4">
                    <a:lumMod val="10000"/>
                  </a:schemeClr>
                </a:solidFill>
                <a:effectLst/>
              </a:rPr>
              <a:t> for </a:t>
            </a:r>
            <a:r>
              <a:rPr lang="en-US" b="1" dirty="0">
                <a:solidFill>
                  <a:schemeClr val="accent4">
                    <a:lumMod val="10000"/>
                  </a:schemeClr>
                </a:solidFill>
                <a:effectLst/>
              </a:rPr>
              <a:t>G/L Accounts 100000 to 100900</a:t>
            </a:r>
            <a:r>
              <a:rPr lang="en-US" dirty="0">
                <a:solidFill>
                  <a:schemeClr val="accent4">
                    <a:lumMod val="10000"/>
                  </a:schemeClr>
                </a:solidFill>
                <a:effectLst/>
              </a:rPr>
              <a:t> for </a:t>
            </a:r>
            <a:r>
              <a:rPr lang="en-US" b="1" dirty="0">
                <a:solidFill>
                  <a:schemeClr val="accent4">
                    <a:lumMod val="10000"/>
                  </a:schemeClr>
                </a:solidFill>
                <a:effectLst/>
              </a:rPr>
              <a:t>Company Code </a:t>
            </a:r>
            <a:r>
              <a:rPr lang="en-US" b="1" dirty="0" smtClean="0">
                <a:solidFill>
                  <a:schemeClr val="accent4">
                    <a:lumMod val="10000"/>
                  </a:schemeClr>
                </a:solidFill>
                <a:effectLst/>
              </a:rPr>
              <a:t>1000</a:t>
            </a:r>
            <a:endParaRPr lang="en-US" dirty="0" smtClean="0">
              <a:solidFill>
                <a:schemeClr val="accent4">
                  <a:lumMod val="10000"/>
                </a:schemeClr>
              </a:solidFill>
              <a:effectLst/>
            </a:endParaRP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wish to set this report up to run </a:t>
            </a:r>
            <a:r>
              <a:rPr lang="en-US" b="1" dirty="0">
                <a:solidFill>
                  <a:schemeClr val="accent4">
                    <a:lumMod val="10000"/>
                  </a:schemeClr>
                </a:solidFill>
                <a:effectLst/>
              </a:rPr>
              <a:t>every Sunday night</a:t>
            </a:r>
            <a:r>
              <a:rPr lang="en-US" dirty="0">
                <a:solidFill>
                  <a:schemeClr val="accent4">
                    <a:lumMod val="10000"/>
                  </a:schemeClr>
                </a:solidFill>
                <a:effectLst/>
              </a:rPr>
              <a:t> so it will be ready for you on Monday mornings to </a:t>
            </a:r>
            <a:r>
              <a:rPr lang="en-US" dirty="0" smtClean="0">
                <a:solidFill>
                  <a:schemeClr val="accent4">
                    <a:lumMod val="10000"/>
                  </a:schemeClr>
                </a:solidFill>
                <a:effectLst/>
              </a:rPr>
              <a:t>review</a:t>
            </a:r>
          </a:p>
          <a:p>
            <a:pPr lvl="1">
              <a:tabLst>
                <a:tab pos="2514600" algn="l"/>
              </a:tabLst>
            </a:pPr>
            <a:endParaRPr lang="en-US" dirty="0">
              <a:solidFill>
                <a:schemeClr val="accent4">
                  <a:lumMod val="10000"/>
                </a:schemeClr>
              </a:solidFill>
              <a:effectLst/>
            </a:endParaRPr>
          </a:p>
          <a:p>
            <a:pPr lvl="1">
              <a:tabLst>
                <a:tab pos="2514600" algn="l"/>
              </a:tabLst>
            </a:pPr>
            <a:r>
              <a:rPr lang="en-US" dirty="0">
                <a:solidFill>
                  <a:schemeClr val="accent4">
                    <a:lumMod val="10000"/>
                  </a:schemeClr>
                </a:solidFill>
                <a:effectLst/>
              </a:rPr>
              <a:t>You will schedule the report to execute in the background and use </a:t>
            </a:r>
            <a:r>
              <a:rPr lang="en-US" b="1" dirty="0">
                <a:solidFill>
                  <a:schemeClr val="accent4">
                    <a:lumMod val="10000"/>
                  </a:schemeClr>
                </a:solidFill>
                <a:effectLst/>
              </a:rPr>
              <a:t>Periodic Values</a:t>
            </a:r>
            <a:r>
              <a:rPr lang="en-US" dirty="0">
                <a:solidFill>
                  <a:schemeClr val="accent4">
                    <a:lumMod val="10000"/>
                  </a:schemeClr>
                </a:solidFill>
                <a:effectLst/>
              </a:rPr>
              <a:t> to schedule it to </a:t>
            </a:r>
            <a:r>
              <a:rPr lang="en-US" dirty="0" smtClean="0">
                <a:solidFill>
                  <a:schemeClr val="accent4">
                    <a:lumMod val="10000"/>
                  </a:schemeClr>
                </a:solidFill>
                <a:effectLst/>
              </a:rPr>
              <a:t>               execute </a:t>
            </a:r>
            <a:r>
              <a:rPr lang="en-US" dirty="0">
                <a:solidFill>
                  <a:schemeClr val="accent4">
                    <a:lumMod val="10000"/>
                  </a:schemeClr>
                </a:solidFill>
                <a:effectLst/>
              </a:rPr>
              <a:t>every week</a:t>
            </a:r>
            <a:r>
              <a:rPr lang="en-US" dirty="0" smtClean="0">
                <a:solidFill>
                  <a:schemeClr val="accent4">
                    <a:lumMod val="10000"/>
                  </a:schemeClr>
                </a:solidFill>
                <a:effectLst/>
              </a:rPr>
              <a:t>. </a:t>
            </a:r>
            <a:endParaRPr lang="en-US" sz="1200" dirty="0">
              <a:solidFill>
                <a:schemeClr val="accent4">
                  <a:lumMod val="10000"/>
                </a:schemeClr>
              </a:solidFill>
              <a:effectLst/>
            </a:endParaRPr>
          </a:p>
          <a:p>
            <a:pPr lvl="1">
              <a:tabLst>
                <a:tab pos="2514600" algn="l"/>
              </a:tabLst>
            </a:pPr>
            <a:r>
              <a:rPr lang="en-US" dirty="0" smtClean="0">
                <a:solidFill>
                  <a:schemeClr val="tx1"/>
                </a:solidFill>
              </a:rPr>
              <a:t>.</a:t>
            </a:r>
            <a:endParaRPr lang="en-US" sz="1200" dirty="0">
              <a:solidFill>
                <a:schemeClr val="folHlink"/>
              </a:solidFill>
            </a:endParaRPr>
          </a:p>
          <a:p>
            <a:endParaRPr lang="en-US" b="1" dirty="0" smtClean="0"/>
          </a:p>
          <a:p>
            <a:r>
              <a:rPr lang="en-US" b="1" dirty="0" smtClean="0"/>
              <a:t>Exercise: 5.12  Schedule Report to Execute in                   			    Background</a:t>
            </a:r>
            <a:endParaRPr lang="en-US" b="1" dirty="0"/>
          </a:p>
        </p:txBody>
      </p:sp>
      <p:pic>
        <p:nvPicPr>
          <p:cNvPr id="5" name="Picture 2" descr="C:\Users\namudaliar\Documents\Narayanan\Ball Corp\Images\shutterstock_50629798.jpg"/>
          <p:cNvPicPr>
            <a:picLocks noChangeAspect="1" noChangeArrowheads="1"/>
          </p:cNvPicPr>
          <p:nvPr/>
        </p:nvPicPr>
        <p:blipFill>
          <a:blip r:embed="rId3" cstate="print"/>
          <a:srcRect/>
          <a:stretch>
            <a:fillRect/>
          </a:stretch>
        </p:blipFill>
        <p:spPr bwMode="auto">
          <a:xfrm>
            <a:off x="7115745" y="4267200"/>
            <a:ext cx="2028255" cy="2514600"/>
          </a:xfrm>
          <a:prstGeom prst="rect">
            <a:avLst/>
          </a:prstGeom>
          <a:noFill/>
        </p:spPr>
      </p:pic>
    </p:spTree>
    <p:extLst>
      <p:ext uri="{BB962C8B-B14F-4D97-AF65-F5344CB8AC3E}">
        <p14:creationId xmlns:p14="http://schemas.microsoft.com/office/powerpoint/2010/main" val="2943952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76400"/>
            <a:ext cx="5486400" cy="32004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81282" name="Rectangle 2"/>
          <p:cNvSpPr>
            <a:spLocks noGrp="1" noChangeArrowheads="1"/>
          </p:cNvSpPr>
          <p:nvPr>
            <p:ph type="title"/>
          </p:nvPr>
        </p:nvSpPr>
        <p:spPr/>
        <p:txBody>
          <a:bodyPr/>
          <a:lstStyle/>
          <a:p>
            <a:r>
              <a:rPr lang="en-US" smtClean="0"/>
              <a:t>View and Print Reports Run in Background</a:t>
            </a:r>
          </a:p>
        </p:txBody>
      </p:sp>
      <p:sp>
        <p:nvSpPr>
          <p:cNvPr id="481286" name="Rectangle 6"/>
          <p:cNvSpPr>
            <a:spLocks noGrp="1" noChangeArrowheads="1"/>
          </p:cNvSpPr>
          <p:nvPr>
            <p:ph idx="1"/>
          </p:nvPr>
        </p:nvSpPr>
        <p:spPr>
          <a:noFill/>
          <a:ln/>
        </p:spPr>
        <p:txBody>
          <a:bodyPr/>
          <a:lstStyle/>
          <a:p>
            <a:r>
              <a:rPr lang="en-US" sz="1800" smtClean="0"/>
              <a:t>After processing reports in the background, you may view a log of all background jobs you have requested. </a:t>
            </a:r>
          </a:p>
        </p:txBody>
      </p:sp>
      <p:sp>
        <p:nvSpPr>
          <p:cNvPr id="481287" name="AutoShape 7"/>
          <p:cNvSpPr>
            <a:spLocks noChangeArrowheads="1"/>
          </p:cNvSpPr>
          <p:nvPr/>
        </p:nvSpPr>
        <p:spPr bwMode="auto">
          <a:xfrm>
            <a:off x="5943600" y="1981200"/>
            <a:ext cx="2971800" cy="1905000"/>
          </a:xfrm>
          <a:prstGeom prst="wedgeRectCallout">
            <a:avLst>
              <a:gd name="adj1" fmla="val -85477"/>
              <a:gd name="adj2" fmla="val -14500"/>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buFont typeface="+mj-lt"/>
              <a:buNone/>
            </a:pPr>
            <a:endParaRPr lang="en-US" sz="1600">
              <a:solidFill>
                <a:srgbClr val="000000"/>
              </a:solidFill>
              <a:latin typeface="Arial" pitchFamily="34" charset="0"/>
              <a:ea typeface="Verdana" pitchFamily="34" charset="0"/>
              <a:cs typeface="Arial" pitchFamily="34" charset="0"/>
            </a:endParaRPr>
          </a:p>
        </p:txBody>
      </p:sp>
      <p:sp>
        <p:nvSpPr>
          <p:cNvPr id="481288" name="Text Box 8"/>
          <p:cNvSpPr txBox="1">
            <a:spLocks noChangeArrowheads="1"/>
          </p:cNvSpPr>
          <p:nvPr/>
        </p:nvSpPr>
        <p:spPr bwMode="auto">
          <a:xfrm>
            <a:off x="6172200" y="2057400"/>
            <a:ext cx="2743200" cy="1739900"/>
          </a:xfrm>
          <a:prstGeom prst="rect">
            <a:avLst/>
          </a:prstGeom>
          <a:noFill/>
          <a:ln>
            <a:noFill/>
          </a:ln>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dirty="0" smtClean="0">
                <a:solidFill>
                  <a:srgbClr val="000000"/>
                </a:solidFill>
                <a:cs typeface="Arial" charset="0"/>
              </a:rPr>
              <a:t>From the </a:t>
            </a:r>
            <a:r>
              <a:rPr lang="en-US" b="1" dirty="0" smtClean="0">
                <a:solidFill>
                  <a:srgbClr val="000000"/>
                </a:solidFill>
                <a:cs typeface="Arial" charset="0"/>
              </a:rPr>
              <a:t>Job Overview</a:t>
            </a:r>
            <a:r>
              <a:rPr lang="en-US" dirty="0" smtClean="0">
                <a:solidFill>
                  <a:srgbClr val="000000"/>
                </a:solidFill>
                <a:cs typeface="Arial" charset="0"/>
              </a:rPr>
              <a:t> transaction, you can edit or delete future jobs, review completed jobs, and print reports that have run.</a:t>
            </a:r>
          </a:p>
        </p:txBody>
      </p:sp>
    </p:spTree>
    <p:extLst>
      <p:ext uri="{BB962C8B-B14F-4D97-AF65-F5344CB8AC3E}">
        <p14:creationId xmlns:p14="http://schemas.microsoft.com/office/powerpoint/2010/main" val="3665078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r>
              <a:rPr lang="en-US" sz="1800" b="1" dirty="0"/>
              <a:t>Activity Name: </a:t>
            </a:r>
            <a:r>
              <a:rPr lang="en-US" sz="1800" dirty="0"/>
              <a:t>View Log of Reports </a:t>
            </a:r>
            <a:r>
              <a:rPr lang="en-US" sz="1800" dirty="0" smtClean="0"/>
              <a:t>Executed in </a:t>
            </a:r>
            <a:r>
              <a:rPr lang="en-US" sz="1800" dirty="0"/>
              <a:t>Background</a:t>
            </a:r>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Simple Job Selection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SM37</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a:t> N/A</a:t>
            </a:r>
          </a:p>
          <a:p>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158</a:t>
            </a:fld>
            <a:endParaRPr lang="en-US"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2" cstate="print"/>
          <a:srcRect r="5169"/>
          <a:stretch/>
        </p:blipFill>
        <p:spPr bwMode="auto">
          <a:xfrm>
            <a:off x="5486400" y="3962400"/>
            <a:ext cx="3174486" cy="2678020"/>
          </a:xfrm>
          <a:prstGeom prst="rect">
            <a:avLst/>
          </a:prstGeom>
          <a:noFill/>
        </p:spPr>
      </p:pic>
    </p:spTree>
    <p:extLst>
      <p:ext uri="{BB962C8B-B14F-4D97-AF65-F5344CB8AC3E}">
        <p14:creationId xmlns:p14="http://schemas.microsoft.com/office/powerpoint/2010/main" val="364185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pPr marL="0" lvl="1" indent="0">
              <a:buClr>
                <a:srgbClr val="004B91"/>
              </a:buClr>
              <a:buFont typeface="Wingdings" pitchFamily="2" charset="2"/>
              <a:buNone/>
              <a:tabLst>
                <a:tab pos="2514600" algn="l"/>
              </a:tabLst>
            </a:pPr>
            <a:r>
              <a:rPr lang="en-US" b="1" dirty="0"/>
              <a:t>Scenario: </a:t>
            </a:r>
          </a:p>
          <a:p>
            <a:pPr lvl="1">
              <a:lnSpc>
                <a:spcPct val="80000"/>
              </a:lnSpc>
              <a:tabLst>
                <a:tab pos="2514600" algn="l"/>
              </a:tabLst>
            </a:pPr>
            <a:r>
              <a:rPr lang="en-US" dirty="0">
                <a:solidFill>
                  <a:schemeClr val="accent4">
                    <a:lumMod val="10000"/>
                  </a:schemeClr>
                </a:solidFill>
                <a:effectLst/>
              </a:rPr>
              <a:t>You executed a report using background processing and wish to preview the report prior to sending it to the </a:t>
            </a:r>
            <a:r>
              <a:rPr lang="en-US" dirty="0" smtClean="0">
                <a:solidFill>
                  <a:schemeClr val="accent4">
                    <a:lumMod val="10000"/>
                  </a:schemeClr>
                </a:solidFill>
                <a:effectLst/>
              </a:rPr>
              <a:t>printer</a:t>
            </a:r>
          </a:p>
          <a:p>
            <a:pPr lvl="1">
              <a:lnSpc>
                <a:spcPct val="80000"/>
              </a:lnSpc>
              <a:tabLst>
                <a:tab pos="2514600" algn="l"/>
              </a:tabLst>
            </a:pPr>
            <a:endParaRPr lang="en-US" dirty="0">
              <a:solidFill>
                <a:schemeClr val="accent4">
                  <a:lumMod val="10000"/>
                </a:schemeClr>
              </a:solidFill>
              <a:effectLst/>
            </a:endParaRPr>
          </a:p>
          <a:p>
            <a:pPr lvl="1">
              <a:lnSpc>
                <a:spcPct val="80000"/>
              </a:lnSpc>
              <a:tabLst>
                <a:tab pos="2514600" algn="l"/>
              </a:tabLst>
            </a:pPr>
            <a:r>
              <a:rPr lang="en-US" dirty="0">
                <a:solidFill>
                  <a:schemeClr val="accent4">
                    <a:lumMod val="10000"/>
                  </a:schemeClr>
                </a:solidFill>
                <a:effectLst/>
              </a:rPr>
              <a:t>You will use transaction code </a:t>
            </a:r>
            <a:r>
              <a:rPr lang="en-US" b="1" dirty="0" smtClean="0">
                <a:solidFill>
                  <a:schemeClr val="accent4">
                    <a:lumMod val="10000"/>
                  </a:schemeClr>
                </a:solidFill>
                <a:effectLst/>
              </a:rPr>
              <a:t>SM37</a:t>
            </a:r>
            <a:r>
              <a:rPr lang="en-US" dirty="0" smtClean="0">
                <a:solidFill>
                  <a:schemeClr val="accent4">
                    <a:lumMod val="10000"/>
                  </a:schemeClr>
                </a:solidFill>
                <a:effectLst/>
              </a:rPr>
              <a:t> </a:t>
            </a:r>
            <a:r>
              <a:rPr lang="en-US" dirty="0">
                <a:solidFill>
                  <a:schemeClr val="accent4">
                    <a:lumMod val="10000"/>
                  </a:schemeClr>
                </a:solidFill>
                <a:effectLst/>
              </a:rPr>
              <a:t>to view a log of your reports processed in the </a:t>
            </a:r>
            <a:r>
              <a:rPr lang="en-US" dirty="0" smtClean="0">
                <a:solidFill>
                  <a:schemeClr val="accent4">
                    <a:lumMod val="10000"/>
                  </a:schemeClr>
                </a:solidFill>
                <a:effectLst/>
              </a:rPr>
              <a:t>background</a:t>
            </a:r>
          </a:p>
          <a:p>
            <a:pPr lvl="1">
              <a:lnSpc>
                <a:spcPct val="80000"/>
              </a:lnSpc>
              <a:tabLst>
                <a:tab pos="2514600" algn="l"/>
              </a:tabLst>
            </a:pPr>
            <a:endParaRPr lang="en-US" dirty="0">
              <a:solidFill>
                <a:schemeClr val="accent4">
                  <a:lumMod val="10000"/>
                </a:schemeClr>
              </a:solidFill>
              <a:effectLst/>
            </a:endParaRPr>
          </a:p>
          <a:p>
            <a:pPr lvl="1">
              <a:lnSpc>
                <a:spcPct val="80000"/>
              </a:lnSpc>
              <a:tabLst>
                <a:tab pos="2514600" algn="l"/>
              </a:tabLst>
            </a:pPr>
            <a:r>
              <a:rPr lang="en-US" dirty="0">
                <a:solidFill>
                  <a:schemeClr val="accent4">
                    <a:lumMod val="10000"/>
                  </a:schemeClr>
                </a:solidFill>
                <a:effectLst/>
              </a:rPr>
              <a:t>You will open a report to view the data, then send the report to the printer</a:t>
            </a:r>
            <a:r>
              <a:rPr lang="en-US" dirty="0" smtClean="0">
                <a:solidFill>
                  <a:schemeClr val="accent4">
                    <a:lumMod val="10000"/>
                  </a:schemeClr>
                </a:solidFill>
                <a:effectLst/>
              </a:rPr>
              <a:t>. </a:t>
            </a:r>
            <a:endParaRPr lang="en-US" sz="1200" dirty="0">
              <a:solidFill>
                <a:schemeClr val="accent4">
                  <a:lumMod val="10000"/>
                </a:schemeClr>
              </a:solidFill>
              <a:effectLst/>
            </a:endParaRPr>
          </a:p>
          <a:p>
            <a:pPr lvl="1">
              <a:tabLst>
                <a:tab pos="2514600" algn="l"/>
              </a:tabLst>
            </a:pPr>
            <a:r>
              <a:rPr lang="en-US" dirty="0" smtClean="0">
                <a:solidFill>
                  <a:schemeClr val="tx1"/>
                </a:solidFill>
              </a:rPr>
              <a:t>.</a:t>
            </a:r>
            <a:endParaRPr lang="en-US" sz="1200" dirty="0">
              <a:solidFill>
                <a:schemeClr val="folHlink"/>
              </a:solidFill>
            </a:endParaRPr>
          </a:p>
          <a:p>
            <a:endParaRPr lang="en-US" b="1" dirty="0" smtClean="0"/>
          </a:p>
          <a:p>
            <a:endParaRPr lang="en-US" b="1" dirty="0" smtClean="0"/>
          </a:p>
          <a:p>
            <a:r>
              <a:rPr lang="en-US" b="1" dirty="0" smtClean="0"/>
              <a:t>Exercise: 4.15  View Log of Reports Executed                          		     in Background</a:t>
            </a:r>
            <a:endParaRPr lang="en-US" b="1" dirty="0"/>
          </a:p>
        </p:txBody>
      </p:sp>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7115745" y="4267200"/>
            <a:ext cx="2028255" cy="2514600"/>
          </a:xfrm>
          <a:prstGeom prst="rect">
            <a:avLst/>
          </a:prstGeom>
          <a:noFill/>
        </p:spPr>
      </p:pic>
    </p:spTree>
    <p:extLst>
      <p:ext uri="{BB962C8B-B14F-4D97-AF65-F5344CB8AC3E}">
        <p14:creationId xmlns:p14="http://schemas.microsoft.com/office/powerpoint/2010/main" val="2101546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What is an output request?</a:t>
            </a:r>
          </a:p>
          <a:p>
            <a:pPr marL="457200" indent="-457200">
              <a:buClrTx/>
              <a:buFont typeface="+mj-lt"/>
              <a:buAutoNum type="arabicPeriod"/>
            </a:pPr>
            <a:r>
              <a:rPr lang="en-US" dirty="0" smtClean="0"/>
              <a:t>Why would you opt to run a report in the background?</a:t>
            </a:r>
          </a:p>
          <a:p>
            <a:pPr marL="457200" indent="-457200">
              <a:buClrTx/>
              <a:buFont typeface="+mj-lt"/>
              <a:buAutoNum type="arabicPeriod"/>
            </a:pPr>
            <a:r>
              <a:rPr lang="en-US" dirty="0" smtClean="0"/>
              <a:t>SAP has a time limit on interactive sessions. What is it?</a:t>
            </a:r>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160</a:t>
            </a:fld>
            <a:endParaRPr lang="en-US" dirty="0">
              <a:solidFill>
                <a:schemeClr val="bg2"/>
              </a:solidFill>
            </a:endParaRPr>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Tree>
    <p:extLst>
      <p:ext uri="{BB962C8B-B14F-4D97-AF65-F5344CB8AC3E}">
        <p14:creationId xmlns:p14="http://schemas.microsoft.com/office/powerpoint/2010/main" val="2113496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Box 4"/>
          <p:cNvSpPr txBox="1">
            <a:spLocks noChangeArrowheads="1"/>
          </p:cNvSpPr>
          <p:nvPr/>
        </p:nvSpPr>
        <p:spPr bwMode="auto">
          <a:xfrm>
            <a:off x="2084388" y="5597525"/>
            <a:ext cx="7288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dirty="0"/>
              <a:t>What other questions do you have?</a:t>
            </a:r>
          </a:p>
        </p:txBody>
      </p:sp>
      <p:pic>
        <p:nvPicPr>
          <p:cNvPr id="7" name="Picture 3" descr="C:\Users\namudaliar\Documents\Narayanan\Ball Corp\Images\shutterstock_49142218.jpg"/>
          <p:cNvPicPr>
            <a:picLocks noChangeAspect="1" noChangeArrowheads="1"/>
          </p:cNvPicPr>
          <p:nvPr/>
        </p:nvPicPr>
        <p:blipFill>
          <a:blip r:embed="rId2" cstate="print"/>
          <a:srcRect/>
          <a:stretch>
            <a:fillRect/>
          </a:stretch>
        </p:blipFill>
        <p:spPr bwMode="auto">
          <a:xfrm>
            <a:off x="2069686" y="1268361"/>
            <a:ext cx="5045669" cy="4420215"/>
          </a:xfrm>
          <a:prstGeom prst="rect">
            <a:avLst/>
          </a:prstGeom>
          <a:noFill/>
        </p:spPr>
      </p:pic>
      <p:sp>
        <p:nvSpPr>
          <p:cNvPr id="5"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4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Questions</a:t>
            </a:r>
            <a:endParaRPr lang="en-US" dirty="0"/>
          </a:p>
        </p:txBody>
      </p:sp>
    </p:spTree>
    <p:extLst>
      <p:ext uri="{BB962C8B-B14F-4D97-AF65-F5344CB8AC3E}">
        <p14:creationId xmlns:p14="http://schemas.microsoft.com/office/powerpoint/2010/main" val="2653744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276945" y="3717823"/>
            <a:ext cx="3780503" cy="2835377"/>
          </a:xfrm>
          <a:prstGeom prst="rect">
            <a:avLst/>
          </a:prstGeom>
          <a:noFill/>
        </p:spPr>
      </p:pic>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smtClean="0"/>
              <a:t>Having completed this </a:t>
            </a:r>
            <a:r>
              <a:rPr lang="en-US" dirty="0"/>
              <a:t>module, you should be able to:</a:t>
            </a:r>
          </a:p>
          <a:p>
            <a:pPr marL="342900" indent="-342900">
              <a:buFont typeface="Arial" pitchFamily="34" charset="0"/>
              <a:buChar char="•"/>
            </a:pPr>
            <a:r>
              <a:rPr lang="en-US" dirty="0"/>
              <a:t>Describe ECC Reports</a:t>
            </a:r>
          </a:p>
          <a:p>
            <a:pPr marL="342900" indent="-342900">
              <a:buFont typeface="Arial" pitchFamily="34" charset="0"/>
              <a:buChar char="•"/>
            </a:pPr>
            <a:r>
              <a:rPr lang="en-US" dirty="0"/>
              <a:t>Describe types of reports available</a:t>
            </a:r>
          </a:p>
          <a:p>
            <a:pPr marL="342900" indent="-342900">
              <a:buFont typeface="Arial" pitchFamily="34" charset="0"/>
              <a:buChar char="•"/>
            </a:pPr>
            <a:r>
              <a:rPr lang="en-US" dirty="0"/>
              <a:t>Access reports using a menu path or transaction code</a:t>
            </a:r>
          </a:p>
          <a:p>
            <a:pPr marL="342900" indent="-342900">
              <a:buFont typeface="Arial" pitchFamily="34" charset="0"/>
              <a:buChar char="•"/>
            </a:pPr>
            <a:r>
              <a:rPr lang="en-US" dirty="0"/>
              <a:t>Enter selection criteria for a report</a:t>
            </a:r>
          </a:p>
          <a:p>
            <a:pPr marL="342900" indent="-342900">
              <a:buFont typeface="Arial" pitchFamily="34" charset="0"/>
              <a:buChar char="•"/>
            </a:pPr>
            <a:r>
              <a:rPr lang="en-US" dirty="0"/>
              <a:t>Create and use variants</a:t>
            </a:r>
          </a:p>
          <a:p>
            <a:pPr marL="342900" indent="-342900">
              <a:buFont typeface="Arial" pitchFamily="34" charset="0"/>
              <a:buChar char="•"/>
            </a:pPr>
            <a:r>
              <a:rPr lang="en-US" dirty="0"/>
              <a:t>Execute reports</a:t>
            </a:r>
          </a:p>
          <a:p>
            <a:pPr marL="342900" indent="-342900">
              <a:buFont typeface="Arial" pitchFamily="34" charset="0"/>
              <a:buChar char="•"/>
            </a:pPr>
            <a:r>
              <a:rPr lang="en-US" dirty="0"/>
              <a:t>Customize report data (filter, sort, subtotal, etc.)</a:t>
            </a:r>
          </a:p>
          <a:p>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162</a:t>
            </a:fld>
            <a:endParaRPr lang="en-US" dirty="0">
              <a:solidFill>
                <a:schemeClr val="bg2"/>
              </a:solidFill>
            </a:endParaRPr>
          </a:p>
        </p:txBody>
      </p:sp>
      <p:sp>
        <p:nvSpPr>
          <p:cNvPr id="6" name="Content Placeholder 4"/>
          <p:cNvSpPr txBox="1">
            <a:spLocks/>
          </p:cNvSpPr>
          <p:nvPr/>
        </p:nvSpPr>
        <p:spPr bwMode="auto">
          <a:xfrm>
            <a:off x="287977" y="4267200"/>
            <a:ext cx="5731823" cy="14916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ts val="30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ts val="300"/>
              </a:spcAft>
              <a:buFont typeface="Arial" charset="0"/>
              <a:buChar char="–"/>
              <a:defRPr sz="20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2pPr>
            <a:lvl3pPr marL="1143000" indent="-228600" algn="l" rtl="0" fontAlgn="base">
              <a:spcBef>
                <a:spcPct val="20000"/>
              </a:spcBef>
              <a:spcAft>
                <a:spcPts val="30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3pPr>
            <a:lvl4pPr marL="1600200" indent="-228600" algn="l" rtl="0" fontAlgn="base">
              <a:spcBef>
                <a:spcPct val="20000"/>
              </a:spcBef>
              <a:spcAft>
                <a:spcPts val="300"/>
              </a:spcAft>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4pPr>
            <a:lvl5pPr marL="2057400" indent="-228600" algn="l" rtl="0" fontAlgn="base">
              <a:spcBef>
                <a:spcPct val="20000"/>
              </a:spcBef>
              <a:spcAft>
                <a:spcPts val="30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342900" indent="-342900">
              <a:buFont typeface="Arial" pitchFamily="34" charset="0"/>
              <a:buChar char="•"/>
            </a:pPr>
            <a:r>
              <a:rPr lang="en-US" dirty="0" smtClean="0"/>
              <a:t>Drill down to a source document from a report</a:t>
            </a:r>
          </a:p>
          <a:p>
            <a:pPr marL="342900" indent="-342900">
              <a:buFont typeface="Arial" pitchFamily="34" charset="0"/>
              <a:buChar char="•"/>
            </a:pPr>
            <a:r>
              <a:rPr lang="en-US" dirty="0" smtClean="0"/>
              <a:t>Modify the layout of the report data</a:t>
            </a:r>
          </a:p>
          <a:p>
            <a:pPr marL="342900" indent="-342900">
              <a:buFont typeface="Arial" pitchFamily="34" charset="0"/>
              <a:buChar char="•"/>
            </a:pPr>
            <a:r>
              <a:rPr lang="en-US" dirty="0" smtClean="0"/>
              <a:t>Print reports in both foreground and background</a:t>
            </a:r>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7632487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Text Placeholder 2"/>
          <p:cNvSpPr>
            <a:spLocks noGrp="1"/>
          </p:cNvSpPr>
          <p:nvPr>
            <p:ph type="body" idx="1"/>
          </p:nvPr>
        </p:nvSpPr>
        <p:spPr>
          <a:xfrm>
            <a:off x="722313" y="2906713"/>
            <a:ext cx="7772400" cy="1500187"/>
          </a:xfrm>
        </p:spPr>
        <p:txBody>
          <a:bodyPr/>
          <a:lstStyle/>
          <a:p>
            <a:r>
              <a:rPr lang="en-US" dirty="0" smtClean="0"/>
              <a:t>Module 6</a:t>
            </a:r>
            <a:endParaRPr lang="en-US" dirty="0"/>
          </a:p>
        </p:txBody>
      </p:sp>
    </p:spTree>
    <p:extLst>
      <p:ext uri="{BB962C8B-B14F-4D97-AF65-F5344CB8AC3E}">
        <p14:creationId xmlns:p14="http://schemas.microsoft.com/office/powerpoint/2010/main" val="3387288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276945" y="3465542"/>
            <a:ext cx="3780503" cy="2835377"/>
          </a:xfrm>
          <a:prstGeom prst="rect">
            <a:avLst/>
          </a:prstGeom>
          <a:noFill/>
        </p:spPr>
      </p:pic>
      <p:sp>
        <p:nvSpPr>
          <p:cNvPr id="2" name="Title 1"/>
          <p:cNvSpPr>
            <a:spLocks noGrp="1"/>
          </p:cNvSpPr>
          <p:nvPr>
            <p:ph type="title"/>
          </p:nvPr>
        </p:nvSpPr>
        <p:spPr/>
        <p:txBody>
          <a:bodyPr/>
          <a:lstStyle/>
          <a:p>
            <a:r>
              <a:rPr lang="en-US" dirty="0" smtClean="0"/>
              <a:t>Course Summary</a:t>
            </a:r>
            <a:endParaRPr lang="en-US" dirty="0"/>
          </a:p>
        </p:txBody>
      </p:sp>
      <p:sp>
        <p:nvSpPr>
          <p:cNvPr id="5" name="Content Placeholder 4"/>
          <p:cNvSpPr>
            <a:spLocks noGrp="1"/>
          </p:cNvSpPr>
          <p:nvPr>
            <p:ph idx="1"/>
          </p:nvPr>
        </p:nvSpPr>
        <p:spPr/>
        <p:txBody>
          <a:bodyPr/>
          <a:lstStyle/>
          <a:p>
            <a:r>
              <a:rPr lang="en-US" dirty="0" smtClean="0"/>
              <a:t>Having completed this course, </a:t>
            </a:r>
            <a:r>
              <a:rPr lang="en-US" dirty="0"/>
              <a:t>you should be able to:</a:t>
            </a:r>
          </a:p>
          <a:p>
            <a:pPr marL="342900" indent="-342900">
              <a:buFont typeface="Arial" pitchFamily="34" charset="0"/>
              <a:buChar char="•"/>
            </a:pPr>
            <a:r>
              <a:rPr lang="en-US" dirty="0"/>
              <a:t>Explain the Loudoun Water financial structure and how it is supported in SAP</a:t>
            </a:r>
          </a:p>
          <a:p>
            <a:pPr marL="342900" indent="-342900">
              <a:buFont typeface="Arial" pitchFamily="34" charset="0"/>
              <a:buChar char="•"/>
            </a:pPr>
            <a:r>
              <a:rPr lang="en-US" dirty="0"/>
              <a:t>Access SAP ECC through the GUI and navigate within SAP</a:t>
            </a:r>
          </a:p>
          <a:p>
            <a:pPr marL="342900" indent="-342900">
              <a:buFont typeface="Arial" pitchFamily="34" charset="0"/>
              <a:buChar char="•"/>
            </a:pPr>
            <a:r>
              <a:rPr lang="en-US" dirty="0"/>
              <a:t>Describe various types of reports available in SAP</a:t>
            </a:r>
          </a:p>
          <a:p>
            <a:pPr marL="342900" indent="-342900">
              <a:buFont typeface="Arial" pitchFamily="34" charset="0"/>
              <a:buChar char="•"/>
            </a:pPr>
            <a:r>
              <a:rPr lang="en-US" dirty="0"/>
              <a:t>Access reports using a menu path or transaction code</a:t>
            </a:r>
          </a:p>
          <a:p>
            <a:pPr marL="342900" indent="-342900">
              <a:buFont typeface="Arial" pitchFamily="34" charset="0"/>
              <a:buChar char="•"/>
            </a:pPr>
            <a:r>
              <a:rPr lang="en-US" dirty="0"/>
              <a:t>Use the features of SAP to generate reports and customize for personal use</a:t>
            </a:r>
          </a:p>
          <a:p>
            <a:pPr marL="342900" indent="-342900">
              <a:buFont typeface="Arial" pitchFamily="34" charset="0"/>
              <a:buChar char="•"/>
            </a:pPr>
            <a:r>
              <a:rPr lang="en-US" dirty="0"/>
              <a:t>Access Help functions for SAP</a:t>
            </a:r>
          </a:p>
          <a:p>
            <a:endParaRPr lang="en-US" dirty="0"/>
          </a:p>
          <a:p>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mtClean="0">
                <a:solidFill>
                  <a:schemeClr val="bg2"/>
                </a:solidFill>
              </a:rPr>
              <a:pPr/>
              <a:t>164</a:t>
            </a:fld>
            <a:endParaRPr lang="en-US" dirty="0">
              <a:solidFill>
                <a:schemeClr val="bg2"/>
              </a:solidFill>
            </a:endParaRPr>
          </a:p>
        </p:txBody>
      </p:sp>
    </p:spTree>
    <p:extLst>
      <p:ext uri="{BB962C8B-B14F-4D97-AF65-F5344CB8AC3E}">
        <p14:creationId xmlns:p14="http://schemas.microsoft.com/office/powerpoint/2010/main" val="7632487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r>
              <a:rPr lang="en-US" dirty="0" smtClean="0"/>
              <a:t>Course Evaluation</a:t>
            </a:r>
            <a:endParaRPr lang="en-US" dirty="0"/>
          </a:p>
        </p:txBody>
      </p:sp>
      <p:sp>
        <p:nvSpPr>
          <p:cNvPr id="159747" name="Rectangle 3"/>
          <p:cNvSpPr>
            <a:spLocks noGrp="1" noChangeArrowheads="1"/>
          </p:cNvSpPr>
          <p:nvPr>
            <p:ph idx="1"/>
          </p:nvPr>
        </p:nvSpPr>
        <p:spPr>
          <a:noFill/>
          <a:ln w="9525">
            <a:noFill/>
            <a:miter lim="800000"/>
            <a:headEnd/>
            <a:tailEnd/>
          </a:ln>
        </p:spPr>
        <p:txBody>
          <a:bodyPr vert="horz" wrap="square" lIns="0" tIns="0" rIns="0" bIns="0" numCol="1" anchor="t" anchorCtr="0" compatLnSpc="1">
            <a:prstTxWarp prst="textNoShape">
              <a:avLst/>
            </a:prstTxWarp>
          </a:bodyPr>
          <a:lstStyle/>
          <a:p>
            <a:pPr marL="227013" indent="-228600" eaLnBrk="0" hangingPunct="0">
              <a:buClr>
                <a:srgbClr val="2B91AA"/>
              </a:buClr>
              <a:buFont typeface="Wingdings" charset="2"/>
              <a:buChar char="§"/>
              <a:tabLst>
                <a:tab pos="228600" algn="l"/>
              </a:tabLst>
            </a:pPr>
            <a:endParaRPr lang="en-US" sz="1800" dirty="0">
              <a:latin typeface="Verdana"/>
              <a:ea typeface="Verdana" pitchFamily="34" charset="0"/>
              <a:cs typeface="Verdana" pitchFamily="34" charset="0"/>
            </a:endParaRPr>
          </a:p>
          <a:p>
            <a:pPr marL="227013" indent="-228600" eaLnBrk="0" hangingPunct="0">
              <a:buClr>
                <a:srgbClr val="2B91AA"/>
              </a:buClr>
              <a:buFont typeface="Wingdings" charset="2"/>
              <a:buChar char="§"/>
              <a:tabLst>
                <a:tab pos="228600" algn="l"/>
              </a:tabLst>
            </a:pPr>
            <a:r>
              <a:rPr lang="en-US" sz="1800" dirty="0">
                <a:latin typeface="Verdana"/>
                <a:ea typeface="Verdana" pitchFamily="34" charset="0"/>
                <a:cs typeface="Verdana" pitchFamily="34" charset="0"/>
              </a:rPr>
              <a:t>Please visit the Learning </a:t>
            </a:r>
            <a:r>
              <a:rPr lang="en-US" sz="1800" dirty="0" smtClean="0">
                <a:latin typeface="Verdana"/>
                <a:ea typeface="Verdana" pitchFamily="34" charset="0"/>
                <a:cs typeface="Verdana" pitchFamily="34" charset="0"/>
              </a:rPr>
              <a:t>Portal and </a:t>
            </a:r>
            <a:r>
              <a:rPr lang="en-US" sz="1800" dirty="0">
                <a:latin typeface="Verdana"/>
                <a:ea typeface="Verdana" pitchFamily="34" charset="0"/>
                <a:cs typeface="Verdana" pitchFamily="34" charset="0"/>
              </a:rPr>
              <a:t>complete the Course Evaluation located in the Help tab. The evaluations are anonymous and your input will help improve future training</a:t>
            </a:r>
            <a:r>
              <a:rPr lang="en-US" sz="1800" dirty="0" smtClean="0">
                <a:latin typeface="Verdana"/>
                <a:ea typeface="Verdana" pitchFamily="34" charset="0"/>
                <a:cs typeface="Verdana" pitchFamily="34" charset="0"/>
              </a:rPr>
              <a:t>.</a:t>
            </a:r>
          </a:p>
          <a:p>
            <a:pPr marL="227013" indent="-228600" eaLnBrk="0" hangingPunct="0">
              <a:buClr>
                <a:srgbClr val="2B91AA"/>
              </a:buClr>
              <a:buFont typeface="Wingdings" charset="2"/>
              <a:buChar char="§"/>
              <a:tabLst>
                <a:tab pos="228600" algn="l"/>
              </a:tabLst>
            </a:pPr>
            <a:endParaRPr lang="en-US" sz="1800" dirty="0">
              <a:latin typeface="Verdana"/>
              <a:ea typeface="Verdana" pitchFamily="34" charset="0"/>
              <a:cs typeface="Verdana" pitchFamily="34" charset="0"/>
            </a:endParaRPr>
          </a:p>
          <a:p>
            <a:pPr marL="227013" indent="-228600" eaLnBrk="0" hangingPunct="0">
              <a:buClr>
                <a:srgbClr val="2B91AA"/>
              </a:buClr>
              <a:buFont typeface="Wingdings" charset="2"/>
              <a:buChar char="§"/>
              <a:tabLst>
                <a:tab pos="228600" algn="l"/>
              </a:tabLst>
            </a:pPr>
            <a:r>
              <a:rPr lang="en-US" sz="1800" dirty="0">
                <a:latin typeface="Verdana"/>
                <a:ea typeface="Verdana" pitchFamily="34" charset="0"/>
                <a:cs typeface="Verdana" pitchFamily="34" charset="0"/>
              </a:rPr>
              <a:t>Go to the Learning </a:t>
            </a:r>
            <a:r>
              <a:rPr lang="en-US" sz="1800" dirty="0" smtClean="0">
                <a:latin typeface="Verdana"/>
                <a:ea typeface="Verdana" pitchFamily="34" charset="0"/>
                <a:cs typeface="Verdana" pitchFamily="34" charset="0"/>
              </a:rPr>
              <a:t>Portal </a:t>
            </a:r>
            <a:r>
              <a:rPr lang="en-US" sz="1800" dirty="0">
                <a:latin typeface="Verdana"/>
                <a:ea typeface="Verdana" pitchFamily="34" charset="0"/>
                <a:cs typeface="Verdana" pitchFamily="34" charset="0"/>
              </a:rPr>
              <a:t>and open the Help tab, or type in the following address to start the survey</a:t>
            </a:r>
            <a:r>
              <a:rPr lang="en-US" sz="1800" dirty="0" smtClean="0">
                <a:latin typeface="Verdana"/>
                <a:ea typeface="Verdana" pitchFamily="34" charset="0"/>
                <a:cs typeface="Verdana" pitchFamily="34" charset="0"/>
              </a:rPr>
              <a:t>:</a:t>
            </a:r>
          </a:p>
          <a:p>
            <a:pPr marL="227013" indent="-228600" eaLnBrk="0" hangingPunct="0">
              <a:buClr>
                <a:srgbClr val="2B91AA"/>
              </a:buClr>
              <a:buFont typeface="Wingdings" charset="2"/>
              <a:buChar char="§"/>
              <a:tabLst>
                <a:tab pos="228600" algn="l"/>
              </a:tabLst>
            </a:pPr>
            <a:endParaRPr lang="en-US" sz="1800" dirty="0">
              <a:latin typeface="Verdana"/>
            </a:endParaRPr>
          </a:p>
          <a:p>
            <a:pPr marL="741363" lvl="1" indent="0" eaLnBrk="0" hangingPunct="0">
              <a:buClr>
                <a:srgbClr val="2B91AA"/>
              </a:buClr>
              <a:buNone/>
              <a:tabLst>
                <a:tab pos="228600" algn="l"/>
              </a:tabLst>
            </a:pPr>
            <a:r>
              <a:rPr lang="en-US" sz="1800" b="1" dirty="0" smtClean="0">
                <a:solidFill>
                  <a:srgbClr val="FF0000"/>
                </a:solidFill>
                <a:latin typeface="Verdana"/>
                <a:ea typeface="Verdana" pitchFamily="34" charset="0"/>
                <a:cs typeface="Verdana" pitchFamily="34" charset="0"/>
              </a:rPr>
              <a:t>(Insert Survey Monkey link here)</a:t>
            </a:r>
          </a:p>
          <a:p>
            <a:pPr marL="227013" indent="-228600" eaLnBrk="0" hangingPunct="0">
              <a:buClr>
                <a:srgbClr val="2B91AA"/>
              </a:buClr>
              <a:buFont typeface="Wingdings" charset="2"/>
              <a:buChar char="§"/>
              <a:tabLst>
                <a:tab pos="228600" algn="l"/>
              </a:tabLst>
            </a:pPr>
            <a:endParaRPr lang="en-US" sz="1800" dirty="0">
              <a:latin typeface="Verdana"/>
              <a:ea typeface="Verdana" pitchFamily="34" charset="0"/>
              <a:cs typeface="Verdana" pitchFamily="34" charset="0"/>
            </a:endParaRPr>
          </a:p>
        </p:txBody>
      </p:sp>
      <p:pic>
        <p:nvPicPr>
          <p:cNvPr id="15362" name="Picture 2" descr="C:\Users\namudaliar\Documents\Narayanan\Ball Corp\Images\shutterstock_59481016.jpg"/>
          <p:cNvPicPr>
            <a:picLocks noChangeAspect="1" noChangeArrowheads="1"/>
          </p:cNvPicPr>
          <p:nvPr/>
        </p:nvPicPr>
        <p:blipFill>
          <a:blip r:embed="rId2" cstate="print"/>
          <a:srcRect/>
          <a:stretch>
            <a:fillRect/>
          </a:stretch>
        </p:blipFill>
        <p:spPr bwMode="auto">
          <a:xfrm>
            <a:off x="5666727" y="3279329"/>
            <a:ext cx="2336134" cy="3222282"/>
          </a:xfrm>
          <a:prstGeom prst="rect">
            <a:avLst/>
          </a:prstGeom>
          <a:noFill/>
        </p:spPr>
      </p:pic>
    </p:spTree>
    <p:extLst>
      <p:ext uri="{BB962C8B-B14F-4D97-AF65-F5344CB8AC3E}">
        <p14:creationId xmlns:p14="http://schemas.microsoft.com/office/powerpoint/2010/main" val="1524616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22783"/>
            <a:ext cx="9144000" cy="6835217"/>
            <a:chOff x="0" y="22783"/>
            <a:chExt cx="9144000" cy="6835217"/>
          </a:xfrm>
        </p:grpSpPr>
        <p:pic>
          <p:nvPicPr>
            <p:cNvPr id="7" name="Picture 2" descr="C:\Users\namudaliar\Documents\Narayanan\Ball Corp\Images\shutterstock_45604147.jpg"/>
            <p:cNvPicPr>
              <a:picLocks noChangeAspect="1" noChangeArrowheads="1"/>
            </p:cNvPicPr>
            <p:nvPr/>
          </p:nvPicPr>
          <p:blipFill>
            <a:blip r:embed="rId2" cstate="print"/>
            <a:srcRect/>
            <a:stretch>
              <a:fillRect/>
            </a:stretch>
          </p:blipFill>
          <p:spPr bwMode="auto">
            <a:xfrm>
              <a:off x="0" y="22783"/>
              <a:ext cx="9144000" cy="6835217"/>
            </a:xfrm>
            <a:prstGeom prst="rect">
              <a:avLst/>
            </a:prstGeom>
            <a:noFill/>
          </p:spPr>
        </p:pic>
        <p:sp>
          <p:nvSpPr>
            <p:cNvPr id="5" name="Rectangle 4"/>
            <p:cNvSpPr/>
            <p:nvPr/>
          </p:nvSpPr>
          <p:spPr>
            <a:xfrm>
              <a:off x="2089901" y="1015350"/>
              <a:ext cx="2595583" cy="1477328"/>
            </a:xfrm>
            <a:prstGeom prst="rect">
              <a:avLst/>
            </a:prstGeom>
            <a:noFill/>
            <a:scene3d>
              <a:camera prst="isometricOffAxis1Right"/>
              <a:lightRig rig="threePt" dir="t"/>
            </a:scene3d>
          </p:spPr>
          <p:txBody>
            <a:bodyPr wrap="none" lIns="91440" tIns="45720" rIns="91440" bIns="45720">
              <a:spAutoFit/>
              <a:scene3d>
                <a:camera prst="orthographicFront"/>
                <a:lightRig rig="balanced" dir="t">
                  <a:rot lat="0" lon="0" rev="2100000"/>
                </a:lightRig>
              </a:scene3d>
              <a:sp3d prstMaterial="metal">
                <a:contourClr>
                  <a:schemeClr val="bg2"/>
                </a:contourClr>
              </a:sp3d>
            </a:bodyPr>
            <a:ls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lgn="ctr"/>
              <a:r>
                <a:rPr lang="en-US" b="1" dirty="0" smtClean="0">
                  <a:ln w="50800"/>
                  <a:solidFill>
                    <a:schemeClr val="bg1">
                      <a:shade val="50000"/>
                    </a:schemeClr>
                  </a:solidFill>
                </a:rPr>
                <a:t>Congratulations!</a:t>
              </a:r>
            </a:p>
            <a:p>
              <a:pPr algn="ctr"/>
              <a:r>
                <a:rPr lang="en-US" b="1" cap="none" spc="0" dirty="0" smtClean="0">
                  <a:ln w="50800"/>
                  <a:solidFill>
                    <a:schemeClr val="bg1">
                      <a:shade val="50000"/>
                    </a:schemeClr>
                  </a:solidFill>
                  <a:effectLst/>
                </a:rPr>
                <a:t>you successfully</a:t>
              </a:r>
            </a:p>
            <a:p>
              <a:pPr algn="ctr"/>
              <a:r>
                <a:rPr lang="en-US" b="1" cap="none" spc="0" dirty="0" smtClean="0">
                  <a:ln w="50800"/>
                  <a:solidFill>
                    <a:schemeClr val="bg1">
                      <a:shade val="50000"/>
                    </a:schemeClr>
                  </a:solidFill>
                  <a:effectLst/>
                </a:rPr>
                <a:t>completed </a:t>
              </a:r>
              <a:r>
                <a:rPr lang="en-US" b="1" dirty="0" smtClean="0">
                  <a:ln w="50800"/>
                  <a:solidFill>
                    <a:schemeClr val="bg1">
                      <a:shade val="50000"/>
                    </a:schemeClr>
                  </a:solidFill>
                </a:rPr>
                <a:t>the </a:t>
              </a:r>
            </a:p>
            <a:p>
              <a:pPr algn="ctr"/>
              <a:r>
                <a:rPr lang="en-US" b="1" dirty="0" smtClean="0">
                  <a:ln w="50800"/>
                  <a:solidFill>
                    <a:schemeClr val="bg1">
                      <a:shade val="50000"/>
                    </a:schemeClr>
                  </a:solidFill>
                </a:rPr>
                <a:t>ECC Basic Navigation</a:t>
              </a:r>
            </a:p>
            <a:p>
              <a:pPr algn="ctr"/>
              <a:r>
                <a:rPr lang="en-US" b="1" dirty="0" smtClean="0">
                  <a:ln w="50800"/>
                  <a:solidFill>
                    <a:schemeClr val="bg1">
                      <a:shade val="50000"/>
                    </a:schemeClr>
                  </a:solidFill>
                </a:rPr>
                <a:t>Course</a:t>
              </a:r>
              <a:endParaRPr lang="en-US" b="1" cap="none" spc="0" dirty="0">
                <a:ln w="50800"/>
                <a:solidFill>
                  <a:schemeClr val="bg1">
                    <a:shade val="50000"/>
                  </a:schemeClr>
                </a:solidFill>
                <a:effectLst/>
              </a:endParaRPr>
            </a:p>
          </p:txBody>
        </p:sp>
      </p:grpSp>
    </p:spTree>
    <p:extLst>
      <p:ext uri="{BB962C8B-B14F-4D97-AF65-F5344CB8AC3E}">
        <p14:creationId xmlns:p14="http://schemas.microsoft.com/office/powerpoint/2010/main" val="23626138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XD8ucFKg_files\slide0001_image001.png"/>
</p:tagLst>
</file>

<file path=ppt/tags/tag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1ltw8R42_files\slide0001_image001.emz"/>
</p:tagLst>
</file>

<file path=ppt/tags/tag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1kyWyHUo_files\slide0001_image001.png"/>
</p:tagLst>
</file>

<file path=ppt/tags/tag4.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L619i2EZ_files\slide0001_image001.png"/>
</p:tagLst>
</file>

<file path=ppt/tags/tag5.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cxoByonn_files\slide0001_image001.png"/>
</p:tagLst>
</file>

<file path=ppt/tags/tag6.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4u0KEt2c_files\slide0001_image001.png"/>
</p:tagLst>
</file>

<file path=ppt/tags/tag7.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DNwYUK3V_files\slide0001_image001.png"/>
</p:tagLst>
</file>

<file path=ppt/tags/tag8.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xDmaLT01_files\slide0001_image001.png"/>
</p:tagLst>
</file>

<file path=ppt/theme/theme1.xml><?xml version="1.0" encoding="utf-8"?>
<a:theme xmlns:a="http://schemas.openxmlformats.org/drawingml/2006/main" name="Training Title and Module Title">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raining Title and Module Title">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Main Body Plain to use with graphic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9DDA877AD4EF24EB87D1E1CEFC3BFED" ma:contentTypeVersion="0" ma:contentTypeDescription="Create a new document." ma:contentTypeScope="" ma:versionID="cc9713e640a90515cb76b7b71d6ea436">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B3E061E-73E2-4485-9012-BB684E41D7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C8B73C1-FDE7-40E6-8227-77AAD92BE657}">
  <ds:schemaRefs>
    <ds:schemaRef ds:uri="http://schemas.microsoft.com/sharepoint/v3/contenttype/forms"/>
  </ds:schemaRefs>
</ds:datastoreItem>
</file>

<file path=customXml/itemProps3.xml><?xml version="1.0" encoding="utf-8"?>
<ds:datastoreItem xmlns:ds="http://schemas.openxmlformats.org/officeDocument/2006/customXml" ds:itemID="{CFCED6D2-9434-4A60-A41D-2DD0544EAFF3}">
  <ds:schemaRefs>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Clouds</Template>
  <TotalTime>8319</TotalTime>
  <Words>16785</Words>
  <Application>Microsoft Office PowerPoint</Application>
  <PresentationFormat>On-screen Show (4:3)</PresentationFormat>
  <Paragraphs>2126</Paragraphs>
  <Slides>166</Slides>
  <Notes>102</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166</vt:i4>
      </vt:variant>
    </vt:vector>
  </HeadingPairs>
  <TitlesOfParts>
    <vt:vector size="170" baseType="lpstr">
      <vt:lpstr>Training Title and Module Title</vt:lpstr>
      <vt:lpstr>1_Training Title and Module Title</vt:lpstr>
      <vt:lpstr>Main Body Plain to use with graphics</vt:lpstr>
      <vt:lpstr>Bitmap Image</vt:lpstr>
      <vt:lpstr>SAP ECC Basic Navigation</vt:lpstr>
      <vt:lpstr>Welcome</vt:lpstr>
      <vt:lpstr>Course Components</vt:lpstr>
      <vt:lpstr>Ground Rules</vt:lpstr>
      <vt:lpstr>Course Modules</vt:lpstr>
      <vt:lpstr>Course Objectives</vt:lpstr>
      <vt:lpstr>Overview of SAP and Loudoun Water Financial Structures</vt:lpstr>
      <vt:lpstr>Module Objectives</vt:lpstr>
      <vt:lpstr>Overview of SAP</vt:lpstr>
      <vt:lpstr>Modules, Applications, and Transactions</vt:lpstr>
      <vt:lpstr>Accessing SAP</vt:lpstr>
      <vt:lpstr>Overview of Loudoun Water Finance Structure</vt:lpstr>
      <vt:lpstr>Overview of Loudoun Water Finance Structure</vt:lpstr>
      <vt:lpstr>Overview of Loudoun Water Finance Structure</vt:lpstr>
      <vt:lpstr>Overview of Loudoun Water Finance Structure</vt:lpstr>
      <vt:lpstr>Overview of Loudoun Water Finance Structure</vt:lpstr>
      <vt:lpstr>Overview of Loudoun Water Finance Structure</vt:lpstr>
      <vt:lpstr>Overview of Loudoun Water Finance Structure</vt:lpstr>
      <vt:lpstr>Financial Reporting</vt:lpstr>
      <vt:lpstr>Cost Elements</vt:lpstr>
      <vt:lpstr>Activity Types</vt:lpstr>
      <vt:lpstr>Overview of Loudoun Water Organization Structure</vt:lpstr>
      <vt:lpstr>Overview of Loudoun Water Organization Structure</vt:lpstr>
      <vt:lpstr>Overview of Loudoun Water Organization Structure</vt:lpstr>
      <vt:lpstr>Types of Data in SAP</vt:lpstr>
      <vt:lpstr>Master Data</vt:lpstr>
      <vt:lpstr>Organizational Data</vt:lpstr>
      <vt:lpstr>Transactional Data</vt:lpstr>
      <vt:lpstr>SAP Security</vt:lpstr>
      <vt:lpstr>Check Your Understanding</vt:lpstr>
      <vt:lpstr>PowerPoint Presentation</vt:lpstr>
      <vt:lpstr>Module Summary</vt:lpstr>
      <vt:lpstr>The SAP Screen</vt:lpstr>
      <vt:lpstr>Module Objectives</vt:lpstr>
      <vt:lpstr>Log On to SAP</vt:lpstr>
      <vt:lpstr>Resetting the Password</vt:lpstr>
      <vt:lpstr>Demonstration</vt:lpstr>
      <vt:lpstr>SAP Screen Features</vt:lpstr>
      <vt:lpstr>SAP Menu Toolbar</vt:lpstr>
      <vt:lpstr>SAP Standard Toolbar</vt:lpstr>
      <vt:lpstr>SAP Application Toolbar</vt:lpstr>
      <vt:lpstr>Status Bar</vt:lpstr>
      <vt:lpstr>SAP Easy Access Menu</vt:lpstr>
      <vt:lpstr>Transaction Codes</vt:lpstr>
      <vt:lpstr>Display Transaction Codes in Menu</vt:lpstr>
      <vt:lpstr>Demonstration</vt:lpstr>
      <vt:lpstr>Practice</vt:lpstr>
      <vt:lpstr>Check Your Understanding</vt:lpstr>
      <vt:lpstr>Working with Favorites</vt:lpstr>
      <vt:lpstr>Adding Transactions to Favorites Folder</vt:lpstr>
      <vt:lpstr>Demonstration</vt:lpstr>
      <vt:lpstr>Practice</vt:lpstr>
      <vt:lpstr>Check Your Understanding</vt:lpstr>
      <vt:lpstr>Multiple Sessions</vt:lpstr>
      <vt:lpstr>Executing a Transaction </vt:lpstr>
      <vt:lpstr>Using Commands to Launch Transactions</vt:lpstr>
      <vt:lpstr>Demonstration</vt:lpstr>
      <vt:lpstr>Practice</vt:lpstr>
      <vt:lpstr>Check Your Understanding</vt:lpstr>
      <vt:lpstr>Check Your Understanding – Extra Credit</vt:lpstr>
      <vt:lpstr>PowerPoint Presentation</vt:lpstr>
      <vt:lpstr>Module Summary</vt:lpstr>
      <vt:lpstr>Navigating in SAP ECC</vt:lpstr>
      <vt:lpstr>Module Objectives</vt:lpstr>
      <vt:lpstr>Entering Transactional Data</vt:lpstr>
      <vt:lpstr>Entering Transactional Data</vt:lpstr>
      <vt:lpstr>Entering Transactional Data</vt:lpstr>
      <vt:lpstr>Types of SAP Fields</vt:lpstr>
      <vt:lpstr>Data Entry Fields</vt:lpstr>
      <vt:lpstr>Search for System-Defined Data</vt:lpstr>
      <vt:lpstr>Personal Settings for Search Help - List</vt:lpstr>
      <vt:lpstr>Demonstration</vt:lpstr>
      <vt:lpstr>Practice</vt:lpstr>
      <vt:lpstr>Check Your Understanding</vt:lpstr>
      <vt:lpstr>Search Help - Help</vt:lpstr>
      <vt:lpstr>Wildcard Search</vt:lpstr>
      <vt:lpstr>Demonstration</vt:lpstr>
      <vt:lpstr>Practice</vt:lpstr>
      <vt:lpstr>Check Your Understanding</vt:lpstr>
      <vt:lpstr>System Messages</vt:lpstr>
      <vt:lpstr>Status levels</vt:lpstr>
      <vt:lpstr>PowerPoint Presentation</vt:lpstr>
      <vt:lpstr>Module Summary</vt:lpstr>
      <vt:lpstr>The SAP Business Workplace</vt:lpstr>
      <vt:lpstr>Module Objectives</vt:lpstr>
      <vt:lpstr>ECC Business Workplace</vt:lpstr>
      <vt:lpstr>The Workflow Process</vt:lpstr>
      <vt:lpstr>Business Workplace vs. Outlook Notifications </vt:lpstr>
      <vt:lpstr>Accessing Business Workplace</vt:lpstr>
      <vt:lpstr>Selecting Inbox Items</vt:lpstr>
      <vt:lpstr>Processing an Inbox Item</vt:lpstr>
      <vt:lpstr>Demonstration</vt:lpstr>
      <vt:lpstr>Practice</vt:lpstr>
      <vt:lpstr>Check Your Understanding</vt:lpstr>
      <vt:lpstr>Workflow Process with Passive Delegation</vt:lpstr>
      <vt:lpstr>Workflow with Active Delegation</vt:lpstr>
      <vt:lpstr>Demonstration</vt:lpstr>
      <vt:lpstr>Practice</vt:lpstr>
      <vt:lpstr>Check Your Understanding</vt:lpstr>
      <vt:lpstr>PowerPoint Presentation</vt:lpstr>
      <vt:lpstr>Module Summary</vt:lpstr>
      <vt:lpstr>Report Features and Tools</vt:lpstr>
      <vt:lpstr>Module Objectives</vt:lpstr>
      <vt:lpstr>SAP ECC Reports</vt:lpstr>
      <vt:lpstr>Types of SAP Reports</vt:lpstr>
      <vt:lpstr>SAP ECC and BI Reports</vt:lpstr>
      <vt:lpstr>Demonstration</vt:lpstr>
      <vt:lpstr>Practice</vt:lpstr>
      <vt:lpstr>Check Your Understanding</vt:lpstr>
      <vt:lpstr>Enter Selection Criteria</vt:lpstr>
      <vt:lpstr>Using the Multiple Selection Option</vt:lpstr>
      <vt:lpstr>Multiple Selection Buttons</vt:lpstr>
      <vt:lpstr>Specify Additional Selection Criteria</vt:lpstr>
      <vt:lpstr>Demonstration</vt:lpstr>
      <vt:lpstr>Practice</vt:lpstr>
      <vt:lpstr>Check Your Understanding</vt:lpstr>
      <vt:lpstr>Selection Variants</vt:lpstr>
      <vt:lpstr>Create a Selection Variant</vt:lpstr>
      <vt:lpstr>Demonstration</vt:lpstr>
      <vt:lpstr>Practice</vt:lpstr>
      <vt:lpstr>Use a Selection Variant</vt:lpstr>
      <vt:lpstr>Execute a Report</vt:lpstr>
      <vt:lpstr>Demonstration</vt:lpstr>
      <vt:lpstr>Demonstration/Practice</vt:lpstr>
      <vt:lpstr>Check Your Understanding</vt:lpstr>
      <vt:lpstr>View Report Data</vt:lpstr>
      <vt:lpstr>Reporting Toolbar</vt:lpstr>
      <vt:lpstr>Sort Report Data</vt:lpstr>
      <vt:lpstr>Filter Report Data</vt:lpstr>
      <vt:lpstr>Total/Sub-total Report Data</vt:lpstr>
      <vt:lpstr>Demonstration</vt:lpstr>
      <vt:lpstr>Practice</vt:lpstr>
      <vt:lpstr>Drill-Down into Report Details</vt:lpstr>
      <vt:lpstr>Demonstration</vt:lpstr>
      <vt:lpstr>Practice</vt:lpstr>
      <vt:lpstr>Change Report Display Layout</vt:lpstr>
      <vt:lpstr>Demonstration</vt:lpstr>
      <vt:lpstr>Practice</vt:lpstr>
      <vt:lpstr>Check Your Understanding</vt:lpstr>
      <vt:lpstr>Save Display Variant</vt:lpstr>
      <vt:lpstr>Demonstration</vt:lpstr>
      <vt:lpstr>Practice</vt:lpstr>
      <vt:lpstr>Use an Existing Display Variant</vt:lpstr>
      <vt:lpstr>Demonstration</vt:lpstr>
      <vt:lpstr>Practice</vt:lpstr>
      <vt:lpstr>Check Your Understanding</vt:lpstr>
      <vt:lpstr>Export Report Data</vt:lpstr>
      <vt:lpstr>Demonstration</vt:lpstr>
      <vt:lpstr>Practice</vt:lpstr>
      <vt:lpstr>Print Report – Output Requests</vt:lpstr>
      <vt:lpstr>Set Your Default Printer in SAP</vt:lpstr>
      <vt:lpstr>Demonstration</vt:lpstr>
      <vt:lpstr>Practice</vt:lpstr>
      <vt:lpstr>Execute Report in Background</vt:lpstr>
      <vt:lpstr>Demonstration</vt:lpstr>
      <vt:lpstr>Practice</vt:lpstr>
      <vt:lpstr>View and Print Reports Run in Background</vt:lpstr>
      <vt:lpstr>Demonstration</vt:lpstr>
      <vt:lpstr>Practice</vt:lpstr>
      <vt:lpstr>Check Your Understanding</vt:lpstr>
      <vt:lpstr>PowerPoint Presentation</vt:lpstr>
      <vt:lpstr>Module Summary</vt:lpstr>
      <vt:lpstr>Summary</vt:lpstr>
      <vt:lpstr>Course Summary</vt:lpstr>
      <vt:lpstr>Course Evaluation</vt:lpstr>
      <vt:lpstr>PowerPoint Presentation</vt:lpstr>
    </vt:vector>
  </TitlesOfParts>
  <Company>LCSA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lyoung</dc:creator>
  <cp:lastModifiedBy>eugene deloatch</cp:lastModifiedBy>
  <cp:revision>310</cp:revision>
  <dcterms:created xsi:type="dcterms:W3CDTF">2009-02-12T15:18:16Z</dcterms:created>
  <dcterms:modified xsi:type="dcterms:W3CDTF">2013-02-28T01:29:34Z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0x01010059DDA877AD4EF24EB87D1E1CEFC3BFED</vt:lpwstr>
  </property>
</Properties>
</file>